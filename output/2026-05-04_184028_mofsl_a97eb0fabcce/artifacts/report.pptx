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ounded Rectangle 14"/>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384048" y="1298448"/>
            <a:ext cx="3590543" cy="1828800"/>
          </a:xfrm>
          <a:prstGeom prst="rect">
            <a:avLst/>
          </a:prstGeom>
        </p:spPr>
      </p:pic>
      <p:sp>
        <p:nvSpPr>
          <p:cNvPr id="17" name="Rectangle 16"/>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4"/>
          <a:stretch>
            <a:fillRect/>
          </a:stretch>
        </p:blipFill>
        <p:spPr>
          <a:xfrm>
            <a:off x="4294632" y="1298448"/>
            <a:ext cx="3590543" cy="1828800"/>
          </a:xfrm>
          <a:prstGeom prst="rect">
            <a:avLst/>
          </a:prstGeom>
        </p:spPr>
      </p:pic>
      <p:sp>
        <p:nvSpPr>
          <p:cNvPr id="20" name="Rectangle 19"/>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8205215" y="1298448"/>
            <a:ext cx="3590543" cy="1828800"/>
          </a:xfrm>
          <a:prstGeom prst="rect">
            <a:avLst/>
          </a:prstGeom>
        </p:spPr>
      </p:pic>
      <p:sp>
        <p:nvSpPr>
          <p:cNvPr id="23" name="Rectangle 22"/>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6"/>
          <a:stretch>
            <a:fillRect/>
          </a:stretch>
        </p:blipFill>
        <p:spPr>
          <a:xfrm>
            <a:off x="384048" y="3438144"/>
            <a:ext cx="3590543" cy="1828800"/>
          </a:xfrm>
          <a:prstGeom prst="rect">
            <a:avLst/>
          </a:prstGeom>
        </p:spPr>
      </p:pic>
      <p:sp>
        <p:nvSpPr>
          <p:cNvPr id="26" name="Rectangle 25"/>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294632" y="3438144"/>
            <a:ext cx="3590543" cy="1828800"/>
          </a:xfrm>
          <a:prstGeom prst="rect">
            <a:avLst/>
          </a:prstGeom>
        </p:spPr>
      </p:pic>
      <p:sp>
        <p:nvSpPr>
          <p:cNvPr id="29" name="Rectangle 28"/>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8"/>
          <a:stretch>
            <a:fillRect/>
          </a:stretch>
        </p:blipFill>
        <p:spPr>
          <a:xfrm>
            <a:off x="8205215" y="3438144"/>
            <a:ext cx="3590543" cy="1828800"/>
          </a:xfrm>
          <a:prstGeom prst="rect">
            <a:avLst/>
          </a:prstGeom>
        </p:spPr>
      </p:pic>
      <p:sp>
        <p:nvSpPr>
          <p:cNvPr id="32" name="Rectangle 31"/>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5" name="TextBox 14"/>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6" name="TextBox 15"/>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5" name="TextBox 14"/>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6" name="Rounded Rectangle 15"/>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7" name="Rounded Rectangle 16"/>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18" name="Rounded Rectangle 17"/>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5" name="TextBox 14"/>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6" name="TextBox 15"/>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graphicFrame>
        <p:nvGraphicFramePr>
          <p:cNvPr id="15" name="Table 14"/>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5" name="TextBox 14"/>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6" name="Table 15"/>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graphicFrame>
        <p:nvGraphicFramePr>
          <p:cNvPr id="15" name="Table 14"/>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6" name="Table 15"/>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rIns="36576" tIns="9144"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316736"/>
            <a:ext cx="6949440" cy="182880"/>
          </a:xfrm>
          <a:prstGeom prst="rect">
            <a:avLst/>
          </a:prstGeom>
          <a:noFill/>
        </p:spPr>
        <p:txBody>
          <a:bodyPr wrap="square" lIns="36576" rIns="36576" tIns="9144"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463040"/>
        </p:xfrm>
        <a:graphic>
          <a:graphicData uri="http://schemas.openxmlformats.org/drawingml/2006/table">
            <a:tbl>
              <a:tblPr firstRow="1" bandRow="1">
                <a:tableStyleId>{5C22544A-7EE6-4342-B048-85BDC9FD1C3A}</a:tableStyleId>
              </a:tblPr>
              <a:tblGrid>
                <a:gridCol w="2329525"/>
                <a:gridCol w="1576547"/>
                <a:gridCol w="1576547"/>
                <a:gridCol w="1576547"/>
              </a:tblGrid>
              <a:tr h="292608">
                <a:tc>
                  <a:txBody>
                    <a:bodyPr lIns="27432" tIns="36576" bIns="18288"/>
                    <a:lstStyle/>
                    <a:p>
                      <a:r>
                        <a:rPr sz="800" b="1">
                          <a:solidFill>
                            <a:srgbClr val="FFFFFF"/>
                          </a:solidFill>
                          <a:latin typeface="Calibri"/>
                        </a:rPr>
                        <a:t>Method</a:t>
                      </a:r>
                    </a:p>
                  </a:txBody>
                  <a:tcPr>
                    <a:solidFill>
                      <a:srgbClr val="1F4690"/>
                    </a:solidFill>
                  </a:tcPr>
                </a:tc>
                <a:tc>
                  <a:txBody>
                    <a:bodyPr lIns="27432" tIns="36576" bIns="18288"/>
                    <a:lstStyle/>
                    <a:p>
                      <a:r>
                        <a:rPr sz="800" b="1">
                          <a:solidFill>
                            <a:srgbClr val="FFFFFF"/>
                          </a:solidFill>
                          <a:latin typeface="Calibri"/>
                        </a:rPr>
                        <a:t>Multiple Applied</a:t>
                      </a:r>
                    </a:p>
                  </a:txBody>
                  <a:tcPr>
                    <a:solidFill>
                      <a:srgbClr val="1F4690"/>
                    </a:solidFill>
                  </a:tcPr>
                </a:tc>
                <a:tc>
                  <a:txBody>
                    <a:bodyPr lIns="27432" tIns="36576" bIns="18288"/>
                    <a:lstStyle/>
                    <a:p>
                      <a:r>
                        <a:rPr sz="800" b="1">
                          <a:solidFill>
                            <a:srgbClr val="FFFFFF"/>
                          </a:solidFill>
                          <a:latin typeface="Calibri"/>
                        </a:rPr>
                        <a:t>Earnings Base</a:t>
                      </a:r>
                    </a:p>
                  </a:txBody>
                  <a:tcPr>
                    <a:solidFill>
                      <a:srgbClr val="1F4690"/>
                    </a:solidFill>
                  </a:tcPr>
                </a:tc>
                <a:tc>
                  <a:txBody>
                    <a:bodyPr lIns="27432" tIns="36576" bIns="18288"/>
                    <a:lstStyle/>
                    <a:p>
                      <a:r>
                        <a:rPr sz="800" b="1">
                          <a:solidFill>
                            <a:srgbClr val="FFFFFF"/>
                          </a:solidFill>
                          <a:latin typeface="Calibri"/>
                        </a:rPr>
                        <a:t>Value Per Share (₹)</a:t>
                      </a:r>
                    </a:p>
                  </a:txBody>
                  <a:tcPr>
                    <a:solidFill>
                      <a:srgbClr val="1F4690"/>
                    </a:solidFill>
                  </a:tcPr>
                </a:tc>
              </a:tr>
              <a:tr h="292608">
                <a:tc>
                  <a:txBody>
                    <a:bodyPr lIns="27432" tIns="18288" bIns="18288"/>
                    <a:lstStyle/>
                    <a:p>
                      <a:r>
                        <a:rPr sz="800" b="0">
                          <a:solidFill>
                            <a:srgbClr val="111111"/>
                          </a:solidFill>
                          <a:latin typeface="Calibri"/>
                        </a:rPr>
                        <a:t>Base Case P/E</a:t>
                      </a:r>
                    </a:p>
                  </a:txBody>
                  <a:tcPr>
                    <a:solidFill>
                      <a:srgbClr val="FFFFFF"/>
                    </a:solidFill>
                  </a:tcPr>
                </a:tc>
                <a:tc>
                  <a:txBody>
                    <a:bodyPr lIns="27432" tIns="18288" bIns="18288"/>
                    <a:lstStyle/>
                    <a:p>
                      <a:r>
                        <a:rPr sz="800" b="0">
                          <a:solidFill>
                            <a:srgbClr val="111111"/>
                          </a:solidFill>
                          <a:latin typeface="Calibri"/>
                        </a:rPr>
                        <a:t>24x P/E</a:t>
                      </a:r>
                    </a:p>
                  </a:txBody>
                  <a:tcPr>
                    <a:solidFill>
                      <a:srgbClr val="FFFFFF"/>
                    </a:solidFill>
                  </a:tcPr>
                </a:tc>
                <a:tc>
                  <a:txBody>
                    <a:bodyPr lIns="27432" tIns="18288" bIns="18288"/>
                    <a:lstStyle/>
                    <a:p>
                      <a:r>
                        <a:rPr sz="800" b="0">
                          <a:solidFill>
                            <a:srgbClr val="111111"/>
                          </a:solidFill>
                          <a:latin typeface="Calibri"/>
                        </a:rPr>
                        <a:t>FY27E EPS of ₹66.5</a:t>
                      </a:r>
                    </a:p>
                  </a:txBody>
                  <a:tcPr>
                    <a:solidFill>
                      <a:srgbClr val="FFFFFF"/>
                    </a:solidFill>
                  </a:tcPr>
                </a:tc>
                <a:tc>
                  <a:txBody>
                    <a:bodyPr lIns="27432" tIns="18288" bIns="18288"/>
                    <a:lstStyle/>
                    <a:p>
                      <a:r>
                        <a:rPr sz="800" b="0">
                          <a:solidFill>
                            <a:srgbClr val="111111"/>
                          </a:solidFill>
                          <a:latin typeface="Calibri"/>
                        </a:rPr>
                        <a:t>₹1,596 (unadjusted)</a:t>
                      </a:r>
                    </a:p>
                  </a:txBody>
                  <a:tcPr>
                    <a:solidFill>
                      <a:srgbClr val="FFFFFF"/>
                    </a:solidFill>
                  </a:tcPr>
                </a:tc>
              </a:tr>
              <a:tr h="292608">
                <a:tc>
                  <a:txBody>
                    <a:bodyPr lIns="27432" tIns="18288" bIns="18288"/>
                    <a:lstStyle/>
                    <a:p>
                      <a:r>
                        <a:rPr sz="800" b="0">
                          <a:solidFill>
                            <a:srgbClr val="111111"/>
                          </a:solidFill>
                          <a:latin typeface="Calibri"/>
                        </a:rPr>
                        <a:t>Discounted Target (1Y)</a:t>
                      </a:r>
                    </a:p>
                  </a:txBody>
                  <a:tcPr>
                    <a:solidFill>
                      <a:srgbClr val="F5F7FA"/>
                    </a:solidFill>
                  </a:tcPr>
                </a:tc>
                <a:tc>
                  <a:txBody>
                    <a:bodyPr lIns="27432" tIns="18288" bIns="18288"/>
                    <a:lstStyle/>
                    <a:p>
                      <a:r>
                        <a:rPr sz="800" b="0">
                          <a:solidFill>
                            <a:srgbClr val="111111"/>
                          </a:solidFill>
                          <a:latin typeface="Calibri"/>
                        </a:rPr>
                        <a:t>12% discount rate</a:t>
                      </a:r>
                    </a:p>
                  </a:txBody>
                  <a:tcPr>
                    <a:solidFill>
                      <a:srgbClr val="F5F7FA"/>
                    </a:solidFill>
                  </a:tcPr>
                </a:tc>
                <a:tc>
                  <a:txBody>
                    <a:bodyPr lIns="27432" tIns="18288" bIns="18288"/>
                    <a:lstStyle/>
                    <a:p>
                      <a:r>
                        <a:rPr sz="800" b="0">
                          <a:solidFill>
                            <a:srgbClr val="111111"/>
                          </a:solidFill>
                          <a:latin typeface="Calibri"/>
                        </a:rPr>
                        <a:t>12-month forward</a:t>
                      </a:r>
                    </a:p>
                  </a:txBody>
                  <a:tcPr>
                    <a:solidFill>
                      <a:srgbClr val="F5F7FA"/>
                    </a:solidFill>
                  </a:tcPr>
                </a:tc>
                <a:tc>
                  <a:txBody>
                    <a:bodyPr lIns="27432" tIns="18288" bIns="18288"/>
                    <a:lstStyle/>
                    <a:p>
                      <a:r>
                        <a:rPr sz="800" b="0">
                          <a:solidFill>
                            <a:srgbClr val="111111"/>
                          </a:solidFill>
                          <a:latin typeface="Calibri"/>
                        </a:rPr>
                        <a:t>₹1,127 (Base TP)</a:t>
                      </a:r>
                    </a:p>
                  </a:txBody>
                  <a:tcPr>
                    <a:solidFill>
                      <a:srgbClr val="F5F7FA"/>
                    </a:solidFill>
                  </a:tcPr>
                </a:tc>
              </a:tr>
              <a:tr h="292608">
                <a:tc>
                  <a:txBody>
                    <a:bodyPr lIns="27432" tIns="18288" bIns="18288"/>
                    <a:lstStyle/>
                    <a:p>
                      <a:r>
                        <a:rPr sz="800" b="0">
                          <a:solidFill>
                            <a:srgbClr val="111111"/>
                          </a:solidFill>
                          <a:latin typeface="Calibri"/>
                        </a:rPr>
                        <a:t>Analyst Consensus</a:t>
                      </a:r>
                    </a:p>
                  </a:txBody>
                  <a:tcPr>
                    <a:solidFill>
                      <a:srgbClr val="FFFFFF"/>
                    </a:solidFill>
                  </a:tcPr>
                </a:tc>
                <a:tc>
                  <a:txBody>
                    <a:bodyPr lIns="27432" tIns="18288" bIns="18288"/>
                    <a:lstStyle/>
                    <a:p>
                      <a:r>
                        <a:rPr sz="800" b="0">
                          <a:solidFill>
                            <a:srgbClr val="111111"/>
                          </a:solidFill>
                          <a:latin typeface="Calibri"/>
                        </a:rPr>
                        <a:t>Market implied</a:t>
                      </a:r>
                    </a:p>
                  </a:txBody>
                  <a:tcPr>
                    <a:solidFill>
                      <a:srgbClr val="FFFFFF"/>
                    </a:solidFill>
                  </a:tcPr>
                </a:tc>
                <a:tc>
                  <a:txBody>
                    <a:bodyPr lIns="27432" tIns="18288" bIns="18288"/>
                    <a:lstStyle/>
                    <a:p>
                      <a:r>
                        <a:rPr sz="800" b="0">
                          <a:solidFill>
                            <a:srgbClr val="111111"/>
                          </a:solidFill>
                          <a:latin typeface="Calibri"/>
                        </a:rPr>
                        <a:t>Current consensus view</a:t>
                      </a:r>
                    </a:p>
                  </a:txBody>
                  <a:tcPr>
                    <a:solidFill>
                      <a:srgbClr val="FFFFFF"/>
                    </a:solidFill>
                  </a:tcPr>
                </a:tc>
                <a:tc>
                  <a:txBody>
                    <a:bodyPr lIns="27432" tIns="18288" bIns="18288"/>
                    <a:lstStyle/>
                    <a:p>
                      <a:r>
                        <a:rPr sz="800" b="0">
                          <a:solidFill>
                            <a:srgbClr val="111111"/>
                          </a:solidFill>
                          <a:latin typeface="Calibri"/>
                        </a:rPr>
                        <a:t>₹1,126.67</a:t>
                      </a:r>
                    </a:p>
                  </a:txBody>
                  <a:tcPr>
                    <a:solidFill>
                      <a:srgbClr val="FFFFFF"/>
                    </a:solidFill>
                  </a:tcPr>
                </a:tc>
              </a:tr>
              <a:tr h="292608">
                <a:tc>
                  <a:txBody>
                    <a:bodyPr lIns="27432" tIns="18288" bIns="18288"/>
                    <a:lstStyle/>
                    <a:p>
                      <a:r>
                        <a:rPr sz="800" b="1">
                          <a:solidFill>
                            <a:srgbClr val="1F4690"/>
                          </a:solidFill>
                          <a:latin typeface="Calibri"/>
                        </a:rPr>
                        <a:t>Probability-Weighted TP</a:t>
                      </a:r>
                    </a:p>
                  </a:txBody>
                  <a:tcPr>
                    <a:solidFill>
                      <a:srgbClr val="FFF7E0"/>
                    </a:solidFill>
                  </a:tcPr>
                </a:tc>
                <a:tc>
                  <a:txBody>
                    <a:bodyPr lIns="27432" tIns="18288" bIns="18288"/>
                    <a:lstStyle/>
                    <a:p>
                      <a:r>
                        <a:rPr sz="800" b="1">
                          <a:solidFill>
                            <a:srgbClr val="1F4690"/>
                          </a:solidFill>
                          <a:latin typeface="Calibri"/>
                        </a:rPr>
                        <a:t>Scenario blend</a:t>
                      </a:r>
                    </a:p>
                  </a:txBody>
                  <a:tcPr>
                    <a:solidFill>
                      <a:srgbClr val="FFF7E0"/>
                    </a:solidFill>
                  </a:tcPr>
                </a:tc>
                <a:tc>
                  <a:txBody>
                    <a:bodyPr lIns="27432" tIns="18288" bIns="18288"/>
                    <a:lstStyle/>
                    <a:p>
                      <a:r>
                        <a:rPr sz="800" b="1">
                          <a:solidFill>
                            <a:srgbClr val="1F4690"/>
                          </a:solidFill>
                          <a:latin typeface="Calibri"/>
                        </a:rPr>
                        <a:t>30%×Bull + 50%×Base + 20%×Bear</a:t>
                      </a:r>
                    </a:p>
                  </a:txBody>
                  <a:tcPr>
                    <a:solidFill>
                      <a:srgbClr val="FFF7E0"/>
                    </a:solidFill>
                  </a:tcPr>
                </a:tc>
                <a:tc>
                  <a:txBody>
                    <a:bodyPr lIns="27432" tIns="18288" bIns="18288"/>
                    <a:lstStyle/>
                    <a:p>
                      <a:r>
                        <a:rPr sz="800" b="1">
                          <a:solidFill>
                            <a:srgbClr val="1F4690"/>
                          </a:solidFill>
                          <a:latin typeface="Calibri"/>
                        </a:rPr>
                        <a:t>₹1,109</a:t>
                      </a:r>
                    </a:p>
                  </a:txBody>
                  <a:tcPr>
                    <a:solidFill>
                      <a:srgbClr val="FFF7E0"/>
                    </a:solidFill>
                  </a:tcPr>
                </a:tc>
              </a:tr>
            </a:tbl>
          </a:graphicData>
        </a:graphic>
      </p:graphicFrame>
      <p:sp>
        <p:nvSpPr>
          <p:cNvPr id="17" name="TextBox 16"/>
          <p:cNvSpPr txBox="1"/>
          <p:nvPr/>
        </p:nvSpPr>
        <p:spPr>
          <a:xfrm>
            <a:off x="292608" y="3136392"/>
            <a:ext cx="7059168" cy="182880"/>
          </a:xfrm>
          <a:prstGeom prst="rect">
            <a:avLst/>
          </a:prstGeom>
          <a:noFill/>
        </p:spPr>
        <p:txBody>
          <a:bodyPr wrap="square" lIns="36576" rIns="36576" tIns="9144"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Company</a:t>
                      </a:r>
                    </a:p>
                  </a:txBody>
                  <a:tcPr>
                    <a:solidFill>
                      <a:srgbClr val="1F4690"/>
                    </a:solidFill>
                  </a:tcPr>
                </a:tc>
                <a:tc>
                  <a:txBody>
                    <a:bodyPr lIns="27432" tIns="36576" bIns="18288"/>
                    <a:lstStyle/>
                    <a:p>
                      <a:r>
                        <a:rPr sz="800" b="1">
                          <a:solidFill>
                            <a:srgbClr val="FFFFFF"/>
                          </a:solidFill>
                          <a:latin typeface="Calibri"/>
                        </a:rPr>
                        <a:t>P/E (TTM)</a:t>
                      </a:r>
                    </a:p>
                  </a:txBody>
                  <a:tcPr>
                    <a:solidFill>
                      <a:srgbClr val="1F4690"/>
                    </a:solidFill>
                  </a:tcPr>
                </a:tc>
                <a:tc>
                  <a:txBody>
                    <a:bodyPr lIns="27432" tIns="36576" bIns="18288"/>
                    <a:lstStyle/>
                    <a:p>
                      <a:r>
                        <a:rPr sz="800" b="1">
                          <a:solidFill>
                            <a:srgbClr val="FFFFFF"/>
                          </a:solidFill>
                          <a:latin typeface="Calibri"/>
                        </a:rPr>
                        <a:t>P/B</a:t>
                      </a:r>
                    </a:p>
                  </a:txBody>
                  <a:tcPr>
                    <a:solidFill>
                      <a:srgbClr val="1F4690"/>
                    </a:solidFill>
                  </a:tcPr>
                </a:tc>
                <a:tc>
                  <a:txBody>
                    <a:bodyPr lIns="27432" tIns="36576" bIns="18288"/>
                    <a:lstStyle/>
                    <a:p>
                      <a:r>
                        <a:rPr sz="800" b="1">
                          <a:solidFill>
                            <a:srgbClr val="FFFFFF"/>
                          </a:solidFill>
                          <a:latin typeface="Calibri"/>
                        </a:rPr>
                        <a:t>AUM Growth</a:t>
                      </a:r>
                    </a:p>
                  </a:txBody>
                  <a:tcPr>
                    <a:solidFill>
                      <a:srgbClr val="1F4690"/>
                    </a:solidFill>
                  </a:tcPr>
                </a:tc>
                <a:tc>
                  <a:txBody>
                    <a:bodyPr lIns="27432" tIns="36576" bIns="18288"/>
                    <a:lstStyle/>
                    <a:p>
                      <a:r>
                        <a:rPr sz="800" b="1">
                          <a:solidFill>
                            <a:srgbClr val="FFFFFF"/>
                          </a:solidFill>
                          <a:latin typeface="Calibri"/>
                        </a:rPr>
                        <a:t>Comment</a:t>
                      </a:r>
                    </a:p>
                  </a:txBody>
                  <a:tcPr>
                    <a:solidFill>
                      <a:srgbClr val="1F4690"/>
                    </a:solidFill>
                  </a:tcPr>
                </a:tc>
              </a:tr>
              <a:tr h="292608">
                <a:tc>
                  <a:txBody>
                    <a:bodyPr lIns="27432" tIns="18288" bIns="18288"/>
                    <a:lstStyle/>
                    <a:p>
                      <a:r>
                        <a:rPr sz="800" b="1">
                          <a:solidFill>
                            <a:srgbClr val="1F4690"/>
                          </a:solidFill>
                          <a:latin typeface="Calibri"/>
                        </a:rPr>
                        <a:t>Motilal Oswal Financial Services Ltd</a:t>
                      </a:r>
                    </a:p>
                  </a:txBody>
                  <a:tcPr>
                    <a:solidFill>
                      <a:srgbClr val="FFF7E0"/>
                    </a:solidFill>
                  </a:tcPr>
                </a:tc>
                <a:tc>
                  <a:txBody>
                    <a:bodyPr lIns="27432" tIns="18288" bIns="18288"/>
                    <a:lstStyle/>
                    <a:p>
                      <a:r>
                        <a:rPr sz="800" b="1">
                          <a:solidFill>
                            <a:srgbClr val="1F4690"/>
                          </a:solidFill>
                          <a:latin typeface="Calibri"/>
                        </a:rPr>
                        <a:t>24.2x</a:t>
                      </a:r>
                    </a:p>
                  </a:txBody>
                  <a:tcPr>
                    <a:solidFill>
                      <a:srgbClr val="FFF7E0"/>
                    </a:solidFill>
                  </a:tcPr>
                </a:tc>
                <a:tc>
                  <a:txBody>
                    <a:bodyPr lIns="27432" tIns="18288" bIns="18288"/>
                    <a:lstStyle/>
                    <a:p>
                      <a:r>
                        <a:rPr sz="800" b="1">
                          <a:solidFill>
                            <a:srgbClr val="1F4690"/>
                          </a:solidFill>
                          <a:latin typeface="Calibri"/>
                        </a:rPr>
                        <a:t>3.8x</a:t>
                      </a:r>
                    </a:p>
                  </a:txBody>
                  <a:tcPr>
                    <a:solidFill>
                      <a:srgbClr val="FFF7E0"/>
                    </a:solidFill>
                  </a:tcPr>
                </a:tc>
                <a:tc>
                  <a:txBody>
                    <a:bodyPr lIns="27432" tIns="18288" bIns="18288"/>
                    <a:lstStyle/>
                    <a:p>
                      <a:r>
                        <a:rPr sz="800" b="1">
                          <a:solidFill>
                            <a:srgbClr val="1F4690"/>
                          </a:solidFill>
                          <a:latin typeface="Calibri"/>
                        </a:rPr>
                        <a:t>+46% YoY</a:t>
                      </a:r>
                    </a:p>
                  </a:txBody>
                  <a:tcPr>
                    <a:solidFill>
                      <a:srgbClr val="FFF7E0"/>
                    </a:solidFill>
                  </a:tcPr>
                </a:tc>
                <a:tc>
                  <a:txBody>
                    <a:bodyPr lIns="27432" tIns="18288" bIns="18288"/>
                    <a:lstStyle/>
                    <a:p>
                      <a:r>
                        <a:rPr sz="800" b="1">
                          <a:solidFill>
                            <a:srgbClr val="1F4690"/>
                          </a:solidFill>
                          <a:latin typeface="Calibri"/>
                        </a:rPr>
                        <a:t>ARR re-rating pending</a:t>
                      </a:r>
                    </a:p>
                  </a:txBody>
                  <a:tcPr>
                    <a:solidFill>
                      <a:srgbClr val="FFF7E0"/>
                    </a:solidFill>
                  </a:tcPr>
                </a:tc>
              </a:tr>
            </a:tbl>
          </a:graphicData>
        </a:graphic>
      </p:graphicFrame>
      <p:sp>
        <p:nvSpPr>
          <p:cNvPr id="19" name="TextBox 18"/>
          <p:cNvSpPr txBox="1"/>
          <p:nvPr/>
        </p:nvSpPr>
        <p:spPr>
          <a:xfrm>
            <a:off x="292608" y="4059936"/>
            <a:ext cx="7059168" cy="182880"/>
          </a:xfrm>
          <a:prstGeom prst="rect">
            <a:avLst/>
          </a:prstGeom>
          <a:noFill/>
        </p:spPr>
        <p:txBody>
          <a:bodyPr wrap="square" lIns="36576" rIns="36576" tIns="9144"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4630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Scenario</a:t>
                      </a:r>
                    </a:p>
                  </a:txBody>
                  <a:tcPr>
                    <a:solidFill>
                      <a:srgbClr val="1F4690"/>
                    </a:solidFill>
                  </a:tcPr>
                </a:tc>
                <a:tc>
                  <a:txBody>
                    <a:bodyPr lIns="27432" tIns="36576" bIns="18288"/>
                    <a:lstStyle/>
                    <a:p>
                      <a:r>
                        <a:rPr sz="800" b="1">
                          <a:solidFill>
                            <a:srgbClr val="FFFFFF"/>
                          </a:solidFill>
                          <a:latin typeface="Calibri"/>
                        </a:rPr>
                        <a:t>Probability</a:t>
                      </a:r>
                    </a:p>
                  </a:txBody>
                  <a:tcPr>
                    <a:solidFill>
                      <a:srgbClr val="1F4690"/>
                    </a:solidFill>
                  </a:tcPr>
                </a:tc>
                <a:tc>
                  <a:txBody>
                    <a:bodyPr lIns="27432" tIns="36576" bIns="18288"/>
                    <a:lstStyle/>
                    <a:p>
                      <a:r>
                        <a:rPr sz="800" b="1">
                          <a:solidFill>
                            <a:srgbClr val="FFFFFF"/>
                          </a:solidFill>
                          <a:latin typeface="Calibri"/>
                        </a:rPr>
                        <a:t>Target Price</a:t>
                      </a:r>
                    </a:p>
                  </a:txBody>
                  <a:tcPr>
                    <a:solidFill>
                      <a:srgbClr val="1F4690"/>
                    </a:solidFill>
                  </a:tcPr>
                </a:tc>
                <a:tc>
                  <a:txBody>
                    <a:bodyPr lIns="27432" tIns="36576" bIns="18288"/>
                    <a:lstStyle/>
                    <a:p>
                      <a:r>
                        <a:rPr sz="800" b="1">
                          <a:solidFill>
                            <a:srgbClr val="FFFFFF"/>
                          </a:solidFill>
                          <a:latin typeface="Calibri"/>
                        </a:rPr>
                        <a:t>Return vs. CMP</a:t>
                      </a:r>
                    </a:p>
                  </a:txBody>
                  <a:tcPr>
                    <a:solidFill>
                      <a:srgbClr val="1F4690"/>
                    </a:solidFill>
                  </a:tcPr>
                </a:tc>
                <a:tc>
                  <a:txBody>
                    <a:bodyPr lIns="27432" tIns="36576" bIns="18288"/>
                    <a:lstStyle/>
                    <a:p>
                      <a:r>
                        <a:rPr sz="800" b="1">
                          <a:solidFill>
                            <a:srgbClr val="FFFFFF"/>
                          </a:solidFill>
                          <a:latin typeface="Calibri"/>
                        </a:rPr>
                        <a:t>Key Assumption</a:t>
                      </a:r>
                    </a:p>
                  </a:txBody>
                  <a:tcPr>
                    <a:solidFill>
                      <a:srgbClr val="1F4690"/>
                    </a:solidFill>
                  </a:tcPr>
                </a:tc>
              </a:tr>
              <a:tr h="292608">
                <a:tc>
                  <a:txBody>
                    <a:bodyPr lIns="27432" tIns="18288" bIns="18288"/>
                    <a:lstStyle/>
                    <a:p>
                      <a:r>
                        <a:rPr sz="800" b="0">
                          <a:solidFill>
                            <a:srgbClr val="111111"/>
                          </a:solidFill>
                          <a:latin typeface="Calibri"/>
                        </a:rPr>
                        <a:t>Bull Case</a:t>
                      </a:r>
                    </a:p>
                  </a:txBody>
                  <a:tcPr>
                    <a:solidFill>
                      <a:srgbClr val="FFFFFF"/>
                    </a:solidFill>
                  </a:tcPr>
                </a:tc>
                <a:tc>
                  <a:txBody>
                    <a:bodyPr lIns="27432" tIns="18288" bIns="18288"/>
                    <a:lstStyle/>
                    <a:p>
                      <a:r>
                        <a:rPr sz="800" b="0">
                          <a:solidFill>
                            <a:srgbClr val="111111"/>
                          </a:solidFill>
                          <a:latin typeface="Calibri"/>
                        </a:rPr>
                        <a:t>30%</a:t>
                      </a:r>
                    </a:p>
                  </a:txBody>
                  <a:tcPr>
                    <a:solidFill>
                      <a:srgbClr val="FFFFFF"/>
                    </a:solidFill>
                  </a:tcPr>
                </a:tc>
                <a:tc>
                  <a:txBody>
                    <a:bodyPr lIns="27432" tIns="18288" bIns="18288"/>
                    <a:lstStyle/>
                    <a:p>
                      <a:r>
                        <a:rPr sz="800" b="0">
                          <a:solidFill>
                            <a:srgbClr val="111111"/>
                          </a:solidFill>
                          <a:latin typeface="Calibri"/>
                        </a:rPr>
                        <a:t>₹1,400</a:t>
                      </a:r>
                    </a:p>
                  </a:txBody>
                  <a:tcPr>
                    <a:solidFill>
                      <a:srgbClr val="FFFFFF"/>
                    </a:solidFill>
                  </a:tcPr>
                </a:tc>
                <a:tc>
                  <a:txBody>
                    <a:bodyPr lIns="27432" tIns="18288" bIns="18288"/>
                    <a:lstStyle/>
                    <a:p>
                      <a:r>
                        <a:rPr sz="800" b="0">
                          <a:solidFill>
                            <a:srgbClr val="111111"/>
                          </a:solidFill>
                          <a:latin typeface="Calibri"/>
                        </a:rPr>
                        <a:t>+70.1%</a:t>
                      </a:r>
                    </a:p>
                  </a:txBody>
                  <a:tcPr>
                    <a:solidFill>
                      <a:srgbClr val="FFFFFF"/>
                    </a:solidFill>
                  </a:tcPr>
                </a:tc>
                <a:tc>
                  <a:txBody>
                    <a:bodyPr lIns="27432" tIns="18288" bIns="18288"/>
                    <a:lstStyle/>
                    <a:p>
                      <a:r>
                        <a:rPr sz="800" b="0">
                          <a:solidFill>
                            <a:srgbClr val="111111"/>
                          </a:solidFill>
                          <a:latin typeface="Calibri"/>
                        </a:rPr>
                        <a:t>ARR &gt; 70%, AMC AUM +40% YoY, regulatory clarity.</a:t>
                      </a:r>
                    </a:p>
                  </a:txBody>
                  <a:tcPr>
                    <a:solidFill>
                      <a:srgbClr val="FFFFFF"/>
                    </a:solidFill>
                  </a:tcPr>
                </a:tc>
              </a:tr>
              <a:tr h="292608">
                <a:tc>
                  <a:txBody>
                    <a:bodyPr lIns="27432" tIns="18288" bIns="18288"/>
                    <a:lstStyle/>
                    <a:p>
                      <a:r>
                        <a:rPr sz="800" b="1">
                          <a:solidFill>
                            <a:srgbClr val="1F4690"/>
                          </a:solidFill>
                          <a:latin typeface="Calibri"/>
                        </a:rPr>
                        <a:t>Base Case</a:t>
                      </a:r>
                    </a:p>
                  </a:txBody>
                  <a:tcPr>
                    <a:solidFill>
                      <a:srgbClr val="FFF7E0"/>
                    </a:solidFill>
                  </a:tcPr>
                </a:tc>
                <a:tc>
                  <a:txBody>
                    <a:bodyPr lIns="27432" tIns="18288" bIns="18288"/>
                    <a:lstStyle/>
                    <a:p>
                      <a:r>
                        <a:rPr sz="800" b="1">
                          <a:solidFill>
                            <a:srgbClr val="1F4690"/>
                          </a:solidFill>
                          <a:latin typeface="Calibri"/>
                        </a:rPr>
                        <a:t>50%</a:t>
                      </a:r>
                    </a:p>
                  </a:txBody>
                  <a:tcPr>
                    <a:solidFill>
                      <a:srgbClr val="FFF7E0"/>
                    </a:solidFill>
                  </a:tcPr>
                </a:tc>
                <a:tc>
                  <a:txBody>
                    <a:bodyPr lIns="27432" tIns="18288" bIns="18288"/>
                    <a:lstStyle/>
                    <a:p>
                      <a:r>
                        <a:rPr sz="800" b="1">
                          <a:solidFill>
                            <a:srgbClr val="1F4690"/>
                          </a:solidFill>
                          <a:latin typeface="Calibri"/>
                        </a:rPr>
                        <a:t>₹1,127</a:t>
                      </a:r>
                    </a:p>
                  </a:txBody>
                  <a:tcPr>
                    <a:solidFill>
                      <a:srgbClr val="FFF7E0"/>
                    </a:solidFill>
                  </a:tcPr>
                </a:tc>
                <a:tc>
                  <a:txBody>
                    <a:bodyPr lIns="27432" tIns="18288" bIns="18288"/>
                    <a:lstStyle/>
                    <a:p>
                      <a:r>
                        <a:rPr sz="800" b="1">
                          <a:solidFill>
                            <a:srgbClr val="1F4690"/>
                          </a:solidFill>
                          <a:latin typeface="Calibri"/>
                        </a:rPr>
                        <a:t>+37.0%</a:t>
                      </a:r>
                    </a:p>
                  </a:txBody>
                  <a:tcPr>
                    <a:solidFill>
                      <a:srgbClr val="FFF7E0"/>
                    </a:solidFill>
                  </a:tcPr>
                </a:tc>
                <a:tc>
                  <a:txBody>
                    <a:bodyPr lIns="27432" tIns="18288" bIns="18288"/>
                    <a:lstStyle/>
                    <a:p>
                      <a:r>
                        <a:rPr sz="800" b="1">
                          <a:solidFill>
                            <a:srgbClr val="1F4690"/>
                          </a:solidFill>
                          <a:latin typeface="Calibri"/>
                        </a:rPr>
                        <a:t>ARR steady at 65%, AUM compounding, stable regulation.</a:t>
                      </a:r>
                    </a:p>
                  </a:txBody>
                  <a:tcPr>
                    <a:solidFill>
                      <a:srgbClr val="FFF7E0"/>
                    </a:solidFill>
                  </a:tcPr>
                </a:tc>
              </a:tr>
              <a:tr h="292608">
                <a:tc>
                  <a:txBody>
                    <a:bodyPr lIns="27432" tIns="18288" bIns="18288"/>
                    <a:lstStyle/>
                    <a:p>
                      <a:r>
                        <a:rPr sz="800" b="0">
                          <a:solidFill>
                            <a:srgbClr val="111111"/>
                          </a:solidFill>
                          <a:latin typeface="Calibri"/>
                        </a:rPr>
                        <a:t>Bear Case</a:t>
                      </a:r>
                    </a:p>
                  </a:txBody>
                  <a:tcPr>
                    <a:solidFill>
                      <a:srgbClr val="FFFFFF"/>
                    </a:solidFill>
                  </a:tcPr>
                </a:tc>
                <a:tc>
                  <a:txBody>
                    <a:bodyPr lIns="27432" tIns="18288" bIns="18288"/>
                    <a:lstStyle/>
                    <a:p>
                      <a:r>
                        <a:rPr sz="800" b="0">
                          <a:solidFill>
                            <a:srgbClr val="111111"/>
                          </a:solidFill>
                          <a:latin typeface="Calibri"/>
                        </a:rPr>
                        <a:t>20%</a:t>
                      </a:r>
                    </a:p>
                  </a:txBody>
                  <a:tcPr>
                    <a:solidFill>
                      <a:srgbClr val="FFFFFF"/>
                    </a:solidFill>
                  </a:tcPr>
                </a:tc>
                <a:tc>
                  <a:txBody>
                    <a:bodyPr lIns="27432" tIns="18288" bIns="18288"/>
                    <a:lstStyle/>
                    <a:p>
                      <a:r>
                        <a:rPr sz="800" b="0">
                          <a:solidFill>
                            <a:srgbClr val="111111"/>
                          </a:solidFill>
                          <a:latin typeface="Calibri"/>
                        </a:rPr>
                        <a:t>₹630</a:t>
                      </a:r>
                    </a:p>
                  </a:txBody>
                  <a:tcPr>
                    <a:solidFill>
                      <a:srgbClr val="FFFFFF"/>
                    </a:solidFill>
                  </a:tcPr>
                </a:tc>
                <a:tc>
                  <a:txBody>
                    <a:bodyPr lIns="27432" tIns="18288" bIns="18288"/>
                    <a:lstStyle/>
                    <a:p>
                      <a:r>
                        <a:rPr sz="800" b="0">
                          <a:solidFill>
                            <a:srgbClr val="111111"/>
                          </a:solidFill>
                          <a:latin typeface="Calibri"/>
                        </a:rPr>
                        <a:t>-23.4%</a:t>
                      </a:r>
                    </a:p>
                  </a:txBody>
                  <a:tcPr>
                    <a:solidFill>
                      <a:srgbClr val="FFFFFF"/>
                    </a:solidFill>
                  </a:tcPr>
                </a:tc>
                <a:tc>
                  <a:txBody>
                    <a:bodyPr lIns="27432" tIns="18288" bIns="18288"/>
                    <a:lstStyle/>
                    <a:p>
                      <a:r>
                        <a:rPr sz="800" b="0">
                          <a:solidFill>
                            <a:srgbClr val="111111"/>
                          </a:solidFill>
                          <a:latin typeface="Calibri"/>
                        </a:rPr>
                        <a:t>Sustained F&amp;O headwinds, fintech share loss.</a:t>
                      </a:r>
                    </a:p>
                  </a:txBody>
                  <a:tcPr>
                    <a:solidFill>
                      <a:srgbClr val="FFFFFF"/>
                    </a:solidFill>
                  </a:tcPr>
                </a:tc>
              </a:tr>
              <a:tr h="292608">
                <a:tc>
                  <a:txBody>
                    <a:bodyPr lIns="27432" tIns="18288" bIns="18288"/>
                    <a:lstStyle/>
                    <a:p>
                      <a:r>
                        <a:rPr sz="800" b="0">
                          <a:solidFill>
                            <a:srgbClr val="111111"/>
                          </a:solidFill>
                          <a:latin typeface="Calibri"/>
                        </a:rPr>
                        <a:t>Prob. Weighted Avg.</a:t>
                      </a:r>
                    </a:p>
                  </a:txBody>
                  <a:tcPr>
                    <a:solidFill>
                      <a:srgbClr val="F5F7FA"/>
                    </a:solidFill>
                  </a:tcPr>
                </a:tc>
                <a:tc>
                  <a:txBody>
                    <a:bodyPr lIns="27432" tIns="18288" bIns="18288"/>
                    <a:lstStyle/>
                    <a:p>
                      <a:r>
                        <a:rPr sz="800" b="0">
                          <a:solidFill>
                            <a:srgbClr val="111111"/>
                          </a:solidFill>
                          <a:latin typeface="Calibri"/>
                        </a:rPr>
                        <a:t>100%</a:t>
                      </a:r>
                    </a:p>
                  </a:txBody>
                  <a:tcPr>
                    <a:solidFill>
                      <a:srgbClr val="F5F7FA"/>
                    </a:solidFill>
                  </a:tcPr>
                </a:tc>
                <a:tc>
                  <a:txBody>
                    <a:bodyPr lIns="27432" tIns="18288" bIns="18288"/>
                    <a:lstStyle/>
                    <a:p>
                      <a:r>
                        <a:rPr sz="800" b="0">
                          <a:solidFill>
                            <a:srgbClr val="111111"/>
                          </a:solidFill>
                          <a:latin typeface="Calibri"/>
                        </a:rPr>
                        <a:t>₹1,109</a:t>
                      </a:r>
                    </a:p>
                  </a:txBody>
                  <a:tcPr>
                    <a:solidFill>
                      <a:srgbClr val="F5F7FA"/>
                    </a:solidFill>
                  </a:tcPr>
                </a:tc>
                <a:tc>
                  <a:txBody>
                    <a:bodyPr lIns="27432" tIns="18288" bIns="18288"/>
                    <a:lstStyle/>
                    <a:p>
                      <a:r>
                        <a:rPr sz="800" b="0">
                          <a:solidFill>
                            <a:srgbClr val="111111"/>
                          </a:solidFill>
                          <a:latin typeface="Calibri"/>
                        </a:rPr>
                        <a:t>+34.8%</a:t>
                      </a:r>
                    </a:p>
                  </a:txBody>
                  <a:tcPr>
                    <a:solidFill>
                      <a:srgbClr val="F5F7FA"/>
                    </a:solidFill>
                  </a:tcPr>
                </a:tc>
                <a:tc>
                  <a:txBody>
                    <a:bodyPr lIns="27432" tIns="18288" bIns="18288"/>
                    <a:lstStyle/>
                    <a:p>
                      <a:r>
                        <a:rPr sz="800" b="0">
                          <a:solidFill>
                            <a:srgbClr val="111111"/>
                          </a:solidFill>
                          <a:latin typeface="Calibri"/>
                        </a:rPr>
                        <a:t>Blended scenario</a:t>
                      </a:r>
                    </a:p>
                  </a:txBody>
                  <a:tcPr>
                    <a:solidFill>
                      <a:srgbClr val="F5F7FA"/>
                    </a:solidFill>
                  </a:tcPr>
                </a:tc>
              </a:tr>
            </a:tbl>
          </a:graphicData>
        </a:graphic>
      </p:graphicFrame>
      <p:sp>
        <p:nvSpPr>
          <p:cNvPr id="21" name="TextBox 20"/>
          <p:cNvSpPr txBox="1"/>
          <p:nvPr/>
        </p:nvSpPr>
        <p:spPr>
          <a:xfrm>
            <a:off x="7516368" y="1078992"/>
            <a:ext cx="4315968" cy="182880"/>
          </a:xfrm>
          <a:prstGeom prst="rect">
            <a:avLst/>
          </a:prstGeom>
          <a:noFill/>
        </p:spPr>
        <p:txBody>
          <a:bodyPr wrap="square" lIns="36576" rIns="36576" tIns="9144"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2"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rIns="36576" tIns="9144"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rIns="36576" tIns="9144"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rIns="36576" tIns="9144"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8176"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rIns="36576" tIns="9144"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rIns="36576" tIns="9144"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rIns="36576" tIns="9144"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5120"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rIns="36576" tIns="9144"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rIns="36576" tIns="9144"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rIns="36576" tIns="9144"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3264408"/>
            <a:ext cx="4169663" cy="164592"/>
          </a:xfrm>
          <a:prstGeom prst="rect">
            <a:avLst/>
          </a:prstGeom>
          <a:noFill/>
        </p:spPr>
        <p:txBody>
          <a:bodyPr wrap="square" lIns="36576" rIns="36576" tIns="9144"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rIns="36576" tIns="9144"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7808" y="4818888"/>
            <a:ext cx="4169663" cy="164592"/>
          </a:xfrm>
          <a:prstGeom prst="rect">
            <a:avLst/>
          </a:prstGeom>
          <a:noFill/>
        </p:spPr>
        <p:txBody>
          <a:bodyPr wrap="square" lIns="36576" rIns="36576" tIns="9144"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rIns="36576" tIns="9144"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ounded Rectangle 54"/>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TextBox 14"/>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ounded Rectangle 14"/>
          <p:cNvSpPr/>
          <p:nvPr/>
        </p:nvSpPr>
        <p:spPr>
          <a:xfrm>
            <a:off x="292608" y="1143000"/>
            <a:ext cx="6446520" cy="777240"/>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216152"/>
            <a:ext cx="6263640" cy="164592"/>
          </a:xfrm>
          <a:prstGeom prst="rect">
            <a:avLst/>
          </a:prstGeom>
          <a:noFill/>
        </p:spPr>
        <p:txBody>
          <a:bodyPr wrap="square" lIns="36576" rIns="36576" tIns="9144" bIns="9144">
            <a:spAutoFit/>
          </a:bodyPr>
          <a:lstStyle/>
          <a:p>
            <a:r>
              <a:rPr sz="900" b="1">
                <a:solidFill>
                  <a:srgbClr val="1F4690"/>
                </a:solidFill>
                <a:latin typeface="Calibri"/>
              </a:rPr>
              <a:t>Conviction Statement</a:t>
            </a:r>
          </a:p>
        </p:txBody>
      </p:sp>
      <p:sp>
        <p:nvSpPr>
          <p:cNvPr id="18" name="TextBox 17"/>
          <p:cNvSpPr txBox="1"/>
          <p:nvPr/>
        </p:nvSpPr>
        <p:spPr>
          <a:xfrm>
            <a:off x="384048" y="1435608"/>
            <a:ext cx="6263640" cy="411479"/>
          </a:xfrm>
          <a:prstGeom prst="rect">
            <a:avLst/>
          </a:prstGeom>
          <a:noFill/>
        </p:spPr>
        <p:txBody>
          <a:bodyPr wrap="square" lIns="36576" rIns="36576" tIns="9144"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19" name="TextBox 18"/>
          <p:cNvSpPr txBox="1"/>
          <p:nvPr/>
        </p:nvSpPr>
        <p:spPr>
          <a:xfrm>
            <a:off x="292608" y="2011680"/>
            <a:ext cx="6446520" cy="182880"/>
          </a:xfrm>
          <a:prstGeom prst="rect">
            <a:avLst/>
          </a:prstGeom>
          <a:noFill/>
        </p:spPr>
        <p:txBody>
          <a:bodyPr wrap="square" lIns="36576" rIns="36576" tIns="9144" bIns="9144">
            <a:spAutoFit/>
          </a:bodyPr>
          <a:lstStyle/>
          <a:p>
            <a:r>
              <a:rPr sz="900" b="1">
                <a:solidFill>
                  <a:srgbClr val="1F4690"/>
                </a:solidFill>
                <a:latin typeface="Calibri"/>
              </a:rPr>
              <a:t>ENTRY STRATEGY - WHEN TO BUY</a:t>
            </a:r>
          </a:p>
        </p:txBody>
      </p:sp>
      <p:sp>
        <p:nvSpPr>
          <p:cNvPr id="20" name="Rounded Rectangle 19"/>
          <p:cNvSpPr/>
          <p:nvPr/>
        </p:nvSpPr>
        <p:spPr>
          <a:xfrm>
            <a:off x="292608" y="224028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608" y="224028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13432"/>
            <a:ext cx="6263640" cy="164592"/>
          </a:xfrm>
          <a:prstGeom prst="rect">
            <a:avLst/>
          </a:prstGeom>
          <a:noFill/>
        </p:spPr>
        <p:txBody>
          <a:bodyPr wrap="square" lIns="36576" rIns="36576" tIns="9144" bIns="9144">
            <a:spAutoFit/>
          </a:bodyPr>
          <a:lstStyle/>
          <a:p>
            <a:r>
              <a:rPr sz="900" b="1">
                <a:solidFill>
                  <a:srgbClr val="1F4690"/>
                </a:solidFill>
                <a:latin typeface="Calibri"/>
              </a:rPr>
              <a:t>Immediate Entry Zone</a:t>
            </a:r>
          </a:p>
        </p:txBody>
      </p:sp>
      <p:sp>
        <p:nvSpPr>
          <p:cNvPr id="23" name="TextBox 22"/>
          <p:cNvSpPr txBox="1"/>
          <p:nvPr/>
        </p:nvSpPr>
        <p:spPr>
          <a:xfrm>
            <a:off x="384048" y="2532888"/>
            <a:ext cx="6263640" cy="411480"/>
          </a:xfrm>
          <a:prstGeom prst="rect">
            <a:avLst/>
          </a:prstGeom>
          <a:noFill/>
        </p:spPr>
        <p:txBody>
          <a:bodyPr wrap="square" lIns="36576" rIns="36576" tIns="9144"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4" name="Rounded Rectangle 23"/>
          <p:cNvSpPr/>
          <p:nvPr/>
        </p:nvSpPr>
        <p:spPr>
          <a:xfrm>
            <a:off x="292608" y="3108960"/>
            <a:ext cx="6446520"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92608" y="3108960"/>
            <a:ext cx="32004" cy="7315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3182112"/>
            <a:ext cx="6263640" cy="164592"/>
          </a:xfrm>
          <a:prstGeom prst="rect">
            <a:avLst/>
          </a:prstGeom>
          <a:noFill/>
        </p:spPr>
        <p:txBody>
          <a:bodyPr wrap="square" lIns="36576" rIns="36576" tIns="9144" bIns="9144">
            <a:spAutoFit/>
          </a:bodyPr>
          <a:lstStyle/>
          <a:p>
            <a:r>
              <a:rPr sz="900" b="1">
                <a:solidFill>
                  <a:srgbClr val="1F4690"/>
                </a:solidFill>
                <a:latin typeface="Calibri"/>
              </a:rPr>
              <a:t>Add-On Zone</a:t>
            </a:r>
          </a:p>
        </p:txBody>
      </p:sp>
      <p:sp>
        <p:nvSpPr>
          <p:cNvPr id="27" name="TextBox 26"/>
          <p:cNvSpPr txBox="1"/>
          <p:nvPr/>
        </p:nvSpPr>
        <p:spPr>
          <a:xfrm>
            <a:off x="384048" y="3401568"/>
            <a:ext cx="6263640" cy="365760"/>
          </a:xfrm>
          <a:prstGeom prst="rect">
            <a:avLst/>
          </a:prstGeom>
          <a:noFill/>
        </p:spPr>
        <p:txBody>
          <a:bodyPr wrap="square" lIns="36576" rIns="36576" tIns="9144" bIns="9144">
            <a:spAutoFit/>
          </a:bodyPr>
          <a:lstStyle/>
          <a:p>
            <a:r>
              <a:rPr sz="800"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8" name="Rounded Rectangle 27"/>
          <p:cNvSpPr/>
          <p:nvPr/>
        </p:nvSpPr>
        <p:spPr>
          <a:xfrm>
            <a:off x="292608" y="393192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3931920"/>
            <a:ext cx="32004"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4005072"/>
            <a:ext cx="6263640" cy="164592"/>
          </a:xfrm>
          <a:prstGeom prst="rect">
            <a:avLst/>
          </a:prstGeom>
          <a:noFill/>
        </p:spPr>
        <p:txBody>
          <a:bodyPr wrap="square" lIns="36576" rIns="36576" tIns="9144" bIns="9144">
            <a:spAutoFit/>
          </a:bodyPr>
          <a:lstStyle/>
          <a:p>
            <a:r>
              <a:rPr sz="900" b="1">
                <a:solidFill>
                  <a:srgbClr val="1F4690"/>
                </a:solidFill>
                <a:latin typeface="Calibri"/>
              </a:rPr>
              <a:t>Review Points - Thesis Confirmation Milestones</a:t>
            </a:r>
          </a:p>
        </p:txBody>
      </p:sp>
      <p:sp>
        <p:nvSpPr>
          <p:cNvPr id="31" name="TextBox 30"/>
          <p:cNvSpPr txBox="1"/>
          <p:nvPr/>
        </p:nvSpPr>
        <p:spPr>
          <a:xfrm>
            <a:off x="384048" y="4224528"/>
            <a:ext cx="6263640" cy="411479"/>
          </a:xfrm>
          <a:prstGeom prst="rect">
            <a:avLst/>
          </a:prstGeom>
          <a:noFill/>
        </p:spPr>
        <p:txBody>
          <a:bodyPr wrap="square" lIns="36576" rIns="36576" tIns="9144"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2" name="TextBox 31"/>
          <p:cNvSpPr txBox="1"/>
          <p:nvPr/>
        </p:nvSpPr>
        <p:spPr>
          <a:xfrm>
            <a:off x="292608" y="4800600"/>
            <a:ext cx="6446520" cy="182880"/>
          </a:xfrm>
          <a:prstGeom prst="rect">
            <a:avLst/>
          </a:prstGeom>
          <a:noFill/>
        </p:spPr>
        <p:txBody>
          <a:bodyPr wrap="square" lIns="36576" rIns="36576" tIns="9144" bIns="9144">
            <a:spAutoFit/>
          </a:bodyPr>
          <a:lstStyle/>
          <a:p>
            <a:r>
              <a:rPr sz="900" b="1">
                <a:solidFill>
                  <a:srgbClr val="1F4690"/>
                </a:solidFill>
                <a:latin typeface="Calibri"/>
              </a:rPr>
              <a:t>THESIS INVALIDATION TRIGGERS - WHEN TO EXIT</a:t>
            </a:r>
          </a:p>
        </p:txBody>
      </p:sp>
      <p:sp>
        <p:nvSpPr>
          <p:cNvPr id="33" name="Rectangle 32"/>
          <p:cNvSpPr/>
          <p:nvPr/>
        </p:nvSpPr>
        <p:spPr>
          <a:xfrm>
            <a:off x="292608" y="5074920"/>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 y="5102352"/>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5" name="TextBox 34"/>
          <p:cNvSpPr txBox="1"/>
          <p:nvPr/>
        </p:nvSpPr>
        <p:spPr>
          <a:xfrm>
            <a:off x="731520" y="5029200"/>
            <a:ext cx="6007608" cy="274320"/>
          </a:xfrm>
          <a:prstGeom prst="rect">
            <a:avLst/>
          </a:prstGeom>
          <a:noFill/>
        </p:spPr>
        <p:txBody>
          <a:bodyPr wrap="square" lIns="36576" rIns="36576" tIns="9144" bIns="9144">
            <a:spAutoFit/>
          </a:bodyPr>
          <a:lstStyle/>
          <a:p>
            <a:r>
              <a:rPr sz="800" b="0">
                <a:solidFill>
                  <a:srgbClr val="111111"/>
                </a:solidFill>
                <a:latin typeface="Calibri"/>
              </a:rPr>
              <a:t>ARR contribution drops below 55% for two consecutive quarters</a:t>
            </a:r>
          </a:p>
        </p:txBody>
      </p:sp>
      <p:sp>
        <p:nvSpPr>
          <p:cNvPr id="36" name="Rectangle 35"/>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9184" y="544982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8" name="TextBox 37"/>
          <p:cNvSpPr txBox="1"/>
          <p:nvPr/>
        </p:nvSpPr>
        <p:spPr>
          <a:xfrm>
            <a:off x="731520" y="5376672"/>
            <a:ext cx="6007608" cy="274320"/>
          </a:xfrm>
          <a:prstGeom prst="rect">
            <a:avLst/>
          </a:prstGeom>
          <a:noFill/>
        </p:spPr>
        <p:txBody>
          <a:bodyPr wrap="square" lIns="36576" rIns="36576" tIns="9144" bIns="9144">
            <a:spAutoFit/>
          </a:bodyPr>
          <a:lstStyle/>
          <a:p>
            <a:r>
              <a:rPr sz="800" b="0">
                <a:solidFill>
                  <a:srgbClr val="111111"/>
                </a:solidFill>
                <a:latin typeface="Calibri"/>
              </a:rPr>
              <a:t>Major SEBI enforcement action with direct business impact</a:t>
            </a:r>
          </a:p>
        </p:txBody>
      </p:sp>
      <p:sp>
        <p:nvSpPr>
          <p:cNvPr id="39" name="Rectangle 38"/>
          <p:cNvSpPr/>
          <p:nvPr/>
        </p:nvSpPr>
        <p:spPr>
          <a:xfrm>
            <a:off x="292608" y="5769864"/>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 y="5797296"/>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1" name="TextBox 40"/>
          <p:cNvSpPr txBox="1"/>
          <p:nvPr/>
        </p:nvSpPr>
        <p:spPr>
          <a:xfrm>
            <a:off x="731520" y="5724144"/>
            <a:ext cx="6007608" cy="274320"/>
          </a:xfrm>
          <a:prstGeom prst="rect">
            <a:avLst/>
          </a:prstGeom>
          <a:noFill/>
        </p:spPr>
        <p:txBody>
          <a:bodyPr wrap="square" lIns="36576" rIns="36576" tIns="9144" bIns="9144">
            <a:spAutoFit/>
          </a:bodyPr>
          <a:lstStyle/>
          <a:p>
            <a:r>
              <a:rPr sz="800" b="0">
                <a:solidFill>
                  <a:srgbClr val="111111"/>
                </a:solidFill>
                <a:latin typeface="Calibri"/>
              </a:rPr>
              <a:t>AMC AUM declining for two consecutive quarters</a:t>
            </a:r>
          </a:p>
        </p:txBody>
      </p:sp>
      <p:sp>
        <p:nvSpPr>
          <p:cNvPr id="42" name="Rectangle 41"/>
          <p:cNvSpPr/>
          <p:nvPr/>
        </p:nvSpPr>
        <p:spPr>
          <a:xfrm>
            <a:off x="292608" y="6117336"/>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9184" y="6144768"/>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4" name="TextBox 43"/>
          <p:cNvSpPr txBox="1"/>
          <p:nvPr/>
        </p:nvSpPr>
        <p:spPr>
          <a:xfrm>
            <a:off x="731520" y="6071616"/>
            <a:ext cx="6007608" cy="274320"/>
          </a:xfrm>
          <a:prstGeom prst="rect">
            <a:avLst/>
          </a:prstGeom>
          <a:noFill/>
        </p:spPr>
        <p:txBody>
          <a:bodyPr wrap="square" lIns="36576" rIns="36576" tIns="9144" bIns="9144">
            <a:spAutoFit/>
          </a:bodyPr>
          <a:lstStyle/>
          <a:p>
            <a:r>
              <a:rPr sz="800" b="0">
                <a:solidFill>
                  <a:srgbClr val="111111"/>
                </a:solidFill>
                <a:latin typeface="Calibri"/>
              </a:rPr>
              <a:t>Management guidance signaling structural headwinds beyond FY26</a:t>
            </a:r>
          </a:p>
        </p:txBody>
      </p:sp>
      <p:sp>
        <p:nvSpPr>
          <p:cNvPr id="45" name="TextBox 44"/>
          <p:cNvSpPr txBox="1"/>
          <p:nvPr/>
        </p:nvSpPr>
        <p:spPr>
          <a:xfrm>
            <a:off x="6949440" y="969264"/>
            <a:ext cx="4791456" cy="182880"/>
          </a:xfrm>
          <a:prstGeom prst="rect">
            <a:avLst/>
          </a:prstGeom>
          <a:noFill/>
        </p:spPr>
        <p:txBody>
          <a:bodyPr wrap="square" lIns="36576" rIns="36576" tIns="9144" bIns="9144">
            <a:spAutoFit/>
          </a:bodyPr>
          <a:lstStyle/>
          <a:p>
            <a:r>
              <a:rPr sz="900" b="1">
                <a:solidFill>
                  <a:srgbClr val="1F4690"/>
                </a:solidFill>
                <a:latin typeface="Calibri"/>
              </a:rPr>
              <a:t>INVESTMENT SUMMARY SCORECARD</a:t>
            </a:r>
          </a:p>
        </p:txBody>
      </p:sp>
      <p:graphicFrame>
        <p:nvGraphicFramePr>
          <p:cNvPr id="46" name="Table 45"/>
          <p:cNvGraphicFramePr>
            <a:graphicFrameLocks noGrp="1"/>
          </p:cNvGraphicFramePr>
          <p:nvPr/>
        </p:nvGraphicFramePr>
        <p:xfrm>
          <a:off x="6949440" y="1188720"/>
          <a:ext cx="4791454" cy="1645920"/>
        </p:xfrm>
        <a:graphic>
          <a:graphicData uri="http://schemas.openxmlformats.org/drawingml/2006/table">
            <a:tbl>
              <a:tblPr firstRow="1" bandRow="1">
                <a:tableStyleId>{5C22544A-7EE6-4342-B048-85BDC9FD1C3A}</a:tableStyleId>
              </a:tblPr>
              <a:tblGrid>
                <a:gridCol w="2108240"/>
                <a:gridCol w="1677009"/>
                <a:gridCol w="1006205"/>
              </a:tblGrid>
              <a:tr h="164592">
                <a:tc>
                  <a:txBody>
                    <a:bodyPr/>
                    <a:lstStyle/>
                    <a:p>
                      <a:pPr algn="l"/>
                      <a:r>
                        <a:rPr sz="800" b="1">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tr>
              <a:tr h="164592">
                <a:tc>
                  <a:txBody>
                    <a:bodyPr/>
                    <a:lstStyle/>
                    <a:p>
                      <a:pPr algn="l"/>
                      <a:r>
                        <a:rPr sz="800" b="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a:solidFill>
                            <a:srgbClr val="1F4690"/>
                          </a:solidFill>
                          <a:latin typeface="Calibri"/>
                        </a:rPr>
                        <a:t>TP: ₹1,127</a:t>
                      </a:r>
                    </a:p>
                  </a:txBody>
                  <a:tcPr marL="22860" marR="22860" marT="5486" marB="5486">
                    <a:solidFill>
                      <a:srgbClr val="F4F6F9"/>
                    </a:solidFill>
                  </a:tcPr>
                </a:tc>
              </a:tr>
            </a:tbl>
          </a:graphicData>
        </a:graphic>
      </p:graphicFrame>
      <p:sp>
        <p:nvSpPr>
          <p:cNvPr id="47" name="Rounded Rectangle 46"/>
          <p:cNvSpPr/>
          <p:nvPr/>
        </p:nvSpPr>
        <p:spPr>
          <a:xfrm>
            <a:off x="6949440" y="297180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949440" y="2971800"/>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79" y="3044952"/>
            <a:ext cx="4608576" cy="164592"/>
          </a:xfrm>
          <a:prstGeom prst="rect">
            <a:avLst/>
          </a:prstGeom>
          <a:noFill/>
        </p:spPr>
        <p:txBody>
          <a:bodyPr wrap="square" lIns="36576" rIns="36576" tIns="9144" bIns="9144">
            <a:spAutoFit/>
          </a:bodyPr>
          <a:lstStyle/>
          <a:p>
            <a:r>
              <a:rPr sz="900" b="1">
                <a:solidFill>
                  <a:srgbClr val="1F4690"/>
                </a:solidFill>
                <a:latin typeface="Calibri"/>
              </a:rPr>
              <a:t>Position Summary</a:t>
            </a:r>
          </a:p>
        </p:txBody>
      </p:sp>
      <p:sp>
        <p:nvSpPr>
          <p:cNvPr id="50" name="TextBox 49"/>
          <p:cNvSpPr txBox="1"/>
          <p:nvPr/>
        </p:nvSpPr>
        <p:spPr>
          <a:xfrm>
            <a:off x="7040879" y="3264408"/>
            <a:ext cx="4608576" cy="822960"/>
          </a:xfrm>
          <a:prstGeom prst="rect">
            <a:avLst/>
          </a:prstGeom>
          <a:noFill/>
        </p:spPr>
        <p:txBody>
          <a:bodyPr wrap="square" lIns="36576" rIns="36576" tIns="9144" bIns="9144">
            <a:spAutoFit/>
          </a:bodyPr>
          <a:lstStyle/>
          <a:p>
            <a:r>
              <a:rPr sz="800"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1" name="Rounded Rectangle 50"/>
          <p:cNvSpPr/>
          <p:nvPr/>
        </p:nvSpPr>
        <p:spPr>
          <a:xfrm>
            <a:off x="6949440" y="429768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4297680"/>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4361688"/>
            <a:ext cx="4608576" cy="182880"/>
          </a:xfrm>
          <a:prstGeom prst="rect">
            <a:avLst/>
          </a:prstGeom>
          <a:noFill/>
        </p:spPr>
        <p:txBody>
          <a:bodyPr wrap="square" lIns="36576" rIns="36576" tIns="9144" bIns="9144">
            <a:spAutoFit/>
          </a:bodyPr>
          <a:lstStyle/>
          <a:p>
            <a:r>
              <a:rPr sz="900" b="1">
                <a:solidFill>
                  <a:srgbClr val="1F4690"/>
                </a:solidFill>
                <a:latin typeface="Calibri"/>
              </a:rPr>
              <a:t>Exit Strategy - Scaling Out on Gains</a:t>
            </a:r>
          </a:p>
        </p:txBody>
      </p:sp>
      <p:sp>
        <p:nvSpPr>
          <p:cNvPr id="54" name="TextBox 53"/>
          <p:cNvSpPr txBox="1"/>
          <p:nvPr/>
        </p:nvSpPr>
        <p:spPr>
          <a:xfrm>
            <a:off x="7059168" y="4617720"/>
            <a:ext cx="4572000" cy="347472"/>
          </a:xfrm>
          <a:prstGeom prst="rect">
            <a:avLst/>
          </a:prstGeom>
          <a:noFill/>
        </p:spPr>
        <p:txBody>
          <a:bodyPr wrap="square" lIns="36576" rIns="36576" tIns="9144" bIns="9144">
            <a:spAutoFit/>
          </a:bodyPr>
          <a:lstStyle/>
          <a:p>
            <a:r>
              <a:rPr sz="800" b="0">
                <a:solidFill>
                  <a:srgbClr val="111111"/>
                </a:solidFill>
                <a:latin typeface="Calibri"/>
              </a:rPr>
              <a:t>Sell 1: Sell 50% at ₹1,100-1,150 (30-40% gains)</a:t>
            </a:r>
          </a:p>
        </p:txBody>
      </p:sp>
      <p:sp>
        <p:nvSpPr>
          <p:cNvPr id="55" name="TextBox 54"/>
          <p:cNvSpPr txBox="1"/>
          <p:nvPr/>
        </p:nvSpPr>
        <p:spPr>
          <a:xfrm>
            <a:off x="7059168" y="5001768"/>
            <a:ext cx="4572000" cy="347472"/>
          </a:xfrm>
          <a:prstGeom prst="rect">
            <a:avLst/>
          </a:prstGeom>
          <a:noFill/>
        </p:spPr>
        <p:txBody>
          <a:bodyPr wrap="square" lIns="36576" rIns="36576" tIns="9144" bIns="9144">
            <a:spAutoFit/>
          </a:bodyPr>
          <a:lstStyle/>
          <a:p>
            <a:r>
              <a:rPr sz="800" b="0">
                <a:solidFill>
                  <a:srgbClr val="111111"/>
                </a:solidFill>
                <a:latin typeface="Calibri"/>
              </a:rPr>
              <a:t>Sell 2: Sell remaining at ₹1,200+ if multiples expand beyond 25x P/E</a:t>
            </a:r>
          </a:p>
        </p:txBody>
      </p:sp>
      <p:sp>
        <p:nvSpPr>
          <p:cNvPr id="56" name="Rounded Rectangle 55"/>
          <p:cNvSpPr/>
          <p:nvPr/>
        </p:nvSpPr>
        <p:spPr>
          <a:xfrm>
            <a:off x="6949440" y="5623560"/>
            <a:ext cx="4791456"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949440" y="5623560"/>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40879" y="5696712"/>
            <a:ext cx="4608576" cy="164592"/>
          </a:xfrm>
          <a:prstGeom prst="rect">
            <a:avLst/>
          </a:prstGeom>
          <a:noFill/>
        </p:spPr>
        <p:txBody>
          <a:bodyPr wrap="square" lIns="36576" rIns="36576" tIns="9144" bIns="9144">
            <a:spAutoFit/>
          </a:bodyPr>
          <a:lstStyle/>
          <a:p>
            <a:r>
              <a:rPr sz="900" b="1">
                <a:solidFill>
                  <a:srgbClr val="1F4690"/>
                </a:solidFill>
                <a:latin typeface="Calibri"/>
              </a:rPr>
              <a:t>Disclaimer</a:t>
            </a:r>
          </a:p>
        </p:txBody>
      </p:sp>
      <p:sp>
        <p:nvSpPr>
          <p:cNvPr id="59" name="TextBox 58"/>
          <p:cNvSpPr txBox="1"/>
          <p:nvPr/>
        </p:nvSpPr>
        <p:spPr>
          <a:xfrm>
            <a:off x="7040879" y="5916168"/>
            <a:ext cx="4608576" cy="365759"/>
          </a:xfrm>
          <a:prstGeom prst="rect">
            <a:avLst/>
          </a:prstGeom>
          <a:noFill/>
        </p:spPr>
        <p:txBody>
          <a:bodyPr wrap="square" lIns="36576" rIns="36576" tIns="9144"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rIns="73152" tIns="91440" bIns="91440">
            <a:spAutoFit/>
          </a:bodyPr>
          <a:lstStyle/>
          <a:p>
            <a:pPr>
              <a:lnSpc>
                <a:spcPct val="135000"/>
              </a:lnSpc>
              <a:spcBef>
                <a:spcPts val="0"/>
              </a:spcBef>
              <a:spcAft>
                <a:spcPts val="600"/>
              </a:spcAft>
            </a:pPr>
            <a:r>
              <a:rPr sz="1600" b="0">
                <a:solidFill>
                  <a:srgbClr val="111111"/>
                </a:solidFill>
                <a:latin typeface="Calibri"/>
              </a:rPr>
              <a:t>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a:t>
            </a:r>
          </a:p>
          <a:p>
            <a:pPr>
              <a:lnSpc>
                <a:spcPct val="135000"/>
              </a:lnSpc>
              <a:spcBef>
                <a:spcPts val="1400"/>
              </a:spcBef>
              <a:spcAft>
                <a:spcPts val="600"/>
              </a:spcAft>
            </a:pPr>
            <a:r>
              <a:rPr sz="1600" b="0">
                <a:solidFill>
                  <a:srgbClr val="111111"/>
                </a:solidFill>
                <a:latin typeface="Calibri"/>
              </a:rPr>
              <a:t>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a:t>
            </a:r>
          </a:p>
          <a:p>
            <a:pPr>
              <a:lnSpc>
                <a:spcPct val="135000"/>
              </a:lnSpc>
              <a:spcBef>
                <a:spcPts val="1400"/>
              </a:spcBef>
              <a:spcAft>
                <a:spcPts val="600"/>
              </a:spcAft>
            </a:pPr>
            <a:r>
              <a:rPr sz="1600" b="0">
                <a:solidFill>
                  <a:srgbClr val="111111"/>
                </a:solidFill>
                <a:latin typeface="Calibri"/>
              </a:rPr>
              <a:t>Tikona Capital, its affiliates, directors, employees, or research analysts may, from time to time, hold positions in the securities mentioned, or in instruments related to such securities, and may transact in them in a manner inconsistent with the views expressed herein.</a:t>
            </a:r>
          </a:p>
          <a:p>
            <a:pPr>
              <a:lnSpc>
                <a:spcPct val="135000"/>
              </a:lnSpc>
              <a:spcBef>
                <a:spcPts val="1400"/>
              </a:spcBef>
              <a:spcAft>
                <a:spcPts val="600"/>
              </a:spcAft>
            </a:pPr>
            <a:r>
              <a:rPr sz="1600" b="0">
                <a:solidFill>
                  <a:srgbClr val="111111"/>
                </a:solidFill>
                <a:latin typeface="Calibri"/>
              </a:rPr>
              <a:t>This document is the intellectual property of Tikona Capital. No part of it may be reproduced, distributed, or transmitted without prior written consent. Unauthorized use is prohibited.</a:t>
            </a:r>
          </a:p>
          <a:p>
            <a:pPr>
              <a:lnSpc>
                <a:spcPct val="135000"/>
              </a:lnSpc>
              <a:spcBef>
                <a:spcPts val="1400"/>
              </a:spcBef>
              <a:spcAft>
                <a:spcPts val="600"/>
              </a:spcAft>
            </a:pPr>
            <a:r>
              <a:rPr sz="1600" b="0">
                <a:solidFill>
                  <a:srgbClr val="111111"/>
                </a:solidFill>
                <a:latin typeface="Calibri"/>
              </a:rPr>
              <a:t>For grievances, contact: research@tikonacapital.in.</a:t>
            </a:r>
          </a:p>
        </p:txBody>
      </p:sp>
      <p:pic>
        <p:nvPicPr>
          <p:cNvPr id="14" name="Picture 13" descr="signature.png"/>
          <p:cNvPicPr>
            <a:picLocks noChangeAspect="1"/>
          </p:cNvPicPr>
          <p:nvPr/>
        </p:nvPicPr>
        <p:blipFill>
          <a:blip r:embed="rId3"/>
          <a:stretch>
            <a:fillRect/>
          </a:stretch>
        </p:blipFill>
        <p:spPr>
          <a:xfrm>
            <a:off x="548640" y="4937760"/>
            <a:ext cx="109728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