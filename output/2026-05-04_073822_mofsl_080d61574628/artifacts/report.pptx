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Annuity-Driven Re-Rating in Motion</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firm is executing a structural migration away from cyclical broking revenues toward a recurring, fee-based earnings model. Annual Recurring Revenue already constitutes a large majority of net revenues, and management has guided for further expansion — a mix shift that fundamentally alters how the market should value this franchise. The current share price embeds a meaningful discount to our probability-weighted target, creating an attractive asymmetric entry point for long-horizon investors willing to look through near-term regulatory noise in the derivatives segment.</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now forms the dominant share of net revenues, reducing dependence on volatile F&amp;O-linked broking commissions across market cycles.</a:t>
            </a:r>
          </a:p>
          <a:p>
            <a:pPr/>
            <a:r>
              <a:rPr sz="1100" b="0">
                <a:solidFill>
                  <a:srgbClr val="111111"/>
                </a:solidFill>
                <a:latin typeface="Calibri"/>
              </a:rPr>
              <a:t>- Total AUM is compounding at elevated rates YoY, with an overwhelming majority of the AMC book outperforming benchmarks over a three...</a:t>
            </a:r>
          </a:p>
          <a:p>
            <a:pPr/>
            <a:r>
              <a:rPr sz="1100" b="0">
                <a:solidFill>
                  <a:srgbClr val="111111"/>
                </a:solidFill>
                <a:latin typeface="Calibri"/>
              </a:rPr>
              <a:t>- Private Wealth Management franchise has scaled materially with family count expanding sharply YoY, adding a second annuity engine a...</a:t>
            </a:r>
          </a:p>
          <a:p>
            <a:pPr/>
            <a:r>
              <a:rPr sz="1100" b="0">
                <a:solidFill>
                  <a:srgbClr val="111111"/>
                </a:solidFill>
                <a:latin typeface="Calibri"/>
              </a:rPr>
              <a:t>- AA+ (Stable) credit upgrade from ICRA signals balance-sheet resilience and endorses capacity for disciplined reinvestment into fee-...</a:t>
            </a:r>
          </a:p>
          <a:p>
            <a:pPr/>
            <a:r>
              <a:rPr sz="1100" b="0">
                <a:solidFill>
                  <a:srgbClr val="111111"/>
                </a:solidFill>
                <a:latin typeface="Calibri"/>
              </a:rPr>
              <a:t>- Operating leverage is nascent but visible: a predominantly fixed cost base means incremental AUM flows drop through at high increme...</a:t>
            </a:r>
          </a:p>
          <a:p>
            <a:pPr/>
            <a:r>
              <a:rPr sz="1100" b="0">
                <a:solidFill>
                  <a:srgbClr val="111111"/>
                </a:solidFill>
                <a:latin typeface="Calibri"/>
              </a:rPr>
              <a:t>- Probability-weighted target accounts for regulatory risk in the F&amp;O segment, offering a balanced and conservative upside estimate 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was founded in 1987 as a research-driven equity broking house and has since evolved into one of India's most comprehensive financial services platforms. The company operates across Capital Markets, Asset Management, Private Wealth Management, Housing Finance, and Alternative Investments — serving retail, HNI, and institutional clients alike. Its enduring competitive moat is a proprietary research franchise covering more than 300 listed companies, which continues to anchor client trust and product differentiation across business lines. Distribution spans 550+ cities and more than 2,500 business locations, providing both physical reach and digital scalability.</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Backdrop — Structural Tailwinds Intact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stands at an inflection point driven by rising household wealth, deepening capital market participation, and structural under-penetration of managed savings products. Mutual fund penetration remains at low single-digit percentages of GDP — well below global peers — indicating a long runway for AUM growth even without assuming market-share gains. The HNWI and UHNWI population is projected to expand materially through 2027–2028, directly expanding the addressable market for Private Wealth Management. Simultaneously, the emergence of private credit as an institutional asset class — with deal volumes reaching a record in H1 2025 — opens an entirely new fee pool for alternative asset managers. On the lending side, NBFC assets are forecast to compound at double-digit annual rates through FY30, benefiting housing-finance arms with quality origination platforms.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is projected to become the fourth-largest private wealth market globally by 2028, anchored by a rapidly expanding HNW...</a:t>
            </a:r>
          </a:p>
          <a:p>
            <a:pPr/>
            <a:r>
              <a:rPr sz="1100" b="0">
                <a:solidFill>
                  <a:srgbClr val="111111"/>
                </a:solidFill>
                <a:latin typeface="Calibri"/>
              </a:rPr>
              <a:t>- Mutual fund penetration at low single-digit percentages of GDP relative to developed markets signals a multi-decade AUM com...</a:t>
            </a:r>
          </a:p>
          <a:p>
            <a:pPr/>
            <a:r>
              <a:rPr sz="1100" b="0">
                <a:solidFill>
                  <a:srgbClr val="111111"/>
                </a:solidFill>
                <a:latin typeface="Calibri"/>
              </a:rPr>
              <a:t>- Private credit volumes reached a record in H1 2025, growing at a pace well above the prior year, creating new fee pools for...</a:t>
            </a:r>
          </a:p>
          <a:p>
            <a:pPr/>
            <a:r>
              <a:rPr sz="1100" b="0">
                <a:solidFill>
                  <a:srgbClr val="111111"/>
                </a:solidFill>
                <a:latin typeface="Calibri"/>
              </a:rPr>
              <a:t>- NBFC sector profits are forecast to nearly double by FY30, growing at mid-teen annual rates, supporting housing finance ori...</a:t>
            </a:r>
          </a:p>
          <a:p>
            <a:pPr/>
            <a:r>
              <a:rPr sz="1100" b="0">
                <a:solidFill>
                  <a:srgbClr val="111111"/>
                </a:solidFill>
                <a:latin typeface="Calibri"/>
              </a:rPr>
              <a:t>- Regulatory evolution — including TReDS, SEBI MF frameworks, and GIFT City AIFs — is broadening the product menu for integra...</a:t>
            </a:r>
          </a:p>
          <a:p>
            <a:pPr/>
            <a:r>
              <a:rPr sz="1100" b="0">
                <a:solidFill>
                  <a:srgbClr val="111111"/>
                </a:solidFill>
                <a:latin typeface="Calibri"/>
              </a:rPr>
              <a:t>- Rising SIP run-rates and equity demat account additions point to sustained retail participation even as near-term F&amp;O regul...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at a Glance</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Dominance: Annual Recurring Revenue forms the majority of net revenues and management is guiding for continued expansion, fundamentally de-cyclicalising the P&amp;L over the medium term.</a:t>
            </a:r>
          </a:p>
          <a:p>
            <a:pPr/>
            <a:r>
              <a:rPr sz="1100" b="0">
                <a:solidFill>
                  <a:srgbClr val="111111"/>
                </a:solidFill>
                <a:latin typeface="Calibri"/>
              </a:rPr>
              <a:t>- AUM Scale: Total AUM has compounded sharply YoY; an overwhelming share of the AMC book is outperforming benchmarks, supporting full-fee retention and positive flows momentum.</a:t>
            </a:r>
          </a:p>
          <a:p>
            <a:pPr/>
            <a:r>
              <a:rPr sz="1100" b="0">
                <a:solidFill>
                  <a:srgbClr val="111111"/>
                </a:solidFill>
                <a:latin typeface="Calibri"/>
              </a:rPr>
              <a:t>- Wealth Engine: Private Wealth AUM grew strongly YoY with family count expanding materially — a high-ARPU, sticky annuity stream diversifying the franchise away from retail broking.</a:t>
            </a:r>
          </a:p>
          <a:p>
            <a:pPr/>
            <a:r>
              <a:rPr sz="1100" b="0">
                <a:solidFill>
                  <a:srgbClr val="111111"/>
                </a:solidFill>
                <a:latin typeface="Calibri"/>
              </a:rPr>
              <a:t>- Balance-Sheet Quality: AA+ credit upgrade from ICRA, strong net worth, and disciplined capital allocation toward fee-based businesses signal improving financial strength and reinvestment capacity.</a:t>
            </a:r>
          </a:p>
          <a:p>
            <a:pPr/>
            <a:r>
              <a:rPr sz="1100" b="0">
                <a:solidFill>
                  <a:srgbClr val="111111"/>
                </a:solidFill>
                <a:latin typeface="Calibri"/>
              </a:rPr>
              <a:t>- Valuation Discount: Current market price embeds a material discount to the probability-weighted analyst target, offering upside that is not predicated on a bull-case scenario alone.</a:t>
            </a:r>
          </a:p>
          <a:p>
            <a:pPr/>
            <a:r>
              <a:rPr sz="1100" b="0">
                <a:solidFill>
                  <a:srgbClr val="111111"/>
                </a:solidFill>
                <a:latin typeface="Calibri"/>
              </a:rPr>
              <a:t>- SAARTHI Score 72/100: Proprietary 7-dimension quality framework scores this as a high-quality franchise with particular strength in reinvestment quality and earnings sustainability.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 Diversified Revenue Streams</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MOFSL's revenue base is intentionally diversified across 6 operating segments, each at a different stage of maturity and with distinct margin profiles. The Capital Markets segment (broking, IB, distribution) remains the largest revenue contributor but is the most cyclical; Asset Management and Private Wealth are the fastest-growing annuity segments; Housing Finance and Alternatives provide credit and private-market diversification. Understanding this mix is essential for valuation, because th...</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Key Driver</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 ARR Mix Driving Re-Rating</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revenue trajectory reflects two overlapping dynamics: cyclical amplification in bull-market years driven by broking and distribution, and structural growth in AMC management fees, wealth advisory fees, and alternatives performance fees that compounds regardless of short-term market levels. The pivot toward ARR is most visible in the fee-based share of total net revenues, which has expanded materially over the past three years. Looking through the FY26 quarterly setback — which was driven by SEBI's F&amp;O margin and lot-size changes compressing derivative volumes — the underlying annuity revenue stream remained resilient. Analysts model a return to double-digit revenue growth from FY27 as the regulatory impact is absorbed and AUM-linked fees continue to grow.</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Earnings Power — PAT Compounding Through the Cycle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growth for MOFSL has been strong over the FY22–FY25 period, benefiting from buoyant equity markets, strong AUM inflows, and operating leverage on a scaled distribution platform. The sharp decline in quarterly profit seen in Q2FY26 — driven by regulatory changes in the F&amp;O segment — is a reminder that the broking segment retains meaningful cyclicality. However, our analysis indicates this was a transitional quarter rather than a structural deterioration: AMC management fees, private wealth advisory fees, and housing finance interest income continued to grow through this period. The earnings model for FY27 and FY28 is anchored on continued AUM growth, a recovery in Capital Markets revenues, and margin expansion from operating leverage — all three of which are independent of a return to peak F&amp;O volumes.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P&amp;L Snapshot — Navigating Regulatory Disru...</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quarterly PAT series for MOFSL captures the full impact of SEBI's revised F&amp;O framework, which took effect in late FY25 and materially compressed derivative broking volumes. The Q2FY26 quarter represents the peak regulatory impact period, with a sharp YoY decline in profitability driven almost entirely by the Capital Markets segment. The critical analytical question is whether the...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Return &amp; Margin Profile — FY22–FY28E</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Framework — Sum-of-Parts Approach</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We value Motilal Oswal Financial Services using a Sum-of-Parts (SOTP) methodology, applying distinct valuation multiples to each business segment to reflect their different risk, growth, and earnings-quality profiles. The AMC and Private Wealth Management businesses — which generate recurring, AUM-linked fees with high incremental margins — are valued on earn...</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Probability-Weighted Target (INR) 1,109.0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to TP (%) 37.0%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P/E (x) 16.1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&amp; Valuation Bands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Bear</a:t>
                      </a:r>
                    </a:p>
                  </a:txBody>
                  <a:tcPr>
                    <a:solidFill>
                      <a:srgbClr val="1F4690"/>
                    </a:solidFill>
                  </a:tcPr>
                </a:tc>
                <a:tc>
                  <a:txBody>
                    <a:bodyPr/>
                    <a:lstStyle/>
                    <a:p>
                      <a:r>
                        <a:rPr b="1" sz="1100">
                          <a:solidFill>
                            <a:srgbClr val="FFFFFF"/>
                          </a:solidFill>
                          <a:latin typeface="Calibri"/>
                        </a:rPr>
                        <a:t>Base</a:t>
                      </a:r>
                    </a:p>
                  </a:txBody>
                  <a:tcPr>
                    <a:solidFill>
                      <a:srgbClr val="1F4690"/>
                    </a:solidFill>
                  </a:tcPr>
                </a:tc>
                <a:tc>
                  <a:txBody>
                    <a:bodyPr/>
                    <a:lstStyle/>
                    <a:p>
                      <a:r>
                        <a:rPr b="1" sz="1100">
                          <a:solidFill>
                            <a:srgbClr val="FFFFFF"/>
                          </a:solidFill>
                          <a:latin typeface="Calibri"/>
                        </a:rPr>
                        <a:t>Bull</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Key Assumptions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SAARTHI framework assesses investment quality across 7 structured dimensions — covering Business Quality, Management Quality, Earnings Sustainability, Reinvestment Quality, Growth Optionality, Valuation, and Governance. A score of 72 out of 100 places MOFSL in the high-quality category, reflecting genuine competitive moats (research franchise, AUM scale, brand), disciplined capita...</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3713378" cy="822960"/>
          </a:xfrm>
          <a:prstGeom prst="rect">
            <a:avLst/>
          </a:prstGeom>
          <a:noFill/>
        </p:spPr>
        <p:txBody>
          <a:bodyPr wrap="square">
            <a:spAutoFit/>
          </a:bodyPr>
          <a:lstStyle/>
          <a:p>
            <a:pPr algn="ctr"/>
            <a:r>
              <a:rPr sz="1400" b="1">
                <a:solidFill>
                  <a:srgbClr val="1F4690"/>
                </a:solidFill>
                <a:latin typeface="Calibri"/>
              </a:rPr>
              <a:t>ARR % of Revenue 65.0</a:t>
            </a:r>
          </a:p>
        </p:txBody>
      </p:sp>
      <p:sp>
        <p:nvSpPr>
          <p:cNvPr id="14" name="TextBox 13"/>
          <p:cNvSpPr txBox="1"/>
          <p:nvPr/>
        </p:nvSpPr>
        <p:spPr>
          <a:xfrm>
            <a:off x="4216298" y="2194560"/>
            <a:ext cx="3713378" cy="822960"/>
          </a:xfrm>
          <a:prstGeom prst="rect">
            <a:avLst/>
          </a:prstGeom>
          <a:noFill/>
        </p:spPr>
        <p:txBody>
          <a:bodyPr wrap="square">
            <a:spAutoFit/>
          </a:bodyPr>
          <a:lstStyle/>
          <a:p>
            <a:pPr algn="ctr"/>
            <a:r>
              <a:rPr sz="1400" b="1">
                <a:solidFill>
                  <a:srgbClr val="1F4690"/>
                </a:solidFill>
                <a:latin typeface="Calibri"/>
              </a:rPr>
              <a:t>ROE FY26E (%) 22.0</a:t>
            </a:r>
          </a:p>
        </p:txBody>
      </p:sp>
      <p:sp>
        <p:nvSpPr>
          <p:cNvPr id="15" name="TextBox 14"/>
          <p:cNvSpPr txBox="1"/>
          <p:nvPr/>
        </p:nvSpPr>
        <p:spPr>
          <a:xfrm>
            <a:off x="7975396" y="2194560"/>
            <a:ext cx="3713378" cy="822960"/>
          </a:xfrm>
          <a:prstGeom prst="rect">
            <a:avLst/>
          </a:prstGeom>
          <a:noFill/>
        </p:spPr>
        <p:txBody>
          <a:bodyPr wrap="square">
            <a:spAutoFit/>
          </a:bodyPr>
          <a:lstStyle/>
          <a:p>
            <a:pPr algn="ctr"/>
            <a:r>
              <a:rPr sz="1400" b="1">
                <a:solidFill>
                  <a:srgbClr val="1F4690"/>
                </a:solidFill>
                <a:latin typeface="Calibri"/>
              </a:rPr>
              <a:t>Credit Rating AA+ (Stable) ICRA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 Founders and Second-Generation Lea...</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benefits from founder-led governance with Motilal Oswal and Raamdeo Agrawal remaining active in setting strategy and culture nearly four decades after founding. The founding duo's public profile — Raamdeo Agrawal is widely regarded as one of India's most respected equity investors — adds credibility to the research franchise and continues to attract institutional client relation...</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Our forensic assessment of Motilal Oswal Financial Services places the company in the Monitor Closely category — a designation that reflects recurring but non-critical regulatory interactions rather than a finding of material fraud or governance failure. SEBI matters in the broking and capital markets space are not uncommon for integrated financial services firms operating at MOFSL's...</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 What Could Break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tightening beyond current norms could structurally impair broking revenues for multiple years, not just transitionally — this is the single largest earnings risk.</a:t>
            </a:r>
          </a:p>
          <a:p>
            <a:pPr/>
            <a:r>
              <a:rPr sz="1100" b="0">
                <a:solidFill>
                  <a:srgbClr val="111111"/>
                </a:solidFill>
                <a:latin typeface="Calibri"/>
              </a:rPr>
              <a:t>- Sustained quarterly earnings weakness in the Capital Markets segment risks a derating of the entire franchise multiple if annuity growth cannot fully offset the decline in investor perception.</a:t>
            </a:r>
          </a:p>
          <a:p>
            <a:pPr/>
            <a:r>
              <a:rPr sz="1100" b="0">
                <a:solidFill>
                  <a:srgbClr val="111111"/>
                </a:solidFill>
                <a:latin typeface="Calibri"/>
              </a:rPr>
              <a:t>- Competitive intensity from zero-commission discount brokers and fintech platforms is compressing retail broking yields and market-share, pressuring the legacy broking revenue line.</a:t>
            </a:r>
          </a:p>
          <a:p>
            <a:pPr/>
            <a:r>
              <a:rPr sz="1100" b="0">
                <a:solidFill>
                  <a:srgbClr val="111111"/>
                </a:solidFill>
                <a:latin typeface="Calibri"/>
              </a:rPr>
              <a:t>- Mark-to-market losses on the proprietary investment book could introduce unexpected P&amp;L volatility in equity market corrections, masking underlying operating performance trends.</a:t>
            </a:r>
          </a:p>
          <a:p>
            <a:pPr/>
            <a:r>
              <a:rPr sz="1100" b="0">
                <a:solidFill>
                  <a:srgbClr val="111111"/>
                </a:solidFill>
                <a:latin typeface="Calibri"/>
              </a:rPr>
              <a:t>- Housing Finance asset-quality deterioration in a slowing credit cycle could require elevated provisions that dilute consolidated ROE and raise capital adequacy concerns in the NBFC segment.</a:t>
            </a:r>
          </a:p>
          <a:p>
            <a:pPr/>
            <a:r>
              <a:rPr sz="1100" b="0">
                <a:solidFill>
                  <a:srgbClr val="111111"/>
                </a:solidFill>
                <a:latin typeface="Calibri"/>
              </a:rPr>
              <a:t>- Governance and regulatory monitoring risk: recurring SEBI matters, while not currently material, could escalate and impose reputational or financial penalties that impair franchise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 Entry, Review, and Exit Parameters</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recommended approach for institutional investors is to build a position at or near current market levels, treating near-term regulatory-induced earnings weakness as a temporary dislocation rather than a structural deterioration. The investment horizon is 12–18 months, aligned with the ARR mix crossing the next step-up threshold and AUM-linked fees continuing to compound. Position sizing should account for quarterly earnings lumpiness — particularly in the Capital Markets segment — and investors should avoid drawing conclusions from any single quarter. The review trigger is the ARR percentage crossing upward, which would confirm the re-rating thesis is on track. An adverse SEBI order of material size would be a negative catalyst requiring position reassessment.</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market price represents a material discount to both the base-case target and the probability-weighted t...</a:t>
            </a:r>
          </a:p>
          <a:p>
            <a:pPr/>
            <a:r>
              <a:rPr sz="1100" b="0">
                <a:solidFill>
                  <a:srgbClr val="111111"/>
                </a:solidFill>
                <a:latin typeface="Calibri"/>
              </a:rPr>
              <a:t>- Add Trigger: Any regulatory clarity on F&amp;O norms or a quarter showing ARR crossing a higher threshold of net revenues would...</a:t>
            </a:r>
          </a:p>
          <a:p>
            <a:pPr/>
            <a:r>
              <a:rPr sz="1100" b="0">
                <a:solidFill>
                  <a:srgbClr val="111111"/>
                </a:solidFill>
                <a:latin typeface="Calibri"/>
              </a:rPr>
              <a:t>- Review Trigger: Monitor quarterly ARR contribution, AMC net flows, and Private Wealth family count additions — these three...</a:t>
            </a:r>
          </a:p>
          <a:p>
            <a:pPr/>
            <a:r>
              <a:rPr sz="1100" b="0">
                <a:solidFill>
                  <a:srgbClr val="111111"/>
                </a:solidFill>
                <a:latin typeface="Calibri"/>
              </a:rPr>
              <a:t>- Caution Trigger: A second consecutive quarter of material AMC net outflows or an adverse SEBI order above a threshold size...</a:t>
            </a:r>
          </a:p>
          <a:p>
            <a:pPr/>
            <a:r>
              <a:rPr sz="1100" b="0">
                <a:solidFill>
                  <a:srgbClr val="111111"/>
                </a:solidFill>
                <a:latin typeface="Calibri"/>
              </a:rPr>
              <a:t>- Exit / Stop: If ARR mix stagnates or reverses over two consecutive half-years, or if regulatory risk materialises into stru...</a:t>
            </a:r>
          </a:p>
        </p:txBody>
      </p:sp>
      <p:sp>
        <p:nvSpPr>
          <p:cNvPr id="13" name="TextBox 12"/>
          <p:cNvSpPr txBox="1"/>
          <p:nvPr/>
        </p:nvSpPr>
        <p:spPr>
          <a:xfrm>
            <a:off x="457200" y="1417320"/>
            <a:ext cx="3713378" cy="868680"/>
          </a:xfrm>
          <a:prstGeom prst="rect">
            <a:avLst/>
          </a:prstGeom>
          <a:noFill/>
        </p:spPr>
        <p:txBody>
          <a:bodyPr wrap="square">
            <a:spAutoFit/>
          </a:bodyPr>
          <a:lstStyle/>
          <a:p>
            <a:pPr algn="ctr"/>
            <a:r>
              <a:rPr sz="1400" b="1">
                <a:solidFill>
                  <a:srgbClr val="1F4690"/>
                </a:solidFill>
                <a:latin typeface="Calibri"/>
              </a:rPr>
              <a:t>CMP (INR) ₹822.9</a:t>
            </a:r>
          </a:p>
        </p:txBody>
      </p:sp>
      <p:sp>
        <p:nvSpPr>
          <p:cNvPr id="14" name="TextBox 13"/>
          <p:cNvSpPr txBox="1"/>
          <p:nvPr/>
        </p:nvSpPr>
        <p:spPr>
          <a:xfrm>
            <a:off x="4216298" y="1417320"/>
            <a:ext cx="3713378" cy="86868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5" name="TextBox 14"/>
          <p:cNvSpPr txBox="1"/>
          <p:nvPr/>
        </p:nvSpPr>
        <p:spPr>
          <a:xfrm>
            <a:off x="7975396" y="1417320"/>
            <a:ext cx="3713378" cy="868680"/>
          </a:xfrm>
          <a:prstGeom prst="rect">
            <a:avLst/>
          </a:prstGeom>
          <a:noFill/>
        </p:spPr>
        <p:txBody>
          <a:bodyPr wrap="square">
            <a:spAutoFit/>
          </a:bodyPr>
          <a:lstStyle/>
          <a:p>
            <a:pPr algn="ctr"/>
            <a:r>
              <a:rPr sz="1400" b="1">
                <a:solidFill>
                  <a:srgbClr val="1F4690"/>
                </a:solidFill>
                <a:latin typeface="Calibri"/>
              </a:rPr>
              <a:t>Upside (%) 37.0%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Trend — Operational Earnings Power FY22–FY28E</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 — MOFSL vs. Nifty 50</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Catalysts — What Drives the Re-Rating</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path from current market price to our analyst target is not dependent on a single macro event — it is grounded in a series of measurable, business-level milestones that are within MOFSL's control. The primary re-rating catalyst is the ARR mix crossing the next threshold of total net revenues, which would trigger a re-benchmarking of the earnings multiple from broking-company peers to asset-management peers. Secondary catalysts include AUM compounding above our base-case assumption, regulatory clarity on F&amp;O norms, and evidence of operating leverage in the quarterly cost-to-income ratio. Each of these catalysts is observable in quarterly disclosures, making thesis tracking straightforward for active investors with a clear monitoring framework.</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crossing the next step-up threshold of total net revenues is the single most important re-rating catalyst, as it justif...</a:t>
            </a:r>
          </a:p>
          <a:p>
            <a:pPr/>
            <a:r>
              <a:rPr sz="1100" b="0">
                <a:solidFill>
                  <a:srgbClr val="111111"/>
                </a:solidFill>
                <a:latin typeface="Calibri"/>
              </a:rPr>
              <a:t>- Sustained AMC AUM growth above the base-case assumption with positive net flows would signal that benchmark outperformance...</a:t>
            </a:r>
          </a:p>
          <a:p>
            <a:pPr/>
            <a:r>
              <a:rPr sz="1100" b="0">
                <a:solidFill>
                  <a:srgbClr val="111111"/>
                </a:solidFill>
                <a:latin typeface="Calibri"/>
              </a:rPr>
              <a:t>- Private Wealth family count expansion and ARPU improvement would confirm the wealth management engine is scaling profitably...</a:t>
            </a:r>
          </a:p>
          <a:p>
            <a:pPr/>
            <a:r>
              <a:rPr sz="1100" b="0">
                <a:solidFill>
                  <a:srgbClr val="111111"/>
                </a:solidFill>
                <a:latin typeface="Calibri"/>
              </a:rPr>
              <a:t>- Regulatory clarity from SEBI on F&amp;O lot sizes and margin norms would remove the key overhang on Capital Markets revenue and...</a:t>
            </a:r>
          </a:p>
          <a:p>
            <a:pPr/>
            <a:r>
              <a:rPr sz="1100" b="0">
                <a:solidFill>
                  <a:srgbClr val="111111"/>
                </a:solidFill>
                <a:latin typeface="Calibri"/>
              </a:rPr>
              <a:t>- Declining cost-to-income ratio in sequential quarters would demonstrate operating leverage and support the margin expansion...</a:t>
            </a:r>
          </a:p>
          <a:p>
            <a:pPr/>
            <a:r>
              <a:rPr sz="1100" b="0">
                <a:solidFill>
                  <a:srgbClr val="111111"/>
                </a:solidFill>
                <a:latin typeface="Calibri"/>
              </a:rPr>
              <a:t>- Announced strategic partnerships or product launches in alternative assets or private credit would expand the AUM addressab...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This document is for informational purposes only and does not constitute an offer, solicitation, or recommendation to buy or sell any securities. The analyst(s) responsible for the preparation of this report hereby certify that the views expressed in this report accurately reflect their personal views about the subject securities or issuers. This report has been prepared on the basis of publicly available information and sources believed to be reliable; however, Tikona Capital does not guarantee its accuracy or completeness. Tikona Capital, its affiliates, directors, employees, or associates may have positions in the securities covered in this report. Investors are advised to independently evaluate all investment decisions with reference to their own financial circumstances, investment objectives, and risk tolerance. Past performance is not indicative of future results. Investing in equity markets involves risk, including the possible loss of the amount invested. This report is intended solely for the use of the recipient and may not be redistributed without the prior written consent of Tikona Capital. SEBI Registration Number: [INH000000000]. Registered Office: [Address]. For any queries, please contact compliance@tikonacapital.com. The renderer may replace this text with approved SEBI boilerplate as required by the compliance 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