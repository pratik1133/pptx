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606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80015" y="0"/>
            <a:ext cx="2011680" cy="2606040"/>
          </a:xfrm>
          <a:prstGeom prst="rect">
            <a:avLst/>
          </a:prstGeom>
          <a:solidFill>
            <a:srgbClr val="FFA500">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82880"/>
            <a:ext cx="237744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28600"/>
            <a:ext cx="1570584" cy="384048"/>
          </a:xfrm>
          <a:prstGeom prst="rect">
            <a:avLst/>
          </a:prstGeom>
        </p:spPr>
      </p:pic>
      <p:sp>
        <p:nvSpPr>
          <p:cNvPr id="6" name="TextBox 5"/>
          <p:cNvSpPr txBox="1"/>
          <p:nvPr/>
        </p:nvSpPr>
        <p:spPr>
          <a:xfrm>
            <a:off x="1188720" y="201168"/>
            <a:ext cx="2743200" cy="256032"/>
          </a:xfrm>
          <a:prstGeom prst="rect">
            <a:avLst/>
          </a:prstGeom>
          <a:noFill/>
        </p:spPr>
        <p:txBody>
          <a:bodyPr wrap="square" lIns="45720" rIns="45720" tIns="18288" bIns="18288">
            <a:spAutoFit/>
          </a:bodyPr>
          <a:lstStyle/>
          <a:p>
            <a:pPr algn="l"/>
            <a:r>
              <a:rPr sz="1400" b="1">
                <a:solidFill>
                  <a:srgbClr val="FFFFFF"/>
                </a:solidFill>
                <a:latin typeface="Calibri"/>
              </a:rPr>
              <a:t>Tikona Capital</a:t>
            </a:r>
          </a:p>
        </p:txBody>
      </p:sp>
      <p:sp>
        <p:nvSpPr>
          <p:cNvPr id="7" name="TextBox 6"/>
          <p:cNvSpPr txBox="1"/>
          <p:nvPr/>
        </p:nvSpPr>
        <p:spPr>
          <a:xfrm>
            <a:off x="1188720" y="457200"/>
            <a:ext cx="2743200" cy="164592"/>
          </a:xfrm>
          <a:prstGeom prst="rect">
            <a:avLst/>
          </a:prstGeom>
          <a:noFill/>
        </p:spPr>
        <p:txBody>
          <a:bodyPr wrap="square" lIns="45720" rIns="45720" tIns="18288" bIns="18288">
            <a:spAutoFit/>
          </a:bodyPr>
          <a:lstStyle/>
          <a:p>
            <a:pPr algn="l"/>
            <a:r>
              <a:rPr sz="700" b="0">
                <a:solidFill>
                  <a:srgbClr val="8899BB"/>
                </a:solidFill>
                <a:latin typeface="Calibri"/>
              </a:rPr>
              <a:t>INSTITUTIONAL EQUITY RESEARCH</a:t>
            </a:r>
          </a:p>
        </p:txBody>
      </p:sp>
      <p:sp>
        <p:nvSpPr>
          <p:cNvPr id="8" name="TextBox 7"/>
          <p:cNvSpPr txBox="1"/>
          <p:nvPr/>
        </p:nvSpPr>
        <p:spPr>
          <a:xfrm>
            <a:off x="457200" y="777240"/>
            <a:ext cx="6705432" cy="457200"/>
          </a:xfrm>
          <a:prstGeom prst="rect">
            <a:avLst/>
          </a:prstGeom>
          <a:noFill/>
        </p:spPr>
        <p:txBody>
          <a:bodyPr wrap="square" lIns="45720" rIns="45720" tIns="18288" bIns="18288">
            <a:spAutoFit/>
          </a:bodyPr>
          <a:lstStyle/>
          <a:p>
            <a:pPr algn="l"/>
            <a:r>
              <a:rPr sz="2600" b="1">
                <a:solidFill>
                  <a:srgbClr val="FFFFFF"/>
                </a:solidFill>
                <a:latin typeface="Calibri"/>
              </a:rPr>
              <a:t>Motilal Oswal Financial Services Ltd</a:t>
            </a:r>
          </a:p>
        </p:txBody>
      </p:sp>
      <p:sp>
        <p:nvSpPr>
          <p:cNvPr id="9" name="Rounded Rectangle 8"/>
          <p:cNvSpPr/>
          <p:nvPr/>
        </p:nvSpPr>
        <p:spPr>
          <a:xfrm>
            <a:off x="5724144" y="868680"/>
            <a:ext cx="777240" cy="2743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0" name="TextBox 9"/>
          <p:cNvSpPr txBox="1"/>
          <p:nvPr/>
        </p:nvSpPr>
        <p:spPr>
          <a:xfrm>
            <a:off x="457200" y="1234440"/>
            <a:ext cx="11277295" cy="164592"/>
          </a:xfrm>
          <a:prstGeom prst="rect">
            <a:avLst/>
          </a:prstGeom>
          <a:noFill/>
        </p:spPr>
        <p:txBody>
          <a:bodyPr wrap="square" lIns="45720" rIns="45720" tIns="18288" bIns="18288">
            <a:spAutoFit/>
          </a:bodyPr>
          <a:lstStyle/>
          <a:p>
            <a:pPr algn="l"/>
            <a:r>
              <a:rPr sz="800" b="0">
                <a:solidFill>
                  <a:srgbClr val="E0E8F0"/>
                </a:solidFill>
                <a:latin typeface="Calibri"/>
              </a:rPr>
              <a:t>NSE: MOFSL  |  Financial Services</a:t>
            </a:r>
          </a:p>
        </p:txBody>
      </p:sp>
      <p:sp>
        <p:nvSpPr>
          <p:cNvPr id="11" name="Rectangle 10"/>
          <p:cNvSpPr/>
          <p:nvPr/>
        </p:nvSpPr>
        <p:spPr>
          <a:xfrm>
            <a:off x="457200" y="1490472"/>
            <a:ext cx="11277295" cy="1097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CMP</a:t>
            </a:r>
          </a:p>
        </p:txBody>
      </p:sp>
      <p:sp>
        <p:nvSpPr>
          <p:cNvPr id="13" name="TextBox 12"/>
          <p:cNvSpPr txBox="1"/>
          <p:nvPr/>
        </p:nvSpPr>
        <p:spPr>
          <a:xfrm>
            <a:off x="457200" y="1627631"/>
            <a:ext cx="2682163" cy="256032"/>
          </a:xfrm>
          <a:prstGeom prst="rect">
            <a:avLst/>
          </a:prstGeom>
          <a:noFill/>
        </p:spPr>
        <p:txBody>
          <a:bodyPr wrap="square" lIns="45720" rIns="45720" tIns="18288" bIns="18288">
            <a:spAutoFit/>
          </a:bodyPr>
          <a:lstStyle/>
          <a:p>
            <a:pPr algn="l"/>
            <a:r>
              <a:rPr sz="1500" b="1">
                <a:solidFill>
                  <a:srgbClr val="FFA500"/>
                </a:solidFill>
                <a:latin typeface="Calibri"/>
              </a:rPr>
              <a:t>₹822.90</a:t>
            </a:r>
          </a:p>
        </p:txBody>
      </p:sp>
      <p:sp>
        <p:nvSpPr>
          <p:cNvPr id="14" name="TextBox 13"/>
          <p:cNvSpPr txBox="1"/>
          <p:nvPr/>
        </p:nvSpPr>
        <p:spPr>
          <a:xfrm>
            <a:off x="457200" y="1883664"/>
            <a:ext cx="2682163" cy="109728"/>
          </a:xfrm>
          <a:prstGeom prst="rect">
            <a:avLst/>
          </a:prstGeom>
          <a:noFill/>
        </p:spPr>
        <p:txBody>
          <a:bodyPr wrap="square" lIns="45720" rIns="45720" tIns="18288" bIns="18288">
            <a:spAutoFit/>
          </a:bodyPr>
          <a:lstStyle/>
          <a:p>
            <a:pPr algn="l"/>
            <a:r>
              <a:rPr sz="600" b="0">
                <a:solidFill>
                  <a:srgbClr val="E0E8F0"/>
                </a:solidFill>
                <a:latin typeface="Calibri"/>
              </a:rPr>
              <a:t>As of 28/04/2026</a:t>
            </a:r>
          </a:p>
        </p:txBody>
      </p:sp>
      <p:sp>
        <p:nvSpPr>
          <p:cNvPr id="15" name="Rectangle 14"/>
          <p:cNvSpPr/>
          <p:nvPr/>
        </p:nvSpPr>
        <p:spPr>
          <a:xfrm>
            <a:off x="3185083"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6523"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TARGET PRICE</a:t>
            </a:r>
          </a:p>
        </p:txBody>
      </p:sp>
      <p:sp>
        <p:nvSpPr>
          <p:cNvPr id="17" name="TextBox 16"/>
          <p:cNvSpPr txBox="1"/>
          <p:nvPr/>
        </p:nvSpPr>
        <p:spPr>
          <a:xfrm>
            <a:off x="3276523"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₹1,127</a:t>
            </a:r>
          </a:p>
        </p:txBody>
      </p:sp>
      <p:sp>
        <p:nvSpPr>
          <p:cNvPr id="18" name="Rectangle 17"/>
          <p:cNvSpPr/>
          <p:nvPr/>
        </p:nvSpPr>
        <p:spPr>
          <a:xfrm>
            <a:off x="6004407"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5847"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MARKET CAP</a:t>
            </a:r>
          </a:p>
        </p:txBody>
      </p:sp>
      <p:sp>
        <p:nvSpPr>
          <p:cNvPr id="20" name="TextBox 19"/>
          <p:cNvSpPr txBox="1"/>
          <p:nvPr/>
        </p:nvSpPr>
        <p:spPr>
          <a:xfrm>
            <a:off x="6095847"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₹49,079 Cr</a:t>
            </a:r>
          </a:p>
        </p:txBody>
      </p:sp>
      <p:sp>
        <p:nvSpPr>
          <p:cNvPr id="21" name="Rectangle 20"/>
          <p:cNvSpPr/>
          <p:nvPr/>
        </p:nvSpPr>
        <p:spPr>
          <a:xfrm>
            <a:off x="8823731"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171"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UPSIDE</a:t>
            </a:r>
          </a:p>
        </p:txBody>
      </p:sp>
      <p:sp>
        <p:nvSpPr>
          <p:cNvPr id="23" name="TextBox 22"/>
          <p:cNvSpPr txBox="1"/>
          <p:nvPr/>
        </p:nvSpPr>
        <p:spPr>
          <a:xfrm>
            <a:off x="8915171"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+37%</a:t>
            </a:r>
          </a:p>
        </p:txBody>
      </p:sp>
      <p:sp>
        <p:nvSpPr>
          <p:cNvPr id="24" name="TextBox 23"/>
          <p:cNvSpPr txBox="1"/>
          <p:nvPr/>
        </p:nvSpPr>
        <p:spPr>
          <a:xfrm>
            <a:off x="8991295" y="2404872"/>
            <a:ext cx="2743200" cy="164592"/>
          </a:xfrm>
          <a:prstGeom prst="rect">
            <a:avLst/>
          </a:prstGeom>
          <a:noFill/>
        </p:spPr>
        <p:txBody>
          <a:bodyPr wrap="square" lIns="45720" rIns="45720" tIns="18288" bIns="18288">
            <a:spAutoFit/>
          </a:bodyPr>
          <a:lstStyle/>
          <a:p>
            <a:pPr algn="r"/>
            <a:r>
              <a:rPr sz="700" b="0">
                <a:solidFill>
                  <a:srgbClr val="E0E8F0"/>
                </a:solidFill>
                <a:latin typeface="Calibri"/>
              </a:rPr>
              <a:t>Report: 28/04/2026</a:t>
            </a:r>
          </a:p>
        </p:txBody>
      </p:sp>
      <p:sp>
        <p:nvSpPr>
          <p:cNvPr id="25" name="Rectangle 24"/>
          <p:cNvSpPr/>
          <p:nvPr/>
        </p:nvSpPr>
        <p:spPr>
          <a:xfrm>
            <a:off x="0" y="2606040"/>
            <a:ext cx="12191695"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624328"/>
            <a:ext cx="11277295" cy="310896"/>
          </a:xfrm>
          <a:prstGeom prst="rect">
            <a:avLst/>
          </a:prstGeom>
          <a:noFill/>
        </p:spPr>
        <p:txBody>
          <a:bodyPr wrap="square" lIns="45720" rIns="45720" tIns="18288" bIns="18288">
            <a:spAutoFit/>
          </a:bodyPr>
          <a:lstStyle/>
          <a:p>
            <a:pPr algn="l"/>
            <a:r>
              <a:rPr sz="1100" b="1">
                <a:solidFill>
                  <a:srgbClr val="1F4690"/>
                </a:solidFill>
                <a:latin typeface="Calibri"/>
              </a:rPr>
              <a:t>"BUY with SAARTHI Score of 72/100"</a:t>
            </a:r>
          </a:p>
        </p:txBody>
      </p:sp>
      <p:sp>
        <p:nvSpPr>
          <p:cNvPr id="27" name="Rectangle 26"/>
          <p:cNvSpPr/>
          <p:nvPr/>
        </p:nvSpPr>
        <p:spPr>
          <a:xfrm>
            <a:off x="457200" y="3063240"/>
            <a:ext cx="36576" cy="13716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108960"/>
            <a:ext cx="5410047" cy="164592"/>
          </a:xfrm>
          <a:prstGeom prst="rect">
            <a:avLst/>
          </a:prstGeom>
          <a:noFill/>
        </p:spPr>
        <p:txBody>
          <a:bodyPr wrap="square" lIns="45720" rIns="45720" tIns="18288" bIns="18288">
            <a:spAutoFit/>
          </a:bodyPr>
          <a:lstStyle/>
          <a:p>
            <a:pPr algn="l"/>
            <a:r>
              <a:rPr sz="1000" b="1">
                <a:solidFill>
                  <a:srgbClr val="1F4690"/>
                </a:solidFill>
                <a:latin typeface="Calibri"/>
              </a:rPr>
              <a:t>Investment Thesis</a:t>
            </a:r>
          </a:p>
        </p:txBody>
      </p:sp>
      <p:sp>
        <p:nvSpPr>
          <p:cNvPr id="29" name="TextBox 28"/>
          <p:cNvSpPr txBox="1"/>
          <p:nvPr/>
        </p:nvSpPr>
        <p:spPr>
          <a:xfrm>
            <a:off x="594360" y="3291840"/>
            <a:ext cx="5410047" cy="1051560"/>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a:t>
            </a:r>
          </a:p>
        </p:txBody>
      </p:sp>
      <p:sp>
        <p:nvSpPr>
          <p:cNvPr id="30" name="Rectangle 29"/>
          <p:cNvSpPr/>
          <p:nvPr/>
        </p:nvSpPr>
        <p:spPr>
          <a:xfrm>
            <a:off x="457200" y="4599431"/>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526279"/>
            <a:ext cx="2697406" cy="201168"/>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a:t>
            </a:r>
          </a:p>
        </p:txBody>
      </p:sp>
      <p:sp>
        <p:nvSpPr>
          <p:cNvPr id="32" name="Rectangle 31"/>
          <p:cNvSpPr/>
          <p:nvPr/>
        </p:nvSpPr>
        <p:spPr>
          <a:xfrm>
            <a:off x="457200" y="4892040"/>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818888"/>
            <a:ext cx="2697406" cy="201168"/>
          </a:xfrm>
          <a:prstGeom prst="rect">
            <a:avLst/>
          </a:prstGeom>
          <a:noFill/>
        </p:spPr>
        <p:txBody>
          <a:bodyPr wrap="square" lIns="45720" rIns="45720" tIns="18288" bIns="18288">
            <a:spAutoFit/>
          </a:bodyPr>
          <a:lstStyle/>
          <a:p>
            <a:pPr algn="l"/>
            <a:r>
              <a:rPr sz="800" b="0">
                <a:solidFill>
                  <a:srgbClr val="333333"/>
                </a:solidFill>
                <a:latin typeface="Calibri"/>
              </a:rPr>
              <a:t>ARR contribution at the relevant figure of total net revenues, reducing cyclical broking volatility</a:t>
            </a:r>
          </a:p>
        </p:txBody>
      </p:sp>
      <p:sp>
        <p:nvSpPr>
          <p:cNvPr id="34" name="Rectangle 33"/>
          <p:cNvSpPr/>
          <p:nvPr/>
        </p:nvSpPr>
        <p:spPr>
          <a:xfrm>
            <a:off x="457200" y="5184647"/>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111495"/>
            <a:ext cx="2697406" cy="201168"/>
          </a:xfrm>
          <a:prstGeom prst="rect">
            <a:avLst/>
          </a:prstGeom>
          <a:noFill/>
        </p:spPr>
        <p:txBody>
          <a:bodyPr wrap="square" lIns="45720" rIns="45720" tIns="18288" bIns="18288">
            <a:spAutoFit/>
          </a:bodyPr>
          <a:lstStyle/>
          <a:p>
            <a:pPr algn="l"/>
            <a:r>
              <a:rPr sz="800" b="0">
                <a:solidFill>
                  <a:srgbClr val="333333"/>
                </a:solidFill>
                <a:latin typeface="Calibri"/>
              </a:rPr>
              <a:t>Q2FY25 profits up the relevant figure YoY with the relevant figure revenue growth and the relevant figure ROE</a:t>
            </a:r>
          </a:p>
        </p:txBody>
      </p:sp>
      <p:sp>
        <p:nvSpPr>
          <p:cNvPr id="36" name="Rectangle 35"/>
          <p:cNvSpPr/>
          <p:nvPr/>
        </p:nvSpPr>
        <p:spPr>
          <a:xfrm>
            <a:off x="457200" y="5477255"/>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404103"/>
            <a:ext cx="2697406" cy="201168"/>
          </a:xfrm>
          <a:prstGeom prst="rect">
            <a:avLst/>
          </a:prstGeom>
          <a:noFill/>
        </p:spPr>
        <p:txBody>
          <a:bodyPr wrap="square" lIns="45720" rIns="45720" tIns="18288" bIns="18288">
            <a:spAutoFit/>
          </a:bodyPr>
          <a:lstStyle/>
          <a:p>
            <a:pPr algn="l"/>
            <a:r>
              <a:rPr sz="800" b="0">
                <a:solidFill>
                  <a:srgbClr val="333333"/>
                </a:solidFill>
                <a:latin typeface="Calibri"/>
              </a:rPr>
              <a:t>Total AUM at the relevant figure lakh crore (+the relevant figure YoY); the relevant figure of AUM outperforming benchma</a:t>
            </a:r>
          </a:p>
        </p:txBody>
      </p:sp>
      <p:sp>
        <p:nvSpPr>
          <p:cNvPr id="38" name="Rounded Rectangle 37"/>
          <p:cNvSpPr/>
          <p:nvPr/>
        </p:nvSpPr>
        <p:spPr>
          <a:xfrm>
            <a:off x="6461598"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RATING</a:t>
            </a:r>
          </a:p>
          <a:p>
            <a:pPr algn="ctr"/>
            <a:r>
              <a:rPr sz="1600" b="1">
                <a:solidFill>
                  <a:srgbClr val="FFA500"/>
                </a:solidFill>
                <a:latin typeface="Calibri"/>
              </a:rPr>
              <a:t>BUY</a:t>
            </a:r>
          </a:p>
        </p:txBody>
      </p:sp>
      <p:sp>
        <p:nvSpPr>
          <p:cNvPr id="39" name="Rounded Rectangle 38"/>
          <p:cNvSpPr/>
          <p:nvPr/>
        </p:nvSpPr>
        <p:spPr>
          <a:xfrm>
            <a:off x="8255806"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CMP</a:t>
            </a:r>
          </a:p>
          <a:p>
            <a:pPr algn="ctr"/>
            <a:r>
              <a:rPr sz="1600" b="1">
                <a:solidFill>
                  <a:srgbClr val="FFA500"/>
                </a:solidFill>
                <a:latin typeface="Calibri"/>
              </a:rPr>
              <a:t>₹822.9</a:t>
            </a:r>
          </a:p>
        </p:txBody>
      </p:sp>
      <p:sp>
        <p:nvSpPr>
          <p:cNvPr id="40" name="Rounded Rectangle 39"/>
          <p:cNvSpPr/>
          <p:nvPr/>
        </p:nvSpPr>
        <p:spPr>
          <a:xfrm>
            <a:off x="10050014"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TARGET PRICE</a:t>
            </a:r>
          </a:p>
          <a:p>
            <a:pPr algn="ctr"/>
            <a:r>
              <a:rPr sz="1600" b="1">
                <a:solidFill>
                  <a:srgbClr val="FFA500"/>
                </a:solidFill>
                <a:latin typeface="Calibri"/>
              </a:rPr>
              <a:t>₹1,127.0</a:t>
            </a:r>
          </a:p>
        </p:txBody>
      </p:sp>
      <p:sp>
        <p:nvSpPr>
          <p:cNvPr id="41" name="Rounded Rectangle 40"/>
          <p:cNvSpPr/>
          <p:nvPr/>
        </p:nvSpPr>
        <p:spPr>
          <a:xfrm>
            <a:off x="6461598"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UPSIDE</a:t>
            </a:r>
          </a:p>
          <a:p>
            <a:pPr algn="ctr"/>
            <a:r>
              <a:rPr sz="1600" b="1">
                <a:solidFill>
                  <a:srgbClr val="FFA500"/>
                </a:solidFill>
                <a:latin typeface="Calibri"/>
              </a:rPr>
              <a:t>37.0%</a:t>
            </a:r>
          </a:p>
        </p:txBody>
      </p:sp>
      <p:sp>
        <p:nvSpPr>
          <p:cNvPr id="42" name="Rounded Rectangle 41"/>
          <p:cNvSpPr/>
          <p:nvPr/>
        </p:nvSpPr>
        <p:spPr>
          <a:xfrm>
            <a:off x="8255806"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MARKET CAP</a:t>
            </a:r>
          </a:p>
          <a:p>
            <a:pPr algn="ctr"/>
            <a:r>
              <a:rPr sz="1600" b="1">
                <a:solidFill>
                  <a:srgbClr val="FFA500"/>
                </a:solidFill>
                <a:latin typeface="Calibri"/>
              </a:rPr>
              <a:t>₹49,079 Cr</a:t>
            </a:r>
          </a:p>
        </p:txBody>
      </p:sp>
      <p:sp>
        <p:nvSpPr>
          <p:cNvPr id="43" name="Rounded Rectangle 42"/>
          <p:cNvSpPr/>
          <p:nvPr/>
        </p:nvSpPr>
        <p:spPr>
          <a:xfrm>
            <a:off x="10050014"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EPS (FY25)</a:t>
            </a:r>
          </a:p>
          <a:p>
            <a:pPr algn="ctr"/>
            <a:r>
              <a:rPr sz="1600" b="1">
                <a:solidFill>
                  <a:srgbClr val="FFA500"/>
                </a:solidFill>
                <a:latin typeface="Calibri"/>
              </a:rPr>
              <a:t>₹822.9</a:t>
            </a:r>
          </a:p>
        </p:txBody>
      </p:sp>
      <p:sp>
        <p:nvSpPr>
          <p:cNvPr id="44" name="Rectangle 43"/>
          <p:cNvSpPr/>
          <p:nvPr/>
        </p:nvSpPr>
        <p:spPr>
          <a:xfrm>
            <a:off x="0" y="6565392"/>
            <a:ext cx="12191695" cy="2926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65392"/>
            <a:ext cx="3200400" cy="292608"/>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46" name="TextBox 45"/>
          <p:cNvSpPr txBox="1"/>
          <p:nvPr/>
        </p:nvSpPr>
        <p:spPr>
          <a:xfrm>
            <a:off x="3657508" y="6565392"/>
            <a:ext cx="4876678" cy="292608"/>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47" name="TextBox 46"/>
          <p:cNvSpPr txBox="1"/>
          <p:nvPr/>
        </p:nvSpPr>
        <p:spPr>
          <a:xfrm>
            <a:off x="9905695" y="6565392"/>
            <a:ext cx="1828800" cy="292608"/>
          </a:xfrm>
          <a:prstGeom prst="rect">
            <a:avLst/>
          </a:prstGeom>
          <a:noFill/>
        </p:spPr>
        <p:txBody>
          <a:bodyPr wrap="squar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ectangle 14"/>
          <p:cNvSpPr/>
          <p:nvPr/>
        </p:nvSpPr>
        <p:spPr>
          <a:xfrm>
            <a:off x="457200" y="1234440"/>
            <a:ext cx="11277295"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8" y="1252728"/>
            <a:ext cx="11240719" cy="512063"/>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234440"/>
            <a:ext cx="2286000" cy="548640"/>
          </a:xfrm>
          <a:prstGeom prst="rect">
            <a:avLst/>
          </a:prstGeom>
          <a:noFill/>
        </p:spPr>
        <p:txBody>
          <a:bodyPr wrap="square" lIns="45720" rIns="45720" tIns="18288" bIns="18288">
            <a:spAutoFit/>
          </a:bodyPr>
          <a:lstStyle/>
          <a:p>
            <a:pPr algn="l"/>
            <a:r>
              <a:rPr sz="1400" b="1">
                <a:solidFill>
                  <a:srgbClr val="1F4690"/>
                </a:solidFill>
                <a:latin typeface="Calibri"/>
              </a:rPr>
              <a:t>SAARTHI Total Score: </a:t>
            </a:r>
          </a:p>
        </p:txBody>
      </p:sp>
      <p:sp>
        <p:nvSpPr>
          <p:cNvPr id="18" name="Rectangle 17"/>
          <p:cNvSpPr/>
          <p:nvPr/>
        </p:nvSpPr>
        <p:spPr>
          <a:xfrm>
            <a:off x="3108960" y="1371600"/>
            <a:ext cx="164592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371600"/>
            <a:ext cx="1645920" cy="274320"/>
          </a:xfrm>
          <a:prstGeom prst="rect">
            <a:avLst/>
          </a:prstGeom>
          <a:noFill/>
        </p:spPr>
        <p:txBody>
          <a:bodyPr wrap="square" lIns="45720" rIns="45720" tIns="18288" bIns="18288">
            <a:spAutoFit/>
          </a:bodyPr>
          <a:lstStyle/>
          <a:p>
            <a:pPr algn="ctr"/>
            <a:r>
              <a:rPr sz="1000" b="1">
                <a:solidFill>
                  <a:srgbClr val="FFFFFF"/>
                </a:solidFill>
                <a:latin typeface="Calibri"/>
              </a:rPr>
              <a:t>BUY RANGE</a:t>
            </a:r>
          </a:p>
        </p:txBody>
      </p:sp>
      <p:sp>
        <p:nvSpPr>
          <p:cNvPr id="20" name="TextBox 19"/>
          <p:cNvSpPr txBox="1"/>
          <p:nvPr/>
        </p:nvSpPr>
        <p:spPr>
          <a:xfrm>
            <a:off x="457200" y="20574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S — </a:t>
            </a:r>
          </a:p>
        </p:txBody>
      </p:sp>
      <p:sp>
        <p:nvSpPr>
          <p:cNvPr id="21" name="TextBox 20"/>
          <p:cNvSpPr txBox="1"/>
          <p:nvPr/>
        </p:nvSpPr>
        <p:spPr>
          <a:xfrm>
            <a:off x="4998567" y="20574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12/15</a:t>
            </a:r>
          </a:p>
        </p:txBody>
      </p:sp>
      <p:sp>
        <p:nvSpPr>
          <p:cNvPr id="22" name="Rectangle 21"/>
          <p:cNvSpPr/>
          <p:nvPr/>
        </p:nvSpPr>
        <p:spPr>
          <a:xfrm>
            <a:off x="457200" y="2286000"/>
            <a:ext cx="5455767" cy="274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3317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24" name="TextBox 23"/>
          <p:cNvSpPr txBox="1"/>
          <p:nvPr/>
        </p:nvSpPr>
        <p:spPr>
          <a:xfrm>
            <a:off x="6278727" y="20574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A1 — </a:t>
            </a:r>
          </a:p>
        </p:txBody>
      </p:sp>
      <p:sp>
        <p:nvSpPr>
          <p:cNvPr id="25" name="TextBox 24"/>
          <p:cNvSpPr txBox="1"/>
          <p:nvPr/>
        </p:nvSpPr>
        <p:spPr>
          <a:xfrm>
            <a:off x="10820095" y="20574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9/10</a:t>
            </a:r>
          </a:p>
        </p:txBody>
      </p:sp>
      <p:sp>
        <p:nvSpPr>
          <p:cNvPr id="26" name="Rectangle 25"/>
          <p:cNvSpPr/>
          <p:nvPr/>
        </p:nvSpPr>
        <p:spPr>
          <a:xfrm>
            <a:off x="6278727" y="2286000"/>
            <a:ext cx="5455767" cy="274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8727" y="23317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28" name="TextBox 27"/>
          <p:cNvSpPr txBox="1"/>
          <p:nvPr/>
        </p:nvSpPr>
        <p:spPr>
          <a:xfrm>
            <a:off x="457200" y="29718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A2 — </a:t>
            </a:r>
          </a:p>
        </p:txBody>
      </p:sp>
      <p:sp>
        <p:nvSpPr>
          <p:cNvPr id="29" name="TextBox 28"/>
          <p:cNvSpPr txBox="1"/>
          <p:nvPr/>
        </p:nvSpPr>
        <p:spPr>
          <a:xfrm>
            <a:off x="4998567" y="29718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10/15</a:t>
            </a:r>
          </a:p>
        </p:txBody>
      </p:sp>
      <p:sp>
        <p:nvSpPr>
          <p:cNvPr id="30" name="Rectangle 29"/>
          <p:cNvSpPr/>
          <p:nvPr/>
        </p:nvSpPr>
        <p:spPr>
          <a:xfrm>
            <a:off x="457200" y="3200400"/>
            <a:ext cx="5455767" cy="274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2461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32" name="TextBox 31"/>
          <p:cNvSpPr txBox="1"/>
          <p:nvPr/>
        </p:nvSpPr>
        <p:spPr>
          <a:xfrm>
            <a:off x="6278727" y="29718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R — </a:t>
            </a:r>
          </a:p>
        </p:txBody>
      </p:sp>
      <p:sp>
        <p:nvSpPr>
          <p:cNvPr id="33" name="TextBox 32"/>
          <p:cNvSpPr txBox="1"/>
          <p:nvPr/>
        </p:nvSpPr>
        <p:spPr>
          <a:xfrm>
            <a:off x="10820095" y="29718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13/15</a:t>
            </a:r>
          </a:p>
        </p:txBody>
      </p:sp>
      <p:sp>
        <p:nvSpPr>
          <p:cNvPr id="34" name="Rectangle 33"/>
          <p:cNvSpPr/>
          <p:nvPr/>
        </p:nvSpPr>
        <p:spPr>
          <a:xfrm>
            <a:off x="6278727" y="3200400"/>
            <a:ext cx="5455767" cy="274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8727" y="32461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36" name="TextBox 35"/>
          <p:cNvSpPr txBox="1"/>
          <p:nvPr/>
        </p:nvSpPr>
        <p:spPr>
          <a:xfrm>
            <a:off x="457200" y="38862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T — </a:t>
            </a:r>
          </a:p>
        </p:txBody>
      </p:sp>
      <p:sp>
        <p:nvSpPr>
          <p:cNvPr id="37" name="TextBox 36"/>
          <p:cNvSpPr txBox="1"/>
          <p:nvPr/>
        </p:nvSpPr>
        <p:spPr>
          <a:xfrm>
            <a:off x="4998567" y="38862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8/10</a:t>
            </a:r>
          </a:p>
        </p:txBody>
      </p:sp>
      <p:sp>
        <p:nvSpPr>
          <p:cNvPr id="38" name="Rectangle 37"/>
          <p:cNvSpPr/>
          <p:nvPr/>
        </p:nvSpPr>
        <p:spPr>
          <a:xfrm>
            <a:off x="457200" y="4114800"/>
            <a:ext cx="5455767"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41605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40" name="TextBox 39"/>
          <p:cNvSpPr txBox="1"/>
          <p:nvPr/>
        </p:nvSpPr>
        <p:spPr>
          <a:xfrm>
            <a:off x="6278727" y="38862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H — </a:t>
            </a:r>
          </a:p>
        </p:txBody>
      </p:sp>
      <p:sp>
        <p:nvSpPr>
          <p:cNvPr id="41" name="TextBox 40"/>
          <p:cNvSpPr txBox="1"/>
          <p:nvPr/>
        </p:nvSpPr>
        <p:spPr>
          <a:xfrm>
            <a:off x="10820095" y="38862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9/10</a:t>
            </a:r>
          </a:p>
        </p:txBody>
      </p:sp>
      <p:sp>
        <p:nvSpPr>
          <p:cNvPr id="42" name="Rectangle 41"/>
          <p:cNvSpPr/>
          <p:nvPr/>
        </p:nvSpPr>
        <p:spPr>
          <a:xfrm>
            <a:off x="6278727" y="4114800"/>
            <a:ext cx="5455767" cy="274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78727" y="41605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44" name="TextBox 43"/>
          <p:cNvSpPr txBox="1"/>
          <p:nvPr/>
        </p:nvSpPr>
        <p:spPr>
          <a:xfrm>
            <a:off x="457200" y="4800600"/>
            <a:ext cx="4541367" cy="228600"/>
          </a:xfrm>
          <a:prstGeom prst="rect">
            <a:avLst/>
          </a:prstGeom>
          <a:noFill/>
        </p:spPr>
        <p:txBody>
          <a:bodyPr wrap="square" lIns="45720" rIns="45720" tIns="18288" bIns="18288">
            <a:spAutoFit/>
          </a:bodyPr>
          <a:lstStyle/>
          <a:p>
            <a:pPr algn="l"/>
            <a:r>
              <a:rPr sz="1100" b="1">
                <a:solidFill>
                  <a:srgbClr val="1F4690"/>
                </a:solidFill>
                <a:latin typeface="Calibri"/>
              </a:rPr>
              <a:t>I — </a:t>
            </a:r>
          </a:p>
        </p:txBody>
      </p:sp>
      <p:sp>
        <p:nvSpPr>
          <p:cNvPr id="45" name="TextBox 44"/>
          <p:cNvSpPr txBox="1"/>
          <p:nvPr/>
        </p:nvSpPr>
        <p:spPr>
          <a:xfrm>
            <a:off x="4998567" y="4800600"/>
            <a:ext cx="914400" cy="228600"/>
          </a:xfrm>
          <a:prstGeom prst="rect">
            <a:avLst/>
          </a:prstGeom>
          <a:noFill/>
        </p:spPr>
        <p:txBody>
          <a:bodyPr wrap="square" lIns="45720" rIns="45720" tIns="18288" bIns="18288">
            <a:spAutoFit/>
          </a:bodyPr>
          <a:lstStyle/>
          <a:p>
            <a:pPr algn="r"/>
            <a:r>
              <a:rPr sz="1100" b="1">
                <a:solidFill>
                  <a:srgbClr val="1F4690"/>
                </a:solidFill>
                <a:latin typeface="Calibri"/>
              </a:rPr>
              <a:t>11/15</a:t>
            </a:r>
          </a:p>
        </p:txBody>
      </p:sp>
      <p:sp>
        <p:nvSpPr>
          <p:cNvPr id="46" name="Rectangle 45"/>
          <p:cNvSpPr/>
          <p:nvPr/>
        </p:nvSpPr>
        <p:spPr>
          <a:xfrm>
            <a:off x="457200" y="5029200"/>
            <a:ext cx="5455767" cy="274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5074920"/>
            <a:ext cx="5455767" cy="548640"/>
          </a:xfrm>
          <a:prstGeom prst="rect">
            <a:avLst/>
          </a:prstGeom>
          <a:noFill/>
        </p:spPr>
        <p:txBody>
          <a:bodyPr wrap="square" lIns="45720" rIns="45720" tIns="18288" bIns="18288">
            <a:spAutoFit/>
          </a:bodyPr>
          <a:lstStyle/>
          <a:p>
            <a:pPr algn="l"/>
            <a:r>
              <a:rPr sz="900" b="0">
                <a:solidFill>
                  <a:srgbClr val="111111"/>
                </a:solidFill>
                <a:latin typeface="Calibri"/>
              </a:rPr>
              <a:t/>
            </a:r>
          </a:p>
        </p:txBody>
      </p:sp>
      <p:sp>
        <p:nvSpPr>
          <p:cNvPr id="48" name="Rectangle 47"/>
          <p:cNvSpPr/>
          <p:nvPr/>
        </p:nvSpPr>
        <p:spPr>
          <a:xfrm>
            <a:off x="457200" y="4892040"/>
            <a:ext cx="11277295" cy="9144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5488" y="4910327"/>
            <a:ext cx="11240719" cy="877824"/>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4937759"/>
            <a:ext cx="11094415" cy="182880"/>
          </a:xfrm>
          <a:prstGeom prst="rect">
            <a:avLst/>
          </a:prstGeom>
          <a:noFill/>
        </p:spPr>
        <p:txBody>
          <a:bodyPr wrap="square" lIns="45720" rIns="45720" tIns="18288" bIns="18288">
            <a:spAutoFit/>
          </a:bodyPr>
          <a:lstStyle/>
          <a:p>
            <a:pPr algn="l"/>
            <a:r>
              <a:rPr sz="1000" b="1">
                <a:solidFill>
                  <a:srgbClr val="1F4690"/>
                </a:solidFill>
                <a:latin typeface="Calibri"/>
              </a:rPr>
              <a:t>SAARTHI Conviction Statement</a:t>
            </a:r>
          </a:p>
        </p:txBody>
      </p:sp>
      <p:sp>
        <p:nvSpPr>
          <p:cNvPr id="51" name="TextBox 50"/>
          <p:cNvSpPr txBox="1"/>
          <p:nvPr/>
        </p:nvSpPr>
        <p:spPr>
          <a:xfrm>
            <a:off x="548640" y="5120640"/>
            <a:ext cx="11094415" cy="640080"/>
          </a:xfrm>
          <a:prstGeom prst="rect">
            <a:avLst/>
          </a:prstGeom>
          <a:noFill/>
        </p:spPr>
        <p:txBody>
          <a:bodyPr wrap="square" lIns="45720" rIns="45720" tIns="18288" bIns="18288">
            <a:spAutoFit/>
          </a:bodyPr>
          <a:lstStyle/>
          <a:p>
            <a:pPr algn="l"/>
            <a:r>
              <a:rPr sz="800" b="0">
                <a:solidFill>
                  <a:srgbClr val="111111"/>
                </a:solidFill>
                <a:latin typeface="Calibri"/>
              </a:rPr>
              <a:t>Proprietary 7-dimension framework. Overall score 72/100 (BUY (70-84 range)).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Rev CAGR</a:t>
                      </a:r>
                    </a:p>
                  </a:txBody>
                  <a:tcPr marL="36576" marR="36576" marT="18288" marB="18288">
                    <a:solidFill>
                      <a:srgbClr val="1F4690"/>
                    </a:solidFill>
                  </a:tcPr>
                </a:tc>
                <a:tc>
                  <a:txBody>
                    <a:bodyPr/>
                    <a:lstStyle/>
                    <a:p>
                      <a:pPr algn="r"/>
                      <a:r>
                        <a:rPr b="1" sz="1200">
                          <a:solidFill>
                            <a:srgbClr val="FFFFFF"/>
                          </a:solidFill>
                          <a:latin typeface="Calibri"/>
                        </a:rPr>
                        <a:t>EBITDA Mgn</a:t>
                      </a:r>
                    </a:p>
                  </a:txBody>
                  <a:tcPr marL="36576" marR="36576" marT="18288" marB="18288">
                    <a:solidFill>
                      <a:srgbClr val="1F4690"/>
                    </a:solidFill>
                  </a:tcPr>
                </a:tc>
                <a:tc>
                  <a:txBody>
                    <a:bodyPr/>
                    <a:lstStyle/>
                    <a:p>
                      <a:pPr algn="r"/>
                      <a:r>
                        <a:rPr b="1" sz="1200">
                          <a:solidFill>
                            <a:srgbClr val="FFFFFF"/>
                          </a:solidFill>
                          <a:latin typeface="Calibri"/>
                        </a:rPr>
                        <a:t>Target Price</a:t>
                      </a:r>
                    </a:p>
                  </a:txBody>
                  <a:tcPr marL="36576" marR="36576" marT="18288" marB="18288">
                    <a:solidFill>
                      <a:srgbClr val="1F4690"/>
                    </a:solidFill>
                  </a:tcPr>
                </a:tc>
                <a:tc>
                  <a:txBody>
                    <a:bodyPr/>
                    <a:lstStyle/>
                    <a:p>
                      <a:pPr algn="r"/>
                      <a:r>
                        <a:rPr b="1" sz="1200">
                          <a:solidFill>
                            <a:srgbClr val="FFFFFF"/>
                          </a:solidFill>
                          <a:latin typeface="Calibri"/>
                        </a:rPr>
                        <a:t>Probability</a:t>
                      </a:r>
                    </a:p>
                  </a:txBody>
                  <a:tcPr marL="36576" marR="36576" marT="18288" marB="18288">
                    <a:solidFill>
                      <a:srgbClr val="1F4690"/>
                    </a:solidFill>
                  </a:tcPr>
                </a:tc>
                <a:tc>
                  <a:txBody>
                    <a:bodyPr/>
                    <a:lstStyle/>
                    <a:p>
                      <a:pPr algn="r"/>
                      <a:r>
                        <a:rPr b="1" sz="1200">
                          <a:solidFill>
                            <a:srgbClr val="FFFFFF"/>
                          </a:solidFill>
                          <a:latin typeface="Calibri"/>
                        </a:rPr>
                        <a:t>Drivers</a:t>
                      </a:r>
                    </a:p>
                  </a:txBody>
                  <a:tcPr marL="36576" marR="36576" marT="18288" marB="18288">
                    <a:solidFill>
                      <a:srgbClr val="1F4690"/>
                    </a:solidFill>
                  </a:tcPr>
                </a:tc>
              </a:tr>
              <a:tr h="1257300">
                <a:tc>
                  <a:txBody>
                    <a:bodyPr/>
                    <a:lstStyle/>
                    <a:p>
                      <a:r>
                        <a:rPr sz="1200" b="1">
                          <a:solidFill>
                            <a:srgbClr val="5A6573"/>
                          </a:solidFill>
                          <a:latin typeface="Calibri"/>
                        </a:rPr>
                        <a:t>Bull</a:t>
                      </a:r>
                    </a:p>
                  </a:txBody>
                  <a:tcPr marL="36576" marR="36576" marT="18288" marB="18288">
                    <a:solidFill>
                      <a:srgbClr val="F4F6F9"/>
                    </a:solidFill>
                  </a:tcPr>
                </a:tc>
                <a:tc>
                  <a:txBody>
                    <a:bodyPr/>
                    <a:lstStyle/>
                    <a:p>
                      <a:pPr algn="r"/>
                      <a:r>
                        <a:rPr sz="1200" b="1">
                          <a:solidFill>
                            <a:srgbClr val="1A7A4A"/>
                          </a:solidFill>
                          <a:latin typeface="Calibri"/>
                        </a:rPr>
                        <a:t>27.5%</a:t>
                      </a:r>
                    </a:p>
                  </a:txBody>
                  <a:tcPr marL="36576" marR="36576" marT="18288" marB="18288">
                    <a:solidFill>
                      <a:srgbClr val="F4F6F9"/>
                    </a:solidFill>
                  </a:tcPr>
                </a:tc>
                <a:tc>
                  <a:txBody>
                    <a:bodyPr/>
                    <a:lstStyle/>
                    <a:p>
                      <a:pPr algn="r"/>
                      <a:r>
                        <a:rPr sz="1200" b="1">
                          <a:solidFill>
                            <a:srgbClr val="1A7A4A"/>
                          </a:solidFill>
                          <a:latin typeface="Calibri"/>
                        </a:rPr>
                        <a:t>55.0%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ARR &gt; 70%, AMC AUM +40% YoY, regulatory clarity.</a:t>
                      </a:r>
                    </a:p>
                  </a:txBody>
                  <a:tcPr marL="36576" marR="36576" marT="18288" marB="18288">
                    <a:solidFill>
                      <a:srgbClr val="F4F6F9"/>
                    </a:solidFill>
                  </a:tcPr>
                </a:tc>
              </a:tr>
              <a:tr h="1257300">
                <a:tc>
                  <a:txBody>
                    <a:bodyPr/>
                    <a:lstStyle/>
                    <a:p>
                      <a:r>
                        <a:rPr sz="1200" b="1">
                          <a:solidFill>
                            <a:srgbClr val="5A6573"/>
                          </a:solidFill>
                          <a:latin typeface="Calibri"/>
                        </a:rPr>
                        <a:t>Base</a:t>
                      </a:r>
                    </a:p>
                  </a:txBody>
                  <a:tcPr marL="36576" marR="36576" marT="18288" marB="18288">
                    <a:solidFill>
                      <a:srgbClr val="FFFFFF"/>
                    </a:solidFill>
                  </a:tcPr>
                </a:tc>
                <a:tc>
                  <a:txBody>
                    <a:bodyPr/>
                    <a:lstStyle/>
                    <a:p>
                      <a:pPr algn="r"/>
                      <a:r>
                        <a:rPr sz="1200" b="1">
                          <a:solidFill>
                            <a:srgbClr val="1A7A4A"/>
                          </a:solidFill>
                          <a:latin typeface="Calibri"/>
                        </a:rPr>
                        <a:t>16.0%</a:t>
                      </a:r>
                    </a:p>
                  </a:txBody>
                  <a:tcPr marL="36576" marR="36576" marT="18288" marB="18288">
                    <a:solidFill>
                      <a:srgbClr val="FFFFFF"/>
                    </a:solidFill>
                  </a:tcPr>
                </a:tc>
                <a:tc>
                  <a:txBody>
                    <a:bodyPr/>
                    <a:lstStyle/>
                    <a:p>
                      <a:pPr algn="r"/>
                      <a:r>
                        <a:rPr sz="1200" b="1">
                          <a:solidFill>
                            <a:srgbClr val="1A7A4A"/>
                          </a:solidFill>
                          <a:latin typeface="Calibri"/>
                        </a:rPr>
                        <a:t>51.0%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b="1">
                          <a:solidFill>
                            <a:srgbClr val="5A6573"/>
                          </a:solidFill>
                          <a:latin typeface="Calibri"/>
                        </a:rPr>
                        <a:t>Bear</a:t>
                      </a:r>
                    </a:p>
                  </a:txBody>
                  <a:tcPr marL="36576" marR="36576" marT="18288" marB="18288">
                    <a:solidFill>
                      <a:srgbClr val="F4F6F9"/>
                    </a:solidFill>
                  </a:tcPr>
                </a:tc>
                <a:tc>
                  <a:txBody>
                    <a:bodyPr/>
                    <a:lstStyle/>
                    <a:p>
                      <a:pPr algn="r"/>
                      <a:r>
                        <a:rPr sz="1200" b="1">
                          <a:solidFill>
                            <a:srgbClr val="1A7A4A"/>
                          </a:solidFill>
                          <a:latin typeface="Calibri"/>
                        </a:rPr>
                        <a:t>6.0%</a:t>
                      </a:r>
                    </a:p>
                  </a:txBody>
                  <a:tcPr marL="36576" marR="36576" marT="18288" marB="18288">
                    <a:solidFill>
                      <a:srgbClr val="F4F6F9"/>
                    </a:solidFill>
                  </a:tcPr>
                </a:tc>
                <a:tc>
                  <a:txBody>
                    <a:bodyPr/>
                    <a:lstStyle/>
                    <a:p>
                      <a:pPr algn="r"/>
                      <a:r>
                        <a:rPr sz="1200" b="1">
                          <a:solidFill>
                            <a:srgbClr val="1A7A4A"/>
                          </a:solidFill>
                          <a:latin typeface="Calibri"/>
                        </a:rPr>
                        <a:t>45.0%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Sustained F&amp;O headwinds, fintech share loss.</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