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tIns="9144" rIns="36576"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tIns="9144" rIns="36576"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56048" y="585216"/>
            <a:ext cx="530352" cy="201168"/>
          </a:xfrm>
          <a:prstGeom prst="rect">
            <a:avLst/>
          </a:prstGeom>
          <a:noFill/>
        </p:spPr>
        <p:txBody>
          <a:bodyPr wrap="square" lIns="36576" tIns="9144" rIns="36576"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tIns="9144" rIns="36576"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1168" y="987552"/>
            <a:ext cx="1919173" cy="128016"/>
          </a:xfrm>
          <a:prstGeom prst="rect">
            <a:avLst/>
          </a:prstGeom>
          <a:noFill/>
        </p:spPr>
        <p:txBody>
          <a:bodyPr wrap="square" lIns="36576" tIns="9144" rIns="36576"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tIns="9144" rIns="36576"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tIns="9144" rIns="36576"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66061" y="987552"/>
            <a:ext cx="1919173" cy="128016"/>
          </a:xfrm>
          <a:prstGeom prst="rect">
            <a:avLst/>
          </a:prstGeom>
          <a:noFill/>
        </p:spPr>
        <p:txBody>
          <a:bodyPr wrap="square" lIns="36576" tIns="9144" rIns="36576"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tIns="9144" rIns="36576"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tIns="9144" rIns="36576"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30954" y="987552"/>
            <a:ext cx="1919173" cy="128016"/>
          </a:xfrm>
          <a:prstGeom prst="rect">
            <a:avLst/>
          </a:prstGeom>
          <a:noFill/>
        </p:spPr>
        <p:txBody>
          <a:bodyPr wrap="square" lIns="36576" tIns="9144" rIns="36576"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tIns="9144" rIns="36576"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95847" y="987552"/>
            <a:ext cx="1919173" cy="128016"/>
          </a:xfrm>
          <a:prstGeom prst="rect">
            <a:avLst/>
          </a:prstGeom>
          <a:noFill/>
        </p:spPr>
        <p:txBody>
          <a:bodyPr wrap="square" lIns="36576" tIns="9144" rIns="36576"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tIns="9144" rIns="36576"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tIns="9144" rIns="36576"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60740" y="987552"/>
            <a:ext cx="1919173" cy="128016"/>
          </a:xfrm>
          <a:prstGeom prst="rect">
            <a:avLst/>
          </a:prstGeom>
          <a:noFill/>
        </p:spPr>
        <p:txBody>
          <a:bodyPr wrap="square" lIns="36576" tIns="9144" rIns="36576"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tIns="9144" rIns="36576"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tIns="9144" rIns="36576"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25634" y="987552"/>
            <a:ext cx="1919173" cy="128016"/>
          </a:xfrm>
          <a:prstGeom prst="rect">
            <a:avLst/>
          </a:prstGeom>
          <a:noFill/>
        </p:spPr>
        <p:txBody>
          <a:bodyPr wrap="square" lIns="36576" tIns="9144" rIns="36576"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tIns="9144" rIns="36576"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tIns="9144" rIns="36576"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1168" y="1810512"/>
            <a:ext cx="11789359" cy="320040"/>
          </a:xfrm>
          <a:prstGeom prst="rect">
            <a:avLst/>
          </a:prstGeom>
          <a:noFill/>
        </p:spPr>
        <p:txBody>
          <a:bodyPr wrap="square" lIns="36576" tIns="9144" rIns="36576"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10896" y="2432304"/>
            <a:ext cx="6053328" cy="182880"/>
          </a:xfrm>
          <a:prstGeom prst="rect">
            <a:avLst/>
          </a:prstGeom>
          <a:noFill/>
        </p:spPr>
        <p:txBody>
          <a:bodyPr wrap="square" lIns="36576" tIns="9144" rIns="36576"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tIns="9144" rIns="36576"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92608" y="3767328"/>
            <a:ext cx="2907792" cy="182880"/>
          </a:xfrm>
          <a:prstGeom prst="rect">
            <a:avLst/>
          </a:prstGeom>
          <a:noFill/>
        </p:spPr>
        <p:txBody>
          <a:bodyPr wrap="square" lIns="36576" tIns="9144" rIns="36576"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tIns="9144" rIns="36576"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93008" y="3767328"/>
            <a:ext cx="2907792" cy="182880"/>
          </a:xfrm>
          <a:prstGeom prst="rect">
            <a:avLst/>
          </a:prstGeom>
          <a:noFill/>
        </p:spPr>
        <p:txBody>
          <a:bodyPr wrap="square" lIns="36576" tIns="9144" rIns="36576"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tIns="9144" rIns="36576"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92608" y="4663440"/>
            <a:ext cx="2907792" cy="182880"/>
          </a:xfrm>
          <a:prstGeom prst="rect">
            <a:avLst/>
          </a:prstGeom>
          <a:noFill/>
        </p:spPr>
        <p:txBody>
          <a:bodyPr wrap="square" lIns="36576" tIns="9144" rIns="36576"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tIns="9144" rIns="36576"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493008" y="4663440"/>
            <a:ext cx="2907792" cy="182880"/>
          </a:xfrm>
          <a:prstGeom prst="rect">
            <a:avLst/>
          </a:prstGeom>
          <a:noFill/>
        </p:spPr>
        <p:txBody>
          <a:bodyPr wrap="square" lIns="36576" tIns="9144" rIns="36576"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tIns="9144" rIns="36576"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92608" y="5559552"/>
            <a:ext cx="2907792" cy="182880"/>
          </a:xfrm>
          <a:prstGeom prst="rect">
            <a:avLst/>
          </a:prstGeom>
          <a:noFill/>
        </p:spPr>
        <p:txBody>
          <a:bodyPr wrap="square" lIns="36576" tIns="9144" rIns="36576"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tIns="9144" rIns="36576"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493008" y="5559552"/>
            <a:ext cx="2907792" cy="182880"/>
          </a:xfrm>
          <a:prstGeom prst="rect">
            <a:avLst/>
          </a:prstGeom>
          <a:noFill/>
        </p:spPr>
        <p:txBody>
          <a:bodyPr wrap="square" lIns="36576" tIns="9144" rIns="36576"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tIns="9144" rIns="36576"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tIns="9144" rIns="36576"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extLst>
                    <a:ext uri="{9D8B030D-6E8A-4147-A177-3AD203B41FA5}">
                      <a16:colId xmlns:a16="http://schemas.microsoft.com/office/drawing/2014/main" val="20000"/>
                    </a:ext>
                  </a:extLst>
                </a:gridCol>
                <a:gridCol w="598932">
                  <a:extLst>
                    <a:ext uri="{9D8B030D-6E8A-4147-A177-3AD203B41FA5}">
                      <a16:colId xmlns:a16="http://schemas.microsoft.com/office/drawing/2014/main" val="20001"/>
                    </a:ext>
                  </a:extLst>
                </a:gridCol>
                <a:gridCol w="598932">
                  <a:extLst>
                    <a:ext uri="{9D8B030D-6E8A-4147-A177-3AD203B41FA5}">
                      <a16:colId xmlns:a16="http://schemas.microsoft.com/office/drawing/2014/main" val="20002"/>
                    </a:ext>
                  </a:extLst>
                </a:gridCol>
                <a:gridCol w="598932">
                  <a:extLst>
                    <a:ext uri="{9D8B030D-6E8A-4147-A177-3AD203B41FA5}">
                      <a16:colId xmlns:a16="http://schemas.microsoft.com/office/drawing/2014/main" val="20003"/>
                    </a:ext>
                  </a:extLst>
                </a:gridCol>
                <a:gridCol w="598932">
                  <a:extLst>
                    <a:ext uri="{9D8B030D-6E8A-4147-A177-3AD203B41FA5}">
                      <a16:colId xmlns:a16="http://schemas.microsoft.com/office/drawing/2014/main" val="20004"/>
                    </a:ext>
                  </a:extLst>
                </a:gridCol>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extLst>
                  <a:ext uri="{0D108BD9-81ED-4DB2-BD59-A6C34878D82A}">
                    <a16:rowId xmlns:a16="http://schemas.microsoft.com/office/drawing/2014/main" val="10000"/>
                  </a:ext>
                </a:extLst>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extLst>
                  <a:ext uri="{0D108BD9-81ED-4DB2-BD59-A6C34878D82A}">
                    <a16:rowId xmlns:a16="http://schemas.microsoft.com/office/drawing/2014/main" val="10001"/>
                  </a:ext>
                </a:extLst>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extLst>
                  <a:ext uri="{0D108BD9-81ED-4DB2-BD59-A6C34878D82A}">
                    <a16:rowId xmlns:a16="http://schemas.microsoft.com/office/drawing/2014/main" val="10002"/>
                  </a:ext>
                </a:extLst>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extLst>
                  <a:ext uri="{0D108BD9-81ED-4DB2-BD59-A6C34878D82A}">
                    <a16:rowId xmlns:a16="http://schemas.microsoft.com/office/drawing/2014/main" val="10003"/>
                  </a:ext>
                </a:extLst>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extLst>
                  <a:ext uri="{0D108BD9-81ED-4DB2-BD59-A6C34878D82A}">
                    <a16:rowId xmlns:a16="http://schemas.microsoft.com/office/drawing/2014/main" val="10004"/>
                  </a:ext>
                </a:extLst>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extLst>
                  <a:ext uri="{0D108BD9-81ED-4DB2-BD59-A6C34878D82A}">
                    <a16:rowId xmlns:a16="http://schemas.microsoft.com/office/drawing/2014/main" val="10005"/>
                  </a:ext>
                </a:extLst>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extLst>
                  <a:ext uri="{0D108BD9-81ED-4DB2-BD59-A6C34878D82A}">
                    <a16:rowId xmlns:a16="http://schemas.microsoft.com/office/drawing/2014/main" val="10006"/>
                  </a:ext>
                </a:extLst>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extLst>
                  <a:ext uri="{0D108BD9-81ED-4DB2-BD59-A6C34878D82A}">
                    <a16:rowId xmlns:a16="http://schemas.microsoft.com/office/drawing/2014/main" val="10007"/>
                  </a:ext>
                </a:extLst>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extLst>
                  <a:ext uri="{0D108BD9-81ED-4DB2-BD59-A6C34878D82A}">
                    <a16:rowId xmlns:a16="http://schemas.microsoft.com/office/drawing/2014/main" val="10008"/>
                  </a:ext>
                </a:extLst>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extLst>
                  <a:ext uri="{0D108BD9-81ED-4DB2-BD59-A6C34878D82A}">
                    <a16:rowId xmlns:a16="http://schemas.microsoft.com/office/drawing/2014/main" val="10009"/>
                  </a:ext>
                </a:extLst>
              </a:tr>
            </a:tbl>
          </a:graphicData>
        </a:graphic>
      </p:graphicFrame>
      <p:sp>
        <p:nvSpPr>
          <p:cNvPr id="65" name="TextBox 64"/>
          <p:cNvSpPr txBox="1"/>
          <p:nvPr/>
        </p:nvSpPr>
        <p:spPr>
          <a:xfrm>
            <a:off x="6601968" y="5056632"/>
            <a:ext cx="3182112" cy="164592"/>
          </a:xfrm>
          <a:prstGeom prst="rect">
            <a:avLst/>
          </a:prstGeom>
          <a:noFill/>
        </p:spPr>
        <p:txBody>
          <a:bodyPr wrap="square" lIns="36576" tIns="9144" rIns="36576"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extLst>
                    <a:ext uri="{9D8B030D-6E8A-4147-A177-3AD203B41FA5}">
                      <a16:colId xmlns:a16="http://schemas.microsoft.com/office/drawing/2014/main" val="20000"/>
                    </a:ext>
                  </a:extLst>
                </a:gridCol>
                <a:gridCol w="1177381">
                  <a:extLst>
                    <a:ext uri="{9D8B030D-6E8A-4147-A177-3AD203B41FA5}">
                      <a16:colId xmlns:a16="http://schemas.microsoft.com/office/drawing/2014/main" val="20001"/>
                    </a:ext>
                  </a:extLst>
                </a:gridCol>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extLst>
                  <a:ext uri="{0D108BD9-81ED-4DB2-BD59-A6C34878D82A}">
                    <a16:rowId xmlns:a16="http://schemas.microsoft.com/office/drawing/2014/main" val="10000"/>
                  </a:ext>
                </a:extLst>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extLst>
                  <a:ext uri="{0D108BD9-81ED-4DB2-BD59-A6C34878D82A}">
                    <a16:rowId xmlns:a16="http://schemas.microsoft.com/office/drawing/2014/main" val="10001"/>
                  </a:ext>
                </a:extLst>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extLst>
                  <a:ext uri="{0D108BD9-81ED-4DB2-BD59-A6C34878D82A}">
                    <a16:rowId xmlns:a16="http://schemas.microsoft.com/office/drawing/2014/main" val="10002"/>
                  </a:ext>
                </a:extLst>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extLst>
                  <a:ext uri="{0D108BD9-81ED-4DB2-BD59-A6C34878D82A}">
                    <a16:rowId xmlns:a16="http://schemas.microsoft.com/office/drawing/2014/main" val="10003"/>
                  </a:ext>
                </a:extLst>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extLst>
                  <a:ext uri="{0D108BD9-81ED-4DB2-BD59-A6C34878D82A}">
                    <a16:rowId xmlns:a16="http://schemas.microsoft.com/office/drawing/2014/main" val="10004"/>
                  </a:ext>
                </a:extLst>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012680" y="2414016"/>
            <a:ext cx="1892807" cy="164592"/>
          </a:xfrm>
          <a:prstGeom prst="rect">
            <a:avLst/>
          </a:prstGeom>
          <a:noFill/>
        </p:spPr>
        <p:txBody>
          <a:bodyPr wrap="square" lIns="36576" tIns="9144" rIns="36576"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tIns="9144" rIns="36576"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tIns="9144" rIns="36576"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tIns="9144" rIns="36576"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tIns="9144" rIns="36576"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tIns="9144" rIns="36576"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tIns="9144" rIns="36576"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tIns="9144" rIns="36576"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tIns="9144" rIns="36576"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012680" y="3419856"/>
            <a:ext cx="1892807" cy="164592"/>
          </a:xfrm>
          <a:prstGeom prst="rect">
            <a:avLst/>
          </a:prstGeom>
          <a:noFill/>
        </p:spPr>
        <p:txBody>
          <a:bodyPr wrap="square" lIns="36576" tIns="9144" rIns="36576"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tIns="9144" rIns="36576"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tIns="9144" rIns="36576"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tIns="9144" rIns="36576"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tIns="9144" rIns="36576"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tIns="9144" rIns="36576"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tIns="9144" rIns="36576"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012680" y="4114800"/>
            <a:ext cx="1892807" cy="164592"/>
          </a:xfrm>
          <a:prstGeom prst="rect">
            <a:avLst/>
          </a:prstGeom>
          <a:noFill/>
        </p:spPr>
        <p:txBody>
          <a:bodyPr wrap="square" lIns="36576" tIns="9144" rIns="36576"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tIns="9144" rIns="36576"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tIns="9144" rIns="36576"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tIns="9144" rIns="36576"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tIns="9144" rIns="36576"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tIns="9144" rIns="36576"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tIns="9144" rIns="36576"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10012680" y="4919472"/>
            <a:ext cx="1892807" cy="164592"/>
          </a:xfrm>
          <a:prstGeom prst="rect">
            <a:avLst/>
          </a:prstGeom>
          <a:noFill/>
        </p:spPr>
        <p:txBody>
          <a:bodyPr wrap="square" lIns="36576" tIns="9144" rIns="36576"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tIns="9144" rIns="36576"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tIns="9144" rIns="36576"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tIns="9144" rIns="36576"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tIns="9144" rIns="36576"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tIns="9144" rIns="36576"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tIns="9144" rIns="36576"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0021824" y="5586983"/>
            <a:ext cx="1874519" cy="146304"/>
          </a:xfrm>
          <a:prstGeom prst="rect">
            <a:avLst/>
          </a:prstGeom>
          <a:noFill/>
        </p:spPr>
        <p:txBody>
          <a:bodyPr wrap="square" lIns="36576" tIns="9144" rIns="36576"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tIns="9144" rIns="36576"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tIns="9144" rIns="36576"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201168" y="6711696"/>
            <a:ext cx="2743200" cy="109728"/>
          </a:xfrm>
          <a:prstGeom prst="rect">
            <a:avLst/>
          </a:prstGeom>
          <a:noFill/>
        </p:spPr>
        <p:txBody>
          <a:bodyPr wrap="square" lIns="36576" tIns="9144" rIns="36576"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tIns="9144" rIns="36576"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tIns="9144" rIns="36576"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89940"/>
            <a:ext cx="4967935" cy="411480"/>
          </a:xfrm>
          <a:prstGeom prst="rect">
            <a:avLst/>
          </a:prstGeom>
          <a:noFill/>
        </p:spPr>
        <p:txBody>
          <a:bodyPr wrap="square" lIns="45720" tIns="18288" rIns="45720" bIns="18288">
            <a:spAutoFit/>
          </a:bodyPr>
          <a:lstStyle/>
          <a:p>
            <a:pPr algn="l"/>
            <a:r>
              <a:rPr sz="1000" b="1" dirty="0">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dirty="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ounded Rectangle 14"/>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3"/>
          <a:stretch>
            <a:fillRect/>
          </a:stretch>
        </p:blipFill>
        <p:spPr>
          <a:xfrm>
            <a:off x="384048" y="1298448"/>
            <a:ext cx="3590543" cy="1828800"/>
          </a:xfrm>
          <a:prstGeom prst="rect">
            <a:avLst/>
          </a:prstGeom>
        </p:spPr>
      </p:pic>
      <p:sp>
        <p:nvSpPr>
          <p:cNvPr id="17" name="Rectangle 16"/>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4294632" y="1298448"/>
            <a:ext cx="3590543" cy="1828800"/>
          </a:xfrm>
          <a:prstGeom prst="rect">
            <a:avLst/>
          </a:prstGeom>
        </p:spPr>
      </p:pic>
      <p:sp>
        <p:nvSpPr>
          <p:cNvPr id="20" name="Rectangle 19"/>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8205215" y="1298448"/>
            <a:ext cx="3590543" cy="1828800"/>
          </a:xfrm>
          <a:prstGeom prst="rect">
            <a:avLst/>
          </a:prstGeom>
        </p:spPr>
      </p:pic>
      <p:sp>
        <p:nvSpPr>
          <p:cNvPr id="23" name="Rectangle 22"/>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6"/>
          <a:stretch>
            <a:fillRect/>
          </a:stretch>
        </p:blipFill>
        <p:spPr>
          <a:xfrm>
            <a:off x="384048" y="3438144"/>
            <a:ext cx="3590543" cy="1828800"/>
          </a:xfrm>
          <a:prstGeom prst="rect">
            <a:avLst/>
          </a:prstGeom>
        </p:spPr>
      </p:pic>
      <p:sp>
        <p:nvSpPr>
          <p:cNvPr id="26" name="Rectangle 25"/>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7"/>
          <a:stretch>
            <a:fillRect/>
          </a:stretch>
        </p:blipFill>
        <p:spPr>
          <a:xfrm>
            <a:off x="4294632" y="3438144"/>
            <a:ext cx="3590543" cy="1828800"/>
          </a:xfrm>
          <a:prstGeom prst="rect">
            <a:avLst/>
          </a:prstGeom>
        </p:spPr>
      </p:pic>
      <p:sp>
        <p:nvSpPr>
          <p:cNvPr id="29" name="Rectangle 28"/>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8"/>
          <a:stretch>
            <a:fillRect/>
          </a:stretch>
        </p:blipFill>
        <p:spPr>
          <a:xfrm>
            <a:off x="8205215" y="3438144"/>
            <a:ext cx="3590543" cy="1828800"/>
          </a:xfrm>
          <a:prstGeom prst="rect">
            <a:avLst/>
          </a:prstGeom>
        </p:spPr>
      </p:pic>
      <p:sp>
        <p:nvSpPr>
          <p:cNvPr id="32" name="Rectangle 31"/>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5" name="TextBox 14"/>
          <p:cNvSpPr txBox="1"/>
          <p:nvPr/>
        </p:nvSpPr>
        <p:spPr>
          <a:xfrm>
            <a:off x="310896" y="1394460"/>
            <a:ext cx="5120640" cy="5029200"/>
          </a:xfrm>
          <a:prstGeom prst="rect">
            <a:avLst/>
          </a:prstGeom>
          <a:noFill/>
        </p:spPr>
        <p:txBody>
          <a:bodyPr wrap="square" lIns="45720" tIns="18288" rIns="45720" bIns="18288" anchor="t">
            <a:spAutoFit/>
          </a:bodyPr>
          <a:lstStyle/>
          <a:p>
            <a:r>
              <a:rPr sz="1200" b="0" dirty="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6" name="TextBox 15"/>
          <p:cNvSpPr txBox="1"/>
          <p:nvPr/>
        </p:nvSpPr>
        <p:spPr>
          <a:xfrm>
            <a:off x="5852160" y="1417320"/>
            <a:ext cx="5882335" cy="5029200"/>
          </a:xfrm>
          <a:prstGeom prst="rect">
            <a:avLst/>
          </a:prstGeom>
          <a:noFill/>
        </p:spPr>
        <p:txBody>
          <a:bodyPr wrap="square" lIns="45720" tIns="18288" rIns="45720" bIns="18288" anchor="t">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5" name="TextBox 14"/>
          <p:cNvSpPr txBox="1"/>
          <p:nvPr/>
        </p:nvSpPr>
        <p:spPr>
          <a:xfrm>
            <a:off x="457200" y="1417320"/>
            <a:ext cx="5486400" cy="5029200"/>
          </a:xfrm>
          <a:prstGeom prst="rect">
            <a:avLst/>
          </a:prstGeom>
          <a:noFill/>
        </p:spPr>
        <p:txBody>
          <a:bodyPr wrap="square" lIns="45720" tIns="18288" rIns="45720" bIns="18288" anchor="t">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6" name="TextBox 15"/>
          <p:cNvSpPr txBox="1"/>
          <p:nvPr/>
        </p:nvSpPr>
        <p:spPr>
          <a:xfrm>
            <a:off x="6217920" y="1417320"/>
            <a:ext cx="5516575" cy="5029200"/>
          </a:xfrm>
          <a:prstGeom prst="rect">
            <a:avLst/>
          </a:prstGeom>
          <a:noFill/>
        </p:spPr>
        <p:txBody>
          <a:bodyPr wrap="square" lIns="45720" tIns="18288" rIns="45720" bIns="18288" anchor="t">
            <a:spAutoFit/>
          </a:bodyPr>
          <a:lstStyle/>
          <a:p>
            <a:pPr>
              <a:spcAft>
                <a:spcPts val="400"/>
              </a:spcAft>
            </a:pPr>
            <a:r>
              <a:rPr sz="1200" b="0" dirty="0">
                <a:solidFill>
                  <a:srgbClr val="111111"/>
                </a:solidFill>
                <a:latin typeface="Calibri"/>
              </a:rPr>
              <a:t>•  Mutual fund penetration at 5-the relevant figure — massive latent opportunity</a:t>
            </a:r>
          </a:p>
          <a:p>
            <a:pPr>
              <a:spcAft>
                <a:spcPts val="400"/>
              </a:spcAft>
            </a:pPr>
            <a:r>
              <a:rPr sz="1200" b="0" dirty="0">
                <a:solidFill>
                  <a:srgbClr val="111111"/>
                </a:solidFill>
                <a:latin typeface="Calibri"/>
              </a:rPr>
              <a:t>•  Financial savings shifting from gold/real estate to financial assets</a:t>
            </a:r>
          </a:p>
          <a:p>
            <a:pPr>
              <a:spcAft>
                <a:spcPts val="400"/>
              </a:spcAft>
            </a:pPr>
            <a:r>
              <a:rPr sz="1200" b="0" dirty="0">
                <a:solidFill>
                  <a:srgbClr val="111111"/>
                </a:solidFill>
                <a:latin typeface="Calibri"/>
              </a:rPr>
              <a:t>•  BSE-listed companies grew from 135 (1995) to 5,328 (Feb 2025)</a:t>
            </a:r>
          </a:p>
          <a:p>
            <a:pPr>
              <a:spcAft>
                <a:spcPts val="400"/>
              </a:spcAft>
            </a:pPr>
            <a:r>
              <a:rPr sz="1200" b="0" dirty="0">
                <a:solidFill>
                  <a:srgbClr val="111111"/>
                </a:solidFill>
                <a:latin typeface="Calibri"/>
              </a:rPr>
              <a:t>•  Private wealth set to be 4th-largest globally by 2028</a:t>
            </a:r>
          </a:p>
          <a:p>
            <a:pPr>
              <a:spcAft>
                <a:spcPts val="400"/>
              </a:spcAft>
            </a:pPr>
            <a:r>
              <a:rPr sz="1200" b="0" dirty="0">
                <a:solidFill>
                  <a:srgbClr val="111111"/>
                </a:solidFill>
                <a:latin typeface="Calibri"/>
              </a:rPr>
              <a:t>•  NBFCs growing at the relevant figure annually with improving asset quality</a:t>
            </a:r>
          </a:p>
          <a:p>
            <a:pPr>
              <a:spcAft>
                <a:spcPts val="400"/>
              </a:spcAft>
            </a:pPr>
            <a:r>
              <a:rPr sz="1200" b="0" dirty="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5" name="TextBox 14"/>
          <p:cNvSpPr txBox="1"/>
          <p:nvPr/>
        </p:nvSpPr>
        <p:spPr>
          <a:xfrm>
            <a:off x="457200" y="1417320"/>
            <a:ext cx="5943600" cy="5029200"/>
          </a:xfrm>
          <a:prstGeom prst="rect">
            <a:avLst/>
          </a:prstGeom>
          <a:noFill/>
        </p:spPr>
        <p:txBody>
          <a:bodyPr wrap="square" lIns="45720" tIns="18288" rIns="45720" bIns="18288" anchor="t">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6" name="Rounded Rectangle 15"/>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73152" tIns="91440" rIns="73152" rtlCol="0" anchor="ctr"/>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7" name="Rounded Rectangle 16"/>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lIns="73152" tIns="91440" rIns="73152" rtlCol="0" anchor="ctr"/>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18" name="Rounded Rectangle 17"/>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lIns="73152" tIns="91440" rIns="73152" rtlCol="0" anchor="ctr"/>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5" name="TextBox 14"/>
          <p:cNvSpPr txBox="1"/>
          <p:nvPr/>
        </p:nvSpPr>
        <p:spPr>
          <a:xfrm>
            <a:off x="457200" y="1417320"/>
            <a:ext cx="11277295" cy="548640"/>
          </a:xfrm>
          <a:prstGeom prst="rect">
            <a:avLst/>
          </a:prstGeom>
          <a:noFill/>
        </p:spPr>
        <p:txBody>
          <a:bodyPr wrap="square" lIns="45720" tIns="18288" rIns="45720" bIns="18288" anchor="t">
            <a:spAutoFit/>
          </a:bodyPr>
          <a:lstStyle/>
          <a:p>
            <a:r>
              <a:rPr sz="1200" b="0">
                <a:solidFill>
                  <a:srgbClr val="111111"/>
                </a:solidFill>
                <a:latin typeface="Calibri"/>
              </a:rPr>
              <a:t>Six themes underpinning the investment view.</a:t>
            </a:r>
          </a:p>
        </p:txBody>
      </p:sp>
      <p:sp>
        <p:nvSpPr>
          <p:cNvPr id="16" name="TextBox 15"/>
          <p:cNvSpPr txBox="1"/>
          <p:nvPr/>
        </p:nvSpPr>
        <p:spPr>
          <a:xfrm>
            <a:off x="457200" y="2103120"/>
            <a:ext cx="11277295" cy="4343400"/>
          </a:xfrm>
          <a:prstGeom prst="rect">
            <a:avLst/>
          </a:prstGeom>
          <a:noFill/>
        </p:spPr>
        <p:txBody>
          <a:bodyPr wrap="square" lIns="45720" tIns="18288" rIns="45720" bIns="18288" anchor="t">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TextBox 14"/>
          <p:cNvSpPr txBox="1"/>
          <p:nvPr/>
        </p:nvSpPr>
        <p:spPr>
          <a:xfrm>
            <a:off x="457200" y="1417320"/>
            <a:ext cx="5486400" cy="5029200"/>
          </a:xfrm>
          <a:prstGeom prst="rect">
            <a:avLst/>
          </a:prstGeom>
          <a:noFill/>
        </p:spPr>
        <p:txBody>
          <a:bodyPr wrap="square" lIns="45720" tIns="18288" rIns="45720" bIns="18288" anchor="t">
            <a:spAutoFit/>
          </a:bodyPr>
          <a:lstStyle/>
          <a:p>
            <a:r>
              <a:rPr sz="1200" b="0" dirty="0">
                <a:solidFill>
                  <a:srgbClr val="111111"/>
                </a:solidFill>
                <a:latin typeface="Calibri"/>
              </a:rPr>
              <a:t>Competitive advantage rests on research depth, integrated distribution, and fee-led platform breadth.</a:t>
            </a:r>
          </a:p>
        </p:txBody>
      </p:sp>
      <p:sp>
        <p:nvSpPr>
          <p:cNvPr id="16" name="TextBox 15"/>
          <p:cNvSpPr txBox="1"/>
          <p:nvPr/>
        </p:nvSpPr>
        <p:spPr>
          <a:xfrm>
            <a:off x="6217920" y="1417320"/>
            <a:ext cx="5516575" cy="5029200"/>
          </a:xfrm>
          <a:prstGeom prst="rect">
            <a:avLst/>
          </a:prstGeom>
          <a:noFill/>
        </p:spPr>
        <p:txBody>
          <a:bodyPr wrap="square" lIns="45720" tIns="18288" rIns="45720" bIns="18288" anchor="t">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TextBox 14"/>
          <p:cNvSpPr txBox="1"/>
          <p:nvPr/>
        </p:nvSpPr>
        <p:spPr>
          <a:xfrm>
            <a:off x="457200" y="1417320"/>
            <a:ext cx="5486400" cy="5029200"/>
          </a:xfrm>
          <a:prstGeom prst="rect">
            <a:avLst/>
          </a:prstGeom>
          <a:noFill/>
        </p:spPr>
        <p:txBody>
          <a:bodyPr wrap="square" lIns="45720" tIns="18288" rIns="45720" bIns="18288" anchor="t">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6" name="TextBox 15"/>
          <p:cNvSpPr txBox="1"/>
          <p:nvPr/>
        </p:nvSpPr>
        <p:spPr>
          <a:xfrm>
            <a:off x="6217920" y="1417320"/>
            <a:ext cx="5516575" cy="5029200"/>
          </a:xfrm>
          <a:prstGeom prst="rect">
            <a:avLst/>
          </a:prstGeom>
          <a:noFill/>
        </p:spPr>
        <p:txBody>
          <a:bodyPr wrap="square" lIns="45720" tIns="18288" rIns="45720" bIns="18288" anchor="t">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graphicFrame>
        <p:nvGraphicFramePr>
          <p:cNvPr id="15" name="Table 14"/>
          <p:cNvGraphicFramePr>
            <a:graphicFrameLocks noGrp="1"/>
          </p:cNvGraphicFramePr>
          <p:nvPr>
            <p:extLst>
              <p:ext uri="{D42A27DB-BD31-4B8C-83A1-F6EECF244321}">
                <p14:modId xmlns:p14="http://schemas.microsoft.com/office/powerpoint/2010/main" val="2821645455"/>
              </p:ext>
            </p:extLst>
          </p:nvPr>
        </p:nvGraphicFramePr>
        <p:xfrm>
          <a:off x="457200" y="1417320"/>
          <a:ext cx="11277292" cy="4924431"/>
        </p:xfrm>
        <a:graphic>
          <a:graphicData uri="http://schemas.openxmlformats.org/drawingml/2006/table">
            <a:tbl>
              <a:tblPr firstRow="1" bandRow="1">
                <a:tableStyleId>{5C22544A-7EE6-4342-B048-85BDC9FD1C3A}</a:tableStyleId>
              </a:tblPr>
              <a:tblGrid>
                <a:gridCol w="2819323">
                  <a:extLst>
                    <a:ext uri="{9D8B030D-6E8A-4147-A177-3AD203B41FA5}">
                      <a16:colId xmlns:a16="http://schemas.microsoft.com/office/drawing/2014/main" val="20000"/>
                    </a:ext>
                  </a:extLst>
                </a:gridCol>
                <a:gridCol w="2819323">
                  <a:extLst>
                    <a:ext uri="{9D8B030D-6E8A-4147-A177-3AD203B41FA5}">
                      <a16:colId xmlns:a16="http://schemas.microsoft.com/office/drawing/2014/main" val="20001"/>
                    </a:ext>
                  </a:extLst>
                </a:gridCol>
                <a:gridCol w="2819323">
                  <a:extLst>
                    <a:ext uri="{9D8B030D-6E8A-4147-A177-3AD203B41FA5}">
                      <a16:colId xmlns:a16="http://schemas.microsoft.com/office/drawing/2014/main" val="20002"/>
                    </a:ext>
                  </a:extLst>
                </a:gridCol>
                <a:gridCol w="2819323">
                  <a:extLst>
                    <a:ext uri="{9D8B030D-6E8A-4147-A177-3AD203B41FA5}">
                      <a16:colId xmlns:a16="http://schemas.microsoft.com/office/drawing/2014/main" val="20003"/>
                    </a:ext>
                  </a:extLst>
                </a:gridCol>
              </a:tblGrid>
              <a:tr h="721539">
                <a:tc>
                  <a:txBody>
                    <a:bodyPr/>
                    <a:lstStyle/>
                    <a:p>
                      <a:r>
                        <a:rPr sz="1400" b="1">
                          <a:solidFill>
                            <a:srgbClr val="FFFFFF"/>
                          </a:solidFill>
                          <a:latin typeface="Calibri"/>
                        </a:rPr>
                        <a:t>Segment</a:t>
                      </a:r>
                    </a:p>
                  </a:txBody>
                  <a:tcPr marL="45720" marR="45720" marT="18288" marB="18288">
                    <a:solidFill>
                      <a:srgbClr val="1F4690"/>
                    </a:solidFill>
                  </a:tcPr>
                </a:tc>
                <a:tc>
                  <a:txBody>
                    <a:bodyPr/>
                    <a:lstStyle/>
                    <a:p>
                      <a:pPr algn="r"/>
                      <a:r>
                        <a:rPr sz="1400" b="1">
                          <a:solidFill>
                            <a:srgbClr val="FFFFFF"/>
                          </a:solidFill>
                          <a:latin typeface="Calibri"/>
                        </a:rPr>
                        <a:t>Scale Metric</a:t>
                      </a:r>
                    </a:p>
                  </a:txBody>
                  <a:tcPr marL="45720" marR="45720" marT="18288" marB="18288">
                    <a:solidFill>
                      <a:srgbClr val="1F4690"/>
                    </a:solidFill>
                  </a:tcPr>
                </a:tc>
                <a:tc>
                  <a:txBody>
                    <a:bodyPr/>
                    <a:lstStyle/>
                    <a:p>
                      <a:pPr algn="r"/>
                      <a:r>
                        <a:rPr sz="1400" b="1">
                          <a:solidFill>
                            <a:srgbClr val="FFFFFF"/>
                          </a:solidFill>
                          <a:latin typeface="Calibri"/>
                        </a:rPr>
                        <a:t>Latest</a:t>
                      </a:r>
                    </a:p>
                  </a:txBody>
                  <a:tcPr marL="45720" marR="45720" marT="18288" marB="18288">
                    <a:solidFill>
                      <a:srgbClr val="1F4690"/>
                    </a:solidFill>
                  </a:tcPr>
                </a:tc>
                <a:tc>
                  <a:txBody>
                    <a:bodyPr/>
                    <a:lstStyle/>
                    <a:p>
                      <a:pPr algn="r"/>
                      <a:r>
                        <a:rPr sz="1400" b="1">
                          <a:solidFill>
                            <a:srgbClr val="FFFFFF"/>
                          </a:solidFill>
                          <a:latin typeface="Calibri"/>
                        </a:rPr>
                        <a:t>Notes</a:t>
                      </a:r>
                    </a:p>
                  </a:txBody>
                  <a:tcPr marL="45720" marR="45720" marT="18288" marB="18288">
                    <a:solidFill>
                      <a:srgbClr val="1F4690"/>
                    </a:solidFill>
                  </a:tcPr>
                </a:tc>
                <a:extLst>
                  <a:ext uri="{0D108BD9-81ED-4DB2-BD59-A6C34878D82A}">
                    <a16:rowId xmlns:a16="http://schemas.microsoft.com/office/drawing/2014/main" val="10000"/>
                  </a:ext>
                </a:extLst>
              </a:tr>
              <a:tr h="1133471">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dirty="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extLst>
                  <a:ext uri="{0D108BD9-81ED-4DB2-BD59-A6C34878D82A}">
                    <a16:rowId xmlns:a16="http://schemas.microsoft.com/office/drawing/2014/main" val="10001"/>
                  </a:ext>
                </a:extLst>
              </a:tr>
              <a:tr h="721539">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extLst>
                  <a:ext uri="{0D108BD9-81ED-4DB2-BD59-A6C34878D82A}">
                    <a16:rowId xmlns:a16="http://schemas.microsoft.com/office/drawing/2014/main" val="10002"/>
                  </a:ext>
                </a:extLst>
              </a:tr>
              <a:tr h="721539">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extLst>
                  <a:ext uri="{0D108BD9-81ED-4DB2-BD59-A6C34878D82A}">
                    <a16:rowId xmlns:a16="http://schemas.microsoft.com/office/drawing/2014/main" val="10003"/>
                  </a:ext>
                </a:extLst>
              </a:tr>
              <a:tr h="721539">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extLst>
                  <a:ext uri="{0D108BD9-81ED-4DB2-BD59-A6C34878D82A}">
                    <a16:rowId xmlns:a16="http://schemas.microsoft.com/office/drawing/2014/main" val="10004"/>
                  </a:ext>
                </a:extLst>
              </a:tr>
              <a:tr h="721539">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dirty="0">
                          <a:solidFill>
                            <a:srgbClr val="111111"/>
                          </a:solidFill>
                          <a:latin typeface="Calibri"/>
                        </a:rPr>
                        <a:t>Private credit, real estate, alternatives.</a:t>
                      </a:r>
                    </a:p>
                  </a:txBody>
                  <a:tcPr marL="45720" marR="45720" marT="18288" marB="18288">
                    <a:solidFill>
                      <a:srgbClr val="F4F6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5" name="TextBox 14"/>
          <p:cNvSpPr txBox="1"/>
          <p:nvPr/>
        </p:nvSpPr>
        <p:spPr>
          <a:xfrm>
            <a:off x="457200" y="1417320"/>
            <a:ext cx="11277295" cy="640080"/>
          </a:xfrm>
          <a:prstGeom prst="rect">
            <a:avLst/>
          </a:prstGeom>
          <a:noFill/>
        </p:spPr>
        <p:txBody>
          <a:bodyPr wrap="square" lIns="45720" tIns="18288" rIns="45720" bIns="18288" anchor="t">
            <a:spAutoFit/>
          </a:bodyPr>
          <a:lstStyle/>
          <a:p>
            <a:r>
              <a:rPr sz="1200" b="0">
                <a:solidFill>
                  <a:srgbClr val="111111"/>
                </a:solidFill>
                <a:latin typeface="Calibri"/>
              </a:rPr>
              <a:t>Founder-led leadership with deep institutional DNA.</a:t>
            </a:r>
          </a:p>
        </p:txBody>
      </p:sp>
      <p:graphicFrame>
        <p:nvGraphicFramePr>
          <p:cNvPr id="16" name="Table 15"/>
          <p:cNvGraphicFramePr>
            <a:graphicFrameLocks noGrp="1"/>
          </p:cNvGraphicFramePr>
          <p:nvPr>
            <p:extLst>
              <p:ext uri="{D42A27DB-BD31-4B8C-83A1-F6EECF244321}">
                <p14:modId xmlns:p14="http://schemas.microsoft.com/office/powerpoint/2010/main" val="366315506"/>
              </p:ext>
            </p:extLst>
          </p:nvPr>
        </p:nvGraphicFramePr>
        <p:xfrm>
          <a:off x="457200" y="1906524"/>
          <a:ext cx="11277294" cy="4469472"/>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8">
                  <a:extLst>
                    <a:ext uri="{9D8B030D-6E8A-4147-A177-3AD203B41FA5}">
                      <a16:colId xmlns:a16="http://schemas.microsoft.com/office/drawing/2014/main" val="20002"/>
                    </a:ext>
                  </a:extLst>
                </a:gridCol>
              </a:tblGrid>
              <a:tr h="754240">
                <a:tc>
                  <a:txBody>
                    <a:bodyPr/>
                    <a:lstStyle/>
                    <a:p>
                      <a:r>
                        <a:rPr sz="1400" b="1" dirty="0">
                          <a:solidFill>
                            <a:srgbClr val="FFFFFF"/>
                          </a:solidFill>
                          <a:latin typeface="Calibri"/>
                        </a:rPr>
                        <a:t>Name</a:t>
                      </a:r>
                    </a:p>
                  </a:txBody>
                  <a:tcPr marL="45720" marR="45720" marT="18288" marB="18288">
                    <a:solidFill>
                      <a:srgbClr val="1F4690"/>
                    </a:solidFill>
                  </a:tcPr>
                </a:tc>
                <a:tc>
                  <a:txBody>
                    <a:bodyPr/>
                    <a:lstStyle/>
                    <a:p>
                      <a:pPr algn="r"/>
                      <a:r>
                        <a:rPr sz="1400" b="1">
                          <a:solidFill>
                            <a:srgbClr val="FFFFFF"/>
                          </a:solidFill>
                          <a:latin typeface="Calibri"/>
                        </a:rPr>
                        <a:t>Role</a:t>
                      </a:r>
                    </a:p>
                  </a:txBody>
                  <a:tcPr marL="45720" marR="45720" marT="18288" marB="18288">
                    <a:solidFill>
                      <a:srgbClr val="1F4690"/>
                    </a:solidFill>
                  </a:tcPr>
                </a:tc>
                <a:tc>
                  <a:txBody>
                    <a:bodyPr/>
                    <a:lstStyle/>
                    <a:p>
                      <a:pPr algn="r"/>
                      <a:r>
                        <a:rPr sz="1400" b="1">
                          <a:solidFill>
                            <a:srgbClr val="FFFFFF"/>
                          </a:solidFill>
                          <a:latin typeface="Calibri"/>
                        </a:rPr>
                        <a:t>Background</a:t>
                      </a:r>
                    </a:p>
                  </a:txBody>
                  <a:tcPr marL="45720" marR="45720" marT="18288" marB="18288">
                    <a:solidFill>
                      <a:srgbClr val="1F4690"/>
                    </a:solidFill>
                  </a:tcPr>
                </a:tc>
                <a:extLst>
                  <a:ext uri="{0D108BD9-81ED-4DB2-BD59-A6C34878D82A}">
                    <a16:rowId xmlns:a16="http://schemas.microsoft.com/office/drawing/2014/main" val="10000"/>
                  </a:ext>
                </a:extLst>
              </a:tr>
              <a:tr h="978619">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extLst>
                  <a:ext uri="{0D108BD9-81ED-4DB2-BD59-A6C34878D82A}">
                    <a16:rowId xmlns:a16="http://schemas.microsoft.com/office/drawing/2014/main" val="10001"/>
                  </a:ext>
                </a:extLst>
              </a:tr>
              <a:tr h="978619">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extLst>
                  <a:ext uri="{0D108BD9-81ED-4DB2-BD59-A6C34878D82A}">
                    <a16:rowId xmlns:a16="http://schemas.microsoft.com/office/drawing/2014/main" val="10002"/>
                  </a:ext>
                </a:extLst>
              </a:tr>
              <a:tr h="754240">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extLst>
                  <a:ext uri="{0D108BD9-81ED-4DB2-BD59-A6C34878D82A}">
                    <a16:rowId xmlns:a16="http://schemas.microsoft.com/office/drawing/2014/main" val="10003"/>
                  </a:ext>
                </a:extLst>
              </a:tr>
              <a:tr h="754240">
                <a:tc>
                  <a:txBody>
                    <a:bodyPr/>
                    <a:lstStyle/>
                    <a:p>
                      <a:r>
                        <a:rPr sz="1400" b="1" dirty="0">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dirty="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5" name="TextBox 14"/>
          <p:cNvSpPr txBox="1"/>
          <p:nvPr/>
        </p:nvSpPr>
        <p:spPr>
          <a:xfrm>
            <a:off x="457200" y="1417320"/>
            <a:ext cx="11277295" cy="822960"/>
          </a:xfrm>
          <a:prstGeom prst="rect">
            <a:avLst/>
          </a:prstGeom>
          <a:noFill/>
        </p:spPr>
        <p:txBody>
          <a:bodyPr wrap="square" lIns="45720" tIns="18288" rIns="45720" bIns="18288" anchor="t">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6" name="Table 15"/>
          <p:cNvGraphicFramePr>
            <a:graphicFrameLocks noGrp="1"/>
          </p:cNvGraphicFramePr>
          <p:nvPr>
            <p:extLst>
              <p:ext uri="{D42A27DB-BD31-4B8C-83A1-F6EECF244321}">
                <p14:modId xmlns:p14="http://schemas.microsoft.com/office/powerpoint/2010/main" val="3904392367"/>
              </p:ext>
            </p:extLst>
          </p:nvPr>
        </p:nvGraphicFramePr>
        <p:xfrm>
          <a:off x="457200" y="2377440"/>
          <a:ext cx="11277294" cy="4016564"/>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8">
                  <a:extLst>
                    <a:ext uri="{9D8B030D-6E8A-4147-A177-3AD203B41FA5}">
                      <a16:colId xmlns:a16="http://schemas.microsoft.com/office/drawing/2014/main" val="20002"/>
                    </a:ext>
                  </a:extLst>
                </a:gridCol>
              </a:tblGrid>
              <a:tr h="548290">
                <a:tc>
                  <a:txBody>
                    <a:bodyPr/>
                    <a:lstStyle/>
                    <a:p>
                      <a:r>
                        <a:rPr sz="1400" b="1">
                          <a:solidFill>
                            <a:srgbClr val="FFFFFF"/>
                          </a:solidFill>
                          <a:latin typeface="Calibri"/>
                        </a:rPr>
                        <a:t>Matter</a:t>
                      </a:r>
                    </a:p>
                  </a:txBody>
                  <a:tcPr marL="45720" marR="45720" marT="18288" marB="18288">
                    <a:solidFill>
                      <a:srgbClr val="1F4690"/>
                    </a:solidFill>
                  </a:tcPr>
                </a:tc>
                <a:tc>
                  <a:txBody>
                    <a:bodyPr/>
                    <a:lstStyle/>
                    <a:p>
                      <a:pPr algn="r"/>
                      <a:r>
                        <a:rPr sz="1400" b="1">
                          <a:solidFill>
                            <a:srgbClr val="FFFFFF"/>
                          </a:solidFill>
                          <a:latin typeface="Calibri"/>
                        </a:rPr>
                        <a:t>Description</a:t>
                      </a:r>
                    </a:p>
                  </a:txBody>
                  <a:tcPr marL="45720" marR="45720" marT="18288" marB="18288">
                    <a:solidFill>
                      <a:srgbClr val="1F4690"/>
                    </a:solidFill>
                  </a:tcPr>
                </a:tc>
                <a:tc>
                  <a:txBody>
                    <a:bodyPr/>
                    <a:lstStyle/>
                    <a:p>
                      <a:pPr algn="r"/>
                      <a:r>
                        <a:rPr sz="1400" b="1">
                          <a:solidFill>
                            <a:srgbClr val="FFFFFF"/>
                          </a:solidFill>
                          <a:latin typeface="Calibri"/>
                        </a:rPr>
                        <a:t>Severity</a:t>
                      </a:r>
                    </a:p>
                  </a:txBody>
                  <a:tcPr marL="45720" marR="45720" marT="18288" marB="18288">
                    <a:solidFill>
                      <a:srgbClr val="1F4690"/>
                    </a:solidFill>
                  </a:tcPr>
                </a:tc>
                <a:extLst>
                  <a:ext uri="{0D108BD9-81ED-4DB2-BD59-A6C34878D82A}">
                    <a16:rowId xmlns:a16="http://schemas.microsoft.com/office/drawing/2014/main" val="10000"/>
                  </a:ext>
                </a:extLst>
              </a:tr>
              <a:tr h="54829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extLst>
                  <a:ext uri="{0D108BD9-81ED-4DB2-BD59-A6C34878D82A}">
                    <a16:rowId xmlns:a16="http://schemas.microsoft.com/office/drawing/2014/main" val="10001"/>
                  </a:ext>
                </a:extLst>
              </a:tr>
              <a:tr h="54829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extLst>
                  <a:ext uri="{0D108BD9-81ED-4DB2-BD59-A6C34878D82A}">
                    <a16:rowId xmlns:a16="http://schemas.microsoft.com/office/drawing/2014/main" val="10002"/>
                  </a:ext>
                </a:extLst>
              </a:tr>
              <a:tr h="719554">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extLst>
                  <a:ext uri="{0D108BD9-81ED-4DB2-BD59-A6C34878D82A}">
                    <a16:rowId xmlns:a16="http://schemas.microsoft.com/office/drawing/2014/main" val="10003"/>
                  </a:ext>
                </a:extLst>
              </a:tr>
              <a:tr h="54829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dirty="0">
                          <a:solidFill>
                            <a:srgbClr val="111111"/>
                          </a:solidFill>
                          <a:latin typeface="Calibri"/>
                        </a:rPr>
                        <a:t>High (Historical)</a:t>
                      </a:r>
                    </a:p>
                  </a:txBody>
                  <a:tcPr marL="45720" marR="45720" marT="18288" marB="18288">
                    <a:solidFill>
                      <a:srgbClr val="FFFFFF"/>
                    </a:solidFill>
                  </a:tcPr>
                </a:tc>
                <a:extLst>
                  <a:ext uri="{0D108BD9-81ED-4DB2-BD59-A6C34878D82A}">
                    <a16:rowId xmlns:a16="http://schemas.microsoft.com/office/drawing/2014/main" val="10004"/>
                  </a:ext>
                </a:extLst>
              </a:tr>
              <a:tr h="548290">
                <a:tc>
                  <a:txBody>
                    <a:bodyPr/>
                    <a:lstStyle/>
                    <a:p>
                      <a:r>
                        <a:rPr sz="1400" b="1" dirty="0">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dirty="0">
                          <a:solidFill>
                            <a:srgbClr val="111111"/>
                          </a:solidFill>
                          <a:latin typeface="Calibri"/>
                        </a:rPr>
                        <a:t>Medium</a:t>
                      </a:r>
                    </a:p>
                  </a:txBody>
                  <a:tcPr marL="45720" marR="45720" marT="18288" marB="18288">
                    <a:solidFill>
                      <a:srgbClr val="F4F6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graphicFrame>
        <p:nvGraphicFramePr>
          <p:cNvPr id="15" name="Table 14"/>
          <p:cNvGraphicFramePr>
            <a:graphicFrameLocks noGrp="1"/>
          </p:cNvGraphicFramePr>
          <p:nvPr>
            <p:extLst>
              <p:ext uri="{D42A27DB-BD31-4B8C-83A1-F6EECF244321}">
                <p14:modId xmlns:p14="http://schemas.microsoft.com/office/powerpoint/2010/main" val="4136724394"/>
              </p:ext>
            </p:extLst>
          </p:nvPr>
        </p:nvGraphicFramePr>
        <p:xfrm>
          <a:off x="457200" y="1417320"/>
          <a:ext cx="11277294" cy="4855464"/>
        </p:xfrm>
        <a:graphic>
          <a:graphicData uri="http://schemas.openxmlformats.org/drawingml/2006/table">
            <a:tbl>
              <a:tblPr firstRow="1" bandRow="1">
                <a:tableStyleId>{5C22544A-7EE6-4342-B048-85BDC9FD1C3A}</a:tableStyleId>
              </a:tblPr>
              <a:tblGrid>
                <a:gridCol w="5638647">
                  <a:extLst>
                    <a:ext uri="{9D8B030D-6E8A-4147-A177-3AD203B41FA5}">
                      <a16:colId xmlns:a16="http://schemas.microsoft.com/office/drawing/2014/main" val="20000"/>
                    </a:ext>
                  </a:extLst>
                </a:gridCol>
                <a:gridCol w="5638647">
                  <a:extLst>
                    <a:ext uri="{9D8B030D-6E8A-4147-A177-3AD203B41FA5}">
                      <a16:colId xmlns:a16="http://schemas.microsoft.com/office/drawing/2014/main" val="20001"/>
                    </a:ext>
                  </a:extLst>
                </a:gridCol>
              </a:tblGrid>
              <a:tr h="606933">
                <a:tc>
                  <a:txBody>
                    <a:bodyPr/>
                    <a:lstStyle/>
                    <a:p>
                      <a:r>
                        <a:rPr sz="1400" b="1">
                          <a:solidFill>
                            <a:srgbClr val="FFFFFF"/>
                          </a:solidFill>
                          <a:latin typeface="Calibri"/>
                        </a:rPr>
                        <a:t>Period</a:t>
                      </a:r>
                    </a:p>
                  </a:txBody>
                  <a:tcPr marL="45720" marR="45720" marT="18288" marB="18288">
                    <a:solidFill>
                      <a:srgbClr val="1F4690"/>
                    </a:solidFill>
                  </a:tcPr>
                </a:tc>
                <a:tc>
                  <a:txBody>
                    <a:bodyPr/>
                    <a:lstStyle/>
                    <a:p>
                      <a:pPr algn="r"/>
                      <a:r>
                        <a:rPr sz="1400" b="1">
                          <a:solidFill>
                            <a:srgbClr val="FFFFFF"/>
                          </a:solidFill>
                          <a:latin typeface="Calibri"/>
                        </a:rPr>
                        <a:t>Revenue</a:t>
                      </a:r>
                    </a:p>
                  </a:txBody>
                  <a:tcPr marL="45720" marR="45720" marT="18288" marB="18288">
                    <a:solidFill>
                      <a:srgbClr val="1F4690"/>
                    </a:solidFill>
                  </a:tcPr>
                </a:tc>
                <a:extLst>
                  <a:ext uri="{0D108BD9-81ED-4DB2-BD59-A6C34878D82A}">
                    <a16:rowId xmlns:a16="http://schemas.microsoft.com/office/drawing/2014/main" val="10000"/>
                  </a:ext>
                </a:extLst>
              </a:tr>
              <a:tr h="606933">
                <a:tc>
                  <a:txBody>
                    <a:bodyPr/>
                    <a:lstStyle/>
                    <a:p>
                      <a:r>
                        <a:rPr sz="1400" b="1" dirty="0">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extLst>
                  <a:ext uri="{0D108BD9-81ED-4DB2-BD59-A6C34878D82A}">
                    <a16:rowId xmlns:a16="http://schemas.microsoft.com/office/drawing/2014/main" val="10001"/>
                  </a:ext>
                </a:extLst>
              </a:tr>
              <a:tr h="606933">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extLst>
                  <a:ext uri="{0D108BD9-81ED-4DB2-BD59-A6C34878D82A}">
                    <a16:rowId xmlns:a16="http://schemas.microsoft.com/office/drawing/2014/main" val="10002"/>
                  </a:ext>
                </a:extLst>
              </a:tr>
              <a:tr h="606933">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extLst>
                  <a:ext uri="{0D108BD9-81ED-4DB2-BD59-A6C34878D82A}">
                    <a16:rowId xmlns:a16="http://schemas.microsoft.com/office/drawing/2014/main" val="10003"/>
                  </a:ext>
                </a:extLst>
              </a:tr>
              <a:tr h="606933">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extLst>
                  <a:ext uri="{0D108BD9-81ED-4DB2-BD59-A6C34878D82A}">
                    <a16:rowId xmlns:a16="http://schemas.microsoft.com/office/drawing/2014/main" val="10004"/>
                  </a:ext>
                </a:extLst>
              </a:tr>
              <a:tr h="606933">
                <a:tc>
                  <a:txBody>
                    <a:bodyPr/>
                    <a:lstStyle/>
                    <a:p>
                      <a:r>
                        <a:rPr sz="1400" b="1" dirty="0">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extLst>
                  <a:ext uri="{0D108BD9-81ED-4DB2-BD59-A6C34878D82A}">
                    <a16:rowId xmlns:a16="http://schemas.microsoft.com/office/drawing/2014/main" val="10005"/>
                  </a:ext>
                </a:extLst>
              </a:tr>
              <a:tr h="606933">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dirty="0">
                          <a:solidFill>
                            <a:srgbClr val="111111"/>
                          </a:solidFill>
                          <a:latin typeface="Calibri"/>
                        </a:rPr>
                        <a:t>₹12,973.0 Cr</a:t>
                      </a:r>
                    </a:p>
                  </a:txBody>
                  <a:tcPr marL="45720" marR="45720" marT="18288" marB="18288">
                    <a:solidFill>
                      <a:srgbClr val="FFFFFF"/>
                    </a:solidFill>
                  </a:tcPr>
                </a:tc>
                <a:extLst>
                  <a:ext uri="{0D108BD9-81ED-4DB2-BD59-A6C34878D82A}">
                    <a16:rowId xmlns:a16="http://schemas.microsoft.com/office/drawing/2014/main" val="10006"/>
                  </a:ext>
                </a:extLst>
              </a:tr>
              <a:tr h="606933">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dirty="0">
                          <a:solidFill>
                            <a:srgbClr val="111111"/>
                          </a:solidFill>
                          <a:latin typeface="Calibri"/>
                        </a:rPr>
                        <a:t>₹16,181.0 Cr</a:t>
                      </a:r>
                    </a:p>
                  </a:txBody>
                  <a:tcPr marL="45720" marR="45720" marT="18288" marB="18288">
                    <a:solidFill>
                      <a:srgbClr val="F4F6F9"/>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5" name="TextBox 14"/>
          <p:cNvSpPr txBox="1"/>
          <p:nvPr/>
        </p:nvSpPr>
        <p:spPr>
          <a:xfrm>
            <a:off x="457200" y="1417320"/>
            <a:ext cx="11277295" cy="640080"/>
          </a:xfrm>
          <a:prstGeom prst="rect">
            <a:avLst/>
          </a:prstGeom>
          <a:noFill/>
        </p:spPr>
        <p:txBody>
          <a:bodyPr wrap="square" lIns="45720" tIns="18288" rIns="45720" bIns="18288" anchor="t">
            <a:spAutoFit/>
          </a:bodyPr>
          <a:lstStyle/>
          <a:p>
            <a:r>
              <a:rPr sz="1200" b="0">
                <a:solidFill>
                  <a:srgbClr val="111111"/>
                </a:solidFill>
                <a:latin typeface="Calibri"/>
              </a:rPr>
              <a:t>Recent quarterly trajectory showing the variability inherent to the cyclical revenue base.</a:t>
            </a:r>
          </a:p>
        </p:txBody>
      </p:sp>
      <p:graphicFrame>
        <p:nvGraphicFramePr>
          <p:cNvPr id="16" name="Table 15"/>
          <p:cNvGraphicFramePr>
            <a:graphicFrameLocks noGrp="1"/>
          </p:cNvGraphicFramePr>
          <p:nvPr>
            <p:extLst>
              <p:ext uri="{D42A27DB-BD31-4B8C-83A1-F6EECF244321}">
                <p14:modId xmlns:p14="http://schemas.microsoft.com/office/powerpoint/2010/main" val="2603298295"/>
              </p:ext>
            </p:extLst>
          </p:nvPr>
        </p:nvGraphicFramePr>
        <p:xfrm>
          <a:off x="457200" y="2194560"/>
          <a:ext cx="11277294" cy="3794760"/>
        </p:xfrm>
        <a:graphic>
          <a:graphicData uri="http://schemas.openxmlformats.org/drawingml/2006/table">
            <a:tbl>
              <a:tblPr firstRow="1" bandRow="1">
                <a:tableStyleId>{5C22544A-7EE6-4342-B048-85BDC9FD1C3A}</a:tableStyleId>
              </a:tblPr>
              <a:tblGrid>
                <a:gridCol w="5638647">
                  <a:extLst>
                    <a:ext uri="{9D8B030D-6E8A-4147-A177-3AD203B41FA5}">
                      <a16:colId xmlns:a16="http://schemas.microsoft.com/office/drawing/2014/main" val="20000"/>
                    </a:ext>
                  </a:extLst>
                </a:gridCol>
                <a:gridCol w="5638647">
                  <a:extLst>
                    <a:ext uri="{9D8B030D-6E8A-4147-A177-3AD203B41FA5}">
                      <a16:colId xmlns:a16="http://schemas.microsoft.com/office/drawing/2014/main" val="20001"/>
                    </a:ext>
                  </a:extLst>
                </a:gridCol>
              </a:tblGrid>
              <a:tr h="632460">
                <a:tc>
                  <a:txBody>
                    <a:bodyPr/>
                    <a:lstStyle/>
                    <a:p>
                      <a:r>
                        <a:rPr sz="1400" b="1">
                          <a:solidFill>
                            <a:srgbClr val="FFFFFF"/>
                          </a:solidFill>
                          <a:latin typeface="Calibri"/>
                        </a:rPr>
                        <a:t>Quarter</a:t>
                      </a:r>
                    </a:p>
                  </a:txBody>
                  <a:tcPr marL="45720" marR="45720" marT="18288" marB="18288">
                    <a:solidFill>
                      <a:srgbClr val="1F4690"/>
                    </a:solidFill>
                  </a:tcPr>
                </a:tc>
                <a:tc>
                  <a:txBody>
                    <a:bodyPr/>
                    <a:lstStyle/>
                    <a:p>
                      <a:pPr algn="r"/>
                      <a:r>
                        <a:rPr sz="1400" b="1">
                          <a:solidFill>
                            <a:srgbClr val="FFFFFF"/>
                          </a:solidFill>
                          <a:latin typeface="Calibri"/>
                        </a:rPr>
                        <a:t>PAT</a:t>
                      </a:r>
                    </a:p>
                  </a:txBody>
                  <a:tcPr marL="45720" marR="45720" marT="18288" marB="18288">
                    <a:solidFill>
                      <a:srgbClr val="1F4690"/>
                    </a:solidFill>
                  </a:tcPr>
                </a:tc>
                <a:extLst>
                  <a:ext uri="{0D108BD9-81ED-4DB2-BD59-A6C34878D82A}">
                    <a16:rowId xmlns:a16="http://schemas.microsoft.com/office/drawing/2014/main" val="10000"/>
                  </a:ext>
                </a:extLst>
              </a:tr>
              <a:tr h="6324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extLst>
                  <a:ext uri="{0D108BD9-81ED-4DB2-BD59-A6C34878D82A}">
                    <a16:rowId xmlns:a16="http://schemas.microsoft.com/office/drawing/2014/main" val="10001"/>
                  </a:ext>
                </a:extLst>
              </a:tr>
              <a:tr h="6324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extLst>
                  <a:ext uri="{0D108BD9-81ED-4DB2-BD59-A6C34878D82A}">
                    <a16:rowId xmlns:a16="http://schemas.microsoft.com/office/drawing/2014/main" val="10002"/>
                  </a:ext>
                </a:extLst>
              </a:tr>
              <a:tr h="6324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dirty="0">
                          <a:solidFill>
                            <a:srgbClr val="111111"/>
                          </a:solidFill>
                          <a:latin typeface="Calibri"/>
                        </a:rPr>
                        <a:t>₹545.0 Cr</a:t>
                      </a:r>
                    </a:p>
                  </a:txBody>
                  <a:tcPr marL="45720" marR="45720" marT="18288" marB="18288">
                    <a:solidFill>
                      <a:srgbClr val="F4F6F9"/>
                    </a:solidFill>
                  </a:tcPr>
                </a:tc>
                <a:extLst>
                  <a:ext uri="{0D108BD9-81ED-4DB2-BD59-A6C34878D82A}">
                    <a16:rowId xmlns:a16="http://schemas.microsoft.com/office/drawing/2014/main" val="10003"/>
                  </a:ext>
                </a:extLst>
              </a:tr>
              <a:tr h="6324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extLst>
                  <a:ext uri="{0D108BD9-81ED-4DB2-BD59-A6C34878D82A}">
                    <a16:rowId xmlns:a16="http://schemas.microsoft.com/office/drawing/2014/main" val="10004"/>
                  </a:ext>
                </a:extLst>
              </a:tr>
              <a:tr h="6324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dirty="0">
                          <a:solidFill>
                            <a:srgbClr val="111111"/>
                          </a:solidFill>
                          <a:latin typeface="Calibri"/>
                        </a:rPr>
                        <a:t>₹401.0 Cr</a:t>
                      </a:r>
                    </a:p>
                  </a:txBody>
                  <a:tcPr marL="45720" marR="45720" marT="18288" marB="18288">
                    <a:solidFill>
                      <a:srgbClr val="F4F6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TextBox 14"/>
          <p:cNvSpPr txBox="1"/>
          <p:nvPr/>
        </p:nvSpPr>
        <p:spPr>
          <a:xfrm>
            <a:off x="457200" y="1417320"/>
            <a:ext cx="11277295" cy="640080"/>
          </a:xfrm>
          <a:prstGeom prst="rect">
            <a:avLst/>
          </a:prstGeom>
          <a:noFill/>
        </p:spPr>
        <p:txBody>
          <a:bodyPr wrap="square" lIns="45720" tIns="18288" rIns="45720" bIns="18288" anchor="t">
            <a:spAutoFit/>
          </a:bodyPr>
          <a:lstStyle/>
          <a:p>
            <a:r>
              <a:rPr sz="1200" b="0">
                <a:solidFill>
                  <a:srgbClr val="111111"/>
                </a:solidFill>
                <a:latin typeface="Calibri"/>
              </a:rPr>
              <a:t>Margin and return profile across the forecast period.</a:t>
            </a:r>
          </a:p>
        </p:txBody>
      </p:sp>
      <p:graphicFrame>
        <p:nvGraphicFramePr>
          <p:cNvPr id="16" name="Table 15"/>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extLst>
                    <a:ext uri="{9D8B030D-6E8A-4147-A177-3AD203B41FA5}">
                      <a16:colId xmlns:a16="http://schemas.microsoft.com/office/drawing/2014/main" val="20000"/>
                    </a:ext>
                  </a:extLst>
                </a:gridCol>
                <a:gridCol w="1409661">
                  <a:extLst>
                    <a:ext uri="{9D8B030D-6E8A-4147-A177-3AD203B41FA5}">
                      <a16:colId xmlns:a16="http://schemas.microsoft.com/office/drawing/2014/main" val="20001"/>
                    </a:ext>
                  </a:extLst>
                </a:gridCol>
                <a:gridCol w="1409661">
                  <a:extLst>
                    <a:ext uri="{9D8B030D-6E8A-4147-A177-3AD203B41FA5}">
                      <a16:colId xmlns:a16="http://schemas.microsoft.com/office/drawing/2014/main" val="20002"/>
                    </a:ext>
                  </a:extLst>
                </a:gridCol>
                <a:gridCol w="1409661">
                  <a:extLst>
                    <a:ext uri="{9D8B030D-6E8A-4147-A177-3AD203B41FA5}">
                      <a16:colId xmlns:a16="http://schemas.microsoft.com/office/drawing/2014/main" val="20003"/>
                    </a:ext>
                  </a:extLst>
                </a:gridCol>
                <a:gridCol w="1409661">
                  <a:extLst>
                    <a:ext uri="{9D8B030D-6E8A-4147-A177-3AD203B41FA5}">
                      <a16:colId xmlns:a16="http://schemas.microsoft.com/office/drawing/2014/main" val="20004"/>
                    </a:ext>
                  </a:extLst>
                </a:gridCol>
                <a:gridCol w="1409661">
                  <a:extLst>
                    <a:ext uri="{9D8B030D-6E8A-4147-A177-3AD203B41FA5}">
                      <a16:colId xmlns:a16="http://schemas.microsoft.com/office/drawing/2014/main" val="20005"/>
                    </a:ext>
                  </a:extLst>
                </a:gridCol>
                <a:gridCol w="1409661">
                  <a:extLst>
                    <a:ext uri="{9D8B030D-6E8A-4147-A177-3AD203B41FA5}">
                      <a16:colId xmlns:a16="http://schemas.microsoft.com/office/drawing/2014/main" val="20006"/>
                    </a:ext>
                  </a:extLst>
                </a:gridCol>
                <a:gridCol w="1409661">
                  <a:extLst>
                    <a:ext uri="{9D8B030D-6E8A-4147-A177-3AD203B41FA5}">
                      <a16:colId xmlns:a16="http://schemas.microsoft.com/office/drawing/2014/main" val="20007"/>
                    </a:ext>
                  </a:extLst>
                </a:gridCol>
              </a:tblGrid>
              <a:tr h="472440">
                <a:tc>
                  <a:txBody>
                    <a:bodyPr/>
                    <a:lstStyle/>
                    <a:p>
                      <a:r>
                        <a:rPr sz="1200" b="1">
                          <a:solidFill>
                            <a:srgbClr val="FFFFFF"/>
                          </a:solidFill>
                          <a:latin typeface="Calibri"/>
                        </a:rPr>
                        <a:t>Ratio</a:t>
                      </a:r>
                    </a:p>
                  </a:txBody>
                  <a:tcPr marL="45720" marR="45720" marT="18288" marB="18288">
                    <a:solidFill>
                      <a:srgbClr val="1F4690"/>
                    </a:solidFill>
                  </a:tcPr>
                </a:tc>
                <a:tc>
                  <a:txBody>
                    <a:bodyPr/>
                    <a:lstStyle/>
                    <a:p>
                      <a:pPr algn="r"/>
                      <a:r>
                        <a:rPr sz="1200" b="1">
                          <a:solidFill>
                            <a:srgbClr val="FFFFFF"/>
                          </a:solidFill>
                          <a:latin typeface="Calibri"/>
                        </a:rPr>
                        <a:t>FY22A</a:t>
                      </a:r>
                    </a:p>
                  </a:txBody>
                  <a:tcPr marL="45720" marR="45720" marT="18288" marB="18288">
                    <a:solidFill>
                      <a:srgbClr val="1F4690"/>
                    </a:solidFill>
                  </a:tcPr>
                </a:tc>
                <a:tc>
                  <a:txBody>
                    <a:bodyPr/>
                    <a:lstStyle/>
                    <a:p>
                      <a:pPr algn="r"/>
                      <a:r>
                        <a:rPr sz="1200" b="1">
                          <a:solidFill>
                            <a:srgbClr val="FFFFFF"/>
                          </a:solidFill>
                          <a:latin typeface="Calibri"/>
                        </a:rPr>
                        <a:t>FY23A</a:t>
                      </a:r>
                    </a:p>
                  </a:txBody>
                  <a:tcPr marL="45720" marR="45720" marT="18288" marB="18288">
                    <a:solidFill>
                      <a:srgbClr val="1F4690"/>
                    </a:solidFill>
                  </a:tcPr>
                </a:tc>
                <a:tc>
                  <a:txBody>
                    <a:bodyPr/>
                    <a:lstStyle/>
                    <a:p>
                      <a:pPr algn="r"/>
                      <a:r>
                        <a:rPr sz="1200" b="1">
                          <a:solidFill>
                            <a:srgbClr val="FFFFFF"/>
                          </a:solidFill>
                          <a:latin typeface="Calibri"/>
                        </a:rPr>
                        <a:t>FY24A</a:t>
                      </a:r>
                    </a:p>
                  </a:txBody>
                  <a:tcPr marL="45720" marR="45720" marT="18288" marB="18288">
                    <a:solidFill>
                      <a:srgbClr val="1F4690"/>
                    </a:solidFill>
                  </a:tcPr>
                </a:tc>
                <a:tc>
                  <a:txBody>
                    <a:bodyPr/>
                    <a:lstStyle/>
                    <a:p>
                      <a:pPr algn="r"/>
                      <a:r>
                        <a:rPr sz="1200" b="1">
                          <a:solidFill>
                            <a:srgbClr val="FFFFFF"/>
                          </a:solidFill>
                          <a:latin typeface="Calibri"/>
                        </a:rPr>
                        <a:t>FY25A</a:t>
                      </a:r>
                    </a:p>
                  </a:txBody>
                  <a:tcPr marL="45720" marR="45720" marT="18288" marB="18288">
                    <a:solidFill>
                      <a:srgbClr val="1F4690"/>
                    </a:solidFill>
                  </a:tcPr>
                </a:tc>
                <a:tc>
                  <a:txBody>
                    <a:bodyPr/>
                    <a:lstStyle/>
                    <a:p>
                      <a:pPr algn="r"/>
                      <a:r>
                        <a:rPr sz="1200" b="1">
                          <a:solidFill>
                            <a:srgbClr val="FFFFFF"/>
                          </a:solidFill>
                          <a:latin typeface="Calibri"/>
                        </a:rPr>
                        <a:t>FY26E</a:t>
                      </a:r>
                    </a:p>
                  </a:txBody>
                  <a:tcPr marL="45720" marR="45720" marT="18288" marB="18288">
                    <a:solidFill>
                      <a:srgbClr val="1F4690"/>
                    </a:solidFill>
                  </a:tcPr>
                </a:tc>
                <a:tc>
                  <a:txBody>
                    <a:bodyPr/>
                    <a:lstStyle/>
                    <a:p>
                      <a:pPr algn="r"/>
                      <a:r>
                        <a:rPr sz="1200" b="1">
                          <a:solidFill>
                            <a:srgbClr val="FFFFFF"/>
                          </a:solidFill>
                          <a:latin typeface="Calibri"/>
                        </a:rPr>
                        <a:t>FY27E</a:t>
                      </a:r>
                    </a:p>
                  </a:txBody>
                  <a:tcPr marL="45720" marR="45720" marT="18288" marB="18288">
                    <a:solidFill>
                      <a:srgbClr val="1F4690"/>
                    </a:solidFill>
                  </a:tcPr>
                </a:tc>
                <a:tc>
                  <a:txBody>
                    <a:bodyPr/>
                    <a:lstStyle/>
                    <a:p>
                      <a:pPr algn="r"/>
                      <a:r>
                        <a:rPr sz="1200" b="1">
                          <a:solidFill>
                            <a:srgbClr val="FFFFFF"/>
                          </a:solidFill>
                          <a:latin typeface="Calibri"/>
                        </a:rPr>
                        <a:t>FY28E</a:t>
                      </a:r>
                    </a:p>
                  </a:txBody>
                  <a:tcPr marL="45720" marR="45720" marT="18288" marB="18288">
                    <a:solidFill>
                      <a:srgbClr val="1F4690"/>
                    </a:solidFill>
                  </a:tcPr>
                </a:tc>
                <a:extLst>
                  <a:ext uri="{0D108BD9-81ED-4DB2-BD59-A6C34878D82A}">
                    <a16:rowId xmlns:a16="http://schemas.microsoft.com/office/drawing/2014/main" val="10000"/>
                  </a:ext>
                </a:extLst>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extLst>
                  <a:ext uri="{0D108BD9-81ED-4DB2-BD59-A6C34878D82A}">
                    <a16:rowId xmlns:a16="http://schemas.microsoft.com/office/drawing/2014/main" val="10001"/>
                  </a:ext>
                </a:extLst>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extLst>
                  <a:ext uri="{0D108BD9-81ED-4DB2-BD59-A6C34878D82A}">
                    <a16:rowId xmlns:a16="http://schemas.microsoft.com/office/drawing/2014/main" val="10002"/>
                  </a:ext>
                </a:extLst>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extLst>
                  <a:ext uri="{0D108BD9-81ED-4DB2-BD59-A6C34878D82A}">
                    <a16:rowId xmlns:a16="http://schemas.microsoft.com/office/drawing/2014/main" val="10003"/>
                  </a:ext>
                </a:extLst>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extLst>
                  <a:ext uri="{0D108BD9-81ED-4DB2-BD59-A6C34878D82A}">
                    <a16:rowId xmlns:a16="http://schemas.microsoft.com/office/drawing/2014/main" val="10004"/>
                  </a:ext>
                </a:extLst>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extLst>
                  <a:ext uri="{0D108BD9-81ED-4DB2-BD59-A6C34878D82A}">
                    <a16:rowId xmlns:a16="http://schemas.microsoft.com/office/drawing/2014/main" val="10005"/>
                  </a:ext>
                </a:extLst>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dirty="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extLst>
                  <a:ext uri="{0D108BD9-81ED-4DB2-BD59-A6C34878D82A}">
                    <a16:rowId xmlns:a16="http://schemas.microsoft.com/office/drawing/2014/main" val="10006"/>
                  </a:ext>
                </a:extLst>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extLst>
                  <a:ext uri="{0D108BD9-81ED-4DB2-BD59-A6C34878D82A}">
                    <a16:rowId xmlns:a16="http://schemas.microsoft.com/office/drawing/2014/main" val="10007"/>
                  </a:ext>
                </a:extLst>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dirty="0">
                          <a:solidFill>
                            <a:srgbClr val="1F4690"/>
                          </a:solidFill>
                          <a:latin typeface="Calibri"/>
                        </a:rPr>
                        <a:t>8.8x</a:t>
                      </a:r>
                    </a:p>
                  </a:txBody>
                  <a:tcPr marL="45720" marR="45720" marT="18288" marB="18288">
                    <a:solidFill>
                      <a:srgbClr val="FFF3E0"/>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tIns="9144" rIns="36576"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 y="1316736"/>
            <a:ext cx="6949440" cy="182880"/>
          </a:xfrm>
          <a:prstGeom prst="rect">
            <a:avLst/>
          </a:prstGeom>
          <a:noFill/>
        </p:spPr>
        <p:txBody>
          <a:bodyPr wrap="square" lIns="36576" tIns="9144" rIns="36576"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505712"/>
        </p:xfrm>
        <a:graphic>
          <a:graphicData uri="http://schemas.openxmlformats.org/drawingml/2006/table">
            <a:tbl>
              <a:tblPr firstRow="1" bandRow="1">
                <a:tableStyleId>{5C22544A-7EE6-4342-B048-85BDC9FD1C3A}</a:tableStyleId>
              </a:tblPr>
              <a:tblGrid>
                <a:gridCol w="2329525">
                  <a:extLst>
                    <a:ext uri="{9D8B030D-6E8A-4147-A177-3AD203B41FA5}">
                      <a16:colId xmlns:a16="http://schemas.microsoft.com/office/drawing/2014/main" val="20000"/>
                    </a:ext>
                  </a:extLst>
                </a:gridCol>
                <a:gridCol w="1576547">
                  <a:extLst>
                    <a:ext uri="{9D8B030D-6E8A-4147-A177-3AD203B41FA5}">
                      <a16:colId xmlns:a16="http://schemas.microsoft.com/office/drawing/2014/main" val="20001"/>
                    </a:ext>
                  </a:extLst>
                </a:gridCol>
                <a:gridCol w="1576547">
                  <a:extLst>
                    <a:ext uri="{9D8B030D-6E8A-4147-A177-3AD203B41FA5}">
                      <a16:colId xmlns:a16="http://schemas.microsoft.com/office/drawing/2014/main" val="20002"/>
                    </a:ext>
                  </a:extLst>
                </a:gridCol>
                <a:gridCol w="1576547">
                  <a:extLst>
                    <a:ext uri="{9D8B030D-6E8A-4147-A177-3AD203B41FA5}">
                      <a16:colId xmlns:a16="http://schemas.microsoft.com/office/drawing/2014/main" val="20003"/>
                    </a:ext>
                  </a:extLst>
                </a:gridCol>
              </a:tblGrid>
              <a:tr h="292608">
                <a:tc>
                  <a:txBody>
                    <a:bodyPr/>
                    <a:lstStyle/>
                    <a:p>
                      <a:r>
                        <a:rPr sz="800" b="1">
                          <a:solidFill>
                            <a:srgbClr val="FFFFFF"/>
                          </a:solidFill>
                          <a:latin typeface="Calibri"/>
                        </a:rPr>
                        <a:t>Method</a:t>
                      </a:r>
                    </a:p>
                  </a:txBody>
                  <a:tcPr>
                    <a:solidFill>
                      <a:srgbClr val="1F4690"/>
                    </a:solidFill>
                  </a:tcPr>
                </a:tc>
                <a:tc>
                  <a:txBody>
                    <a:bodyPr/>
                    <a:lstStyle/>
                    <a:p>
                      <a:r>
                        <a:rPr sz="800" b="1">
                          <a:solidFill>
                            <a:srgbClr val="FFFFFF"/>
                          </a:solidFill>
                          <a:latin typeface="Calibri"/>
                        </a:rPr>
                        <a:t>Multiple Applied</a:t>
                      </a:r>
                    </a:p>
                  </a:txBody>
                  <a:tcPr>
                    <a:solidFill>
                      <a:srgbClr val="1F4690"/>
                    </a:solidFill>
                  </a:tcPr>
                </a:tc>
                <a:tc>
                  <a:txBody>
                    <a:bodyPr/>
                    <a:lstStyle/>
                    <a:p>
                      <a:r>
                        <a:rPr sz="800" b="1">
                          <a:solidFill>
                            <a:srgbClr val="FFFFFF"/>
                          </a:solidFill>
                          <a:latin typeface="Calibri"/>
                        </a:rPr>
                        <a:t>Earnings Base</a:t>
                      </a:r>
                    </a:p>
                  </a:txBody>
                  <a:tcPr>
                    <a:solidFill>
                      <a:srgbClr val="1F4690"/>
                    </a:solidFill>
                  </a:tcPr>
                </a:tc>
                <a:tc>
                  <a:txBody>
                    <a:bodyPr/>
                    <a:lstStyle/>
                    <a:p>
                      <a:r>
                        <a:rPr sz="800" b="1">
                          <a:solidFill>
                            <a:srgbClr val="FFFFFF"/>
                          </a:solidFill>
                          <a:latin typeface="Calibri"/>
                        </a:rPr>
                        <a:t>Value Per Share (₹)</a:t>
                      </a:r>
                    </a:p>
                  </a:txBody>
                  <a:tcPr>
                    <a:solidFill>
                      <a:srgbClr val="1F4690"/>
                    </a:solidFill>
                  </a:tcPr>
                </a:tc>
                <a:extLst>
                  <a:ext uri="{0D108BD9-81ED-4DB2-BD59-A6C34878D82A}">
                    <a16:rowId xmlns:a16="http://schemas.microsoft.com/office/drawing/2014/main" val="10000"/>
                  </a:ext>
                </a:extLst>
              </a:tr>
              <a:tr h="292608">
                <a:tc>
                  <a:txBody>
                    <a:bodyPr/>
                    <a:lstStyle/>
                    <a:p>
                      <a:r>
                        <a:rPr sz="800" b="0">
                          <a:solidFill>
                            <a:srgbClr val="111111"/>
                          </a:solidFill>
                          <a:latin typeface="Calibri"/>
                        </a:rPr>
                        <a:t>Base Case P/E</a:t>
                      </a:r>
                    </a:p>
                  </a:txBody>
                  <a:tcPr>
                    <a:solidFill>
                      <a:srgbClr val="FFFFFF"/>
                    </a:solidFill>
                  </a:tcPr>
                </a:tc>
                <a:tc>
                  <a:txBody>
                    <a:bodyPr/>
                    <a:lstStyle/>
                    <a:p>
                      <a:r>
                        <a:rPr sz="800" b="0">
                          <a:solidFill>
                            <a:srgbClr val="111111"/>
                          </a:solidFill>
                          <a:latin typeface="Calibri"/>
                        </a:rPr>
                        <a:t>24x P/E</a:t>
                      </a:r>
                    </a:p>
                  </a:txBody>
                  <a:tcPr>
                    <a:solidFill>
                      <a:srgbClr val="FFFFFF"/>
                    </a:solidFill>
                  </a:tcPr>
                </a:tc>
                <a:tc>
                  <a:txBody>
                    <a:bodyPr/>
                    <a:lstStyle/>
                    <a:p>
                      <a:r>
                        <a:rPr sz="800" b="0">
                          <a:solidFill>
                            <a:srgbClr val="111111"/>
                          </a:solidFill>
                          <a:latin typeface="Calibri"/>
                        </a:rPr>
                        <a:t>FY27E EPS of ₹66.5</a:t>
                      </a:r>
                    </a:p>
                  </a:txBody>
                  <a:tcPr>
                    <a:solidFill>
                      <a:srgbClr val="FFFFFF"/>
                    </a:solidFill>
                  </a:tcPr>
                </a:tc>
                <a:tc>
                  <a:txBody>
                    <a:bodyPr/>
                    <a:lstStyle/>
                    <a:p>
                      <a:r>
                        <a:rPr sz="800" b="0">
                          <a:solidFill>
                            <a:srgbClr val="111111"/>
                          </a:solidFill>
                          <a:latin typeface="Calibri"/>
                        </a:rPr>
                        <a:t>₹1,596 (unadjusted)</a:t>
                      </a:r>
                    </a:p>
                  </a:txBody>
                  <a:tcPr>
                    <a:solidFill>
                      <a:srgbClr val="FFFFFF"/>
                    </a:solidFill>
                  </a:tcPr>
                </a:tc>
                <a:extLst>
                  <a:ext uri="{0D108BD9-81ED-4DB2-BD59-A6C34878D82A}">
                    <a16:rowId xmlns:a16="http://schemas.microsoft.com/office/drawing/2014/main" val="10001"/>
                  </a:ext>
                </a:extLst>
              </a:tr>
              <a:tr h="292608">
                <a:tc>
                  <a:txBody>
                    <a:bodyPr/>
                    <a:lstStyle/>
                    <a:p>
                      <a:r>
                        <a:rPr sz="800" b="0">
                          <a:solidFill>
                            <a:srgbClr val="111111"/>
                          </a:solidFill>
                          <a:latin typeface="Calibri"/>
                        </a:rPr>
                        <a:t>Discounted Target (1Y)</a:t>
                      </a:r>
                    </a:p>
                  </a:txBody>
                  <a:tcPr>
                    <a:solidFill>
                      <a:srgbClr val="F5F7FA"/>
                    </a:solidFill>
                  </a:tcPr>
                </a:tc>
                <a:tc>
                  <a:txBody>
                    <a:bodyPr/>
                    <a:lstStyle/>
                    <a:p>
                      <a:r>
                        <a:rPr sz="800" b="0">
                          <a:solidFill>
                            <a:srgbClr val="111111"/>
                          </a:solidFill>
                          <a:latin typeface="Calibri"/>
                        </a:rPr>
                        <a:t>12% discount rate</a:t>
                      </a:r>
                    </a:p>
                  </a:txBody>
                  <a:tcPr>
                    <a:solidFill>
                      <a:srgbClr val="F5F7FA"/>
                    </a:solidFill>
                  </a:tcPr>
                </a:tc>
                <a:tc>
                  <a:txBody>
                    <a:bodyPr/>
                    <a:lstStyle/>
                    <a:p>
                      <a:r>
                        <a:rPr sz="800" b="0">
                          <a:solidFill>
                            <a:srgbClr val="111111"/>
                          </a:solidFill>
                          <a:latin typeface="Calibri"/>
                        </a:rPr>
                        <a:t>12-month forward</a:t>
                      </a:r>
                    </a:p>
                  </a:txBody>
                  <a:tcPr>
                    <a:solidFill>
                      <a:srgbClr val="F5F7FA"/>
                    </a:solidFill>
                  </a:tcPr>
                </a:tc>
                <a:tc>
                  <a:txBody>
                    <a:bodyPr/>
                    <a:lstStyle/>
                    <a:p>
                      <a:r>
                        <a:rPr sz="800" b="0">
                          <a:solidFill>
                            <a:srgbClr val="111111"/>
                          </a:solidFill>
                          <a:latin typeface="Calibri"/>
                        </a:rPr>
                        <a:t>₹1,127 (Base TP)</a:t>
                      </a:r>
                    </a:p>
                  </a:txBody>
                  <a:tcPr>
                    <a:solidFill>
                      <a:srgbClr val="F5F7FA"/>
                    </a:solidFill>
                  </a:tcPr>
                </a:tc>
                <a:extLst>
                  <a:ext uri="{0D108BD9-81ED-4DB2-BD59-A6C34878D82A}">
                    <a16:rowId xmlns:a16="http://schemas.microsoft.com/office/drawing/2014/main" val="10002"/>
                  </a:ext>
                </a:extLst>
              </a:tr>
              <a:tr h="292608">
                <a:tc>
                  <a:txBody>
                    <a:bodyPr/>
                    <a:lstStyle/>
                    <a:p>
                      <a:r>
                        <a:rPr sz="800" b="0">
                          <a:solidFill>
                            <a:srgbClr val="111111"/>
                          </a:solidFill>
                          <a:latin typeface="Calibri"/>
                        </a:rPr>
                        <a:t>Analyst Consensus</a:t>
                      </a:r>
                    </a:p>
                  </a:txBody>
                  <a:tcPr>
                    <a:solidFill>
                      <a:srgbClr val="FFFFFF"/>
                    </a:solidFill>
                  </a:tcPr>
                </a:tc>
                <a:tc>
                  <a:txBody>
                    <a:bodyPr/>
                    <a:lstStyle/>
                    <a:p>
                      <a:r>
                        <a:rPr sz="800" b="0">
                          <a:solidFill>
                            <a:srgbClr val="111111"/>
                          </a:solidFill>
                          <a:latin typeface="Calibri"/>
                        </a:rPr>
                        <a:t>Market implied</a:t>
                      </a:r>
                    </a:p>
                  </a:txBody>
                  <a:tcPr>
                    <a:solidFill>
                      <a:srgbClr val="FFFFFF"/>
                    </a:solidFill>
                  </a:tcPr>
                </a:tc>
                <a:tc>
                  <a:txBody>
                    <a:bodyPr/>
                    <a:lstStyle/>
                    <a:p>
                      <a:r>
                        <a:rPr sz="800" b="0">
                          <a:solidFill>
                            <a:srgbClr val="111111"/>
                          </a:solidFill>
                          <a:latin typeface="Calibri"/>
                        </a:rPr>
                        <a:t>Current consensus view</a:t>
                      </a:r>
                    </a:p>
                  </a:txBody>
                  <a:tcPr>
                    <a:solidFill>
                      <a:srgbClr val="FFFFFF"/>
                    </a:solidFill>
                  </a:tcPr>
                </a:tc>
                <a:tc>
                  <a:txBody>
                    <a:bodyPr/>
                    <a:lstStyle/>
                    <a:p>
                      <a:r>
                        <a:rPr sz="800" b="0">
                          <a:solidFill>
                            <a:srgbClr val="111111"/>
                          </a:solidFill>
                          <a:latin typeface="Calibri"/>
                        </a:rPr>
                        <a:t>₹1,126.67</a:t>
                      </a:r>
                    </a:p>
                  </a:txBody>
                  <a:tcPr>
                    <a:solidFill>
                      <a:srgbClr val="FFFFFF"/>
                    </a:solidFill>
                  </a:tcPr>
                </a:tc>
                <a:extLst>
                  <a:ext uri="{0D108BD9-81ED-4DB2-BD59-A6C34878D82A}">
                    <a16:rowId xmlns:a16="http://schemas.microsoft.com/office/drawing/2014/main" val="10003"/>
                  </a:ext>
                </a:extLst>
              </a:tr>
              <a:tr h="292608">
                <a:tc>
                  <a:txBody>
                    <a:bodyPr/>
                    <a:lstStyle/>
                    <a:p>
                      <a:r>
                        <a:rPr sz="800" b="1">
                          <a:solidFill>
                            <a:srgbClr val="1F4690"/>
                          </a:solidFill>
                          <a:latin typeface="Calibri"/>
                        </a:rPr>
                        <a:t>Probability-Weighted TP</a:t>
                      </a:r>
                    </a:p>
                  </a:txBody>
                  <a:tcPr>
                    <a:solidFill>
                      <a:srgbClr val="FFF7E0"/>
                    </a:solidFill>
                  </a:tcPr>
                </a:tc>
                <a:tc>
                  <a:txBody>
                    <a:bodyPr/>
                    <a:lstStyle/>
                    <a:p>
                      <a:r>
                        <a:rPr sz="800" b="1">
                          <a:solidFill>
                            <a:srgbClr val="1F4690"/>
                          </a:solidFill>
                          <a:latin typeface="Calibri"/>
                        </a:rPr>
                        <a:t>Scenario blend</a:t>
                      </a:r>
                    </a:p>
                  </a:txBody>
                  <a:tcPr>
                    <a:solidFill>
                      <a:srgbClr val="FFF7E0"/>
                    </a:solidFill>
                  </a:tcPr>
                </a:tc>
                <a:tc>
                  <a:txBody>
                    <a:bodyPr/>
                    <a:lstStyle/>
                    <a:p>
                      <a:r>
                        <a:rPr sz="800" b="1">
                          <a:solidFill>
                            <a:srgbClr val="1F4690"/>
                          </a:solidFill>
                          <a:latin typeface="Calibri"/>
                        </a:rPr>
                        <a:t>30%×Bull + 50%×Base + 20%×Bear</a:t>
                      </a:r>
                    </a:p>
                  </a:txBody>
                  <a:tcPr>
                    <a:solidFill>
                      <a:srgbClr val="FFF7E0"/>
                    </a:solidFill>
                  </a:tcPr>
                </a:tc>
                <a:tc>
                  <a:txBody>
                    <a:bodyPr/>
                    <a:lstStyle/>
                    <a:p>
                      <a:r>
                        <a:rPr sz="800" b="1">
                          <a:solidFill>
                            <a:srgbClr val="1F4690"/>
                          </a:solidFill>
                          <a:latin typeface="Calibri"/>
                        </a:rPr>
                        <a:t>₹1,109</a:t>
                      </a:r>
                    </a:p>
                  </a:txBody>
                  <a:tcPr>
                    <a:solidFill>
                      <a:srgbClr val="FFF7E0"/>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292608" y="3136392"/>
            <a:ext cx="7059168" cy="182880"/>
          </a:xfrm>
          <a:prstGeom prst="rect">
            <a:avLst/>
          </a:prstGeom>
          <a:noFill/>
        </p:spPr>
        <p:txBody>
          <a:bodyPr wrap="square" lIns="36576" tIns="9144" rIns="36576"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extLst>
                    <a:ext uri="{9D8B030D-6E8A-4147-A177-3AD203B41FA5}">
                      <a16:colId xmlns:a16="http://schemas.microsoft.com/office/drawing/2014/main" val="20000"/>
                    </a:ext>
                  </a:extLst>
                </a:gridCol>
                <a:gridCol w="1270650">
                  <a:extLst>
                    <a:ext uri="{9D8B030D-6E8A-4147-A177-3AD203B41FA5}">
                      <a16:colId xmlns:a16="http://schemas.microsoft.com/office/drawing/2014/main" val="20001"/>
                    </a:ext>
                  </a:extLst>
                </a:gridCol>
                <a:gridCol w="1270650">
                  <a:extLst>
                    <a:ext uri="{9D8B030D-6E8A-4147-A177-3AD203B41FA5}">
                      <a16:colId xmlns:a16="http://schemas.microsoft.com/office/drawing/2014/main" val="20002"/>
                    </a:ext>
                  </a:extLst>
                </a:gridCol>
                <a:gridCol w="1270650">
                  <a:extLst>
                    <a:ext uri="{9D8B030D-6E8A-4147-A177-3AD203B41FA5}">
                      <a16:colId xmlns:a16="http://schemas.microsoft.com/office/drawing/2014/main" val="20003"/>
                    </a:ext>
                  </a:extLst>
                </a:gridCol>
                <a:gridCol w="1270650">
                  <a:extLst>
                    <a:ext uri="{9D8B030D-6E8A-4147-A177-3AD203B41FA5}">
                      <a16:colId xmlns:a16="http://schemas.microsoft.com/office/drawing/2014/main" val="20004"/>
                    </a:ext>
                  </a:extLst>
                </a:gridCol>
              </a:tblGrid>
              <a:tr h="292608">
                <a:tc>
                  <a:txBody>
                    <a:bodyPr/>
                    <a:lstStyle/>
                    <a:p>
                      <a:r>
                        <a:rPr sz="800" b="1">
                          <a:solidFill>
                            <a:srgbClr val="FFFFFF"/>
                          </a:solidFill>
                          <a:latin typeface="Calibri"/>
                        </a:rPr>
                        <a:t>Company</a:t>
                      </a:r>
                    </a:p>
                  </a:txBody>
                  <a:tcPr>
                    <a:solidFill>
                      <a:srgbClr val="1F4690"/>
                    </a:solidFill>
                  </a:tcPr>
                </a:tc>
                <a:tc>
                  <a:txBody>
                    <a:bodyPr/>
                    <a:lstStyle/>
                    <a:p>
                      <a:r>
                        <a:rPr sz="800" b="1">
                          <a:solidFill>
                            <a:srgbClr val="FFFFFF"/>
                          </a:solidFill>
                          <a:latin typeface="Calibri"/>
                        </a:rPr>
                        <a:t>P/E (TTM)</a:t>
                      </a:r>
                    </a:p>
                  </a:txBody>
                  <a:tcPr>
                    <a:solidFill>
                      <a:srgbClr val="1F4690"/>
                    </a:solidFill>
                  </a:tcPr>
                </a:tc>
                <a:tc>
                  <a:txBody>
                    <a:bodyPr/>
                    <a:lstStyle/>
                    <a:p>
                      <a:r>
                        <a:rPr sz="800" b="1">
                          <a:solidFill>
                            <a:srgbClr val="FFFFFF"/>
                          </a:solidFill>
                          <a:latin typeface="Calibri"/>
                        </a:rPr>
                        <a:t>P/B</a:t>
                      </a:r>
                    </a:p>
                  </a:txBody>
                  <a:tcPr>
                    <a:solidFill>
                      <a:srgbClr val="1F4690"/>
                    </a:solidFill>
                  </a:tcPr>
                </a:tc>
                <a:tc>
                  <a:txBody>
                    <a:bodyPr/>
                    <a:lstStyle/>
                    <a:p>
                      <a:r>
                        <a:rPr sz="800" b="1">
                          <a:solidFill>
                            <a:srgbClr val="FFFFFF"/>
                          </a:solidFill>
                          <a:latin typeface="Calibri"/>
                        </a:rPr>
                        <a:t>AUM Growth</a:t>
                      </a:r>
                    </a:p>
                  </a:txBody>
                  <a:tcPr>
                    <a:solidFill>
                      <a:srgbClr val="1F4690"/>
                    </a:solidFill>
                  </a:tcPr>
                </a:tc>
                <a:tc>
                  <a:txBody>
                    <a:bodyPr/>
                    <a:lstStyle/>
                    <a:p>
                      <a:r>
                        <a:rPr sz="800" b="1">
                          <a:solidFill>
                            <a:srgbClr val="FFFFFF"/>
                          </a:solidFill>
                          <a:latin typeface="Calibri"/>
                        </a:rPr>
                        <a:t>Comment</a:t>
                      </a:r>
                    </a:p>
                  </a:txBody>
                  <a:tcPr>
                    <a:solidFill>
                      <a:srgbClr val="1F4690"/>
                    </a:solidFill>
                  </a:tcPr>
                </a:tc>
                <a:extLst>
                  <a:ext uri="{0D108BD9-81ED-4DB2-BD59-A6C34878D82A}">
                    <a16:rowId xmlns:a16="http://schemas.microsoft.com/office/drawing/2014/main" val="10000"/>
                  </a:ext>
                </a:extLst>
              </a:tr>
              <a:tr h="292608">
                <a:tc>
                  <a:txBody>
                    <a:bodyPr/>
                    <a:lstStyle/>
                    <a:p>
                      <a:r>
                        <a:rPr sz="800" b="1">
                          <a:solidFill>
                            <a:srgbClr val="1F4690"/>
                          </a:solidFill>
                          <a:latin typeface="Calibri"/>
                        </a:rPr>
                        <a:t>Motilal Oswal Financial Services Ltd</a:t>
                      </a:r>
                    </a:p>
                  </a:txBody>
                  <a:tcPr>
                    <a:solidFill>
                      <a:srgbClr val="FFF7E0"/>
                    </a:solidFill>
                  </a:tcPr>
                </a:tc>
                <a:tc>
                  <a:txBody>
                    <a:bodyPr/>
                    <a:lstStyle/>
                    <a:p>
                      <a:r>
                        <a:rPr sz="800" b="1">
                          <a:solidFill>
                            <a:srgbClr val="1F4690"/>
                          </a:solidFill>
                          <a:latin typeface="Calibri"/>
                        </a:rPr>
                        <a:t>24.2x</a:t>
                      </a:r>
                    </a:p>
                  </a:txBody>
                  <a:tcPr>
                    <a:solidFill>
                      <a:srgbClr val="FFF7E0"/>
                    </a:solidFill>
                  </a:tcPr>
                </a:tc>
                <a:tc>
                  <a:txBody>
                    <a:bodyPr/>
                    <a:lstStyle/>
                    <a:p>
                      <a:r>
                        <a:rPr sz="800" b="1">
                          <a:solidFill>
                            <a:srgbClr val="1F4690"/>
                          </a:solidFill>
                          <a:latin typeface="Calibri"/>
                        </a:rPr>
                        <a:t>3.8x</a:t>
                      </a:r>
                    </a:p>
                  </a:txBody>
                  <a:tcPr>
                    <a:solidFill>
                      <a:srgbClr val="FFF7E0"/>
                    </a:solidFill>
                  </a:tcPr>
                </a:tc>
                <a:tc>
                  <a:txBody>
                    <a:bodyPr/>
                    <a:lstStyle/>
                    <a:p>
                      <a:r>
                        <a:rPr sz="800" b="1">
                          <a:solidFill>
                            <a:srgbClr val="1F4690"/>
                          </a:solidFill>
                          <a:latin typeface="Calibri"/>
                        </a:rPr>
                        <a:t>+46% YoY</a:t>
                      </a:r>
                    </a:p>
                  </a:txBody>
                  <a:tcPr>
                    <a:solidFill>
                      <a:srgbClr val="FFF7E0"/>
                    </a:solidFill>
                  </a:tcPr>
                </a:tc>
                <a:tc>
                  <a:txBody>
                    <a:bodyPr/>
                    <a:lstStyle/>
                    <a:p>
                      <a:r>
                        <a:rPr sz="800" b="1" dirty="0">
                          <a:solidFill>
                            <a:srgbClr val="1F4690"/>
                          </a:solidFill>
                          <a:latin typeface="Calibri"/>
                        </a:rPr>
                        <a:t>ARR re-rating pending</a:t>
                      </a:r>
                    </a:p>
                  </a:txBody>
                  <a:tcPr>
                    <a:solidFill>
                      <a:srgbClr val="FFF7E0"/>
                    </a:solidFill>
                  </a:tcPr>
                </a:tc>
                <a:extLst>
                  <a:ext uri="{0D108BD9-81ED-4DB2-BD59-A6C34878D82A}">
                    <a16:rowId xmlns:a16="http://schemas.microsoft.com/office/drawing/2014/main" val="10001"/>
                  </a:ext>
                </a:extLst>
              </a:tr>
            </a:tbl>
          </a:graphicData>
        </a:graphic>
      </p:graphicFrame>
      <p:sp>
        <p:nvSpPr>
          <p:cNvPr id="19" name="TextBox 18"/>
          <p:cNvSpPr txBox="1"/>
          <p:nvPr/>
        </p:nvSpPr>
        <p:spPr>
          <a:xfrm>
            <a:off x="292608" y="4059936"/>
            <a:ext cx="7059168" cy="182880"/>
          </a:xfrm>
          <a:prstGeom prst="rect">
            <a:avLst/>
          </a:prstGeom>
          <a:noFill/>
        </p:spPr>
        <p:txBody>
          <a:bodyPr wrap="square" lIns="36576" tIns="9144" rIns="36576"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956816"/>
        </p:xfrm>
        <a:graphic>
          <a:graphicData uri="http://schemas.openxmlformats.org/drawingml/2006/table">
            <a:tbl>
              <a:tblPr firstRow="1" bandRow="1">
                <a:tableStyleId>{5C22544A-7EE6-4342-B048-85BDC9FD1C3A}</a:tableStyleId>
              </a:tblPr>
              <a:tblGrid>
                <a:gridCol w="1976567">
                  <a:extLst>
                    <a:ext uri="{9D8B030D-6E8A-4147-A177-3AD203B41FA5}">
                      <a16:colId xmlns:a16="http://schemas.microsoft.com/office/drawing/2014/main" val="20000"/>
                    </a:ext>
                  </a:extLst>
                </a:gridCol>
                <a:gridCol w="1270650">
                  <a:extLst>
                    <a:ext uri="{9D8B030D-6E8A-4147-A177-3AD203B41FA5}">
                      <a16:colId xmlns:a16="http://schemas.microsoft.com/office/drawing/2014/main" val="20001"/>
                    </a:ext>
                  </a:extLst>
                </a:gridCol>
                <a:gridCol w="1270650">
                  <a:extLst>
                    <a:ext uri="{9D8B030D-6E8A-4147-A177-3AD203B41FA5}">
                      <a16:colId xmlns:a16="http://schemas.microsoft.com/office/drawing/2014/main" val="20002"/>
                    </a:ext>
                  </a:extLst>
                </a:gridCol>
                <a:gridCol w="1270650">
                  <a:extLst>
                    <a:ext uri="{9D8B030D-6E8A-4147-A177-3AD203B41FA5}">
                      <a16:colId xmlns:a16="http://schemas.microsoft.com/office/drawing/2014/main" val="20003"/>
                    </a:ext>
                  </a:extLst>
                </a:gridCol>
                <a:gridCol w="1270650">
                  <a:extLst>
                    <a:ext uri="{9D8B030D-6E8A-4147-A177-3AD203B41FA5}">
                      <a16:colId xmlns:a16="http://schemas.microsoft.com/office/drawing/2014/main" val="20004"/>
                    </a:ext>
                  </a:extLst>
                </a:gridCol>
              </a:tblGrid>
              <a:tr h="292608">
                <a:tc>
                  <a:txBody>
                    <a:bodyPr/>
                    <a:lstStyle/>
                    <a:p>
                      <a:r>
                        <a:rPr sz="800" b="1">
                          <a:solidFill>
                            <a:srgbClr val="FFFFFF"/>
                          </a:solidFill>
                          <a:latin typeface="Calibri"/>
                        </a:rPr>
                        <a:t>Scenario</a:t>
                      </a:r>
                    </a:p>
                  </a:txBody>
                  <a:tcPr>
                    <a:solidFill>
                      <a:srgbClr val="1F4690"/>
                    </a:solidFill>
                  </a:tcPr>
                </a:tc>
                <a:tc>
                  <a:txBody>
                    <a:bodyPr/>
                    <a:lstStyle/>
                    <a:p>
                      <a:r>
                        <a:rPr sz="800" b="1">
                          <a:solidFill>
                            <a:srgbClr val="FFFFFF"/>
                          </a:solidFill>
                          <a:latin typeface="Calibri"/>
                        </a:rPr>
                        <a:t>Probability</a:t>
                      </a:r>
                    </a:p>
                  </a:txBody>
                  <a:tcPr>
                    <a:solidFill>
                      <a:srgbClr val="1F4690"/>
                    </a:solidFill>
                  </a:tcPr>
                </a:tc>
                <a:tc>
                  <a:txBody>
                    <a:bodyPr/>
                    <a:lstStyle/>
                    <a:p>
                      <a:r>
                        <a:rPr sz="800" b="1">
                          <a:solidFill>
                            <a:srgbClr val="FFFFFF"/>
                          </a:solidFill>
                          <a:latin typeface="Calibri"/>
                        </a:rPr>
                        <a:t>Target Price</a:t>
                      </a:r>
                    </a:p>
                  </a:txBody>
                  <a:tcPr>
                    <a:solidFill>
                      <a:srgbClr val="1F4690"/>
                    </a:solidFill>
                  </a:tcPr>
                </a:tc>
                <a:tc>
                  <a:txBody>
                    <a:bodyPr/>
                    <a:lstStyle/>
                    <a:p>
                      <a:r>
                        <a:rPr sz="800" b="1">
                          <a:solidFill>
                            <a:srgbClr val="FFFFFF"/>
                          </a:solidFill>
                          <a:latin typeface="Calibri"/>
                        </a:rPr>
                        <a:t>Return vs. CMP</a:t>
                      </a:r>
                    </a:p>
                  </a:txBody>
                  <a:tcPr>
                    <a:solidFill>
                      <a:srgbClr val="1F4690"/>
                    </a:solidFill>
                  </a:tcPr>
                </a:tc>
                <a:tc>
                  <a:txBody>
                    <a:bodyPr/>
                    <a:lstStyle/>
                    <a:p>
                      <a:r>
                        <a:rPr sz="800" b="1">
                          <a:solidFill>
                            <a:srgbClr val="FFFFFF"/>
                          </a:solidFill>
                          <a:latin typeface="Calibri"/>
                        </a:rPr>
                        <a:t>Key Assumption</a:t>
                      </a:r>
                    </a:p>
                  </a:txBody>
                  <a:tcPr>
                    <a:solidFill>
                      <a:srgbClr val="1F4690"/>
                    </a:solidFill>
                  </a:tcPr>
                </a:tc>
                <a:extLst>
                  <a:ext uri="{0D108BD9-81ED-4DB2-BD59-A6C34878D82A}">
                    <a16:rowId xmlns:a16="http://schemas.microsoft.com/office/drawing/2014/main" val="10000"/>
                  </a:ext>
                </a:extLst>
              </a:tr>
              <a:tr h="292608">
                <a:tc>
                  <a:txBody>
                    <a:bodyPr/>
                    <a:lstStyle/>
                    <a:p>
                      <a:r>
                        <a:rPr sz="800" b="0">
                          <a:solidFill>
                            <a:srgbClr val="111111"/>
                          </a:solidFill>
                          <a:latin typeface="Calibri"/>
                        </a:rPr>
                        <a:t>Bull Case</a:t>
                      </a:r>
                    </a:p>
                  </a:txBody>
                  <a:tcPr>
                    <a:solidFill>
                      <a:srgbClr val="FFFFFF"/>
                    </a:solidFill>
                  </a:tcPr>
                </a:tc>
                <a:tc>
                  <a:txBody>
                    <a:bodyPr/>
                    <a:lstStyle/>
                    <a:p>
                      <a:r>
                        <a:rPr sz="800" b="0">
                          <a:solidFill>
                            <a:srgbClr val="111111"/>
                          </a:solidFill>
                          <a:latin typeface="Calibri"/>
                        </a:rPr>
                        <a:t>30%</a:t>
                      </a:r>
                    </a:p>
                  </a:txBody>
                  <a:tcPr>
                    <a:solidFill>
                      <a:srgbClr val="FFFFFF"/>
                    </a:solidFill>
                  </a:tcPr>
                </a:tc>
                <a:tc>
                  <a:txBody>
                    <a:bodyPr/>
                    <a:lstStyle/>
                    <a:p>
                      <a:r>
                        <a:rPr sz="800" b="0">
                          <a:solidFill>
                            <a:srgbClr val="111111"/>
                          </a:solidFill>
                          <a:latin typeface="Calibri"/>
                        </a:rPr>
                        <a:t>₹1,400</a:t>
                      </a:r>
                    </a:p>
                  </a:txBody>
                  <a:tcPr>
                    <a:solidFill>
                      <a:srgbClr val="FFFFFF"/>
                    </a:solidFill>
                  </a:tcPr>
                </a:tc>
                <a:tc>
                  <a:txBody>
                    <a:bodyPr/>
                    <a:lstStyle/>
                    <a:p>
                      <a:r>
                        <a:rPr sz="800" b="0">
                          <a:solidFill>
                            <a:srgbClr val="111111"/>
                          </a:solidFill>
                          <a:latin typeface="Calibri"/>
                        </a:rPr>
                        <a:t>+70.1%</a:t>
                      </a:r>
                    </a:p>
                  </a:txBody>
                  <a:tcPr>
                    <a:solidFill>
                      <a:srgbClr val="FFFFFF"/>
                    </a:solidFill>
                  </a:tcPr>
                </a:tc>
                <a:tc>
                  <a:txBody>
                    <a:bodyPr/>
                    <a:lstStyle/>
                    <a:p>
                      <a:r>
                        <a:rPr sz="800" b="0">
                          <a:solidFill>
                            <a:srgbClr val="111111"/>
                          </a:solidFill>
                          <a:latin typeface="Calibri"/>
                        </a:rPr>
                        <a:t>ARR &gt; 70%, AMC AUM +40% YoY, regulatory clarity.</a:t>
                      </a:r>
                    </a:p>
                  </a:txBody>
                  <a:tcPr>
                    <a:solidFill>
                      <a:srgbClr val="FFFFFF"/>
                    </a:solidFill>
                  </a:tcPr>
                </a:tc>
                <a:extLst>
                  <a:ext uri="{0D108BD9-81ED-4DB2-BD59-A6C34878D82A}">
                    <a16:rowId xmlns:a16="http://schemas.microsoft.com/office/drawing/2014/main" val="10001"/>
                  </a:ext>
                </a:extLst>
              </a:tr>
              <a:tr h="292608">
                <a:tc>
                  <a:txBody>
                    <a:bodyPr/>
                    <a:lstStyle/>
                    <a:p>
                      <a:r>
                        <a:rPr sz="800" b="1">
                          <a:solidFill>
                            <a:srgbClr val="1F4690"/>
                          </a:solidFill>
                          <a:latin typeface="Calibri"/>
                        </a:rPr>
                        <a:t>Base Case</a:t>
                      </a:r>
                    </a:p>
                  </a:txBody>
                  <a:tcPr>
                    <a:solidFill>
                      <a:srgbClr val="FFF7E0"/>
                    </a:solidFill>
                  </a:tcPr>
                </a:tc>
                <a:tc>
                  <a:txBody>
                    <a:bodyPr/>
                    <a:lstStyle/>
                    <a:p>
                      <a:r>
                        <a:rPr sz="800" b="1">
                          <a:solidFill>
                            <a:srgbClr val="1F4690"/>
                          </a:solidFill>
                          <a:latin typeface="Calibri"/>
                        </a:rPr>
                        <a:t>50%</a:t>
                      </a:r>
                    </a:p>
                  </a:txBody>
                  <a:tcPr>
                    <a:solidFill>
                      <a:srgbClr val="FFF7E0"/>
                    </a:solidFill>
                  </a:tcPr>
                </a:tc>
                <a:tc>
                  <a:txBody>
                    <a:bodyPr/>
                    <a:lstStyle/>
                    <a:p>
                      <a:r>
                        <a:rPr sz="800" b="1">
                          <a:solidFill>
                            <a:srgbClr val="1F4690"/>
                          </a:solidFill>
                          <a:latin typeface="Calibri"/>
                        </a:rPr>
                        <a:t>₹1,127</a:t>
                      </a:r>
                    </a:p>
                  </a:txBody>
                  <a:tcPr>
                    <a:solidFill>
                      <a:srgbClr val="FFF7E0"/>
                    </a:solidFill>
                  </a:tcPr>
                </a:tc>
                <a:tc>
                  <a:txBody>
                    <a:bodyPr/>
                    <a:lstStyle/>
                    <a:p>
                      <a:r>
                        <a:rPr sz="800" b="1">
                          <a:solidFill>
                            <a:srgbClr val="1F4690"/>
                          </a:solidFill>
                          <a:latin typeface="Calibri"/>
                        </a:rPr>
                        <a:t>+37.0%</a:t>
                      </a:r>
                    </a:p>
                  </a:txBody>
                  <a:tcPr>
                    <a:solidFill>
                      <a:srgbClr val="FFF7E0"/>
                    </a:solidFill>
                  </a:tcPr>
                </a:tc>
                <a:tc>
                  <a:txBody>
                    <a:bodyPr/>
                    <a:lstStyle/>
                    <a:p>
                      <a:r>
                        <a:rPr sz="800" b="1">
                          <a:solidFill>
                            <a:srgbClr val="1F4690"/>
                          </a:solidFill>
                          <a:latin typeface="Calibri"/>
                        </a:rPr>
                        <a:t>ARR steady at 65%, AUM compounding, stable regulation.</a:t>
                      </a:r>
                    </a:p>
                  </a:txBody>
                  <a:tcPr>
                    <a:solidFill>
                      <a:srgbClr val="FFF7E0"/>
                    </a:solidFill>
                  </a:tcPr>
                </a:tc>
                <a:extLst>
                  <a:ext uri="{0D108BD9-81ED-4DB2-BD59-A6C34878D82A}">
                    <a16:rowId xmlns:a16="http://schemas.microsoft.com/office/drawing/2014/main" val="10002"/>
                  </a:ext>
                </a:extLst>
              </a:tr>
              <a:tr h="292608">
                <a:tc>
                  <a:txBody>
                    <a:bodyPr/>
                    <a:lstStyle/>
                    <a:p>
                      <a:r>
                        <a:rPr sz="800" b="0">
                          <a:solidFill>
                            <a:srgbClr val="111111"/>
                          </a:solidFill>
                          <a:latin typeface="Calibri"/>
                        </a:rPr>
                        <a:t>Bear Case</a:t>
                      </a:r>
                    </a:p>
                  </a:txBody>
                  <a:tcPr>
                    <a:solidFill>
                      <a:srgbClr val="FFFFFF"/>
                    </a:solidFill>
                  </a:tcPr>
                </a:tc>
                <a:tc>
                  <a:txBody>
                    <a:bodyPr/>
                    <a:lstStyle/>
                    <a:p>
                      <a:r>
                        <a:rPr sz="800" b="0">
                          <a:solidFill>
                            <a:srgbClr val="111111"/>
                          </a:solidFill>
                          <a:latin typeface="Calibri"/>
                        </a:rPr>
                        <a:t>20%</a:t>
                      </a:r>
                    </a:p>
                  </a:txBody>
                  <a:tcPr>
                    <a:solidFill>
                      <a:srgbClr val="FFFFFF"/>
                    </a:solidFill>
                  </a:tcPr>
                </a:tc>
                <a:tc>
                  <a:txBody>
                    <a:bodyPr/>
                    <a:lstStyle/>
                    <a:p>
                      <a:r>
                        <a:rPr sz="800" b="0">
                          <a:solidFill>
                            <a:srgbClr val="111111"/>
                          </a:solidFill>
                          <a:latin typeface="Calibri"/>
                        </a:rPr>
                        <a:t>₹630</a:t>
                      </a:r>
                    </a:p>
                  </a:txBody>
                  <a:tcPr>
                    <a:solidFill>
                      <a:srgbClr val="FFFFFF"/>
                    </a:solidFill>
                  </a:tcPr>
                </a:tc>
                <a:tc>
                  <a:txBody>
                    <a:bodyPr/>
                    <a:lstStyle/>
                    <a:p>
                      <a:r>
                        <a:rPr sz="800" b="0">
                          <a:solidFill>
                            <a:srgbClr val="111111"/>
                          </a:solidFill>
                          <a:latin typeface="Calibri"/>
                        </a:rPr>
                        <a:t>-23.4%</a:t>
                      </a:r>
                    </a:p>
                  </a:txBody>
                  <a:tcPr>
                    <a:solidFill>
                      <a:srgbClr val="FFFFFF"/>
                    </a:solidFill>
                  </a:tcPr>
                </a:tc>
                <a:tc>
                  <a:txBody>
                    <a:bodyPr/>
                    <a:lstStyle/>
                    <a:p>
                      <a:r>
                        <a:rPr sz="800" b="0">
                          <a:solidFill>
                            <a:srgbClr val="111111"/>
                          </a:solidFill>
                          <a:latin typeface="Calibri"/>
                        </a:rPr>
                        <a:t>Sustained F&amp;O headwinds, fintech share loss.</a:t>
                      </a:r>
                    </a:p>
                  </a:txBody>
                  <a:tcPr>
                    <a:solidFill>
                      <a:srgbClr val="FFFFFF"/>
                    </a:solidFill>
                  </a:tcPr>
                </a:tc>
                <a:extLst>
                  <a:ext uri="{0D108BD9-81ED-4DB2-BD59-A6C34878D82A}">
                    <a16:rowId xmlns:a16="http://schemas.microsoft.com/office/drawing/2014/main" val="10003"/>
                  </a:ext>
                </a:extLst>
              </a:tr>
              <a:tr h="292608">
                <a:tc>
                  <a:txBody>
                    <a:bodyPr/>
                    <a:lstStyle/>
                    <a:p>
                      <a:r>
                        <a:rPr sz="800" b="0">
                          <a:solidFill>
                            <a:srgbClr val="111111"/>
                          </a:solidFill>
                          <a:latin typeface="Calibri"/>
                        </a:rPr>
                        <a:t>Prob. Weighted Avg.</a:t>
                      </a:r>
                    </a:p>
                  </a:txBody>
                  <a:tcPr>
                    <a:solidFill>
                      <a:srgbClr val="F5F7FA"/>
                    </a:solidFill>
                  </a:tcPr>
                </a:tc>
                <a:tc>
                  <a:txBody>
                    <a:bodyPr/>
                    <a:lstStyle/>
                    <a:p>
                      <a:r>
                        <a:rPr sz="800" b="0">
                          <a:solidFill>
                            <a:srgbClr val="111111"/>
                          </a:solidFill>
                          <a:latin typeface="Calibri"/>
                        </a:rPr>
                        <a:t>100%</a:t>
                      </a:r>
                    </a:p>
                  </a:txBody>
                  <a:tcPr>
                    <a:solidFill>
                      <a:srgbClr val="F5F7FA"/>
                    </a:solidFill>
                  </a:tcPr>
                </a:tc>
                <a:tc>
                  <a:txBody>
                    <a:bodyPr/>
                    <a:lstStyle/>
                    <a:p>
                      <a:r>
                        <a:rPr sz="800" b="0">
                          <a:solidFill>
                            <a:srgbClr val="111111"/>
                          </a:solidFill>
                          <a:latin typeface="Calibri"/>
                        </a:rPr>
                        <a:t>₹1,109</a:t>
                      </a:r>
                    </a:p>
                  </a:txBody>
                  <a:tcPr>
                    <a:solidFill>
                      <a:srgbClr val="F5F7FA"/>
                    </a:solidFill>
                  </a:tcPr>
                </a:tc>
                <a:tc>
                  <a:txBody>
                    <a:bodyPr/>
                    <a:lstStyle/>
                    <a:p>
                      <a:r>
                        <a:rPr sz="800" b="0">
                          <a:solidFill>
                            <a:srgbClr val="111111"/>
                          </a:solidFill>
                          <a:latin typeface="Calibri"/>
                        </a:rPr>
                        <a:t>+34.8%</a:t>
                      </a:r>
                    </a:p>
                  </a:txBody>
                  <a:tcPr>
                    <a:solidFill>
                      <a:srgbClr val="F5F7FA"/>
                    </a:solidFill>
                  </a:tcPr>
                </a:tc>
                <a:tc>
                  <a:txBody>
                    <a:bodyPr/>
                    <a:lstStyle/>
                    <a:p>
                      <a:r>
                        <a:rPr sz="800" b="0" dirty="0">
                          <a:solidFill>
                            <a:srgbClr val="111111"/>
                          </a:solidFill>
                          <a:latin typeface="Calibri"/>
                        </a:rPr>
                        <a:t>Blended scenario</a:t>
                      </a:r>
                    </a:p>
                  </a:txBody>
                  <a:tcPr>
                    <a:solidFill>
                      <a:srgbClr val="F5F7FA"/>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7516368" y="1078992"/>
            <a:ext cx="4315968" cy="182880"/>
          </a:xfrm>
          <a:prstGeom prst="rect">
            <a:avLst/>
          </a:prstGeom>
          <a:noFill/>
        </p:spPr>
        <p:txBody>
          <a:bodyPr wrap="square" lIns="36576" tIns="9144" rIns="36576"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71232"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tIns="9144" rIns="36576"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tIns="9144" rIns="36576"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tIns="9144" rIns="36576"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28176"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tIns="9144" rIns="36576"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tIns="9144" rIns="36576"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tIns="9144" rIns="36576"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485120" y="1362456"/>
            <a:ext cx="1274063" cy="164592"/>
          </a:xfrm>
          <a:prstGeom prst="rect">
            <a:avLst/>
          </a:prstGeom>
          <a:noFill/>
        </p:spPr>
        <p:txBody>
          <a:bodyPr wrap="square" lIns="36576" tIns="9144" rIns="36576"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tIns="9144" rIns="36576"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tIns="9144" rIns="36576"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tIns="9144" rIns="36576"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07808" y="3264408"/>
            <a:ext cx="4169663" cy="164592"/>
          </a:xfrm>
          <a:prstGeom prst="rect">
            <a:avLst/>
          </a:prstGeom>
          <a:noFill/>
        </p:spPr>
        <p:txBody>
          <a:bodyPr wrap="square" lIns="36576" tIns="9144" rIns="36576"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tIns="9144" rIns="36576" bIns="9144">
            <a:spAutoFit/>
          </a:bodyPr>
          <a:lstStyle/>
          <a:p>
            <a:r>
              <a:rPr sz="800" b="0" dirty="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a:t>
            </a:r>
            <a:r>
              <a:rPr sz="800" b="0" dirty="0" err="1">
                <a:solidFill>
                  <a:srgbClr val="111111"/>
                </a:solidFill>
                <a:latin typeface="Calibri"/>
              </a:rPr>
              <a:t>conse</a:t>
            </a:r>
            <a:r>
              <a:rPr sz="800" b="0" dirty="0">
                <a:solidFill>
                  <a:srgbClr val="111111"/>
                </a:solidFill>
                <a:latin typeface="Calibri"/>
              </a:rPr>
              <a:t>…</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07808" y="4818888"/>
            <a:ext cx="4169663" cy="164592"/>
          </a:xfrm>
          <a:prstGeom prst="rect">
            <a:avLst/>
          </a:prstGeom>
          <a:noFill/>
        </p:spPr>
        <p:txBody>
          <a:bodyPr wrap="square" lIns="36576" tIns="9144" rIns="36576"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tIns="9144" rIns="36576" bIns="9144">
            <a:spAutoFit/>
          </a:bodyPr>
          <a:lstStyle/>
          <a:p>
            <a:r>
              <a:rPr sz="800" b="0" dirty="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6" y="1280160"/>
            <a:ext cx="1463040" cy="182880"/>
          </a:xfrm>
          <a:prstGeom prst="rect">
            <a:avLst/>
          </a:prstGeom>
          <a:noFill/>
        </p:spPr>
        <p:txBody>
          <a:bodyPr wrap="square" lIns="27432" tIns="4572" rIns="2743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tIns="4572" rIns="2743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18688" y="1316736"/>
            <a:ext cx="1554480" cy="128016"/>
          </a:xfrm>
          <a:prstGeom prst="rect">
            <a:avLst/>
          </a:prstGeom>
          <a:noFill/>
        </p:spPr>
        <p:txBody>
          <a:bodyPr wrap="square" lIns="27432" tIns="4572" rIns="2743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tIns="4572" rIns="2743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tIns="4572" rIns="2743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tIns="4572" rIns="2743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tIns="4572" rIns="2743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2121408"/>
            <a:ext cx="5577840" cy="475488"/>
          </a:xfrm>
          <a:prstGeom prst="rect">
            <a:avLst/>
          </a:prstGeom>
          <a:noFill/>
        </p:spPr>
        <p:txBody>
          <a:bodyPr wrap="square" lIns="27432" tIns="4572" rIns="27432" bIns="4572">
            <a:spAutoFit/>
          </a:bodyPr>
          <a:lstStyle/>
          <a:p>
            <a:r>
              <a:rPr sz="750" b="0" dirty="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tIns="4572" rIns="2743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tIns="4572" rIns="2743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0896" y="2980944"/>
            <a:ext cx="5577840" cy="475488"/>
          </a:xfrm>
          <a:prstGeom prst="rect">
            <a:avLst/>
          </a:prstGeom>
          <a:noFill/>
        </p:spPr>
        <p:txBody>
          <a:bodyPr wrap="square" lIns="27432" tIns="4572" rIns="2743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tIns="4572" rIns="2743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tIns="4572" rIns="2743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10896" y="3840480"/>
            <a:ext cx="5577840" cy="475488"/>
          </a:xfrm>
          <a:prstGeom prst="rect">
            <a:avLst/>
          </a:prstGeom>
          <a:noFill/>
        </p:spPr>
        <p:txBody>
          <a:bodyPr wrap="square" lIns="27432" tIns="4572" rIns="27432" bIns="4572">
            <a:spAutoFit/>
          </a:bodyPr>
          <a:lstStyle/>
          <a:p>
            <a:r>
              <a:rPr sz="750" b="0" dirty="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tIns="4572" rIns="2743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tIns="4572" rIns="2743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10896" y="4700016"/>
            <a:ext cx="5577840" cy="475488"/>
          </a:xfrm>
          <a:prstGeom prst="rect">
            <a:avLst/>
          </a:prstGeom>
          <a:noFill/>
        </p:spPr>
        <p:txBody>
          <a:bodyPr wrap="square" lIns="27432" tIns="4572" rIns="2743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tIns="4572" rIns="2743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tIns="4572" rIns="2743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81344" y="2121408"/>
            <a:ext cx="5577840" cy="475488"/>
          </a:xfrm>
          <a:prstGeom prst="rect">
            <a:avLst/>
          </a:prstGeom>
          <a:noFill/>
        </p:spPr>
        <p:txBody>
          <a:bodyPr wrap="square" lIns="27432" tIns="4572" rIns="2743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tIns="4572" rIns="2743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tIns="4572" rIns="2743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181344" y="2980944"/>
            <a:ext cx="5577840" cy="475488"/>
          </a:xfrm>
          <a:prstGeom prst="rect">
            <a:avLst/>
          </a:prstGeom>
          <a:noFill/>
        </p:spPr>
        <p:txBody>
          <a:bodyPr wrap="square" lIns="27432" tIns="4572" rIns="2743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tIns="4572" rIns="2743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tIns="4572" rIns="2743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81344" y="3840480"/>
            <a:ext cx="5577840" cy="475488"/>
          </a:xfrm>
          <a:prstGeom prst="rect">
            <a:avLst/>
          </a:prstGeom>
          <a:noFill/>
        </p:spPr>
        <p:txBody>
          <a:bodyPr wrap="square" lIns="27432" tIns="4572" rIns="2743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72783" y="4535424"/>
            <a:ext cx="5394959" cy="182880"/>
          </a:xfrm>
          <a:prstGeom prst="rect">
            <a:avLst/>
          </a:prstGeom>
          <a:noFill/>
        </p:spPr>
        <p:txBody>
          <a:bodyPr wrap="square" lIns="27432" tIns="4572" rIns="2743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tIns="4572" rIns="2743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208280" cy="36576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0000"/>
                    </a:ext>
                  </a:extLst>
                </a:gridCol>
              </a:tblGrid>
              <a:tr h="0">
                <a:tc>
                  <a:txBody>
                    <a:bodyPr/>
                    <a:lstStyle/>
                    <a:p>
                      <a:endParaRPr/>
                    </a:p>
                  </a:txBody>
                  <a:tcPr>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0352" y="1280160"/>
            <a:ext cx="3675887" cy="256032"/>
          </a:xfrm>
          <a:prstGeom prst="rect">
            <a:avLst/>
          </a:prstGeom>
          <a:noFill/>
        </p:spPr>
        <p:txBody>
          <a:bodyPr wrap="square" lIns="45720" tIns="18288" rIns="45720" bIns="18288">
            <a:spAutoFit/>
          </a:bodyPr>
          <a:lstStyle/>
          <a:p>
            <a:r>
              <a:rPr sz="850" b="1">
                <a:solidFill>
                  <a:srgbClr val="B91C1C"/>
                </a:solidFill>
                <a:latin typeface="Calibri"/>
              </a:rPr>
              <a:t>BEAR CASE - ₹630 (-23.4% vs CMP)</a:t>
            </a:r>
          </a:p>
        </p:txBody>
      </p:sp>
      <p:sp>
        <p:nvSpPr>
          <p:cNvPr id="17" name="Rectangle 16"/>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20" name="TextBox 19"/>
          <p:cNvSpPr txBox="1"/>
          <p:nvPr/>
        </p:nvSpPr>
        <p:spPr>
          <a:xfrm>
            <a:off x="530352" y="1883664"/>
            <a:ext cx="3675887" cy="475488"/>
          </a:xfrm>
          <a:prstGeom prst="rect">
            <a:avLst/>
          </a:prstGeom>
          <a:noFill/>
        </p:spPr>
        <p:txBody>
          <a:bodyPr wrap="square" lIns="45720" tIns="18288" rIns="45720"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1" name="Rectangle 20"/>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24" name="TextBox 23"/>
          <p:cNvSpPr txBox="1"/>
          <p:nvPr/>
        </p:nvSpPr>
        <p:spPr>
          <a:xfrm>
            <a:off x="530352" y="2743200"/>
            <a:ext cx="3675887" cy="859536"/>
          </a:xfrm>
          <a:prstGeom prst="rect">
            <a:avLst/>
          </a:prstGeom>
          <a:noFill/>
        </p:spPr>
        <p:txBody>
          <a:bodyPr wrap="square" lIns="45720" tIns="18288" rIns="45720" bIns="18288">
            <a:spAutoFit/>
          </a:bodyPr>
          <a:lstStyle/>
          <a:p>
            <a:r>
              <a:rPr sz="800" b="0">
                <a:solidFill>
                  <a:srgbClr val="111111"/>
                </a:solidFill>
                <a:latin typeface="Calibri"/>
              </a:rPr>
              <a:t>Broking headwinds and fee pressure reduce operating momentum. Sustained F&amp;O headwinds, fintech share loss.</a:t>
            </a:r>
          </a:p>
        </p:txBody>
      </p:sp>
      <p:sp>
        <p:nvSpPr>
          <p:cNvPr id="25" name="Rectangle 24"/>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28" name="TextBox 27"/>
          <p:cNvSpPr txBox="1"/>
          <p:nvPr/>
        </p:nvSpPr>
        <p:spPr>
          <a:xfrm>
            <a:off x="530352" y="3986783"/>
            <a:ext cx="3675887" cy="530352"/>
          </a:xfrm>
          <a:prstGeom prst="rect">
            <a:avLst/>
          </a:prstGeom>
          <a:noFill/>
        </p:spPr>
        <p:txBody>
          <a:bodyPr wrap="square" lIns="45720" tIns="18288" rIns="45720"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29" name="Table 28"/>
          <p:cNvGraphicFramePr>
            <a:graphicFrameLocks noGrp="1"/>
          </p:cNvGraphicFramePr>
          <p:nvPr>
            <p:extLst>
              <p:ext uri="{D42A27DB-BD31-4B8C-83A1-F6EECF244321}">
                <p14:modId xmlns:p14="http://schemas.microsoft.com/office/powerpoint/2010/main" val="3724789705"/>
              </p:ext>
            </p:extLst>
          </p:nvPr>
        </p:nvGraphicFramePr>
        <p:xfrm>
          <a:off x="457200" y="4663440"/>
          <a:ext cx="3822191" cy="173278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28879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extLst>
                  <a:ext uri="{0D108BD9-81ED-4DB2-BD59-A6C34878D82A}">
                    <a16:rowId xmlns:a16="http://schemas.microsoft.com/office/drawing/2014/main" val="10000"/>
                  </a:ext>
                </a:extLst>
              </a:tr>
              <a:tr h="28879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extLst>
                  <a:ext uri="{0D108BD9-81ED-4DB2-BD59-A6C34878D82A}">
                    <a16:rowId xmlns:a16="http://schemas.microsoft.com/office/drawing/2014/main" val="10001"/>
                  </a:ext>
                </a:extLst>
              </a:tr>
              <a:tr h="28879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extLst>
                  <a:ext uri="{0D108BD9-81ED-4DB2-BD59-A6C34878D82A}">
                    <a16:rowId xmlns:a16="http://schemas.microsoft.com/office/drawing/2014/main" val="10002"/>
                  </a:ext>
                </a:extLst>
              </a:tr>
              <a:tr h="28879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extLst>
                  <a:ext uri="{0D108BD9-81ED-4DB2-BD59-A6C34878D82A}">
                    <a16:rowId xmlns:a16="http://schemas.microsoft.com/office/drawing/2014/main" val="10003"/>
                  </a:ext>
                </a:extLst>
              </a:tr>
              <a:tr h="28879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extLst>
                  <a:ext uri="{0D108BD9-81ED-4DB2-BD59-A6C34878D82A}">
                    <a16:rowId xmlns:a16="http://schemas.microsoft.com/office/drawing/2014/main" val="10004"/>
                  </a:ext>
                </a:extLst>
              </a:tr>
              <a:tr h="28879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dirty="0">
                          <a:solidFill>
                            <a:srgbClr val="B91C1C"/>
                          </a:solidFill>
                          <a:latin typeface="Calibri"/>
                        </a:rPr>
                        <a:t>-23.4%</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
        <p:nvSpPr>
          <p:cNvPr id="30" name="Rectangle 29"/>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98848" y="1280160"/>
            <a:ext cx="3675887" cy="256032"/>
          </a:xfrm>
          <a:prstGeom prst="rect">
            <a:avLst/>
          </a:prstGeom>
          <a:noFill/>
        </p:spPr>
        <p:txBody>
          <a:bodyPr wrap="square" lIns="45720" tIns="18288" rIns="45720" bIns="18288">
            <a:spAutoFit/>
          </a:bodyPr>
          <a:lstStyle/>
          <a:p>
            <a:r>
              <a:rPr sz="850" b="1">
                <a:solidFill>
                  <a:srgbClr val="FFA500"/>
                </a:solidFill>
                <a:latin typeface="Calibri"/>
              </a:rPr>
              <a:t>BASE CASE - ₹1,127 (+37.0% vs CMP) - PRIMARY RECOMMENDATION</a:t>
            </a:r>
          </a:p>
        </p:txBody>
      </p:sp>
      <p:sp>
        <p:nvSpPr>
          <p:cNvPr id="32" name="Rectangle 31"/>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98848"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35" name="TextBox 34"/>
          <p:cNvSpPr txBox="1"/>
          <p:nvPr/>
        </p:nvSpPr>
        <p:spPr>
          <a:xfrm>
            <a:off x="4498848" y="1883664"/>
            <a:ext cx="3675887" cy="475488"/>
          </a:xfrm>
          <a:prstGeom prst="rect">
            <a:avLst/>
          </a:prstGeom>
          <a:noFill/>
        </p:spPr>
        <p:txBody>
          <a:bodyPr wrap="square" lIns="45720" tIns="18288" rIns="45720"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6" name="Rectangle 35"/>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98848"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39" name="TextBox 38"/>
          <p:cNvSpPr txBox="1"/>
          <p:nvPr/>
        </p:nvSpPr>
        <p:spPr>
          <a:xfrm>
            <a:off x="4498848" y="2743200"/>
            <a:ext cx="3675887" cy="859536"/>
          </a:xfrm>
          <a:prstGeom prst="rect">
            <a:avLst/>
          </a:prstGeom>
          <a:noFill/>
        </p:spPr>
        <p:txBody>
          <a:bodyPr wrap="square" lIns="45720" tIns="18288" rIns="45720"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0" name="Rectangle 39"/>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98848"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43" name="TextBox 42"/>
          <p:cNvSpPr txBox="1"/>
          <p:nvPr/>
        </p:nvSpPr>
        <p:spPr>
          <a:xfrm>
            <a:off x="4498848" y="3986783"/>
            <a:ext cx="3675887" cy="530352"/>
          </a:xfrm>
          <a:prstGeom prst="rect">
            <a:avLst/>
          </a:prstGeom>
          <a:noFill/>
        </p:spPr>
        <p:txBody>
          <a:bodyPr wrap="square" lIns="45720" tIns="18288" rIns="45720"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4" name="Table 43"/>
          <p:cNvGraphicFramePr>
            <a:graphicFrameLocks noGrp="1"/>
          </p:cNvGraphicFramePr>
          <p:nvPr>
            <p:extLst>
              <p:ext uri="{D42A27DB-BD31-4B8C-83A1-F6EECF244321}">
                <p14:modId xmlns:p14="http://schemas.microsoft.com/office/powerpoint/2010/main" val="1365228061"/>
              </p:ext>
            </p:extLst>
          </p:nvPr>
        </p:nvGraphicFramePr>
        <p:xfrm>
          <a:off x="4425696" y="4663440"/>
          <a:ext cx="3822191" cy="173278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28879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extLst>
                  <a:ext uri="{0D108BD9-81ED-4DB2-BD59-A6C34878D82A}">
                    <a16:rowId xmlns:a16="http://schemas.microsoft.com/office/drawing/2014/main" val="10000"/>
                  </a:ext>
                </a:extLst>
              </a:tr>
              <a:tr h="28879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extLst>
                  <a:ext uri="{0D108BD9-81ED-4DB2-BD59-A6C34878D82A}">
                    <a16:rowId xmlns:a16="http://schemas.microsoft.com/office/drawing/2014/main" val="10001"/>
                  </a:ext>
                </a:extLst>
              </a:tr>
              <a:tr h="28879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extLst>
                  <a:ext uri="{0D108BD9-81ED-4DB2-BD59-A6C34878D82A}">
                    <a16:rowId xmlns:a16="http://schemas.microsoft.com/office/drawing/2014/main" val="10002"/>
                  </a:ext>
                </a:extLst>
              </a:tr>
              <a:tr h="28879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extLst>
                  <a:ext uri="{0D108BD9-81ED-4DB2-BD59-A6C34878D82A}">
                    <a16:rowId xmlns:a16="http://schemas.microsoft.com/office/drawing/2014/main" val="10003"/>
                  </a:ext>
                </a:extLst>
              </a:tr>
              <a:tr h="28879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extLst>
                  <a:ext uri="{0D108BD9-81ED-4DB2-BD59-A6C34878D82A}">
                    <a16:rowId xmlns:a16="http://schemas.microsoft.com/office/drawing/2014/main" val="10004"/>
                  </a:ext>
                </a:extLst>
              </a:tr>
              <a:tr h="28879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dirty="0">
                          <a:solidFill>
                            <a:srgbClr val="FFA500"/>
                          </a:solidFill>
                          <a:latin typeface="Calibri"/>
                        </a:rPr>
                        <a:t>+37.0%</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
        <p:nvSpPr>
          <p:cNvPr id="45" name="Rectangle 44"/>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67344" y="1280160"/>
            <a:ext cx="3675887" cy="256032"/>
          </a:xfrm>
          <a:prstGeom prst="rect">
            <a:avLst/>
          </a:prstGeom>
          <a:noFill/>
        </p:spPr>
        <p:txBody>
          <a:bodyPr wrap="square" lIns="45720" tIns="18288" rIns="45720" bIns="18288">
            <a:spAutoFit/>
          </a:bodyPr>
          <a:lstStyle/>
          <a:p>
            <a:r>
              <a:rPr sz="850" b="1">
                <a:solidFill>
                  <a:srgbClr val="FFFFFF"/>
                </a:solidFill>
                <a:latin typeface="Calibri"/>
              </a:rPr>
              <a:t>BULL CASE - ₹1,400 (+70.1% vs CMP)</a:t>
            </a:r>
          </a:p>
        </p:txBody>
      </p:sp>
      <p:sp>
        <p:nvSpPr>
          <p:cNvPr id="47" name="Rectangle 46"/>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67344" y="1682496"/>
            <a:ext cx="3675887" cy="182880"/>
          </a:xfrm>
          <a:prstGeom prst="rect">
            <a:avLst/>
          </a:prstGeom>
          <a:noFill/>
        </p:spPr>
        <p:txBody>
          <a:bodyPr wrap="square" lIns="45720" tIns="18288" rIns="45720" bIns="18288">
            <a:spAutoFit/>
          </a:bodyPr>
          <a:lstStyle/>
          <a:p>
            <a:r>
              <a:rPr sz="900" b="1">
                <a:solidFill>
                  <a:srgbClr val="1F4690"/>
                </a:solidFill>
                <a:latin typeface="Calibri"/>
              </a:rPr>
              <a:t>Macro Assumptions</a:t>
            </a:r>
          </a:p>
        </p:txBody>
      </p:sp>
      <p:sp>
        <p:nvSpPr>
          <p:cNvPr id="50" name="TextBox 49"/>
          <p:cNvSpPr txBox="1"/>
          <p:nvPr/>
        </p:nvSpPr>
        <p:spPr>
          <a:xfrm>
            <a:off x="8467344" y="1883664"/>
            <a:ext cx="3675887" cy="475488"/>
          </a:xfrm>
          <a:prstGeom prst="rect">
            <a:avLst/>
          </a:prstGeom>
          <a:noFill/>
        </p:spPr>
        <p:txBody>
          <a:bodyPr wrap="square" lIns="45720" tIns="18288" rIns="45720"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1" name="Rectangle 50"/>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467344" y="2542032"/>
            <a:ext cx="3675887" cy="182880"/>
          </a:xfrm>
          <a:prstGeom prst="rect">
            <a:avLst/>
          </a:prstGeom>
          <a:noFill/>
        </p:spPr>
        <p:txBody>
          <a:bodyPr wrap="square" lIns="45720" tIns="18288" rIns="45720" bIns="18288">
            <a:spAutoFit/>
          </a:bodyPr>
          <a:lstStyle/>
          <a:p>
            <a:r>
              <a:rPr sz="900" b="1">
                <a:solidFill>
                  <a:srgbClr val="1F4690"/>
                </a:solidFill>
                <a:latin typeface="Calibri"/>
              </a:rPr>
              <a:t>Business Assumptions</a:t>
            </a:r>
          </a:p>
        </p:txBody>
      </p:sp>
      <p:sp>
        <p:nvSpPr>
          <p:cNvPr id="54" name="TextBox 53"/>
          <p:cNvSpPr txBox="1"/>
          <p:nvPr/>
        </p:nvSpPr>
        <p:spPr>
          <a:xfrm>
            <a:off x="8467344" y="2743200"/>
            <a:ext cx="3675887" cy="859536"/>
          </a:xfrm>
          <a:prstGeom prst="rect">
            <a:avLst/>
          </a:prstGeom>
          <a:noFill/>
        </p:spPr>
        <p:txBody>
          <a:bodyPr wrap="square" lIns="45720" tIns="18288" rIns="45720"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5" name="Rectangle 54"/>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467344" y="3785615"/>
            <a:ext cx="3675887" cy="182880"/>
          </a:xfrm>
          <a:prstGeom prst="rect">
            <a:avLst/>
          </a:prstGeom>
          <a:noFill/>
        </p:spPr>
        <p:txBody>
          <a:bodyPr wrap="square" lIns="45720" tIns="18288" rIns="45720" bIns="18288">
            <a:spAutoFit/>
          </a:bodyPr>
          <a:lstStyle/>
          <a:p>
            <a:r>
              <a:rPr sz="900" b="1">
                <a:solidFill>
                  <a:srgbClr val="1F4690"/>
                </a:solidFill>
                <a:latin typeface="Calibri"/>
              </a:rPr>
              <a:t>Valuation Assumptions</a:t>
            </a:r>
          </a:p>
        </p:txBody>
      </p:sp>
      <p:sp>
        <p:nvSpPr>
          <p:cNvPr id="58" name="TextBox 57"/>
          <p:cNvSpPr txBox="1"/>
          <p:nvPr/>
        </p:nvSpPr>
        <p:spPr>
          <a:xfrm>
            <a:off x="8467344" y="3986783"/>
            <a:ext cx="3675887" cy="530352"/>
          </a:xfrm>
          <a:prstGeom prst="rect">
            <a:avLst/>
          </a:prstGeom>
          <a:noFill/>
        </p:spPr>
        <p:txBody>
          <a:bodyPr wrap="square" lIns="45720" tIns="18288" rIns="45720"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59" name="Table 58"/>
          <p:cNvGraphicFramePr>
            <a:graphicFrameLocks noGrp="1"/>
          </p:cNvGraphicFramePr>
          <p:nvPr>
            <p:extLst>
              <p:ext uri="{D42A27DB-BD31-4B8C-83A1-F6EECF244321}">
                <p14:modId xmlns:p14="http://schemas.microsoft.com/office/powerpoint/2010/main" val="299291423"/>
              </p:ext>
            </p:extLst>
          </p:nvPr>
        </p:nvGraphicFramePr>
        <p:xfrm>
          <a:off x="8394192" y="4663440"/>
          <a:ext cx="3822191" cy="1732788"/>
        </p:xfrm>
        <a:graphic>
          <a:graphicData uri="http://schemas.openxmlformats.org/drawingml/2006/table">
            <a:tbl>
              <a:tblPr firstRow="1" bandRow="1">
                <a:tableStyleId>{5C22544A-7EE6-4342-B048-85BDC9FD1C3A}</a:tableStyleId>
              </a:tblPr>
              <a:tblGrid>
                <a:gridCol w="2140427">
                  <a:extLst>
                    <a:ext uri="{9D8B030D-6E8A-4147-A177-3AD203B41FA5}">
                      <a16:colId xmlns:a16="http://schemas.microsoft.com/office/drawing/2014/main" val="20000"/>
                    </a:ext>
                  </a:extLst>
                </a:gridCol>
                <a:gridCol w="1681764">
                  <a:extLst>
                    <a:ext uri="{9D8B030D-6E8A-4147-A177-3AD203B41FA5}">
                      <a16:colId xmlns:a16="http://schemas.microsoft.com/office/drawing/2014/main" val="20001"/>
                    </a:ext>
                  </a:extLst>
                </a:gridCol>
              </a:tblGrid>
              <a:tr h="28879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extLst>
                  <a:ext uri="{0D108BD9-81ED-4DB2-BD59-A6C34878D82A}">
                    <a16:rowId xmlns:a16="http://schemas.microsoft.com/office/drawing/2014/main" val="10000"/>
                  </a:ext>
                </a:extLst>
              </a:tr>
              <a:tr h="28879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extLst>
                  <a:ext uri="{0D108BD9-81ED-4DB2-BD59-A6C34878D82A}">
                    <a16:rowId xmlns:a16="http://schemas.microsoft.com/office/drawing/2014/main" val="10001"/>
                  </a:ext>
                </a:extLst>
              </a:tr>
              <a:tr h="288798">
                <a:tc>
                  <a:txBody>
                    <a:bodyPr/>
                    <a:lstStyle/>
                    <a:p>
                      <a:r>
                        <a:rPr sz="800" b="1" dirty="0">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extLst>
                  <a:ext uri="{0D108BD9-81ED-4DB2-BD59-A6C34878D82A}">
                    <a16:rowId xmlns:a16="http://schemas.microsoft.com/office/drawing/2014/main" val="10002"/>
                  </a:ext>
                </a:extLst>
              </a:tr>
              <a:tr h="28879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extLst>
                  <a:ext uri="{0D108BD9-81ED-4DB2-BD59-A6C34878D82A}">
                    <a16:rowId xmlns:a16="http://schemas.microsoft.com/office/drawing/2014/main" val="10003"/>
                  </a:ext>
                </a:extLst>
              </a:tr>
              <a:tr h="28879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extLst>
                  <a:ext uri="{0D108BD9-81ED-4DB2-BD59-A6C34878D82A}">
                    <a16:rowId xmlns:a16="http://schemas.microsoft.com/office/drawing/2014/main" val="10004"/>
                  </a:ext>
                </a:extLst>
              </a:tr>
              <a:tr h="28879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dirty="0">
                          <a:solidFill>
                            <a:srgbClr val="1A7A4A"/>
                          </a:solidFill>
                          <a:latin typeface="Calibri"/>
                        </a:rPr>
                        <a:t>+70.1%</a:t>
                      </a:r>
                    </a:p>
                  </a:txBody>
                  <a:tcPr marL="27432" marR="27432" marT="9144" marB="9144">
                    <a:solidFill>
                      <a:srgbClr val="F4F6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TextBox 14"/>
          <p:cNvSpPr txBox="1"/>
          <p:nvPr/>
        </p:nvSpPr>
        <p:spPr>
          <a:xfrm>
            <a:off x="457200" y="1417320"/>
            <a:ext cx="11277295" cy="5029200"/>
          </a:xfrm>
          <a:prstGeom prst="rect">
            <a:avLst/>
          </a:prstGeom>
          <a:noFill/>
        </p:spPr>
        <p:txBody>
          <a:bodyPr wrap="square" lIns="45720" tIns="18288" rIns="45720" bIns="18288" anchor="t">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ounded Rectangle 14"/>
          <p:cNvSpPr/>
          <p:nvPr/>
        </p:nvSpPr>
        <p:spPr>
          <a:xfrm>
            <a:off x="292608" y="1143000"/>
            <a:ext cx="6446520" cy="777240"/>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2608" y="114300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 y="1216152"/>
            <a:ext cx="6263640" cy="164592"/>
          </a:xfrm>
          <a:prstGeom prst="rect">
            <a:avLst/>
          </a:prstGeom>
          <a:noFill/>
        </p:spPr>
        <p:txBody>
          <a:bodyPr wrap="square" lIns="36576" tIns="9144" rIns="36576" bIns="9144">
            <a:spAutoFit/>
          </a:bodyPr>
          <a:lstStyle/>
          <a:p>
            <a:r>
              <a:rPr sz="900" b="1">
                <a:solidFill>
                  <a:srgbClr val="1F4690"/>
                </a:solidFill>
                <a:latin typeface="Calibri"/>
              </a:rPr>
              <a:t>Conviction Statement</a:t>
            </a:r>
          </a:p>
        </p:txBody>
      </p:sp>
      <p:sp>
        <p:nvSpPr>
          <p:cNvPr id="18" name="TextBox 17"/>
          <p:cNvSpPr txBox="1"/>
          <p:nvPr/>
        </p:nvSpPr>
        <p:spPr>
          <a:xfrm>
            <a:off x="384048" y="1435608"/>
            <a:ext cx="6263640" cy="411479"/>
          </a:xfrm>
          <a:prstGeom prst="rect">
            <a:avLst/>
          </a:prstGeom>
          <a:noFill/>
        </p:spPr>
        <p:txBody>
          <a:bodyPr wrap="square" lIns="36576" tIns="9144" rIns="36576"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19" name="TextBox 18"/>
          <p:cNvSpPr txBox="1"/>
          <p:nvPr/>
        </p:nvSpPr>
        <p:spPr>
          <a:xfrm>
            <a:off x="292608" y="2011680"/>
            <a:ext cx="6446520" cy="182880"/>
          </a:xfrm>
          <a:prstGeom prst="rect">
            <a:avLst/>
          </a:prstGeom>
          <a:noFill/>
        </p:spPr>
        <p:txBody>
          <a:bodyPr wrap="square" lIns="36576" tIns="9144" rIns="36576" bIns="9144">
            <a:spAutoFit/>
          </a:bodyPr>
          <a:lstStyle/>
          <a:p>
            <a:r>
              <a:rPr sz="900" b="1">
                <a:solidFill>
                  <a:srgbClr val="1F4690"/>
                </a:solidFill>
                <a:latin typeface="Calibri"/>
              </a:rPr>
              <a:t>ENTRY STRATEGY - WHEN TO BUY</a:t>
            </a:r>
          </a:p>
        </p:txBody>
      </p:sp>
      <p:sp>
        <p:nvSpPr>
          <p:cNvPr id="20" name="Rounded Rectangle 19"/>
          <p:cNvSpPr/>
          <p:nvPr/>
        </p:nvSpPr>
        <p:spPr>
          <a:xfrm>
            <a:off x="292608" y="224028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2608" y="2240280"/>
            <a:ext cx="32004" cy="7772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2313432"/>
            <a:ext cx="6263640" cy="164592"/>
          </a:xfrm>
          <a:prstGeom prst="rect">
            <a:avLst/>
          </a:prstGeom>
          <a:noFill/>
        </p:spPr>
        <p:txBody>
          <a:bodyPr wrap="square" lIns="36576" tIns="9144" rIns="36576" bIns="9144">
            <a:spAutoFit/>
          </a:bodyPr>
          <a:lstStyle/>
          <a:p>
            <a:r>
              <a:rPr sz="900" b="1">
                <a:solidFill>
                  <a:srgbClr val="1F4690"/>
                </a:solidFill>
                <a:latin typeface="Calibri"/>
              </a:rPr>
              <a:t>Immediate Entry Zone</a:t>
            </a:r>
          </a:p>
        </p:txBody>
      </p:sp>
      <p:sp>
        <p:nvSpPr>
          <p:cNvPr id="23" name="TextBox 22"/>
          <p:cNvSpPr txBox="1"/>
          <p:nvPr/>
        </p:nvSpPr>
        <p:spPr>
          <a:xfrm>
            <a:off x="384048" y="2532888"/>
            <a:ext cx="6263640" cy="411480"/>
          </a:xfrm>
          <a:prstGeom prst="rect">
            <a:avLst/>
          </a:prstGeom>
          <a:noFill/>
        </p:spPr>
        <p:txBody>
          <a:bodyPr wrap="square" lIns="36576" tIns="9144" rIns="36576"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4" name="Rounded Rectangle 23"/>
          <p:cNvSpPr/>
          <p:nvPr/>
        </p:nvSpPr>
        <p:spPr>
          <a:xfrm>
            <a:off x="292608" y="3108960"/>
            <a:ext cx="6446520"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2608" y="3108960"/>
            <a:ext cx="32004" cy="7315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4048" y="3182112"/>
            <a:ext cx="6263640" cy="164592"/>
          </a:xfrm>
          <a:prstGeom prst="rect">
            <a:avLst/>
          </a:prstGeom>
          <a:noFill/>
        </p:spPr>
        <p:txBody>
          <a:bodyPr wrap="square" lIns="36576" tIns="9144" rIns="36576" bIns="9144">
            <a:spAutoFit/>
          </a:bodyPr>
          <a:lstStyle/>
          <a:p>
            <a:r>
              <a:rPr sz="900" b="1">
                <a:solidFill>
                  <a:srgbClr val="1F4690"/>
                </a:solidFill>
                <a:latin typeface="Calibri"/>
              </a:rPr>
              <a:t>Add-On Zone</a:t>
            </a:r>
          </a:p>
        </p:txBody>
      </p:sp>
      <p:sp>
        <p:nvSpPr>
          <p:cNvPr id="27" name="TextBox 26"/>
          <p:cNvSpPr txBox="1"/>
          <p:nvPr/>
        </p:nvSpPr>
        <p:spPr>
          <a:xfrm>
            <a:off x="384048" y="3401568"/>
            <a:ext cx="6263640" cy="365760"/>
          </a:xfrm>
          <a:prstGeom prst="rect">
            <a:avLst/>
          </a:prstGeom>
          <a:noFill/>
        </p:spPr>
        <p:txBody>
          <a:bodyPr wrap="square" lIns="36576" tIns="9144" rIns="36576" bIns="9144">
            <a:spAutoFit/>
          </a:bodyPr>
          <a:lstStyle/>
          <a:p>
            <a:r>
              <a:rPr sz="800" b="0" dirty="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8" name="Rounded Rectangle 27"/>
          <p:cNvSpPr/>
          <p:nvPr/>
        </p:nvSpPr>
        <p:spPr>
          <a:xfrm>
            <a:off x="292608" y="3931920"/>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92608" y="3931920"/>
            <a:ext cx="32004" cy="7772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4048" y="4005072"/>
            <a:ext cx="6263640" cy="164592"/>
          </a:xfrm>
          <a:prstGeom prst="rect">
            <a:avLst/>
          </a:prstGeom>
          <a:noFill/>
        </p:spPr>
        <p:txBody>
          <a:bodyPr wrap="square" lIns="36576" tIns="9144" rIns="36576" bIns="9144">
            <a:spAutoFit/>
          </a:bodyPr>
          <a:lstStyle/>
          <a:p>
            <a:r>
              <a:rPr sz="900" b="1">
                <a:solidFill>
                  <a:srgbClr val="1F4690"/>
                </a:solidFill>
                <a:latin typeface="Calibri"/>
              </a:rPr>
              <a:t>Review Points - Thesis Confirmation Milestones</a:t>
            </a:r>
          </a:p>
        </p:txBody>
      </p:sp>
      <p:sp>
        <p:nvSpPr>
          <p:cNvPr id="31" name="TextBox 30"/>
          <p:cNvSpPr txBox="1"/>
          <p:nvPr/>
        </p:nvSpPr>
        <p:spPr>
          <a:xfrm>
            <a:off x="384048" y="4224528"/>
            <a:ext cx="6263640" cy="411479"/>
          </a:xfrm>
          <a:prstGeom prst="rect">
            <a:avLst/>
          </a:prstGeom>
          <a:noFill/>
        </p:spPr>
        <p:txBody>
          <a:bodyPr wrap="square" lIns="36576" tIns="9144" rIns="36576"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2" name="TextBox 31"/>
          <p:cNvSpPr txBox="1"/>
          <p:nvPr/>
        </p:nvSpPr>
        <p:spPr>
          <a:xfrm>
            <a:off x="292608" y="4800600"/>
            <a:ext cx="6446520" cy="182880"/>
          </a:xfrm>
          <a:prstGeom prst="rect">
            <a:avLst/>
          </a:prstGeom>
          <a:noFill/>
        </p:spPr>
        <p:txBody>
          <a:bodyPr wrap="square" lIns="36576" tIns="9144" rIns="36576" bIns="9144">
            <a:spAutoFit/>
          </a:bodyPr>
          <a:lstStyle/>
          <a:p>
            <a:r>
              <a:rPr sz="900" b="1">
                <a:solidFill>
                  <a:srgbClr val="1F4690"/>
                </a:solidFill>
                <a:latin typeface="Calibri"/>
              </a:rPr>
              <a:t>THESIS INVALIDATION TRIGGERS - WHEN TO EXIT</a:t>
            </a:r>
          </a:p>
        </p:txBody>
      </p:sp>
      <p:sp>
        <p:nvSpPr>
          <p:cNvPr id="33" name="Rectangle 32"/>
          <p:cNvSpPr/>
          <p:nvPr/>
        </p:nvSpPr>
        <p:spPr>
          <a:xfrm>
            <a:off x="292608" y="5074920"/>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9184" y="5102352"/>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35" name="TextBox 34"/>
          <p:cNvSpPr txBox="1"/>
          <p:nvPr/>
        </p:nvSpPr>
        <p:spPr>
          <a:xfrm>
            <a:off x="731520" y="5029200"/>
            <a:ext cx="6007608" cy="274320"/>
          </a:xfrm>
          <a:prstGeom prst="rect">
            <a:avLst/>
          </a:prstGeom>
          <a:noFill/>
        </p:spPr>
        <p:txBody>
          <a:bodyPr wrap="square" lIns="36576" tIns="9144" rIns="36576" bIns="9144">
            <a:spAutoFit/>
          </a:bodyPr>
          <a:lstStyle/>
          <a:p>
            <a:r>
              <a:rPr sz="800" b="0">
                <a:solidFill>
                  <a:srgbClr val="111111"/>
                </a:solidFill>
                <a:latin typeface="Calibri"/>
              </a:rPr>
              <a:t>ARR contribution drops below 55% for two consecutive quarters</a:t>
            </a:r>
          </a:p>
        </p:txBody>
      </p:sp>
      <p:sp>
        <p:nvSpPr>
          <p:cNvPr id="36" name="Rectangle 35"/>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9184" y="5449824"/>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38" name="TextBox 37"/>
          <p:cNvSpPr txBox="1"/>
          <p:nvPr/>
        </p:nvSpPr>
        <p:spPr>
          <a:xfrm>
            <a:off x="731520" y="5376672"/>
            <a:ext cx="6007608" cy="274320"/>
          </a:xfrm>
          <a:prstGeom prst="rect">
            <a:avLst/>
          </a:prstGeom>
          <a:noFill/>
        </p:spPr>
        <p:txBody>
          <a:bodyPr wrap="square" lIns="36576" tIns="9144" rIns="36576" bIns="9144">
            <a:spAutoFit/>
          </a:bodyPr>
          <a:lstStyle/>
          <a:p>
            <a:r>
              <a:rPr sz="800" b="0">
                <a:solidFill>
                  <a:srgbClr val="111111"/>
                </a:solidFill>
                <a:latin typeface="Calibri"/>
              </a:rPr>
              <a:t>Major SEBI enforcement action with direct business impact</a:t>
            </a:r>
          </a:p>
        </p:txBody>
      </p:sp>
      <p:sp>
        <p:nvSpPr>
          <p:cNvPr id="39" name="Rectangle 38"/>
          <p:cNvSpPr/>
          <p:nvPr/>
        </p:nvSpPr>
        <p:spPr>
          <a:xfrm>
            <a:off x="292608" y="5769864"/>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9184" y="5797296"/>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41" name="TextBox 40"/>
          <p:cNvSpPr txBox="1"/>
          <p:nvPr/>
        </p:nvSpPr>
        <p:spPr>
          <a:xfrm>
            <a:off x="731520" y="5724144"/>
            <a:ext cx="6007608" cy="274320"/>
          </a:xfrm>
          <a:prstGeom prst="rect">
            <a:avLst/>
          </a:prstGeom>
          <a:noFill/>
        </p:spPr>
        <p:txBody>
          <a:bodyPr wrap="square" lIns="36576" tIns="9144" rIns="36576" bIns="9144">
            <a:spAutoFit/>
          </a:bodyPr>
          <a:lstStyle/>
          <a:p>
            <a:r>
              <a:rPr sz="800" b="0">
                <a:solidFill>
                  <a:srgbClr val="111111"/>
                </a:solidFill>
                <a:latin typeface="Calibri"/>
              </a:rPr>
              <a:t>AMC AUM declining for two consecutive quarters</a:t>
            </a:r>
          </a:p>
        </p:txBody>
      </p:sp>
      <p:sp>
        <p:nvSpPr>
          <p:cNvPr id="42" name="Rectangle 41"/>
          <p:cNvSpPr/>
          <p:nvPr/>
        </p:nvSpPr>
        <p:spPr>
          <a:xfrm>
            <a:off x="292608" y="6117336"/>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29184" y="6144768"/>
            <a:ext cx="292608" cy="128016"/>
          </a:xfrm>
          <a:prstGeom prst="rect">
            <a:avLst/>
          </a:prstGeom>
          <a:noFill/>
        </p:spPr>
        <p:txBody>
          <a:bodyPr wrap="square" lIns="36576" tIns="9144" rIns="36576" bIns="9144">
            <a:spAutoFit/>
          </a:bodyPr>
          <a:lstStyle/>
          <a:p>
            <a:pPr algn="ctr"/>
            <a:r>
              <a:rPr sz="600" b="1">
                <a:solidFill>
                  <a:srgbClr val="B91C1C"/>
                </a:solidFill>
                <a:latin typeface="Calibri"/>
              </a:rPr>
              <a:t>EXIT</a:t>
            </a:r>
          </a:p>
        </p:txBody>
      </p:sp>
      <p:sp>
        <p:nvSpPr>
          <p:cNvPr id="44" name="TextBox 43"/>
          <p:cNvSpPr txBox="1"/>
          <p:nvPr/>
        </p:nvSpPr>
        <p:spPr>
          <a:xfrm>
            <a:off x="731520" y="6071616"/>
            <a:ext cx="6007608" cy="274320"/>
          </a:xfrm>
          <a:prstGeom prst="rect">
            <a:avLst/>
          </a:prstGeom>
          <a:noFill/>
        </p:spPr>
        <p:txBody>
          <a:bodyPr wrap="square" lIns="36576" tIns="9144" rIns="36576" bIns="9144">
            <a:spAutoFit/>
          </a:bodyPr>
          <a:lstStyle/>
          <a:p>
            <a:r>
              <a:rPr sz="800" b="0">
                <a:solidFill>
                  <a:srgbClr val="111111"/>
                </a:solidFill>
                <a:latin typeface="Calibri"/>
              </a:rPr>
              <a:t>Management guidance signaling structural headwinds beyond FY26</a:t>
            </a:r>
          </a:p>
        </p:txBody>
      </p:sp>
      <p:sp>
        <p:nvSpPr>
          <p:cNvPr id="45" name="TextBox 44"/>
          <p:cNvSpPr txBox="1"/>
          <p:nvPr/>
        </p:nvSpPr>
        <p:spPr>
          <a:xfrm>
            <a:off x="6949440" y="969264"/>
            <a:ext cx="4791456" cy="182880"/>
          </a:xfrm>
          <a:prstGeom prst="rect">
            <a:avLst/>
          </a:prstGeom>
          <a:noFill/>
        </p:spPr>
        <p:txBody>
          <a:bodyPr wrap="square" lIns="36576" tIns="9144" rIns="36576" bIns="9144">
            <a:spAutoFit/>
          </a:bodyPr>
          <a:lstStyle/>
          <a:p>
            <a:r>
              <a:rPr sz="900" b="1">
                <a:solidFill>
                  <a:srgbClr val="1F4690"/>
                </a:solidFill>
                <a:latin typeface="Calibri"/>
              </a:rPr>
              <a:t>INVESTMENT SUMMARY SCORECARD</a:t>
            </a:r>
          </a:p>
        </p:txBody>
      </p:sp>
      <p:graphicFrame>
        <p:nvGraphicFramePr>
          <p:cNvPr id="46" name="Table 45"/>
          <p:cNvGraphicFramePr>
            <a:graphicFrameLocks noGrp="1"/>
          </p:cNvGraphicFramePr>
          <p:nvPr/>
        </p:nvGraphicFramePr>
        <p:xfrm>
          <a:off x="6949440" y="1188720"/>
          <a:ext cx="4791454" cy="1645920"/>
        </p:xfrm>
        <a:graphic>
          <a:graphicData uri="http://schemas.openxmlformats.org/drawingml/2006/table">
            <a:tbl>
              <a:tblPr firstRow="1" bandRow="1">
                <a:tableStyleId>{5C22544A-7EE6-4342-B048-85BDC9FD1C3A}</a:tableStyleId>
              </a:tblPr>
              <a:tblGrid>
                <a:gridCol w="2108240">
                  <a:extLst>
                    <a:ext uri="{9D8B030D-6E8A-4147-A177-3AD203B41FA5}">
                      <a16:colId xmlns:a16="http://schemas.microsoft.com/office/drawing/2014/main" val="20000"/>
                    </a:ext>
                  </a:extLst>
                </a:gridCol>
                <a:gridCol w="1677009">
                  <a:extLst>
                    <a:ext uri="{9D8B030D-6E8A-4147-A177-3AD203B41FA5}">
                      <a16:colId xmlns:a16="http://schemas.microsoft.com/office/drawing/2014/main" val="20001"/>
                    </a:ext>
                  </a:extLst>
                </a:gridCol>
                <a:gridCol w="1006205">
                  <a:extLst>
                    <a:ext uri="{9D8B030D-6E8A-4147-A177-3AD203B41FA5}">
                      <a16:colId xmlns:a16="http://schemas.microsoft.com/office/drawing/2014/main" val="20002"/>
                    </a:ext>
                  </a:extLst>
                </a:gridCol>
              </a:tblGrid>
              <a:tr h="164592">
                <a:tc>
                  <a:txBody>
                    <a:bodyPr/>
                    <a:lstStyle/>
                    <a:p>
                      <a:pPr algn="l"/>
                      <a:r>
                        <a:rPr sz="800" b="1" dirty="0">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extLst>
                  <a:ext uri="{0D108BD9-81ED-4DB2-BD59-A6C34878D82A}">
                    <a16:rowId xmlns:a16="http://schemas.microsoft.com/office/drawing/2014/main" val="10000"/>
                  </a:ext>
                </a:extLst>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extLst>
                  <a:ext uri="{0D108BD9-81ED-4DB2-BD59-A6C34878D82A}">
                    <a16:rowId xmlns:a16="http://schemas.microsoft.com/office/drawing/2014/main" val="10001"/>
                  </a:ext>
                </a:extLst>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extLst>
                  <a:ext uri="{0D108BD9-81ED-4DB2-BD59-A6C34878D82A}">
                    <a16:rowId xmlns:a16="http://schemas.microsoft.com/office/drawing/2014/main" val="10002"/>
                  </a:ext>
                </a:extLst>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extLst>
                  <a:ext uri="{0D108BD9-81ED-4DB2-BD59-A6C34878D82A}">
                    <a16:rowId xmlns:a16="http://schemas.microsoft.com/office/drawing/2014/main" val="10003"/>
                  </a:ext>
                </a:extLst>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extLst>
                  <a:ext uri="{0D108BD9-81ED-4DB2-BD59-A6C34878D82A}">
                    <a16:rowId xmlns:a16="http://schemas.microsoft.com/office/drawing/2014/main" val="10004"/>
                  </a:ext>
                </a:extLst>
              </a:tr>
              <a:tr h="164592">
                <a:tc>
                  <a:txBody>
                    <a:bodyPr/>
                    <a:lstStyle/>
                    <a:p>
                      <a:pPr algn="l"/>
                      <a:r>
                        <a:rPr sz="800" b="0" dirty="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extLst>
                  <a:ext uri="{0D108BD9-81ED-4DB2-BD59-A6C34878D82A}">
                    <a16:rowId xmlns:a16="http://schemas.microsoft.com/office/drawing/2014/main" val="10005"/>
                  </a:ext>
                </a:extLst>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dirty="0">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extLst>
                  <a:ext uri="{0D108BD9-81ED-4DB2-BD59-A6C34878D82A}">
                    <a16:rowId xmlns:a16="http://schemas.microsoft.com/office/drawing/2014/main" val="10006"/>
                  </a:ext>
                </a:extLst>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extLst>
                  <a:ext uri="{0D108BD9-81ED-4DB2-BD59-A6C34878D82A}">
                    <a16:rowId xmlns:a16="http://schemas.microsoft.com/office/drawing/2014/main" val="10007"/>
                  </a:ext>
                </a:extLst>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extLst>
                  <a:ext uri="{0D108BD9-81ED-4DB2-BD59-A6C34878D82A}">
                    <a16:rowId xmlns:a16="http://schemas.microsoft.com/office/drawing/2014/main" val="10008"/>
                  </a:ext>
                </a:extLst>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dirty="0">
                          <a:solidFill>
                            <a:srgbClr val="1F4690"/>
                          </a:solidFill>
                          <a:latin typeface="Calibri"/>
                        </a:rPr>
                        <a:t>TP: ₹1,127</a:t>
                      </a:r>
                    </a:p>
                  </a:txBody>
                  <a:tcPr marL="22860" marR="22860" marT="5486" marB="5486">
                    <a:solidFill>
                      <a:srgbClr val="F4F6F9"/>
                    </a:solidFill>
                  </a:tcPr>
                </a:tc>
                <a:extLst>
                  <a:ext uri="{0D108BD9-81ED-4DB2-BD59-A6C34878D82A}">
                    <a16:rowId xmlns:a16="http://schemas.microsoft.com/office/drawing/2014/main" val="10009"/>
                  </a:ext>
                </a:extLst>
              </a:tr>
            </a:tbl>
          </a:graphicData>
        </a:graphic>
      </p:graphicFrame>
      <p:sp>
        <p:nvSpPr>
          <p:cNvPr id="47" name="Rounded Rectangle 46"/>
          <p:cNvSpPr/>
          <p:nvPr/>
        </p:nvSpPr>
        <p:spPr>
          <a:xfrm>
            <a:off x="6949440" y="297180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949440" y="2971800"/>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40879" y="3044952"/>
            <a:ext cx="4608576" cy="164592"/>
          </a:xfrm>
          <a:prstGeom prst="rect">
            <a:avLst/>
          </a:prstGeom>
          <a:noFill/>
        </p:spPr>
        <p:txBody>
          <a:bodyPr wrap="square" lIns="36576" tIns="9144" rIns="36576" bIns="9144">
            <a:spAutoFit/>
          </a:bodyPr>
          <a:lstStyle/>
          <a:p>
            <a:r>
              <a:rPr sz="900" b="1">
                <a:solidFill>
                  <a:srgbClr val="1F4690"/>
                </a:solidFill>
                <a:latin typeface="Calibri"/>
              </a:rPr>
              <a:t>Position Summary</a:t>
            </a:r>
          </a:p>
        </p:txBody>
      </p:sp>
      <p:sp>
        <p:nvSpPr>
          <p:cNvPr id="50" name="TextBox 49"/>
          <p:cNvSpPr txBox="1"/>
          <p:nvPr/>
        </p:nvSpPr>
        <p:spPr>
          <a:xfrm>
            <a:off x="7040879" y="3264408"/>
            <a:ext cx="4608576" cy="822960"/>
          </a:xfrm>
          <a:prstGeom prst="rect">
            <a:avLst/>
          </a:prstGeom>
          <a:noFill/>
        </p:spPr>
        <p:txBody>
          <a:bodyPr wrap="square" lIns="36576" tIns="9144" rIns="36576" bIns="9144">
            <a:spAutoFit/>
          </a:bodyPr>
          <a:lstStyle/>
          <a:p>
            <a:r>
              <a:rPr sz="800" b="0" dirty="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1" name="Rounded Rectangle 50"/>
          <p:cNvSpPr/>
          <p:nvPr/>
        </p:nvSpPr>
        <p:spPr>
          <a:xfrm>
            <a:off x="6949440" y="4297680"/>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949440" y="4297680"/>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040879" y="4361688"/>
            <a:ext cx="4608576" cy="182880"/>
          </a:xfrm>
          <a:prstGeom prst="rect">
            <a:avLst/>
          </a:prstGeom>
          <a:noFill/>
        </p:spPr>
        <p:txBody>
          <a:bodyPr wrap="square" lIns="36576" tIns="9144" rIns="36576" bIns="9144">
            <a:spAutoFit/>
          </a:bodyPr>
          <a:lstStyle/>
          <a:p>
            <a:r>
              <a:rPr sz="900" b="1">
                <a:solidFill>
                  <a:srgbClr val="1F4690"/>
                </a:solidFill>
                <a:latin typeface="Calibri"/>
              </a:rPr>
              <a:t>Exit Strategy - Scaling Out on Gains</a:t>
            </a:r>
          </a:p>
        </p:txBody>
      </p:sp>
      <p:sp>
        <p:nvSpPr>
          <p:cNvPr id="54" name="TextBox 53"/>
          <p:cNvSpPr txBox="1"/>
          <p:nvPr/>
        </p:nvSpPr>
        <p:spPr>
          <a:xfrm>
            <a:off x="7059168" y="4617720"/>
            <a:ext cx="4572000" cy="347472"/>
          </a:xfrm>
          <a:prstGeom prst="rect">
            <a:avLst/>
          </a:prstGeom>
          <a:noFill/>
        </p:spPr>
        <p:txBody>
          <a:bodyPr wrap="square" lIns="36576" tIns="9144" rIns="36576" bIns="9144">
            <a:spAutoFit/>
          </a:bodyPr>
          <a:lstStyle/>
          <a:p>
            <a:r>
              <a:rPr sz="800" b="0">
                <a:solidFill>
                  <a:srgbClr val="111111"/>
                </a:solidFill>
                <a:latin typeface="Calibri"/>
              </a:rPr>
              <a:t>Sell 1: Sell 50% at ₹1,100-1,150 (30-40% gains)</a:t>
            </a:r>
          </a:p>
        </p:txBody>
      </p:sp>
      <p:sp>
        <p:nvSpPr>
          <p:cNvPr id="55" name="TextBox 54"/>
          <p:cNvSpPr txBox="1"/>
          <p:nvPr/>
        </p:nvSpPr>
        <p:spPr>
          <a:xfrm>
            <a:off x="7059168" y="5001768"/>
            <a:ext cx="4572000" cy="347472"/>
          </a:xfrm>
          <a:prstGeom prst="rect">
            <a:avLst/>
          </a:prstGeom>
          <a:noFill/>
        </p:spPr>
        <p:txBody>
          <a:bodyPr wrap="square" lIns="36576" tIns="9144" rIns="36576" bIns="9144">
            <a:spAutoFit/>
          </a:bodyPr>
          <a:lstStyle/>
          <a:p>
            <a:r>
              <a:rPr sz="800" b="0">
                <a:solidFill>
                  <a:srgbClr val="111111"/>
                </a:solidFill>
                <a:latin typeface="Calibri"/>
              </a:rPr>
              <a:t>Sell 2: Sell remaining at ₹1,200+ if multiples expand beyond 25x P/E</a:t>
            </a:r>
          </a:p>
        </p:txBody>
      </p:sp>
      <p:sp>
        <p:nvSpPr>
          <p:cNvPr id="56" name="Rounded Rectangle 55"/>
          <p:cNvSpPr/>
          <p:nvPr/>
        </p:nvSpPr>
        <p:spPr>
          <a:xfrm>
            <a:off x="6949440" y="5623560"/>
            <a:ext cx="4791456"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6949440" y="5623560"/>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040879" y="5696712"/>
            <a:ext cx="4608576" cy="164592"/>
          </a:xfrm>
          <a:prstGeom prst="rect">
            <a:avLst/>
          </a:prstGeom>
          <a:noFill/>
        </p:spPr>
        <p:txBody>
          <a:bodyPr wrap="square" lIns="36576" tIns="9144" rIns="36576" bIns="9144">
            <a:spAutoFit/>
          </a:bodyPr>
          <a:lstStyle/>
          <a:p>
            <a:r>
              <a:rPr sz="900" b="1">
                <a:solidFill>
                  <a:srgbClr val="1F4690"/>
                </a:solidFill>
                <a:latin typeface="Calibri"/>
              </a:rPr>
              <a:t>Disclaimer</a:t>
            </a:r>
          </a:p>
        </p:txBody>
      </p:sp>
      <p:sp>
        <p:nvSpPr>
          <p:cNvPr id="59" name="TextBox 58"/>
          <p:cNvSpPr txBox="1"/>
          <p:nvPr/>
        </p:nvSpPr>
        <p:spPr>
          <a:xfrm>
            <a:off x="7040879" y="5916168"/>
            <a:ext cx="4608576" cy="365759"/>
          </a:xfrm>
          <a:prstGeom prst="rect">
            <a:avLst/>
          </a:prstGeom>
          <a:noFill/>
        </p:spPr>
        <p:txBody>
          <a:bodyPr wrap="square" lIns="36576" tIns="9144" rIns="36576"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tIns="18288" rIns="45720"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tIns="18288" rIns="45720"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lIns="18288" tIns="9144" rIns="18288" bIns="9144" rtlCol="0" anchor="ctr"/>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37960"/>
            <a:ext cx="3657508" cy="320040"/>
          </a:xfrm>
          <a:prstGeom prst="rect">
            <a:avLst/>
          </a:prstGeom>
          <a:noFill/>
        </p:spPr>
        <p:txBody>
          <a:bodyPr wrap="square" lIns="45720" tIns="18288" rIns="45720"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tIns="18288" rIns="45720"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tIns="18288" rIns="45720"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731520"/>
            <a:ext cx="11274552" cy="5486400"/>
          </a:xfrm>
          <a:prstGeom prst="rect">
            <a:avLst/>
          </a:prstGeom>
          <a:noFill/>
        </p:spPr>
        <p:txBody>
          <a:bodyPr wrap="square" lIns="73152" tIns="91440" rIns="73152" bIns="91440">
            <a:spAutoFit/>
          </a:bodyPr>
          <a:lstStyle/>
          <a:p>
            <a:pPr>
              <a:lnSpc>
                <a:spcPct val="135000"/>
              </a:lnSpc>
              <a:spcBef>
                <a:spcPts val="0"/>
              </a:spcBef>
              <a:spcAft>
                <a:spcPts val="600"/>
              </a:spcAft>
            </a:pPr>
            <a:r>
              <a:rPr sz="1600" b="0">
                <a:solidFill>
                  <a:srgbClr val="111111"/>
                </a:solidFill>
                <a:latin typeface="Calibri"/>
              </a:rPr>
              <a:t>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a:t>
            </a:r>
          </a:p>
          <a:p>
            <a:pPr>
              <a:lnSpc>
                <a:spcPct val="135000"/>
              </a:lnSpc>
              <a:spcBef>
                <a:spcPts val="1400"/>
              </a:spcBef>
              <a:spcAft>
                <a:spcPts val="600"/>
              </a:spcAft>
            </a:pPr>
            <a:r>
              <a:rPr sz="1600" b="0">
                <a:solidFill>
                  <a:srgbClr val="111111"/>
                </a:solidFill>
                <a:latin typeface="Calibri"/>
              </a:rPr>
              <a:t>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a:t>
            </a:r>
          </a:p>
          <a:p>
            <a:pPr>
              <a:lnSpc>
                <a:spcPct val="135000"/>
              </a:lnSpc>
              <a:spcBef>
                <a:spcPts val="1400"/>
              </a:spcBef>
              <a:spcAft>
                <a:spcPts val="600"/>
              </a:spcAft>
            </a:pPr>
            <a:r>
              <a:rPr sz="1600" b="0">
                <a:solidFill>
                  <a:srgbClr val="111111"/>
                </a:solidFill>
                <a:latin typeface="Calibri"/>
              </a:rPr>
              <a:t>Tikona Capital, its affiliates, directors, employees, or research analysts may, from time to time, hold positions in the securities mentioned, or in instruments related to such securities, and may transact in them in a manner inconsistent with the views expressed herein.</a:t>
            </a:r>
          </a:p>
          <a:p>
            <a:pPr>
              <a:lnSpc>
                <a:spcPct val="135000"/>
              </a:lnSpc>
              <a:spcBef>
                <a:spcPts val="1400"/>
              </a:spcBef>
              <a:spcAft>
                <a:spcPts val="600"/>
              </a:spcAft>
            </a:pPr>
            <a:r>
              <a:rPr sz="1600" b="0">
                <a:solidFill>
                  <a:srgbClr val="111111"/>
                </a:solidFill>
                <a:latin typeface="Calibri"/>
              </a:rPr>
              <a:t>This document is the intellectual property of Tikona Capital. No part of it may be reproduced, distributed, or transmitted without prior written consent. Unauthorized use is prohibited.</a:t>
            </a:r>
          </a:p>
          <a:p>
            <a:pPr>
              <a:lnSpc>
                <a:spcPct val="135000"/>
              </a:lnSpc>
              <a:spcBef>
                <a:spcPts val="1400"/>
              </a:spcBef>
              <a:spcAft>
                <a:spcPts val="600"/>
              </a:spcAft>
            </a:pPr>
            <a:r>
              <a:rPr sz="1600" b="0">
                <a:solidFill>
                  <a:srgbClr val="111111"/>
                </a:solidFill>
                <a:latin typeface="Calibri"/>
              </a:rPr>
              <a:t>For grievances, contact: research@tikonacapital.in.</a:t>
            </a:r>
          </a:p>
        </p:txBody>
      </p:sp>
      <p:pic>
        <p:nvPicPr>
          <p:cNvPr id="14" name="Picture 13" descr="signature.png"/>
          <p:cNvPicPr>
            <a:picLocks noChangeAspect="1"/>
          </p:cNvPicPr>
          <p:nvPr/>
        </p:nvPicPr>
        <p:blipFill>
          <a:blip r:embed="rId3"/>
          <a:stretch>
            <a:fillRect/>
          </a:stretch>
        </p:blipFill>
        <p:spPr>
          <a:xfrm>
            <a:off x="9636177" y="5303520"/>
            <a:ext cx="109728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TotalTime>
  <Words>5253</Words>
  <Application>Microsoft Office PowerPoint</Application>
  <PresentationFormat>Widescreen</PresentationFormat>
  <Paragraphs>710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Kishankumar Yadav</cp:lastModifiedBy>
  <cp:revision>3</cp:revision>
  <dcterms:created xsi:type="dcterms:W3CDTF">2013-01-27T09:14:16Z</dcterms:created>
  <dcterms:modified xsi:type="dcterms:W3CDTF">2026-05-04T14:05:50Z</dcterms:modified>
  <cp:category/>
</cp:coreProperties>
</file>