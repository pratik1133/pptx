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8016" y="54864"/>
            <a:ext cx="1700784"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9585655" y="91440"/>
            <a:ext cx="2331720" cy="201168"/>
          </a:xfrm>
          <a:prstGeom prst="rect">
            <a:avLst/>
          </a:prstGeom>
          <a:noFill/>
        </p:spPr>
        <p:txBody>
          <a:bodyPr wrap="square" lIns="36576" rIns="36576" tIns="9144" bIns="9144">
            <a:spAutoFit/>
          </a:bodyPr>
          <a:lstStyle/>
          <a:p>
            <a:pPr algn="ctr"/>
            <a:r>
              <a:rPr sz="800" b="1">
                <a:solidFill>
                  <a:srgbClr val="FFFFFF"/>
                </a:solidFill>
                <a:latin typeface="Calibri"/>
              </a:rPr>
              <a:t>INITIATION COVERAGE - Q2 FY25-26</a:t>
            </a:r>
          </a:p>
        </p:txBody>
      </p:sp>
      <p:sp>
        <p:nvSpPr>
          <p:cNvPr id="6" name="TextBox 5"/>
          <p:cNvSpPr txBox="1"/>
          <p:nvPr/>
        </p:nvSpPr>
        <p:spPr>
          <a:xfrm>
            <a:off x="201168" y="502920"/>
            <a:ext cx="4709160" cy="411480"/>
          </a:xfrm>
          <a:prstGeom prst="rect">
            <a:avLst/>
          </a:prstGeom>
          <a:noFill/>
        </p:spPr>
        <p:txBody>
          <a:bodyPr wrap="square" lIns="36576" rIns="36576" tIns="9144" bIns="9144">
            <a:spAutoFit/>
          </a:bodyPr>
          <a:lstStyle/>
          <a:p>
            <a:r>
              <a:rPr sz="2400" b="1">
                <a:solidFill>
                  <a:srgbClr val="FFFFFF"/>
                </a:solidFill>
                <a:latin typeface="Calibri"/>
              </a:rPr>
              <a:t>Motilal Oswal Financial Services Ltd</a:t>
            </a:r>
          </a:p>
        </p:txBody>
      </p:sp>
      <p:sp>
        <p:nvSpPr>
          <p:cNvPr id="7" name="Rounded Rectangle 6"/>
          <p:cNvSpPr/>
          <p:nvPr/>
        </p:nvSpPr>
        <p:spPr>
          <a:xfrm>
            <a:off x="4937760" y="566928"/>
            <a:ext cx="566928" cy="256032"/>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6048" y="585216"/>
            <a:ext cx="530352" cy="201168"/>
          </a:xfrm>
          <a:prstGeom prst="rect">
            <a:avLst/>
          </a:prstGeom>
          <a:noFill/>
        </p:spPr>
        <p:txBody>
          <a:bodyPr wrap="square" lIns="36576" rIns="36576" tIns="9144" bIns="9144">
            <a:spAutoFit/>
          </a:bodyPr>
          <a:lstStyle/>
          <a:p>
            <a:pPr algn="ctr"/>
            <a:r>
              <a:rPr sz="800" b="1">
                <a:solidFill>
                  <a:srgbClr val="1F4690"/>
                </a:solidFill>
                <a:latin typeface="Calibri"/>
              </a:rPr>
              <a:t>BUY</a:t>
            </a:r>
          </a:p>
        </p:txBody>
      </p:sp>
      <p:sp>
        <p:nvSpPr>
          <p:cNvPr id="9" name="TextBox 8"/>
          <p:cNvSpPr txBox="1"/>
          <p:nvPr/>
        </p:nvSpPr>
        <p:spPr>
          <a:xfrm>
            <a:off x="5577840" y="640080"/>
            <a:ext cx="4087368" cy="146304"/>
          </a:xfrm>
          <a:prstGeom prst="rect">
            <a:avLst/>
          </a:prstGeom>
          <a:noFill/>
        </p:spPr>
        <p:txBody>
          <a:bodyPr wrap="square" lIns="36576" rIns="36576" tIns="9144" bIns="9144">
            <a:spAutoFit/>
          </a:bodyPr>
          <a:lstStyle/>
          <a:p>
            <a:r>
              <a:rPr sz="750" b="0">
                <a:solidFill>
                  <a:srgbClr val="D9E2F2"/>
                </a:solidFill>
                <a:latin typeface="Calibri"/>
              </a:rPr>
              <a:t>NSE: MOFSL  |  Financial Services / Capital Markets</a:t>
            </a:r>
          </a:p>
        </p:txBody>
      </p:sp>
      <p:sp>
        <p:nvSpPr>
          <p:cNvPr id="10" name="Rectangle 9"/>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 y="987552"/>
            <a:ext cx="1919173" cy="128016"/>
          </a:xfrm>
          <a:prstGeom prst="rect">
            <a:avLst/>
          </a:prstGeom>
          <a:noFill/>
        </p:spPr>
        <p:txBody>
          <a:bodyPr wrap="square" lIns="36576" rIns="36576" tIns="9144" bIns="9144">
            <a:spAutoFit/>
          </a:bodyPr>
          <a:lstStyle/>
          <a:p>
            <a:r>
              <a:rPr sz="700" b="1">
                <a:solidFill>
                  <a:srgbClr val="BFD0EA"/>
                </a:solidFill>
                <a:latin typeface="Calibri"/>
              </a:rPr>
              <a:t>CMP</a:t>
            </a:r>
          </a:p>
        </p:txBody>
      </p:sp>
      <p:sp>
        <p:nvSpPr>
          <p:cNvPr id="12" name="TextBox 11"/>
          <p:cNvSpPr txBox="1"/>
          <p:nvPr/>
        </p:nvSpPr>
        <p:spPr>
          <a:xfrm>
            <a:off x="201168" y="1133856"/>
            <a:ext cx="1919173" cy="201168"/>
          </a:xfrm>
          <a:prstGeom prst="rect">
            <a:avLst/>
          </a:prstGeom>
          <a:noFill/>
        </p:spPr>
        <p:txBody>
          <a:bodyPr wrap="square" lIns="36576" rIns="36576" tIns="9144" bIns="9144">
            <a:spAutoFit/>
          </a:bodyPr>
          <a:lstStyle/>
          <a:p>
            <a:r>
              <a:rPr sz="1200" b="1">
                <a:solidFill>
                  <a:srgbClr val="FFA500"/>
                </a:solidFill>
                <a:latin typeface="Calibri"/>
              </a:rPr>
              <a:t>₹822.90</a:t>
            </a:r>
          </a:p>
        </p:txBody>
      </p:sp>
      <p:sp>
        <p:nvSpPr>
          <p:cNvPr id="13" name="TextBox 12"/>
          <p:cNvSpPr txBox="1"/>
          <p:nvPr/>
        </p:nvSpPr>
        <p:spPr>
          <a:xfrm>
            <a:off x="201168" y="1353312"/>
            <a:ext cx="1919173" cy="128016"/>
          </a:xfrm>
          <a:prstGeom prst="rect">
            <a:avLst/>
          </a:prstGeom>
          <a:noFill/>
        </p:spPr>
        <p:txBody>
          <a:bodyPr wrap="square" lIns="36576" rIns="36576" tIns="9144" bIns="9144">
            <a:spAutoFit/>
          </a:bodyPr>
          <a:lstStyle/>
          <a:p>
            <a:r>
              <a:rPr sz="600" b="0">
                <a:solidFill>
                  <a:srgbClr val="C8D2E3"/>
                </a:solidFill>
                <a:latin typeface="Calibri"/>
              </a:rPr>
              <a:t>As of 28/04/2026</a:t>
            </a:r>
          </a:p>
        </p:txBody>
      </p:sp>
      <p:sp>
        <p:nvSpPr>
          <p:cNvPr id="14" name="Rectangle 13"/>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6061" y="987552"/>
            <a:ext cx="1919173" cy="128016"/>
          </a:xfrm>
          <a:prstGeom prst="rect">
            <a:avLst/>
          </a:prstGeom>
          <a:noFill/>
        </p:spPr>
        <p:txBody>
          <a:bodyPr wrap="square" lIns="36576" rIns="36576" tIns="9144" bIns="9144">
            <a:spAutoFit/>
          </a:bodyPr>
          <a:lstStyle/>
          <a:p>
            <a:r>
              <a:rPr sz="700" b="1">
                <a:solidFill>
                  <a:srgbClr val="BFD0EA"/>
                </a:solidFill>
                <a:latin typeface="Calibri"/>
              </a:rPr>
              <a:t>TARGET PRICE</a:t>
            </a:r>
          </a:p>
        </p:txBody>
      </p:sp>
      <p:sp>
        <p:nvSpPr>
          <p:cNvPr id="16" name="TextBox 15"/>
          <p:cNvSpPr txBox="1"/>
          <p:nvPr/>
        </p:nvSpPr>
        <p:spPr>
          <a:xfrm>
            <a:off x="2166061" y="1133856"/>
            <a:ext cx="1919173" cy="201168"/>
          </a:xfrm>
          <a:prstGeom prst="rect">
            <a:avLst/>
          </a:prstGeom>
          <a:noFill/>
        </p:spPr>
        <p:txBody>
          <a:bodyPr wrap="square" lIns="36576" rIns="36576" tIns="9144" bIns="9144">
            <a:spAutoFit/>
          </a:bodyPr>
          <a:lstStyle/>
          <a:p>
            <a:r>
              <a:rPr sz="1200" b="1">
                <a:solidFill>
                  <a:srgbClr val="FFA500"/>
                </a:solidFill>
                <a:latin typeface="Calibri"/>
              </a:rPr>
              <a:t>₹1,127</a:t>
            </a:r>
          </a:p>
        </p:txBody>
      </p:sp>
      <p:sp>
        <p:nvSpPr>
          <p:cNvPr id="17" name="TextBox 16"/>
          <p:cNvSpPr txBox="1"/>
          <p:nvPr/>
        </p:nvSpPr>
        <p:spPr>
          <a:xfrm>
            <a:off x="2166061" y="1353312"/>
            <a:ext cx="1919173" cy="128016"/>
          </a:xfrm>
          <a:prstGeom prst="rect">
            <a:avLst/>
          </a:prstGeom>
          <a:noFill/>
        </p:spPr>
        <p:txBody>
          <a:bodyPr wrap="square" lIns="36576" rIns="36576" tIns="9144" bIns="9144">
            <a:spAutoFit/>
          </a:bodyPr>
          <a:lstStyle/>
          <a:p>
            <a:r>
              <a:rPr sz="600" b="0">
                <a:solidFill>
                  <a:srgbClr val="C8D2E3"/>
                </a:solidFill>
                <a:latin typeface="Calibri"/>
              </a:rPr>
              <a:t>12M upside case</a:t>
            </a:r>
          </a:p>
        </p:txBody>
      </p:sp>
      <p:sp>
        <p:nvSpPr>
          <p:cNvPr id="18" name="Rectangle 17"/>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30954"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a:t>
            </a:r>
          </a:p>
        </p:txBody>
      </p:sp>
      <p:sp>
        <p:nvSpPr>
          <p:cNvPr id="20" name="TextBox 19"/>
          <p:cNvSpPr txBox="1"/>
          <p:nvPr/>
        </p:nvSpPr>
        <p:spPr>
          <a:xfrm>
            <a:off x="4130954" y="1133856"/>
            <a:ext cx="1919173" cy="201168"/>
          </a:xfrm>
          <a:prstGeom prst="rect">
            <a:avLst/>
          </a:prstGeom>
          <a:noFill/>
        </p:spPr>
        <p:txBody>
          <a:bodyPr wrap="square" lIns="36576" rIns="36576" tIns="9144" bIns="9144">
            <a:spAutoFit/>
          </a:bodyPr>
          <a:lstStyle/>
          <a:p>
            <a:r>
              <a:rPr sz="1200" b="1">
                <a:solidFill>
                  <a:srgbClr val="FFFFFF"/>
                </a:solidFill>
                <a:latin typeface="Calibri"/>
              </a:rPr>
              <a:t>₹49,079 Cr</a:t>
            </a:r>
          </a:p>
        </p:txBody>
      </p:sp>
      <p:sp>
        <p:nvSpPr>
          <p:cNvPr id="21" name="Rectangle 20"/>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5847"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 CATEGORY</a:t>
            </a:r>
          </a:p>
        </p:txBody>
      </p:sp>
      <p:sp>
        <p:nvSpPr>
          <p:cNvPr id="23" name="TextBox 22"/>
          <p:cNvSpPr txBox="1"/>
          <p:nvPr/>
        </p:nvSpPr>
        <p:spPr>
          <a:xfrm>
            <a:off x="6095847" y="1133856"/>
            <a:ext cx="1919173" cy="201168"/>
          </a:xfrm>
          <a:prstGeom prst="rect">
            <a:avLst/>
          </a:prstGeom>
          <a:noFill/>
        </p:spPr>
        <p:txBody>
          <a:bodyPr wrap="square" lIns="36576" rIns="36576" tIns="9144" bIns="9144">
            <a:spAutoFit/>
          </a:bodyPr>
          <a:lstStyle/>
          <a:p>
            <a:r>
              <a:rPr sz="1200" b="1">
                <a:solidFill>
                  <a:srgbClr val="FFFFFF"/>
                </a:solidFill>
                <a:latin typeface="Calibri"/>
              </a:rPr>
              <a:t>Mid Cap</a:t>
            </a:r>
          </a:p>
        </p:txBody>
      </p:sp>
      <p:sp>
        <p:nvSpPr>
          <p:cNvPr id="24" name="TextBox 23"/>
          <p:cNvSpPr txBox="1"/>
          <p:nvPr/>
        </p:nvSpPr>
        <p:spPr>
          <a:xfrm>
            <a:off x="6095847" y="1353312"/>
            <a:ext cx="1919173" cy="128016"/>
          </a:xfrm>
          <a:prstGeom prst="rect">
            <a:avLst/>
          </a:prstGeom>
          <a:noFill/>
        </p:spPr>
        <p:txBody>
          <a:bodyPr wrap="square" lIns="36576" rIns="36576" tIns="9144" bIns="9144">
            <a:spAutoFit/>
          </a:bodyPr>
          <a:lstStyle/>
          <a:p>
            <a:r>
              <a:rPr sz="600" b="0">
                <a:solidFill>
                  <a:srgbClr val="C8D2E3"/>
                </a:solidFill>
                <a:latin typeface="Calibri"/>
              </a:rPr>
              <a:t>Financial Services leader</a:t>
            </a:r>
          </a:p>
        </p:txBody>
      </p:sp>
      <p:sp>
        <p:nvSpPr>
          <p:cNvPr id="25" name="Rectangle 24"/>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0740" y="987552"/>
            <a:ext cx="1919173" cy="128016"/>
          </a:xfrm>
          <a:prstGeom prst="rect">
            <a:avLst/>
          </a:prstGeom>
          <a:noFill/>
        </p:spPr>
        <p:txBody>
          <a:bodyPr wrap="square" lIns="36576" rIns="36576" tIns="9144" bIns="9144">
            <a:spAutoFit/>
          </a:bodyPr>
          <a:lstStyle/>
          <a:p>
            <a:r>
              <a:rPr sz="700" b="1">
                <a:solidFill>
                  <a:srgbClr val="BFD0EA"/>
                </a:solidFill>
                <a:latin typeface="Calibri"/>
              </a:rPr>
              <a:t>SAARTHI SCORE</a:t>
            </a:r>
          </a:p>
        </p:txBody>
      </p:sp>
      <p:sp>
        <p:nvSpPr>
          <p:cNvPr id="27" name="TextBox 26"/>
          <p:cNvSpPr txBox="1"/>
          <p:nvPr/>
        </p:nvSpPr>
        <p:spPr>
          <a:xfrm>
            <a:off x="8060740" y="1133856"/>
            <a:ext cx="1919173" cy="201168"/>
          </a:xfrm>
          <a:prstGeom prst="rect">
            <a:avLst/>
          </a:prstGeom>
          <a:noFill/>
        </p:spPr>
        <p:txBody>
          <a:bodyPr wrap="square" lIns="36576" rIns="36576" tIns="9144" bIns="9144">
            <a:spAutoFit/>
          </a:bodyPr>
          <a:lstStyle/>
          <a:p>
            <a:r>
              <a:rPr sz="1200" b="1">
                <a:solidFill>
                  <a:srgbClr val="FFA500"/>
                </a:solidFill>
                <a:latin typeface="Calibri"/>
              </a:rPr>
              <a:t>72/100</a:t>
            </a:r>
          </a:p>
        </p:txBody>
      </p:sp>
      <p:sp>
        <p:nvSpPr>
          <p:cNvPr id="28" name="TextBox 27"/>
          <p:cNvSpPr txBox="1"/>
          <p:nvPr/>
        </p:nvSpPr>
        <p:spPr>
          <a:xfrm>
            <a:off x="8060740" y="1353312"/>
            <a:ext cx="1919173" cy="128016"/>
          </a:xfrm>
          <a:prstGeom prst="rect">
            <a:avLst/>
          </a:prstGeom>
          <a:noFill/>
        </p:spPr>
        <p:txBody>
          <a:bodyPr wrap="square" lIns="36576" rIns="36576" tIns="9144" bIns="9144">
            <a:spAutoFit/>
          </a:bodyPr>
          <a:lstStyle/>
          <a:p>
            <a:r>
              <a:rPr sz="600" b="0">
                <a:solidFill>
                  <a:srgbClr val="C8D2E3"/>
                </a:solidFill>
                <a:latin typeface="Calibri"/>
              </a:rPr>
              <a:t>BUY (70-84 range)</a:t>
            </a:r>
          </a:p>
        </p:txBody>
      </p:sp>
      <p:sp>
        <p:nvSpPr>
          <p:cNvPr id="29" name="Rectangle 28"/>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25634" y="987552"/>
            <a:ext cx="1919173" cy="128016"/>
          </a:xfrm>
          <a:prstGeom prst="rect">
            <a:avLst/>
          </a:prstGeom>
          <a:noFill/>
        </p:spPr>
        <p:txBody>
          <a:bodyPr wrap="square" lIns="36576" rIns="36576" tIns="9144" bIns="9144">
            <a:spAutoFit/>
          </a:bodyPr>
          <a:lstStyle/>
          <a:p>
            <a:r>
              <a:rPr sz="700" b="1">
                <a:solidFill>
                  <a:srgbClr val="BFD0EA"/>
                </a:solidFill>
                <a:latin typeface="Calibri"/>
              </a:rPr>
              <a:t>PROB. WEIGHTED TP</a:t>
            </a:r>
          </a:p>
        </p:txBody>
      </p:sp>
      <p:sp>
        <p:nvSpPr>
          <p:cNvPr id="31" name="TextBox 30"/>
          <p:cNvSpPr txBox="1"/>
          <p:nvPr/>
        </p:nvSpPr>
        <p:spPr>
          <a:xfrm>
            <a:off x="10025634" y="1133856"/>
            <a:ext cx="1919173" cy="201168"/>
          </a:xfrm>
          <a:prstGeom prst="rect">
            <a:avLst/>
          </a:prstGeom>
          <a:noFill/>
        </p:spPr>
        <p:txBody>
          <a:bodyPr wrap="square" lIns="36576" rIns="36576" tIns="9144" bIns="9144">
            <a:spAutoFit/>
          </a:bodyPr>
          <a:lstStyle/>
          <a:p>
            <a:r>
              <a:rPr sz="1200" b="1">
                <a:solidFill>
                  <a:srgbClr val="FFFFFF"/>
                </a:solidFill>
                <a:latin typeface="Calibri"/>
              </a:rPr>
              <a:t>₹1,109</a:t>
            </a:r>
          </a:p>
        </p:txBody>
      </p:sp>
      <p:sp>
        <p:nvSpPr>
          <p:cNvPr id="32" name="TextBox 31"/>
          <p:cNvSpPr txBox="1"/>
          <p:nvPr/>
        </p:nvSpPr>
        <p:spPr>
          <a:xfrm>
            <a:off x="9265615" y="1572768"/>
            <a:ext cx="2697480" cy="128016"/>
          </a:xfrm>
          <a:prstGeom prst="rect">
            <a:avLst/>
          </a:prstGeom>
          <a:noFill/>
        </p:spPr>
        <p:txBody>
          <a:bodyPr wrap="square" lIns="36576" rIns="36576" tIns="9144" bIns="9144">
            <a:spAutoFit/>
          </a:bodyPr>
          <a:lstStyle/>
          <a:p>
            <a:pPr algn="r"/>
            <a:r>
              <a:rPr sz="650" b="0">
                <a:solidFill>
                  <a:srgbClr val="E8EEF8"/>
                </a:solidFill>
                <a:latin typeface="Calibri"/>
              </a:rPr>
              <a:t>Report Reference: Q2 FY2025-26 | 28/04/2026</a:t>
            </a:r>
          </a:p>
        </p:txBody>
      </p:sp>
      <p:sp>
        <p:nvSpPr>
          <p:cNvPr id="33" name="Rectangle 32"/>
          <p:cNvSpPr/>
          <p:nvPr/>
        </p:nvSpPr>
        <p:spPr>
          <a:xfrm>
            <a:off x="0" y="1737360"/>
            <a:ext cx="12191695"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 y="1810512"/>
            <a:ext cx="11789359" cy="320040"/>
          </a:xfrm>
          <a:prstGeom prst="rect">
            <a:avLst/>
          </a:prstGeom>
          <a:noFill/>
        </p:spPr>
        <p:txBody>
          <a:bodyPr wrap="square" lIns="36576" rIns="36576" tIns="9144" bIns="9144">
            <a:spAutoFit/>
          </a:bodyPr>
          <a:lstStyle/>
          <a:p>
            <a:r>
              <a:rPr sz="1300" b="1">
                <a:solidFill>
                  <a:srgbClr val="1F4690"/>
                </a:solidFill>
                <a:latin typeface="Calibri"/>
              </a:rPr>
              <a:t>"MOFSL - BUY"</a:t>
            </a:r>
          </a:p>
        </p:txBody>
      </p:sp>
      <p:sp>
        <p:nvSpPr>
          <p:cNvPr id="35" name="Rounded Rectangle 34"/>
          <p:cNvSpPr/>
          <p:nvPr/>
        </p:nvSpPr>
        <p:spPr>
          <a:xfrm>
            <a:off x="201168" y="2359152"/>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1168" y="2359152"/>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2432304"/>
            <a:ext cx="6053328" cy="182880"/>
          </a:xfrm>
          <a:prstGeom prst="rect">
            <a:avLst/>
          </a:prstGeom>
          <a:noFill/>
        </p:spPr>
        <p:txBody>
          <a:bodyPr wrap="square" lIns="36576" rIns="36576" tIns="9144" bIns="9144">
            <a:spAutoFit/>
          </a:bodyPr>
          <a:lstStyle/>
          <a:p>
            <a:r>
              <a:rPr sz="900" b="1">
                <a:solidFill>
                  <a:srgbClr val="1F4690"/>
                </a:solidFill>
                <a:latin typeface="Calibri"/>
              </a:rPr>
              <a:t>Investment Thesis</a:t>
            </a:r>
          </a:p>
        </p:txBody>
      </p:sp>
      <p:sp>
        <p:nvSpPr>
          <p:cNvPr id="38" name="TextBox 37"/>
          <p:cNvSpPr txBox="1"/>
          <p:nvPr/>
        </p:nvSpPr>
        <p:spPr>
          <a:xfrm>
            <a:off x="310896" y="2633472"/>
            <a:ext cx="6053328" cy="896112"/>
          </a:xfrm>
          <a:prstGeom prst="rect">
            <a:avLst/>
          </a:prstGeom>
          <a:noFill/>
        </p:spPr>
        <p:txBody>
          <a:bodyPr wrap="square" lIns="36576" rIns="36576" tIns="9144" bIns="9144">
            <a:spAutoFit/>
          </a:bodyPr>
          <a:lstStyle/>
          <a:p>
            <a:r>
              <a:rPr sz="800" b="1">
                <a:solidFill>
                  <a:srgbClr val="111111"/>
                </a:solidFill>
                <a:latin typeface="Calibri"/>
              </a:rPr>
              <a:t/>
            </a:r>
          </a:p>
        </p:txBody>
      </p:sp>
      <p:sp>
        <p:nvSpPr>
          <p:cNvPr id="39" name="Rounded Rectangle 38"/>
          <p:cNvSpPr/>
          <p:nvPr/>
        </p:nvSpPr>
        <p:spPr>
          <a:xfrm>
            <a:off x="2011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1168" y="3712464"/>
            <a:ext cx="32004" cy="8046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3767328"/>
            <a:ext cx="2907792" cy="182880"/>
          </a:xfrm>
          <a:prstGeom prst="rect">
            <a:avLst/>
          </a:prstGeom>
          <a:noFill/>
        </p:spPr>
        <p:txBody>
          <a:bodyPr wrap="square" lIns="36576" rIns="36576" tIns="9144" bIns="9144">
            <a:spAutoFit/>
          </a:bodyPr>
          <a:lstStyle/>
          <a:p>
            <a:r>
              <a:rPr sz="850" b="1">
                <a:solidFill>
                  <a:srgbClr val="1F4690"/>
                </a:solidFill>
                <a:latin typeface="Calibri"/>
              </a:rPr>
              <a:t>ARR Transformation</a:t>
            </a:r>
          </a:p>
        </p:txBody>
      </p:sp>
      <p:sp>
        <p:nvSpPr>
          <p:cNvPr id="42" name="TextBox 41"/>
          <p:cNvSpPr txBox="1"/>
          <p:nvPr/>
        </p:nvSpPr>
        <p:spPr>
          <a:xfrm>
            <a:off x="292608" y="3968496"/>
            <a:ext cx="2907792" cy="493776"/>
          </a:xfrm>
          <a:prstGeom prst="rect">
            <a:avLst/>
          </a:prstGeom>
          <a:noFill/>
        </p:spPr>
        <p:txBody>
          <a:bodyPr wrap="square" lIns="36576" rIns="36576" tIns="9144" bIns="9144">
            <a:spAutoFit/>
          </a:bodyPr>
          <a:lstStyle/>
          <a:p>
            <a:r>
              <a:rPr sz="750" b="0">
                <a:solidFill>
                  <a:srgbClr val="111111"/>
                </a:solidFill>
                <a:latin typeface="Calibri"/>
              </a:rPr>
              <a:t>ARR at 65% of net revenues (up from 61%); fee-based at 45%. Annuity income reduces transaction-cycle volatility.</a:t>
            </a:r>
          </a:p>
        </p:txBody>
      </p:sp>
      <p:sp>
        <p:nvSpPr>
          <p:cNvPr id="43" name="Rounded Rectangle 42"/>
          <p:cNvSpPr/>
          <p:nvPr/>
        </p:nvSpPr>
        <p:spPr>
          <a:xfrm>
            <a:off x="34015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01568" y="3712464"/>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93008" y="3767328"/>
            <a:ext cx="2907792" cy="182880"/>
          </a:xfrm>
          <a:prstGeom prst="rect">
            <a:avLst/>
          </a:prstGeom>
          <a:noFill/>
        </p:spPr>
        <p:txBody>
          <a:bodyPr wrap="square" lIns="36576" rIns="36576" tIns="9144" bIns="9144">
            <a:spAutoFit/>
          </a:bodyPr>
          <a:lstStyle/>
          <a:p>
            <a:r>
              <a:rPr sz="850" b="1">
                <a:solidFill>
                  <a:srgbClr val="1F4690"/>
                </a:solidFill>
                <a:latin typeface="Calibri"/>
              </a:rPr>
              <a:t>Profitability Momentum</a:t>
            </a:r>
          </a:p>
        </p:txBody>
      </p:sp>
      <p:sp>
        <p:nvSpPr>
          <p:cNvPr id="46" name="TextBox 45"/>
          <p:cNvSpPr txBox="1"/>
          <p:nvPr/>
        </p:nvSpPr>
        <p:spPr>
          <a:xfrm>
            <a:off x="3493008" y="3968496"/>
            <a:ext cx="2907792" cy="493776"/>
          </a:xfrm>
          <a:prstGeom prst="rect">
            <a:avLst/>
          </a:prstGeom>
          <a:noFill/>
        </p:spPr>
        <p:txBody>
          <a:bodyPr wrap="square" lIns="36576" rIns="36576" tIns="9144" bIns="9144">
            <a:spAutoFit/>
          </a:bodyPr>
          <a:lstStyle/>
          <a:p>
            <a:r>
              <a:rPr sz="750" b="0">
                <a:solidFill>
                  <a:srgbClr val="111111"/>
                </a:solidFill>
                <a:latin typeface="Calibri"/>
              </a:rPr>
              <a:t>Q2FY25 PAT INR 1,242 Cr (+123% YoY); H1FY26 operating PAT INR 1,088 Cr (+11% YoY); Asset &amp; PWM businesses leading at +32% PAT growth.</a:t>
            </a:r>
          </a:p>
        </p:txBody>
      </p:sp>
      <p:sp>
        <p:nvSpPr>
          <p:cNvPr id="47" name="Rounded Rectangle 46"/>
          <p:cNvSpPr/>
          <p:nvPr/>
        </p:nvSpPr>
        <p:spPr>
          <a:xfrm>
            <a:off x="2011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01168" y="4608576"/>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4663440"/>
            <a:ext cx="2907792" cy="182880"/>
          </a:xfrm>
          <a:prstGeom prst="rect">
            <a:avLst/>
          </a:prstGeom>
          <a:noFill/>
        </p:spPr>
        <p:txBody>
          <a:bodyPr wrap="square" lIns="36576" rIns="36576" tIns="9144" bIns="9144">
            <a:spAutoFit/>
          </a:bodyPr>
          <a:lstStyle/>
          <a:p>
            <a:r>
              <a:rPr sz="850" b="1">
                <a:solidFill>
                  <a:srgbClr val="1F4690"/>
                </a:solidFill>
                <a:latin typeface="Calibri"/>
              </a:rPr>
              <a:t>AUM Scale and Outperformance</a:t>
            </a:r>
          </a:p>
        </p:txBody>
      </p:sp>
      <p:sp>
        <p:nvSpPr>
          <p:cNvPr id="50" name="TextBox 49"/>
          <p:cNvSpPr txBox="1"/>
          <p:nvPr/>
        </p:nvSpPr>
        <p:spPr>
          <a:xfrm>
            <a:off x="292608" y="4864608"/>
            <a:ext cx="2907792" cy="493776"/>
          </a:xfrm>
          <a:prstGeom prst="rect">
            <a:avLst/>
          </a:prstGeom>
          <a:noFill/>
        </p:spPr>
        <p:txBody>
          <a:bodyPr wrap="square" lIns="36576" rIns="36576" tIns="9144" bIns="9144">
            <a:spAutoFit/>
          </a:bodyPr>
          <a:lstStyle/>
          <a:p>
            <a:r>
              <a:rPr sz="750" b="0">
                <a:solidFill>
                  <a:srgbClr val="111111"/>
                </a:solidFill>
                <a:latin typeface="Calibri"/>
              </a:rPr>
              <a:t>Total AUM INR 1.77L Cr (+46% YoY). AMC AUM INR 1.89L Cr (+33%) with INR 11,610 Cr net flows. 91% of AUM outperforming benchmarks over 3 years.</a:t>
            </a:r>
          </a:p>
        </p:txBody>
      </p:sp>
      <p:sp>
        <p:nvSpPr>
          <p:cNvPr id="51" name="Rounded Rectangle 50"/>
          <p:cNvSpPr/>
          <p:nvPr/>
        </p:nvSpPr>
        <p:spPr>
          <a:xfrm>
            <a:off x="34015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401568" y="4608576"/>
            <a:ext cx="32004" cy="804672"/>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93008" y="4663440"/>
            <a:ext cx="2907792" cy="182880"/>
          </a:xfrm>
          <a:prstGeom prst="rect">
            <a:avLst/>
          </a:prstGeom>
          <a:noFill/>
        </p:spPr>
        <p:txBody>
          <a:bodyPr wrap="square" lIns="36576" rIns="36576" tIns="9144" bIns="9144">
            <a:spAutoFit/>
          </a:bodyPr>
          <a:lstStyle/>
          <a:p>
            <a:r>
              <a:rPr sz="850" b="1">
                <a:solidFill>
                  <a:srgbClr val="1F4690"/>
                </a:solidFill>
                <a:latin typeface="Calibri"/>
              </a:rPr>
              <a:t>Private Wealth Expansion</a:t>
            </a:r>
          </a:p>
        </p:txBody>
      </p:sp>
      <p:sp>
        <p:nvSpPr>
          <p:cNvPr id="54" name="TextBox 53"/>
          <p:cNvSpPr txBox="1"/>
          <p:nvPr/>
        </p:nvSpPr>
        <p:spPr>
          <a:xfrm>
            <a:off x="3493008" y="4864608"/>
            <a:ext cx="2907792" cy="493776"/>
          </a:xfrm>
          <a:prstGeom prst="rect">
            <a:avLst/>
          </a:prstGeom>
          <a:noFill/>
        </p:spPr>
        <p:txBody>
          <a:bodyPr wrap="square" lIns="36576" rIns="36576" tIns="9144" bIns="9144">
            <a:spAutoFit/>
          </a:bodyPr>
          <a:lstStyle/>
          <a:p>
            <a:r>
              <a:rPr sz="750" b="0">
                <a:solidFill>
                  <a:srgbClr val="111111"/>
                </a:solidFill>
                <a:latin typeface="Calibri"/>
              </a:rPr>
              <a:t>PWM AUM INR 1.96L Cr (+31% YoY); family count +41% YoY; PAT +14% (9M). Distribution book +34% YoY to INR 42,775 Cr.</a:t>
            </a:r>
          </a:p>
        </p:txBody>
      </p:sp>
      <p:sp>
        <p:nvSpPr>
          <p:cNvPr id="55" name="Rounded Rectangle 54"/>
          <p:cNvSpPr/>
          <p:nvPr/>
        </p:nvSpPr>
        <p:spPr>
          <a:xfrm>
            <a:off x="2011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01168" y="5504688"/>
            <a:ext cx="32004" cy="80467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92608" y="5559552"/>
            <a:ext cx="2907792" cy="182880"/>
          </a:xfrm>
          <a:prstGeom prst="rect">
            <a:avLst/>
          </a:prstGeom>
          <a:noFill/>
        </p:spPr>
        <p:txBody>
          <a:bodyPr wrap="square" lIns="36576" rIns="36576" tIns="9144" bIns="9144">
            <a:spAutoFit/>
          </a:bodyPr>
          <a:lstStyle/>
          <a:p>
            <a:r>
              <a:rPr sz="850" b="1">
                <a:solidFill>
                  <a:srgbClr val="1F4690"/>
                </a:solidFill>
                <a:latin typeface="Calibri"/>
              </a:rPr>
              <a:t>Valuation Opportunity</a:t>
            </a:r>
          </a:p>
        </p:txBody>
      </p:sp>
      <p:sp>
        <p:nvSpPr>
          <p:cNvPr id="58" name="TextBox 57"/>
          <p:cNvSpPr txBox="1"/>
          <p:nvPr/>
        </p:nvSpPr>
        <p:spPr>
          <a:xfrm>
            <a:off x="292608" y="5760720"/>
            <a:ext cx="2907792" cy="493776"/>
          </a:xfrm>
          <a:prstGeom prst="rect">
            <a:avLst/>
          </a:prstGeom>
          <a:noFill/>
        </p:spPr>
        <p:txBody>
          <a:bodyPr wrap="square" lIns="36576" rIns="36576" tIns="9144" bIns="9144">
            <a:spAutoFit/>
          </a:bodyPr>
          <a:lstStyle/>
          <a:p>
            <a:r>
              <a:rPr sz="750" b="0">
                <a:solidFill>
                  <a:srgbClr val="111111"/>
                </a:solidFill>
                <a:latin typeface="Calibri"/>
              </a:rPr>
              <a:t>CMP INR 822.90 vs consensus TP INR 1,126.67 (max INR 1,200) — 37% upside. Probability-weighted target INR 1,109.</a:t>
            </a:r>
          </a:p>
        </p:txBody>
      </p:sp>
      <p:sp>
        <p:nvSpPr>
          <p:cNvPr id="59" name="Rounded Rectangle 58"/>
          <p:cNvSpPr/>
          <p:nvPr/>
        </p:nvSpPr>
        <p:spPr>
          <a:xfrm>
            <a:off x="34015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401568" y="5504688"/>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93008" y="5559552"/>
            <a:ext cx="2907792" cy="182880"/>
          </a:xfrm>
          <a:prstGeom prst="rect">
            <a:avLst/>
          </a:prstGeom>
          <a:noFill/>
        </p:spPr>
        <p:txBody>
          <a:bodyPr wrap="square" lIns="36576" rIns="36576" tIns="9144" bIns="9144">
            <a:spAutoFit/>
          </a:bodyPr>
          <a:lstStyle/>
          <a:p>
            <a:r>
              <a:rPr sz="850" b="1">
                <a:solidFill>
                  <a:srgbClr val="1F4690"/>
                </a:solidFill>
                <a:latin typeface="Calibri"/>
              </a:rPr>
              <a:t>Credit Upgrade</a:t>
            </a:r>
          </a:p>
        </p:txBody>
      </p:sp>
      <p:sp>
        <p:nvSpPr>
          <p:cNvPr id="62" name="TextBox 61"/>
          <p:cNvSpPr txBox="1"/>
          <p:nvPr/>
        </p:nvSpPr>
        <p:spPr>
          <a:xfrm>
            <a:off x="3493008" y="5760720"/>
            <a:ext cx="2907792" cy="493776"/>
          </a:xfrm>
          <a:prstGeom prst="rect">
            <a:avLst/>
          </a:prstGeom>
          <a:noFill/>
        </p:spPr>
        <p:txBody>
          <a:bodyPr wrap="square" lIns="36576" rIns="36576" tIns="9144" bIns="9144">
            <a:spAutoFit/>
          </a:bodyPr>
          <a:lstStyle/>
          <a:p>
            <a:r>
              <a:rPr sz="750" b="0">
                <a:solidFill>
                  <a:srgbClr val="111111"/>
                </a:solidFill>
                <a:latin typeface="Calibri"/>
              </a:rPr>
              <a:t>Long-term credit rating upgraded to AA+ (Stable) by ICRA. Net worth INR 12,871 Cr (+16% YoY).</a:t>
            </a:r>
          </a:p>
        </p:txBody>
      </p:sp>
      <p:sp>
        <p:nvSpPr>
          <p:cNvPr id="63" name="TextBox 62"/>
          <p:cNvSpPr txBox="1"/>
          <p:nvPr/>
        </p:nvSpPr>
        <p:spPr>
          <a:xfrm>
            <a:off x="6601968" y="2359152"/>
            <a:ext cx="3182112" cy="164592"/>
          </a:xfrm>
          <a:prstGeom prst="rect">
            <a:avLst/>
          </a:prstGeom>
          <a:noFill/>
        </p:spPr>
        <p:txBody>
          <a:bodyPr wrap="square" lIns="36576" rIns="36576" tIns="9144" bIns="9144">
            <a:spAutoFit/>
          </a:bodyPr>
          <a:lstStyle/>
          <a:p>
            <a:r>
              <a:rPr sz="800" b="1">
                <a:solidFill>
                  <a:srgbClr val="1F4690"/>
                </a:solidFill>
                <a:latin typeface="Calibri"/>
              </a:rPr>
              <a:t>FINANCIAL SUMMARY (INR CRORE)</a:t>
            </a:r>
          </a:p>
        </p:txBody>
      </p:sp>
      <p:graphicFrame>
        <p:nvGraphicFramePr>
          <p:cNvPr id="64" name="Table 63"/>
          <p:cNvGraphicFramePr>
            <a:graphicFrameLocks noGrp="1"/>
          </p:cNvGraphicFramePr>
          <p:nvPr/>
        </p:nvGraphicFramePr>
        <p:xfrm>
          <a:off x="6601968" y="2569464"/>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700" b="1">
                          <a:solidFill>
                            <a:srgbClr val="FFFFFF"/>
                          </a:solidFill>
                          <a:latin typeface="Calibri"/>
                        </a:rPr>
                        <a:t>Metric</a:t>
                      </a:r>
                    </a:p>
                  </a:txBody>
                  <a:tcPr marL="22860" marR="22860" marT="5486" marB="5486">
                    <a:solidFill>
                      <a:srgbClr val="1F4690"/>
                    </a:solidFill>
                  </a:tcPr>
                </a:tc>
                <a:tc>
                  <a:txBody>
                    <a:bodyPr/>
                    <a:lstStyle/>
                    <a:p>
                      <a:pPr algn="r"/>
                      <a:r>
                        <a:rPr sz="700" b="1">
                          <a:solidFill>
                            <a:srgbClr val="FFFFFF"/>
                          </a:solidFill>
                          <a:latin typeface="Calibri"/>
                        </a:rPr>
                        <a:t>FY24A</a:t>
                      </a:r>
                    </a:p>
                  </a:txBody>
                  <a:tcPr marL="22860" marR="22860" marT="5486" marB="5486">
                    <a:solidFill>
                      <a:srgbClr val="1F4690"/>
                    </a:solidFill>
                  </a:tcPr>
                </a:tc>
                <a:tc>
                  <a:txBody>
                    <a:bodyPr/>
                    <a:lstStyle/>
                    <a:p>
                      <a:pPr algn="r"/>
                      <a:r>
                        <a:rPr sz="700" b="1">
                          <a:solidFill>
                            <a:srgbClr val="FFFFFF"/>
                          </a:solidFill>
                          <a:latin typeface="Calibri"/>
                        </a:rPr>
                        <a:t>FY25A</a:t>
                      </a:r>
                    </a:p>
                  </a:txBody>
                  <a:tcPr marL="22860" marR="22860" marT="5486" marB="5486">
                    <a:solidFill>
                      <a:srgbClr val="1F4690"/>
                    </a:solidFill>
                  </a:tcPr>
                </a:tc>
                <a:tc>
                  <a:txBody>
                    <a:bodyPr/>
                    <a:lstStyle/>
                    <a:p>
                      <a:pPr algn="r"/>
                      <a:r>
                        <a:rPr sz="700" b="1">
                          <a:solidFill>
                            <a:srgbClr val="FFFFFF"/>
                          </a:solidFill>
                          <a:latin typeface="Calibri"/>
                        </a:rPr>
                        <a:t>FY26E</a:t>
                      </a:r>
                    </a:p>
                  </a:txBody>
                  <a:tcPr marL="22860" marR="22860" marT="5486" marB="5486">
                    <a:solidFill>
                      <a:srgbClr val="1F4690"/>
                    </a:solidFill>
                  </a:tcPr>
                </a:tc>
                <a:tc>
                  <a:txBody>
                    <a:bodyPr/>
                    <a:lstStyle/>
                    <a:p>
                      <a:pPr algn="r"/>
                      <a:r>
                        <a:rPr sz="700" b="1">
                          <a:solidFill>
                            <a:srgbClr val="FFFFFF"/>
                          </a:solidFill>
                          <a:latin typeface="Calibri"/>
                        </a:rPr>
                        <a:t>FY27E</a:t>
                      </a:r>
                    </a:p>
                  </a:txBody>
                  <a:tcPr marL="22860" marR="22860" marT="5486" marB="5486">
                    <a:solidFill>
                      <a:srgbClr val="1F4690"/>
                    </a:solidFill>
                  </a:tcPr>
                </a:tc>
              </a:tr>
              <a:tr h="233172">
                <a:tc>
                  <a:txBody>
                    <a:bodyPr/>
                    <a:lstStyle/>
                    <a:p>
                      <a:r>
                        <a:rPr sz="700" b="1">
                          <a:solidFill>
                            <a:srgbClr val="111111"/>
                          </a:solidFill>
                          <a:latin typeface="Calibri"/>
                        </a:rPr>
                        <a:t>Revenue</a:t>
                      </a:r>
                    </a:p>
                  </a:txBody>
                  <a:tcPr marL="22860" marR="22860" marT="5486" marB="5486">
                    <a:solidFill>
                      <a:srgbClr val="F4F6F9"/>
                    </a:solidFill>
                  </a:tcPr>
                </a:tc>
                <a:tc>
                  <a:txBody>
                    <a:bodyPr/>
                    <a:lstStyle/>
                    <a:p>
                      <a:pPr algn="r"/>
                      <a:r>
                        <a:rPr sz="700" b="0">
                          <a:solidFill>
                            <a:srgbClr val="111111"/>
                          </a:solidFill>
                          <a:latin typeface="Calibri"/>
                        </a:rPr>
                        <a:t>₹7,106.0</a:t>
                      </a:r>
                    </a:p>
                  </a:txBody>
                  <a:tcPr marL="22860" marR="22860" marT="5486" marB="5486">
                    <a:solidFill>
                      <a:srgbClr val="F4F6F9"/>
                    </a:solidFill>
                  </a:tcPr>
                </a:tc>
                <a:tc>
                  <a:txBody>
                    <a:bodyPr/>
                    <a:lstStyle/>
                    <a:p>
                      <a:pPr algn="r"/>
                      <a:r>
                        <a:rPr sz="700" b="0">
                          <a:solidFill>
                            <a:srgbClr val="111111"/>
                          </a:solidFill>
                          <a:latin typeface="Calibri"/>
                        </a:rPr>
                        <a:t>₹8,340.0</a:t>
                      </a:r>
                    </a:p>
                  </a:txBody>
                  <a:tcPr marL="22860" marR="22860" marT="5486" marB="5486">
                    <a:solidFill>
                      <a:srgbClr val="F4F6F9"/>
                    </a:solidFill>
                  </a:tcPr>
                </a:tc>
                <a:tc>
                  <a:txBody>
                    <a:bodyPr/>
                    <a:lstStyle/>
                    <a:p>
                      <a:pPr algn="r"/>
                      <a:r>
                        <a:rPr sz="700" b="1">
                          <a:solidFill>
                            <a:srgbClr val="111111"/>
                          </a:solidFill>
                          <a:latin typeface="Calibri"/>
                        </a:rPr>
                        <a:t>₹10,402.0</a:t>
                      </a:r>
                    </a:p>
                  </a:txBody>
                  <a:tcPr marL="22860" marR="22860" marT="5486" marB="5486">
                    <a:solidFill>
                      <a:srgbClr val="F4F6F9"/>
                    </a:solidFill>
                  </a:tcPr>
                </a:tc>
                <a:tc>
                  <a:txBody>
                    <a:bodyPr/>
                    <a:lstStyle/>
                    <a:p>
                      <a:pPr algn="r"/>
                      <a:r>
                        <a:rPr sz="700" b="1">
                          <a:solidFill>
                            <a:srgbClr val="111111"/>
                          </a:solidFill>
                          <a:latin typeface="Calibri"/>
                        </a:rPr>
                        <a:t>₹12,973.0</a:t>
                      </a:r>
                    </a:p>
                  </a:txBody>
                  <a:tcPr marL="22860" marR="22860" marT="5486" marB="5486">
                    <a:solidFill>
                      <a:srgbClr val="F4F6F9"/>
                    </a:solidFill>
                  </a:tcPr>
                </a:tc>
              </a:tr>
              <a:tr h="233172">
                <a:tc>
                  <a:txBody>
                    <a:bodyPr/>
                    <a:lstStyle/>
                    <a:p>
                      <a:r>
                        <a:rPr sz="700" b="1">
                          <a:solidFill>
                            <a:srgbClr val="111111"/>
                          </a:solidFill>
                          <a:latin typeface="Calibri"/>
                        </a:rPr>
                        <a:t>EBITDA</a:t>
                      </a:r>
                    </a:p>
                  </a:txBody>
                  <a:tcPr marL="22860" marR="22860" marT="5486" marB="5486">
                    <a:solidFill>
                      <a:srgbClr val="FFFFFF"/>
                    </a:solidFill>
                  </a:tcPr>
                </a:tc>
                <a:tc>
                  <a:txBody>
                    <a:bodyPr/>
                    <a:lstStyle/>
                    <a:p>
                      <a:pPr algn="r"/>
                      <a:r>
                        <a:rPr sz="700" b="0">
                          <a:solidFill>
                            <a:srgbClr val="111111"/>
                          </a:solidFill>
                          <a:latin typeface="Calibri"/>
                        </a:rPr>
                        <a:t>₹4,082.0</a:t>
                      </a:r>
                    </a:p>
                  </a:txBody>
                  <a:tcPr marL="22860" marR="22860" marT="5486" marB="5486">
                    <a:solidFill>
                      <a:srgbClr val="FFFFFF"/>
                    </a:solidFill>
                  </a:tcPr>
                </a:tc>
                <a:tc>
                  <a:txBody>
                    <a:bodyPr/>
                    <a:lstStyle/>
                    <a:p>
                      <a:pPr algn="r"/>
                      <a:r>
                        <a:rPr sz="700" b="0">
                          <a:solidFill>
                            <a:srgbClr val="111111"/>
                          </a:solidFill>
                          <a:latin typeface="Calibri"/>
                        </a:rPr>
                        <a:t>₹4,546.0</a:t>
                      </a:r>
                    </a:p>
                  </a:txBody>
                  <a:tcPr marL="22860" marR="22860" marT="5486" marB="5486">
                    <a:solidFill>
                      <a:srgbClr val="FFFFFF"/>
                    </a:solidFill>
                  </a:tcPr>
                </a:tc>
                <a:tc>
                  <a:txBody>
                    <a:bodyPr/>
                    <a:lstStyle/>
                    <a:p>
                      <a:pPr algn="r"/>
                      <a:r>
                        <a:rPr sz="700" b="1">
                          <a:solidFill>
                            <a:srgbClr val="111111"/>
                          </a:solidFill>
                          <a:latin typeface="Calibri"/>
                        </a:rPr>
                        <a:t>₹5,439.0</a:t>
                      </a:r>
                    </a:p>
                  </a:txBody>
                  <a:tcPr marL="22860" marR="22860" marT="5486" marB="5486">
                    <a:solidFill>
                      <a:srgbClr val="FFFFFF"/>
                    </a:solidFill>
                  </a:tcPr>
                </a:tc>
                <a:tc>
                  <a:txBody>
                    <a:bodyPr/>
                    <a:lstStyle/>
                    <a:p>
                      <a:pPr algn="r"/>
                      <a:r>
                        <a:rPr sz="700" b="1">
                          <a:solidFill>
                            <a:srgbClr val="111111"/>
                          </a:solidFill>
                          <a:latin typeface="Calibri"/>
                        </a:rPr>
                        <a:t>₹6,784.0</a:t>
                      </a:r>
                    </a:p>
                  </a:txBody>
                  <a:tcPr marL="22860" marR="22860" marT="5486" marB="5486">
                    <a:solidFill>
                      <a:srgbClr val="FFFFFF"/>
                    </a:solidFill>
                  </a:tcPr>
                </a:tc>
              </a:tr>
              <a:tr h="233172">
                <a:tc>
                  <a:txBody>
                    <a:bodyPr/>
                    <a:lstStyle/>
                    <a:p>
                      <a:r>
                        <a:rPr sz="700" b="1">
                          <a:solidFill>
                            <a:srgbClr val="111111"/>
                          </a:solidFill>
                          <a:latin typeface="Calibri"/>
                        </a:rPr>
                        <a:t>EBITDA Mgn</a:t>
                      </a:r>
                    </a:p>
                  </a:txBody>
                  <a:tcPr marL="22860" marR="22860" marT="5486" marB="5486">
                    <a:solidFill>
                      <a:srgbClr val="F4F6F9"/>
                    </a:solidFill>
                  </a:tcPr>
                </a:tc>
                <a:tc>
                  <a:txBody>
                    <a:bodyPr/>
                    <a:lstStyle/>
                    <a:p>
                      <a:pPr algn="r"/>
                      <a:r>
                        <a:rPr sz="700" b="0">
                          <a:solidFill>
                            <a:srgbClr val="111111"/>
                          </a:solidFill>
                          <a:latin typeface="Calibri"/>
                        </a:rPr>
                        <a:t>57.4%</a:t>
                      </a:r>
                    </a:p>
                  </a:txBody>
                  <a:tcPr marL="22860" marR="22860" marT="5486" marB="5486">
                    <a:solidFill>
                      <a:srgbClr val="F4F6F9"/>
                    </a:solidFill>
                  </a:tcPr>
                </a:tc>
                <a:tc>
                  <a:txBody>
                    <a:bodyPr/>
                    <a:lstStyle/>
                    <a:p>
                      <a:pPr algn="r"/>
                      <a:r>
                        <a:rPr sz="700" b="0">
                          <a:solidFill>
                            <a:srgbClr val="111111"/>
                          </a:solidFill>
                          <a:latin typeface="Calibri"/>
                        </a:rPr>
                        <a:t>54.5%</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r>
              <a:tr h="233172">
                <a:tc>
                  <a:txBody>
                    <a:bodyPr/>
                    <a:lstStyle/>
                    <a:p>
                      <a:r>
                        <a:rPr sz="700" b="1">
                          <a:solidFill>
                            <a:srgbClr val="111111"/>
                          </a:solidFill>
                          <a:latin typeface="Calibri"/>
                        </a:rPr>
                        <a:t>PAT</a:t>
                      </a:r>
                    </a:p>
                  </a:txBody>
                  <a:tcPr marL="22860" marR="22860" marT="5486" marB="5486">
                    <a:solidFill>
                      <a:srgbClr val="FFFFFF"/>
                    </a:solidFill>
                  </a:tcPr>
                </a:tc>
                <a:tc>
                  <a:txBody>
                    <a:bodyPr/>
                    <a:lstStyle/>
                    <a:p>
                      <a:pPr algn="r"/>
                      <a:r>
                        <a:rPr sz="700" b="0">
                          <a:solidFill>
                            <a:srgbClr val="111111"/>
                          </a:solidFill>
                          <a:latin typeface="Calibri"/>
                        </a:rPr>
                        <a:t>₹2,441.0</a:t>
                      </a:r>
                    </a:p>
                  </a:txBody>
                  <a:tcPr marL="22860" marR="22860" marT="5486" marB="5486">
                    <a:solidFill>
                      <a:srgbClr val="FFFFFF"/>
                    </a:solidFill>
                  </a:tcPr>
                </a:tc>
                <a:tc>
                  <a:txBody>
                    <a:bodyPr/>
                    <a:lstStyle/>
                    <a:p>
                      <a:pPr algn="r"/>
                      <a:r>
                        <a:rPr sz="700" b="0">
                          <a:solidFill>
                            <a:srgbClr val="111111"/>
                          </a:solidFill>
                          <a:latin typeface="Calibri"/>
                        </a:rPr>
                        <a:t>₹2,502.0</a:t>
                      </a:r>
                    </a:p>
                  </a:txBody>
                  <a:tcPr marL="22860" marR="22860" marT="5486" marB="5486">
                    <a:solidFill>
                      <a:srgbClr val="FFFFFF"/>
                    </a:solidFill>
                  </a:tcPr>
                </a:tc>
                <a:tc>
                  <a:txBody>
                    <a:bodyPr/>
                    <a:lstStyle/>
                    <a:p>
                      <a:pPr algn="r"/>
                      <a:r>
                        <a:rPr sz="700" b="1">
                          <a:solidFill>
                            <a:srgbClr val="111111"/>
                          </a:solidFill>
                          <a:latin typeface="Calibri"/>
                        </a:rPr>
                        <a:t>₹3,066.0</a:t>
                      </a:r>
                    </a:p>
                  </a:txBody>
                  <a:tcPr marL="22860" marR="22860" marT="5486" marB="5486">
                    <a:solidFill>
                      <a:srgbClr val="FFFFFF"/>
                    </a:solidFill>
                  </a:tcPr>
                </a:tc>
                <a:tc>
                  <a:txBody>
                    <a:bodyPr/>
                    <a:lstStyle/>
                    <a:p>
                      <a:pPr algn="r"/>
                      <a:r>
                        <a:rPr sz="700" b="1">
                          <a:solidFill>
                            <a:srgbClr val="111111"/>
                          </a:solidFill>
                          <a:latin typeface="Calibri"/>
                        </a:rPr>
                        <a:t>₹3,983.0</a:t>
                      </a:r>
                    </a:p>
                  </a:txBody>
                  <a:tcPr marL="22860" marR="22860" marT="5486" marB="5486">
                    <a:solidFill>
                      <a:srgbClr val="FFFFFF"/>
                    </a:solidFill>
                  </a:tcPr>
                </a:tc>
              </a:tr>
              <a:tr h="233172">
                <a:tc>
                  <a:txBody>
                    <a:bodyPr/>
                    <a:lstStyle/>
                    <a:p>
                      <a:r>
                        <a:rPr sz="700" b="1">
                          <a:solidFill>
                            <a:srgbClr val="111111"/>
                          </a:solidFill>
                          <a:latin typeface="Calibri"/>
                        </a:rPr>
                        <a:t>PAT Mgn</a:t>
                      </a:r>
                    </a:p>
                  </a:txBody>
                  <a:tcPr marL="22860" marR="22860" marT="5486" marB="5486">
                    <a:solidFill>
                      <a:srgbClr val="F4F6F9"/>
                    </a:solidFill>
                  </a:tcPr>
                </a:tc>
                <a:tc>
                  <a:txBody>
                    <a:bodyPr/>
                    <a:lstStyle/>
                    <a:p>
                      <a:pPr algn="r"/>
                      <a:r>
                        <a:rPr sz="700" b="0">
                          <a:solidFill>
                            <a:srgbClr val="111111"/>
                          </a:solidFill>
                          <a:latin typeface="Calibri"/>
                        </a:rPr>
                        <a:t>34.4%</a:t>
                      </a:r>
                    </a:p>
                  </a:txBody>
                  <a:tcPr marL="22860" marR="22860" marT="5486" marB="5486">
                    <a:solidFill>
                      <a:srgbClr val="F4F6F9"/>
                    </a:solidFill>
                  </a:tcPr>
                </a:tc>
                <a:tc>
                  <a:txBody>
                    <a:bodyPr/>
                    <a:lstStyle/>
                    <a:p>
                      <a:pPr algn="r"/>
                      <a:r>
                        <a:rPr sz="700" b="0">
                          <a:solidFill>
                            <a:srgbClr val="111111"/>
                          </a:solidFill>
                          <a:latin typeface="Calibri"/>
                        </a:rPr>
                        <a:t>30.0%</a:t>
                      </a:r>
                    </a:p>
                  </a:txBody>
                  <a:tcPr marL="22860" marR="22860" marT="5486" marB="5486">
                    <a:solidFill>
                      <a:srgbClr val="F4F6F9"/>
                    </a:solidFill>
                  </a:tcPr>
                </a:tc>
                <a:tc>
                  <a:txBody>
                    <a:bodyPr/>
                    <a:lstStyle/>
                    <a:p>
                      <a:pPr algn="r"/>
                      <a:r>
                        <a:rPr sz="700" b="1">
                          <a:solidFill>
                            <a:srgbClr val="111111"/>
                          </a:solidFill>
                          <a:latin typeface="Calibri"/>
                        </a:rPr>
                        <a:t>29.5%</a:t>
                      </a:r>
                    </a:p>
                  </a:txBody>
                  <a:tcPr marL="22860" marR="22860" marT="5486" marB="5486">
                    <a:solidFill>
                      <a:srgbClr val="F4F6F9"/>
                    </a:solidFill>
                  </a:tcPr>
                </a:tc>
                <a:tc>
                  <a:txBody>
                    <a:bodyPr/>
                    <a:lstStyle/>
                    <a:p>
                      <a:pPr algn="r"/>
                      <a:r>
                        <a:rPr sz="700" b="1">
                          <a:solidFill>
                            <a:srgbClr val="111111"/>
                          </a:solidFill>
                          <a:latin typeface="Calibri"/>
                        </a:rPr>
                        <a:t>30.7%</a:t>
                      </a:r>
                    </a:p>
                  </a:txBody>
                  <a:tcPr marL="22860" marR="22860" marT="5486" marB="5486">
                    <a:solidFill>
                      <a:srgbClr val="F4F6F9"/>
                    </a:solidFill>
                  </a:tcPr>
                </a:tc>
              </a:tr>
              <a:tr h="233172">
                <a:tc>
                  <a:txBody>
                    <a:bodyPr/>
                    <a:lstStyle/>
                    <a:p>
                      <a:r>
                        <a:rPr sz="700" b="1">
                          <a:solidFill>
                            <a:srgbClr val="111111"/>
                          </a:solidFill>
                          <a:latin typeface="Calibri"/>
                        </a:rPr>
                        <a:t>EPS</a:t>
                      </a:r>
                    </a:p>
                  </a:txBody>
                  <a:tcPr marL="22860" marR="22860" marT="5486" marB="5486">
                    <a:solidFill>
                      <a:srgbClr val="FFFFFF"/>
                    </a:solidFill>
                  </a:tcPr>
                </a:tc>
                <a:tc>
                  <a:txBody>
                    <a:bodyPr/>
                    <a:lstStyle/>
                    <a:p>
                      <a:pPr algn="r"/>
                      <a:r>
                        <a:rPr sz="700" b="0">
                          <a:solidFill>
                            <a:srgbClr val="111111"/>
                          </a:solidFill>
                          <a:latin typeface="Calibri"/>
                        </a:rPr>
                        <a:t>₹41.0</a:t>
                      </a:r>
                    </a:p>
                  </a:txBody>
                  <a:tcPr marL="22860" marR="22860" marT="5486" marB="5486">
                    <a:solidFill>
                      <a:srgbClr val="FFFFFF"/>
                    </a:solidFill>
                  </a:tcPr>
                </a:tc>
                <a:tc>
                  <a:txBody>
                    <a:bodyPr/>
                    <a:lstStyle/>
                    <a:p>
                      <a:pPr algn="r"/>
                      <a:r>
                        <a:rPr sz="700" b="0">
                          <a:solidFill>
                            <a:srgbClr val="111111"/>
                          </a:solidFill>
                          <a:latin typeface="Calibri"/>
                        </a:rPr>
                        <a:t>₹41.7</a:t>
                      </a:r>
                    </a:p>
                  </a:txBody>
                  <a:tcPr marL="22860" marR="22860" marT="5486" marB="5486">
                    <a:solidFill>
                      <a:srgbClr val="FFFFFF"/>
                    </a:solidFill>
                  </a:tcPr>
                </a:tc>
                <a:tc>
                  <a:txBody>
                    <a:bodyPr/>
                    <a:lstStyle/>
                    <a:p>
                      <a:pPr algn="r"/>
                      <a:r>
                        <a:rPr sz="700" b="1">
                          <a:solidFill>
                            <a:srgbClr val="1A7A4A"/>
                          </a:solidFill>
                          <a:latin typeface="Calibri"/>
                        </a:rPr>
                        <a:t>₹51.2</a:t>
                      </a:r>
                    </a:p>
                  </a:txBody>
                  <a:tcPr marL="22860" marR="22860" marT="5486" marB="5486">
                    <a:solidFill>
                      <a:srgbClr val="FFFFFF"/>
                    </a:solidFill>
                  </a:tcPr>
                </a:tc>
                <a:tc>
                  <a:txBody>
                    <a:bodyPr/>
                    <a:lstStyle/>
                    <a:p>
                      <a:pPr algn="r"/>
                      <a:r>
                        <a:rPr sz="700" b="1">
                          <a:solidFill>
                            <a:srgbClr val="1A7A4A"/>
                          </a:solidFill>
                          <a:latin typeface="Calibri"/>
                        </a:rPr>
                        <a:t>₹66.5</a:t>
                      </a:r>
                    </a:p>
                  </a:txBody>
                  <a:tcPr marL="22860" marR="22860" marT="5486" marB="5486">
                    <a:solidFill>
                      <a:srgbClr val="FFFFFF"/>
                    </a:solidFill>
                  </a:tcPr>
                </a:tc>
              </a:tr>
              <a:tr h="233172">
                <a:tc>
                  <a:txBody>
                    <a:bodyPr/>
                    <a:lstStyle/>
                    <a:p>
                      <a:r>
                        <a:rPr sz="700" b="1">
                          <a:solidFill>
                            <a:srgbClr val="111111"/>
                          </a:solidFill>
                          <a:latin typeface="Calibri"/>
                        </a:rPr>
                        <a:t>P/E</a:t>
                      </a:r>
                    </a:p>
                  </a:txBody>
                  <a:tcPr marL="22860" marR="22860" marT="5486" marB="5486">
                    <a:solidFill>
                      <a:srgbClr val="F4F6F9"/>
                    </a:solidFill>
                  </a:tcPr>
                </a:tc>
                <a:tc>
                  <a:txBody>
                    <a:bodyPr/>
                    <a:lstStyle/>
                    <a:p>
                      <a:pPr algn="r"/>
                      <a:r>
                        <a:rPr sz="700" b="0">
                          <a:solidFill>
                            <a:srgbClr val="111111"/>
                          </a:solidFill>
                          <a:latin typeface="Calibri"/>
                        </a:rPr>
                        <a:t>20.1x</a:t>
                      </a:r>
                    </a:p>
                  </a:txBody>
                  <a:tcPr marL="22860" marR="22860" marT="5486" marB="5486">
                    <a:solidFill>
                      <a:srgbClr val="F4F6F9"/>
                    </a:solidFill>
                  </a:tcPr>
                </a:tc>
                <a:tc>
                  <a:txBody>
                    <a:bodyPr/>
                    <a:lstStyle/>
                    <a:p>
                      <a:pPr algn="r"/>
                      <a:r>
                        <a:rPr sz="700" b="0">
                          <a:solidFill>
                            <a:srgbClr val="111111"/>
                          </a:solidFill>
                          <a:latin typeface="Calibri"/>
                        </a:rPr>
                        <a:t>19.7x</a:t>
                      </a:r>
                    </a:p>
                  </a:txBody>
                  <a:tcPr marL="22860" marR="22860" marT="5486" marB="5486">
                    <a:solidFill>
                      <a:srgbClr val="F4F6F9"/>
                    </a:solidFill>
                  </a:tcPr>
                </a:tc>
                <a:tc>
                  <a:txBody>
                    <a:bodyPr/>
                    <a:lstStyle/>
                    <a:p>
                      <a:pPr algn="r"/>
                      <a:r>
                        <a:rPr sz="700" b="1">
                          <a:solidFill>
                            <a:srgbClr val="1A7A4A"/>
                          </a:solidFill>
                          <a:latin typeface="Calibri"/>
                        </a:rPr>
                        <a:t>16.1x</a:t>
                      </a:r>
                    </a:p>
                  </a:txBody>
                  <a:tcPr marL="22860" marR="22860" marT="5486" marB="5486">
                    <a:solidFill>
                      <a:srgbClr val="F4F6F9"/>
                    </a:solidFill>
                  </a:tcPr>
                </a:tc>
                <a:tc>
                  <a:txBody>
                    <a:bodyPr/>
                    <a:lstStyle/>
                    <a:p>
                      <a:pPr algn="r"/>
                      <a:r>
                        <a:rPr sz="700" b="1">
                          <a:solidFill>
                            <a:srgbClr val="1A7A4A"/>
                          </a:solidFill>
                          <a:latin typeface="Calibri"/>
                        </a:rPr>
                        <a:t>12.4x</a:t>
                      </a:r>
                    </a:p>
                  </a:txBody>
                  <a:tcPr marL="22860" marR="22860" marT="5486" marB="5486">
                    <a:solidFill>
                      <a:srgbClr val="F4F6F9"/>
                    </a:solidFill>
                  </a:tcPr>
                </a:tc>
              </a:tr>
              <a:tr h="233172">
                <a:tc>
                  <a:txBody>
                    <a:bodyPr/>
                    <a:lstStyle/>
                    <a:p>
                      <a:r>
                        <a:rPr sz="700" b="1">
                          <a:solidFill>
                            <a:srgbClr val="111111"/>
                          </a:solidFill>
                          <a:latin typeface="Calibri"/>
                        </a:rPr>
                        <a:t>P/B</a:t>
                      </a:r>
                    </a:p>
                  </a:txBody>
                  <a:tcPr marL="22860" marR="22860" marT="5486" marB="5486">
                    <a:solidFill>
                      <a:srgbClr val="FFFFFF"/>
                    </a:solidFill>
                  </a:tcPr>
                </a:tc>
                <a:tc>
                  <a:txBody>
                    <a:bodyPr/>
                    <a:lstStyle/>
                    <a:p>
                      <a:pPr algn="r"/>
                      <a:r>
                        <a:rPr sz="700" b="0">
                          <a:solidFill>
                            <a:srgbClr val="111111"/>
                          </a:solidFill>
                          <a:latin typeface="Calibri"/>
                        </a:rPr>
                        <a:t>5.6x</a:t>
                      </a:r>
                    </a:p>
                  </a:txBody>
                  <a:tcPr marL="22860" marR="22860" marT="5486" marB="5486">
                    <a:solidFill>
                      <a:srgbClr val="FFFFFF"/>
                    </a:solidFill>
                  </a:tcPr>
                </a:tc>
                <a:tc>
                  <a:txBody>
                    <a:bodyPr/>
                    <a:lstStyle/>
                    <a:p>
                      <a:pPr algn="r"/>
                      <a:r>
                        <a:rPr sz="700" b="0">
                          <a:solidFill>
                            <a:srgbClr val="111111"/>
                          </a:solidFill>
                          <a:latin typeface="Calibri"/>
                        </a:rPr>
                        <a:t>4.5x</a:t>
                      </a:r>
                    </a:p>
                  </a:txBody>
                  <a:tcPr marL="22860" marR="22860" marT="5486" marB="5486">
                    <a:solidFill>
                      <a:srgbClr val="FFFFFF"/>
                    </a:solidFill>
                  </a:tcPr>
                </a:tc>
                <a:tc>
                  <a:txBody>
                    <a:bodyPr/>
                    <a:lstStyle/>
                    <a:p>
                      <a:pPr algn="r"/>
                      <a:r>
                        <a:rPr sz="700" b="1">
                          <a:solidFill>
                            <a:srgbClr val="1A7A4A"/>
                          </a:solidFill>
                          <a:latin typeface="Calibri"/>
                        </a:rPr>
                        <a:t>3.6x</a:t>
                      </a:r>
                    </a:p>
                  </a:txBody>
                  <a:tcPr marL="22860" marR="22860" marT="5486" marB="5486">
                    <a:solidFill>
                      <a:srgbClr val="FFFFFF"/>
                    </a:solidFill>
                  </a:tcPr>
                </a:tc>
                <a:tc>
                  <a:txBody>
                    <a:bodyPr/>
                    <a:lstStyle/>
                    <a:p>
                      <a:pPr algn="r"/>
                      <a:r>
                        <a:rPr sz="700" b="1">
                          <a:solidFill>
                            <a:srgbClr val="1A7A4A"/>
                          </a:solidFill>
                          <a:latin typeface="Calibri"/>
                        </a:rPr>
                        <a:t>2.9x</a:t>
                      </a:r>
                    </a:p>
                  </a:txBody>
                  <a:tcPr marL="22860" marR="22860" marT="5486" marB="5486">
                    <a:solidFill>
                      <a:srgbClr val="FFFFFF"/>
                    </a:solidFill>
                  </a:tcPr>
                </a:tc>
              </a:tr>
              <a:tr h="233172">
                <a:tc>
                  <a:txBody>
                    <a:bodyPr/>
                    <a:lstStyle/>
                    <a:p>
                      <a:r>
                        <a:rPr sz="700" b="1">
                          <a:solidFill>
                            <a:srgbClr val="111111"/>
                          </a:solidFill>
                          <a:latin typeface="Calibri"/>
                        </a:rPr>
                        <a:t>EV/EBITDA</a:t>
                      </a:r>
                    </a:p>
                  </a:txBody>
                  <a:tcPr marL="22860" marR="22860" marT="5486" marB="5486">
                    <a:solidFill>
                      <a:srgbClr val="F4F6F9"/>
                    </a:solidFill>
                  </a:tcPr>
                </a:tc>
                <a:tc>
                  <a:txBody>
                    <a:bodyPr/>
                    <a:lstStyle/>
                    <a:p>
                      <a:pPr algn="r"/>
                      <a:r>
                        <a:rPr sz="700" b="0">
                          <a:solidFill>
                            <a:srgbClr val="111111"/>
                          </a:solidFill>
                          <a:latin typeface="Calibri"/>
                        </a:rPr>
                        <a:t>9.5x</a:t>
                      </a:r>
                    </a:p>
                  </a:txBody>
                  <a:tcPr marL="22860" marR="22860" marT="5486" marB="5486">
                    <a:solidFill>
                      <a:srgbClr val="F4F6F9"/>
                    </a:solidFill>
                  </a:tcPr>
                </a:tc>
                <a:tc>
                  <a:txBody>
                    <a:bodyPr/>
                    <a:lstStyle/>
                    <a:p>
                      <a:pPr algn="r"/>
                      <a:r>
                        <a:rPr sz="700" b="0">
                          <a:solidFill>
                            <a:srgbClr val="111111"/>
                          </a:solidFill>
                          <a:latin typeface="Calibri"/>
                        </a:rPr>
                        <a:t>11.4x</a:t>
                      </a:r>
                    </a:p>
                  </a:txBody>
                  <a:tcPr marL="22860" marR="22860" marT="5486" marB="5486">
                    <a:solidFill>
                      <a:srgbClr val="F4F6F9"/>
                    </a:solidFill>
                  </a:tcPr>
                </a:tc>
                <a:tc>
                  <a:txBody>
                    <a:bodyPr/>
                    <a:lstStyle/>
                    <a:p>
                      <a:pPr algn="r"/>
                      <a:r>
                        <a:rPr sz="700" b="1">
                          <a:solidFill>
                            <a:srgbClr val="1A7A4A"/>
                          </a:solidFill>
                          <a:latin typeface="Calibri"/>
                        </a:rPr>
                        <a:t>12.7x</a:t>
                      </a:r>
                    </a:p>
                  </a:txBody>
                  <a:tcPr marL="22860" marR="22860" marT="5486" marB="5486">
                    <a:solidFill>
                      <a:srgbClr val="F4F6F9"/>
                    </a:solidFill>
                  </a:tcPr>
                </a:tc>
                <a:tc>
                  <a:txBody>
                    <a:bodyPr/>
                    <a:lstStyle/>
                    <a:p>
                      <a:pPr algn="r"/>
                      <a:r>
                        <a:rPr sz="700" b="1">
                          <a:solidFill>
                            <a:srgbClr val="1A7A4A"/>
                          </a:solidFill>
                          <a:latin typeface="Calibri"/>
                        </a:rPr>
                        <a:t>10.5x</a:t>
                      </a:r>
                    </a:p>
                  </a:txBody>
                  <a:tcPr marL="22860" marR="22860" marT="5486" marB="5486">
                    <a:solidFill>
                      <a:srgbClr val="F4F6F9"/>
                    </a:solidFill>
                  </a:tcPr>
                </a:tc>
              </a:tr>
            </a:tbl>
          </a:graphicData>
        </a:graphic>
      </p:graphicFrame>
      <p:sp>
        <p:nvSpPr>
          <p:cNvPr id="65" name="TextBox 64"/>
          <p:cNvSpPr txBox="1"/>
          <p:nvPr/>
        </p:nvSpPr>
        <p:spPr>
          <a:xfrm>
            <a:off x="6601968" y="5056632"/>
            <a:ext cx="3182112" cy="164592"/>
          </a:xfrm>
          <a:prstGeom prst="rect">
            <a:avLst/>
          </a:prstGeom>
          <a:noFill/>
        </p:spPr>
        <p:txBody>
          <a:bodyPr wrap="square" lIns="36576" rIns="36576" tIns="9144" bIns="9144">
            <a:spAutoFit/>
          </a:bodyPr>
          <a:lstStyle/>
          <a:p>
            <a:r>
              <a:rPr sz="800" b="1">
                <a:solidFill>
                  <a:srgbClr val="1F4690"/>
                </a:solidFill>
                <a:latin typeface="Calibri"/>
              </a:rPr>
              <a:t>H1 FY26 SNAPSHOT</a:t>
            </a:r>
          </a:p>
        </p:txBody>
      </p:sp>
      <p:graphicFrame>
        <p:nvGraphicFramePr>
          <p:cNvPr id="66" name="Table 65"/>
          <p:cNvGraphicFramePr>
            <a:graphicFrameLocks noGrp="1"/>
          </p:cNvGraphicFramePr>
          <p:nvPr/>
        </p:nvGraphicFramePr>
        <p:xfrm>
          <a:off x="6601968" y="5248656"/>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700" b="0">
                          <a:solidFill>
                            <a:srgbClr val="111111"/>
                          </a:solidFill>
                          <a:latin typeface="Calibri"/>
                        </a:rPr>
                        <a:t>Consol. Net Revenue</a:t>
                      </a:r>
                    </a:p>
                  </a:txBody>
                  <a:tcPr marL="22860" marR="22860" marT="5486" marB="5486">
                    <a:solidFill>
                      <a:srgbClr val="F4F6F9"/>
                    </a:solidFill>
                  </a:tcPr>
                </a:tc>
                <a:tc>
                  <a:txBody>
                    <a:bodyPr/>
                    <a:lstStyle/>
                    <a:p>
                      <a:pPr algn="r"/>
                      <a:r>
                        <a:rPr sz="700" b="1">
                          <a:solidFill>
                            <a:srgbClr val="1F4690"/>
                          </a:solidFill>
                          <a:latin typeface="Calibri"/>
                        </a:rPr>
                        <a:t>₹2,888 Cr</a:t>
                      </a:r>
                    </a:p>
                  </a:txBody>
                  <a:tcPr marL="22860" marR="22860" marT="5486" marB="5486">
                    <a:solidFill>
                      <a:srgbClr val="F4F6F9"/>
                    </a:solidFill>
                  </a:tcPr>
                </a:tc>
              </a:tr>
              <a:tr h="186537">
                <a:tc>
                  <a:txBody>
                    <a:bodyPr/>
                    <a:lstStyle/>
                    <a:p>
                      <a:r>
                        <a:rPr sz="700" b="0">
                          <a:solidFill>
                            <a:srgbClr val="111111"/>
                          </a:solidFill>
                          <a:latin typeface="Calibri"/>
                        </a:rPr>
                        <a:t>Operating PAT</a:t>
                      </a:r>
                    </a:p>
                  </a:txBody>
                  <a:tcPr marL="22860" marR="22860" marT="5486" marB="5486">
                    <a:solidFill>
                      <a:srgbClr val="FFFFFF"/>
                    </a:solidFill>
                  </a:tcPr>
                </a:tc>
                <a:tc>
                  <a:txBody>
                    <a:bodyPr/>
                    <a:lstStyle/>
                    <a:p>
                      <a:pPr algn="r"/>
                      <a:r>
                        <a:rPr sz="700" b="1">
                          <a:solidFill>
                            <a:srgbClr val="1F4690"/>
                          </a:solidFill>
                          <a:latin typeface="Calibri"/>
                        </a:rPr>
                        <a:t>₹1,088 Cr (+11% YoY)</a:t>
                      </a:r>
                    </a:p>
                  </a:txBody>
                  <a:tcPr marL="22860" marR="22860" marT="5486" marB="5486">
                    <a:solidFill>
                      <a:srgbClr val="FFFFFF"/>
                    </a:solidFill>
                  </a:tcPr>
                </a:tc>
              </a:tr>
              <a:tr h="186537">
                <a:tc>
                  <a:txBody>
                    <a:bodyPr/>
                    <a:lstStyle/>
                    <a:p>
                      <a:r>
                        <a:rPr sz="700" b="0">
                          <a:solidFill>
                            <a:srgbClr val="111111"/>
                          </a:solidFill>
                          <a:latin typeface="Calibri"/>
                        </a:rPr>
                        <a:t>ARR % of Net Revenue</a:t>
                      </a:r>
                    </a:p>
                  </a:txBody>
                  <a:tcPr marL="22860" marR="22860" marT="5486" marB="5486">
                    <a:solidFill>
                      <a:srgbClr val="F4F6F9"/>
                    </a:solidFill>
                  </a:tcPr>
                </a:tc>
                <a:tc>
                  <a:txBody>
                    <a:bodyPr/>
                    <a:lstStyle/>
                    <a:p>
                      <a:pPr algn="r"/>
                      <a:r>
                        <a:rPr sz="700" b="1">
                          <a:solidFill>
                            <a:srgbClr val="1F4690"/>
                          </a:solidFill>
                          <a:latin typeface="Calibri"/>
                        </a:rPr>
                        <a:t>65%</a:t>
                      </a:r>
                    </a:p>
                  </a:txBody>
                  <a:tcPr marL="22860" marR="22860" marT="5486" marB="5486">
                    <a:solidFill>
                      <a:srgbClr val="F4F6F9"/>
                    </a:solidFill>
                  </a:tcPr>
                </a:tc>
              </a:tr>
              <a:tr h="186537">
                <a:tc>
                  <a:txBody>
                    <a:bodyPr/>
                    <a:lstStyle/>
                    <a:p>
                      <a:r>
                        <a:rPr sz="700" b="0">
                          <a:solidFill>
                            <a:srgbClr val="111111"/>
                          </a:solidFill>
                          <a:latin typeface="Calibri"/>
                        </a:rPr>
                        <a:t>Fee-Based % of Revenue</a:t>
                      </a:r>
                    </a:p>
                  </a:txBody>
                  <a:tcPr marL="22860" marR="22860" marT="5486" marB="5486">
                    <a:solidFill>
                      <a:srgbClr val="FFFFFF"/>
                    </a:solidFill>
                  </a:tcPr>
                </a:tc>
                <a:tc>
                  <a:txBody>
                    <a:bodyPr/>
                    <a:lstStyle/>
                    <a:p>
                      <a:pPr algn="r"/>
                      <a:r>
                        <a:rPr sz="700" b="1">
                          <a:solidFill>
                            <a:srgbClr val="1F4690"/>
                          </a:solidFill>
                          <a:latin typeface="Calibri"/>
                        </a:rPr>
                        <a:t>45%</a:t>
                      </a:r>
                    </a:p>
                  </a:txBody>
                  <a:tcPr marL="22860" marR="22860" marT="5486" marB="5486">
                    <a:solidFill>
                      <a:srgbClr val="FFFFFF"/>
                    </a:solidFill>
                  </a:tcPr>
                </a:tc>
              </a:tr>
              <a:tr h="186540">
                <a:tc>
                  <a:txBody>
                    <a:bodyPr/>
                    <a:lstStyle/>
                    <a:p>
                      <a:r>
                        <a:rPr sz="700" b="0">
                          <a:solidFill>
                            <a:srgbClr val="111111"/>
                          </a:solidFill>
                          <a:latin typeface="Calibri"/>
                        </a:rPr>
                        <a:t>EPS FY25 Annual</a:t>
                      </a:r>
                    </a:p>
                  </a:txBody>
                  <a:tcPr marL="22860" marR="22860" marT="5486" marB="5486">
                    <a:solidFill>
                      <a:srgbClr val="F4F6F9"/>
                    </a:solidFill>
                  </a:tcPr>
                </a:tc>
                <a:tc>
                  <a:txBody>
                    <a:bodyPr/>
                    <a:lstStyle/>
                    <a:p>
                      <a:pPr algn="r"/>
                      <a:r>
                        <a:rPr sz="700" b="1">
                          <a:solidFill>
                            <a:srgbClr val="1F4690"/>
                          </a:solidFill>
                          <a:latin typeface="Calibri"/>
                        </a:rPr>
                        <a:t>₹51.2</a:t>
                      </a:r>
                    </a:p>
                  </a:txBody>
                  <a:tcPr marL="22860" marR="22860" marT="5486" marB="5486">
                    <a:solidFill>
                      <a:srgbClr val="F4F6F9"/>
                    </a:solidFill>
                  </a:tcPr>
                </a:tc>
              </a:tr>
            </a:tbl>
          </a:graphicData>
        </a:graphic>
      </p:graphicFrame>
      <p:sp>
        <p:nvSpPr>
          <p:cNvPr id="67" name="Rounded Rectangle 66"/>
          <p:cNvSpPr/>
          <p:nvPr/>
        </p:nvSpPr>
        <p:spPr>
          <a:xfrm>
            <a:off x="9930384" y="2359152"/>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12680" y="2414016"/>
            <a:ext cx="1892807" cy="164592"/>
          </a:xfrm>
          <a:prstGeom prst="rect">
            <a:avLst/>
          </a:prstGeom>
          <a:noFill/>
        </p:spPr>
        <p:txBody>
          <a:bodyPr wrap="square" lIns="36576" rIns="36576" tIns="9144" bIns="9144">
            <a:spAutoFit/>
          </a:bodyPr>
          <a:lstStyle/>
          <a:p>
            <a:r>
              <a:rPr sz="750" b="1">
                <a:solidFill>
                  <a:srgbClr val="FFA500"/>
                </a:solidFill>
                <a:latin typeface="Calibri"/>
              </a:rPr>
              <a:t>KEY VALUATION METRICS</a:t>
            </a:r>
          </a:p>
        </p:txBody>
      </p:sp>
      <p:sp>
        <p:nvSpPr>
          <p:cNvPr id="69" name="TextBox 68"/>
          <p:cNvSpPr txBox="1"/>
          <p:nvPr/>
        </p:nvSpPr>
        <p:spPr>
          <a:xfrm>
            <a:off x="10021824" y="2606040"/>
            <a:ext cx="1131570" cy="128016"/>
          </a:xfrm>
          <a:prstGeom prst="rect">
            <a:avLst/>
          </a:prstGeom>
          <a:noFill/>
        </p:spPr>
        <p:txBody>
          <a:bodyPr wrap="square" lIns="36576" rIns="36576" tIns="9144" bIns="9144">
            <a:spAutoFit/>
          </a:bodyPr>
          <a:lstStyle/>
          <a:p>
            <a:r>
              <a:rPr sz="700" b="0">
                <a:solidFill>
                  <a:srgbClr val="E8EEF8"/>
                </a:solidFill>
                <a:latin typeface="Calibri"/>
              </a:rPr>
              <a:t>P/E (TTM)</a:t>
            </a:r>
          </a:p>
        </p:txBody>
      </p:sp>
      <p:sp>
        <p:nvSpPr>
          <p:cNvPr id="70" name="TextBox 69"/>
          <p:cNvSpPr txBox="1"/>
          <p:nvPr/>
        </p:nvSpPr>
        <p:spPr>
          <a:xfrm>
            <a:off x="11061954" y="2606040"/>
            <a:ext cx="822960" cy="128016"/>
          </a:xfrm>
          <a:prstGeom prst="rect">
            <a:avLst/>
          </a:prstGeom>
          <a:noFill/>
        </p:spPr>
        <p:txBody>
          <a:bodyPr wrap="square" lIns="36576" rIns="36576" tIns="9144" bIns="9144">
            <a:spAutoFit/>
          </a:bodyPr>
          <a:lstStyle/>
          <a:p>
            <a:pPr algn="r"/>
            <a:r>
              <a:rPr sz="750" b="1">
                <a:solidFill>
                  <a:srgbClr val="FFFFFF"/>
                </a:solidFill>
                <a:latin typeface="Calibri"/>
              </a:rPr>
              <a:t>24.20x</a:t>
            </a:r>
          </a:p>
        </p:txBody>
      </p:sp>
      <p:sp>
        <p:nvSpPr>
          <p:cNvPr id="71" name="TextBox 70"/>
          <p:cNvSpPr txBox="1"/>
          <p:nvPr/>
        </p:nvSpPr>
        <p:spPr>
          <a:xfrm>
            <a:off x="10021824" y="2788920"/>
            <a:ext cx="1131570" cy="128016"/>
          </a:xfrm>
          <a:prstGeom prst="rect">
            <a:avLst/>
          </a:prstGeom>
          <a:noFill/>
        </p:spPr>
        <p:txBody>
          <a:bodyPr wrap="square" lIns="36576" rIns="36576" tIns="9144" bIns="9144">
            <a:spAutoFit/>
          </a:bodyPr>
          <a:lstStyle/>
          <a:p>
            <a:r>
              <a:rPr sz="700" b="0">
                <a:solidFill>
                  <a:srgbClr val="E8EEF8"/>
                </a:solidFill>
                <a:latin typeface="Calibri"/>
              </a:rPr>
              <a:t>P/B Ratio</a:t>
            </a:r>
          </a:p>
        </p:txBody>
      </p:sp>
      <p:sp>
        <p:nvSpPr>
          <p:cNvPr id="72" name="TextBox 71"/>
          <p:cNvSpPr txBox="1"/>
          <p:nvPr/>
        </p:nvSpPr>
        <p:spPr>
          <a:xfrm>
            <a:off x="11061954" y="2788920"/>
            <a:ext cx="822960" cy="128016"/>
          </a:xfrm>
          <a:prstGeom prst="rect">
            <a:avLst/>
          </a:prstGeom>
          <a:noFill/>
        </p:spPr>
        <p:txBody>
          <a:bodyPr wrap="square" lIns="36576" rIns="36576" tIns="9144" bIns="9144">
            <a:spAutoFit/>
          </a:bodyPr>
          <a:lstStyle/>
          <a:p>
            <a:pPr algn="r"/>
            <a:r>
              <a:rPr sz="750" b="1">
                <a:solidFill>
                  <a:srgbClr val="FFFFFF"/>
                </a:solidFill>
                <a:latin typeface="Calibri"/>
              </a:rPr>
              <a:t>3.82x</a:t>
            </a:r>
          </a:p>
        </p:txBody>
      </p:sp>
      <p:sp>
        <p:nvSpPr>
          <p:cNvPr id="73" name="TextBox 72"/>
          <p:cNvSpPr txBox="1"/>
          <p:nvPr/>
        </p:nvSpPr>
        <p:spPr>
          <a:xfrm>
            <a:off x="10021824" y="2971800"/>
            <a:ext cx="1131570" cy="128016"/>
          </a:xfrm>
          <a:prstGeom prst="rect">
            <a:avLst/>
          </a:prstGeom>
          <a:noFill/>
        </p:spPr>
        <p:txBody>
          <a:bodyPr wrap="square" lIns="36576" rIns="36576" tIns="9144" bIns="9144">
            <a:spAutoFit/>
          </a:bodyPr>
          <a:lstStyle/>
          <a:p>
            <a:r>
              <a:rPr sz="700" b="0">
                <a:solidFill>
                  <a:srgbClr val="E8EEF8"/>
                </a:solidFill>
                <a:latin typeface="Calibri"/>
              </a:rPr>
              <a:t>EPS (FY25A)</a:t>
            </a:r>
          </a:p>
        </p:txBody>
      </p:sp>
      <p:sp>
        <p:nvSpPr>
          <p:cNvPr id="74" name="TextBox 73"/>
          <p:cNvSpPr txBox="1"/>
          <p:nvPr/>
        </p:nvSpPr>
        <p:spPr>
          <a:xfrm>
            <a:off x="11061954" y="2971800"/>
            <a:ext cx="822960" cy="128016"/>
          </a:xfrm>
          <a:prstGeom prst="rect">
            <a:avLst/>
          </a:prstGeom>
          <a:noFill/>
        </p:spPr>
        <p:txBody>
          <a:bodyPr wrap="square" lIns="36576" rIns="36576" tIns="9144" bIns="9144">
            <a:spAutoFit/>
          </a:bodyPr>
          <a:lstStyle/>
          <a:p>
            <a:pPr algn="r"/>
            <a:r>
              <a:rPr sz="750" b="1">
                <a:solidFill>
                  <a:srgbClr val="FFFFFF"/>
                </a:solidFill>
                <a:latin typeface="Calibri"/>
              </a:rPr>
              <a:t>₹41.7</a:t>
            </a:r>
          </a:p>
        </p:txBody>
      </p:sp>
      <p:sp>
        <p:nvSpPr>
          <p:cNvPr id="75" name="TextBox 74"/>
          <p:cNvSpPr txBox="1"/>
          <p:nvPr/>
        </p:nvSpPr>
        <p:spPr>
          <a:xfrm>
            <a:off x="10021824" y="3154680"/>
            <a:ext cx="1131570" cy="128016"/>
          </a:xfrm>
          <a:prstGeom prst="rect">
            <a:avLst/>
          </a:prstGeom>
          <a:noFill/>
        </p:spPr>
        <p:txBody>
          <a:bodyPr wrap="square" lIns="36576" rIns="36576" tIns="9144" bIns="9144">
            <a:spAutoFit/>
          </a:bodyPr>
          <a:lstStyle/>
          <a:p>
            <a:r>
              <a:rPr sz="700" b="0">
                <a:solidFill>
                  <a:srgbClr val="E8EEF8"/>
                </a:solidFill>
                <a:latin typeface="Calibri"/>
              </a:rPr>
              <a:t>EPS (FY27E)</a:t>
            </a:r>
          </a:p>
        </p:txBody>
      </p:sp>
      <p:sp>
        <p:nvSpPr>
          <p:cNvPr id="76" name="TextBox 75"/>
          <p:cNvSpPr txBox="1"/>
          <p:nvPr/>
        </p:nvSpPr>
        <p:spPr>
          <a:xfrm>
            <a:off x="11061954" y="3154680"/>
            <a:ext cx="822960" cy="128016"/>
          </a:xfrm>
          <a:prstGeom prst="rect">
            <a:avLst/>
          </a:prstGeom>
          <a:noFill/>
        </p:spPr>
        <p:txBody>
          <a:bodyPr wrap="square" lIns="36576" rIns="36576" tIns="9144" bIns="9144">
            <a:spAutoFit/>
          </a:bodyPr>
          <a:lstStyle/>
          <a:p>
            <a:pPr algn="r"/>
            <a:r>
              <a:rPr sz="750" b="1">
                <a:solidFill>
                  <a:srgbClr val="FFFFFF"/>
                </a:solidFill>
                <a:latin typeface="Calibri"/>
              </a:rPr>
              <a:t>₹66.5</a:t>
            </a:r>
          </a:p>
        </p:txBody>
      </p:sp>
      <p:sp>
        <p:nvSpPr>
          <p:cNvPr id="77" name="Rounded Rectangle 76"/>
          <p:cNvSpPr/>
          <p:nvPr/>
        </p:nvSpPr>
        <p:spPr>
          <a:xfrm>
            <a:off x="9930384" y="3364992"/>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012680" y="3419856"/>
            <a:ext cx="1892807" cy="164592"/>
          </a:xfrm>
          <a:prstGeom prst="rect">
            <a:avLst/>
          </a:prstGeom>
          <a:noFill/>
        </p:spPr>
        <p:txBody>
          <a:bodyPr wrap="square" lIns="36576" rIns="36576" tIns="9144" bIns="9144">
            <a:spAutoFit/>
          </a:bodyPr>
          <a:lstStyle/>
          <a:p>
            <a:r>
              <a:rPr sz="750" b="1">
                <a:solidFill>
                  <a:srgbClr val="FFA500"/>
                </a:solidFill>
                <a:latin typeface="Calibri"/>
              </a:rPr>
              <a:t>ANALYST CONSENSUS</a:t>
            </a:r>
          </a:p>
        </p:txBody>
      </p:sp>
      <p:sp>
        <p:nvSpPr>
          <p:cNvPr id="79" name="TextBox 78"/>
          <p:cNvSpPr txBox="1"/>
          <p:nvPr/>
        </p:nvSpPr>
        <p:spPr>
          <a:xfrm>
            <a:off x="10021824" y="3611880"/>
            <a:ext cx="1131570" cy="128016"/>
          </a:xfrm>
          <a:prstGeom prst="rect">
            <a:avLst/>
          </a:prstGeom>
          <a:noFill/>
        </p:spPr>
        <p:txBody>
          <a:bodyPr wrap="square" lIns="36576" rIns="36576" tIns="9144" bIns="9144">
            <a:spAutoFit/>
          </a:bodyPr>
          <a:lstStyle/>
          <a:p>
            <a:r>
              <a:rPr sz="700" b="0">
                <a:solidFill>
                  <a:srgbClr val="E8EEF8"/>
                </a:solidFill>
                <a:latin typeface="Calibri"/>
              </a:rPr>
              <a:t>Consensus TP</a:t>
            </a:r>
          </a:p>
        </p:txBody>
      </p:sp>
      <p:sp>
        <p:nvSpPr>
          <p:cNvPr id="80" name="TextBox 79"/>
          <p:cNvSpPr txBox="1"/>
          <p:nvPr/>
        </p:nvSpPr>
        <p:spPr>
          <a:xfrm>
            <a:off x="11061954" y="3611880"/>
            <a:ext cx="822960" cy="128016"/>
          </a:xfrm>
          <a:prstGeom prst="rect">
            <a:avLst/>
          </a:prstGeom>
          <a:noFill/>
        </p:spPr>
        <p:txBody>
          <a:bodyPr wrap="square" lIns="36576" rIns="36576" tIns="9144" bIns="9144">
            <a:spAutoFit/>
          </a:bodyPr>
          <a:lstStyle/>
          <a:p>
            <a:pPr algn="r"/>
            <a:r>
              <a:rPr sz="750" b="1">
                <a:solidFill>
                  <a:srgbClr val="FFFFFF"/>
                </a:solidFill>
                <a:latin typeface="Calibri"/>
              </a:rPr>
              <a:t>₹1,127</a:t>
            </a:r>
          </a:p>
        </p:txBody>
      </p:sp>
      <p:sp>
        <p:nvSpPr>
          <p:cNvPr id="81" name="TextBox 80"/>
          <p:cNvSpPr txBox="1"/>
          <p:nvPr/>
        </p:nvSpPr>
        <p:spPr>
          <a:xfrm>
            <a:off x="10021824" y="3794760"/>
            <a:ext cx="1131570" cy="128016"/>
          </a:xfrm>
          <a:prstGeom prst="rect">
            <a:avLst/>
          </a:prstGeom>
          <a:noFill/>
        </p:spPr>
        <p:txBody>
          <a:bodyPr wrap="square" lIns="36576" rIns="36576" tIns="9144" bIns="9144">
            <a:spAutoFit/>
          </a:bodyPr>
          <a:lstStyle/>
          <a:p>
            <a:r>
              <a:rPr sz="700" b="0">
                <a:solidFill>
                  <a:srgbClr val="E8EEF8"/>
                </a:solidFill>
                <a:latin typeface="Calibri"/>
              </a:rPr>
              <a:t>Max Target</a:t>
            </a:r>
          </a:p>
        </p:txBody>
      </p:sp>
      <p:sp>
        <p:nvSpPr>
          <p:cNvPr id="82" name="TextBox 81"/>
          <p:cNvSpPr txBox="1"/>
          <p:nvPr/>
        </p:nvSpPr>
        <p:spPr>
          <a:xfrm>
            <a:off x="11061954" y="3794760"/>
            <a:ext cx="822960" cy="128016"/>
          </a:xfrm>
          <a:prstGeom prst="rect">
            <a:avLst/>
          </a:prstGeom>
          <a:noFill/>
        </p:spPr>
        <p:txBody>
          <a:bodyPr wrap="square" lIns="36576" rIns="36576" tIns="9144" bIns="9144">
            <a:spAutoFit/>
          </a:bodyPr>
          <a:lstStyle/>
          <a:p>
            <a:pPr algn="r"/>
            <a:r>
              <a:rPr sz="750" b="1">
                <a:solidFill>
                  <a:srgbClr val="FFFFFF"/>
                </a:solidFill>
                <a:latin typeface="Calibri"/>
              </a:rPr>
              <a:t>₹1,200</a:t>
            </a:r>
          </a:p>
        </p:txBody>
      </p:sp>
      <p:sp>
        <p:nvSpPr>
          <p:cNvPr id="83" name="TextBox 82"/>
          <p:cNvSpPr txBox="1"/>
          <p:nvPr/>
        </p:nvSpPr>
        <p:spPr>
          <a:xfrm>
            <a:off x="10021824" y="3977640"/>
            <a:ext cx="1131570" cy="128016"/>
          </a:xfrm>
          <a:prstGeom prst="rect">
            <a:avLst/>
          </a:prstGeom>
          <a:noFill/>
        </p:spPr>
        <p:txBody>
          <a:bodyPr wrap="square" lIns="36576" rIns="36576" tIns="9144" bIns="9144">
            <a:spAutoFit/>
          </a:bodyPr>
          <a:lstStyle/>
          <a:p>
            <a:r>
              <a:rPr sz="700" b="0">
                <a:solidFill>
                  <a:srgbClr val="E8EEF8"/>
                </a:solidFill>
                <a:latin typeface="Calibri"/>
              </a:rPr>
              <a:t>Upside to Cons.</a:t>
            </a:r>
          </a:p>
        </p:txBody>
      </p:sp>
      <p:sp>
        <p:nvSpPr>
          <p:cNvPr id="84" name="TextBox 83"/>
          <p:cNvSpPr txBox="1"/>
          <p:nvPr/>
        </p:nvSpPr>
        <p:spPr>
          <a:xfrm>
            <a:off x="11061954" y="3977640"/>
            <a:ext cx="822960" cy="128016"/>
          </a:xfrm>
          <a:prstGeom prst="rect">
            <a:avLst/>
          </a:prstGeom>
          <a:noFill/>
        </p:spPr>
        <p:txBody>
          <a:bodyPr wrap="square" lIns="36576" rIns="36576" tIns="9144" bIns="9144">
            <a:spAutoFit/>
          </a:bodyPr>
          <a:lstStyle/>
          <a:p>
            <a:pPr algn="r"/>
            <a:r>
              <a:rPr sz="750" b="1">
                <a:solidFill>
                  <a:srgbClr val="FFFFFF"/>
                </a:solidFill>
                <a:latin typeface="Calibri"/>
              </a:rPr>
              <a:t>+37%</a:t>
            </a:r>
          </a:p>
        </p:txBody>
      </p:sp>
      <p:sp>
        <p:nvSpPr>
          <p:cNvPr id="85" name="Rounded Rectangle 84"/>
          <p:cNvSpPr/>
          <p:nvPr/>
        </p:nvSpPr>
        <p:spPr>
          <a:xfrm>
            <a:off x="9930384" y="4059936"/>
            <a:ext cx="2057400" cy="73152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012680" y="4114800"/>
            <a:ext cx="1892807" cy="164592"/>
          </a:xfrm>
          <a:prstGeom prst="rect">
            <a:avLst/>
          </a:prstGeom>
          <a:noFill/>
        </p:spPr>
        <p:txBody>
          <a:bodyPr wrap="square" lIns="36576" rIns="36576" tIns="9144" bIns="9144">
            <a:spAutoFit/>
          </a:bodyPr>
          <a:lstStyle/>
          <a:p>
            <a:r>
              <a:rPr sz="750" b="1">
                <a:solidFill>
                  <a:srgbClr val="1F4690"/>
                </a:solidFill>
                <a:latin typeface="Calibri"/>
              </a:rPr>
              <a:t>KEY OPERATING STATS</a:t>
            </a:r>
          </a:p>
        </p:txBody>
      </p:sp>
      <p:sp>
        <p:nvSpPr>
          <p:cNvPr id="87" name="TextBox 86"/>
          <p:cNvSpPr txBox="1"/>
          <p:nvPr/>
        </p:nvSpPr>
        <p:spPr>
          <a:xfrm>
            <a:off x="10021824" y="4315968"/>
            <a:ext cx="1131570" cy="128016"/>
          </a:xfrm>
          <a:prstGeom prst="rect">
            <a:avLst/>
          </a:prstGeom>
          <a:noFill/>
        </p:spPr>
        <p:txBody>
          <a:bodyPr wrap="square" lIns="36576" rIns="36576" tIns="9144" bIns="9144">
            <a:spAutoFit/>
          </a:bodyPr>
          <a:lstStyle/>
          <a:p>
            <a:r>
              <a:rPr sz="700" b="0">
                <a:solidFill>
                  <a:srgbClr val="111111"/>
                </a:solidFill>
                <a:latin typeface="Calibri"/>
              </a:rPr>
              <a:t>Total AUM</a:t>
            </a:r>
          </a:p>
        </p:txBody>
      </p:sp>
      <p:sp>
        <p:nvSpPr>
          <p:cNvPr id="88" name="TextBox 87"/>
          <p:cNvSpPr txBox="1"/>
          <p:nvPr/>
        </p:nvSpPr>
        <p:spPr>
          <a:xfrm>
            <a:off x="11061954" y="4315968"/>
            <a:ext cx="822960" cy="128016"/>
          </a:xfrm>
          <a:prstGeom prst="rect">
            <a:avLst/>
          </a:prstGeom>
          <a:noFill/>
        </p:spPr>
        <p:txBody>
          <a:bodyPr wrap="square" lIns="36576" rIns="36576" tIns="9144" bIns="9144">
            <a:spAutoFit/>
          </a:bodyPr>
          <a:lstStyle/>
          <a:p>
            <a:pPr algn="r"/>
            <a:r>
              <a:rPr sz="750" b="1">
                <a:solidFill>
                  <a:srgbClr val="1F4690"/>
                </a:solidFill>
                <a:latin typeface="Calibri"/>
              </a:rPr>
              <a:t>₹1.77L Cr</a:t>
            </a:r>
          </a:p>
        </p:txBody>
      </p:sp>
      <p:sp>
        <p:nvSpPr>
          <p:cNvPr id="89" name="TextBox 88"/>
          <p:cNvSpPr txBox="1"/>
          <p:nvPr/>
        </p:nvSpPr>
        <p:spPr>
          <a:xfrm>
            <a:off x="10021824" y="4498848"/>
            <a:ext cx="1131570" cy="128016"/>
          </a:xfrm>
          <a:prstGeom prst="rect">
            <a:avLst/>
          </a:prstGeom>
          <a:noFill/>
        </p:spPr>
        <p:txBody>
          <a:bodyPr wrap="square" lIns="36576" rIns="36576" tIns="9144" bIns="9144">
            <a:spAutoFit/>
          </a:bodyPr>
          <a:lstStyle/>
          <a:p>
            <a:r>
              <a:rPr sz="700" b="0">
                <a:solidFill>
                  <a:srgbClr val="111111"/>
                </a:solidFill>
                <a:latin typeface="Calibri"/>
              </a:rPr>
              <a:t>AMC AUM</a:t>
            </a:r>
          </a:p>
        </p:txBody>
      </p:sp>
      <p:sp>
        <p:nvSpPr>
          <p:cNvPr id="90" name="TextBox 89"/>
          <p:cNvSpPr txBox="1"/>
          <p:nvPr/>
        </p:nvSpPr>
        <p:spPr>
          <a:xfrm>
            <a:off x="11061954" y="4498848"/>
            <a:ext cx="822960" cy="128016"/>
          </a:xfrm>
          <a:prstGeom prst="rect">
            <a:avLst/>
          </a:prstGeom>
          <a:noFill/>
        </p:spPr>
        <p:txBody>
          <a:bodyPr wrap="square" lIns="36576" rIns="36576" tIns="9144" bIns="9144">
            <a:spAutoFit/>
          </a:bodyPr>
          <a:lstStyle/>
          <a:p>
            <a:pPr algn="r"/>
            <a:r>
              <a:rPr sz="750" b="1">
                <a:solidFill>
                  <a:srgbClr val="1F4690"/>
                </a:solidFill>
                <a:latin typeface="Calibri"/>
              </a:rPr>
              <a:t>₹1.89L Cr</a:t>
            </a:r>
          </a:p>
        </p:txBody>
      </p:sp>
      <p:sp>
        <p:nvSpPr>
          <p:cNvPr id="91" name="TextBox 90"/>
          <p:cNvSpPr txBox="1"/>
          <p:nvPr/>
        </p:nvSpPr>
        <p:spPr>
          <a:xfrm>
            <a:off x="10021824" y="4681728"/>
            <a:ext cx="1131570" cy="128016"/>
          </a:xfrm>
          <a:prstGeom prst="rect">
            <a:avLst/>
          </a:prstGeom>
          <a:noFill/>
        </p:spPr>
        <p:txBody>
          <a:bodyPr wrap="square" lIns="36576" rIns="36576" tIns="9144" bIns="9144">
            <a:spAutoFit/>
          </a:bodyPr>
          <a:lstStyle/>
          <a:p>
            <a:r>
              <a:rPr sz="700" b="0">
                <a:solidFill>
                  <a:srgbClr val="111111"/>
                </a:solidFill>
                <a:latin typeface="Calibri"/>
              </a:rPr>
              <a:t>Pvt Wealth AUM</a:t>
            </a:r>
          </a:p>
        </p:txBody>
      </p:sp>
      <p:sp>
        <p:nvSpPr>
          <p:cNvPr id="92" name="TextBox 91"/>
          <p:cNvSpPr txBox="1"/>
          <p:nvPr/>
        </p:nvSpPr>
        <p:spPr>
          <a:xfrm>
            <a:off x="11061954" y="4681728"/>
            <a:ext cx="822960" cy="128016"/>
          </a:xfrm>
          <a:prstGeom prst="rect">
            <a:avLst/>
          </a:prstGeom>
          <a:noFill/>
        </p:spPr>
        <p:txBody>
          <a:bodyPr wrap="square" lIns="36576" rIns="36576" tIns="9144" bIns="9144">
            <a:spAutoFit/>
          </a:bodyPr>
          <a:lstStyle/>
          <a:p>
            <a:pPr algn="r"/>
            <a:r>
              <a:rPr sz="750" b="1">
                <a:solidFill>
                  <a:srgbClr val="1F4690"/>
                </a:solidFill>
                <a:latin typeface="Calibri"/>
              </a:rPr>
              <a:t>₹1.96L Cr</a:t>
            </a:r>
          </a:p>
        </p:txBody>
      </p:sp>
      <p:sp>
        <p:nvSpPr>
          <p:cNvPr id="93" name="Rounded Rectangle 92"/>
          <p:cNvSpPr/>
          <p:nvPr/>
        </p:nvSpPr>
        <p:spPr>
          <a:xfrm>
            <a:off x="9930384" y="4864608"/>
            <a:ext cx="2057400" cy="59436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012680" y="4919472"/>
            <a:ext cx="1892807" cy="164592"/>
          </a:xfrm>
          <a:prstGeom prst="rect">
            <a:avLst/>
          </a:prstGeom>
          <a:noFill/>
        </p:spPr>
        <p:txBody>
          <a:bodyPr wrap="square" lIns="36576" rIns="36576" tIns="9144" bIns="9144">
            <a:spAutoFit/>
          </a:bodyPr>
          <a:lstStyle/>
          <a:p>
            <a:r>
              <a:rPr sz="750" b="1">
                <a:solidFill>
                  <a:srgbClr val="1F4690"/>
                </a:solidFill>
                <a:latin typeface="Calibri"/>
              </a:rPr>
              <a:t>CREDIT RATING</a:t>
            </a:r>
          </a:p>
        </p:txBody>
      </p:sp>
      <p:sp>
        <p:nvSpPr>
          <p:cNvPr id="95" name="TextBox 94"/>
          <p:cNvSpPr txBox="1"/>
          <p:nvPr/>
        </p:nvSpPr>
        <p:spPr>
          <a:xfrm>
            <a:off x="10021824" y="5120640"/>
            <a:ext cx="1131570" cy="128016"/>
          </a:xfrm>
          <a:prstGeom prst="rect">
            <a:avLst/>
          </a:prstGeom>
          <a:noFill/>
        </p:spPr>
        <p:txBody>
          <a:bodyPr wrap="square" lIns="36576" rIns="36576" tIns="9144" bIns="9144">
            <a:spAutoFit/>
          </a:bodyPr>
          <a:lstStyle/>
          <a:p>
            <a:r>
              <a:rPr sz="700" b="0">
                <a:solidFill>
                  <a:srgbClr val="111111"/>
                </a:solidFill>
                <a:latin typeface="Calibri"/>
              </a:rPr>
              <a:t>ICRA Rating</a:t>
            </a:r>
          </a:p>
        </p:txBody>
      </p:sp>
      <p:sp>
        <p:nvSpPr>
          <p:cNvPr id="96" name="TextBox 95"/>
          <p:cNvSpPr txBox="1"/>
          <p:nvPr/>
        </p:nvSpPr>
        <p:spPr>
          <a:xfrm>
            <a:off x="11061954" y="5120640"/>
            <a:ext cx="822960" cy="128016"/>
          </a:xfrm>
          <a:prstGeom prst="rect">
            <a:avLst/>
          </a:prstGeom>
          <a:noFill/>
        </p:spPr>
        <p:txBody>
          <a:bodyPr wrap="square" lIns="36576" rIns="36576" tIns="9144" bIns="9144">
            <a:spAutoFit/>
          </a:bodyPr>
          <a:lstStyle/>
          <a:p>
            <a:pPr algn="r"/>
            <a:r>
              <a:rPr sz="750" b="1">
                <a:solidFill>
                  <a:srgbClr val="FFA500"/>
                </a:solidFill>
                <a:latin typeface="Calibri"/>
              </a:rPr>
              <a:t>AA+</a:t>
            </a:r>
          </a:p>
        </p:txBody>
      </p:sp>
      <p:sp>
        <p:nvSpPr>
          <p:cNvPr id="97" name="TextBox 96"/>
          <p:cNvSpPr txBox="1"/>
          <p:nvPr/>
        </p:nvSpPr>
        <p:spPr>
          <a:xfrm>
            <a:off x="10021824" y="5303520"/>
            <a:ext cx="1131570" cy="128016"/>
          </a:xfrm>
          <a:prstGeom prst="rect">
            <a:avLst/>
          </a:prstGeom>
          <a:noFill/>
        </p:spPr>
        <p:txBody>
          <a:bodyPr wrap="square" lIns="36576" rIns="36576" tIns="9144" bIns="9144">
            <a:spAutoFit/>
          </a:bodyPr>
          <a:lstStyle/>
          <a:p>
            <a:r>
              <a:rPr sz="700" b="0">
                <a:solidFill>
                  <a:srgbClr val="111111"/>
                </a:solidFill>
                <a:latin typeface="Calibri"/>
              </a:rPr>
              <a:t>Outlook</a:t>
            </a:r>
          </a:p>
        </p:txBody>
      </p:sp>
      <p:sp>
        <p:nvSpPr>
          <p:cNvPr id="98" name="TextBox 97"/>
          <p:cNvSpPr txBox="1"/>
          <p:nvPr/>
        </p:nvSpPr>
        <p:spPr>
          <a:xfrm>
            <a:off x="11061954" y="5303520"/>
            <a:ext cx="822960" cy="128016"/>
          </a:xfrm>
          <a:prstGeom prst="rect">
            <a:avLst/>
          </a:prstGeom>
          <a:noFill/>
        </p:spPr>
        <p:txBody>
          <a:bodyPr wrap="square" lIns="36576" rIns="36576" tIns="9144" bIns="9144">
            <a:spAutoFit/>
          </a:bodyPr>
          <a:lstStyle/>
          <a:p>
            <a:pPr algn="r"/>
            <a:r>
              <a:rPr sz="750" b="1">
                <a:solidFill>
                  <a:srgbClr val="FFA500"/>
                </a:solidFill>
                <a:latin typeface="Calibri"/>
              </a:rPr>
              <a:t>Stable</a:t>
            </a:r>
          </a:p>
        </p:txBody>
      </p:sp>
      <p:sp>
        <p:nvSpPr>
          <p:cNvPr id="99" name="TextBox 98"/>
          <p:cNvSpPr txBox="1"/>
          <p:nvPr/>
        </p:nvSpPr>
        <p:spPr>
          <a:xfrm>
            <a:off x="10021824" y="5486400"/>
            <a:ext cx="1131570" cy="128016"/>
          </a:xfrm>
          <a:prstGeom prst="rect">
            <a:avLst/>
          </a:prstGeom>
          <a:noFill/>
        </p:spPr>
        <p:txBody>
          <a:bodyPr wrap="square" lIns="36576" rIns="36576" tIns="9144" bIns="9144">
            <a:spAutoFit/>
          </a:bodyPr>
          <a:lstStyle/>
          <a:p>
            <a:r>
              <a:rPr sz="700" b="0">
                <a:solidFill>
                  <a:srgbClr val="111111"/>
                </a:solidFill>
                <a:latin typeface="Calibri"/>
              </a:rPr>
              <a:t>Net Worth</a:t>
            </a:r>
          </a:p>
        </p:txBody>
      </p:sp>
      <p:sp>
        <p:nvSpPr>
          <p:cNvPr id="100" name="TextBox 99"/>
          <p:cNvSpPr txBox="1"/>
          <p:nvPr/>
        </p:nvSpPr>
        <p:spPr>
          <a:xfrm>
            <a:off x="11061954" y="5486400"/>
            <a:ext cx="822960" cy="128016"/>
          </a:xfrm>
          <a:prstGeom prst="rect">
            <a:avLst/>
          </a:prstGeom>
          <a:noFill/>
        </p:spPr>
        <p:txBody>
          <a:bodyPr wrap="square" lIns="36576" rIns="36576" tIns="9144" bIns="9144">
            <a:spAutoFit/>
          </a:bodyPr>
          <a:lstStyle/>
          <a:p>
            <a:pPr algn="r"/>
            <a:r>
              <a:rPr sz="750" b="1">
                <a:solidFill>
                  <a:srgbClr val="FFA500"/>
                </a:solidFill>
                <a:latin typeface="Calibri"/>
              </a:rPr>
              <a:t>₹12871 Cr</a:t>
            </a:r>
          </a:p>
        </p:txBody>
      </p:sp>
      <p:sp>
        <p:nvSpPr>
          <p:cNvPr id="101" name="Rounded Rectangle 100"/>
          <p:cNvSpPr/>
          <p:nvPr/>
        </p:nvSpPr>
        <p:spPr>
          <a:xfrm>
            <a:off x="9930384" y="5532120"/>
            <a:ext cx="2057400" cy="713232"/>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021824" y="5586983"/>
            <a:ext cx="1874519" cy="146304"/>
          </a:xfrm>
          <a:prstGeom prst="rect">
            <a:avLst/>
          </a:prstGeom>
          <a:noFill/>
        </p:spPr>
        <p:txBody>
          <a:bodyPr wrap="square" lIns="36576" rIns="36576" tIns="9144" bIns="9144">
            <a:spAutoFit/>
          </a:bodyPr>
          <a:lstStyle/>
          <a:p>
            <a:r>
              <a:rPr sz="750" b="1">
                <a:solidFill>
                  <a:srgbClr val="FFA500"/>
                </a:solidFill>
                <a:latin typeface="Calibri"/>
              </a:rPr>
              <a:t>ARR INFLECTION WATCH</a:t>
            </a:r>
          </a:p>
        </p:txBody>
      </p:sp>
      <p:sp>
        <p:nvSpPr>
          <p:cNvPr id="103" name="TextBox 102"/>
          <p:cNvSpPr txBox="1"/>
          <p:nvPr/>
        </p:nvSpPr>
        <p:spPr>
          <a:xfrm>
            <a:off x="10021824" y="5760720"/>
            <a:ext cx="1874519" cy="237744"/>
          </a:xfrm>
          <a:prstGeom prst="rect">
            <a:avLst/>
          </a:prstGeom>
          <a:noFill/>
        </p:spPr>
        <p:txBody>
          <a:bodyPr wrap="square" lIns="36576" rIns="36576" tIns="9144" bIns="9144">
            <a:spAutoFit/>
          </a:bodyPr>
          <a:lstStyle/>
          <a:p>
            <a:r>
              <a:rPr sz="2000" b="1">
                <a:solidFill>
                  <a:srgbClr val="FFA500"/>
                </a:solidFill>
                <a:latin typeface="Calibri"/>
              </a:rPr>
              <a:t>65%</a:t>
            </a:r>
          </a:p>
        </p:txBody>
      </p:sp>
      <p:sp>
        <p:nvSpPr>
          <p:cNvPr id="104" name="TextBox 103"/>
          <p:cNvSpPr txBox="1"/>
          <p:nvPr/>
        </p:nvSpPr>
        <p:spPr>
          <a:xfrm>
            <a:off x="10021824" y="6016752"/>
            <a:ext cx="1874519" cy="164592"/>
          </a:xfrm>
          <a:prstGeom prst="rect">
            <a:avLst/>
          </a:prstGeom>
          <a:noFill/>
        </p:spPr>
        <p:txBody>
          <a:bodyPr wrap="square" lIns="36576" rIns="36576" tIns="9144" bIns="9144">
            <a:spAutoFit/>
          </a:bodyPr>
          <a:lstStyle/>
          <a:p>
            <a:r>
              <a:rPr sz="650" b="0">
                <a:solidFill>
                  <a:srgbClr val="FFFFFF"/>
                </a:solidFill>
                <a:latin typeface="Calibri"/>
              </a:rPr>
              <a:t>ARR of total net revenues. Re-rating trigger: 70%+ ARR.</a:t>
            </a:r>
          </a:p>
        </p:txBody>
      </p:sp>
      <p:sp>
        <p:nvSpPr>
          <p:cNvPr id="105" name="Rectangle 104"/>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1168" y="6711696"/>
            <a:ext cx="2743200" cy="109728"/>
          </a:xfrm>
          <a:prstGeom prst="rect">
            <a:avLst/>
          </a:prstGeom>
          <a:noFill/>
        </p:spPr>
        <p:txBody>
          <a:bodyPr wrap="square" lIns="36576" rIns="36576" tIns="9144" bIns="9144">
            <a:spAutoFit/>
          </a:bodyPr>
          <a:lstStyle/>
          <a:p>
            <a:r>
              <a:rPr sz="650" b="0">
                <a:solidFill>
                  <a:srgbClr val="5A6573"/>
                </a:solidFill>
                <a:latin typeface="Calibri"/>
              </a:rPr>
              <a:t>SEBI Reg. No.: INH000069807</a:t>
            </a:r>
          </a:p>
        </p:txBody>
      </p:sp>
      <p:sp>
        <p:nvSpPr>
          <p:cNvPr id="107" name="TextBox 106"/>
          <p:cNvSpPr txBox="1"/>
          <p:nvPr/>
        </p:nvSpPr>
        <p:spPr>
          <a:xfrm>
            <a:off x="3901342" y="6711696"/>
            <a:ext cx="4389010" cy="109728"/>
          </a:xfrm>
          <a:prstGeom prst="rect">
            <a:avLst/>
          </a:prstGeom>
          <a:noFill/>
        </p:spPr>
        <p:txBody>
          <a:bodyPr wrap="square" lIns="36576" rIns="36576" tIns="9144" bIns="9144">
            <a:spAutoFit/>
          </a:bodyPr>
          <a:lstStyle/>
          <a:p>
            <a:pPr algn="ctr"/>
            <a:r>
              <a:rPr sz="650" b="1">
                <a:solidFill>
                  <a:srgbClr val="1F4690"/>
                </a:solidFill>
                <a:latin typeface="Calibri"/>
              </a:rPr>
              <a:t>Motilal Oswal Financial Services Ltd - Equity Research</a:t>
            </a:r>
          </a:p>
        </p:txBody>
      </p:sp>
      <p:sp>
        <p:nvSpPr>
          <p:cNvPr id="108" name="TextBox 107"/>
          <p:cNvSpPr txBox="1"/>
          <p:nvPr/>
        </p:nvSpPr>
        <p:spPr>
          <a:xfrm>
            <a:off x="11231575" y="6711696"/>
            <a:ext cx="777240" cy="109728"/>
          </a:xfrm>
          <a:prstGeom prst="rect">
            <a:avLst/>
          </a:prstGeom>
          <a:noFill/>
        </p:spPr>
        <p:txBody>
          <a:bodyPr wrap="square" lIns="36576" rIns="36576" tIns="9144" bIns="9144">
            <a:spAutoFit/>
          </a:bodyPr>
          <a:lstStyle/>
          <a:p>
            <a:pPr algn="r"/>
            <a:r>
              <a:rPr sz="6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5" name="TextBox 14"/>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We initiate coverage on Motilal Oswal Financial Services with a BUY rating. The company is undergoing a fundamental transformation from a cyclical broking business to a high-quality, annuity-driven financial services platform. This structural shift in revenue mix significantly improves earnings quality and visibility, yet remains underappreciated by the market. The current valuation offers an attractive entry point as the company continues to scale its asset management and wealth businesses while maintaining strong profitability metrics.</a:t>
            </a:r>
          </a:p>
        </p:txBody>
      </p:sp>
      <p:sp>
        <p:nvSpPr>
          <p:cNvPr id="16" name="TextBox 15"/>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Revenue quality transformation: The shift toward annuity-based revenues substantially reduces earnings volatility and imp...</a:t>
            </a:r>
          </a:p>
          <a:p>
            <a:pPr>
              <a:spcAft>
                <a:spcPts val="400"/>
              </a:spcAft>
            </a:pPr>
            <a:r>
              <a:rPr sz="1200" b="0">
                <a:solidFill>
                  <a:srgbClr val="111111"/>
                </a:solidFill>
                <a:latin typeface="Calibri"/>
              </a:rPr>
              <a:t>•  Strong AUM momentum: Both asset management and private wealth segments are growing rapidly with impressive benchmark outp...</a:t>
            </a:r>
          </a:p>
          <a:p>
            <a:pPr>
              <a:spcAft>
                <a:spcPts val="400"/>
              </a:spcAft>
            </a:pPr>
            <a:r>
              <a:rPr sz="1200" b="0">
                <a:solidFill>
                  <a:srgbClr val="111111"/>
                </a:solidFill>
                <a:latin typeface="Calibri"/>
              </a:rPr>
              <a:t>•  Balance sheet strength: Credit rating upgrade to AA+ reflects financial stability and enhanced reinvestment capacity</a:t>
            </a:r>
          </a:p>
          <a:p>
            <a:pPr>
              <a:spcAft>
                <a:spcPts val="400"/>
              </a:spcAft>
            </a:pPr>
            <a:r>
              <a:rPr sz="1200" b="0">
                <a:solidFill>
                  <a:srgbClr val="111111"/>
                </a:solidFill>
                <a:latin typeface="Calibri"/>
              </a:rPr>
              <a:t>•  Operational efficiency: Significant operating leverage potential as the business scales on largely fixed cost base</a:t>
            </a:r>
          </a:p>
          <a:p>
            <a:pPr>
              <a:spcAft>
                <a:spcPts val="400"/>
              </a:spcAft>
            </a:pPr>
            <a:r>
              <a:rPr sz="1200" b="0">
                <a:solidFill>
                  <a:srgbClr val="111111"/>
                </a:solidFill>
                <a:latin typeface="Calibri"/>
              </a:rPr>
              <a:t>•  Industry tailwinds: Structurally advantaged by India's expanding HNWI population and increasing financialization</a:t>
            </a:r>
          </a:p>
          <a:p>
            <a:pPr>
              <a:spcAft>
                <a:spcPts val="400"/>
              </a:spcAft>
            </a:pPr>
            <a:r>
              <a:rPr sz="1200" b="0">
                <a:solidFill>
                  <a:srgbClr val="111111"/>
                </a:solidFill>
                <a:latin typeface="Calibri"/>
              </a:rPr>
              <a:t>•  Attractive valuation: Current market price offers substantial discount to probability-weighted target despite quality imp...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Revenue Transformation Underway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Revenue Transformation Underway</a:t>
            </a:r>
          </a:p>
        </p:txBody>
      </p:sp>
      <p:pic>
        <p:nvPicPr>
          <p:cNvPr id="15" name="Picture 14" descr="image.png"/>
          <p:cNvPicPr>
            <a:picLocks noChangeAspect="1"/>
          </p:cNvPicPr>
          <p:nvPr/>
        </p:nvPicPr>
        <p:blipFill>
          <a:blip r:embed="rId3"/>
          <a:stretch>
            <a:fillRect/>
          </a:stretch>
        </p:blipFill>
        <p:spPr>
          <a:xfrm>
            <a:off x="457200" y="1417320"/>
            <a:ext cx="11277295" cy="5029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Indian Financial Services: Structural Growth Runway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Indian Financial Services: Structural Growth Runway</a:t>
            </a:r>
          </a:p>
        </p:txBody>
      </p:sp>
      <p:sp>
        <p:nvSpPr>
          <p:cNvPr id="15" name="TextBox 14"/>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India's financial services sector represents a core enabler of the country's growth story, with particularly strong prospects in wealth and asset management. The sector is undergoing profound transformation driven by rising incomes, expanding investor participation, and increasing financialization of savings. Financial services companies with established brands, distribution networks, and product capabilities are positioned to capture disproportionate value as the industry expands. This structural tailwind provides a multi-year growth runway for well-positioned players like Motilal Oswal.</a:t>
            </a:r>
          </a:p>
        </p:txBody>
      </p:sp>
      <p:sp>
        <p:nvSpPr>
          <p:cNvPr id="16" name="TextBox 15"/>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India projected to become the fourth-largest private wealth market globally by 2028 with significant HNWI expansion</a:t>
            </a:r>
          </a:p>
          <a:p>
            <a:pPr>
              <a:spcAft>
                <a:spcPts val="400"/>
              </a:spcAft>
            </a:pPr>
            <a:r>
              <a:rPr sz="1200" b="0">
                <a:solidFill>
                  <a:srgbClr val="111111"/>
                </a:solidFill>
                <a:latin typeface="Calibri"/>
              </a:rPr>
              <a:t>•  Financial services sector profits expected to nearly double by FY30, with NBFCs growing at substantial rates annu...</a:t>
            </a:r>
          </a:p>
          <a:p>
            <a:pPr>
              <a:spcAft>
                <a:spcPts val="400"/>
              </a:spcAft>
            </a:pPr>
            <a:r>
              <a:rPr sz="1200" b="0">
                <a:solidFill>
                  <a:srgbClr val="111111"/>
                </a:solidFill>
                <a:latin typeface="Calibri"/>
              </a:rPr>
              <a:t>•  Mutual fund penetration remains modest, representing substantial headroom for growth</a:t>
            </a:r>
          </a:p>
          <a:p>
            <a:pPr>
              <a:spcAft>
                <a:spcPts val="400"/>
              </a:spcAft>
            </a:pPr>
            <a:r>
              <a:rPr sz="1200" b="0">
                <a:solidFill>
                  <a:srgbClr val="111111"/>
                </a:solidFill>
                <a:latin typeface="Calibri"/>
              </a:rPr>
              <a:t>•  Private credit market expanding rapidly, setting new records with significant year-over-year growth</a:t>
            </a:r>
          </a:p>
          <a:p>
            <a:pPr>
              <a:spcAft>
                <a:spcPts val="400"/>
              </a:spcAft>
            </a:pPr>
            <a:r>
              <a:rPr sz="1200" b="0">
                <a:solidFill>
                  <a:srgbClr val="111111"/>
                </a:solidFill>
                <a:latin typeface="Calibri"/>
              </a:rPr>
              <a:t>•  Regulatory landscape evolving to favor established, compliant players with robust governance frameworks</a:t>
            </a:r>
          </a:p>
          <a:p>
            <a:pPr>
              <a:spcAft>
                <a:spcPts val="400"/>
              </a:spcAft>
            </a:pPr>
            <a:r>
              <a:rPr sz="1200" b="0">
                <a:solidFill>
                  <a:srgbClr val="111111"/>
                </a:solidFill>
                <a:latin typeface="Calibri"/>
              </a:rPr>
              <a:t>•  Digital transformation enabling broader market access and improving operational efficiencies across the sector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a:t>
            </a:r>
          </a:p>
        </p:txBody>
      </p:sp>
      <p:sp>
        <p:nvSpPr>
          <p:cNvPr id="15" name="TextBox 14"/>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has evolved from its origins as a research-driven equity broking house into a diversified financial services platform. The company now spans capital markets, asset and wealth management, housing finance, and alternative investments. Its research-led approach covers over 300 companies, creating a differentiated competitive moat. The company serves more than 1.6 million customers across 550+ cities through 2,500+ business locations. The business has strategically pivoted toward annuity-based revenue streams while maintaining its heritage strengths in research and broking.</a:t>
            </a:r>
          </a:p>
        </p:txBody>
      </p:sp>
      <p:sp>
        <p:nvSpPr>
          <p:cNvPr id="16" name="Rounded Rectangle 15"/>
          <p:cNvSpPr/>
          <p:nvPr/>
        </p:nvSpPr>
        <p:spPr>
          <a:xfrm>
            <a:off x="6675120" y="1417320"/>
            <a:ext cx="924092"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ANNUAL RECURRING REVENUE</a:t>
            </a:r>
          </a:p>
          <a:p>
            <a:pPr algn="ctr"/>
            <a:r>
              <a:rPr sz="1600" b="1">
                <a:solidFill>
                  <a:srgbClr val="FFFFFF"/>
                </a:solidFill>
                <a:latin typeface="Calibri"/>
              </a:rPr>
              <a:t>65.0</a:t>
            </a:r>
          </a:p>
        </p:txBody>
      </p:sp>
      <p:sp>
        <p:nvSpPr>
          <p:cNvPr id="17" name="Rounded Rectangle 16"/>
          <p:cNvSpPr/>
          <p:nvPr/>
        </p:nvSpPr>
        <p:spPr>
          <a:xfrm>
            <a:off x="7708940" y="1417320"/>
            <a:ext cx="924092"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TOTAL AUM</a:t>
            </a:r>
          </a:p>
          <a:p>
            <a:pPr algn="ctr"/>
            <a:r>
              <a:rPr sz="1600" b="1">
                <a:solidFill>
                  <a:srgbClr val="1F4690"/>
                </a:solidFill>
                <a:latin typeface="Calibri"/>
              </a:rPr>
              <a:t>1.8</a:t>
            </a:r>
          </a:p>
        </p:txBody>
      </p:sp>
      <p:sp>
        <p:nvSpPr>
          <p:cNvPr id="18" name="Rounded Rectangle 17"/>
          <p:cNvSpPr/>
          <p:nvPr/>
        </p:nvSpPr>
        <p:spPr>
          <a:xfrm>
            <a:off x="8742761" y="1417320"/>
            <a:ext cx="924092"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AUM GROWTH (YOY)</a:t>
            </a:r>
          </a:p>
          <a:p>
            <a:pPr algn="ctr"/>
            <a:r>
              <a:rPr sz="1600" b="1">
                <a:solidFill>
                  <a:srgbClr val="FFFFFF"/>
                </a:solidFill>
                <a:latin typeface="Calibri"/>
              </a:rPr>
              <a:t>46.0</a:t>
            </a:r>
          </a:p>
        </p:txBody>
      </p:sp>
      <p:sp>
        <p:nvSpPr>
          <p:cNvPr id="19" name="Rounded Rectangle 18"/>
          <p:cNvSpPr/>
          <p:nvPr/>
        </p:nvSpPr>
        <p:spPr>
          <a:xfrm>
            <a:off x="9776581" y="1417320"/>
            <a:ext cx="924092" cy="100584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ROE FY26E</a:t>
            </a:r>
          </a:p>
          <a:p>
            <a:pPr algn="ctr"/>
            <a:r>
              <a:rPr sz="1600" b="1">
                <a:solidFill>
                  <a:srgbClr val="FFFFFF"/>
                </a:solidFill>
                <a:latin typeface="Calibri"/>
              </a:rPr>
              <a:t>22.0</a:t>
            </a:r>
          </a:p>
        </p:txBody>
      </p:sp>
      <p:sp>
        <p:nvSpPr>
          <p:cNvPr id="20" name="Rounded Rectangle 19"/>
          <p:cNvSpPr/>
          <p:nvPr/>
        </p:nvSpPr>
        <p:spPr>
          <a:xfrm>
            <a:off x="10810402" y="1417320"/>
            <a:ext cx="924092"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CREDIT RATING</a:t>
            </a:r>
          </a:p>
          <a:p>
            <a:pPr algn="ctr"/>
            <a:r>
              <a:rPr sz="1600" b="1">
                <a:solidFill>
                  <a:srgbClr val="FFFFFF"/>
                </a:solidFill>
                <a:latin typeface="Calibri"/>
              </a:rPr>
              <a:t>AA+ (Stable) ICRA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 Performance Trajectory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 Performance Trajectory</a:t>
            </a:r>
          </a:p>
        </p:txBody>
      </p:sp>
      <p:sp>
        <p:nvSpPr>
          <p:cNvPr id="15" name="TextBox 14"/>
          <p:cNvSpPr txBox="1"/>
          <p:nvPr/>
        </p:nvSpPr>
        <p:spPr>
          <a:xfrm>
            <a:off x="457200" y="1417320"/>
            <a:ext cx="4389120" cy="5029200"/>
          </a:xfrm>
          <a:prstGeom prst="rect">
            <a:avLst/>
          </a:prstGeom>
          <a:noFill/>
        </p:spPr>
        <p:txBody>
          <a:bodyPr wrap="square" anchor="t" lIns="45720" rIns="45720" tIns="18288" bIns="18288">
            <a:spAutoFit/>
          </a:bodyPr>
          <a:lstStyle/>
          <a:p>
            <a:r>
              <a:rPr sz="1200" b="0">
                <a:solidFill>
                  <a:srgbClr val="111111"/>
                </a:solidFill>
                <a:latin typeface="Calibri"/>
              </a:rPr>
              <a:t>Motilal Oswal has demonstrated robust financial performance with accelerating momentum in recent periods. The company has delivered impressive growth across key financial metrics, with revenue expansion accompanied by improving profitability. The shift toward annuity-based revenues has enhanced earnings quality while reducing cyclicality. Recent quarterly results underscore the strength of this transformation, with substantial year-over-year gains in both top and bottom lines. The company's ability to maintain strong returns on equity highlights its efficient capital allocation and operating leverage benefits as scale increases.</a:t>
            </a:r>
          </a:p>
        </p:txBody>
      </p:sp>
      <p:pic>
        <p:nvPicPr>
          <p:cNvPr id="16" name="Picture 15"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Segment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Segment Analysis</a:t>
            </a:r>
          </a:p>
        </p:txBody>
      </p:sp>
      <p:sp>
        <p:nvSpPr>
          <p:cNvPr id="15" name="TextBox 14"/>
          <p:cNvSpPr txBox="1"/>
          <p:nvPr/>
        </p:nvSpPr>
        <p:spPr>
          <a:xfrm>
            <a:off x="457200" y="1417320"/>
            <a:ext cx="4389120" cy="2194560"/>
          </a:xfrm>
          <a:prstGeom prst="rect">
            <a:avLst/>
          </a:prstGeom>
          <a:noFill/>
        </p:spPr>
        <p:txBody>
          <a:bodyPr wrap="square" anchor="t" lIns="45720" rIns="45720" tIns="18288" bIns="18288">
            <a:spAutoFit/>
          </a:bodyPr>
          <a:lstStyle/>
          <a:p>
            <a:r>
              <a:rPr sz="1200" b="0">
                <a:solidFill>
                  <a:srgbClr val="111111"/>
                </a:solidFill>
                <a:latin typeface="Calibri"/>
              </a:rPr>
              <a:t>Motilal Oswal operates through multiple complementary business segments, with a strategic focus on growing its annuity-based businesses.</a:t>
            </a:r>
          </a:p>
        </p:txBody>
      </p:sp>
      <p:pic>
        <p:nvPicPr>
          <p:cNvPr id="16" name="Picture 15" descr="image.png"/>
          <p:cNvPicPr>
            <a:picLocks noChangeAspect="1"/>
          </p:cNvPicPr>
          <p:nvPr/>
        </p:nvPicPr>
        <p:blipFill>
          <a:blip r:embed="rId3"/>
          <a:stretch>
            <a:fillRect/>
          </a:stretch>
        </p:blipFill>
        <p:spPr>
          <a:xfrm>
            <a:off x="5120640" y="1417320"/>
            <a:ext cx="6613855" cy="2194560"/>
          </a:xfrm>
          <a:prstGeom prst="rect">
            <a:avLst/>
          </a:prstGeom>
        </p:spPr>
      </p:pic>
      <p:graphicFrame>
        <p:nvGraphicFramePr>
          <p:cNvPr id="17" name="Table 16"/>
          <p:cNvGraphicFramePr>
            <a:graphicFrameLocks noGrp="1"/>
          </p:cNvGraphicFramePr>
          <p:nvPr/>
        </p:nvGraphicFramePr>
        <p:xfrm>
          <a:off x="457200" y="3749039"/>
          <a:ext cx="11277294" cy="269748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49"/>
              </a:tblGrid>
              <a:tr h="449580">
                <a:tc>
                  <a:txBody>
                    <a:bodyPr/>
                    <a:lstStyle/>
                    <a:p>
                      <a:r>
                        <a:rPr b="1" sz="1400">
                          <a:solidFill>
                            <a:srgbClr val="FFFFFF"/>
                          </a:solidFill>
                          <a:latin typeface="Calibri"/>
                        </a:rPr>
                        <a:t>Segment</a:t>
                      </a:r>
                    </a:p>
                  </a:txBody>
                  <a:tcPr marL="45720" marR="45720" marT="18288" marB="18288">
                    <a:solidFill>
                      <a:srgbClr val="1F4690"/>
                    </a:solidFill>
                  </a:tcPr>
                </a:tc>
                <a:tc>
                  <a:txBody>
                    <a:bodyPr/>
                    <a:lstStyle/>
                    <a:p>
                      <a:pPr algn="r"/>
                      <a:r>
                        <a:rPr b="1" sz="1400">
                          <a:solidFill>
                            <a:srgbClr val="FFFFFF"/>
                          </a:solidFill>
                          <a:latin typeface="Calibri"/>
                        </a:rPr>
                        <a:t>Revenue %</a:t>
                      </a:r>
                    </a:p>
                  </a:txBody>
                  <a:tcPr marL="45720" marR="45720" marT="18288" marB="18288">
                    <a:solidFill>
                      <a:srgbClr val="1F4690"/>
                    </a:solidFill>
                  </a:tcPr>
                </a:tc>
                <a:tc>
                  <a:txBody>
                    <a:bodyPr/>
                    <a:lstStyle/>
                    <a:p>
                      <a:pPr algn="r"/>
                      <a:r>
                        <a:rPr b="1" sz="1400">
                          <a:solidFill>
                            <a:srgbClr val="FFFFFF"/>
                          </a:solidFill>
                          <a:latin typeface="Calibri"/>
                        </a:rPr>
                        <a:t>EBITDA %</a:t>
                      </a:r>
                    </a:p>
                  </a:txBody>
                  <a:tcPr marL="45720" marR="45720" marT="18288" marB="18288">
                    <a:solidFill>
                      <a:srgbClr val="1F4690"/>
                    </a:solidFill>
                  </a:tcPr>
                </a:tc>
                <a:tc>
                  <a:txBody>
                    <a:bodyPr/>
                    <a:lstStyle/>
                    <a:p>
                      <a:pPr algn="r"/>
                      <a:r>
                        <a:rPr b="1" sz="1400">
                          <a:solidFill>
                            <a:srgbClr val="FFFFFF"/>
                          </a:solidFill>
                          <a:latin typeface="Calibri"/>
                        </a:rPr>
                        <a:t>YoY Growth</a:t>
                      </a:r>
                    </a:p>
                  </a:txBody>
                  <a:tcPr marL="45720" marR="45720" marT="18288" marB="18288">
                    <a:solidFill>
                      <a:srgbClr val="1F4690"/>
                    </a:solidFill>
                  </a:tcPr>
                </a:tc>
                <a:tc>
                  <a:txBody>
                    <a:bodyPr/>
                    <a:lstStyle/>
                    <a:p>
                      <a:pPr algn="r"/>
                      <a:r>
                        <a:rPr b="1" sz="1400">
                          <a:solidFill>
                            <a:srgbClr val="FFFFFF"/>
                          </a:solidFill>
                          <a:latin typeface="Calibri"/>
                        </a:rPr>
                        <a:t>AUM Metric</a:t>
                      </a:r>
                    </a:p>
                  </a:txBody>
                  <a:tcPr marL="45720" marR="45720" marT="18288" marB="18288">
                    <a:solidFill>
                      <a:srgbClr val="1F4690"/>
                    </a:solidFill>
                  </a:tcPr>
                </a:tc>
                <a:tc>
                  <a:txBody>
                    <a:bodyPr/>
                    <a:lstStyle/>
                    <a:p>
                      <a:pPr algn="r"/>
                      <a:r>
                        <a:rPr b="1" sz="1400">
                          <a:solidFill>
                            <a:srgbClr val="FFFFFF"/>
                          </a:solidFill>
                          <a:latin typeface="Calibri"/>
                        </a:rPr>
                        <a:t>Value</a:t>
                      </a:r>
                    </a:p>
                  </a:txBody>
                  <a:tcPr marL="45720" marR="45720" marT="18288" marB="18288">
                    <a:solidFill>
                      <a:srgbClr val="1F4690"/>
                    </a:solidFill>
                  </a:tcPr>
                </a:tc>
              </a:tr>
              <a:tr h="449580">
                <a:tc>
                  <a:txBody>
                    <a:bodyPr/>
                    <a:lstStyle/>
                    <a:p>
                      <a:r>
                        <a:rPr sz="1400" b="1">
                          <a:solidFill>
                            <a:srgbClr val="5A6573"/>
                          </a:solidFill>
                          <a:latin typeface="Calibri"/>
                        </a:rPr>
                        <a:t>Capital Markets (Broking + IB)</a:t>
                      </a:r>
                    </a:p>
                  </a:txBody>
                  <a:tcPr marL="45720" marR="45720" marT="18288" marB="18288">
                    <a:solidFill>
                      <a:srgbClr val="F4F6F9"/>
                    </a:solidFill>
                  </a:tcPr>
                </a:tc>
                <a:tc>
                  <a:txBody>
                    <a:bodyPr/>
                    <a:lstStyle/>
                    <a:p>
                      <a:pPr algn="r"/>
                      <a:r>
                        <a:rPr sz="1400" b="1">
                          <a:solidFill>
                            <a:srgbClr val="1A7A4A"/>
                          </a:solidFill>
                          <a:latin typeface="Calibri"/>
                        </a:rPr>
                        <a:t>30.0%</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c>
                  <a:txBody>
                    <a:bodyPr/>
                    <a:lstStyle/>
                    <a:p>
                      <a:pPr algn="r"/>
                      <a:r>
                        <a:rPr sz="1400">
                          <a:solidFill>
                            <a:srgbClr val="111111"/>
                          </a:solidFill>
                          <a:latin typeface="Calibri"/>
                        </a:rPr>
                        <a:t>Brokerage Rev YoY</a:t>
                      </a:r>
                    </a:p>
                  </a:txBody>
                  <a:tcPr marL="45720" marR="45720" marT="18288" marB="18288">
                    <a:solidFill>
                      <a:srgbClr val="F4F6F9"/>
                    </a:solidFill>
                  </a:tcPr>
                </a:tc>
                <a:tc>
                  <a:txBody>
                    <a:bodyPr/>
                    <a:lstStyle/>
                    <a:p>
                      <a:pPr algn="r"/>
                      <a:r>
                        <a:rPr sz="1400" b="1">
                          <a:solidFill>
                            <a:srgbClr val="B91C1C"/>
                          </a:solidFill>
                          <a:latin typeface="Calibri"/>
                        </a:rPr>
                        <a:t>-24%</a:t>
                      </a:r>
                    </a:p>
                  </a:txBody>
                  <a:tcPr marL="45720" marR="45720" marT="18288" marB="18288">
                    <a:solidFill>
                      <a:srgbClr val="F4F6F9"/>
                    </a:solidFill>
                  </a:tcPr>
                </a:tc>
              </a:tr>
              <a:tr h="449580">
                <a:tc>
                  <a:txBody>
                    <a:bodyPr/>
                    <a:lstStyle/>
                    <a:p>
                      <a:r>
                        <a:rPr sz="1400" b="1">
                          <a:solidFill>
                            <a:srgbClr val="5A6573"/>
                          </a:solidFill>
                          <a:latin typeface="Calibri"/>
                        </a:rPr>
                        <a:t>Asset Management</a:t>
                      </a:r>
                    </a:p>
                  </a:txBody>
                  <a:tcPr marL="45720" marR="45720" marT="18288" marB="18288">
                    <a:solidFill>
                      <a:srgbClr val="FFFFFF"/>
                    </a:solidFill>
                  </a:tcPr>
                </a:tc>
                <a:tc>
                  <a:txBody>
                    <a:bodyPr/>
                    <a:lstStyle/>
                    <a:p>
                      <a:pPr algn="r"/>
                      <a:r>
                        <a:rPr sz="1400">
                          <a:solidFill>
                            <a:srgbClr val="111111"/>
                          </a:solidFill>
                          <a:latin typeface="Calibri"/>
                        </a:rPr>
                        <a:t>—</a:t>
                      </a:r>
                    </a:p>
                  </a:txBody>
                  <a:tcPr marL="45720" marR="45720" marT="18288" marB="18288">
                    <a:solidFill>
                      <a:srgbClr val="FFFFFF"/>
                    </a:solidFill>
                  </a:tcPr>
                </a:tc>
                <a:tc>
                  <a:txBody>
                    <a:bodyPr/>
                    <a:lstStyle/>
                    <a:p>
                      <a:pPr algn="r"/>
                      <a:r>
                        <a:rPr sz="1400">
                          <a:solidFill>
                            <a:srgbClr val="111111"/>
                          </a:solidFill>
                          <a:latin typeface="Calibri"/>
                        </a:rPr>
                        <a:t>—</a:t>
                      </a:r>
                    </a:p>
                  </a:txBody>
                  <a:tcPr marL="45720" marR="45720" marT="18288" marB="18288">
                    <a:solidFill>
                      <a:srgbClr val="FFFFFF"/>
                    </a:solidFill>
                  </a:tcPr>
                </a:tc>
                <a:tc>
                  <a:txBody>
                    <a:bodyPr/>
                    <a:lstStyle/>
                    <a:p>
                      <a:pPr algn="r"/>
                      <a:r>
                        <a:rPr sz="1400">
                          <a:solidFill>
                            <a:srgbClr val="111111"/>
                          </a:solidFill>
                          <a:latin typeface="Calibri"/>
                        </a:rPr>
                        <a:t>—</a:t>
                      </a:r>
                    </a:p>
                  </a:txBody>
                  <a:tcPr marL="45720" marR="45720" marT="18288" marB="18288">
                    <a:solidFill>
                      <a:srgbClr val="FFFFFF"/>
                    </a:solidFill>
                  </a:tcPr>
                </a:tc>
                <a:tc>
                  <a:txBody>
                    <a:bodyPr/>
                    <a:lstStyle/>
                    <a:p>
                      <a:pPr algn="r"/>
                      <a:r>
                        <a:rPr sz="1400">
                          <a:solidFill>
                            <a:srgbClr val="111111"/>
                          </a:solidFill>
                          <a:latin typeface="Calibri"/>
                        </a:rPr>
                        <a:t>AMC AUM</a:t>
                      </a:r>
                    </a:p>
                  </a:txBody>
                  <a:tcPr marL="45720" marR="45720" marT="18288" marB="18288">
                    <a:solidFill>
                      <a:srgbClr val="FFFFFF"/>
                    </a:solidFill>
                  </a:tcPr>
                </a:tc>
                <a:tc>
                  <a:txBody>
                    <a:bodyPr/>
                    <a:lstStyle/>
                    <a:p>
                      <a:pPr algn="r"/>
                      <a:r>
                        <a:rPr sz="1400">
                          <a:solidFill>
                            <a:srgbClr val="111111"/>
                          </a:solidFill>
                          <a:latin typeface="Calibri"/>
                        </a:rPr>
                        <a:t>INR 1.89L Cr (+33% YoY)</a:t>
                      </a:r>
                    </a:p>
                  </a:txBody>
                  <a:tcPr marL="45720" marR="45720" marT="18288" marB="18288">
                    <a:solidFill>
                      <a:srgbClr val="FFFFFF"/>
                    </a:solidFill>
                  </a:tcPr>
                </a:tc>
              </a:tr>
              <a:tr h="449580">
                <a:tc>
                  <a:txBody>
                    <a:bodyPr/>
                    <a:lstStyle/>
                    <a:p>
                      <a:r>
                        <a:rPr sz="1400" b="1">
                          <a:solidFill>
                            <a:srgbClr val="5A6573"/>
                          </a:solidFill>
                          <a:latin typeface="Calibri"/>
                        </a:rPr>
                        <a:t>Private Wealth Management</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c>
                  <a:txBody>
                    <a:bodyPr/>
                    <a:lstStyle/>
                    <a:p>
                      <a:pPr algn="r"/>
                      <a:r>
                        <a:rPr sz="1400">
                          <a:solidFill>
                            <a:srgbClr val="111111"/>
                          </a:solidFill>
                          <a:latin typeface="Calibri"/>
                        </a:rPr>
                        <a:t>PWM AUM</a:t>
                      </a:r>
                    </a:p>
                  </a:txBody>
                  <a:tcPr marL="45720" marR="45720" marT="18288" marB="18288">
                    <a:solidFill>
                      <a:srgbClr val="F4F6F9"/>
                    </a:solidFill>
                  </a:tcPr>
                </a:tc>
                <a:tc>
                  <a:txBody>
                    <a:bodyPr/>
                    <a:lstStyle/>
                    <a:p>
                      <a:pPr algn="r"/>
                      <a:r>
                        <a:rPr sz="1400">
                          <a:solidFill>
                            <a:srgbClr val="111111"/>
                          </a:solidFill>
                          <a:latin typeface="Calibri"/>
                        </a:rPr>
                        <a:t>INR 1.96L Cr (+31% YoY)</a:t>
                      </a:r>
                    </a:p>
                  </a:txBody>
                  <a:tcPr marL="45720" marR="45720" marT="18288" marB="18288">
                    <a:solidFill>
                      <a:srgbClr val="F4F6F9"/>
                    </a:solidFill>
                  </a:tcPr>
                </a:tc>
              </a:tr>
              <a:tr h="449580">
                <a:tc>
                  <a:txBody>
                    <a:bodyPr/>
                    <a:lstStyle/>
                    <a:p>
                      <a:r>
                        <a:rPr sz="1400" b="1">
                          <a:solidFill>
                            <a:srgbClr val="5A6573"/>
                          </a:solidFill>
                          <a:latin typeface="Calibri"/>
                        </a:rPr>
                        <a:t>Housing Finance</a:t>
                      </a:r>
                    </a:p>
                  </a:txBody>
                  <a:tcPr marL="45720" marR="45720" marT="18288" marB="18288">
                    <a:solidFill>
                      <a:srgbClr val="FFFFFF"/>
                    </a:solidFill>
                  </a:tcPr>
                </a:tc>
                <a:tc>
                  <a:txBody>
                    <a:bodyPr/>
                    <a:lstStyle/>
                    <a:p>
                      <a:pPr algn="r"/>
                      <a:r>
                        <a:rPr sz="1400">
                          <a:solidFill>
                            <a:srgbClr val="111111"/>
                          </a:solidFill>
                          <a:latin typeface="Calibri"/>
                        </a:rPr>
                        <a:t>—</a:t>
                      </a:r>
                    </a:p>
                  </a:txBody>
                  <a:tcPr marL="45720" marR="45720" marT="18288" marB="18288">
                    <a:solidFill>
                      <a:srgbClr val="FFFFFF"/>
                    </a:solidFill>
                  </a:tcPr>
                </a:tc>
                <a:tc>
                  <a:txBody>
                    <a:bodyPr/>
                    <a:lstStyle/>
                    <a:p>
                      <a:pPr algn="r"/>
                      <a:r>
                        <a:rPr sz="1400">
                          <a:solidFill>
                            <a:srgbClr val="111111"/>
                          </a:solidFill>
                          <a:latin typeface="Calibri"/>
                        </a:rPr>
                        <a:t>—</a:t>
                      </a:r>
                    </a:p>
                  </a:txBody>
                  <a:tcPr marL="45720" marR="45720" marT="18288" marB="18288">
                    <a:solidFill>
                      <a:srgbClr val="FFFFFF"/>
                    </a:solidFill>
                  </a:tcPr>
                </a:tc>
                <a:tc>
                  <a:txBody>
                    <a:bodyPr/>
                    <a:lstStyle/>
                    <a:p>
                      <a:pPr algn="r"/>
                      <a:r>
                        <a:rPr sz="1400">
                          <a:solidFill>
                            <a:srgbClr val="111111"/>
                          </a:solidFill>
                          <a:latin typeface="Calibri"/>
                        </a:rPr>
                        <a:t>—</a:t>
                      </a:r>
                    </a:p>
                  </a:txBody>
                  <a:tcPr marL="45720" marR="45720" marT="18288" marB="18288">
                    <a:solidFill>
                      <a:srgbClr val="FFFFFF"/>
                    </a:solidFill>
                  </a:tcPr>
                </a:tc>
                <a:tc>
                  <a:txBody>
                    <a:bodyPr/>
                    <a:lstStyle/>
                    <a:p>
                      <a:pPr algn="r"/>
                      <a:r>
                        <a:rPr sz="1400">
                          <a:solidFill>
                            <a:srgbClr val="111111"/>
                          </a:solidFill>
                          <a:latin typeface="Calibri"/>
                        </a:rPr>
                        <a:t>Loan Book</a:t>
                      </a:r>
                    </a:p>
                  </a:txBody>
                  <a:tcPr marL="45720" marR="45720" marT="18288" marB="18288">
                    <a:solidFill>
                      <a:srgbClr val="FFFFFF"/>
                    </a:solidFill>
                  </a:tcPr>
                </a:tc>
                <a:tc>
                  <a:txBody>
                    <a:bodyPr/>
                    <a:lstStyle/>
                    <a:p>
                      <a:pPr algn="r"/>
                      <a:r>
                        <a:rPr sz="1400">
                          <a:solidFill>
                            <a:srgbClr val="111111"/>
                          </a:solidFill>
                          <a:latin typeface="Calibri"/>
                        </a:rPr>
                        <a:t>INR 6,630 Cr (+25% YoY)</a:t>
                      </a:r>
                    </a:p>
                  </a:txBody>
                  <a:tcPr marL="45720" marR="45720" marT="18288" marB="18288">
                    <a:solidFill>
                      <a:srgbClr val="FFFFFF"/>
                    </a:solidFill>
                  </a:tcPr>
                </a:tc>
              </a:tr>
              <a:tr h="449580">
                <a:tc>
                  <a:txBody>
                    <a:bodyPr/>
                    <a:lstStyle/>
                    <a:p>
                      <a:r>
                        <a:rPr sz="1400" b="1">
                          <a:solidFill>
                            <a:srgbClr val="5A6573"/>
                          </a:solidFill>
                          <a:latin typeface="Calibri"/>
                        </a:rPr>
                        <a:t>Alternative Investments</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c>
                  <a:txBody>
                    <a:bodyPr/>
                    <a:lstStyle/>
                    <a:p>
                      <a:pPr algn="r"/>
                      <a:r>
                        <a:rPr sz="1400">
                          <a:solidFill>
                            <a:srgbClr val="111111"/>
                          </a:solidFill>
                          <a:latin typeface="Calibri"/>
                        </a:rPr>
                        <a:t>Carry Income</a:t>
                      </a:r>
                    </a:p>
                  </a:txBody>
                  <a:tcPr marL="45720" marR="45720" marT="18288" marB="18288">
                    <a:solidFill>
                      <a:srgbClr val="F4F6F9"/>
                    </a:solidFill>
                  </a:tcPr>
                </a:tc>
                <a:tc>
                  <a:txBody>
                    <a:bodyPr/>
                    <a:lstStyle/>
                    <a:p>
                      <a:pPr algn="r"/>
                      <a:r>
                        <a:rPr sz="1400">
                          <a:solidFill>
                            <a:srgbClr val="111111"/>
                          </a:solidFill>
                          <a:latin typeface="Calibri"/>
                        </a:rPr>
                        <a:t>INR 58 Cr recurring</a:t>
                      </a:r>
                    </a:p>
                  </a:txBody>
                  <a:tcPr marL="45720" marR="45720" marT="18288" marB="18288">
                    <a:solidFill>
                      <a:srgbClr val="F4F6F9"/>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Highlights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Highlights</a:t>
            </a:r>
          </a:p>
        </p:txBody>
      </p:sp>
      <p:sp>
        <p:nvSpPr>
          <p:cNvPr id="15" name="TextBox 14"/>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Motilal Oswal offers multiple vectors for sustainable growth and value creation.</a:t>
            </a:r>
          </a:p>
        </p:txBody>
      </p:sp>
      <p:sp>
        <p:nvSpPr>
          <p:cNvPr id="16" name="TextBox 15"/>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Annuity Revenue Transformation: ARR contribution now represents a substantial portion of total net revenues, fundamentally improving earnings quality and reducing cyclicality</a:t>
            </a:r>
          </a:p>
          <a:p>
            <a:pPr>
              <a:spcAft>
                <a:spcPts val="400"/>
              </a:spcAft>
            </a:pPr>
            <a:r>
              <a:rPr sz="1200" b="0">
                <a:solidFill>
                  <a:srgbClr val="111111"/>
                </a:solidFill>
                <a:latin typeface="Calibri"/>
              </a:rPr>
              <a:t>•  Asset Management Excellence: AMC AUM showing strong growth with impressive benchmark outperformance, supporting premium fee retention and client loyalty</a:t>
            </a:r>
          </a:p>
          <a:p>
            <a:pPr>
              <a:spcAft>
                <a:spcPts val="400"/>
              </a:spcAft>
            </a:pPr>
            <a:r>
              <a:rPr sz="1200" b="0">
                <a:solidFill>
                  <a:srgbClr val="111111"/>
                </a:solidFill>
                <a:latin typeface="Calibri"/>
              </a:rPr>
              <a:t>•  Private Wealth Scale: PWM business demonstrating robust expansion in both AUM and family count, capturing India's wealth creation wave</a:t>
            </a:r>
          </a:p>
          <a:p>
            <a:pPr>
              <a:spcAft>
                <a:spcPts val="400"/>
              </a:spcAft>
            </a:pPr>
            <a:r>
              <a:rPr sz="1200" b="0">
                <a:solidFill>
                  <a:srgbClr val="111111"/>
                </a:solidFill>
                <a:latin typeface="Calibri"/>
              </a:rPr>
              <a:t>•  Financial Strength: Credit rating upgrade reflects balance sheet quality and increased reinvestment capacity for future growth initiatives</a:t>
            </a:r>
          </a:p>
          <a:p>
            <a:pPr>
              <a:spcAft>
                <a:spcPts val="400"/>
              </a:spcAft>
            </a:pPr>
            <a:r>
              <a:rPr sz="1200" b="0">
                <a:solidFill>
                  <a:srgbClr val="111111"/>
                </a:solidFill>
                <a:latin typeface="Calibri"/>
              </a:rPr>
              <a:t>•  Operational Efficiency: Significant operating leverage potential as business scales on largely fixed cost infrastructure</a:t>
            </a:r>
          </a:p>
          <a:p>
            <a:pPr>
              <a:spcAft>
                <a:spcPts val="400"/>
              </a:spcAft>
            </a:pPr>
            <a:r>
              <a:rPr sz="1200" b="0">
                <a:solidFill>
                  <a:srgbClr val="111111"/>
                </a:solidFill>
                <a:latin typeface="Calibri"/>
              </a:rPr>
              <a:t>•  Research Leadership: Coverage of over 300 companies creates differentiated insights and sustains competitive advantage across business 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Asset &amp; Wealth Management Deep Dive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Asset &amp; Wealth Management Deep Dive</a:t>
            </a:r>
          </a:p>
        </p:txBody>
      </p:sp>
      <p:sp>
        <p:nvSpPr>
          <p:cNvPr id="15" name="TextBox 14"/>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The asset and wealth management businesses represent Motilal Oswal's crown jewels, delivering strong annuity-based revenues with high growth potential. Both businesses are scaling rapidly with impressive AUM expansion and client acquisition metrics. The asset management business benefits from strong investment performance, with the majority of AUM outperforming benchmarks over medium and long-term horizons. This performance supports fee retention and net inflows. The private wealth business continues to expand its family count while deepening wallet share with existing clients, resulting in accelerating AUM growth. These twin engines provide a stable, growing revenue base that enhances overall business quality.</a:t>
            </a:r>
          </a:p>
        </p:txBody>
      </p:sp>
      <p:sp>
        <p:nvSpPr>
          <p:cNvPr id="16" name="TextBox 15"/>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Asset Management: AMC AUM expanding rapidly with strong performance track record across fund categories</a:t>
            </a:r>
          </a:p>
          <a:p>
            <a:pPr>
              <a:spcAft>
                <a:spcPts val="400"/>
              </a:spcAft>
            </a:pPr>
            <a:r>
              <a:rPr sz="1200" b="0">
                <a:solidFill>
                  <a:srgbClr val="111111"/>
                </a:solidFill>
                <a:latin typeface="Calibri"/>
              </a:rPr>
              <a:t>•  Benchmark Outperformance: Vast majority of AMC AUM outperforming benchmarks over three-year periods, supporting f...</a:t>
            </a:r>
          </a:p>
          <a:p>
            <a:pPr>
              <a:spcAft>
                <a:spcPts val="400"/>
              </a:spcAft>
            </a:pPr>
            <a:r>
              <a:rPr sz="1200" b="0">
                <a:solidFill>
                  <a:srgbClr val="111111"/>
                </a:solidFill>
                <a:latin typeface="Calibri"/>
              </a:rPr>
              <a:t>•  Private Wealth: PWM AUM growing substantially with accelerating family count acquisition</a:t>
            </a:r>
          </a:p>
          <a:p>
            <a:pPr>
              <a:spcAft>
                <a:spcPts val="400"/>
              </a:spcAft>
            </a:pPr>
            <a:r>
              <a:rPr sz="1200" b="0">
                <a:solidFill>
                  <a:srgbClr val="111111"/>
                </a:solidFill>
                <a:latin typeface="Calibri"/>
              </a:rPr>
              <a:t>•  Client Expansion: Family count growth outpacing AUM growth, indicating strong new client acquisition alongside de...</a:t>
            </a:r>
          </a:p>
          <a:p>
            <a:pPr>
              <a:spcAft>
                <a:spcPts val="400"/>
              </a:spcAft>
            </a:pPr>
            <a:r>
              <a:rPr sz="1200" b="0">
                <a:solidFill>
                  <a:srgbClr val="111111"/>
                </a:solidFill>
                <a:latin typeface="Calibri"/>
              </a:rPr>
              <a:t>•  Product Innovation: Expanding alternative investment offerings capturing additional wallet share from HNI and UHN...</a:t>
            </a:r>
          </a:p>
          <a:p>
            <a:pPr>
              <a:spcAft>
                <a:spcPts val="400"/>
              </a:spcAft>
            </a:pPr>
            <a:r>
              <a:rPr sz="1200" b="0">
                <a:solidFill>
                  <a:srgbClr val="111111"/>
                </a:solidFill>
                <a:latin typeface="Calibri"/>
              </a:rPr>
              <a:t>•  Distribution Strength: Leveraging existing distribution network while expanding digital capabilities for efficien...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Team Assessment</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Team Assessment</a:t>
            </a:r>
          </a:p>
        </p:txBody>
      </p:sp>
      <p:sp>
        <p:nvSpPr>
          <p:cNvPr id="15" name="TextBox 14"/>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Motilal Oswal's leadership combines founder continuity with professional management depth across business verticals.</a:t>
            </a:r>
          </a:p>
        </p:txBody>
      </p:sp>
      <p:graphicFrame>
        <p:nvGraphicFramePr>
          <p:cNvPr id="16" name="Table 15"/>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400">
                          <a:solidFill>
                            <a:srgbClr val="FFFFFF"/>
                          </a:solidFill>
                          <a:latin typeface="Calibri"/>
                        </a:rPr>
                        <a:t>Name</a:t>
                      </a:r>
                    </a:p>
                  </a:txBody>
                  <a:tcPr marL="45720" marR="45720" marT="18288" marB="18288">
                    <a:solidFill>
                      <a:srgbClr val="1F4690"/>
                    </a:solidFill>
                  </a:tcPr>
                </a:tc>
                <a:tc>
                  <a:txBody>
                    <a:bodyPr/>
                    <a:lstStyle/>
                    <a:p>
                      <a:pPr algn="r"/>
                      <a:r>
                        <a:rPr b="1" sz="1400">
                          <a:solidFill>
                            <a:srgbClr val="FFFFFF"/>
                          </a:solidFill>
                          <a:latin typeface="Calibri"/>
                        </a:rPr>
                        <a:t>Designation</a:t>
                      </a:r>
                    </a:p>
                  </a:txBody>
                  <a:tcPr marL="45720" marR="45720" marT="18288" marB="18288">
                    <a:solidFill>
                      <a:srgbClr val="1F4690"/>
                    </a:solidFill>
                  </a:tcPr>
                </a:tc>
                <a:tc>
                  <a:txBody>
                    <a:bodyPr/>
                    <a:lstStyle/>
                    <a:p>
                      <a:pPr algn="r"/>
                      <a:r>
                        <a:rPr b="1" sz="1400">
                          <a:solidFill>
                            <a:srgbClr val="FFFFFF"/>
                          </a:solidFill>
                          <a:latin typeface="Calibri"/>
                        </a:rPr>
                        <a:t>Background &amp; Experience</a:t>
                      </a:r>
                    </a:p>
                  </a:txBody>
                  <a:tcPr marL="45720" marR="45720" marT="18288" marB="18288">
                    <a:solidFill>
                      <a:srgbClr val="1F4690"/>
                    </a:solidFill>
                  </a:tcPr>
                </a:tc>
              </a:tr>
              <a:tr h="850392">
                <a:tc>
                  <a:txBody>
                    <a:bodyPr/>
                    <a:lstStyle/>
                    <a:p>
                      <a:r>
                        <a:rPr sz="1400" b="1">
                          <a:solidFill>
                            <a:srgbClr val="5A6573"/>
                          </a:solidFill>
                          <a:latin typeface="Calibri"/>
                        </a:rPr>
                        <a:t>Raamdeo Agrawal</a:t>
                      </a:r>
                    </a:p>
                  </a:txBody>
                  <a:tcPr marL="45720" marR="45720" marT="18288" marB="18288">
                    <a:solidFill>
                      <a:srgbClr val="F4F6F9"/>
                    </a:solidFill>
                  </a:tcPr>
                </a:tc>
                <a:tc>
                  <a:txBody>
                    <a:bodyPr/>
                    <a:lstStyle/>
                    <a:p>
                      <a:pPr algn="r"/>
                      <a:r>
                        <a:rPr sz="1400">
                          <a:solidFill>
                            <a:srgbClr val="111111"/>
                          </a:solidFill>
                          <a:latin typeface="Calibri"/>
                        </a:rPr>
                        <a:t>Chairman, MOFSL &amp; Chairman, AMC</a:t>
                      </a:r>
                    </a:p>
                  </a:txBody>
                  <a:tcPr marL="45720" marR="45720" marT="18288" marB="18288">
                    <a:solidFill>
                      <a:srgbClr val="F4F6F9"/>
                    </a:solidFill>
                  </a:tcPr>
                </a:tc>
                <a:tc>
                  <a:txBody>
                    <a:bodyPr/>
                    <a:lstStyle/>
                    <a:p>
                      <a:pPr algn="r"/>
                      <a:r>
                        <a:rPr sz="14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45720" marR="45720" marT="18288" marB="18288">
                    <a:solidFill>
                      <a:srgbClr val="F4F6F9"/>
                    </a:solidFill>
                  </a:tcPr>
                </a:tc>
              </a:tr>
              <a:tr h="850392">
                <a:tc>
                  <a:txBody>
                    <a:bodyPr/>
                    <a:lstStyle/>
                    <a:p>
                      <a:r>
                        <a:rPr sz="1400" b="1">
                          <a:solidFill>
                            <a:srgbClr val="5A6573"/>
                          </a:solidFill>
                          <a:latin typeface="Calibri"/>
                        </a:rPr>
                        <a:t>Motilal Oswal</a:t>
                      </a:r>
                    </a:p>
                  </a:txBody>
                  <a:tcPr marL="45720" marR="45720" marT="18288" marB="18288">
                    <a:solidFill>
                      <a:srgbClr val="FFFFFF"/>
                    </a:solidFill>
                  </a:tcPr>
                </a:tc>
                <a:tc>
                  <a:txBody>
                    <a:bodyPr/>
                    <a:lstStyle/>
                    <a:p>
                      <a:pPr algn="r"/>
                      <a:r>
                        <a:rPr sz="1400">
                          <a:solidFill>
                            <a:srgbClr val="111111"/>
                          </a:solidFill>
                          <a:latin typeface="Calibri"/>
                        </a:rPr>
                        <a:t>Founder, Chairman &amp; MD</a:t>
                      </a:r>
                    </a:p>
                  </a:txBody>
                  <a:tcPr marL="45720" marR="45720" marT="18288" marB="18288">
                    <a:solidFill>
                      <a:srgbClr val="FFFFFF"/>
                    </a:solidFill>
                  </a:tcPr>
                </a:tc>
                <a:tc>
                  <a:txBody>
                    <a:bodyPr/>
                    <a:lstStyle/>
                    <a:p>
                      <a:pPr algn="r"/>
                      <a:r>
                        <a:rPr sz="14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45720" marR="45720" marT="18288" marB="18288">
                    <a:solidFill>
                      <a:srgbClr val="FFFFFF"/>
                    </a:solidFill>
                  </a:tcPr>
                </a:tc>
              </a:tr>
              <a:tr h="850392">
                <a:tc>
                  <a:txBody>
                    <a:bodyPr/>
                    <a:lstStyle/>
                    <a:p>
                      <a:r>
                        <a:rPr sz="1400" b="1">
                          <a:solidFill>
                            <a:srgbClr val="5A6573"/>
                          </a:solidFill>
                          <a:latin typeface="Calibri"/>
                        </a:rPr>
                        <a:t>Navin Agarwal</a:t>
                      </a:r>
                    </a:p>
                  </a:txBody>
                  <a:tcPr marL="45720" marR="45720" marT="18288" marB="18288">
                    <a:solidFill>
                      <a:srgbClr val="F4F6F9"/>
                    </a:solidFill>
                  </a:tcPr>
                </a:tc>
                <a:tc>
                  <a:txBody>
                    <a:bodyPr/>
                    <a:lstStyle/>
                    <a:p>
                      <a:pPr algn="r"/>
                      <a:r>
                        <a:rPr sz="1400">
                          <a:solidFill>
                            <a:srgbClr val="111111"/>
                          </a:solidFill>
                          <a:latin typeface="Calibri"/>
                        </a:rPr>
                        <a:t>Executive Board — Strategy &amp; Capital Allocation</a:t>
                      </a:r>
                    </a:p>
                  </a:txBody>
                  <a:tcPr marL="45720" marR="45720" marT="18288" marB="18288">
                    <a:solidFill>
                      <a:srgbClr val="F4F6F9"/>
                    </a:solidFill>
                  </a:tcPr>
                </a:tc>
                <a:tc>
                  <a:txBody>
                    <a:bodyPr/>
                    <a:lstStyle/>
                    <a:p>
                      <a:pPr algn="r"/>
                      <a:r>
                        <a:rPr sz="1400">
                          <a:solidFill>
                            <a:srgbClr val="111111"/>
                          </a:solidFill>
                          <a:latin typeface="Calibri"/>
                        </a:rPr>
                        <a:t>Joined 2000. Drives business strategy and capital allocation across the Group, building market-leading positions through disciplined deployment.</a:t>
                      </a:r>
                    </a:p>
                  </a:txBody>
                  <a:tcPr marL="45720" marR="45720" marT="18288" marB="18288">
                    <a:solidFill>
                      <a:srgbClr val="F4F6F9"/>
                    </a:solidFill>
                  </a:tcPr>
                </a:tc>
              </a:tr>
              <a:tr h="850392">
                <a:tc>
                  <a:txBody>
                    <a:bodyPr/>
                    <a:lstStyle/>
                    <a:p>
                      <a:r>
                        <a:rPr sz="1400" b="1">
                          <a:solidFill>
                            <a:srgbClr val="5A6573"/>
                          </a:solidFill>
                          <a:latin typeface="Calibri"/>
                        </a:rPr>
                        <a:t>Ajay Menon</a:t>
                      </a:r>
                    </a:p>
                  </a:txBody>
                  <a:tcPr marL="45720" marR="45720" marT="18288" marB="18288">
                    <a:solidFill>
                      <a:srgbClr val="FFFFFF"/>
                    </a:solidFill>
                  </a:tcPr>
                </a:tc>
                <a:tc>
                  <a:txBody>
                    <a:bodyPr/>
                    <a:lstStyle/>
                    <a:p>
                      <a:pPr algn="r"/>
                      <a:r>
                        <a:rPr sz="1400">
                          <a:solidFill>
                            <a:srgbClr val="111111"/>
                          </a:solidFill>
                          <a:latin typeface="Calibri"/>
                        </a:rPr>
                        <a:t>Executive — Operations, Compliance, Risk &amp; Technology</a:t>
                      </a:r>
                    </a:p>
                  </a:txBody>
                  <a:tcPr marL="45720" marR="45720" marT="18288" marB="18288">
                    <a:solidFill>
                      <a:srgbClr val="FFFFFF"/>
                    </a:solidFill>
                  </a:tcPr>
                </a:tc>
                <a:tc>
                  <a:txBody>
                    <a:bodyPr/>
                    <a:lstStyle/>
                    <a:p>
                      <a:pPr algn="r"/>
                      <a:r>
                        <a:rPr sz="1400">
                          <a:solidFill>
                            <a:srgbClr val="111111"/>
                          </a:solidFill>
                          <a:latin typeface="Calibri"/>
                        </a:rPr>
                        <a:t>Joined 1998. 27+ years in Indian capital markets. Cornerstone of operational excellence and technology initiatives across the Group.</a:t>
                      </a:r>
                    </a:p>
                  </a:txBody>
                  <a:tcPr marL="45720" marR="45720"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Governance Assessment - Monitor Closely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Governance Assessment - Monitor Closely</a:t>
            </a:r>
          </a:p>
        </p:txBody>
      </p:sp>
      <p:sp>
        <p:nvSpPr>
          <p:cNvPr id="15" name="TextBox 14"/>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As a regulated financial services entity, MOFSL faces periodic regulatory scrutiny. We categorize the company in our 'Monitor Closely' framework, requiring ongoing assessment of regulatory compliance and governance practices.</a:t>
            </a:r>
          </a:p>
        </p:txBody>
      </p:sp>
      <p:graphicFrame>
        <p:nvGraphicFramePr>
          <p:cNvPr id="16" name="Table 15"/>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400">
                          <a:solidFill>
                            <a:srgbClr val="FFFFFF"/>
                          </a:solidFill>
                          <a:latin typeface="Calibri"/>
                        </a:rPr>
                        <a:t>Issue</a:t>
                      </a:r>
                    </a:p>
                  </a:txBody>
                  <a:tcPr marL="45720" marR="45720" marT="18288" marB="18288">
                    <a:solidFill>
                      <a:srgbClr val="1F4690"/>
                    </a:solidFill>
                  </a:tcPr>
                </a:tc>
                <a:tc>
                  <a:txBody>
                    <a:bodyPr/>
                    <a:lstStyle/>
                    <a:p>
                      <a:pPr algn="r"/>
                      <a:r>
                        <a:rPr b="1" sz="1400">
                          <a:solidFill>
                            <a:srgbClr val="FFFFFF"/>
                          </a:solidFill>
                          <a:latin typeface="Calibri"/>
                        </a:rPr>
                        <a:t>Details</a:t>
                      </a:r>
                    </a:p>
                  </a:txBody>
                  <a:tcPr marL="45720" marR="45720" marT="18288" marB="18288">
                    <a:solidFill>
                      <a:srgbClr val="1F4690"/>
                    </a:solidFill>
                  </a:tcPr>
                </a:tc>
                <a:tc>
                  <a:txBody>
                    <a:bodyPr/>
                    <a:lstStyle/>
                    <a:p>
                      <a:pPr algn="r"/>
                      <a:r>
                        <a:rPr b="1" sz="1400">
                          <a:solidFill>
                            <a:srgbClr val="FFFFFF"/>
                          </a:solidFill>
                          <a:latin typeface="Calibri"/>
                        </a:rPr>
                        <a:t>Assessment</a:t>
                      </a:r>
                    </a:p>
                  </a:txBody>
                  <a:tcPr marL="45720" marR="45720" marT="18288" marB="18288">
                    <a:solidFill>
                      <a:srgbClr val="1F4690"/>
                    </a:solidFill>
                  </a:tcPr>
                </a:tc>
              </a:tr>
              <a:tr h="678180">
                <a:tc>
                  <a:txBody>
                    <a:bodyPr/>
                    <a:lstStyle/>
                    <a:p>
                      <a:r>
                        <a:rPr sz="1400" b="1">
                          <a:solidFill>
                            <a:srgbClr val="5A6573"/>
                          </a:solidFill>
                          <a:latin typeface="Calibri"/>
                        </a:rPr>
                        <a:t>SEBI — Margin Reporting Violations</a:t>
                      </a:r>
                    </a:p>
                  </a:txBody>
                  <a:tcPr marL="45720" marR="45720" marT="18288" marB="18288">
                    <a:solidFill>
                      <a:srgbClr val="F4F6F9"/>
                    </a:solidFill>
                  </a:tcPr>
                </a:tc>
                <a:tc>
                  <a:txBody>
                    <a:bodyPr/>
                    <a:lstStyle/>
                    <a:p>
                      <a:pPr algn="r"/>
                      <a:r>
                        <a:rPr sz="1400">
                          <a:solidFill>
                            <a:srgbClr val="111111"/>
                          </a:solidFill>
                          <a:latin typeface="Calibri"/>
                        </a:rPr>
                        <a:t>INR 7 lakh penalty for margin reporting, collection violations, and other regulatory lapses found during inspection.</a:t>
                      </a:r>
                    </a:p>
                  </a:txBody>
                  <a:tcPr marL="45720" marR="45720" marT="18288" marB="18288">
                    <a:solidFill>
                      <a:srgbClr val="F4F6F9"/>
                    </a:solidFill>
                  </a:tcPr>
                </a:tc>
                <a:tc>
                  <a:txBody>
                    <a:bodyPr/>
                    <a:lstStyle/>
                    <a:p>
                      <a:pPr algn="r"/>
                      <a:r>
                        <a:rPr sz="1400">
                          <a:solidFill>
                            <a:srgbClr val="111111"/>
                          </a:solidFill>
                          <a:latin typeface="Calibri"/>
                        </a:rPr>
                        <a:t>Low</a:t>
                      </a:r>
                    </a:p>
                  </a:txBody>
                  <a:tcPr marL="45720" marR="45720" marT="18288" marB="18288">
                    <a:solidFill>
                      <a:srgbClr val="F4F6F9"/>
                    </a:solidFill>
                  </a:tcPr>
                </a:tc>
              </a:tr>
              <a:tr h="678180">
                <a:tc>
                  <a:txBody>
                    <a:bodyPr/>
                    <a:lstStyle/>
                    <a:p>
                      <a:r>
                        <a:rPr sz="1400" b="1">
                          <a:solidFill>
                            <a:srgbClr val="5A6573"/>
                          </a:solidFill>
                          <a:latin typeface="Calibri"/>
                        </a:rPr>
                        <a:t>SEBI — Client Fund Misutilization (2022)</a:t>
                      </a:r>
                    </a:p>
                  </a:txBody>
                  <a:tcPr marL="45720" marR="45720" marT="18288" marB="18288">
                    <a:solidFill>
                      <a:srgbClr val="FFFFFF"/>
                    </a:solidFill>
                  </a:tcPr>
                </a:tc>
                <a:tc>
                  <a:txBody>
                    <a:bodyPr/>
                    <a:lstStyle/>
                    <a:p>
                      <a:pPr algn="r"/>
                      <a:r>
                        <a:rPr sz="1400">
                          <a:solidFill>
                            <a:srgbClr val="111111"/>
                          </a:solidFill>
                          <a:latin typeface="Calibri"/>
                        </a:rPr>
                        <a:t>INR 25 lakh fine for misutilization of client funds and inaccurate margin reporting.</a:t>
                      </a:r>
                    </a:p>
                  </a:txBody>
                  <a:tcPr marL="45720" marR="45720" marT="18288" marB="18288">
                    <a:solidFill>
                      <a:srgbClr val="FFFFFF"/>
                    </a:solidFill>
                  </a:tcPr>
                </a:tc>
                <a:tc>
                  <a:txBody>
                    <a:bodyPr/>
                    <a:lstStyle/>
                    <a:p>
                      <a:pPr algn="r"/>
                      <a:r>
                        <a:rPr sz="1400">
                          <a:solidFill>
                            <a:srgbClr val="111111"/>
                          </a:solidFill>
                          <a:latin typeface="Calibri"/>
                        </a:rPr>
                        <a:t>Medium</a:t>
                      </a:r>
                    </a:p>
                  </a:txBody>
                  <a:tcPr marL="45720" marR="45720" marT="18288" marB="18288">
                    <a:solidFill>
                      <a:srgbClr val="FFFFFF"/>
                    </a:solidFill>
                  </a:tcPr>
                </a:tc>
              </a:tr>
              <a:tr h="678180">
                <a:tc>
                  <a:txBody>
                    <a:bodyPr/>
                    <a:lstStyle/>
                    <a:p>
                      <a:r>
                        <a:rPr sz="1400" b="1">
                          <a:solidFill>
                            <a:srgbClr val="5A6573"/>
                          </a:solidFill>
                          <a:latin typeface="Calibri"/>
                        </a:rPr>
                        <a:t>NSEL — Misselling Accusations</a:t>
                      </a:r>
                    </a:p>
                  </a:txBody>
                  <a:tcPr marL="45720" marR="45720" marT="18288" marB="18288">
                    <a:solidFill>
                      <a:srgbClr val="F4F6F9"/>
                    </a:solidFill>
                  </a:tcPr>
                </a:tc>
                <a:tc>
                  <a:txBody>
                    <a:bodyPr/>
                    <a:lstStyle/>
                    <a:p>
                      <a:pPr algn="r"/>
                      <a:r>
                        <a:rPr sz="1400">
                          <a:solidFill>
                            <a:srgbClr val="111111"/>
                          </a:solidFill>
                          <a:latin typeface="Calibri"/>
                        </a:rPr>
                        <a:t>Accused alongside other top brokers of misselling NSEL contracts, KYC manipulation, client code modification, and illegal transactions per SFIO/EOW findings.</a:t>
                      </a:r>
                    </a:p>
                  </a:txBody>
                  <a:tcPr marL="45720" marR="45720" marT="18288" marB="18288">
                    <a:solidFill>
                      <a:srgbClr val="F4F6F9"/>
                    </a:solidFill>
                  </a:tcPr>
                </a:tc>
                <a:tc>
                  <a:txBody>
                    <a:bodyPr/>
                    <a:lstStyle/>
                    <a:p>
                      <a:pPr algn="r"/>
                      <a:r>
                        <a:rPr sz="1400">
                          <a:solidFill>
                            <a:srgbClr val="111111"/>
                          </a:solidFill>
                          <a:latin typeface="Calibri"/>
                        </a:rPr>
                        <a:t>High (Historical)</a:t>
                      </a:r>
                    </a:p>
                  </a:txBody>
                  <a:tcPr marL="45720" marR="45720" marT="18288" marB="18288">
                    <a:solidFill>
                      <a:srgbClr val="F4F6F9"/>
                    </a:solidFill>
                  </a:tcPr>
                </a:tc>
              </a:tr>
              <a:tr h="678180">
                <a:tc>
                  <a:txBody>
                    <a:bodyPr/>
                    <a:lstStyle/>
                    <a:p>
                      <a:r>
                        <a:rPr sz="1400" b="1">
                          <a:solidFill>
                            <a:srgbClr val="5A6573"/>
                          </a:solidFill>
                          <a:latin typeface="Calibri"/>
                        </a:rPr>
                        <a:t>SEBI — Not Fit and Proper (Commodities)</a:t>
                      </a:r>
                    </a:p>
                  </a:txBody>
                  <a:tcPr marL="45720" marR="45720" marT="18288" marB="18288">
                    <a:solidFill>
                      <a:srgbClr val="FFFFFF"/>
                    </a:solidFill>
                  </a:tcPr>
                </a:tc>
                <a:tc>
                  <a:txBody>
                    <a:bodyPr/>
                    <a:lstStyle/>
                    <a:p>
                      <a:pPr algn="r"/>
                      <a:r>
                        <a:rPr sz="1400">
                          <a:solidFill>
                            <a:srgbClr val="111111"/>
                          </a:solidFill>
                          <a:latin typeface="Calibri"/>
                        </a:rPr>
                        <a:t>Declared 'not fit and proper' as commodity derivative broker in Feb 2019 based on SFIO/EOW recommendations.</a:t>
                      </a:r>
                    </a:p>
                  </a:txBody>
                  <a:tcPr marL="45720" marR="45720" marT="18288" marB="18288">
                    <a:solidFill>
                      <a:srgbClr val="FFFFFF"/>
                    </a:solidFill>
                  </a:tcPr>
                </a:tc>
                <a:tc>
                  <a:txBody>
                    <a:bodyPr/>
                    <a:lstStyle/>
                    <a:p>
                      <a:pPr algn="r"/>
                      <a:r>
                        <a:rPr sz="1400">
                          <a:solidFill>
                            <a:srgbClr val="111111"/>
                          </a:solidFill>
                          <a:latin typeface="Calibri"/>
                        </a:rPr>
                        <a:t>High (Historical)</a:t>
                      </a:r>
                    </a:p>
                  </a:txBody>
                  <a:tcPr marL="45720" marR="45720" marT="18288" marB="18288">
                    <a:solidFill>
                      <a:srgbClr val="FFFFFF"/>
                    </a:solidFill>
                  </a:tcPr>
                </a:tc>
              </a:tr>
              <a:tr h="678180">
                <a:tc>
                  <a:txBody>
                    <a:bodyPr/>
                    <a:lstStyle/>
                    <a:p>
                      <a:r>
                        <a:rPr sz="1400" b="1">
                          <a:solidFill>
                            <a:srgbClr val="5A6573"/>
                          </a:solidFill>
                          <a:latin typeface="Calibri"/>
                        </a:rPr>
                        <a:t>Unauthorized Terminal Operations</a:t>
                      </a:r>
                    </a:p>
                  </a:txBody>
                  <a:tcPr marL="45720" marR="45720" marT="18288" marB="18288">
                    <a:solidFill>
                      <a:srgbClr val="F4F6F9"/>
                    </a:solidFill>
                  </a:tcPr>
                </a:tc>
                <a:tc>
                  <a:txBody>
                    <a:bodyPr/>
                    <a:lstStyle/>
                    <a:p>
                      <a:pPr algn="r"/>
                      <a:r>
                        <a:rPr sz="1400">
                          <a:solidFill>
                            <a:srgbClr val="111111"/>
                          </a:solidFill>
                          <a:latin typeface="Calibri"/>
                        </a:rPr>
                        <a:t>13 NSE and 9 BSE terminals operating from undeclared locations including an unreported branch in Delhi.</a:t>
                      </a:r>
                    </a:p>
                  </a:txBody>
                  <a:tcPr marL="45720" marR="45720" marT="18288" marB="18288">
                    <a:solidFill>
                      <a:srgbClr val="F4F6F9"/>
                    </a:solidFill>
                  </a:tcPr>
                </a:tc>
                <a:tc>
                  <a:txBody>
                    <a:bodyPr/>
                    <a:lstStyle/>
                    <a:p>
                      <a:pPr algn="r"/>
                      <a:r>
                        <a:rPr sz="1400">
                          <a:solidFill>
                            <a:srgbClr val="111111"/>
                          </a:solidFill>
                          <a:latin typeface="Calibri"/>
                        </a:rPr>
                        <a:t>Medium</a:t>
                      </a:r>
                    </a:p>
                  </a:txBody>
                  <a:tcPr marL="45720" marR="45720"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Score: 72/100</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3" name="Rounded Rectangle 12"/>
          <p:cNvSpPr/>
          <p:nvPr/>
        </p:nvSpPr>
        <p:spPr>
          <a:xfrm>
            <a:off x="292608" y="1170432"/>
            <a:ext cx="11612880" cy="475488"/>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280160"/>
            <a:ext cx="1463040" cy="182880"/>
          </a:xfrm>
          <a:prstGeom prst="rect">
            <a:avLst/>
          </a:prstGeom>
          <a:noFill/>
        </p:spPr>
        <p:txBody>
          <a:bodyPr wrap="square" lIns="27432" rIns="27432" tIns="4572" bIns="4572">
            <a:spAutoFit/>
          </a:bodyPr>
          <a:lstStyle/>
          <a:p>
            <a:r>
              <a:rPr sz="1100" b="1">
                <a:solidFill>
                  <a:srgbClr val="1F4690"/>
                </a:solidFill>
                <a:latin typeface="Calibri"/>
              </a:rPr>
              <a:t>SAARTHI Total Score:</a:t>
            </a:r>
          </a:p>
        </p:txBody>
      </p:sp>
      <p:sp>
        <p:nvSpPr>
          <p:cNvPr id="15" name="TextBox 14"/>
          <p:cNvSpPr txBox="1"/>
          <p:nvPr/>
        </p:nvSpPr>
        <p:spPr>
          <a:xfrm>
            <a:off x="1938528" y="1243584"/>
            <a:ext cx="1097280" cy="256032"/>
          </a:xfrm>
          <a:prstGeom prst="rect">
            <a:avLst/>
          </a:prstGeom>
          <a:noFill/>
        </p:spPr>
        <p:txBody>
          <a:bodyPr wrap="square" lIns="27432" rIns="27432" tIns="4572" bIns="4572">
            <a:spAutoFit/>
          </a:bodyPr>
          <a:lstStyle/>
          <a:p>
            <a:r>
              <a:rPr sz="1600" b="1">
                <a:solidFill>
                  <a:srgbClr val="1F4690"/>
                </a:solidFill>
                <a:latin typeface="Calibri"/>
              </a:rPr>
              <a:t>72 / 100</a:t>
            </a:r>
          </a:p>
        </p:txBody>
      </p:sp>
      <p:sp>
        <p:nvSpPr>
          <p:cNvPr id="16" name="Rounded Rectangle 15"/>
          <p:cNvSpPr/>
          <p:nvPr/>
        </p:nvSpPr>
        <p:spPr>
          <a:xfrm>
            <a:off x="3172968" y="1280160"/>
            <a:ext cx="1645920" cy="237744"/>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18688" y="1316736"/>
            <a:ext cx="1554480" cy="128016"/>
          </a:xfrm>
          <a:prstGeom prst="rect">
            <a:avLst/>
          </a:prstGeom>
          <a:noFill/>
        </p:spPr>
        <p:txBody>
          <a:bodyPr wrap="square" lIns="27432" rIns="27432" tIns="4572" bIns="4572">
            <a:spAutoFit/>
          </a:bodyPr>
          <a:lstStyle/>
          <a:p>
            <a:pPr algn="ctr"/>
            <a:r>
              <a:rPr sz="800" b="1">
                <a:solidFill>
                  <a:srgbClr val="1F4690"/>
                </a:solidFill>
                <a:latin typeface="Calibri"/>
              </a:rPr>
              <a:t>BUY (70-84 RANGE)</a:t>
            </a:r>
          </a:p>
        </p:txBody>
      </p:sp>
      <p:sp>
        <p:nvSpPr>
          <p:cNvPr id="18" name="TextBox 17"/>
          <p:cNvSpPr txBox="1"/>
          <p:nvPr/>
        </p:nvSpPr>
        <p:spPr>
          <a:xfrm>
            <a:off x="4956048" y="1307592"/>
            <a:ext cx="3566160" cy="146304"/>
          </a:xfrm>
          <a:prstGeom prst="rect">
            <a:avLst/>
          </a:prstGeom>
          <a:noFill/>
        </p:spPr>
        <p:txBody>
          <a:bodyPr wrap="square" lIns="27432" rIns="27432" tIns="4572" bIns="4572">
            <a:spAutoFit/>
          </a:bodyPr>
          <a:lstStyle/>
          <a:p>
            <a:r>
              <a:rPr sz="800" b="0">
                <a:solidFill>
                  <a:srgbClr val="111111"/>
                </a:solidFill>
                <a:latin typeface="Calibri"/>
              </a:rPr>
              <a:t>Strongest: Addressable Market &amp; Adjacency (9/10)</a:t>
            </a:r>
          </a:p>
        </p:txBody>
      </p:sp>
      <p:sp>
        <p:nvSpPr>
          <p:cNvPr id="19" name="TextBox 18"/>
          <p:cNvSpPr txBox="1"/>
          <p:nvPr/>
        </p:nvSpPr>
        <p:spPr>
          <a:xfrm>
            <a:off x="8385048" y="1307592"/>
            <a:ext cx="3794760" cy="146304"/>
          </a:xfrm>
          <a:prstGeom prst="rect">
            <a:avLst/>
          </a:prstGeom>
          <a:noFill/>
        </p:spPr>
        <p:txBody>
          <a:bodyPr wrap="square" lIns="27432" rIns="27432" tIns="4572" bIns="4572">
            <a:spAutoFit/>
          </a:bodyPr>
          <a:lstStyle/>
          <a:p>
            <a:r>
              <a:rPr sz="800" b="0">
                <a:solidFill>
                  <a:srgbClr val="111111"/>
                </a:solidFill>
                <a:latin typeface="Calibri"/>
              </a:rPr>
              <a:t>Weakest: Asymmetric Pricing Power (10/15)</a:t>
            </a:r>
          </a:p>
        </p:txBody>
      </p:sp>
      <p:sp>
        <p:nvSpPr>
          <p:cNvPr id="20" name="TextBox 19"/>
          <p:cNvSpPr txBox="1"/>
          <p:nvPr/>
        </p:nvSpPr>
        <p:spPr>
          <a:xfrm>
            <a:off x="310896" y="1828800"/>
            <a:ext cx="4937759" cy="164592"/>
          </a:xfrm>
          <a:prstGeom prst="rect">
            <a:avLst/>
          </a:prstGeom>
          <a:noFill/>
        </p:spPr>
        <p:txBody>
          <a:bodyPr wrap="square" lIns="27432" rIns="27432" tIns="4572" bIns="4572">
            <a:spAutoFit/>
          </a:bodyPr>
          <a:lstStyle/>
          <a:p>
            <a:r>
              <a:rPr sz="800" b="1">
                <a:solidFill>
                  <a:srgbClr val="1F4690"/>
                </a:solidFill>
                <a:latin typeface="Calibri"/>
              </a:rPr>
              <a:t>S - Scalability of Core Engine</a:t>
            </a:r>
          </a:p>
        </p:txBody>
      </p:sp>
      <p:sp>
        <p:nvSpPr>
          <p:cNvPr id="21" name="TextBox 20"/>
          <p:cNvSpPr txBox="1"/>
          <p:nvPr/>
        </p:nvSpPr>
        <p:spPr>
          <a:xfrm>
            <a:off x="5266944" y="1828800"/>
            <a:ext cx="621792" cy="164592"/>
          </a:xfrm>
          <a:prstGeom prst="rect">
            <a:avLst/>
          </a:prstGeom>
          <a:noFill/>
        </p:spPr>
        <p:txBody>
          <a:bodyPr wrap="square" lIns="27432" rIns="27432" tIns="4572" bIns="4572">
            <a:spAutoFit/>
          </a:bodyPr>
          <a:lstStyle/>
          <a:p>
            <a:pPr algn="r"/>
            <a:r>
              <a:rPr sz="1000" b="1">
                <a:solidFill>
                  <a:srgbClr val="1F4690"/>
                </a:solidFill>
                <a:latin typeface="Calibri"/>
              </a:rPr>
              <a:t>12 / 15</a:t>
            </a:r>
          </a:p>
        </p:txBody>
      </p:sp>
      <p:sp>
        <p:nvSpPr>
          <p:cNvPr id="22" name="Rectangle 21"/>
          <p:cNvSpPr/>
          <p:nvPr/>
        </p:nvSpPr>
        <p:spPr>
          <a:xfrm>
            <a:off x="310896"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0896"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0896" y="2121408"/>
            <a:ext cx="5577840" cy="475488"/>
          </a:xfrm>
          <a:prstGeom prst="rect">
            <a:avLst/>
          </a:prstGeom>
          <a:noFill/>
        </p:spPr>
        <p:txBody>
          <a:bodyPr wrap="square" lIns="27432" rIns="27432" tIns="4572" bIns="4572">
            <a:spAutoFit/>
          </a:bodyPr>
          <a:lstStyle/>
          <a:p>
            <a:r>
              <a:rPr sz="750" b="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5" name="TextBox 24"/>
          <p:cNvSpPr txBox="1"/>
          <p:nvPr/>
        </p:nvSpPr>
        <p:spPr>
          <a:xfrm>
            <a:off x="310896" y="2688336"/>
            <a:ext cx="4937759" cy="164592"/>
          </a:xfrm>
          <a:prstGeom prst="rect">
            <a:avLst/>
          </a:prstGeom>
          <a:noFill/>
        </p:spPr>
        <p:txBody>
          <a:bodyPr wrap="square" lIns="27432" rIns="27432" tIns="4572" bIns="4572">
            <a:spAutoFit/>
          </a:bodyPr>
          <a:lstStyle/>
          <a:p>
            <a:r>
              <a:rPr sz="800" b="1">
                <a:solidFill>
                  <a:srgbClr val="1F4690"/>
                </a:solidFill>
                <a:latin typeface="Calibri"/>
              </a:rPr>
              <a:t>A1 - Addressable Market &amp; Adjacency (Strongest)</a:t>
            </a:r>
          </a:p>
        </p:txBody>
      </p:sp>
      <p:sp>
        <p:nvSpPr>
          <p:cNvPr id="26" name="TextBox 25"/>
          <p:cNvSpPr txBox="1"/>
          <p:nvPr/>
        </p:nvSpPr>
        <p:spPr>
          <a:xfrm>
            <a:off x="5266944" y="2688336"/>
            <a:ext cx="621792" cy="164592"/>
          </a:xfrm>
          <a:prstGeom prst="rect">
            <a:avLst/>
          </a:prstGeom>
          <a:noFill/>
        </p:spPr>
        <p:txBody>
          <a:bodyPr wrap="square" lIns="27432" rIns="27432" tIns="4572" bIns="4572">
            <a:spAutoFit/>
          </a:bodyPr>
          <a:lstStyle/>
          <a:p>
            <a:pPr algn="r"/>
            <a:r>
              <a:rPr sz="1000" b="1">
                <a:solidFill>
                  <a:srgbClr val="1F4690"/>
                </a:solidFill>
                <a:latin typeface="Calibri"/>
              </a:rPr>
              <a:t>9 / 10</a:t>
            </a:r>
          </a:p>
        </p:txBody>
      </p:sp>
      <p:sp>
        <p:nvSpPr>
          <p:cNvPr id="27" name="Rectangle 26"/>
          <p:cNvSpPr/>
          <p:nvPr/>
        </p:nvSpPr>
        <p:spPr>
          <a:xfrm>
            <a:off x="310896"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0896"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0896" y="2980944"/>
            <a:ext cx="5577840" cy="475488"/>
          </a:xfrm>
          <a:prstGeom prst="rect">
            <a:avLst/>
          </a:prstGeom>
          <a:noFill/>
        </p:spPr>
        <p:txBody>
          <a:bodyPr wrap="square" lIns="27432" rIns="27432" tIns="4572" bIns="4572">
            <a:spAutoFit/>
          </a:bodyPr>
          <a:lstStyle/>
          <a:p>
            <a:r>
              <a:rPr sz="750"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0" name="TextBox 29"/>
          <p:cNvSpPr txBox="1"/>
          <p:nvPr/>
        </p:nvSpPr>
        <p:spPr>
          <a:xfrm>
            <a:off x="310896" y="3547872"/>
            <a:ext cx="4937759" cy="164592"/>
          </a:xfrm>
          <a:prstGeom prst="rect">
            <a:avLst/>
          </a:prstGeom>
          <a:noFill/>
        </p:spPr>
        <p:txBody>
          <a:bodyPr wrap="square" lIns="27432" rIns="27432" tIns="4572" bIns="4572">
            <a:spAutoFit/>
          </a:bodyPr>
          <a:lstStyle/>
          <a:p>
            <a:r>
              <a:rPr sz="800" b="1">
                <a:solidFill>
                  <a:srgbClr val="1F4690"/>
                </a:solidFill>
                <a:latin typeface="Calibri"/>
              </a:rPr>
              <a:t>A2 - Asymmetric Pricing Power (Weakest)</a:t>
            </a:r>
          </a:p>
        </p:txBody>
      </p:sp>
      <p:sp>
        <p:nvSpPr>
          <p:cNvPr id="31" name="TextBox 30"/>
          <p:cNvSpPr txBox="1"/>
          <p:nvPr/>
        </p:nvSpPr>
        <p:spPr>
          <a:xfrm>
            <a:off x="5266944" y="3547872"/>
            <a:ext cx="621792" cy="164592"/>
          </a:xfrm>
          <a:prstGeom prst="rect">
            <a:avLst/>
          </a:prstGeom>
          <a:noFill/>
        </p:spPr>
        <p:txBody>
          <a:bodyPr wrap="square" lIns="27432" rIns="27432" tIns="4572" bIns="4572">
            <a:spAutoFit/>
          </a:bodyPr>
          <a:lstStyle/>
          <a:p>
            <a:pPr algn="r"/>
            <a:r>
              <a:rPr sz="1000" b="1">
                <a:solidFill>
                  <a:srgbClr val="1F4690"/>
                </a:solidFill>
                <a:latin typeface="Calibri"/>
              </a:rPr>
              <a:t>10 / 15</a:t>
            </a:r>
          </a:p>
        </p:txBody>
      </p:sp>
      <p:sp>
        <p:nvSpPr>
          <p:cNvPr id="32" name="Rectangle 31"/>
          <p:cNvSpPr/>
          <p:nvPr/>
        </p:nvSpPr>
        <p:spPr>
          <a:xfrm>
            <a:off x="310896"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10896" y="3749039"/>
            <a:ext cx="3718560"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0896" y="3840480"/>
            <a:ext cx="5577840" cy="475488"/>
          </a:xfrm>
          <a:prstGeom prst="rect">
            <a:avLst/>
          </a:prstGeom>
          <a:noFill/>
        </p:spPr>
        <p:txBody>
          <a:bodyPr wrap="square" lIns="27432" rIns="27432" tIns="4572" bIns="4572">
            <a:spAutoFit/>
          </a:bodyPr>
          <a:lstStyle/>
          <a:p>
            <a:r>
              <a:rPr sz="750"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5" name="TextBox 34"/>
          <p:cNvSpPr txBox="1"/>
          <p:nvPr/>
        </p:nvSpPr>
        <p:spPr>
          <a:xfrm>
            <a:off x="310896" y="4407408"/>
            <a:ext cx="4937759" cy="164592"/>
          </a:xfrm>
          <a:prstGeom prst="rect">
            <a:avLst/>
          </a:prstGeom>
          <a:noFill/>
        </p:spPr>
        <p:txBody>
          <a:bodyPr wrap="square" lIns="27432" rIns="27432" tIns="4572" bIns="4572">
            <a:spAutoFit/>
          </a:bodyPr>
          <a:lstStyle/>
          <a:p>
            <a:r>
              <a:rPr sz="800" b="1">
                <a:solidFill>
                  <a:srgbClr val="1F4690"/>
                </a:solidFill>
                <a:latin typeface="Calibri"/>
              </a:rPr>
              <a:t>R - Reinvestment Quality</a:t>
            </a:r>
          </a:p>
        </p:txBody>
      </p:sp>
      <p:sp>
        <p:nvSpPr>
          <p:cNvPr id="36" name="TextBox 35"/>
          <p:cNvSpPr txBox="1"/>
          <p:nvPr/>
        </p:nvSpPr>
        <p:spPr>
          <a:xfrm>
            <a:off x="5266944" y="4407408"/>
            <a:ext cx="621792" cy="164592"/>
          </a:xfrm>
          <a:prstGeom prst="rect">
            <a:avLst/>
          </a:prstGeom>
          <a:noFill/>
        </p:spPr>
        <p:txBody>
          <a:bodyPr wrap="square" lIns="27432" rIns="27432" tIns="4572" bIns="4572">
            <a:spAutoFit/>
          </a:bodyPr>
          <a:lstStyle/>
          <a:p>
            <a:pPr algn="r"/>
            <a:r>
              <a:rPr sz="1000" b="1">
                <a:solidFill>
                  <a:srgbClr val="1F4690"/>
                </a:solidFill>
                <a:latin typeface="Calibri"/>
              </a:rPr>
              <a:t>13 / 15</a:t>
            </a:r>
          </a:p>
        </p:txBody>
      </p:sp>
      <p:sp>
        <p:nvSpPr>
          <p:cNvPr id="37" name="Rectangle 36"/>
          <p:cNvSpPr/>
          <p:nvPr/>
        </p:nvSpPr>
        <p:spPr>
          <a:xfrm>
            <a:off x="310896" y="4608576"/>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10896" y="4608576"/>
            <a:ext cx="4834128"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4700016"/>
            <a:ext cx="5577840" cy="475488"/>
          </a:xfrm>
          <a:prstGeom prst="rect">
            <a:avLst/>
          </a:prstGeom>
          <a:noFill/>
        </p:spPr>
        <p:txBody>
          <a:bodyPr wrap="square" lIns="27432" rIns="27432" tIns="4572" bIns="4572">
            <a:spAutoFit/>
          </a:bodyPr>
          <a:lstStyle/>
          <a:p>
            <a:r>
              <a:rPr sz="750"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0" name="TextBox 39"/>
          <p:cNvSpPr txBox="1"/>
          <p:nvPr/>
        </p:nvSpPr>
        <p:spPr>
          <a:xfrm>
            <a:off x="6181344" y="1828800"/>
            <a:ext cx="4937759" cy="164592"/>
          </a:xfrm>
          <a:prstGeom prst="rect">
            <a:avLst/>
          </a:prstGeom>
          <a:noFill/>
        </p:spPr>
        <p:txBody>
          <a:bodyPr wrap="square" lIns="27432" rIns="27432" tIns="4572" bIns="4572">
            <a:spAutoFit/>
          </a:bodyPr>
          <a:lstStyle/>
          <a:p>
            <a:r>
              <a:rPr sz="800" b="1">
                <a:solidFill>
                  <a:srgbClr val="1F4690"/>
                </a:solidFill>
                <a:latin typeface="Calibri"/>
              </a:rPr>
              <a:t>T - Track Record Through Adversity</a:t>
            </a:r>
          </a:p>
        </p:txBody>
      </p:sp>
      <p:sp>
        <p:nvSpPr>
          <p:cNvPr id="41" name="TextBox 40"/>
          <p:cNvSpPr txBox="1"/>
          <p:nvPr/>
        </p:nvSpPr>
        <p:spPr>
          <a:xfrm>
            <a:off x="11137392" y="1828800"/>
            <a:ext cx="621792" cy="164592"/>
          </a:xfrm>
          <a:prstGeom prst="rect">
            <a:avLst/>
          </a:prstGeom>
          <a:noFill/>
        </p:spPr>
        <p:txBody>
          <a:bodyPr wrap="square" lIns="27432" rIns="27432" tIns="4572" bIns="4572">
            <a:spAutoFit/>
          </a:bodyPr>
          <a:lstStyle/>
          <a:p>
            <a:pPr algn="r"/>
            <a:r>
              <a:rPr sz="1000" b="1">
                <a:solidFill>
                  <a:srgbClr val="1F4690"/>
                </a:solidFill>
                <a:latin typeface="Calibri"/>
              </a:rPr>
              <a:t>8 / 10</a:t>
            </a:r>
          </a:p>
        </p:txBody>
      </p:sp>
      <p:sp>
        <p:nvSpPr>
          <p:cNvPr id="42" name="Rectangle 41"/>
          <p:cNvSpPr/>
          <p:nvPr/>
        </p:nvSpPr>
        <p:spPr>
          <a:xfrm>
            <a:off x="6181344"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81344"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81344" y="2121408"/>
            <a:ext cx="5577840" cy="475488"/>
          </a:xfrm>
          <a:prstGeom prst="rect">
            <a:avLst/>
          </a:prstGeom>
          <a:noFill/>
        </p:spPr>
        <p:txBody>
          <a:bodyPr wrap="square" lIns="27432" rIns="27432" tIns="4572" bIns="4572">
            <a:spAutoFit/>
          </a:bodyPr>
          <a:lstStyle/>
          <a:p>
            <a:r>
              <a:rPr sz="750"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45" name="TextBox 44"/>
          <p:cNvSpPr txBox="1"/>
          <p:nvPr/>
        </p:nvSpPr>
        <p:spPr>
          <a:xfrm>
            <a:off x="6181344" y="2688336"/>
            <a:ext cx="4937759" cy="164592"/>
          </a:xfrm>
          <a:prstGeom prst="rect">
            <a:avLst/>
          </a:prstGeom>
          <a:noFill/>
        </p:spPr>
        <p:txBody>
          <a:bodyPr wrap="square" lIns="27432" rIns="27432" tIns="4572" bIns="4572">
            <a:spAutoFit/>
          </a:bodyPr>
          <a:lstStyle/>
          <a:p>
            <a:r>
              <a:rPr sz="800" b="1">
                <a:solidFill>
                  <a:srgbClr val="1F4690"/>
                </a:solidFill>
                <a:latin typeface="Calibri"/>
              </a:rPr>
              <a:t>H - Human Capital &amp; Institutional DNA</a:t>
            </a:r>
          </a:p>
        </p:txBody>
      </p:sp>
      <p:sp>
        <p:nvSpPr>
          <p:cNvPr id="46" name="TextBox 45"/>
          <p:cNvSpPr txBox="1"/>
          <p:nvPr/>
        </p:nvSpPr>
        <p:spPr>
          <a:xfrm>
            <a:off x="11137392" y="2688336"/>
            <a:ext cx="621792" cy="164592"/>
          </a:xfrm>
          <a:prstGeom prst="rect">
            <a:avLst/>
          </a:prstGeom>
          <a:noFill/>
        </p:spPr>
        <p:txBody>
          <a:bodyPr wrap="square" lIns="27432" rIns="27432" tIns="4572" bIns="4572">
            <a:spAutoFit/>
          </a:bodyPr>
          <a:lstStyle/>
          <a:p>
            <a:pPr algn="r"/>
            <a:r>
              <a:rPr sz="1000" b="1">
                <a:solidFill>
                  <a:srgbClr val="1F4690"/>
                </a:solidFill>
                <a:latin typeface="Calibri"/>
              </a:rPr>
              <a:t>9 / 10</a:t>
            </a:r>
          </a:p>
        </p:txBody>
      </p:sp>
      <p:sp>
        <p:nvSpPr>
          <p:cNvPr id="47" name="Rectangle 46"/>
          <p:cNvSpPr/>
          <p:nvPr/>
        </p:nvSpPr>
        <p:spPr>
          <a:xfrm>
            <a:off x="6181344"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81344"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81344" y="2980944"/>
            <a:ext cx="5577840" cy="475488"/>
          </a:xfrm>
          <a:prstGeom prst="rect">
            <a:avLst/>
          </a:prstGeom>
          <a:noFill/>
        </p:spPr>
        <p:txBody>
          <a:bodyPr wrap="square" lIns="27432" rIns="27432" tIns="4572" bIns="4572">
            <a:spAutoFit/>
          </a:bodyPr>
          <a:lstStyle/>
          <a:p>
            <a:r>
              <a:rPr sz="750"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0" name="TextBox 49"/>
          <p:cNvSpPr txBox="1"/>
          <p:nvPr/>
        </p:nvSpPr>
        <p:spPr>
          <a:xfrm>
            <a:off x="6181344" y="3547872"/>
            <a:ext cx="4937759" cy="164592"/>
          </a:xfrm>
          <a:prstGeom prst="rect">
            <a:avLst/>
          </a:prstGeom>
          <a:noFill/>
        </p:spPr>
        <p:txBody>
          <a:bodyPr wrap="square" lIns="27432" rIns="27432" tIns="4572" bIns="4572">
            <a:spAutoFit/>
          </a:bodyPr>
          <a:lstStyle/>
          <a:p>
            <a:r>
              <a:rPr sz="800" b="1">
                <a:solidFill>
                  <a:srgbClr val="1F4690"/>
                </a:solidFill>
                <a:latin typeface="Calibri"/>
              </a:rPr>
              <a:t>I - Inflection Point Identification</a:t>
            </a:r>
          </a:p>
        </p:txBody>
      </p:sp>
      <p:sp>
        <p:nvSpPr>
          <p:cNvPr id="51" name="TextBox 50"/>
          <p:cNvSpPr txBox="1"/>
          <p:nvPr/>
        </p:nvSpPr>
        <p:spPr>
          <a:xfrm>
            <a:off x="11137392" y="3547872"/>
            <a:ext cx="621792" cy="164592"/>
          </a:xfrm>
          <a:prstGeom prst="rect">
            <a:avLst/>
          </a:prstGeom>
          <a:noFill/>
        </p:spPr>
        <p:txBody>
          <a:bodyPr wrap="square" lIns="27432" rIns="27432" tIns="4572" bIns="4572">
            <a:spAutoFit/>
          </a:bodyPr>
          <a:lstStyle/>
          <a:p>
            <a:pPr algn="r"/>
            <a:r>
              <a:rPr sz="1000" b="1">
                <a:solidFill>
                  <a:srgbClr val="1F4690"/>
                </a:solidFill>
                <a:latin typeface="Calibri"/>
              </a:rPr>
              <a:t>11 / 15</a:t>
            </a:r>
          </a:p>
        </p:txBody>
      </p:sp>
      <p:sp>
        <p:nvSpPr>
          <p:cNvPr id="52" name="Rectangle 51"/>
          <p:cNvSpPr/>
          <p:nvPr/>
        </p:nvSpPr>
        <p:spPr>
          <a:xfrm>
            <a:off x="6181344"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181344" y="3749039"/>
            <a:ext cx="4090415"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81344" y="3840480"/>
            <a:ext cx="5577840" cy="475488"/>
          </a:xfrm>
          <a:prstGeom prst="rect">
            <a:avLst/>
          </a:prstGeom>
          <a:noFill/>
        </p:spPr>
        <p:txBody>
          <a:bodyPr wrap="square" lIns="27432" rIns="27432" tIns="4572" bIns="4572">
            <a:spAutoFit/>
          </a:bodyPr>
          <a:lstStyle/>
          <a:p>
            <a:r>
              <a:rPr sz="750"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55" name="Rounded Rectangle 54"/>
          <p:cNvSpPr/>
          <p:nvPr/>
        </p:nvSpPr>
        <p:spPr>
          <a:xfrm>
            <a:off x="6181344" y="4462272"/>
            <a:ext cx="5577840" cy="1280160"/>
          </a:xfrm>
          <a:prstGeom prst="round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72783" y="4535424"/>
            <a:ext cx="5394959" cy="182880"/>
          </a:xfrm>
          <a:prstGeom prst="rect">
            <a:avLst/>
          </a:prstGeom>
          <a:noFill/>
        </p:spPr>
        <p:txBody>
          <a:bodyPr wrap="square" lIns="27432" rIns="27432" tIns="4572" bIns="4572">
            <a:spAutoFit/>
          </a:bodyPr>
          <a:lstStyle/>
          <a:p>
            <a:r>
              <a:rPr sz="900" b="1">
                <a:solidFill>
                  <a:srgbClr val="1F4690"/>
                </a:solidFill>
                <a:latin typeface="Calibri"/>
              </a:rPr>
              <a:t>SAARTHI Conviction Statement</a:t>
            </a:r>
          </a:p>
        </p:txBody>
      </p:sp>
      <p:sp>
        <p:nvSpPr>
          <p:cNvPr id="57" name="TextBox 56"/>
          <p:cNvSpPr txBox="1"/>
          <p:nvPr/>
        </p:nvSpPr>
        <p:spPr>
          <a:xfrm>
            <a:off x="6272783" y="4754880"/>
            <a:ext cx="5394959" cy="914399"/>
          </a:xfrm>
          <a:prstGeom prst="rect">
            <a:avLst/>
          </a:prstGeom>
          <a:noFill/>
        </p:spPr>
        <p:txBody>
          <a:bodyPr wrap="square" lIns="27432" rIns="27432" tIns="4572" bIns="4572">
            <a:spAutoFit/>
          </a:bodyPr>
          <a:lstStyle/>
          <a:p>
            <a:r>
              <a:rPr sz="80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58" name="Table 57"/>
          <p:cNvGraphicFramePr>
            <a:graphicFrameLocks noGrp="1"/>
          </p:cNvGraphicFramePr>
          <p:nvPr/>
        </p:nvGraphicFramePr>
        <p:xfrm>
          <a:off x="12115800" y="6537960"/>
          <a:ext cx="36576" cy="36576"/>
        </p:xfrm>
        <a:graphic>
          <a:graphicData uri="http://schemas.openxmlformats.org/drawingml/2006/table">
            <a:tbl>
              <a:tblPr firstRow="1" bandRow="1">
                <a:tableStyleId>{5C22544A-7EE6-4342-B048-85BDC9FD1C3A}</a:tableStyleId>
              </a:tblPr>
              <a:tblGrid>
                <a:gridCol w="36576"/>
              </a:tblGrid>
              <a:tr h="36576">
                <a:tc>
                  <a:txBody>
                    <a:bodyPr/>
                    <a:lstStyle/>
                    <a:p/>
                  </a:txBody>
                  <a:tcP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Quarterly Performance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Quarterly Performance Analysis</a:t>
            </a:r>
          </a:p>
        </p:txBody>
      </p:sp>
      <p:sp>
        <p:nvSpPr>
          <p:cNvPr id="15" name="TextBox 14"/>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Quarterly performance reveals both the company's growth potential and residual regulatory sensitivity.</a:t>
            </a:r>
          </a:p>
        </p:txBody>
      </p:sp>
      <p:graphicFrame>
        <p:nvGraphicFramePr>
          <p:cNvPr id="16" name="Table 15"/>
          <p:cNvGraphicFramePr>
            <a:graphicFrameLocks noGrp="1"/>
          </p:cNvGraphicFramePr>
          <p:nvPr/>
        </p:nvGraphicFramePr>
        <p:xfrm>
          <a:off x="457200" y="2194560"/>
          <a:ext cx="11277292" cy="4251960"/>
        </p:xfrm>
        <a:graphic>
          <a:graphicData uri="http://schemas.openxmlformats.org/drawingml/2006/table">
            <a:tbl>
              <a:tblPr firstRow="1" bandRow="1">
                <a:tableStyleId>{5C22544A-7EE6-4342-B048-85BDC9FD1C3A}</a:tableStyleId>
              </a:tblPr>
              <a:tblGrid>
                <a:gridCol w="2819323"/>
                <a:gridCol w="2819323"/>
                <a:gridCol w="2819323"/>
                <a:gridCol w="2819323"/>
              </a:tblGrid>
              <a:tr h="708660">
                <a:tc>
                  <a:txBody>
                    <a:bodyPr/>
                    <a:lstStyle/>
                    <a:p>
                      <a:r>
                        <a:rPr b="1" sz="1400">
                          <a:solidFill>
                            <a:srgbClr val="FFFFFF"/>
                          </a:solidFill>
                          <a:latin typeface="Calibri"/>
                        </a:rPr>
                        <a:t>Quarter</a:t>
                      </a:r>
                    </a:p>
                  </a:txBody>
                  <a:tcPr marL="45720" marR="45720" marT="18288" marB="18288">
                    <a:solidFill>
                      <a:srgbClr val="1F4690"/>
                    </a:solidFill>
                  </a:tcPr>
                </a:tc>
                <a:tc>
                  <a:txBody>
                    <a:bodyPr/>
                    <a:lstStyle/>
                    <a:p>
                      <a:pPr algn="r"/>
                      <a:r>
                        <a:rPr b="1" sz="1400">
                          <a:solidFill>
                            <a:srgbClr val="FFFFFF"/>
                          </a:solidFill>
                          <a:latin typeface="Calibri"/>
                        </a:rPr>
                        <a:t>PAT (₹ Cr)</a:t>
                      </a:r>
                    </a:p>
                  </a:txBody>
                  <a:tcPr marL="45720" marR="45720" marT="18288" marB="18288">
                    <a:solidFill>
                      <a:srgbClr val="1F4690"/>
                    </a:solidFill>
                  </a:tcPr>
                </a:tc>
                <a:tc>
                  <a:txBody>
                    <a:bodyPr/>
                    <a:lstStyle/>
                    <a:p>
                      <a:pPr algn="r"/>
                      <a:r>
                        <a:rPr b="1" sz="1400">
                          <a:solidFill>
                            <a:srgbClr val="FFFFFF"/>
                          </a:solidFill>
                          <a:latin typeface="Calibri"/>
                        </a:rPr>
                        <a:t>YoY Growth %</a:t>
                      </a:r>
                    </a:p>
                  </a:txBody>
                  <a:tcPr marL="45720" marR="45720" marT="18288" marB="18288">
                    <a:solidFill>
                      <a:srgbClr val="1F4690"/>
                    </a:solidFill>
                  </a:tcPr>
                </a:tc>
                <a:tc>
                  <a:txBody>
                    <a:bodyPr/>
                    <a:lstStyle/>
                    <a:p>
                      <a:pPr algn="r"/>
                      <a:r>
                        <a:rPr b="1" sz="1400">
                          <a:solidFill>
                            <a:srgbClr val="FFFFFF"/>
                          </a:solidFill>
                          <a:latin typeface="Calibri"/>
                        </a:rPr>
                        <a:t>QoQ Growth %</a:t>
                      </a:r>
                    </a:p>
                  </a:txBody>
                  <a:tcPr marL="45720" marR="45720" marT="18288" marB="18288">
                    <a:solidFill>
                      <a:srgbClr val="1F4690"/>
                    </a:solidFill>
                  </a:tcPr>
                </a:tc>
              </a:tr>
              <a:tr h="708660">
                <a:tc>
                  <a:txBody>
                    <a:bodyPr/>
                    <a:lstStyle/>
                    <a:p>
                      <a:r>
                        <a:rPr sz="1400" b="1">
                          <a:solidFill>
                            <a:srgbClr val="5A6573"/>
                          </a:solidFill>
                          <a:latin typeface="Calibri"/>
                        </a:rPr>
                        <a:t>Q2FY25</a:t>
                      </a:r>
                    </a:p>
                  </a:txBody>
                  <a:tcPr marL="45720" marR="45720" marT="18288" marB="18288">
                    <a:solidFill>
                      <a:srgbClr val="F4F6F9"/>
                    </a:solidFill>
                  </a:tcPr>
                </a:tc>
                <a:tc>
                  <a:txBody>
                    <a:bodyPr/>
                    <a:lstStyle/>
                    <a:p>
                      <a:pPr algn="r"/>
                      <a:r>
                        <a:rPr sz="1400">
                          <a:solidFill>
                            <a:srgbClr val="111111"/>
                          </a:solidFill>
                          <a:latin typeface="Calibri"/>
                        </a:rPr>
                        <a:t>₹1,242.0 Cr</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r>
              <a:tr h="708660">
                <a:tc>
                  <a:txBody>
                    <a:bodyPr/>
                    <a:lstStyle/>
                    <a:p>
                      <a:r>
                        <a:rPr sz="1400" b="1">
                          <a:solidFill>
                            <a:srgbClr val="5A6573"/>
                          </a:solidFill>
                          <a:latin typeface="Calibri"/>
                        </a:rPr>
                        <a:t>Q3FY25</a:t>
                      </a:r>
                    </a:p>
                  </a:txBody>
                  <a:tcPr marL="45720" marR="45720" marT="18288" marB="18288">
                    <a:solidFill>
                      <a:srgbClr val="FFFFFF"/>
                    </a:solidFill>
                  </a:tcPr>
                </a:tc>
                <a:tc>
                  <a:txBody>
                    <a:bodyPr/>
                    <a:lstStyle/>
                    <a:p>
                      <a:pPr algn="r"/>
                      <a:r>
                        <a:rPr sz="1400">
                          <a:solidFill>
                            <a:srgbClr val="111111"/>
                          </a:solidFill>
                          <a:latin typeface="Calibri"/>
                        </a:rPr>
                        <a:t>₹715.0 Cr</a:t>
                      </a:r>
                    </a:p>
                  </a:txBody>
                  <a:tcPr marL="45720" marR="45720" marT="18288" marB="18288">
                    <a:solidFill>
                      <a:srgbClr val="FFFFFF"/>
                    </a:solidFill>
                  </a:tcPr>
                </a:tc>
                <a:tc>
                  <a:txBody>
                    <a:bodyPr/>
                    <a:lstStyle/>
                    <a:p>
                      <a:pPr algn="r"/>
                      <a:r>
                        <a:rPr sz="1400">
                          <a:solidFill>
                            <a:srgbClr val="111111"/>
                          </a:solidFill>
                          <a:latin typeface="Calibri"/>
                        </a:rPr>
                        <a:t>—</a:t>
                      </a:r>
                    </a:p>
                  </a:txBody>
                  <a:tcPr marL="45720" marR="45720" marT="18288" marB="18288">
                    <a:solidFill>
                      <a:srgbClr val="FFFFFF"/>
                    </a:solidFill>
                  </a:tcPr>
                </a:tc>
                <a:tc>
                  <a:txBody>
                    <a:bodyPr/>
                    <a:lstStyle/>
                    <a:p>
                      <a:pPr algn="r"/>
                      <a:r>
                        <a:rPr sz="1400">
                          <a:solidFill>
                            <a:srgbClr val="111111"/>
                          </a:solidFill>
                          <a:latin typeface="Calibri"/>
                        </a:rPr>
                        <a:t>—</a:t>
                      </a:r>
                    </a:p>
                  </a:txBody>
                  <a:tcPr marL="45720" marR="45720" marT="18288" marB="18288">
                    <a:solidFill>
                      <a:srgbClr val="FFFFFF"/>
                    </a:solidFill>
                  </a:tcPr>
                </a:tc>
              </a:tr>
              <a:tr h="708660">
                <a:tc>
                  <a:txBody>
                    <a:bodyPr/>
                    <a:lstStyle/>
                    <a:p>
                      <a:r>
                        <a:rPr sz="1400" b="1">
                          <a:solidFill>
                            <a:srgbClr val="5A6573"/>
                          </a:solidFill>
                          <a:latin typeface="Calibri"/>
                        </a:rPr>
                        <a:t>Q4FY25</a:t>
                      </a:r>
                    </a:p>
                  </a:txBody>
                  <a:tcPr marL="45720" marR="45720" marT="18288" marB="18288">
                    <a:solidFill>
                      <a:srgbClr val="F4F6F9"/>
                    </a:solidFill>
                  </a:tcPr>
                </a:tc>
                <a:tc>
                  <a:txBody>
                    <a:bodyPr/>
                    <a:lstStyle/>
                    <a:p>
                      <a:pPr algn="r"/>
                      <a:r>
                        <a:rPr sz="1400">
                          <a:solidFill>
                            <a:srgbClr val="111111"/>
                          </a:solidFill>
                          <a:latin typeface="Calibri"/>
                        </a:rPr>
                        <a:t>₹545.0 Cr</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r>
              <a:tr h="708660">
                <a:tc>
                  <a:txBody>
                    <a:bodyPr/>
                    <a:lstStyle/>
                    <a:p>
                      <a:r>
                        <a:rPr sz="1400" b="1">
                          <a:solidFill>
                            <a:srgbClr val="5A6573"/>
                          </a:solidFill>
                          <a:latin typeface="Calibri"/>
                        </a:rPr>
                        <a:t>Q1FY26</a:t>
                      </a:r>
                    </a:p>
                  </a:txBody>
                  <a:tcPr marL="45720" marR="45720" marT="18288" marB="18288">
                    <a:solidFill>
                      <a:srgbClr val="FFFFFF"/>
                    </a:solidFill>
                  </a:tcPr>
                </a:tc>
                <a:tc>
                  <a:txBody>
                    <a:bodyPr/>
                    <a:lstStyle/>
                    <a:p>
                      <a:pPr algn="r"/>
                      <a:r>
                        <a:rPr sz="1400">
                          <a:solidFill>
                            <a:srgbClr val="111111"/>
                          </a:solidFill>
                          <a:latin typeface="Calibri"/>
                        </a:rPr>
                        <a:t>₹425.0 Cr</a:t>
                      </a:r>
                    </a:p>
                  </a:txBody>
                  <a:tcPr marL="45720" marR="45720" marT="18288" marB="18288">
                    <a:solidFill>
                      <a:srgbClr val="FFFFFF"/>
                    </a:solidFill>
                  </a:tcPr>
                </a:tc>
                <a:tc>
                  <a:txBody>
                    <a:bodyPr/>
                    <a:lstStyle/>
                    <a:p>
                      <a:pPr algn="r"/>
                      <a:r>
                        <a:rPr sz="1400">
                          <a:solidFill>
                            <a:srgbClr val="111111"/>
                          </a:solidFill>
                          <a:latin typeface="Calibri"/>
                        </a:rPr>
                        <a:t>—</a:t>
                      </a:r>
                    </a:p>
                  </a:txBody>
                  <a:tcPr marL="45720" marR="45720" marT="18288" marB="18288">
                    <a:solidFill>
                      <a:srgbClr val="FFFFFF"/>
                    </a:solidFill>
                  </a:tcPr>
                </a:tc>
                <a:tc>
                  <a:txBody>
                    <a:bodyPr/>
                    <a:lstStyle/>
                    <a:p>
                      <a:pPr algn="r"/>
                      <a:r>
                        <a:rPr sz="1400">
                          <a:solidFill>
                            <a:srgbClr val="111111"/>
                          </a:solidFill>
                          <a:latin typeface="Calibri"/>
                        </a:rPr>
                        <a:t>—</a:t>
                      </a:r>
                    </a:p>
                  </a:txBody>
                  <a:tcPr marL="45720" marR="45720" marT="18288" marB="18288">
                    <a:solidFill>
                      <a:srgbClr val="FFFFFF"/>
                    </a:solidFill>
                  </a:tcPr>
                </a:tc>
              </a:tr>
              <a:tr h="708660">
                <a:tc>
                  <a:txBody>
                    <a:bodyPr/>
                    <a:lstStyle/>
                    <a:p>
                      <a:r>
                        <a:rPr sz="1400" b="1">
                          <a:solidFill>
                            <a:srgbClr val="5A6573"/>
                          </a:solidFill>
                          <a:latin typeface="Calibri"/>
                        </a:rPr>
                        <a:t>Q2FY26</a:t>
                      </a:r>
                    </a:p>
                  </a:txBody>
                  <a:tcPr marL="45720" marR="45720" marT="18288" marB="18288">
                    <a:solidFill>
                      <a:srgbClr val="F4F6F9"/>
                    </a:solidFill>
                  </a:tcPr>
                </a:tc>
                <a:tc>
                  <a:txBody>
                    <a:bodyPr/>
                    <a:lstStyle/>
                    <a:p>
                      <a:pPr algn="r"/>
                      <a:r>
                        <a:rPr sz="1400">
                          <a:solidFill>
                            <a:srgbClr val="111111"/>
                          </a:solidFill>
                          <a:latin typeface="Calibri"/>
                        </a:rPr>
                        <a:t>₹401.0 Cr</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Financial Ratios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Financial Ratios</a:t>
            </a:r>
          </a:p>
        </p:txBody>
      </p:sp>
      <p:sp>
        <p:nvSpPr>
          <p:cNvPr id="15" name="TextBox 14"/>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Motilal Oswal demonstrates strong profitability and return metrics across business cycles.</a:t>
            </a:r>
          </a:p>
        </p:txBody>
      </p:sp>
      <p:graphicFrame>
        <p:nvGraphicFramePr>
          <p:cNvPr id="16" name="Table 15"/>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472440">
                <a:tc>
                  <a:txBody>
                    <a:bodyPr/>
                    <a:lstStyle/>
                    <a:p>
                      <a:r>
                        <a:rPr b="1" sz="1400">
                          <a:solidFill>
                            <a:srgbClr val="FFFFFF"/>
                          </a:solidFill>
                          <a:latin typeface="Calibri"/>
                        </a:rPr>
                        <a:t>Ratio</a:t>
                      </a:r>
                    </a:p>
                  </a:txBody>
                  <a:tcPr marL="45720" marR="45720" marT="18288" marB="18288">
                    <a:solidFill>
                      <a:srgbClr val="1F4690"/>
                    </a:solidFill>
                  </a:tcPr>
                </a:tc>
                <a:tc>
                  <a:txBody>
                    <a:bodyPr/>
                    <a:lstStyle/>
                    <a:p>
                      <a:pPr algn="r"/>
                      <a:r>
                        <a:rPr b="1" sz="1400">
                          <a:solidFill>
                            <a:srgbClr val="FFFFFF"/>
                          </a:solidFill>
                          <a:latin typeface="Calibri"/>
                        </a:rPr>
                        <a:t>Unit</a:t>
                      </a:r>
                    </a:p>
                  </a:txBody>
                  <a:tcPr marL="45720" marR="45720" marT="18288" marB="18288">
                    <a:solidFill>
                      <a:srgbClr val="1F4690"/>
                    </a:solidFill>
                  </a:tcPr>
                </a:tc>
              </a:tr>
              <a:tr h="472440">
                <a:tc>
                  <a:txBody>
                    <a:bodyPr/>
                    <a:lstStyle/>
                    <a:p>
                      <a:r>
                        <a:rPr sz="1400" b="1">
                          <a:solidFill>
                            <a:srgbClr val="1F4690"/>
                          </a:solidFill>
                          <a:latin typeface="Calibri"/>
                        </a:rPr>
                        <a:t>EBITDA Margin</a:t>
                      </a:r>
                    </a:p>
                  </a:txBody>
                  <a:tcPr marL="45720" marR="45720" marT="18288" marB="18288">
                    <a:solidFill>
                      <a:srgbClr val="FFF3E0"/>
                    </a:solidFill>
                  </a:tcPr>
                </a:tc>
                <a:tc>
                  <a:txBody>
                    <a:bodyPr/>
                    <a:lstStyle/>
                    <a:p>
                      <a:pPr algn="r"/>
                      <a:r>
                        <a:rPr sz="1400" b="1">
                          <a:solidFill>
                            <a:srgbClr val="1F4690"/>
                          </a:solidFill>
                          <a:latin typeface="Calibri"/>
                        </a:rPr>
                        <a:t>%</a:t>
                      </a:r>
                    </a:p>
                  </a:txBody>
                  <a:tcPr marL="45720" marR="45720" marT="18288" marB="18288">
                    <a:solidFill>
                      <a:srgbClr val="FFF3E0"/>
                    </a:solidFill>
                  </a:tcPr>
                </a:tc>
              </a:tr>
              <a:tr h="472440">
                <a:tc>
                  <a:txBody>
                    <a:bodyPr/>
                    <a:lstStyle/>
                    <a:p>
                      <a:r>
                        <a:rPr sz="1400" b="1">
                          <a:solidFill>
                            <a:srgbClr val="1F4690"/>
                          </a:solidFill>
                          <a:latin typeface="Calibri"/>
                        </a:rPr>
                        <a:t>PAT Margin</a:t>
                      </a:r>
                    </a:p>
                  </a:txBody>
                  <a:tcPr marL="45720" marR="45720" marT="18288" marB="18288">
                    <a:solidFill>
                      <a:srgbClr val="FFF3E0"/>
                    </a:solidFill>
                  </a:tcPr>
                </a:tc>
                <a:tc>
                  <a:txBody>
                    <a:bodyPr/>
                    <a:lstStyle/>
                    <a:p>
                      <a:pPr algn="r"/>
                      <a:r>
                        <a:rPr sz="1400" b="1">
                          <a:solidFill>
                            <a:srgbClr val="1F4690"/>
                          </a:solidFill>
                          <a:latin typeface="Calibri"/>
                        </a:rPr>
                        <a:t>%</a:t>
                      </a:r>
                    </a:p>
                  </a:txBody>
                  <a:tcPr marL="45720" marR="45720" marT="18288" marB="18288">
                    <a:solidFill>
                      <a:srgbClr val="FFF3E0"/>
                    </a:solidFill>
                  </a:tcPr>
                </a:tc>
              </a:tr>
              <a:tr h="472440">
                <a:tc>
                  <a:txBody>
                    <a:bodyPr/>
                    <a:lstStyle/>
                    <a:p>
                      <a:r>
                        <a:rPr sz="1400" b="1">
                          <a:solidFill>
                            <a:srgbClr val="5A6573"/>
                          </a:solidFill>
                          <a:latin typeface="Calibri"/>
                        </a:rPr>
                        <a:t>RoE</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r>
              <a:tr h="472440">
                <a:tc>
                  <a:txBody>
                    <a:bodyPr/>
                    <a:lstStyle/>
                    <a:p>
                      <a:r>
                        <a:rPr sz="1400" b="1">
                          <a:solidFill>
                            <a:srgbClr val="5A6573"/>
                          </a:solidFill>
                          <a:latin typeface="Calibri"/>
                        </a:rPr>
                        <a:t>RoCE</a:t>
                      </a:r>
                    </a:p>
                  </a:txBody>
                  <a:tcPr marL="45720" marR="45720" marT="18288" marB="18288">
                    <a:solidFill>
                      <a:srgbClr val="FFFFFF"/>
                    </a:solidFill>
                  </a:tcPr>
                </a:tc>
                <a:tc>
                  <a:txBody>
                    <a:bodyPr/>
                    <a:lstStyle/>
                    <a:p>
                      <a:pPr algn="r"/>
                      <a:r>
                        <a:rPr sz="1400">
                          <a:solidFill>
                            <a:srgbClr val="111111"/>
                          </a:solidFill>
                          <a:latin typeface="Calibri"/>
                        </a:rPr>
                        <a:t>%</a:t>
                      </a:r>
                    </a:p>
                  </a:txBody>
                  <a:tcPr marL="45720" marR="45720" marT="18288" marB="18288">
                    <a:solidFill>
                      <a:srgbClr val="FFFFFF"/>
                    </a:solidFill>
                  </a:tcPr>
                </a:tc>
              </a:tr>
              <a:tr h="472440">
                <a:tc>
                  <a:txBody>
                    <a:bodyPr/>
                    <a:lstStyle/>
                    <a:p>
                      <a:r>
                        <a:rPr sz="1400" b="1">
                          <a:solidFill>
                            <a:srgbClr val="5A6573"/>
                          </a:solidFill>
                          <a:latin typeface="Calibri"/>
                        </a:rPr>
                        <a:t>RoIC</a:t>
                      </a:r>
                    </a:p>
                  </a:txBody>
                  <a:tcPr marL="45720" marR="45720" marT="18288" marB="18288">
                    <a:solidFill>
                      <a:srgbClr val="F4F6F9"/>
                    </a:solidFill>
                  </a:tcPr>
                </a:tc>
                <a:tc>
                  <a:txBody>
                    <a:bodyPr/>
                    <a:lstStyle/>
                    <a:p>
                      <a:pPr algn="r"/>
                      <a:r>
                        <a:rPr sz="1400">
                          <a:solidFill>
                            <a:srgbClr val="111111"/>
                          </a:solidFill>
                          <a:latin typeface="Calibri"/>
                        </a:rPr>
                        <a:t>%</a:t>
                      </a:r>
                    </a:p>
                  </a:txBody>
                  <a:tcPr marL="45720" marR="45720" marT="18288" marB="18288">
                    <a:solidFill>
                      <a:srgbClr val="F4F6F9"/>
                    </a:solidFill>
                  </a:tcPr>
                </a:tc>
              </a:tr>
              <a:tr h="472440">
                <a:tc>
                  <a:txBody>
                    <a:bodyPr/>
                    <a:lstStyle/>
                    <a:p>
                      <a:r>
                        <a:rPr sz="1400" b="1">
                          <a:solidFill>
                            <a:srgbClr val="5A6573"/>
                          </a:solidFill>
                          <a:latin typeface="Calibri"/>
                        </a:rPr>
                        <a:t>P/E</a:t>
                      </a:r>
                    </a:p>
                  </a:txBody>
                  <a:tcPr marL="45720" marR="45720" marT="18288" marB="18288">
                    <a:solidFill>
                      <a:srgbClr val="FFFFFF"/>
                    </a:solidFill>
                  </a:tcPr>
                </a:tc>
                <a:tc>
                  <a:txBody>
                    <a:bodyPr/>
                    <a:lstStyle/>
                    <a:p>
                      <a:pPr algn="r"/>
                      <a:r>
                        <a:rPr sz="1400">
                          <a:solidFill>
                            <a:srgbClr val="111111"/>
                          </a:solidFill>
                          <a:latin typeface="Calibri"/>
                        </a:rPr>
                        <a:t>x</a:t>
                      </a:r>
                    </a:p>
                  </a:txBody>
                  <a:tcPr marL="45720" marR="45720" marT="18288" marB="18288">
                    <a:solidFill>
                      <a:srgbClr val="FFFFFF"/>
                    </a:solidFill>
                  </a:tcPr>
                </a:tc>
              </a:tr>
              <a:tr h="472440">
                <a:tc>
                  <a:txBody>
                    <a:bodyPr/>
                    <a:lstStyle/>
                    <a:p>
                      <a:r>
                        <a:rPr sz="1400" b="1">
                          <a:solidFill>
                            <a:srgbClr val="5A6573"/>
                          </a:solidFill>
                          <a:latin typeface="Calibri"/>
                        </a:rPr>
                        <a:t>P/B</a:t>
                      </a:r>
                    </a:p>
                  </a:txBody>
                  <a:tcPr marL="45720" marR="45720" marT="18288" marB="18288">
                    <a:solidFill>
                      <a:srgbClr val="F4F6F9"/>
                    </a:solidFill>
                  </a:tcPr>
                </a:tc>
                <a:tc>
                  <a:txBody>
                    <a:bodyPr/>
                    <a:lstStyle/>
                    <a:p>
                      <a:pPr algn="r"/>
                      <a:r>
                        <a:rPr sz="1400">
                          <a:solidFill>
                            <a:srgbClr val="111111"/>
                          </a:solidFill>
                          <a:latin typeface="Calibri"/>
                        </a:rPr>
                        <a:t>x</a:t>
                      </a:r>
                    </a:p>
                  </a:txBody>
                  <a:tcPr marL="45720" marR="45720" marT="18288" marB="18288">
                    <a:solidFill>
                      <a:srgbClr val="F4F6F9"/>
                    </a:solidFill>
                  </a:tcPr>
                </a:tc>
              </a:tr>
              <a:tr h="472440">
                <a:tc>
                  <a:txBody>
                    <a:bodyPr/>
                    <a:lstStyle/>
                    <a:p>
                      <a:r>
                        <a:rPr sz="1400" b="1">
                          <a:solidFill>
                            <a:srgbClr val="1F4690"/>
                          </a:solidFill>
                          <a:latin typeface="Calibri"/>
                        </a:rPr>
                        <a:t>EV/EBITDA</a:t>
                      </a:r>
                    </a:p>
                  </a:txBody>
                  <a:tcPr marL="45720" marR="45720" marT="18288" marB="18288">
                    <a:solidFill>
                      <a:srgbClr val="FFF3E0"/>
                    </a:solidFill>
                  </a:tcPr>
                </a:tc>
                <a:tc>
                  <a:txBody>
                    <a:bodyPr/>
                    <a:lstStyle/>
                    <a:p>
                      <a:pPr algn="r"/>
                      <a:r>
                        <a:rPr sz="1400" b="1">
                          <a:solidFill>
                            <a:srgbClr val="1F4690"/>
                          </a:solidFill>
                          <a:latin typeface="Calibri"/>
                        </a:rPr>
                        <a:t>x</a:t>
                      </a:r>
                    </a:p>
                  </a:txBody>
                  <a:tcPr marL="45720" marR="45720"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 - Bull / Base / Bear Case with Assumptions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 - Bull / Base / Bear Case with Assumptions</a:t>
            </a:r>
          </a:p>
        </p:txBody>
      </p:sp>
      <p:sp>
        <p:nvSpPr>
          <p:cNvPr id="15" name="Rectangle 14"/>
          <p:cNvSpPr/>
          <p:nvPr/>
        </p:nvSpPr>
        <p:spPr>
          <a:xfrm>
            <a:off x="457200"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1280160"/>
            <a:ext cx="3675887" cy="256032"/>
          </a:xfrm>
          <a:prstGeom prst="rect">
            <a:avLst/>
          </a:prstGeom>
          <a:noFill/>
        </p:spPr>
        <p:txBody>
          <a:bodyPr wrap="square" lIns="45720" rIns="45720" tIns="18288" bIns="18288">
            <a:spAutoFit/>
          </a:bodyPr>
          <a:lstStyle/>
          <a:p>
            <a:r>
              <a:rPr sz="850" b="1">
                <a:solidFill>
                  <a:srgbClr val="B91C1C"/>
                </a:solidFill>
                <a:latin typeface="Calibri"/>
              </a:rPr>
              <a:t>BEAR CASE - ₹630 (-23.4% vs CMP)</a:t>
            </a:r>
          </a:p>
        </p:txBody>
      </p:sp>
      <p:sp>
        <p:nvSpPr>
          <p:cNvPr id="17" name="Rectangle 16"/>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20" name="TextBox 19"/>
          <p:cNvSpPr txBox="1"/>
          <p:nvPr/>
        </p:nvSpPr>
        <p:spPr>
          <a:xfrm>
            <a:off x="530352" y="1883664"/>
            <a:ext cx="3675887" cy="475488"/>
          </a:xfrm>
          <a:prstGeom prst="rect">
            <a:avLst/>
          </a:prstGeom>
          <a:noFill/>
        </p:spPr>
        <p:txBody>
          <a:bodyPr wrap="square" lIns="45720" rIns="45720" tIns="18288" bIns="18288">
            <a:spAutoFit/>
          </a:bodyPr>
          <a:lstStyle/>
          <a:p>
            <a:r>
              <a:rPr sz="800" b="0">
                <a:solidFill>
                  <a:srgbClr val="111111"/>
                </a:solidFill>
                <a:latin typeface="Calibri"/>
              </a:rPr>
              <a:t>Equity markets remain subdued. Revenue CAGR slows to 6.0%; EBITDA margin compresses to 45.0% as regulation and lower risk appetite pressure activity.</a:t>
            </a:r>
          </a:p>
        </p:txBody>
      </p:sp>
      <p:sp>
        <p:nvSpPr>
          <p:cNvPr id="21" name="Rectangle 20"/>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24" name="TextBox 23"/>
          <p:cNvSpPr txBox="1"/>
          <p:nvPr/>
        </p:nvSpPr>
        <p:spPr>
          <a:xfrm>
            <a:off x="530352" y="2743200"/>
            <a:ext cx="3675887" cy="859536"/>
          </a:xfrm>
          <a:prstGeom prst="rect">
            <a:avLst/>
          </a:prstGeom>
          <a:noFill/>
        </p:spPr>
        <p:txBody>
          <a:bodyPr wrap="square" lIns="45720" rIns="45720" tIns="18288" bIns="18288">
            <a:spAutoFit/>
          </a:bodyPr>
          <a:lstStyle/>
          <a:p>
            <a:r>
              <a:rPr sz="800" b="0">
                <a:solidFill>
                  <a:srgbClr val="111111"/>
                </a:solidFill>
                <a:latin typeface="Calibri"/>
              </a:rPr>
              <a:t>Broking headwinds and fee pressure reduce operating momentum. Sustained F&amp;O headwinds, fintech share loss.</a:t>
            </a:r>
          </a:p>
        </p:txBody>
      </p:sp>
      <p:sp>
        <p:nvSpPr>
          <p:cNvPr id="25" name="Rectangle 24"/>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28" name="TextBox 27"/>
          <p:cNvSpPr txBox="1"/>
          <p:nvPr/>
        </p:nvSpPr>
        <p:spPr>
          <a:xfrm>
            <a:off x="530352" y="3986783"/>
            <a:ext cx="3675887" cy="530352"/>
          </a:xfrm>
          <a:prstGeom prst="rect">
            <a:avLst/>
          </a:prstGeom>
          <a:noFill/>
        </p:spPr>
        <p:txBody>
          <a:bodyPr wrap="square" lIns="45720" rIns="45720" tIns="18288" bIns="18288">
            <a:spAutoFit/>
          </a:bodyPr>
          <a:lstStyle/>
          <a:p>
            <a:r>
              <a:rPr sz="800" b="0">
                <a:solidFill>
                  <a:srgbClr val="111111"/>
                </a:solidFill>
                <a:latin typeface="Calibri"/>
              </a:rPr>
              <a:t>18x P/E on depressed FY27E EPS of INR 35; sustained regulatory headwinds. Target price ₹630, probability 20.0%, vs CMP -23.4%.</a:t>
            </a:r>
          </a:p>
        </p:txBody>
      </p:sp>
      <p:graphicFrame>
        <p:nvGraphicFramePr>
          <p:cNvPr id="29" name="Table 28"/>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Bear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6.0%</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45.0%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B91C1C"/>
                          </a:solidFill>
                          <a:latin typeface="Calibri"/>
                        </a:rPr>
                        <a:t>₹630</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20.0%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B91C1C"/>
                          </a:solidFill>
                          <a:latin typeface="Calibri"/>
                        </a:rPr>
                        <a:t>-23.4%</a:t>
                      </a:r>
                    </a:p>
                  </a:txBody>
                  <a:tcPr marL="27432" marR="27432" marT="9144" marB="9144">
                    <a:solidFill>
                      <a:srgbClr val="F4F6F9"/>
                    </a:solidFill>
                  </a:tcPr>
                </a:tc>
              </a:tr>
            </a:tbl>
          </a:graphicData>
        </a:graphic>
      </p:graphicFrame>
      <p:sp>
        <p:nvSpPr>
          <p:cNvPr id="30" name="Rectangle 29"/>
          <p:cNvSpPr/>
          <p:nvPr/>
        </p:nvSpPr>
        <p:spPr>
          <a:xfrm>
            <a:off x="4425696"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98848" y="1280160"/>
            <a:ext cx="3675887" cy="256032"/>
          </a:xfrm>
          <a:prstGeom prst="rect">
            <a:avLst/>
          </a:prstGeom>
          <a:noFill/>
        </p:spPr>
        <p:txBody>
          <a:bodyPr wrap="square" lIns="45720" rIns="45720" tIns="18288" bIns="18288">
            <a:spAutoFit/>
          </a:bodyPr>
          <a:lstStyle/>
          <a:p>
            <a:r>
              <a:rPr sz="850" b="1">
                <a:solidFill>
                  <a:srgbClr val="FFA500"/>
                </a:solidFill>
                <a:latin typeface="Calibri"/>
              </a:rPr>
              <a:t>BASE CASE - ₹1,127 (+37.0% vs CMP) - PRIMARY RECOMMENDATION</a:t>
            </a:r>
          </a:p>
        </p:txBody>
      </p:sp>
      <p:sp>
        <p:nvSpPr>
          <p:cNvPr id="32" name="Rectangle 31"/>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98848"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35" name="TextBox 34"/>
          <p:cNvSpPr txBox="1"/>
          <p:nvPr/>
        </p:nvSpPr>
        <p:spPr>
          <a:xfrm>
            <a:off x="4498848" y="1883664"/>
            <a:ext cx="3675887" cy="475488"/>
          </a:xfrm>
          <a:prstGeom prst="rect">
            <a:avLst/>
          </a:prstGeom>
          <a:noFill/>
        </p:spPr>
        <p:txBody>
          <a:bodyPr wrap="square" lIns="45720" rIns="45720" tIns="18288" bIns="18288">
            <a:spAutoFit/>
          </a:bodyPr>
          <a:lstStyle/>
          <a:p>
            <a:r>
              <a:rPr sz="800" b="0">
                <a:solidFill>
                  <a:srgbClr val="111111"/>
                </a:solidFill>
                <a:latin typeface="Calibri"/>
              </a:rPr>
              <a:t>Markets normalize and savings flows remain constructive. Revenue compounds at 16.0%; EBITDA margin holds near 51.0% on steady AUM growth.</a:t>
            </a:r>
          </a:p>
        </p:txBody>
      </p:sp>
      <p:sp>
        <p:nvSpPr>
          <p:cNvPr id="36" name="Rectangle 35"/>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98848"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39" name="TextBox 38"/>
          <p:cNvSpPr txBox="1"/>
          <p:nvPr/>
        </p:nvSpPr>
        <p:spPr>
          <a:xfrm>
            <a:off x="4498848" y="2743200"/>
            <a:ext cx="3675887" cy="859536"/>
          </a:xfrm>
          <a:prstGeom prst="rect">
            <a:avLst/>
          </a:prstGeom>
          <a:noFill/>
        </p:spPr>
        <p:txBody>
          <a:bodyPr wrap="square" lIns="45720" rIns="45720" tIns="18288" bIns="18288">
            <a:spAutoFit/>
          </a:bodyPr>
          <a:lstStyle/>
          <a:p>
            <a:r>
              <a:rPr sz="800" b="0">
                <a:solidFill>
                  <a:srgbClr val="111111"/>
                </a:solidFill>
                <a:latin typeface="Calibri"/>
              </a:rPr>
              <a:t>ARR stability and diversified financial services earnings support the base case. ARR steady at 65%, AUM compounding, stable regulation.</a:t>
            </a:r>
          </a:p>
        </p:txBody>
      </p:sp>
      <p:sp>
        <p:nvSpPr>
          <p:cNvPr id="40" name="Rectangle 39"/>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98848"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43" name="TextBox 42"/>
          <p:cNvSpPr txBox="1"/>
          <p:nvPr/>
        </p:nvSpPr>
        <p:spPr>
          <a:xfrm>
            <a:off x="4498848" y="3986783"/>
            <a:ext cx="3675887" cy="530352"/>
          </a:xfrm>
          <a:prstGeom prst="rect">
            <a:avLst/>
          </a:prstGeom>
          <a:noFill/>
        </p:spPr>
        <p:txBody>
          <a:bodyPr wrap="square" lIns="45720" rIns="45720" tIns="18288" bIns="18288">
            <a:spAutoFit/>
          </a:bodyPr>
          <a:lstStyle/>
          <a:p>
            <a:r>
              <a:rPr sz="800" b="0">
                <a:solidFill>
                  <a:srgbClr val="111111"/>
                </a:solidFill>
                <a:latin typeface="Calibri"/>
              </a:rPr>
              <a:t>24x P/E on FY27E EPS of INR 47; ARR stable at 65%, steady AUM. Target price ₹1,127, probability 50.0%, vs CMP +37.0%.</a:t>
            </a:r>
          </a:p>
        </p:txBody>
      </p:sp>
      <p:graphicFrame>
        <p:nvGraphicFramePr>
          <p:cNvPr id="44" name="Table 43"/>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Base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16.0%</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51.0%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FFA500"/>
                          </a:solidFill>
                          <a:latin typeface="Calibri"/>
                        </a:rPr>
                        <a:t>₹1,127</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50.0%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FFA500"/>
                          </a:solidFill>
                          <a:latin typeface="Calibri"/>
                        </a:rPr>
                        <a:t>+37.0%</a:t>
                      </a:r>
                    </a:p>
                  </a:txBody>
                  <a:tcPr marL="27432" marR="27432" marT="9144" marB="9144">
                    <a:solidFill>
                      <a:srgbClr val="F4F6F9"/>
                    </a:solidFill>
                  </a:tcPr>
                </a:tc>
              </a:tr>
            </a:tbl>
          </a:graphicData>
        </a:graphic>
      </p:graphicFrame>
      <p:sp>
        <p:nvSpPr>
          <p:cNvPr id="45" name="Rectangle 44"/>
          <p:cNvSpPr/>
          <p:nvPr/>
        </p:nvSpPr>
        <p:spPr>
          <a:xfrm>
            <a:off x="8394192" y="1234440"/>
            <a:ext cx="3822191" cy="3474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67344" y="1280160"/>
            <a:ext cx="3675887" cy="256032"/>
          </a:xfrm>
          <a:prstGeom prst="rect">
            <a:avLst/>
          </a:prstGeom>
          <a:noFill/>
        </p:spPr>
        <p:txBody>
          <a:bodyPr wrap="square" lIns="45720" rIns="45720" tIns="18288" bIns="18288">
            <a:spAutoFit/>
          </a:bodyPr>
          <a:lstStyle/>
          <a:p>
            <a:r>
              <a:rPr sz="850" b="1">
                <a:solidFill>
                  <a:srgbClr val="FFFFFF"/>
                </a:solidFill>
                <a:latin typeface="Calibri"/>
              </a:rPr>
              <a:t>BULL CASE - ₹1,400 (+70.1% vs CMP)</a:t>
            </a:r>
          </a:p>
        </p:txBody>
      </p:sp>
      <p:sp>
        <p:nvSpPr>
          <p:cNvPr id="47" name="Rectangle 46"/>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67344"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50" name="TextBox 49"/>
          <p:cNvSpPr txBox="1"/>
          <p:nvPr/>
        </p:nvSpPr>
        <p:spPr>
          <a:xfrm>
            <a:off x="8467344" y="1883664"/>
            <a:ext cx="3675887" cy="475488"/>
          </a:xfrm>
          <a:prstGeom prst="rect">
            <a:avLst/>
          </a:prstGeom>
          <a:noFill/>
        </p:spPr>
        <p:txBody>
          <a:bodyPr wrap="square" lIns="45720" rIns="45720" tIns="18288" bIns="18288">
            <a:spAutoFit/>
          </a:bodyPr>
          <a:lstStyle/>
          <a:p>
            <a:r>
              <a:rPr sz="800" b="0">
                <a:solidFill>
                  <a:srgbClr val="111111"/>
                </a:solidFill>
                <a:latin typeface="Calibri"/>
              </a:rPr>
              <a:t>Market participation strengthens and structural savings flows accelerate. Revenue compounds at 27.5%; EBITDA margin expands to 55.0% with operating leverage.</a:t>
            </a:r>
          </a:p>
        </p:txBody>
      </p:sp>
      <p:sp>
        <p:nvSpPr>
          <p:cNvPr id="51" name="Rectangle 50"/>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67344"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54" name="TextBox 53"/>
          <p:cNvSpPr txBox="1"/>
          <p:nvPr/>
        </p:nvSpPr>
        <p:spPr>
          <a:xfrm>
            <a:off x="8467344" y="2743200"/>
            <a:ext cx="3675887" cy="859536"/>
          </a:xfrm>
          <a:prstGeom prst="rect">
            <a:avLst/>
          </a:prstGeom>
          <a:noFill/>
        </p:spPr>
        <p:txBody>
          <a:bodyPr wrap="square" lIns="45720" rIns="45720" tIns="18288" bIns="18288">
            <a:spAutoFit/>
          </a:bodyPr>
          <a:lstStyle/>
          <a:p>
            <a:r>
              <a:rPr sz="800" b="0">
                <a:solidFill>
                  <a:srgbClr val="111111"/>
                </a:solidFill>
                <a:latin typeface="Calibri"/>
              </a:rPr>
              <a:t>ARR mix, AMC scale, and wealth management momentum trigger re-rating. ARR &gt; 70%, AMC AUM +40% YoY, regulatory clarity.</a:t>
            </a:r>
          </a:p>
        </p:txBody>
      </p:sp>
      <p:sp>
        <p:nvSpPr>
          <p:cNvPr id="55" name="Rectangle 54"/>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67344"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58" name="TextBox 57"/>
          <p:cNvSpPr txBox="1"/>
          <p:nvPr/>
        </p:nvSpPr>
        <p:spPr>
          <a:xfrm>
            <a:off x="8467344" y="3986783"/>
            <a:ext cx="3675887" cy="530352"/>
          </a:xfrm>
          <a:prstGeom prst="rect">
            <a:avLst/>
          </a:prstGeom>
          <a:noFill/>
        </p:spPr>
        <p:txBody>
          <a:bodyPr wrap="square" lIns="45720" rIns="45720" tIns="18288" bIns="18288">
            <a:spAutoFit/>
          </a:bodyPr>
          <a:lstStyle/>
          <a:p>
            <a:r>
              <a:rPr sz="800" b="0">
                <a:solidFill>
                  <a:srgbClr val="111111"/>
                </a:solidFill>
                <a:latin typeface="Calibri"/>
              </a:rPr>
              <a:t>28x P/E on FY27E EPS of INR 50; ARR &gt; 70%, AMC +40% YoY. Target price ₹1,400, probability 30.0%, vs CMP +70.1%.</a:t>
            </a:r>
          </a:p>
        </p:txBody>
      </p:sp>
      <p:graphicFrame>
        <p:nvGraphicFramePr>
          <p:cNvPr id="59" name="Table 58"/>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Bull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27.5%</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55.0%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1A7A4A"/>
                          </a:solidFill>
                          <a:latin typeface="Calibri"/>
                        </a:rPr>
                        <a:t>₹1,400</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30.0%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 Framework</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3" name="TextBox 12"/>
          <p:cNvSpPr txBox="1"/>
          <p:nvPr/>
        </p:nvSpPr>
        <p:spPr>
          <a:xfrm>
            <a:off x="292608" y="1078992"/>
            <a:ext cx="7059168" cy="182880"/>
          </a:xfrm>
          <a:prstGeom prst="rect">
            <a:avLst/>
          </a:prstGeom>
          <a:noFill/>
        </p:spPr>
        <p:txBody>
          <a:bodyPr wrap="square" lIns="36576" rIns="36576" tIns="9144" bIns="9144">
            <a:spAutoFit/>
          </a:bodyPr>
          <a:lstStyle/>
          <a:p>
            <a:r>
              <a:rPr sz="1000" b="1">
                <a:solidFill>
                  <a:srgbClr val="1F4690"/>
                </a:solidFill>
                <a:latin typeface="Calibri"/>
              </a:rPr>
              <a:t>P/E-Based Valuation — Primary Method</a:t>
            </a:r>
          </a:p>
        </p:txBody>
      </p:sp>
      <p:sp>
        <p:nvSpPr>
          <p:cNvPr id="14" name="Rectangle 13"/>
          <p:cNvSpPr/>
          <p:nvPr/>
        </p:nvSpPr>
        <p:spPr>
          <a:xfrm>
            <a:off x="292608" y="1280160"/>
            <a:ext cx="7059168" cy="25603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1316736"/>
            <a:ext cx="6949440" cy="182880"/>
          </a:xfrm>
          <a:prstGeom prst="rect">
            <a:avLst/>
          </a:prstGeom>
          <a:noFill/>
        </p:spPr>
        <p:txBody>
          <a:bodyPr wrap="square" lIns="36576" rIns="36576" tIns="9144" bIns="9144">
            <a:spAutoFit/>
          </a:bodyPr>
          <a:lstStyle/>
          <a:p>
            <a:r>
              <a:rPr sz="850" b="1">
                <a:solidFill>
                  <a:srgbClr val="FFFFFF"/>
                </a:solidFill>
                <a:latin typeface="Calibri"/>
              </a:rPr>
              <a:t>Target Price Derivation — Tikona Capital Base Case</a:t>
            </a:r>
          </a:p>
        </p:txBody>
      </p:sp>
      <p:graphicFrame>
        <p:nvGraphicFramePr>
          <p:cNvPr id="16" name="Table 15"/>
          <p:cNvGraphicFramePr>
            <a:graphicFrameLocks noGrp="1"/>
          </p:cNvGraphicFramePr>
          <p:nvPr/>
        </p:nvGraphicFramePr>
        <p:xfrm>
          <a:off x="292608" y="1536192"/>
          <a:ext cx="7059166" cy="1463040"/>
        </p:xfrm>
        <a:graphic>
          <a:graphicData uri="http://schemas.openxmlformats.org/drawingml/2006/table">
            <a:tbl>
              <a:tblPr firstRow="1" bandRow="1">
                <a:tableStyleId>{5C22544A-7EE6-4342-B048-85BDC9FD1C3A}</a:tableStyleId>
              </a:tblPr>
              <a:tblGrid>
                <a:gridCol w="2329525"/>
                <a:gridCol w="1576547"/>
                <a:gridCol w="1576547"/>
                <a:gridCol w="1576547"/>
              </a:tblGrid>
              <a:tr h="292608">
                <a:tc>
                  <a:txBody>
                    <a:bodyPr lIns="27432" tIns="36576" bIns="18288"/>
                    <a:lstStyle/>
                    <a:p>
                      <a:r>
                        <a:rPr sz="800" b="1">
                          <a:solidFill>
                            <a:srgbClr val="FFFFFF"/>
                          </a:solidFill>
                          <a:latin typeface="Calibri"/>
                        </a:rPr>
                        <a:t>Method</a:t>
                      </a:r>
                    </a:p>
                  </a:txBody>
                  <a:tcPr>
                    <a:solidFill>
                      <a:srgbClr val="1F4690"/>
                    </a:solidFill>
                  </a:tcPr>
                </a:tc>
                <a:tc>
                  <a:txBody>
                    <a:bodyPr lIns="27432" tIns="36576" bIns="18288"/>
                    <a:lstStyle/>
                    <a:p>
                      <a:r>
                        <a:rPr sz="800" b="1">
                          <a:solidFill>
                            <a:srgbClr val="FFFFFF"/>
                          </a:solidFill>
                          <a:latin typeface="Calibri"/>
                        </a:rPr>
                        <a:t>Multiple Applied</a:t>
                      </a:r>
                    </a:p>
                  </a:txBody>
                  <a:tcPr>
                    <a:solidFill>
                      <a:srgbClr val="1F4690"/>
                    </a:solidFill>
                  </a:tcPr>
                </a:tc>
                <a:tc>
                  <a:txBody>
                    <a:bodyPr lIns="27432" tIns="36576" bIns="18288"/>
                    <a:lstStyle/>
                    <a:p>
                      <a:r>
                        <a:rPr sz="800" b="1">
                          <a:solidFill>
                            <a:srgbClr val="FFFFFF"/>
                          </a:solidFill>
                          <a:latin typeface="Calibri"/>
                        </a:rPr>
                        <a:t>Earnings Base</a:t>
                      </a:r>
                    </a:p>
                  </a:txBody>
                  <a:tcPr>
                    <a:solidFill>
                      <a:srgbClr val="1F4690"/>
                    </a:solidFill>
                  </a:tcPr>
                </a:tc>
                <a:tc>
                  <a:txBody>
                    <a:bodyPr lIns="27432" tIns="36576" bIns="18288"/>
                    <a:lstStyle/>
                    <a:p>
                      <a:r>
                        <a:rPr sz="800" b="1">
                          <a:solidFill>
                            <a:srgbClr val="FFFFFF"/>
                          </a:solidFill>
                          <a:latin typeface="Calibri"/>
                        </a:rPr>
                        <a:t>Value Per Share (₹)</a:t>
                      </a:r>
                    </a:p>
                  </a:txBody>
                  <a:tcPr>
                    <a:solidFill>
                      <a:srgbClr val="1F4690"/>
                    </a:solidFill>
                  </a:tcPr>
                </a:tc>
              </a:tr>
              <a:tr h="292608">
                <a:tc>
                  <a:txBody>
                    <a:bodyPr lIns="27432" tIns="18288" bIns="18288"/>
                    <a:lstStyle/>
                    <a:p>
                      <a:r>
                        <a:rPr sz="800" b="0">
                          <a:solidFill>
                            <a:srgbClr val="111111"/>
                          </a:solidFill>
                          <a:latin typeface="Calibri"/>
                        </a:rPr>
                        <a:t>Base Case P/E</a:t>
                      </a:r>
                    </a:p>
                  </a:txBody>
                  <a:tcPr>
                    <a:solidFill>
                      <a:srgbClr val="FFFFFF"/>
                    </a:solidFill>
                  </a:tcPr>
                </a:tc>
                <a:tc>
                  <a:txBody>
                    <a:bodyPr lIns="27432" tIns="18288" bIns="18288"/>
                    <a:lstStyle/>
                    <a:p>
                      <a:r>
                        <a:rPr sz="800" b="0">
                          <a:solidFill>
                            <a:srgbClr val="111111"/>
                          </a:solidFill>
                          <a:latin typeface="Calibri"/>
                        </a:rPr>
                        <a:t>24x P/E</a:t>
                      </a:r>
                    </a:p>
                  </a:txBody>
                  <a:tcPr>
                    <a:solidFill>
                      <a:srgbClr val="FFFFFF"/>
                    </a:solidFill>
                  </a:tcPr>
                </a:tc>
                <a:tc>
                  <a:txBody>
                    <a:bodyPr lIns="27432" tIns="18288" bIns="18288"/>
                    <a:lstStyle/>
                    <a:p>
                      <a:r>
                        <a:rPr sz="800" b="0">
                          <a:solidFill>
                            <a:srgbClr val="111111"/>
                          </a:solidFill>
                          <a:latin typeface="Calibri"/>
                        </a:rPr>
                        <a:t>FY27E EPS of ₹66.5</a:t>
                      </a:r>
                    </a:p>
                  </a:txBody>
                  <a:tcPr>
                    <a:solidFill>
                      <a:srgbClr val="FFFFFF"/>
                    </a:solidFill>
                  </a:tcPr>
                </a:tc>
                <a:tc>
                  <a:txBody>
                    <a:bodyPr lIns="27432" tIns="18288" bIns="18288"/>
                    <a:lstStyle/>
                    <a:p>
                      <a:r>
                        <a:rPr sz="800" b="0">
                          <a:solidFill>
                            <a:srgbClr val="111111"/>
                          </a:solidFill>
                          <a:latin typeface="Calibri"/>
                        </a:rPr>
                        <a:t>₹1,596 (unadjusted)</a:t>
                      </a:r>
                    </a:p>
                  </a:txBody>
                  <a:tcPr>
                    <a:solidFill>
                      <a:srgbClr val="FFFFFF"/>
                    </a:solidFill>
                  </a:tcPr>
                </a:tc>
              </a:tr>
              <a:tr h="292608">
                <a:tc>
                  <a:txBody>
                    <a:bodyPr lIns="27432" tIns="18288" bIns="18288"/>
                    <a:lstStyle/>
                    <a:p>
                      <a:r>
                        <a:rPr sz="800" b="0">
                          <a:solidFill>
                            <a:srgbClr val="111111"/>
                          </a:solidFill>
                          <a:latin typeface="Calibri"/>
                        </a:rPr>
                        <a:t>Discounted Target (1Y)</a:t>
                      </a:r>
                    </a:p>
                  </a:txBody>
                  <a:tcPr>
                    <a:solidFill>
                      <a:srgbClr val="F5F7FA"/>
                    </a:solidFill>
                  </a:tcPr>
                </a:tc>
                <a:tc>
                  <a:txBody>
                    <a:bodyPr lIns="27432" tIns="18288" bIns="18288"/>
                    <a:lstStyle/>
                    <a:p>
                      <a:r>
                        <a:rPr sz="800" b="0">
                          <a:solidFill>
                            <a:srgbClr val="111111"/>
                          </a:solidFill>
                          <a:latin typeface="Calibri"/>
                        </a:rPr>
                        <a:t>12% discount rate</a:t>
                      </a:r>
                    </a:p>
                  </a:txBody>
                  <a:tcPr>
                    <a:solidFill>
                      <a:srgbClr val="F5F7FA"/>
                    </a:solidFill>
                  </a:tcPr>
                </a:tc>
                <a:tc>
                  <a:txBody>
                    <a:bodyPr lIns="27432" tIns="18288" bIns="18288"/>
                    <a:lstStyle/>
                    <a:p>
                      <a:r>
                        <a:rPr sz="800" b="0">
                          <a:solidFill>
                            <a:srgbClr val="111111"/>
                          </a:solidFill>
                          <a:latin typeface="Calibri"/>
                        </a:rPr>
                        <a:t>12-month forward</a:t>
                      </a:r>
                    </a:p>
                  </a:txBody>
                  <a:tcPr>
                    <a:solidFill>
                      <a:srgbClr val="F5F7FA"/>
                    </a:solidFill>
                  </a:tcPr>
                </a:tc>
                <a:tc>
                  <a:txBody>
                    <a:bodyPr lIns="27432" tIns="18288" bIns="18288"/>
                    <a:lstStyle/>
                    <a:p>
                      <a:r>
                        <a:rPr sz="800" b="0">
                          <a:solidFill>
                            <a:srgbClr val="111111"/>
                          </a:solidFill>
                          <a:latin typeface="Calibri"/>
                        </a:rPr>
                        <a:t>₹1,127 (Base TP)</a:t>
                      </a:r>
                    </a:p>
                  </a:txBody>
                  <a:tcPr>
                    <a:solidFill>
                      <a:srgbClr val="F5F7FA"/>
                    </a:solidFill>
                  </a:tcPr>
                </a:tc>
              </a:tr>
              <a:tr h="292608">
                <a:tc>
                  <a:txBody>
                    <a:bodyPr lIns="27432" tIns="18288" bIns="18288"/>
                    <a:lstStyle/>
                    <a:p>
                      <a:r>
                        <a:rPr sz="800" b="0">
                          <a:solidFill>
                            <a:srgbClr val="111111"/>
                          </a:solidFill>
                          <a:latin typeface="Calibri"/>
                        </a:rPr>
                        <a:t>Analyst Consensus</a:t>
                      </a:r>
                    </a:p>
                  </a:txBody>
                  <a:tcPr>
                    <a:solidFill>
                      <a:srgbClr val="FFFFFF"/>
                    </a:solidFill>
                  </a:tcPr>
                </a:tc>
                <a:tc>
                  <a:txBody>
                    <a:bodyPr lIns="27432" tIns="18288" bIns="18288"/>
                    <a:lstStyle/>
                    <a:p>
                      <a:r>
                        <a:rPr sz="800" b="0">
                          <a:solidFill>
                            <a:srgbClr val="111111"/>
                          </a:solidFill>
                          <a:latin typeface="Calibri"/>
                        </a:rPr>
                        <a:t>Market implied</a:t>
                      </a:r>
                    </a:p>
                  </a:txBody>
                  <a:tcPr>
                    <a:solidFill>
                      <a:srgbClr val="FFFFFF"/>
                    </a:solidFill>
                  </a:tcPr>
                </a:tc>
                <a:tc>
                  <a:txBody>
                    <a:bodyPr lIns="27432" tIns="18288" bIns="18288"/>
                    <a:lstStyle/>
                    <a:p>
                      <a:r>
                        <a:rPr sz="800" b="0">
                          <a:solidFill>
                            <a:srgbClr val="111111"/>
                          </a:solidFill>
                          <a:latin typeface="Calibri"/>
                        </a:rPr>
                        <a:t>Current consensus view</a:t>
                      </a:r>
                    </a:p>
                  </a:txBody>
                  <a:tcPr>
                    <a:solidFill>
                      <a:srgbClr val="FFFFFF"/>
                    </a:solidFill>
                  </a:tcPr>
                </a:tc>
                <a:tc>
                  <a:txBody>
                    <a:bodyPr lIns="27432" tIns="18288" bIns="18288"/>
                    <a:lstStyle/>
                    <a:p>
                      <a:r>
                        <a:rPr sz="800" b="0">
                          <a:solidFill>
                            <a:srgbClr val="111111"/>
                          </a:solidFill>
                          <a:latin typeface="Calibri"/>
                        </a:rPr>
                        <a:t>₹1,126.67</a:t>
                      </a:r>
                    </a:p>
                  </a:txBody>
                  <a:tcPr>
                    <a:solidFill>
                      <a:srgbClr val="FFFFFF"/>
                    </a:solidFill>
                  </a:tcPr>
                </a:tc>
              </a:tr>
              <a:tr h="292608">
                <a:tc>
                  <a:txBody>
                    <a:bodyPr lIns="27432" tIns="18288" bIns="18288"/>
                    <a:lstStyle/>
                    <a:p>
                      <a:r>
                        <a:rPr sz="800" b="1">
                          <a:solidFill>
                            <a:srgbClr val="1F4690"/>
                          </a:solidFill>
                          <a:latin typeface="Calibri"/>
                        </a:rPr>
                        <a:t>Probability-Weighted TP</a:t>
                      </a:r>
                    </a:p>
                  </a:txBody>
                  <a:tcPr>
                    <a:solidFill>
                      <a:srgbClr val="FFF7E0"/>
                    </a:solidFill>
                  </a:tcPr>
                </a:tc>
                <a:tc>
                  <a:txBody>
                    <a:bodyPr lIns="27432" tIns="18288" bIns="18288"/>
                    <a:lstStyle/>
                    <a:p>
                      <a:r>
                        <a:rPr sz="800" b="1">
                          <a:solidFill>
                            <a:srgbClr val="1F4690"/>
                          </a:solidFill>
                          <a:latin typeface="Calibri"/>
                        </a:rPr>
                        <a:t>Scenario blend</a:t>
                      </a:r>
                    </a:p>
                  </a:txBody>
                  <a:tcPr>
                    <a:solidFill>
                      <a:srgbClr val="FFF7E0"/>
                    </a:solidFill>
                  </a:tcPr>
                </a:tc>
                <a:tc>
                  <a:txBody>
                    <a:bodyPr lIns="27432" tIns="18288" bIns="18288"/>
                    <a:lstStyle/>
                    <a:p>
                      <a:r>
                        <a:rPr sz="800" b="1">
                          <a:solidFill>
                            <a:srgbClr val="1F4690"/>
                          </a:solidFill>
                          <a:latin typeface="Calibri"/>
                        </a:rPr>
                        <a:t>30%×Bull + 50%×Base + 20%×Bear</a:t>
                      </a:r>
                    </a:p>
                  </a:txBody>
                  <a:tcPr>
                    <a:solidFill>
                      <a:srgbClr val="FFF7E0"/>
                    </a:solidFill>
                  </a:tcPr>
                </a:tc>
                <a:tc>
                  <a:txBody>
                    <a:bodyPr lIns="27432" tIns="18288" bIns="18288"/>
                    <a:lstStyle/>
                    <a:p>
                      <a:r>
                        <a:rPr sz="800" b="1">
                          <a:solidFill>
                            <a:srgbClr val="1F4690"/>
                          </a:solidFill>
                          <a:latin typeface="Calibri"/>
                        </a:rPr>
                        <a:t>₹1,109</a:t>
                      </a:r>
                    </a:p>
                  </a:txBody>
                  <a:tcPr>
                    <a:solidFill>
                      <a:srgbClr val="FFF7E0"/>
                    </a:solidFill>
                  </a:tcPr>
                </a:tc>
              </a:tr>
            </a:tbl>
          </a:graphicData>
        </a:graphic>
      </p:graphicFrame>
      <p:sp>
        <p:nvSpPr>
          <p:cNvPr id="17" name="TextBox 16"/>
          <p:cNvSpPr txBox="1"/>
          <p:nvPr/>
        </p:nvSpPr>
        <p:spPr>
          <a:xfrm>
            <a:off x="292608" y="3136392"/>
            <a:ext cx="7059168" cy="182880"/>
          </a:xfrm>
          <a:prstGeom prst="rect">
            <a:avLst/>
          </a:prstGeom>
          <a:noFill/>
        </p:spPr>
        <p:txBody>
          <a:bodyPr wrap="square" lIns="36576" rIns="36576" tIns="9144" bIns="9144">
            <a:spAutoFit/>
          </a:bodyPr>
          <a:lstStyle/>
          <a:p>
            <a:r>
              <a:rPr sz="1000" b="1">
                <a:solidFill>
                  <a:srgbClr val="1F4690"/>
                </a:solidFill>
                <a:latin typeface="Calibri"/>
              </a:rPr>
              <a:t>Relative Valuation vs. Peers</a:t>
            </a:r>
          </a:p>
        </p:txBody>
      </p:sp>
      <p:graphicFrame>
        <p:nvGraphicFramePr>
          <p:cNvPr id="18" name="Table 17"/>
          <p:cNvGraphicFramePr>
            <a:graphicFrameLocks noGrp="1"/>
          </p:cNvGraphicFramePr>
          <p:nvPr/>
        </p:nvGraphicFramePr>
        <p:xfrm>
          <a:off x="292608" y="3337560"/>
          <a:ext cx="7059167" cy="585216"/>
        </p:xfrm>
        <a:graphic>
          <a:graphicData uri="http://schemas.openxmlformats.org/drawingml/2006/table">
            <a:tbl>
              <a:tblPr firstRow="1" bandRow="1">
                <a:tableStyleId>{5C22544A-7EE6-4342-B048-85BDC9FD1C3A}</a:tableStyleId>
              </a:tblPr>
              <a:tblGrid>
                <a:gridCol w="1976567"/>
                <a:gridCol w="1270650"/>
                <a:gridCol w="1270650"/>
                <a:gridCol w="1270650"/>
                <a:gridCol w="1270650"/>
              </a:tblGrid>
              <a:tr h="292608">
                <a:tc>
                  <a:txBody>
                    <a:bodyPr lIns="27432" tIns="36576" bIns="18288"/>
                    <a:lstStyle/>
                    <a:p>
                      <a:r>
                        <a:rPr sz="800" b="1">
                          <a:solidFill>
                            <a:srgbClr val="FFFFFF"/>
                          </a:solidFill>
                          <a:latin typeface="Calibri"/>
                        </a:rPr>
                        <a:t>Company</a:t>
                      </a:r>
                    </a:p>
                  </a:txBody>
                  <a:tcPr>
                    <a:solidFill>
                      <a:srgbClr val="1F4690"/>
                    </a:solidFill>
                  </a:tcPr>
                </a:tc>
                <a:tc>
                  <a:txBody>
                    <a:bodyPr lIns="27432" tIns="36576" bIns="18288"/>
                    <a:lstStyle/>
                    <a:p>
                      <a:r>
                        <a:rPr sz="800" b="1">
                          <a:solidFill>
                            <a:srgbClr val="FFFFFF"/>
                          </a:solidFill>
                          <a:latin typeface="Calibri"/>
                        </a:rPr>
                        <a:t>P/E (TTM)</a:t>
                      </a:r>
                    </a:p>
                  </a:txBody>
                  <a:tcPr>
                    <a:solidFill>
                      <a:srgbClr val="1F4690"/>
                    </a:solidFill>
                  </a:tcPr>
                </a:tc>
                <a:tc>
                  <a:txBody>
                    <a:bodyPr lIns="27432" tIns="36576" bIns="18288"/>
                    <a:lstStyle/>
                    <a:p>
                      <a:r>
                        <a:rPr sz="800" b="1">
                          <a:solidFill>
                            <a:srgbClr val="FFFFFF"/>
                          </a:solidFill>
                          <a:latin typeface="Calibri"/>
                        </a:rPr>
                        <a:t>P/B</a:t>
                      </a:r>
                    </a:p>
                  </a:txBody>
                  <a:tcPr>
                    <a:solidFill>
                      <a:srgbClr val="1F4690"/>
                    </a:solidFill>
                  </a:tcPr>
                </a:tc>
                <a:tc>
                  <a:txBody>
                    <a:bodyPr lIns="27432" tIns="36576" bIns="18288"/>
                    <a:lstStyle/>
                    <a:p>
                      <a:r>
                        <a:rPr sz="800" b="1">
                          <a:solidFill>
                            <a:srgbClr val="FFFFFF"/>
                          </a:solidFill>
                          <a:latin typeface="Calibri"/>
                        </a:rPr>
                        <a:t>AUM Growth</a:t>
                      </a:r>
                    </a:p>
                  </a:txBody>
                  <a:tcPr>
                    <a:solidFill>
                      <a:srgbClr val="1F4690"/>
                    </a:solidFill>
                  </a:tcPr>
                </a:tc>
                <a:tc>
                  <a:txBody>
                    <a:bodyPr lIns="27432" tIns="36576" bIns="18288"/>
                    <a:lstStyle/>
                    <a:p>
                      <a:r>
                        <a:rPr sz="800" b="1">
                          <a:solidFill>
                            <a:srgbClr val="FFFFFF"/>
                          </a:solidFill>
                          <a:latin typeface="Calibri"/>
                        </a:rPr>
                        <a:t>Comment</a:t>
                      </a:r>
                    </a:p>
                  </a:txBody>
                  <a:tcPr>
                    <a:solidFill>
                      <a:srgbClr val="1F4690"/>
                    </a:solidFill>
                  </a:tcPr>
                </a:tc>
              </a:tr>
              <a:tr h="292608">
                <a:tc>
                  <a:txBody>
                    <a:bodyPr lIns="27432" tIns="18288" bIns="18288"/>
                    <a:lstStyle/>
                    <a:p>
                      <a:r>
                        <a:rPr sz="800" b="1">
                          <a:solidFill>
                            <a:srgbClr val="1F4690"/>
                          </a:solidFill>
                          <a:latin typeface="Calibri"/>
                        </a:rPr>
                        <a:t>Motilal Oswal Financial Services Ltd</a:t>
                      </a:r>
                    </a:p>
                  </a:txBody>
                  <a:tcPr>
                    <a:solidFill>
                      <a:srgbClr val="FFF7E0"/>
                    </a:solidFill>
                  </a:tcPr>
                </a:tc>
                <a:tc>
                  <a:txBody>
                    <a:bodyPr lIns="27432" tIns="18288" bIns="18288"/>
                    <a:lstStyle/>
                    <a:p>
                      <a:r>
                        <a:rPr sz="800" b="1">
                          <a:solidFill>
                            <a:srgbClr val="1F4690"/>
                          </a:solidFill>
                          <a:latin typeface="Calibri"/>
                        </a:rPr>
                        <a:t>24.2x</a:t>
                      </a:r>
                    </a:p>
                  </a:txBody>
                  <a:tcPr>
                    <a:solidFill>
                      <a:srgbClr val="FFF7E0"/>
                    </a:solidFill>
                  </a:tcPr>
                </a:tc>
                <a:tc>
                  <a:txBody>
                    <a:bodyPr lIns="27432" tIns="18288" bIns="18288"/>
                    <a:lstStyle/>
                    <a:p>
                      <a:r>
                        <a:rPr sz="800" b="1">
                          <a:solidFill>
                            <a:srgbClr val="1F4690"/>
                          </a:solidFill>
                          <a:latin typeface="Calibri"/>
                        </a:rPr>
                        <a:t>3.8x</a:t>
                      </a:r>
                    </a:p>
                  </a:txBody>
                  <a:tcPr>
                    <a:solidFill>
                      <a:srgbClr val="FFF7E0"/>
                    </a:solidFill>
                  </a:tcPr>
                </a:tc>
                <a:tc>
                  <a:txBody>
                    <a:bodyPr lIns="27432" tIns="18288" bIns="18288"/>
                    <a:lstStyle/>
                    <a:p>
                      <a:r>
                        <a:rPr sz="800" b="1">
                          <a:solidFill>
                            <a:srgbClr val="1F4690"/>
                          </a:solidFill>
                          <a:latin typeface="Calibri"/>
                        </a:rPr>
                        <a:t>+46% YoY</a:t>
                      </a:r>
                    </a:p>
                  </a:txBody>
                  <a:tcPr>
                    <a:solidFill>
                      <a:srgbClr val="FFF7E0"/>
                    </a:solidFill>
                  </a:tcPr>
                </a:tc>
                <a:tc>
                  <a:txBody>
                    <a:bodyPr lIns="27432" tIns="18288" bIns="18288"/>
                    <a:lstStyle/>
                    <a:p>
                      <a:r>
                        <a:rPr sz="800" b="1">
                          <a:solidFill>
                            <a:srgbClr val="1F4690"/>
                          </a:solidFill>
                          <a:latin typeface="Calibri"/>
                        </a:rPr>
                        <a:t>ARR re-rating pending</a:t>
                      </a:r>
                    </a:p>
                  </a:txBody>
                  <a:tcPr>
                    <a:solidFill>
                      <a:srgbClr val="FFF7E0"/>
                    </a:solidFill>
                  </a:tcPr>
                </a:tc>
              </a:tr>
            </a:tbl>
          </a:graphicData>
        </a:graphic>
      </p:graphicFrame>
      <p:sp>
        <p:nvSpPr>
          <p:cNvPr id="19" name="TextBox 18"/>
          <p:cNvSpPr txBox="1"/>
          <p:nvPr/>
        </p:nvSpPr>
        <p:spPr>
          <a:xfrm>
            <a:off x="292608" y="4059936"/>
            <a:ext cx="7059168" cy="182880"/>
          </a:xfrm>
          <a:prstGeom prst="rect">
            <a:avLst/>
          </a:prstGeom>
          <a:noFill/>
        </p:spPr>
        <p:txBody>
          <a:bodyPr wrap="square" lIns="36576" rIns="36576" tIns="9144" bIns="9144">
            <a:spAutoFit/>
          </a:bodyPr>
          <a:lstStyle/>
          <a:p>
            <a:r>
              <a:rPr sz="1000" b="1">
                <a:solidFill>
                  <a:srgbClr val="1F4690"/>
                </a:solidFill>
                <a:latin typeface="Calibri"/>
              </a:rPr>
              <a:t>Valuation Scenario Summary</a:t>
            </a:r>
          </a:p>
        </p:txBody>
      </p:sp>
      <p:graphicFrame>
        <p:nvGraphicFramePr>
          <p:cNvPr id="20" name="Table 19"/>
          <p:cNvGraphicFramePr>
            <a:graphicFrameLocks noGrp="1"/>
          </p:cNvGraphicFramePr>
          <p:nvPr/>
        </p:nvGraphicFramePr>
        <p:xfrm>
          <a:off x="292608" y="4261104"/>
          <a:ext cx="7059167" cy="1463040"/>
        </p:xfrm>
        <a:graphic>
          <a:graphicData uri="http://schemas.openxmlformats.org/drawingml/2006/table">
            <a:tbl>
              <a:tblPr firstRow="1" bandRow="1">
                <a:tableStyleId>{5C22544A-7EE6-4342-B048-85BDC9FD1C3A}</a:tableStyleId>
              </a:tblPr>
              <a:tblGrid>
                <a:gridCol w="1976567"/>
                <a:gridCol w="1270650"/>
                <a:gridCol w="1270650"/>
                <a:gridCol w="1270650"/>
                <a:gridCol w="1270650"/>
              </a:tblGrid>
              <a:tr h="292608">
                <a:tc>
                  <a:txBody>
                    <a:bodyPr lIns="27432" tIns="36576" bIns="18288"/>
                    <a:lstStyle/>
                    <a:p>
                      <a:r>
                        <a:rPr sz="800" b="1">
                          <a:solidFill>
                            <a:srgbClr val="FFFFFF"/>
                          </a:solidFill>
                          <a:latin typeface="Calibri"/>
                        </a:rPr>
                        <a:t>Scenario</a:t>
                      </a:r>
                    </a:p>
                  </a:txBody>
                  <a:tcPr>
                    <a:solidFill>
                      <a:srgbClr val="1F4690"/>
                    </a:solidFill>
                  </a:tcPr>
                </a:tc>
                <a:tc>
                  <a:txBody>
                    <a:bodyPr lIns="27432" tIns="36576" bIns="18288"/>
                    <a:lstStyle/>
                    <a:p>
                      <a:r>
                        <a:rPr sz="800" b="1">
                          <a:solidFill>
                            <a:srgbClr val="FFFFFF"/>
                          </a:solidFill>
                          <a:latin typeface="Calibri"/>
                        </a:rPr>
                        <a:t>Probability</a:t>
                      </a:r>
                    </a:p>
                  </a:txBody>
                  <a:tcPr>
                    <a:solidFill>
                      <a:srgbClr val="1F4690"/>
                    </a:solidFill>
                  </a:tcPr>
                </a:tc>
                <a:tc>
                  <a:txBody>
                    <a:bodyPr lIns="27432" tIns="36576" bIns="18288"/>
                    <a:lstStyle/>
                    <a:p>
                      <a:r>
                        <a:rPr sz="800" b="1">
                          <a:solidFill>
                            <a:srgbClr val="FFFFFF"/>
                          </a:solidFill>
                          <a:latin typeface="Calibri"/>
                        </a:rPr>
                        <a:t>Target Price</a:t>
                      </a:r>
                    </a:p>
                  </a:txBody>
                  <a:tcPr>
                    <a:solidFill>
                      <a:srgbClr val="1F4690"/>
                    </a:solidFill>
                  </a:tcPr>
                </a:tc>
                <a:tc>
                  <a:txBody>
                    <a:bodyPr lIns="27432" tIns="36576" bIns="18288"/>
                    <a:lstStyle/>
                    <a:p>
                      <a:r>
                        <a:rPr sz="800" b="1">
                          <a:solidFill>
                            <a:srgbClr val="FFFFFF"/>
                          </a:solidFill>
                          <a:latin typeface="Calibri"/>
                        </a:rPr>
                        <a:t>Return vs. CMP</a:t>
                      </a:r>
                    </a:p>
                  </a:txBody>
                  <a:tcPr>
                    <a:solidFill>
                      <a:srgbClr val="1F4690"/>
                    </a:solidFill>
                  </a:tcPr>
                </a:tc>
                <a:tc>
                  <a:txBody>
                    <a:bodyPr lIns="27432" tIns="36576" bIns="18288"/>
                    <a:lstStyle/>
                    <a:p>
                      <a:r>
                        <a:rPr sz="800" b="1">
                          <a:solidFill>
                            <a:srgbClr val="FFFFFF"/>
                          </a:solidFill>
                          <a:latin typeface="Calibri"/>
                        </a:rPr>
                        <a:t>Key Assumption</a:t>
                      </a:r>
                    </a:p>
                  </a:txBody>
                  <a:tcPr>
                    <a:solidFill>
                      <a:srgbClr val="1F4690"/>
                    </a:solidFill>
                  </a:tcPr>
                </a:tc>
              </a:tr>
              <a:tr h="292608">
                <a:tc>
                  <a:txBody>
                    <a:bodyPr lIns="27432" tIns="18288" bIns="18288"/>
                    <a:lstStyle/>
                    <a:p>
                      <a:r>
                        <a:rPr sz="800" b="0">
                          <a:solidFill>
                            <a:srgbClr val="111111"/>
                          </a:solidFill>
                          <a:latin typeface="Calibri"/>
                        </a:rPr>
                        <a:t>Bull Case</a:t>
                      </a:r>
                    </a:p>
                  </a:txBody>
                  <a:tcPr>
                    <a:solidFill>
                      <a:srgbClr val="FFFFFF"/>
                    </a:solidFill>
                  </a:tcPr>
                </a:tc>
                <a:tc>
                  <a:txBody>
                    <a:bodyPr lIns="27432" tIns="18288" bIns="18288"/>
                    <a:lstStyle/>
                    <a:p>
                      <a:r>
                        <a:rPr sz="800" b="0">
                          <a:solidFill>
                            <a:srgbClr val="111111"/>
                          </a:solidFill>
                          <a:latin typeface="Calibri"/>
                        </a:rPr>
                        <a:t>30%</a:t>
                      </a:r>
                    </a:p>
                  </a:txBody>
                  <a:tcPr>
                    <a:solidFill>
                      <a:srgbClr val="FFFFFF"/>
                    </a:solidFill>
                  </a:tcPr>
                </a:tc>
                <a:tc>
                  <a:txBody>
                    <a:bodyPr lIns="27432" tIns="18288" bIns="18288"/>
                    <a:lstStyle/>
                    <a:p>
                      <a:r>
                        <a:rPr sz="800" b="0">
                          <a:solidFill>
                            <a:srgbClr val="111111"/>
                          </a:solidFill>
                          <a:latin typeface="Calibri"/>
                        </a:rPr>
                        <a:t>₹1,400</a:t>
                      </a:r>
                    </a:p>
                  </a:txBody>
                  <a:tcPr>
                    <a:solidFill>
                      <a:srgbClr val="FFFFFF"/>
                    </a:solidFill>
                  </a:tcPr>
                </a:tc>
                <a:tc>
                  <a:txBody>
                    <a:bodyPr lIns="27432" tIns="18288" bIns="18288"/>
                    <a:lstStyle/>
                    <a:p>
                      <a:r>
                        <a:rPr sz="800" b="0">
                          <a:solidFill>
                            <a:srgbClr val="111111"/>
                          </a:solidFill>
                          <a:latin typeface="Calibri"/>
                        </a:rPr>
                        <a:t>+70.1%</a:t>
                      </a:r>
                    </a:p>
                  </a:txBody>
                  <a:tcPr>
                    <a:solidFill>
                      <a:srgbClr val="FFFFFF"/>
                    </a:solidFill>
                  </a:tcPr>
                </a:tc>
                <a:tc>
                  <a:txBody>
                    <a:bodyPr lIns="27432" tIns="18288" bIns="18288"/>
                    <a:lstStyle/>
                    <a:p>
                      <a:r>
                        <a:rPr sz="800" b="0">
                          <a:solidFill>
                            <a:srgbClr val="111111"/>
                          </a:solidFill>
                          <a:latin typeface="Calibri"/>
                        </a:rPr>
                        <a:t>ARR &gt; 70%, AMC AUM +40% YoY, regulatory clarity.</a:t>
                      </a:r>
                    </a:p>
                  </a:txBody>
                  <a:tcPr>
                    <a:solidFill>
                      <a:srgbClr val="FFFFFF"/>
                    </a:solidFill>
                  </a:tcPr>
                </a:tc>
              </a:tr>
              <a:tr h="292608">
                <a:tc>
                  <a:txBody>
                    <a:bodyPr lIns="27432" tIns="18288" bIns="18288"/>
                    <a:lstStyle/>
                    <a:p>
                      <a:r>
                        <a:rPr sz="800" b="1">
                          <a:solidFill>
                            <a:srgbClr val="1F4690"/>
                          </a:solidFill>
                          <a:latin typeface="Calibri"/>
                        </a:rPr>
                        <a:t>Base Case</a:t>
                      </a:r>
                    </a:p>
                  </a:txBody>
                  <a:tcPr>
                    <a:solidFill>
                      <a:srgbClr val="FFF7E0"/>
                    </a:solidFill>
                  </a:tcPr>
                </a:tc>
                <a:tc>
                  <a:txBody>
                    <a:bodyPr lIns="27432" tIns="18288" bIns="18288"/>
                    <a:lstStyle/>
                    <a:p>
                      <a:r>
                        <a:rPr sz="800" b="1">
                          <a:solidFill>
                            <a:srgbClr val="1F4690"/>
                          </a:solidFill>
                          <a:latin typeface="Calibri"/>
                        </a:rPr>
                        <a:t>50%</a:t>
                      </a:r>
                    </a:p>
                  </a:txBody>
                  <a:tcPr>
                    <a:solidFill>
                      <a:srgbClr val="FFF7E0"/>
                    </a:solidFill>
                  </a:tcPr>
                </a:tc>
                <a:tc>
                  <a:txBody>
                    <a:bodyPr lIns="27432" tIns="18288" bIns="18288"/>
                    <a:lstStyle/>
                    <a:p>
                      <a:r>
                        <a:rPr sz="800" b="1">
                          <a:solidFill>
                            <a:srgbClr val="1F4690"/>
                          </a:solidFill>
                          <a:latin typeface="Calibri"/>
                        </a:rPr>
                        <a:t>₹1,127</a:t>
                      </a:r>
                    </a:p>
                  </a:txBody>
                  <a:tcPr>
                    <a:solidFill>
                      <a:srgbClr val="FFF7E0"/>
                    </a:solidFill>
                  </a:tcPr>
                </a:tc>
                <a:tc>
                  <a:txBody>
                    <a:bodyPr lIns="27432" tIns="18288" bIns="18288"/>
                    <a:lstStyle/>
                    <a:p>
                      <a:r>
                        <a:rPr sz="800" b="1">
                          <a:solidFill>
                            <a:srgbClr val="1F4690"/>
                          </a:solidFill>
                          <a:latin typeface="Calibri"/>
                        </a:rPr>
                        <a:t>+37.0%</a:t>
                      </a:r>
                    </a:p>
                  </a:txBody>
                  <a:tcPr>
                    <a:solidFill>
                      <a:srgbClr val="FFF7E0"/>
                    </a:solidFill>
                  </a:tcPr>
                </a:tc>
                <a:tc>
                  <a:txBody>
                    <a:bodyPr lIns="27432" tIns="18288" bIns="18288"/>
                    <a:lstStyle/>
                    <a:p>
                      <a:r>
                        <a:rPr sz="800" b="1">
                          <a:solidFill>
                            <a:srgbClr val="1F4690"/>
                          </a:solidFill>
                          <a:latin typeface="Calibri"/>
                        </a:rPr>
                        <a:t>ARR steady at 65%, AUM compounding, stable regulation.</a:t>
                      </a:r>
                    </a:p>
                  </a:txBody>
                  <a:tcPr>
                    <a:solidFill>
                      <a:srgbClr val="FFF7E0"/>
                    </a:solidFill>
                  </a:tcPr>
                </a:tc>
              </a:tr>
              <a:tr h="292608">
                <a:tc>
                  <a:txBody>
                    <a:bodyPr lIns="27432" tIns="18288" bIns="18288"/>
                    <a:lstStyle/>
                    <a:p>
                      <a:r>
                        <a:rPr sz="800" b="0">
                          <a:solidFill>
                            <a:srgbClr val="111111"/>
                          </a:solidFill>
                          <a:latin typeface="Calibri"/>
                        </a:rPr>
                        <a:t>Bear Case</a:t>
                      </a:r>
                    </a:p>
                  </a:txBody>
                  <a:tcPr>
                    <a:solidFill>
                      <a:srgbClr val="FFFFFF"/>
                    </a:solidFill>
                  </a:tcPr>
                </a:tc>
                <a:tc>
                  <a:txBody>
                    <a:bodyPr lIns="27432" tIns="18288" bIns="18288"/>
                    <a:lstStyle/>
                    <a:p>
                      <a:r>
                        <a:rPr sz="800" b="0">
                          <a:solidFill>
                            <a:srgbClr val="111111"/>
                          </a:solidFill>
                          <a:latin typeface="Calibri"/>
                        </a:rPr>
                        <a:t>20%</a:t>
                      </a:r>
                    </a:p>
                  </a:txBody>
                  <a:tcPr>
                    <a:solidFill>
                      <a:srgbClr val="FFFFFF"/>
                    </a:solidFill>
                  </a:tcPr>
                </a:tc>
                <a:tc>
                  <a:txBody>
                    <a:bodyPr lIns="27432" tIns="18288" bIns="18288"/>
                    <a:lstStyle/>
                    <a:p>
                      <a:r>
                        <a:rPr sz="800" b="0">
                          <a:solidFill>
                            <a:srgbClr val="111111"/>
                          </a:solidFill>
                          <a:latin typeface="Calibri"/>
                        </a:rPr>
                        <a:t>₹630</a:t>
                      </a:r>
                    </a:p>
                  </a:txBody>
                  <a:tcPr>
                    <a:solidFill>
                      <a:srgbClr val="FFFFFF"/>
                    </a:solidFill>
                  </a:tcPr>
                </a:tc>
                <a:tc>
                  <a:txBody>
                    <a:bodyPr lIns="27432" tIns="18288" bIns="18288"/>
                    <a:lstStyle/>
                    <a:p>
                      <a:r>
                        <a:rPr sz="800" b="0">
                          <a:solidFill>
                            <a:srgbClr val="111111"/>
                          </a:solidFill>
                          <a:latin typeface="Calibri"/>
                        </a:rPr>
                        <a:t>-23.4%</a:t>
                      </a:r>
                    </a:p>
                  </a:txBody>
                  <a:tcPr>
                    <a:solidFill>
                      <a:srgbClr val="FFFFFF"/>
                    </a:solidFill>
                  </a:tcPr>
                </a:tc>
                <a:tc>
                  <a:txBody>
                    <a:bodyPr lIns="27432" tIns="18288" bIns="18288"/>
                    <a:lstStyle/>
                    <a:p>
                      <a:r>
                        <a:rPr sz="800" b="0">
                          <a:solidFill>
                            <a:srgbClr val="111111"/>
                          </a:solidFill>
                          <a:latin typeface="Calibri"/>
                        </a:rPr>
                        <a:t>Sustained F&amp;O headwinds, fintech share loss.</a:t>
                      </a:r>
                    </a:p>
                  </a:txBody>
                  <a:tcPr>
                    <a:solidFill>
                      <a:srgbClr val="FFFFFF"/>
                    </a:solidFill>
                  </a:tcPr>
                </a:tc>
              </a:tr>
              <a:tr h="292608">
                <a:tc>
                  <a:txBody>
                    <a:bodyPr lIns="27432" tIns="18288" bIns="18288"/>
                    <a:lstStyle/>
                    <a:p>
                      <a:r>
                        <a:rPr sz="800" b="0">
                          <a:solidFill>
                            <a:srgbClr val="111111"/>
                          </a:solidFill>
                          <a:latin typeface="Calibri"/>
                        </a:rPr>
                        <a:t>Prob. Weighted Avg.</a:t>
                      </a:r>
                    </a:p>
                  </a:txBody>
                  <a:tcPr>
                    <a:solidFill>
                      <a:srgbClr val="F5F7FA"/>
                    </a:solidFill>
                  </a:tcPr>
                </a:tc>
                <a:tc>
                  <a:txBody>
                    <a:bodyPr lIns="27432" tIns="18288" bIns="18288"/>
                    <a:lstStyle/>
                    <a:p>
                      <a:r>
                        <a:rPr sz="800" b="0">
                          <a:solidFill>
                            <a:srgbClr val="111111"/>
                          </a:solidFill>
                          <a:latin typeface="Calibri"/>
                        </a:rPr>
                        <a:t>100%</a:t>
                      </a:r>
                    </a:p>
                  </a:txBody>
                  <a:tcPr>
                    <a:solidFill>
                      <a:srgbClr val="F5F7FA"/>
                    </a:solidFill>
                  </a:tcPr>
                </a:tc>
                <a:tc>
                  <a:txBody>
                    <a:bodyPr lIns="27432" tIns="18288" bIns="18288"/>
                    <a:lstStyle/>
                    <a:p>
                      <a:r>
                        <a:rPr sz="800" b="0">
                          <a:solidFill>
                            <a:srgbClr val="111111"/>
                          </a:solidFill>
                          <a:latin typeface="Calibri"/>
                        </a:rPr>
                        <a:t>₹1,109</a:t>
                      </a:r>
                    </a:p>
                  </a:txBody>
                  <a:tcPr>
                    <a:solidFill>
                      <a:srgbClr val="F5F7FA"/>
                    </a:solidFill>
                  </a:tcPr>
                </a:tc>
                <a:tc>
                  <a:txBody>
                    <a:bodyPr lIns="27432" tIns="18288" bIns="18288"/>
                    <a:lstStyle/>
                    <a:p>
                      <a:r>
                        <a:rPr sz="800" b="0">
                          <a:solidFill>
                            <a:srgbClr val="111111"/>
                          </a:solidFill>
                          <a:latin typeface="Calibri"/>
                        </a:rPr>
                        <a:t>+34.8%</a:t>
                      </a:r>
                    </a:p>
                  </a:txBody>
                  <a:tcPr>
                    <a:solidFill>
                      <a:srgbClr val="F5F7FA"/>
                    </a:solidFill>
                  </a:tcPr>
                </a:tc>
                <a:tc>
                  <a:txBody>
                    <a:bodyPr lIns="27432" tIns="18288" bIns="18288"/>
                    <a:lstStyle/>
                    <a:p>
                      <a:r>
                        <a:rPr sz="800" b="0">
                          <a:solidFill>
                            <a:srgbClr val="111111"/>
                          </a:solidFill>
                          <a:latin typeface="Calibri"/>
                        </a:rPr>
                        <a:t>Blended scenario</a:t>
                      </a:r>
                    </a:p>
                  </a:txBody>
                  <a:tcPr>
                    <a:solidFill>
                      <a:srgbClr val="F5F7FA"/>
                    </a:solidFill>
                  </a:tcPr>
                </a:tc>
              </a:tr>
            </a:tbl>
          </a:graphicData>
        </a:graphic>
      </p:graphicFrame>
      <p:sp>
        <p:nvSpPr>
          <p:cNvPr id="21" name="TextBox 20"/>
          <p:cNvSpPr txBox="1"/>
          <p:nvPr/>
        </p:nvSpPr>
        <p:spPr>
          <a:xfrm>
            <a:off x="7516368" y="1078992"/>
            <a:ext cx="4315968" cy="182880"/>
          </a:xfrm>
          <a:prstGeom prst="rect">
            <a:avLst/>
          </a:prstGeom>
          <a:noFill/>
        </p:spPr>
        <p:txBody>
          <a:bodyPr wrap="square" lIns="36576" rIns="36576" tIns="9144" bIns="9144">
            <a:spAutoFit/>
          </a:bodyPr>
          <a:lstStyle/>
          <a:p>
            <a:r>
              <a:rPr sz="1000" b="1">
                <a:solidFill>
                  <a:srgbClr val="1F4690"/>
                </a:solidFill>
                <a:latin typeface="Calibri"/>
              </a:rPr>
              <a:t>Scenario Targets</a:t>
            </a:r>
          </a:p>
        </p:txBody>
      </p:sp>
      <p:sp>
        <p:nvSpPr>
          <p:cNvPr id="22" name="Rounded Rectangle 21"/>
          <p:cNvSpPr/>
          <p:nvPr/>
        </p:nvSpPr>
        <p:spPr>
          <a:xfrm>
            <a:off x="7516368"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16368" y="1335024"/>
            <a:ext cx="1383791" cy="2194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2"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BEAR CASE</a:t>
            </a:r>
          </a:p>
        </p:txBody>
      </p:sp>
      <p:sp>
        <p:nvSpPr>
          <p:cNvPr id="25" name="TextBox 24"/>
          <p:cNvSpPr txBox="1"/>
          <p:nvPr/>
        </p:nvSpPr>
        <p:spPr>
          <a:xfrm>
            <a:off x="7571232" y="1572768"/>
            <a:ext cx="1274063" cy="292608"/>
          </a:xfrm>
          <a:prstGeom prst="rect">
            <a:avLst/>
          </a:prstGeom>
          <a:noFill/>
        </p:spPr>
        <p:txBody>
          <a:bodyPr wrap="square" lIns="36576" rIns="36576" tIns="9144" bIns="9144">
            <a:spAutoFit/>
          </a:bodyPr>
          <a:lstStyle/>
          <a:p>
            <a:pPr algn="ctr"/>
            <a:r>
              <a:rPr sz="1800" b="1">
                <a:solidFill>
                  <a:srgbClr val="B91C1C"/>
                </a:solidFill>
                <a:latin typeface="Calibri"/>
              </a:rPr>
              <a:t>₹630</a:t>
            </a:r>
          </a:p>
        </p:txBody>
      </p:sp>
      <p:sp>
        <p:nvSpPr>
          <p:cNvPr id="26" name="TextBox 25"/>
          <p:cNvSpPr txBox="1"/>
          <p:nvPr/>
        </p:nvSpPr>
        <p:spPr>
          <a:xfrm>
            <a:off x="7571232" y="1874519"/>
            <a:ext cx="1274063" cy="182880"/>
          </a:xfrm>
          <a:prstGeom prst="rect">
            <a:avLst/>
          </a:prstGeom>
          <a:noFill/>
        </p:spPr>
        <p:txBody>
          <a:bodyPr wrap="square" lIns="36576" rIns="36576" tIns="9144" bIns="9144">
            <a:spAutoFit/>
          </a:bodyPr>
          <a:lstStyle/>
          <a:p>
            <a:pPr algn="ctr"/>
            <a:r>
              <a:rPr sz="900" b="1">
                <a:solidFill>
                  <a:srgbClr val="B91C1C"/>
                </a:solidFill>
                <a:latin typeface="Calibri"/>
              </a:rPr>
              <a:t>-23.4% vs CMP</a:t>
            </a:r>
          </a:p>
        </p:txBody>
      </p:sp>
      <p:sp>
        <p:nvSpPr>
          <p:cNvPr id="27" name="TextBox 26"/>
          <p:cNvSpPr txBox="1"/>
          <p:nvPr/>
        </p:nvSpPr>
        <p:spPr>
          <a:xfrm>
            <a:off x="7571232" y="2103120"/>
            <a:ext cx="1274063" cy="960119"/>
          </a:xfrm>
          <a:prstGeom prst="rect">
            <a:avLst/>
          </a:prstGeom>
          <a:noFill/>
        </p:spPr>
        <p:txBody>
          <a:bodyPr wrap="square" lIns="36576" rIns="36576" tIns="9144" bIns="9144">
            <a:spAutoFit/>
          </a:bodyPr>
          <a:lstStyle/>
          <a:p>
            <a:r>
              <a:rPr sz="800" b="0">
                <a:solidFill>
                  <a:srgbClr val="111111"/>
                </a:solidFill>
                <a:latin typeface="Calibri"/>
              </a:rPr>
              <a:t>Sustained F&amp;O headwinds, fintech share loss.</a:t>
            </a:r>
          </a:p>
        </p:txBody>
      </p:sp>
      <p:sp>
        <p:nvSpPr>
          <p:cNvPr id="28" name="Rounded Rectangle 27"/>
          <p:cNvSpPr/>
          <p:nvPr/>
        </p:nvSpPr>
        <p:spPr>
          <a:xfrm>
            <a:off x="8973312"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73312" y="1335024"/>
            <a:ext cx="1383791" cy="2194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28176"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BASE CASE</a:t>
            </a:r>
          </a:p>
        </p:txBody>
      </p:sp>
      <p:sp>
        <p:nvSpPr>
          <p:cNvPr id="31" name="TextBox 30"/>
          <p:cNvSpPr txBox="1"/>
          <p:nvPr/>
        </p:nvSpPr>
        <p:spPr>
          <a:xfrm>
            <a:off x="9028176" y="1572768"/>
            <a:ext cx="1274063" cy="292608"/>
          </a:xfrm>
          <a:prstGeom prst="rect">
            <a:avLst/>
          </a:prstGeom>
          <a:noFill/>
        </p:spPr>
        <p:txBody>
          <a:bodyPr wrap="square" lIns="36576" rIns="36576" tIns="9144" bIns="9144">
            <a:spAutoFit/>
          </a:bodyPr>
          <a:lstStyle/>
          <a:p>
            <a:pPr algn="ctr"/>
            <a:r>
              <a:rPr sz="1800" b="1">
                <a:solidFill>
                  <a:srgbClr val="8A5C00"/>
                </a:solidFill>
                <a:latin typeface="Calibri"/>
              </a:rPr>
              <a:t>₹1,127</a:t>
            </a:r>
          </a:p>
        </p:txBody>
      </p:sp>
      <p:sp>
        <p:nvSpPr>
          <p:cNvPr id="32" name="TextBox 31"/>
          <p:cNvSpPr txBox="1"/>
          <p:nvPr/>
        </p:nvSpPr>
        <p:spPr>
          <a:xfrm>
            <a:off x="9028176" y="1874519"/>
            <a:ext cx="1274063" cy="182880"/>
          </a:xfrm>
          <a:prstGeom prst="rect">
            <a:avLst/>
          </a:prstGeom>
          <a:noFill/>
        </p:spPr>
        <p:txBody>
          <a:bodyPr wrap="square" lIns="36576" rIns="36576" tIns="9144" bIns="9144">
            <a:spAutoFit/>
          </a:bodyPr>
          <a:lstStyle/>
          <a:p>
            <a:pPr algn="ctr"/>
            <a:r>
              <a:rPr sz="900" b="1">
                <a:solidFill>
                  <a:srgbClr val="8A5C00"/>
                </a:solidFill>
                <a:latin typeface="Calibri"/>
              </a:rPr>
              <a:t>+37.0% vs CMP</a:t>
            </a:r>
          </a:p>
        </p:txBody>
      </p:sp>
      <p:sp>
        <p:nvSpPr>
          <p:cNvPr id="33" name="TextBox 32"/>
          <p:cNvSpPr txBox="1"/>
          <p:nvPr/>
        </p:nvSpPr>
        <p:spPr>
          <a:xfrm>
            <a:off x="9028176" y="2103120"/>
            <a:ext cx="1274063" cy="960119"/>
          </a:xfrm>
          <a:prstGeom prst="rect">
            <a:avLst/>
          </a:prstGeom>
          <a:noFill/>
        </p:spPr>
        <p:txBody>
          <a:bodyPr wrap="square" lIns="36576" rIns="36576" tIns="9144" bIns="9144">
            <a:spAutoFit/>
          </a:bodyPr>
          <a:lstStyle/>
          <a:p>
            <a:r>
              <a:rPr sz="800" b="0">
                <a:solidFill>
                  <a:srgbClr val="111111"/>
                </a:solidFill>
                <a:latin typeface="Calibri"/>
              </a:rPr>
              <a:t>ARR steady at 65%, AUM compounding, stable regulation.</a:t>
            </a:r>
          </a:p>
        </p:txBody>
      </p:sp>
      <p:sp>
        <p:nvSpPr>
          <p:cNvPr id="34" name="Rounded Rectangle 33"/>
          <p:cNvSpPr/>
          <p:nvPr/>
        </p:nvSpPr>
        <p:spPr>
          <a:xfrm>
            <a:off x="10430256"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30256" y="1335024"/>
            <a:ext cx="1383791" cy="2194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85120"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BULL CASE</a:t>
            </a:r>
          </a:p>
        </p:txBody>
      </p:sp>
      <p:sp>
        <p:nvSpPr>
          <p:cNvPr id="37" name="TextBox 36"/>
          <p:cNvSpPr txBox="1"/>
          <p:nvPr/>
        </p:nvSpPr>
        <p:spPr>
          <a:xfrm>
            <a:off x="10485120" y="1572768"/>
            <a:ext cx="1274063" cy="292608"/>
          </a:xfrm>
          <a:prstGeom prst="rect">
            <a:avLst/>
          </a:prstGeom>
          <a:noFill/>
        </p:spPr>
        <p:txBody>
          <a:bodyPr wrap="square" lIns="36576" rIns="36576" tIns="9144" bIns="9144">
            <a:spAutoFit/>
          </a:bodyPr>
          <a:lstStyle/>
          <a:p>
            <a:pPr algn="ctr"/>
            <a:r>
              <a:rPr sz="1800" b="1">
                <a:solidFill>
                  <a:srgbClr val="1A7A4A"/>
                </a:solidFill>
                <a:latin typeface="Calibri"/>
              </a:rPr>
              <a:t>₹1,400</a:t>
            </a:r>
          </a:p>
        </p:txBody>
      </p:sp>
      <p:sp>
        <p:nvSpPr>
          <p:cNvPr id="38" name="TextBox 37"/>
          <p:cNvSpPr txBox="1"/>
          <p:nvPr/>
        </p:nvSpPr>
        <p:spPr>
          <a:xfrm>
            <a:off x="10485120" y="1874519"/>
            <a:ext cx="1274063" cy="182880"/>
          </a:xfrm>
          <a:prstGeom prst="rect">
            <a:avLst/>
          </a:prstGeom>
          <a:noFill/>
        </p:spPr>
        <p:txBody>
          <a:bodyPr wrap="square" lIns="36576" rIns="36576" tIns="9144" bIns="9144">
            <a:spAutoFit/>
          </a:bodyPr>
          <a:lstStyle/>
          <a:p>
            <a:pPr algn="ctr"/>
            <a:r>
              <a:rPr sz="900" b="1">
                <a:solidFill>
                  <a:srgbClr val="1A7A4A"/>
                </a:solidFill>
                <a:latin typeface="Calibri"/>
              </a:rPr>
              <a:t>+70.1% vs CMP</a:t>
            </a:r>
          </a:p>
        </p:txBody>
      </p:sp>
      <p:sp>
        <p:nvSpPr>
          <p:cNvPr id="39" name="TextBox 38"/>
          <p:cNvSpPr txBox="1"/>
          <p:nvPr/>
        </p:nvSpPr>
        <p:spPr>
          <a:xfrm>
            <a:off x="10485120" y="2103120"/>
            <a:ext cx="1274063" cy="960119"/>
          </a:xfrm>
          <a:prstGeom prst="rect">
            <a:avLst/>
          </a:prstGeom>
          <a:noFill/>
        </p:spPr>
        <p:txBody>
          <a:bodyPr wrap="square" lIns="36576" rIns="36576" tIns="9144" bIns="9144">
            <a:spAutoFit/>
          </a:bodyPr>
          <a:lstStyle/>
          <a:p>
            <a:r>
              <a:rPr sz="800" b="0">
                <a:solidFill>
                  <a:srgbClr val="111111"/>
                </a:solidFill>
                <a:latin typeface="Calibri"/>
              </a:rPr>
              <a:t>ARR &gt; 70%, AMC AUM +40% YoY, regulatory clarity.</a:t>
            </a:r>
          </a:p>
        </p:txBody>
      </p:sp>
      <p:sp>
        <p:nvSpPr>
          <p:cNvPr id="40" name="Rounded Rectangle 39"/>
          <p:cNvSpPr/>
          <p:nvPr/>
        </p:nvSpPr>
        <p:spPr>
          <a:xfrm>
            <a:off x="7516368" y="3209544"/>
            <a:ext cx="4315968" cy="146304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16368" y="3246120"/>
            <a:ext cx="32004" cy="13898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7808" y="3264408"/>
            <a:ext cx="4169663" cy="164592"/>
          </a:xfrm>
          <a:prstGeom prst="rect">
            <a:avLst/>
          </a:prstGeom>
          <a:noFill/>
        </p:spPr>
        <p:txBody>
          <a:bodyPr wrap="square" lIns="36576" rIns="36576" tIns="9144" bIns="9144">
            <a:spAutoFit/>
          </a:bodyPr>
          <a:lstStyle/>
          <a:p>
            <a:r>
              <a:rPr sz="900" b="1">
                <a:solidFill>
                  <a:srgbClr val="1F4690"/>
                </a:solidFill>
                <a:latin typeface="Calibri"/>
              </a:rPr>
              <a:t>Valuation Conviction: Why 37% Upside Is Conservative</a:t>
            </a:r>
          </a:p>
        </p:txBody>
      </p:sp>
      <p:sp>
        <p:nvSpPr>
          <p:cNvPr id="43" name="TextBox 42"/>
          <p:cNvSpPr txBox="1"/>
          <p:nvPr/>
        </p:nvSpPr>
        <p:spPr>
          <a:xfrm>
            <a:off x="7607808" y="3447288"/>
            <a:ext cx="4169663" cy="1170432"/>
          </a:xfrm>
          <a:prstGeom prst="rect">
            <a:avLst/>
          </a:prstGeom>
          <a:noFill/>
        </p:spPr>
        <p:txBody>
          <a:bodyPr wrap="square" lIns="36576" rIns="36576" tIns="9144" bIns="9144">
            <a:spAutoFit/>
          </a:bodyPr>
          <a:lstStyle/>
          <a:p>
            <a:r>
              <a:rPr sz="800" b="0">
                <a:solidFill>
                  <a:srgbClr val="111111"/>
                </a:solidFill>
                <a:latin typeface="Calibri"/>
              </a:rPr>
              <a:t>At a P/E of 24.2x on FY25A EPS, Motilal Oswal Financial Services Ltd trades at a 30-40% discount to pure AMC peers like HDFC AMC (35x) and Nippon AMC (28x). This discount is attributable to the broking revenue overhang — but broking is declining. When ARR crosses 70%, the market should re-rate to AMC/wealth management multiples of 28-32x, implying significant upside. Our ₹1,127 base case is conse…</a:t>
            </a:r>
          </a:p>
        </p:txBody>
      </p:sp>
      <p:sp>
        <p:nvSpPr>
          <p:cNvPr id="44" name="Rounded Rectangle 43"/>
          <p:cNvSpPr/>
          <p:nvPr/>
        </p:nvSpPr>
        <p:spPr>
          <a:xfrm>
            <a:off x="7516368" y="4764024"/>
            <a:ext cx="4315968" cy="137160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516368" y="4800600"/>
            <a:ext cx="32004" cy="129844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07808" y="4818888"/>
            <a:ext cx="4169663" cy="164592"/>
          </a:xfrm>
          <a:prstGeom prst="rect">
            <a:avLst/>
          </a:prstGeom>
          <a:noFill/>
        </p:spPr>
        <p:txBody>
          <a:bodyPr wrap="square" lIns="36576" rIns="36576" tIns="9144" bIns="9144">
            <a:spAutoFit/>
          </a:bodyPr>
          <a:lstStyle/>
          <a:p>
            <a:r>
              <a:rPr sz="900" b="1">
                <a:solidFill>
                  <a:srgbClr val="1F4690"/>
                </a:solidFill>
                <a:latin typeface="Calibri"/>
              </a:rPr>
              <a:t>Entry Strategy: INR 800-850 Is Optimal Range</a:t>
            </a:r>
          </a:p>
        </p:txBody>
      </p:sp>
      <p:sp>
        <p:nvSpPr>
          <p:cNvPr id="47" name="TextBox 46"/>
          <p:cNvSpPr txBox="1"/>
          <p:nvPr/>
        </p:nvSpPr>
        <p:spPr>
          <a:xfrm>
            <a:off x="7607808" y="5001768"/>
            <a:ext cx="4169663" cy="1078992"/>
          </a:xfrm>
          <a:prstGeom prst="rect">
            <a:avLst/>
          </a:prstGeom>
          <a:noFill/>
        </p:spPr>
        <p:txBody>
          <a:bodyPr wrap="square" lIns="36576" rIns="36576" tIns="9144" bIns="9144">
            <a:spAutoFit/>
          </a:bodyPr>
          <a:lstStyle/>
          <a:p>
            <a:r>
              <a:rPr sz="800" b="0">
                <a:solidFill>
                  <a:srgbClr val="111111"/>
                </a:solidFill>
                <a:latin typeface="Calibri"/>
              </a:rPr>
              <a:t>The INR 800-850 entry range (current CMP ₹823) represents a 15-20% discount to analyst consensus target. 15-20% discount to analyst consensus target — margin of safety. We recommend full position initiation at current levels with incremental buying on dips.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Peer Positioning</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Peer Positioning</a:t>
            </a:r>
          </a:p>
        </p:txBody>
      </p:sp>
      <p:sp>
        <p:nvSpPr>
          <p:cNvPr id="15" name="TextBox 14"/>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MOFSL is transitioning from pure brokerage to asset management multiples as revenue mix shifts. This transformation differentiates the company from pure-play brokers while positioning it alongside higher-quality asset managers. The company's integrated model combining capital markets, asset management, and wealth management creates a unique competitive position with cross-selling advantages and broader client coverage compared to specialized peers. This integrated approach allows MOFSL to capture more wallet share across client segments.</a:t>
            </a:r>
          </a:p>
        </p:txBody>
      </p:sp>
      <p:sp>
        <p:nvSpPr>
          <p:cNvPr id="16" name="TextBox 15"/>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Competitive advantage: Research-led approach differentiates MOFSL from transaction-oriented discount brokers</a:t>
            </a:r>
          </a:p>
          <a:p>
            <a:pPr>
              <a:spcAft>
                <a:spcPts val="400"/>
              </a:spcAft>
            </a:pPr>
            <a:r>
              <a:rPr sz="1200" b="0">
                <a:solidFill>
                  <a:srgbClr val="111111"/>
                </a:solidFill>
                <a:latin typeface="Calibri"/>
              </a:rPr>
              <a:t>•  Operational scale: Branch network provides distribution reach exceeding most peers in the wealth segment</a:t>
            </a:r>
          </a:p>
          <a:p>
            <a:pPr>
              <a:spcAft>
                <a:spcPts val="400"/>
              </a:spcAft>
            </a:pPr>
            <a:r>
              <a:rPr sz="1200" b="0">
                <a:solidFill>
                  <a:srgbClr val="111111"/>
                </a:solidFill>
                <a:latin typeface="Calibri"/>
              </a:rPr>
              <a:t>•  Product diversity: Broader product suite across asset classes compared to specialized competitors</a:t>
            </a:r>
          </a:p>
          <a:p>
            <a:pPr>
              <a:spcAft>
                <a:spcPts val="400"/>
              </a:spcAft>
            </a:pPr>
            <a:r>
              <a:rPr sz="1200" b="0">
                <a:solidFill>
                  <a:srgbClr val="111111"/>
                </a:solidFill>
                <a:latin typeface="Calibri"/>
              </a:rPr>
              <a:t>•  Valuation trajectory: Moving from broker multiples toward asset management valuations as annuity revenues increase</a:t>
            </a:r>
          </a:p>
          <a:p>
            <a:pPr>
              <a:spcAft>
                <a:spcPts val="400"/>
              </a:spcAft>
            </a:pPr>
            <a:r>
              <a:rPr sz="1200" b="0">
                <a:solidFill>
                  <a:srgbClr val="111111"/>
                </a:solidFill>
                <a:latin typeface="Calibri"/>
              </a:rPr>
              <a:t>•  Client retention: Higher retention rates than industry average due to integrated service offering</a:t>
            </a:r>
          </a:p>
          <a:p>
            <a:pPr>
              <a:spcAft>
                <a:spcPts val="400"/>
              </a:spcAft>
            </a:pPr>
            <a:r>
              <a:rPr sz="1200" b="0">
                <a:solidFill>
                  <a:srgbClr val="111111"/>
                </a:solidFill>
                <a:latin typeface="Calibri"/>
              </a:rPr>
              <a:t>•  Growth profile: AUM growth outpacing industry average across both AMC and PWM segments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and Monitoring Points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and Monitoring Points</a:t>
            </a:r>
          </a:p>
        </p:txBody>
      </p:sp>
      <p:sp>
        <p:nvSpPr>
          <p:cNvPr id="15" name="TextBox 14"/>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Regulatory headwinds: Potential SEBI changes to F&amp;O trading norms could compress cyclical broking revenues</a:t>
            </a:r>
          </a:p>
          <a:p>
            <a:pPr>
              <a:spcAft>
                <a:spcPts val="400"/>
              </a:spcAft>
            </a:pPr>
            <a:r>
              <a:rPr sz="1200" b="0">
                <a:solidFill>
                  <a:srgbClr val="111111"/>
                </a:solidFill>
                <a:latin typeface="Calibri"/>
              </a:rPr>
              <a:t>•  Residual cyclicality: Despite increasing annuity revenue, the business retains exposure to market cycles as demonstrated by recent quarterly volatility</a:t>
            </a:r>
          </a:p>
          <a:p>
            <a:pPr>
              <a:spcAft>
                <a:spcPts val="400"/>
              </a:spcAft>
            </a:pPr>
            <a:r>
              <a:rPr sz="1200" b="0">
                <a:solidFill>
                  <a:srgbClr val="111111"/>
                </a:solidFill>
                <a:latin typeface="Calibri"/>
              </a:rPr>
              <a:t>•  Competitive intensity: Discount brokers and fintech platforms could pressure yields across business segments</a:t>
            </a:r>
          </a:p>
          <a:p>
            <a:pPr>
              <a:spcAft>
                <a:spcPts val="400"/>
              </a:spcAft>
            </a:pPr>
            <a:r>
              <a:rPr sz="1200" b="0">
                <a:solidFill>
                  <a:srgbClr val="111111"/>
                </a:solidFill>
                <a:latin typeface="Calibri"/>
              </a:rPr>
              <a:t>•  Governance concerns: Recurring SEBI compliance matters require ongoing monitoring</a:t>
            </a:r>
          </a:p>
          <a:p>
            <a:pPr>
              <a:spcAft>
                <a:spcPts val="400"/>
              </a:spcAft>
            </a:pPr>
            <a:r>
              <a:rPr sz="1200" b="0">
                <a:solidFill>
                  <a:srgbClr val="111111"/>
                </a:solidFill>
                <a:latin typeface="Calibri"/>
              </a:rPr>
              <a:t>•  Mark-to-market volatility: Proprietary investment book creates earnings volatility during market corrections</a:t>
            </a:r>
          </a:p>
          <a:p>
            <a:pPr>
              <a:spcAft>
                <a:spcPts val="400"/>
              </a:spcAft>
            </a:pPr>
            <a:r>
              <a:rPr sz="1200" b="0">
                <a:solidFill>
                  <a:srgbClr val="111111"/>
                </a:solidFill>
                <a:latin typeface="Calibri"/>
              </a:rPr>
              <a:t>•  Housing finance risk: Potential asset quality deterioration in stressed credit cycles could impact the housing finance vertical</a:t>
            </a:r>
          </a:p>
          <a:p>
            <a:pPr>
              <a:spcAft>
                <a:spcPts val="400"/>
              </a:spcAft>
            </a:pPr>
            <a:r>
              <a:rPr sz="1200" b="0">
                <a:solidFill>
                  <a:srgbClr val="111111"/>
                </a:solidFill>
                <a:latin typeface="Calibri"/>
              </a:rPr>
              <a:t>•  Fee compression: Industry-wide pressure on management fees could impact AMC and PWM margins</a:t>
            </a:r>
          </a:p>
          <a:p>
            <a:pPr>
              <a:spcAft>
                <a:spcPts val="400"/>
              </a:spcAft>
            </a:pPr>
            <a:r>
              <a:rPr sz="1200" b="0">
                <a:solidFill>
                  <a:srgbClr val="111111"/>
                </a:solidFill>
                <a:latin typeface="Calibri"/>
              </a:rPr>
              <a:t>•  Execution risk: Rapid scaling of wealth management capabilities could strain service quality and client retention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Trading Strategy and Key Triggers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Trading Strategy and Key Triggers</a:t>
            </a:r>
          </a:p>
        </p:txBody>
      </p:sp>
      <p:sp>
        <p:nvSpPr>
          <p:cNvPr id="15" name="Rounded Rectangle 14"/>
          <p:cNvSpPr/>
          <p:nvPr/>
        </p:nvSpPr>
        <p:spPr>
          <a:xfrm>
            <a:off x="457200" y="1417320"/>
            <a:ext cx="2737027" cy="86868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16" name="Rounded Rectangle 15"/>
          <p:cNvSpPr/>
          <p:nvPr/>
        </p:nvSpPr>
        <p:spPr>
          <a:xfrm>
            <a:off x="3303955" y="1417320"/>
            <a:ext cx="2737027" cy="86868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TARGET</a:t>
            </a:r>
          </a:p>
          <a:p>
            <a:pPr algn="ctr"/>
            <a:r>
              <a:rPr sz="1600" b="1">
                <a:solidFill>
                  <a:srgbClr val="1F4690"/>
                </a:solidFill>
                <a:latin typeface="Calibri"/>
              </a:rPr>
              <a:t>₹1,127.0</a:t>
            </a:r>
          </a:p>
        </p:txBody>
      </p:sp>
      <p:sp>
        <p:nvSpPr>
          <p:cNvPr id="17" name="Rounded Rectangle 16"/>
          <p:cNvSpPr/>
          <p:nvPr/>
        </p:nvSpPr>
        <p:spPr>
          <a:xfrm>
            <a:off x="6150711" y="1417320"/>
            <a:ext cx="2737027" cy="86868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
        <p:nvSpPr>
          <p:cNvPr id="18" name="Rounded Rectangle 17"/>
          <p:cNvSpPr/>
          <p:nvPr/>
        </p:nvSpPr>
        <p:spPr>
          <a:xfrm>
            <a:off x="8997467" y="1417320"/>
            <a:ext cx="2737027" cy="868680"/>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RATING</a:t>
            </a:r>
          </a:p>
          <a:p>
            <a:pPr algn="ctr"/>
            <a:r>
              <a:rPr sz="1600" b="1">
                <a:solidFill>
                  <a:srgbClr val="FFFFFF"/>
                </a:solidFill>
                <a:latin typeface="Calibri"/>
              </a:rPr>
              <a:t>BUY</a:t>
            </a:r>
          </a:p>
        </p:txBody>
      </p:sp>
      <p:sp>
        <p:nvSpPr>
          <p:cNvPr id="19" name="TextBox 18"/>
          <p:cNvSpPr txBox="1"/>
          <p:nvPr/>
        </p:nvSpPr>
        <p:spPr>
          <a:xfrm>
            <a:off x="457200" y="2423160"/>
            <a:ext cx="5486400" cy="4023360"/>
          </a:xfrm>
          <a:prstGeom prst="rect">
            <a:avLst/>
          </a:prstGeom>
          <a:noFill/>
        </p:spPr>
        <p:txBody>
          <a:bodyPr wrap="square" anchor="t" lIns="45720" rIns="45720" tIns="18288" bIns="18288">
            <a:spAutoFit/>
          </a:bodyPr>
          <a:lstStyle/>
          <a:p>
            <a:r>
              <a:rPr sz="1200" b="0">
                <a:solidFill>
                  <a:srgbClr val="111111"/>
                </a:solidFill>
                <a:latin typeface="Calibri"/>
              </a:rPr>
              <a:t>We recommend initiating positions at current levels with a multi-year investment horizon. The transformation from broking to an annuity-driven business model represents a fundamental re-rating opportunity that may materialize gradually as ARR contribution increases. Investors should focus on quarterly AUM growth and net flows rather than absolute profit growth, which may exhibit residual cyclicality. The stock offers asymmetric risk-reward at current valuations, with multiple potential catalysts that could accelerate the re-rating process.</a:t>
            </a:r>
          </a:p>
        </p:txBody>
      </p:sp>
      <p:sp>
        <p:nvSpPr>
          <p:cNvPr id="20" name="TextBox 19"/>
          <p:cNvSpPr txBox="1"/>
          <p:nvPr/>
        </p:nvSpPr>
        <p:spPr>
          <a:xfrm>
            <a:off x="6217920" y="2423160"/>
            <a:ext cx="5516575" cy="402336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Entry Approach: Accumulate at current levels with additional allocation during market weakness</a:t>
            </a:r>
          </a:p>
          <a:p>
            <a:pPr>
              <a:spcAft>
                <a:spcPts val="400"/>
              </a:spcAft>
            </a:pPr>
            <a:r>
              <a:rPr sz="1200" b="0">
                <a:solidFill>
                  <a:srgbClr val="111111"/>
                </a:solidFill>
                <a:latin typeface="Calibri"/>
              </a:rPr>
              <a:t>•  Position Sizing: Core allocation within financial services portfolio given quality improvements</a:t>
            </a:r>
          </a:p>
          <a:p>
            <a:pPr>
              <a:spcAft>
                <a:spcPts val="400"/>
              </a:spcAft>
            </a:pPr>
            <a:r>
              <a:rPr sz="1200" b="0">
                <a:solidFill>
                  <a:srgbClr val="111111"/>
                </a:solidFill>
                <a:latin typeface="Calibri"/>
              </a:rPr>
              <a:t>•  Key Monitoring Metrics: ARR contribution percentage, AMC/PWM AUM growth, net fund flows, benchmark outperformance</a:t>
            </a:r>
          </a:p>
          <a:p>
            <a:pPr>
              <a:spcAft>
                <a:spcPts val="400"/>
              </a:spcAft>
            </a:pPr>
            <a:r>
              <a:rPr sz="1200" b="0">
                <a:solidFill>
                  <a:srgbClr val="111111"/>
                </a:solidFill>
                <a:latin typeface="Calibri"/>
              </a:rPr>
              <a:t>•  Catalyst Timeline: Q3FY26 and Q4FY26 results likely to demonstrate ARR progression</a:t>
            </a:r>
          </a:p>
          <a:p>
            <a:pPr>
              <a:spcAft>
                <a:spcPts val="400"/>
              </a:spcAft>
            </a:pPr>
            <a:r>
              <a:rPr sz="1200" b="0">
                <a:solidFill>
                  <a:srgbClr val="111111"/>
                </a:solidFill>
                <a:latin typeface="Calibri"/>
              </a:rPr>
              <a:t>•  Review Triggers: Quarterly ARR contribution, competitive position in wealth management, regulatory developments</a:t>
            </a:r>
          </a:p>
          <a:p>
            <a:pPr>
              <a:spcAft>
                <a:spcPts val="400"/>
              </a:spcAft>
            </a:pPr>
            <a:r>
              <a:rPr sz="1200" b="0">
                <a:solidFill>
                  <a:srgbClr val="111111"/>
                </a:solidFill>
                <a:latin typeface="Calibri"/>
              </a:rPr>
              <a:t>•  Exit Considerations: Re-evaluate if ARR contribution stalls below target levels or if regulatory headwinds materi...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3" name="TextBox 12"/>
          <p:cNvSpPr txBox="1"/>
          <p:nvPr/>
        </p:nvSpPr>
        <p:spPr>
          <a:xfrm>
            <a:off x="457200" y="731520"/>
            <a:ext cx="11274552" cy="5486400"/>
          </a:xfrm>
          <a:prstGeom prst="rect">
            <a:avLst/>
          </a:prstGeom>
          <a:noFill/>
        </p:spPr>
        <p:txBody>
          <a:bodyPr wrap="square" lIns="73152" rIns="73152" tIns="91440" bIns="91440">
            <a:spAutoFit/>
          </a:bodyPr>
          <a:lstStyle/>
          <a:p>
            <a:pPr>
              <a:lnSpc>
                <a:spcPct val="135000"/>
              </a:lnSpc>
              <a:spcBef>
                <a:spcPts val="0"/>
              </a:spcBef>
              <a:spcAft>
                <a:spcPts val="600"/>
              </a:spcAft>
            </a:pPr>
            <a:r>
              <a:rPr sz="1600" b="0">
                <a:solidFill>
                  <a:srgbClr val="111111"/>
                </a:solidFill>
                <a:latin typeface="Calibri"/>
              </a:rPr>
              <a:t>This document has been prepared by Tikona Capital (TC) and is meant for sole use by the recipient and not for circulation. This document is not to be reported or copied or made available to others. It should not be considered to be taken as an offer to sell or a solicitation to buy any security. The information contained herein is from sources believed reliable. We do not represent that it is accurate or complete and it should not be relied upon as such. TC, its directors, officers or employees shall not in any way be responsible for the contents stated herein. TC or its associates may from time to time solicit or perform investment banking or other services for any company mentioned in this document. The views expressed in this research report accurately reflect the personal views of the analyst(s) about the subject securities or issues, and no part of the compensation of the research analyst(s) was, is, or will be directly or indirectly related to the specific recommendations and views expressed by research analyst(s) in this report. The research analysts, strategists, or research associates principally responsible for the preparation of TC research have received compensation based upon various factors, including quality of research, investor client feedback, stock picking, competitive factors, firm revenues. The investment manager, TCM, may make investment decisions that are inconsistent with the recommendations or views expressed in this research. The distribution of this document may be restricted in certain jurisdictions as per applicable laws and persons who come into possession of this document should inform themselves about and observe any such restrictions. This report is subject to regulatory disclosure requirements as mandated by SEBI.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