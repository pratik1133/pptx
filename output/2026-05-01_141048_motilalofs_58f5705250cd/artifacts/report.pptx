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Motilal Oswal Financial Services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INR 720.0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INR 920.0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Motilal Oswal Financial Services is one of the most diversified capital-markets franchises in India, with a structurally improving mix of annuity-style asset management and wealth fees offsetting cyclicality in broking and investment banking. The next leg of growth is being driven by strong client additions, AUM compounding in AMC and PWM, and operating leverage in housing finance.</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Motilal Oswal Financial Services is one of the most diversified capital-markets franchises in India, with a structurally improving...</a:t>
            </a:r>
          </a:p>
          <a:p>
            <a:pPr/>
            <a:r>
              <a:rPr sz="1100" b="0">
                <a:solidFill>
                  <a:srgbClr val="111111"/>
                </a:solidFill>
                <a:latin typeface="Calibri"/>
              </a:rPr>
              <a:t>- Wealth and AMC are scaling annuity revenues, reducing earnings volatility.</a:t>
            </a:r>
          </a:p>
          <a:p>
            <a:pPr/>
            <a:r>
              <a:rPr sz="1100" b="0">
                <a:solidFill>
                  <a:srgbClr val="111111"/>
                </a:solidFill>
                <a:latin typeface="Calibri"/>
              </a:rPr>
              <a:t>- Retail broking continues to gain incremental market share among active clients.</a:t>
            </a:r>
          </a:p>
          <a:p>
            <a:pPr/>
            <a:r>
              <a:rPr sz="1100" b="0">
                <a:solidFill>
                  <a:srgbClr val="111111"/>
                </a:solidFill>
                <a:latin typeface="Calibri"/>
              </a:rPr>
              <a:t>- Housing finance has turned the corner on asset quality with disciplined growth.</a:t>
            </a:r>
          </a:p>
          <a:p>
            <a:pPr/>
            <a:r>
              <a:rPr sz="1100" b="0">
                <a:solidFill>
                  <a:srgbClr val="111111"/>
                </a:solidFill>
                <a:latin typeface="Calibri"/>
              </a:rPr>
              <a:t>- Proprietary book provides a credible long-term capital allocation tailwind.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Motilal Oswal Financial Services Ltd At A Glance</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is a diversified financial services group with leadership in retail broking, asset management, wealth management, investment banking, and housing finance, supported by a meaningful proprietary investment book.</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INR 720.0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TP INR 920.0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27.8%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capital-markets franchises continue to benefit from rising household equity allocation, demat additions, and SIP penetration. Wealth and asset-management economics are migrating toward fee-based annuity revenue, narrowing the cyclicality gap with private banks.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Indian capital-markets franchises continue to benefit from rising household equity allocation, demat additions, and SIP pen...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Trend Overview</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Revenue and profitability trends are grounded in deterministic model outputs.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Summary Table</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5638647"/>
                <a:gridCol w="5638648"/>
              </a:tblGrid>
              <a:tr h="838200">
                <a:tc>
                  <a:txBody>
                    <a:bodyPr/>
                    <a:lstStyle/>
                    <a:p>
                      <a:r>
                        <a:rPr b="1" sz="1100">
                          <a:solidFill>
                            <a:srgbClr val="FFFFFF"/>
                          </a:solidFill>
                          <a:latin typeface="Calibri"/>
                        </a:rPr>
                        <a:t>Period</a:t>
                      </a:r>
                    </a:p>
                  </a:txBody>
                  <a:tcPr>
                    <a:solidFill>
                      <a:srgbClr val="1F4690"/>
                    </a:solidFill>
                  </a:tcPr>
                </a:tc>
                <a:tc>
                  <a:txBody>
                    <a:bodyPr/>
                    <a:lstStyle/>
                    <a:p>
                      <a:r>
                        <a:rPr b="1" sz="1100">
                          <a:solidFill>
                            <a:srgbClr val="FFFFFF"/>
                          </a:solidFill>
                          <a:latin typeface="Calibri"/>
                        </a:rPr>
                        <a:t>Value</a:t>
                      </a:r>
                    </a:p>
                  </a:txBody>
                  <a:tcPr>
                    <a:solidFill>
                      <a:srgbClr val="1F4690"/>
                    </a:solidFill>
                  </a:tcPr>
                </a:tc>
              </a:tr>
              <a:tr h="838200">
                <a:tc>
                  <a:txBody>
                    <a:bodyPr/>
                    <a:lstStyle/>
                    <a:p>
                      <a:r>
                        <a:rPr sz="1100">
                          <a:solidFill>
                            <a:srgbClr val="111111"/>
                          </a:solidFill>
                          <a:latin typeface="Calibri"/>
                        </a:rPr>
                        <a:t>FY23</a:t>
                      </a:r>
                    </a:p>
                  </a:txBody>
                  <a:tcPr/>
                </a:tc>
                <a:tc>
                  <a:txBody>
                    <a:bodyPr/>
                    <a:lstStyle/>
                    <a:p>
                      <a:r>
                        <a:rPr sz="1100">
                          <a:solidFill>
                            <a:srgbClr val="111111"/>
                          </a:solidFill>
                          <a:latin typeface="Calibri"/>
                        </a:rPr>
                        <a:t>4500.0</a:t>
                      </a:r>
                    </a:p>
                  </a:txBody>
                  <a:tcPr/>
                </a:tc>
              </a:tr>
              <a:tr h="838200">
                <a:tc>
                  <a:txBody>
                    <a:bodyPr/>
                    <a:lstStyle/>
                    <a:p>
                      <a:r>
                        <a:rPr sz="1100">
                          <a:solidFill>
                            <a:srgbClr val="111111"/>
                          </a:solidFill>
                          <a:latin typeface="Calibri"/>
                        </a:rPr>
                        <a:t>FY24</a:t>
                      </a:r>
                    </a:p>
                  </a:txBody>
                  <a:tcPr>
                    <a:solidFill>
                      <a:srgbClr val="FFFFFF"/>
                    </a:solidFill>
                  </a:tcPr>
                </a:tc>
                <a:tc>
                  <a:txBody>
                    <a:bodyPr/>
                    <a:lstStyle/>
                    <a:p>
                      <a:r>
                        <a:rPr sz="1100">
                          <a:solidFill>
                            <a:srgbClr val="111111"/>
                          </a:solidFill>
                          <a:latin typeface="Calibri"/>
                        </a:rPr>
                        <a:t>5400.0</a:t>
                      </a:r>
                    </a:p>
                  </a:txBody>
                  <a:tcPr>
                    <a:solidFill>
                      <a:srgbClr val="FFFFFF"/>
                    </a:solidFill>
                  </a:tcPr>
                </a:tc>
              </a:tr>
              <a:tr h="838200">
                <a:tc>
                  <a:txBody>
                    <a:bodyPr/>
                    <a:lstStyle/>
                    <a:p>
                      <a:r>
                        <a:rPr sz="1100">
                          <a:solidFill>
                            <a:srgbClr val="111111"/>
                          </a:solidFill>
                          <a:latin typeface="Calibri"/>
                        </a:rPr>
                        <a:t>FY25</a:t>
                      </a:r>
                    </a:p>
                  </a:txBody>
                  <a:tcPr/>
                </a:tc>
                <a:tc>
                  <a:txBody>
                    <a:bodyPr/>
                    <a:lstStyle/>
                    <a:p>
                      <a:r>
                        <a:rPr sz="1100">
                          <a:solidFill>
                            <a:srgbClr val="111111"/>
                          </a:solidFill>
                          <a:latin typeface="Calibri"/>
                        </a:rPr>
                        <a:t>6800.0</a:t>
                      </a:r>
                    </a:p>
                  </a:txBody>
                  <a:tcPr/>
                </a:tc>
              </a:tr>
              <a:tr h="838200">
                <a:tc>
                  <a:txBody>
                    <a:bodyPr/>
                    <a:lstStyle/>
                    <a:p>
                      <a:r>
                        <a:rPr sz="1100">
                          <a:solidFill>
                            <a:srgbClr val="111111"/>
                          </a:solidFill>
                          <a:latin typeface="Calibri"/>
                        </a:rPr>
                        <a:t>FY26</a:t>
                      </a:r>
                    </a:p>
                  </a:txBody>
                  <a:tcPr>
                    <a:solidFill>
                      <a:srgbClr val="FFFFFF"/>
                    </a:solidFill>
                  </a:tcPr>
                </a:tc>
                <a:tc>
                  <a:txBody>
                    <a:bodyPr/>
                    <a:lstStyle/>
                    <a:p>
                      <a:r>
                        <a:rPr sz="1100">
                          <a:solidFill>
                            <a:srgbClr val="111111"/>
                          </a:solidFill>
                          <a:latin typeface="Calibri"/>
                        </a:rPr>
                        <a:t>8200.0</a:t>
                      </a:r>
                    </a:p>
                  </a:txBody>
                  <a:tcPr>
                    <a:solidFill>
                      <a:srgbClr val="FFFFFF"/>
                    </a:solidFill>
                  </a:tcPr>
                </a:tc>
              </a:tr>
              <a:tr h="838200">
                <a:tc>
                  <a:txBody>
                    <a:bodyPr/>
                    <a:lstStyle/>
                    <a:p>
                      <a:r>
                        <a:rPr sz="1100">
                          <a:solidFill>
                            <a:srgbClr val="111111"/>
                          </a:solidFill>
                          <a:latin typeface="Calibri"/>
                        </a:rPr>
                        <a:t>FY27</a:t>
                      </a:r>
                    </a:p>
                  </a:txBody>
                  <a:tcPr/>
                </a:tc>
                <a:tc>
                  <a:txBody>
                    <a:bodyPr/>
                    <a:lstStyle/>
                    <a:p>
                      <a:r>
                        <a:rPr sz="1100">
                          <a:solidFill>
                            <a:srgbClr val="111111"/>
                          </a:solidFill>
                          <a:latin typeface="Calibri"/>
                        </a:rPr>
                        <a:t>9450.0</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Performance</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Recent quarters demonstrate steady revenue and earnings progression.</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Revenue (INR Cr)</a:t>
                      </a:r>
                    </a:p>
                  </a:txBody>
                  <a:tcPr>
                    <a:solidFill>
                      <a:srgbClr val="1F4690"/>
                    </a:solidFill>
                  </a:tcPr>
                </a:tc>
              </a:tr>
              <a:tr h="708660">
                <a:tc>
                  <a:txBody>
                    <a:bodyPr/>
                    <a:lstStyle/>
                    <a:p>
                      <a:r>
                        <a:rPr sz="1100">
                          <a:solidFill>
                            <a:srgbClr val="111111"/>
                          </a:solidFill>
                          <a:latin typeface="Calibri"/>
                        </a:rPr>
                        <a:t>Q1FY25</a:t>
                      </a:r>
                    </a:p>
                  </a:txBody>
                  <a:tcPr/>
                </a:tc>
                <a:tc>
                  <a:txBody>
                    <a:bodyPr/>
                    <a:lstStyle/>
                    <a:p>
                      <a:r>
                        <a:rPr sz="1100">
                          <a:solidFill>
                            <a:srgbClr val="111111"/>
                          </a:solidFill>
                          <a:latin typeface="Calibri"/>
                        </a:rPr>
                        <a:t>1580.0</a:t>
                      </a:r>
                    </a:p>
                  </a:txBody>
                  <a:tcPr/>
                </a:tc>
              </a:tr>
              <a:tr h="708660">
                <a:tc>
                  <a:txBody>
                    <a:bodyPr/>
                    <a:lstStyle/>
                    <a:p>
                      <a:r>
                        <a:rPr sz="1100">
                          <a:solidFill>
                            <a:srgbClr val="111111"/>
                          </a:solidFill>
                          <a:latin typeface="Calibri"/>
                        </a:rPr>
                        <a:t>Q2FY25</a:t>
                      </a:r>
                    </a:p>
                  </a:txBody>
                  <a:tcPr>
                    <a:solidFill>
                      <a:srgbClr val="FFFFFF"/>
                    </a:solidFill>
                  </a:tcPr>
                </a:tc>
                <a:tc>
                  <a:txBody>
                    <a:bodyPr/>
                    <a:lstStyle/>
                    <a:p>
                      <a:r>
                        <a:rPr sz="1100">
                          <a:solidFill>
                            <a:srgbClr val="111111"/>
                          </a:solidFill>
                          <a:latin typeface="Calibri"/>
                        </a:rPr>
                        <a:t>1690.0</a:t>
                      </a:r>
                    </a:p>
                  </a:txBody>
                  <a:tcPr>
                    <a:solidFill>
                      <a:srgbClr val="FFFFFF"/>
                    </a:solidFill>
                  </a:tcPr>
                </a:tc>
              </a:tr>
              <a:tr h="708660">
                <a:tc>
                  <a:txBody>
                    <a:bodyPr/>
                    <a:lstStyle/>
                    <a:p>
                      <a:r>
                        <a:rPr sz="1100">
                          <a:solidFill>
                            <a:srgbClr val="111111"/>
                          </a:solidFill>
                          <a:latin typeface="Calibri"/>
                        </a:rPr>
                        <a:t>Q3FY25</a:t>
                      </a:r>
                    </a:p>
                  </a:txBody>
                  <a:tcPr/>
                </a:tc>
                <a:tc>
                  <a:txBody>
                    <a:bodyPr/>
                    <a:lstStyle/>
                    <a:p>
                      <a:r>
                        <a:rPr sz="1100">
                          <a:solidFill>
                            <a:srgbClr val="111111"/>
                          </a:solidFill>
                          <a:latin typeface="Calibri"/>
                        </a:rPr>
                        <a:t>1740.0</a:t>
                      </a:r>
                    </a:p>
                  </a:txBody>
                  <a:tcPr/>
                </a:tc>
              </a:tr>
              <a:tr h="708660">
                <a:tc>
                  <a:txBody>
                    <a:bodyPr/>
                    <a:lstStyle/>
                    <a:p>
                      <a:r>
                        <a:rPr sz="1100">
                          <a:solidFill>
                            <a:srgbClr val="111111"/>
                          </a:solidFill>
                          <a:latin typeface="Calibri"/>
                        </a:rPr>
                        <a:t>Q4FY25</a:t>
                      </a:r>
                    </a:p>
                  </a:txBody>
                  <a:tcPr>
                    <a:solidFill>
                      <a:srgbClr val="FFFFFF"/>
                    </a:solidFill>
                  </a:tcPr>
                </a:tc>
                <a:tc>
                  <a:txBody>
                    <a:bodyPr/>
                    <a:lstStyle/>
                    <a:p>
                      <a:r>
                        <a:rPr sz="1100">
                          <a:solidFill>
                            <a:srgbClr val="111111"/>
                          </a:solidFill>
                          <a:latin typeface="Calibri"/>
                        </a:rPr>
                        <a:t>1790.0</a:t>
                      </a:r>
                    </a:p>
                  </a:txBody>
                  <a:tcPr>
                    <a:solidFill>
                      <a:srgbClr val="FFFFFF"/>
                    </a:solidFill>
                  </a:tcPr>
                </a:tc>
              </a:tr>
              <a:tr h="708660">
                <a:tc>
                  <a:txBody>
                    <a:bodyPr/>
                    <a:lstStyle/>
                    <a:p>
                      <a:r>
                        <a:rPr sz="1100">
                          <a:solidFill>
                            <a:srgbClr val="111111"/>
                          </a:solidFill>
                          <a:latin typeface="Calibri"/>
                        </a:rPr>
                        <a:t>Q1FY26</a:t>
                      </a:r>
                    </a:p>
                  </a:txBody>
                  <a:tcPr/>
                </a:tc>
                <a:tc>
                  <a:txBody>
                    <a:bodyPr/>
                    <a:lstStyle/>
                    <a:p>
                      <a:r>
                        <a:rPr sz="1100">
                          <a:solidFill>
                            <a:srgbClr val="111111"/>
                          </a:solidFill>
                          <a:latin typeface="Calibri"/>
                        </a:rPr>
                        <a:t>1925.0</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Mix</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Segment composition reveals diversification and where future growth is concentrated.</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Ratios</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Margin trajectory and return profile underpin the valuation case.</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0866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FY23</a:t>
                      </a:r>
                    </a:p>
                  </a:txBody>
                  <a:tcPr>
                    <a:solidFill>
                      <a:srgbClr val="1F4690"/>
                    </a:solidFill>
                  </a:tcPr>
                </a:tc>
                <a:tc>
                  <a:txBody>
                    <a:bodyPr/>
                    <a:lstStyle/>
                    <a:p>
                      <a:r>
                        <a:rPr b="1" sz="1100">
                          <a:solidFill>
                            <a:srgbClr val="FFFFFF"/>
                          </a:solidFill>
                          <a:latin typeface="Calibri"/>
                        </a:rPr>
                        <a:t>FY24</a:t>
                      </a:r>
                    </a:p>
                  </a:txBody>
                  <a:tcPr>
                    <a:solidFill>
                      <a:srgbClr val="1F4690"/>
                    </a:solidFill>
                  </a:tcPr>
                </a:tc>
                <a:tc>
                  <a:txBody>
                    <a:bodyPr/>
                    <a:lstStyle/>
                    <a:p>
                      <a:r>
                        <a:rPr b="1" sz="1100">
                          <a:solidFill>
                            <a:srgbClr val="FFFFFF"/>
                          </a:solidFill>
                          <a:latin typeface="Calibri"/>
                        </a:rPr>
                        <a:t>FY25</a:t>
                      </a:r>
                    </a:p>
                  </a:txBody>
                  <a:tcPr>
                    <a:solidFill>
                      <a:srgbClr val="1F4690"/>
                    </a:solidFill>
                  </a:tcPr>
                </a:tc>
                <a:tc>
                  <a:txBody>
                    <a:bodyPr/>
                    <a:lstStyle/>
                    <a:p>
                      <a:r>
                        <a:rPr b="1" sz="1100">
                          <a:solidFill>
                            <a:srgbClr val="FFFFFF"/>
                          </a:solidFill>
                          <a:latin typeface="Calibri"/>
                        </a:rPr>
                        <a:t>FY26</a:t>
                      </a:r>
                    </a:p>
                  </a:txBody>
                  <a:tcPr>
                    <a:solidFill>
                      <a:srgbClr val="1F4690"/>
                    </a:solidFill>
                  </a:tcPr>
                </a:tc>
                <a:tc>
                  <a:txBody>
                    <a:bodyPr/>
                    <a:lstStyle/>
                    <a:p>
                      <a:r>
                        <a:rPr b="1" sz="1100">
                          <a:solidFill>
                            <a:srgbClr val="FFFFFF"/>
                          </a:solidFill>
                          <a:latin typeface="Calibri"/>
                        </a:rPr>
                        <a:t>FY27</a:t>
                      </a:r>
                    </a:p>
                  </a:txBody>
                  <a:tcPr>
                    <a:solidFill>
                      <a:srgbClr val="1F4690"/>
                    </a:solidFill>
                  </a:tcPr>
                </a:tc>
              </a:tr>
              <a:tr h="70866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42.0</a:t>
                      </a:r>
                    </a:p>
                  </a:txBody>
                  <a:tcPr/>
                </a:tc>
                <a:tc>
                  <a:txBody>
                    <a:bodyPr/>
                    <a:lstStyle/>
                    <a:p>
                      <a:r>
                        <a:rPr sz="1100">
                          <a:solidFill>
                            <a:srgbClr val="111111"/>
                          </a:solidFill>
                          <a:latin typeface="Calibri"/>
                        </a:rPr>
                        <a:t>47.5</a:t>
                      </a:r>
                    </a:p>
                  </a:txBody>
                  <a:tcPr/>
                </a:tc>
                <a:tc>
                  <a:txBody>
                    <a:bodyPr/>
                    <a:lstStyle/>
                    <a:p>
                      <a:r>
                        <a:rPr sz="1100">
                          <a:solidFill>
                            <a:srgbClr val="111111"/>
                          </a:solidFill>
                          <a:latin typeface="Calibri"/>
                        </a:rPr>
                        <a:t>50.2</a:t>
                      </a:r>
                    </a:p>
                  </a:txBody>
                  <a:tcPr/>
                </a:tc>
                <a:tc>
                  <a:txBody>
                    <a:bodyPr/>
                    <a:lstStyle/>
                    <a:p>
                      <a:r>
                        <a:rPr sz="1100">
                          <a:solidFill>
                            <a:srgbClr val="111111"/>
                          </a:solidFill>
                          <a:latin typeface="Calibri"/>
                        </a:rPr>
                        <a:t>53.0</a:t>
                      </a:r>
                    </a:p>
                  </a:txBody>
                  <a:tcPr/>
                </a:tc>
                <a:tc>
                  <a:txBody>
                    <a:bodyPr/>
                    <a:lstStyle/>
                    <a:p>
                      <a:r>
                        <a:rPr sz="1100">
                          <a:solidFill>
                            <a:srgbClr val="111111"/>
                          </a:solidFill>
                          <a:latin typeface="Calibri"/>
                        </a:rPr>
                        <a:t>54.0</a:t>
                      </a:r>
                    </a:p>
                  </a:txBody>
                  <a:tcPr/>
                </a:tc>
              </a:tr>
              <a:tr h="70866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31.8</a:t>
                      </a:r>
                    </a:p>
                  </a:txBody>
                  <a:tcPr>
                    <a:solidFill>
                      <a:srgbClr val="FFFFFF"/>
                    </a:solidFill>
                  </a:tcPr>
                </a:tc>
                <a:tc>
                  <a:txBody>
                    <a:bodyPr/>
                    <a:lstStyle/>
                    <a:p>
                      <a:r>
                        <a:rPr sz="1100">
                          <a:solidFill>
                            <a:srgbClr val="111111"/>
                          </a:solidFill>
                          <a:latin typeface="Calibri"/>
                        </a:rPr>
                        <a:t>38.0</a:t>
                      </a:r>
                    </a:p>
                  </a:txBody>
                  <a:tcPr>
                    <a:solidFill>
                      <a:srgbClr val="FFFFFF"/>
                    </a:solidFill>
                  </a:tcPr>
                </a:tc>
                <a:tc>
                  <a:txBody>
                    <a:bodyPr/>
                    <a:lstStyle/>
                    <a:p>
                      <a:r>
                        <a:rPr sz="1100">
                          <a:solidFill>
                            <a:srgbClr val="111111"/>
                          </a:solidFill>
                          <a:latin typeface="Calibri"/>
                        </a:rPr>
                        <a:t>36.9</a:t>
                      </a:r>
                    </a:p>
                  </a:txBody>
                  <a:tcPr>
                    <a:solidFill>
                      <a:srgbClr val="FFFFFF"/>
                    </a:solidFill>
                  </a:tcPr>
                </a:tc>
                <a:tc>
                  <a:txBody>
                    <a:bodyPr/>
                    <a:lstStyle/>
                    <a:p>
                      <a:r>
                        <a:rPr sz="1100">
                          <a:solidFill>
                            <a:srgbClr val="111111"/>
                          </a:solidFill>
                          <a:latin typeface="Calibri"/>
                        </a:rPr>
                        <a:t>37.2</a:t>
                      </a:r>
                    </a:p>
                  </a:txBody>
                  <a:tcPr>
                    <a:solidFill>
                      <a:srgbClr val="FFFFFF"/>
                    </a:solidFill>
                  </a:tcPr>
                </a:tc>
                <a:tc>
                  <a:txBody>
                    <a:bodyPr/>
                    <a:lstStyle/>
                    <a:p>
                      <a:r>
                        <a:rPr sz="1100">
                          <a:solidFill>
                            <a:srgbClr val="111111"/>
                          </a:solidFill>
                          <a:latin typeface="Calibri"/>
                        </a:rPr>
                        <a:t>37.9</a:t>
                      </a:r>
                    </a:p>
                  </a:txBody>
                  <a:tcPr>
                    <a:solidFill>
                      <a:srgbClr val="FFFFFF"/>
                    </a:solidFill>
                  </a:tcPr>
                </a:tc>
              </a:tr>
              <a:tr h="708660">
                <a:tc>
                  <a:txBody>
                    <a:bodyPr/>
                    <a:lstStyle/>
                    <a:p>
                      <a:r>
                        <a:rPr sz="1100">
                          <a:solidFill>
                            <a:srgbClr val="111111"/>
                          </a:solidFill>
                          <a:latin typeface="Calibri"/>
                        </a:rPr>
                        <a:t>ROE</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24.5</a:t>
                      </a:r>
                    </a:p>
                  </a:txBody>
                  <a:tcPr/>
                </a:tc>
                <a:tc>
                  <a:txBody>
                    <a:bodyPr/>
                    <a:lstStyle/>
                    <a:p>
                      <a:r>
                        <a:rPr sz="1100">
                          <a:solidFill>
                            <a:srgbClr val="111111"/>
                          </a:solidFill>
                          <a:latin typeface="Calibri"/>
                        </a:rPr>
                        <a:t>25.7</a:t>
                      </a:r>
                    </a:p>
                  </a:txBody>
                  <a:tcPr/>
                </a:tc>
                <a:tc>
                  <a:txBody>
                    <a:bodyPr/>
                    <a:lstStyle/>
                    <a:p>
                      <a:r>
                        <a:rPr sz="1100">
                          <a:solidFill>
                            <a:srgbClr val="111111"/>
                          </a:solidFill>
                          <a:latin typeface="Calibri"/>
                        </a:rPr>
                        <a:t>26.4</a:t>
                      </a:r>
                    </a:p>
                  </a:txBody>
                  <a:tcPr/>
                </a:tc>
                <a:tc>
                  <a:txBody>
                    <a:bodyPr/>
                    <a:lstStyle/>
                    <a:p>
                      <a:r>
                        <a:rPr sz="1100">
                          <a:solidFill>
                            <a:srgbClr val="111111"/>
                          </a:solidFill>
                          <a:latin typeface="Calibri"/>
                        </a:rPr>
                        <a:t>27.1</a:t>
                      </a:r>
                    </a:p>
                  </a:txBody>
                  <a:tcPr/>
                </a:tc>
              </a:tr>
              <a:tr h="708660">
                <a:tc>
                  <a:txBody>
                    <a:bodyPr/>
                    <a:lstStyle/>
                    <a:p>
                      <a:r>
                        <a:rPr sz="1100">
                          <a:solidFill>
                            <a:srgbClr val="111111"/>
                          </a:solidFill>
                          <a:latin typeface="Calibri"/>
                        </a:rPr>
                        <a:t>ROA</a:t>
                      </a:r>
                    </a:p>
                  </a:txBody>
                  <a:tcPr>
                    <a:solidFill>
                      <a:srgbClr val="FFFFFF"/>
                    </a:solidFill>
                  </a:tcPr>
                </a:tc>
                <a:tc>
                  <a:txBody>
                    <a:bodyPr/>
                    <a:lstStyle/>
                    <a:p>
                      <a:r>
                        <a:rPr sz="1100">
                          <a:solidFill>
                            <a:srgbClr val="111111"/>
                          </a:solidFill>
                          <a:latin typeface="Calibri"/>
                        </a:rPr>
                        <a:t>9.0</a:t>
                      </a:r>
                    </a:p>
                  </a:txBody>
                  <a:tcPr>
                    <a:solidFill>
                      <a:srgbClr val="FFFFFF"/>
                    </a:solidFill>
                  </a:tcPr>
                </a:tc>
                <a:tc>
                  <a:txBody>
                    <a:bodyPr/>
                    <a:lstStyle/>
                    <a:p>
                      <a:r>
                        <a:rPr sz="1100">
                          <a:solidFill>
                            <a:srgbClr val="111111"/>
                          </a:solidFill>
                          <a:latin typeface="Calibri"/>
                        </a:rPr>
                        <a:t>10.5</a:t>
                      </a:r>
                    </a:p>
                  </a:txBody>
                  <a:tcPr>
                    <a:solidFill>
                      <a:srgbClr val="FFFFFF"/>
                    </a:solidFill>
                  </a:tcPr>
                </a:tc>
                <a:tc>
                  <a:txBody>
                    <a:bodyPr/>
                    <a:lstStyle/>
                    <a:p>
                      <a:r>
                        <a:rPr sz="1100">
                          <a:solidFill>
                            <a:srgbClr val="111111"/>
                          </a:solidFill>
                          <a:latin typeface="Calibri"/>
                        </a:rPr>
                        <a:t>11.4</a:t>
                      </a:r>
                    </a:p>
                  </a:txBody>
                  <a:tcPr>
                    <a:solidFill>
                      <a:srgbClr val="FFFFFF"/>
                    </a:solidFill>
                  </a:tcPr>
                </a:tc>
                <a:tc>
                  <a:txBody>
                    <a:bodyPr/>
                    <a:lstStyle/>
                    <a:p>
                      <a:r>
                        <a:rPr sz="1100">
                          <a:solidFill>
                            <a:srgbClr val="111111"/>
                          </a:solidFill>
                          <a:latin typeface="Calibri"/>
                        </a:rPr>
                        <a:t>12.1</a:t>
                      </a:r>
                    </a:p>
                  </a:txBody>
                  <a:tcPr>
                    <a:solidFill>
                      <a:srgbClr val="FFFFFF"/>
                    </a:solidFill>
                  </a:tcPr>
                </a:tc>
                <a:tc>
                  <a:txBody>
                    <a:bodyPr/>
                    <a:lstStyle/>
                    <a:p>
                      <a:r>
                        <a:rPr sz="1100">
                          <a:solidFill>
                            <a:srgbClr val="111111"/>
                          </a:solidFill>
                          <a:latin typeface="Calibri"/>
                        </a:rPr>
                        <a:t>12.6</a:t>
                      </a:r>
                    </a:p>
                  </a:txBody>
                  <a:tcPr>
                    <a:solidFill>
                      <a:srgbClr val="FFFFFF"/>
                    </a:solidFill>
                  </a:tcPr>
                </a:tc>
              </a:tr>
              <a:tr h="708660">
                <a:tc>
                  <a:txBody>
                    <a:bodyPr/>
                    <a:lstStyle/>
                    <a:p>
                      <a:r>
                        <a:rPr sz="1100">
                          <a:solidFill>
                            <a:srgbClr val="111111"/>
                          </a:solidFill>
                          <a:latin typeface="Calibri"/>
                        </a:rPr>
                        <a:t>Net D/E</a:t>
                      </a:r>
                    </a:p>
                  </a:txBody>
                  <a:tcPr/>
                </a:tc>
                <a:tc>
                  <a:txBody>
                    <a:bodyPr/>
                    <a:lstStyle/>
                    <a:p>
                      <a:r>
                        <a:rPr sz="1100">
                          <a:solidFill>
                            <a:srgbClr val="111111"/>
                          </a:solidFill>
                          <a:latin typeface="Calibri"/>
                        </a:rPr>
                        <a:t>0.6</a:t>
                      </a:r>
                    </a:p>
                  </a:txBody>
                  <a:tcPr/>
                </a:tc>
                <a:tc>
                  <a:txBody>
                    <a:bodyPr/>
                    <a:lstStyle/>
                    <a:p>
                      <a:r>
                        <a:rPr sz="1100">
                          <a:solidFill>
                            <a:srgbClr val="111111"/>
                          </a:solidFill>
                          <a:latin typeface="Calibri"/>
                        </a:rPr>
                        <a:t>0.5</a:t>
                      </a:r>
                    </a:p>
                  </a:txBody>
                  <a:tcPr/>
                </a:tc>
                <a:tc>
                  <a:txBody>
                    <a:bodyPr/>
                    <a:lstStyle/>
                    <a:p>
                      <a:r>
                        <a:rPr sz="1100">
                          <a:solidFill>
                            <a:srgbClr val="111111"/>
                          </a:solidFill>
                          <a:latin typeface="Calibri"/>
                        </a:rPr>
                        <a:t>0.4</a:t>
                      </a:r>
                    </a:p>
                  </a:txBody>
                  <a:tcPr/>
                </a:tc>
                <a:tc>
                  <a:txBody>
                    <a:bodyPr/>
                    <a:lstStyle/>
                    <a:p>
                      <a:r>
                        <a:rPr sz="1100">
                          <a:solidFill>
                            <a:srgbClr val="111111"/>
                          </a:solidFill>
                          <a:latin typeface="Calibri"/>
                        </a:rPr>
                        <a:t>0.4</a:t>
                      </a:r>
                    </a:p>
                  </a:txBody>
                  <a:tcPr/>
                </a:tc>
                <a:tc>
                  <a:txBody>
                    <a:bodyPr/>
                    <a:lstStyle/>
                    <a:p>
                      <a:r>
                        <a:rPr sz="1100">
                          <a:solidFill>
                            <a:srgbClr val="111111"/>
                          </a:solidFill>
                          <a:latin typeface="Calibri"/>
                        </a:rPr>
                        <a:t>0.3</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Peer Comparison</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Target company highlighted with an asterisk; multiples are illustrative.</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607422">
                <a:tc>
                  <a:txBody>
                    <a:bodyPr/>
                    <a:lstStyle/>
                    <a:p>
                      <a:r>
                        <a:rPr b="1" sz="1100">
                          <a:solidFill>
                            <a:srgbClr val="FFFFFF"/>
                          </a:solidFill>
                          <a:latin typeface="Calibri"/>
                        </a:rPr>
                        <a:t>Company</a:t>
                      </a:r>
                    </a:p>
                  </a:txBody>
                  <a:tcPr>
                    <a:solidFill>
                      <a:srgbClr val="1F4690"/>
                    </a:solidFill>
                  </a:tcPr>
                </a:tc>
                <a:tc>
                  <a:txBody>
                    <a:bodyPr/>
                    <a:lstStyle/>
                    <a:p>
                      <a:r>
                        <a:rPr b="1" sz="1100">
                          <a:solidFill>
                            <a:srgbClr val="FFFFFF"/>
                          </a:solidFill>
                          <a:latin typeface="Calibri"/>
                        </a:rPr>
                        <a:t>MCap (Cr)</a:t>
                      </a:r>
                    </a:p>
                  </a:txBody>
                  <a:tcPr>
                    <a:solidFill>
                      <a:srgbClr val="1F4690"/>
                    </a:solidFill>
                  </a:tcPr>
                </a:tc>
                <a:tc>
                  <a:txBody>
                    <a:bodyPr/>
                    <a:lstStyle/>
                    <a:p>
                      <a:r>
                        <a:rPr b="1" sz="1100">
                          <a:solidFill>
                            <a:srgbClr val="FFFFFF"/>
                          </a:solidFill>
                          <a:latin typeface="Calibri"/>
                        </a:rPr>
                        <a:t>P/E</a:t>
                      </a:r>
                    </a:p>
                  </a:txBody>
                  <a:tcPr>
                    <a:solidFill>
                      <a:srgbClr val="1F4690"/>
                    </a:solidFill>
                  </a:tcPr>
                </a:tc>
                <a:tc>
                  <a:txBody>
                    <a:bodyPr/>
                    <a:lstStyle/>
                    <a:p>
                      <a:r>
                        <a:rPr b="1" sz="1100">
                          <a:solidFill>
                            <a:srgbClr val="FFFFFF"/>
                          </a:solidFill>
                          <a:latin typeface="Calibri"/>
                        </a:rPr>
                        <a:t>EV/EBITDA</a:t>
                      </a:r>
                    </a:p>
                  </a:txBody>
                  <a:tcPr>
                    <a:solidFill>
                      <a:srgbClr val="1F4690"/>
                    </a:solidFill>
                  </a:tcPr>
                </a:tc>
                <a:tc>
                  <a:txBody>
                    <a:bodyPr/>
                    <a:lstStyle/>
                    <a:p>
                      <a:r>
                        <a:rPr b="1" sz="1100">
                          <a:solidFill>
                            <a:srgbClr val="FFFFFF"/>
                          </a:solidFill>
                          <a:latin typeface="Calibri"/>
                        </a:rPr>
                        <a:t>P/B</a:t>
                      </a:r>
                    </a:p>
                  </a:txBody>
                  <a:tcPr>
                    <a:solidFill>
                      <a:srgbClr val="1F4690"/>
                    </a:solidFill>
                  </a:tcPr>
                </a:tc>
                <a:tc>
                  <a:txBody>
                    <a:bodyPr/>
                    <a:lstStyle/>
                    <a:p>
                      <a:r>
                        <a:rPr b="1" sz="1100">
                          <a:solidFill>
                            <a:srgbClr val="FFFFFF"/>
                          </a:solidFill>
                          <a:latin typeface="Calibri"/>
                        </a:rPr>
                        <a:t>ROE</a:t>
                      </a:r>
                    </a:p>
                  </a:txBody>
                  <a:tcPr>
                    <a:solidFill>
                      <a:srgbClr val="1F4690"/>
                    </a:solidFill>
                  </a:tcPr>
                </a:tc>
                <a:tc>
                  <a:txBody>
                    <a:bodyPr/>
                    <a:lstStyle/>
                    <a:p>
                      <a:r>
                        <a:rPr b="1" sz="1100">
                          <a:solidFill>
                            <a:srgbClr val="FFFFFF"/>
                          </a:solidFill>
                          <a:latin typeface="Calibri"/>
                        </a:rPr>
                        <a:t>Rev Growth</a:t>
                      </a:r>
                    </a:p>
                  </a:txBody>
                  <a:tcPr>
                    <a:solidFill>
                      <a:srgbClr val="1F4690"/>
                    </a:solidFill>
                  </a:tcPr>
                </a:tc>
              </a:tr>
              <a:tr h="607422">
                <a:tc>
                  <a:txBody>
                    <a:bodyPr/>
                    <a:lstStyle/>
                    <a:p>
                      <a:r>
                        <a:rPr sz="1100">
                          <a:solidFill>
                            <a:srgbClr val="111111"/>
                          </a:solidFill>
                          <a:latin typeface="Calibri"/>
                        </a:rPr>
                        <a:t>Motilal Oswal Financial Services *</a:t>
                      </a:r>
                    </a:p>
                  </a:txBody>
                  <a:tcPr/>
                </a:tc>
                <a:tc>
                  <a:txBody>
                    <a:bodyPr/>
                    <a:lstStyle/>
                    <a:p>
                      <a:r>
                        <a:rPr sz="1100">
                          <a:solidFill>
                            <a:srgbClr val="111111"/>
                          </a:solidFill>
                          <a:latin typeface="Calibri"/>
                        </a:rPr>
                        <a:t>43200.0</a:t>
                      </a:r>
                    </a:p>
                  </a:txBody>
                  <a:tcPr/>
                </a:tc>
                <a:tc>
                  <a:txBody>
                    <a:bodyPr/>
                    <a:lstStyle/>
                    <a:p>
                      <a:r>
                        <a:rPr sz="1100">
                          <a:solidFill>
                            <a:srgbClr val="111111"/>
                          </a:solidFill>
                          <a:latin typeface="Calibri"/>
                        </a:rPr>
                        <a:t>14.1x</a:t>
                      </a:r>
                    </a:p>
                  </a:txBody>
                  <a:tcPr/>
                </a:tc>
                <a:tc>
                  <a:txBody>
                    <a:bodyPr/>
                    <a:lstStyle/>
                    <a:p>
                      <a:r>
                        <a:rPr sz="1100">
                          <a:solidFill>
                            <a:srgbClr val="111111"/>
                          </a:solidFill>
                          <a:latin typeface="Calibri"/>
                        </a:rPr>
                        <a:t>9.9x</a:t>
                      </a:r>
                    </a:p>
                  </a:txBody>
                  <a:tcPr/>
                </a:tc>
                <a:tc>
                  <a:txBody>
                    <a:bodyPr/>
                    <a:lstStyle/>
                    <a:p>
                      <a:r>
                        <a:rPr sz="1100">
                          <a:solidFill>
                            <a:srgbClr val="111111"/>
                          </a:solidFill>
                          <a:latin typeface="Calibri"/>
                        </a:rPr>
                        <a:t>3.7x</a:t>
                      </a:r>
                    </a:p>
                  </a:txBody>
                  <a:tcPr/>
                </a:tc>
                <a:tc>
                  <a:txBody>
                    <a:bodyPr/>
                    <a:lstStyle/>
                    <a:p>
                      <a:r>
                        <a:rPr sz="1100">
                          <a:solidFill>
                            <a:srgbClr val="111111"/>
                          </a:solidFill>
                          <a:latin typeface="Calibri"/>
                        </a:rPr>
                        <a:t>26.4%</a:t>
                      </a:r>
                    </a:p>
                  </a:txBody>
                  <a:tcPr/>
                </a:tc>
                <a:tc>
                  <a:txBody>
                    <a:bodyPr/>
                    <a:lstStyle/>
                    <a:p>
                      <a:r>
                        <a:rPr sz="1100">
                          <a:solidFill>
                            <a:srgbClr val="111111"/>
                          </a:solidFill>
                          <a:latin typeface="Calibri"/>
                        </a:rPr>
                        <a:t>21.0%</a:t>
                      </a:r>
                    </a:p>
                  </a:txBody>
                  <a:tcPr/>
                </a:tc>
              </a:tr>
              <a:tr h="607422">
                <a:tc>
                  <a:txBody>
                    <a:bodyPr/>
                    <a:lstStyle/>
                    <a:p>
                      <a:r>
                        <a:rPr sz="1100">
                          <a:solidFill>
                            <a:srgbClr val="111111"/>
                          </a:solidFill>
                          <a:latin typeface="Calibri"/>
                        </a:rPr>
                        <a:t>ICICI Securities</a:t>
                      </a:r>
                    </a:p>
                  </a:txBody>
                  <a:tcPr>
                    <a:solidFill>
                      <a:srgbClr val="FFFFFF"/>
                    </a:solidFill>
                  </a:tcPr>
                </a:tc>
                <a:tc>
                  <a:txBody>
                    <a:bodyPr/>
                    <a:lstStyle/>
                    <a:p>
                      <a:r>
                        <a:rPr sz="1100">
                          <a:solidFill>
                            <a:srgbClr val="111111"/>
                          </a:solidFill>
                          <a:latin typeface="Calibri"/>
                        </a:rPr>
                        <a:t>27800.0</a:t>
                      </a:r>
                    </a:p>
                  </a:txBody>
                  <a:tcPr>
                    <a:solidFill>
                      <a:srgbClr val="FFFFFF"/>
                    </a:solidFill>
                  </a:tcPr>
                </a:tc>
                <a:tc>
                  <a:txBody>
                    <a:bodyPr/>
                    <a:lstStyle/>
                    <a:p>
                      <a:r>
                        <a:rPr sz="1100">
                          <a:solidFill>
                            <a:srgbClr val="111111"/>
                          </a:solidFill>
                          <a:latin typeface="Calibri"/>
                        </a:rPr>
                        <a:t>12.3x</a:t>
                      </a:r>
                    </a:p>
                  </a:txBody>
                  <a:tcPr>
                    <a:solidFill>
                      <a:srgbClr val="FFFFFF"/>
                    </a:solidFill>
                  </a:tcPr>
                </a:tc>
                <a:tc>
                  <a:txBody>
                    <a:bodyPr/>
                    <a:lstStyle/>
                    <a:p>
                      <a:r>
                        <a:rPr sz="1100">
                          <a:solidFill>
                            <a:srgbClr val="111111"/>
                          </a:solidFill>
                          <a:latin typeface="Calibri"/>
                        </a:rPr>
                        <a:t>8.5x</a:t>
                      </a:r>
                    </a:p>
                  </a:txBody>
                  <a:tcPr>
                    <a:solidFill>
                      <a:srgbClr val="FFFFFF"/>
                    </a:solidFill>
                  </a:tcPr>
                </a:tc>
                <a:tc>
                  <a:txBody>
                    <a:bodyPr/>
                    <a:lstStyle/>
                    <a:p>
                      <a:r>
                        <a:rPr sz="1100">
                          <a:solidFill>
                            <a:srgbClr val="111111"/>
                          </a:solidFill>
                          <a:latin typeface="Calibri"/>
                        </a:rPr>
                        <a:t>4.4x</a:t>
                      </a:r>
                    </a:p>
                  </a:txBody>
                  <a:tcPr>
                    <a:solidFill>
                      <a:srgbClr val="FFFFFF"/>
                    </a:solidFill>
                  </a:tcPr>
                </a:tc>
                <a:tc>
                  <a:txBody>
                    <a:bodyPr/>
                    <a:lstStyle/>
                    <a:p>
                      <a:r>
                        <a:rPr sz="1100">
                          <a:solidFill>
                            <a:srgbClr val="111111"/>
                          </a:solidFill>
                          <a:latin typeface="Calibri"/>
                        </a:rPr>
                        <a:t>35.6%</a:t>
                      </a:r>
                    </a:p>
                  </a:txBody>
                  <a:tcPr>
                    <a:solidFill>
                      <a:srgbClr val="FFFFFF"/>
                    </a:solidFill>
                  </a:tcPr>
                </a:tc>
                <a:tc>
                  <a:txBody>
                    <a:bodyPr/>
                    <a:lstStyle/>
                    <a:p>
                      <a:r>
                        <a:rPr sz="1100">
                          <a:solidFill>
                            <a:srgbClr val="111111"/>
                          </a:solidFill>
                          <a:latin typeface="Calibri"/>
                        </a:rPr>
                        <a:t>14.0%</a:t>
                      </a:r>
                    </a:p>
                  </a:txBody>
                  <a:tcPr>
                    <a:solidFill>
                      <a:srgbClr val="FFFFFF"/>
                    </a:solidFill>
                  </a:tcPr>
                </a:tc>
              </a:tr>
              <a:tr h="607422">
                <a:tc>
                  <a:txBody>
                    <a:bodyPr/>
                    <a:lstStyle/>
                    <a:p>
                      <a:r>
                        <a:rPr sz="1100">
                          <a:solidFill>
                            <a:srgbClr val="111111"/>
                          </a:solidFill>
                          <a:latin typeface="Calibri"/>
                        </a:rPr>
                        <a:t>Angel One</a:t>
                      </a:r>
                    </a:p>
                  </a:txBody>
                  <a:tcPr/>
                </a:tc>
                <a:tc>
                  <a:txBody>
                    <a:bodyPr/>
                    <a:lstStyle/>
                    <a:p>
                      <a:r>
                        <a:rPr sz="1100">
                          <a:solidFill>
                            <a:srgbClr val="111111"/>
                          </a:solidFill>
                          <a:latin typeface="Calibri"/>
                        </a:rPr>
                        <a:t>24500.0</a:t>
                      </a:r>
                    </a:p>
                  </a:txBody>
                  <a:tcPr/>
                </a:tc>
                <a:tc>
                  <a:txBody>
                    <a:bodyPr/>
                    <a:lstStyle/>
                    <a:p>
                      <a:r>
                        <a:rPr sz="1100">
                          <a:solidFill>
                            <a:srgbClr val="111111"/>
                          </a:solidFill>
                          <a:latin typeface="Calibri"/>
                        </a:rPr>
                        <a:t>18.8x</a:t>
                      </a:r>
                    </a:p>
                  </a:txBody>
                  <a:tcPr/>
                </a:tc>
                <a:tc>
                  <a:txBody>
                    <a:bodyPr/>
                    <a:lstStyle/>
                    <a:p>
                      <a:r>
                        <a:rPr sz="1100">
                          <a:solidFill>
                            <a:srgbClr val="111111"/>
                          </a:solidFill>
                          <a:latin typeface="Calibri"/>
                        </a:rPr>
                        <a:t>12.1x</a:t>
                      </a:r>
                    </a:p>
                  </a:txBody>
                  <a:tcPr/>
                </a:tc>
                <a:tc>
                  <a:txBody>
                    <a:bodyPr/>
                    <a:lstStyle/>
                    <a:p>
                      <a:r>
                        <a:rPr sz="1100">
                          <a:solidFill>
                            <a:srgbClr val="111111"/>
                          </a:solidFill>
                          <a:latin typeface="Calibri"/>
                        </a:rPr>
                        <a:t>5.9x</a:t>
                      </a:r>
                    </a:p>
                  </a:txBody>
                  <a:tcPr/>
                </a:tc>
                <a:tc>
                  <a:txBody>
                    <a:bodyPr/>
                    <a:lstStyle/>
                    <a:p>
                      <a:r>
                        <a:rPr sz="1100">
                          <a:solidFill>
                            <a:srgbClr val="111111"/>
                          </a:solidFill>
                          <a:latin typeface="Calibri"/>
                        </a:rPr>
                        <a:t>32.4%</a:t>
                      </a:r>
                    </a:p>
                  </a:txBody>
                  <a:tcPr/>
                </a:tc>
                <a:tc>
                  <a:txBody>
                    <a:bodyPr/>
                    <a:lstStyle/>
                    <a:p>
                      <a:r>
                        <a:rPr sz="1100">
                          <a:solidFill>
                            <a:srgbClr val="111111"/>
                          </a:solidFill>
                          <a:latin typeface="Calibri"/>
                        </a:rPr>
                        <a:t>28.0%</a:t>
                      </a:r>
                    </a:p>
                  </a:txBody>
                  <a:tcPr/>
                </a:tc>
              </a:tr>
              <a:tr h="607422">
                <a:tc>
                  <a:txBody>
                    <a:bodyPr/>
                    <a:lstStyle/>
                    <a:p>
                      <a:r>
                        <a:rPr sz="1100">
                          <a:solidFill>
                            <a:srgbClr val="111111"/>
                          </a:solidFill>
                          <a:latin typeface="Calibri"/>
                        </a:rPr>
                        <a:t>IIFL Securities</a:t>
                      </a:r>
                    </a:p>
                  </a:txBody>
                  <a:tcPr>
                    <a:solidFill>
                      <a:srgbClr val="FFFFFF"/>
                    </a:solidFill>
                  </a:tcPr>
                </a:tc>
                <a:tc>
                  <a:txBody>
                    <a:bodyPr/>
                    <a:lstStyle/>
                    <a:p>
                      <a:r>
                        <a:rPr sz="1100">
                          <a:solidFill>
                            <a:srgbClr val="111111"/>
                          </a:solidFill>
                          <a:latin typeface="Calibri"/>
                        </a:rPr>
                        <a:t>7800.0</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7.6x</a:t>
                      </a:r>
                    </a:p>
                  </a:txBody>
                  <a:tcPr>
                    <a:solidFill>
                      <a:srgbClr val="FFFFFF"/>
                    </a:solidFill>
                  </a:tcPr>
                </a:tc>
                <a:tc>
                  <a:txBody>
                    <a:bodyPr/>
                    <a:lstStyle/>
                    <a:p>
                      <a:r>
                        <a:rPr sz="1100">
                          <a:solidFill>
                            <a:srgbClr val="111111"/>
                          </a:solidFill>
                          <a:latin typeface="Calibri"/>
                        </a:rPr>
                        <a:t>2.9x</a:t>
                      </a:r>
                    </a:p>
                  </a:txBody>
                  <a:tcPr>
                    <a:solidFill>
                      <a:srgbClr val="FFFFFF"/>
                    </a:solidFill>
                  </a:tcPr>
                </a:tc>
                <a:tc>
                  <a:txBody>
                    <a:bodyPr/>
                    <a:lstStyle/>
                    <a:p>
                      <a:r>
                        <a:rPr sz="1100">
                          <a:solidFill>
                            <a:srgbClr val="111111"/>
                          </a:solidFill>
                          <a:latin typeface="Calibri"/>
                        </a:rPr>
                        <a:t>24.1%</a:t>
                      </a:r>
                    </a:p>
                  </a:txBody>
                  <a:tcPr>
                    <a:solidFill>
                      <a:srgbClr val="FFFFFF"/>
                    </a:solidFill>
                  </a:tcPr>
                </a:tc>
                <a:tc>
                  <a:txBody>
                    <a:bodyPr/>
                    <a:lstStyle/>
                    <a:p>
                      <a:r>
                        <a:rPr sz="1100">
                          <a:solidFill>
                            <a:srgbClr val="111111"/>
                          </a:solidFill>
                          <a:latin typeface="Calibri"/>
                        </a:rPr>
                        <a:t>12.0%</a:t>
                      </a:r>
                    </a:p>
                  </a:txBody>
                  <a:tcPr>
                    <a:solidFill>
                      <a:srgbClr val="FFFFFF"/>
                    </a:solidFill>
                  </a:tcPr>
                </a:tc>
              </a:tr>
              <a:tr h="607422">
                <a:tc>
                  <a:txBody>
                    <a:bodyPr/>
                    <a:lstStyle/>
                    <a:p>
                      <a:r>
                        <a:rPr sz="1100">
                          <a:solidFill>
                            <a:srgbClr val="111111"/>
                          </a:solidFill>
                          <a:latin typeface="Calibri"/>
                        </a:rPr>
                        <a:t>Nuvama Wealth Management</a:t>
                      </a:r>
                    </a:p>
                  </a:txBody>
                  <a:tcPr/>
                </a:tc>
                <a:tc>
                  <a:txBody>
                    <a:bodyPr/>
                    <a:lstStyle/>
                    <a:p>
                      <a:r>
                        <a:rPr sz="1100">
                          <a:solidFill>
                            <a:srgbClr val="111111"/>
                          </a:solidFill>
                          <a:latin typeface="Calibri"/>
                        </a:rPr>
                        <a:t>22600.0</a:t>
                      </a:r>
                    </a:p>
                  </a:txBody>
                  <a:tcPr/>
                </a:tc>
                <a:tc>
                  <a:txBody>
                    <a:bodyPr/>
                    <a:lstStyle/>
                    <a:p>
                      <a:r>
                        <a:rPr sz="1100">
                          <a:solidFill>
                            <a:srgbClr val="111111"/>
                          </a:solidFill>
                          <a:latin typeface="Calibri"/>
                        </a:rPr>
                        <a:t>22.5x</a:t>
                      </a:r>
                    </a:p>
                  </a:txBody>
                  <a:tcPr/>
                </a:tc>
                <a:tc>
                  <a:txBody>
                    <a:bodyPr/>
                    <a:lstStyle/>
                    <a:p>
                      <a:r>
                        <a:rPr sz="1100">
                          <a:solidFill>
                            <a:srgbClr val="111111"/>
                          </a:solidFill>
                          <a:latin typeface="Calibri"/>
                        </a:rPr>
                        <a:t>14.8x</a:t>
                      </a:r>
                    </a:p>
                  </a:txBody>
                  <a:tcPr/>
                </a:tc>
                <a:tc>
                  <a:txBody>
                    <a:bodyPr/>
                    <a:lstStyle/>
                    <a:p>
                      <a:r>
                        <a:rPr sz="1100">
                          <a:solidFill>
                            <a:srgbClr val="111111"/>
                          </a:solidFill>
                          <a:latin typeface="Calibri"/>
                        </a:rPr>
                        <a:t>5.1x</a:t>
                      </a:r>
                    </a:p>
                  </a:txBody>
                  <a:tcPr/>
                </a:tc>
                <a:tc>
                  <a:txBody>
                    <a:bodyPr/>
                    <a:lstStyle/>
                    <a:p>
                      <a:r>
                        <a:rPr sz="1100">
                          <a:solidFill>
                            <a:srgbClr val="111111"/>
                          </a:solidFill>
                          <a:latin typeface="Calibri"/>
                        </a:rPr>
                        <a:t>22.8%</a:t>
                      </a:r>
                    </a:p>
                  </a:txBody>
                  <a:tcPr/>
                </a:tc>
                <a:tc>
                  <a:txBody>
                    <a:bodyPr/>
                    <a:lstStyle/>
                    <a:p>
                      <a:r>
                        <a:rPr sz="1100">
                          <a:solidFill>
                            <a:srgbClr val="111111"/>
                          </a:solidFill>
                          <a:latin typeface="Calibri"/>
                        </a:rPr>
                        <a:t>31.0%</a:t>
                      </a:r>
                    </a:p>
                  </a:txBody>
                  <a:tcPr/>
                </a:tc>
              </a:tr>
              <a:tr h="607428">
                <a:tc>
                  <a:txBody>
                    <a:bodyPr/>
                    <a:lstStyle/>
                    <a:p>
                      <a:r>
                        <a:rPr sz="1100">
                          <a:solidFill>
                            <a:srgbClr val="111111"/>
                          </a:solidFill>
                          <a:latin typeface="Calibri"/>
                        </a:rPr>
                        <a:t>Anand Rathi Wealth</a:t>
                      </a:r>
                    </a:p>
                  </a:txBody>
                  <a:tcPr>
                    <a:solidFill>
                      <a:srgbClr val="FFFFFF"/>
                    </a:solidFill>
                  </a:tcPr>
                </a:tc>
                <a:tc>
                  <a:txBody>
                    <a:bodyPr/>
                    <a:lstStyle/>
                    <a:p>
                      <a:r>
                        <a:rPr sz="1100">
                          <a:solidFill>
                            <a:srgbClr val="111111"/>
                          </a:solidFill>
                          <a:latin typeface="Calibri"/>
                        </a:rPr>
                        <a:t>18900.0</a:t>
                      </a:r>
                    </a:p>
                  </a:txBody>
                  <a:tcPr>
                    <a:solidFill>
                      <a:srgbClr val="FFFFFF"/>
                    </a:solidFill>
                  </a:tcPr>
                </a:tc>
                <a:tc>
                  <a:txBody>
                    <a:bodyPr/>
                    <a:lstStyle/>
                    <a:p>
                      <a:r>
                        <a:rPr sz="1100">
                          <a:solidFill>
                            <a:srgbClr val="111111"/>
                          </a:solidFill>
                          <a:latin typeface="Calibri"/>
                        </a:rPr>
                        <a:t>38.4x</a:t>
                      </a:r>
                    </a:p>
                  </a:txBody>
                  <a:tcPr>
                    <a:solidFill>
                      <a:srgbClr val="FFFFFF"/>
                    </a:solidFill>
                  </a:tcPr>
                </a:tc>
                <a:tc>
                  <a:txBody>
                    <a:bodyPr/>
                    <a:lstStyle/>
                    <a:p>
                      <a:r>
                        <a:rPr sz="1100">
                          <a:solidFill>
                            <a:srgbClr val="111111"/>
                          </a:solidFill>
                          <a:latin typeface="Calibri"/>
                        </a:rPr>
                        <a:t>27.2x</a:t>
                      </a:r>
                    </a:p>
                  </a:txBody>
                  <a:tcPr>
                    <a:solidFill>
                      <a:srgbClr val="FFFFFF"/>
                    </a:solidFill>
                  </a:tcPr>
                </a:tc>
                <a:tc>
                  <a:txBody>
                    <a:bodyPr/>
                    <a:lstStyle/>
                    <a:p>
                      <a:r>
                        <a:rPr sz="1100">
                          <a:solidFill>
                            <a:srgbClr val="111111"/>
                          </a:solidFill>
                          <a:latin typeface="Calibri"/>
                        </a:rPr>
                        <a:t>14.6x</a:t>
                      </a:r>
                    </a:p>
                  </a:txBody>
                  <a:tcPr>
                    <a:solidFill>
                      <a:srgbClr val="FFFFFF"/>
                    </a:solidFill>
                  </a:tcPr>
                </a:tc>
                <a:tc>
                  <a:txBody>
                    <a:bodyPr/>
                    <a:lstStyle/>
                    <a:p>
                      <a:r>
                        <a:rPr sz="1100">
                          <a:solidFill>
                            <a:srgbClr val="111111"/>
                          </a:solidFill>
                          <a:latin typeface="Calibri"/>
                        </a:rPr>
                        <a:t>41.9%</a:t>
                      </a:r>
                    </a:p>
                  </a:txBody>
                  <a:tcPr>
                    <a:solidFill>
                      <a:srgbClr val="FFFFFF"/>
                    </a:solidFill>
                  </a:tcPr>
                </a:tc>
                <a:tc>
                  <a:txBody>
                    <a:bodyPr/>
                    <a:lstStyle/>
                    <a:p>
                      <a:r>
                        <a:rPr sz="1100">
                          <a:solidFill>
                            <a:srgbClr val="111111"/>
                          </a:solidFill>
                          <a:latin typeface="Calibri"/>
                        </a:rPr>
                        <a:t>33.0%</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 Methods Summary</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Target price is a weighted blend of SOTP, P/E, and DCF estimates.</a:t>
            </a:r>
          </a:p>
        </p:txBody>
      </p:sp>
      <p:graphicFrame>
        <p:nvGraphicFramePr>
          <p:cNvPr id="12" name="Table 11"/>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Low</a:t>
                      </a:r>
                    </a:p>
                  </a:txBody>
                  <a:tcPr>
                    <a:solidFill>
                      <a:srgbClr val="1F4690"/>
                    </a:solidFill>
                  </a:tcPr>
                </a:tc>
                <a:tc>
                  <a:txBody>
                    <a:bodyPr/>
                    <a:lstStyle/>
                    <a:p>
                      <a:r>
                        <a:rPr b="1" sz="1100">
                          <a:solidFill>
                            <a:srgbClr val="FFFFFF"/>
                          </a:solidFill>
                          <a:latin typeface="Calibri"/>
                        </a:rPr>
                        <a:t>Base</a:t>
                      </a:r>
                    </a:p>
                  </a:txBody>
                  <a:tcPr>
                    <a:solidFill>
                      <a:srgbClr val="1F4690"/>
                    </a:solidFill>
                  </a:tcPr>
                </a:tc>
                <a:tc>
                  <a:txBody>
                    <a:bodyPr/>
                    <a:lstStyle/>
                    <a:p>
                      <a:r>
                        <a:rPr b="1" sz="1100">
                          <a:solidFill>
                            <a:srgbClr val="FFFFFF"/>
                          </a:solidFill>
                          <a:latin typeface="Calibri"/>
                        </a:rPr>
                        <a:t>High</a:t>
                      </a:r>
                    </a:p>
                  </a:txBody>
                  <a:tcPr>
                    <a:solidFill>
                      <a:srgbClr val="1F4690"/>
                    </a:solidFill>
                  </a:tcPr>
                </a:tc>
                <a:tc>
                  <a:txBody>
                    <a:bodyPr/>
                    <a:lstStyle/>
                    <a:p>
                      <a:r>
                        <a:rPr b="1" sz="1100">
                          <a:solidFill>
                            <a:srgbClr val="FFFFFF"/>
                          </a:solidFill>
                          <a:latin typeface="Calibri"/>
                        </a:rPr>
                        <a:t>Weight</a:t>
                      </a:r>
                    </a:p>
                  </a:txBody>
                  <a:tcPr>
                    <a:solidFill>
                      <a:srgbClr val="1F4690"/>
                    </a:solidFill>
                  </a:tcPr>
                </a:tc>
              </a:tr>
              <a:tr h="777240">
                <a:tc>
                  <a:txBody>
                    <a:bodyPr/>
                    <a:lstStyle/>
                    <a:p>
                      <a:r>
                        <a:rPr sz="1100">
                          <a:solidFill>
                            <a:srgbClr val="111111"/>
                          </a:solidFill>
                          <a:latin typeface="Calibri"/>
                        </a:rPr>
                        <a:t>Sum-of-the-Parts</a:t>
                      </a:r>
                    </a:p>
                  </a:txBody>
                  <a:tcPr/>
                </a:tc>
                <a:tc>
                  <a:txBody>
                    <a:bodyPr/>
                    <a:lstStyle/>
                    <a:p>
                      <a:r>
                        <a:rPr sz="1100">
                          <a:solidFill>
                            <a:srgbClr val="111111"/>
                          </a:solidFill>
                          <a:latin typeface="Calibri"/>
                        </a:rPr>
                        <a:t>820.0</a:t>
                      </a:r>
                    </a:p>
                  </a:txBody>
                  <a:tcPr/>
                </a:tc>
                <a:tc>
                  <a:txBody>
                    <a:bodyPr/>
                    <a:lstStyle/>
                    <a:p>
                      <a:r>
                        <a:rPr sz="1100">
                          <a:solidFill>
                            <a:srgbClr val="111111"/>
                          </a:solidFill>
                          <a:latin typeface="Calibri"/>
                        </a:rPr>
                        <a:t>920.0</a:t>
                      </a:r>
                    </a:p>
                  </a:txBody>
                  <a:tcPr/>
                </a:tc>
                <a:tc>
                  <a:txBody>
                    <a:bodyPr/>
                    <a:lstStyle/>
                    <a:p>
                      <a:r>
                        <a:rPr sz="1100">
                          <a:solidFill>
                            <a:srgbClr val="111111"/>
                          </a:solidFill>
                          <a:latin typeface="Calibri"/>
                        </a:rPr>
                        <a:t>1050.0</a:t>
                      </a:r>
                    </a:p>
                  </a:txBody>
                  <a:tcPr/>
                </a:tc>
                <a:tc>
                  <a:txBody>
                    <a:bodyPr/>
                    <a:lstStyle/>
                    <a:p>
                      <a:r>
                        <a:rPr sz="1100">
                          <a:solidFill>
                            <a:srgbClr val="111111"/>
                          </a:solidFill>
                          <a:latin typeface="Calibri"/>
                        </a:rPr>
                        <a:t>60.0%</a:t>
                      </a:r>
                    </a:p>
                  </a:txBody>
                  <a:tcPr/>
                </a:tc>
              </a:tr>
              <a:tr h="777240">
                <a:tc>
                  <a:txBody>
                    <a:bodyPr/>
                    <a:lstStyle/>
                    <a:p>
                      <a:r>
                        <a:rPr sz="1100">
                          <a:solidFill>
                            <a:srgbClr val="111111"/>
                          </a:solidFill>
                          <a:latin typeface="Calibri"/>
                        </a:rPr>
                        <a:t>P/E (FY27 EPS)</a:t>
                      </a:r>
                    </a:p>
                  </a:txBody>
                  <a:tcPr>
                    <a:solidFill>
                      <a:srgbClr val="FFFFFF"/>
                    </a:solidFill>
                  </a:tcPr>
                </a:tc>
                <a:tc>
                  <a:txBody>
                    <a:bodyPr/>
                    <a:lstStyle/>
                    <a:p>
                      <a:r>
                        <a:rPr sz="1100">
                          <a:solidFill>
                            <a:srgbClr val="111111"/>
                          </a:solidFill>
                          <a:latin typeface="Calibri"/>
                        </a:rPr>
                        <a:t>780.0</a:t>
                      </a:r>
                    </a:p>
                  </a:txBody>
                  <a:tcPr>
                    <a:solidFill>
                      <a:srgbClr val="FFFFFF"/>
                    </a:solidFill>
                  </a:tcPr>
                </a:tc>
                <a:tc>
                  <a:txBody>
                    <a:bodyPr/>
                    <a:lstStyle/>
                    <a:p>
                      <a:r>
                        <a:rPr sz="1100">
                          <a:solidFill>
                            <a:srgbClr val="111111"/>
                          </a:solidFill>
                          <a:latin typeface="Calibri"/>
                        </a:rPr>
                        <a:t>900.0</a:t>
                      </a:r>
                    </a:p>
                  </a:txBody>
                  <a:tcPr>
                    <a:solidFill>
                      <a:srgbClr val="FFFFFF"/>
                    </a:solidFill>
                  </a:tcPr>
                </a:tc>
                <a:tc>
                  <a:txBody>
                    <a:bodyPr/>
                    <a:lstStyle/>
                    <a:p>
                      <a:r>
                        <a:rPr sz="1100">
                          <a:solidFill>
                            <a:srgbClr val="111111"/>
                          </a:solidFill>
                          <a:latin typeface="Calibri"/>
                        </a:rPr>
                        <a:t>1020.0</a:t>
                      </a:r>
                    </a:p>
                  </a:txBody>
                  <a:tcPr>
                    <a:solidFill>
                      <a:srgbClr val="FFFFFF"/>
                    </a:solidFill>
                  </a:tcPr>
                </a:tc>
                <a:tc>
                  <a:txBody>
                    <a:bodyPr/>
                    <a:lstStyle/>
                    <a:p>
                      <a:r>
                        <a:rPr sz="1100">
                          <a:solidFill>
                            <a:srgbClr val="111111"/>
                          </a:solidFill>
                          <a:latin typeface="Calibri"/>
                        </a:rPr>
                        <a:t>25.0%</a:t>
                      </a:r>
                    </a:p>
                  </a:txBody>
                  <a:tcPr>
                    <a:solidFill>
                      <a:srgbClr val="FFFFFF"/>
                    </a:solidFill>
                  </a:tcPr>
                </a:tc>
              </a:tr>
              <a:tr h="777240">
                <a:tc>
                  <a:txBody>
                    <a:bodyPr/>
                    <a:lstStyle/>
                    <a:p>
                      <a:r>
                        <a:rPr sz="1100">
                          <a:solidFill>
                            <a:srgbClr val="111111"/>
                          </a:solidFill>
                          <a:latin typeface="Calibri"/>
                        </a:rPr>
                        <a:t>DCF</a:t>
                      </a:r>
                    </a:p>
                  </a:txBody>
                  <a:tcPr/>
                </a:tc>
                <a:tc>
                  <a:txBody>
                    <a:bodyPr/>
                    <a:lstStyle/>
                    <a:p>
                      <a:r>
                        <a:rPr sz="1100">
                          <a:solidFill>
                            <a:srgbClr val="111111"/>
                          </a:solidFill>
                          <a:latin typeface="Calibri"/>
                        </a:rPr>
                        <a:t>750.0</a:t>
                      </a:r>
                    </a:p>
                  </a:txBody>
                  <a:tcPr/>
                </a:tc>
                <a:tc>
                  <a:txBody>
                    <a:bodyPr/>
                    <a:lstStyle/>
                    <a:p>
                      <a:r>
                        <a:rPr sz="1100">
                          <a:solidFill>
                            <a:srgbClr val="111111"/>
                          </a:solidFill>
                          <a:latin typeface="Calibri"/>
                        </a:rPr>
                        <a:t>880.0</a:t>
                      </a:r>
                    </a:p>
                  </a:txBody>
                  <a:tcPr/>
                </a:tc>
                <a:tc>
                  <a:txBody>
                    <a:bodyPr/>
                    <a:lstStyle/>
                    <a:p>
                      <a:r>
                        <a:rPr sz="1100">
                          <a:solidFill>
                            <a:srgbClr val="111111"/>
                          </a:solidFill>
                          <a:latin typeface="Calibri"/>
                        </a:rPr>
                        <a:t>1010.0</a:t>
                      </a:r>
                    </a:p>
                  </a:txBody>
                  <a:tcPr/>
                </a:tc>
                <a:tc>
                  <a:txBody>
                    <a:bodyPr/>
                    <a:lstStyle/>
                    <a:p>
                      <a:r>
                        <a:rPr sz="1100">
                          <a:solidFill>
                            <a:srgbClr val="111111"/>
                          </a:solidFill>
                          <a:latin typeface="Calibri"/>
                        </a:rPr>
                        <a:t>15.0%</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Summary</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DCF assumes mid-cycle margins, normalized capex intensity, and a steady-state terminal return profile.</a:t>
            </a:r>
          </a:p>
        </p:txBody>
      </p:sp>
      <p:sp>
        <p:nvSpPr>
          <p:cNvPr id="12" name="TextBox 11"/>
          <p:cNvSpPr txBox="1"/>
          <p:nvPr/>
        </p:nvSpPr>
        <p:spPr>
          <a:xfrm>
            <a:off x="5760720" y="1417320"/>
            <a:ext cx="2941167" cy="1554480"/>
          </a:xfrm>
          <a:prstGeom prst="rect">
            <a:avLst/>
          </a:prstGeom>
          <a:noFill/>
        </p:spPr>
        <p:txBody>
          <a:bodyPr wrap="square">
            <a:spAutoFit/>
          </a:bodyPr>
          <a:lstStyle/>
          <a:p>
            <a:pPr algn="ctr"/>
            <a:r>
              <a:rPr sz="1400" b="1">
                <a:solidFill>
                  <a:srgbClr val="1F4690"/>
                </a:solidFill>
                <a:latin typeface="Calibri"/>
              </a:rPr>
              <a:t>WACC 12.5</a:t>
            </a:r>
          </a:p>
        </p:txBody>
      </p:sp>
      <p:sp>
        <p:nvSpPr>
          <p:cNvPr id="13" name="TextBox 12"/>
          <p:cNvSpPr txBox="1"/>
          <p:nvPr/>
        </p:nvSpPr>
        <p:spPr>
          <a:xfrm>
            <a:off x="8747607" y="1417320"/>
            <a:ext cx="2941167" cy="1554480"/>
          </a:xfrm>
          <a:prstGeom prst="rect">
            <a:avLst/>
          </a:prstGeom>
          <a:noFill/>
        </p:spPr>
        <p:txBody>
          <a:bodyPr wrap="square">
            <a:spAutoFit/>
          </a:bodyPr>
          <a:lstStyle/>
          <a:p>
            <a:pPr algn="ctr"/>
            <a:r>
              <a:rPr sz="1400" b="1">
                <a:solidFill>
                  <a:srgbClr val="1F4690"/>
                </a:solidFill>
                <a:latin typeface="Calibri"/>
              </a:rPr>
              <a:t>Terminal g 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 CAGR</a:t>
                      </a:r>
                    </a:p>
                  </a:txBody>
                  <a:tcPr>
                    <a:solidFill>
                      <a:srgbClr val="1F4690"/>
                    </a:solidFill>
                  </a:tcPr>
                </a:tc>
                <a:tc>
                  <a:txBody>
                    <a:bodyPr/>
                    <a:lstStyle/>
                    <a:p>
                      <a:r>
                        <a:rPr b="1" sz="1100">
                          <a:solidFill>
                            <a:srgbClr val="FFFFFF"/>
                          </a:solidFill>
                          <a:latin typeface="Calibri"/>
                        </a:rPr>
                        <a:t>EBITDA Mgn</a:t>
                      </a:r>
                    </a:p>
                  </a:txBody>
                  <a:tcPr>
                    <a:solidFill>
                      <a:srgbClr val="1F4690"/>
                    </a:solidFill>
                  </a:tcPr>
                </a:tc>
                <a:tc>
                  <a:txBody>
                    <a:bodyPr/>
                    <a:lstStyle/>
                    <a:p>
                      <a:r>
                        <a:rPr b="1" sz="1100">
                          <a:solidFill>
                            <a:srgbClr val="FFFFFF"/>
                          </a:solidFill>
                          <a:latin typeface="Calibri"/>
                        </a:rPr>
                        <a:t>Target Price</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56.0%</a:t>
                      </a:r>
                    </a:p>
                  </a:txBody>
                  <a:tcPr/>
                </a:tc>
                <a:tc>
                  <a:txBody>
                    <a:bodyPr/>
                    <a:lstStyle/>
                    <a:p>
                      <a:r>
                        <a:rPr sz="1100">
                          <a:solidFill>
                            <a:srgbClr val="111111"/>
                          </a:solidFill>
                          <a:latin typeface="Calibri"/>
                        </a:rPr>
                        <a:t>1080.0</a:t>
                      </a:r>
                    </a:p>
                  </a:txBody>
                  <a:tcPr/>
                </a:tc>
                <a:tc>
                  <a:txBody>
                    <a:bodyPr/>
                    <a:lstStyle/>
                    <a:p>
                      <a:r>
                        <a:rPr sz="1100">
                          <a:solidFill>
                            <a:srgbClr val="111111"/>
                          </a:solidFill>
                          <a:latin typeface="Calibri"/>
                        </a:rPr>
                        <a:t>25.0%</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53.5%</a:t>
                      </a:r>
                    </a:p>
                  </a:txBody>
                  <a:tcPr>
                    <a:solidFill>
                      <a:srgbClr val="FFFFFF"/>
                    </a:solidFill>
                  </a:tcPr>
                </a:tc>
                <a:tc>
                  <a:txBody>
                    <a:bodyPr/>
                    <a:lstStyle/>
                    <a:p>
                      <a:r>
                        <a:rPr sz="1100">
                          <a:solidFill>
                            <a:srgbClr val="111111"/>
                          </a:solidFill>
                          <a:latin typeface="Calibri"/>
                        </a:rPr>
                        <a:t>920.0</a:t>
                      </a:r>
                    </a:p>
                  </a:txBody>
                  <a:tcPr>
                    <a:solidFill>
                      <a:srgbClr val="FFFFFF"/>
                    </a:solidFill>
                  </a:tcPr>
                </a:tc>
                <a:tc>
                  <a:txBody>
                    <a:bodyPr/>
                    <a:lstStyle/>
                    <a:p>
                      <a:r>
                        <a:rPr sz="1100">
                          <a:solidFill>
                            <a:srgbClr val="111111"/>
                          </a:solidFill>
                          <a:latin typeface="Calibri"/>
                        </a:rPr>
                        <a:t>55.0%</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11.0%</a:t>
                      </a:r>
                    </a:p>
                  </a:txBody>
                  <a:tcPr/>
                </a:tc>
                <a:tc>
                  <a:txBody>
                    <a:bodyPr/>
                    <a:lstStyle/>
                    <a:p>
                      <a:r>
                        <a:rPr sz="1100">
                          <a:solidFill>
                            <a:srgbClr val="111111"/>
                          </a:solidFill>
                          <a:latin typeface="Calibri"/>
                        </a:rPr>
                        <a:t>47.0%</a:t>
                      </a:r>
                    </a:p>
                  </a:txBody>
                  <a:tcPr/>
                </a:tc>
                <a:tc>
                  <a:txBody>
                    <a:bodyPr/>
                    <a:lstStyle/>
                    <a:p>
                      <a:r>
                        <a:rPr sz="1100">
                          <a:solidFill>
                            <a:srgbClr val="111111"/>
                          </a:solidFill>
                          <a:latin typeface="Calibri"/>
                        </a:rPr>
                        <a:t>660.0</a:t>
                      </a:r>
                    </a:p>
                  </a:txBody>
                  <a:tcPr/>
                </a:tc>
                <a:tc>
                  <a:txBody>
                    <a:bodyPr/>
                    <a:lstStyle/>
                    <a:p>
                      <a:r>
                        <a:rPr sz="1100">
                          <a:solidFill>
                            <a:srgbClr val="111111"/>
                          </a:solidFill>
                          <a:latin typeface="Calibri"/>
                        </a:rPr>
                        <a:t>20.0%</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Catalysts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 Sustained AMC AUM growth and improvement in industry market share. - PWM net-new-money momentum and yield resilience. - Operating leverage as broking technology spend matures. - Recovery in capital-markets activity boosting investment banking and broking.</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Sustained AMC AUM growth and improvement in industry market share.</a:t>
            </a:r>
          </a:p>
          <a:p>
            <a:pPr/>
            <a:r>
              <a:rPr sz="1100" b="0">
                <a:solidFill>
                  <a:srgbClr val="111111"/>
                </a:solidFill>
                <a:latin typeface="Calibri"/>
              </a:rPr>
              <a:t>- PWM net-new-money momentum and yield resilience.</a:t>
            </a:r>
          </a:p>
          <a:p>
            <a:pPr/>
            <a:r>
              <a:rPr sz="1100" b="0">
                <a:solidFill>
                  <a:srgbClr val="111111"/>
                </a:solidFill>
                <a:latin typeface="Calibri"/>
              </a:rPr>
              <a:t>- Operating leverage as broking technology spend matures.</a:t>
            </a:r>
          </a:p>
          <a:p>
            <a:pPr/>
            <a:r>
              <a:rPr sz="1100" b="0">
                <a:solidFill>
                  <a:srgbClr val="111111"/>
                </a:solidFill>
                <a:latin typeface="Calibri"/>
              </a:rPr>
              <a:t>- Recovery in capital-markets activity boosting investment banking and broking.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Catalysts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Cyclical drawdowns in capital-markets activity hurt broking revenue.</a:t>
            </a:r>
          </a:p>
          <a:p>
            <a:pPr/>
            <a:r>
              <a:rPr sz="1100" b="0">
                <a:solidFill>
                  <a:srgbClr val="111111"/>
                </a:solidFill>
                <a:latin typeface="Calibri"/>
              </a:rPr>
              <a:t>- Mark-to-market on the proprietary book can introduce earnings volatility.</a:t>
            </a:r>
          </a:p>
          <a:p>
            <a:pPr/>
            <a:r>
              <a:rPr sz="1100" b="0">
                <a:solidFill>
                  <a:srgbClr val="111111"/>
                </a:solidFill>
                <a:latin typeface="Calibri"/>
              </a:rPr>
              <a:t>- Regulatory tightening on broking pricing or distribution economics.</a:t>
            </a:r>
          </a:p>
          <a:p>
            <a:pPr/>
            <a:r>
              <a:rPr sz="1100" b="0">
                <a:solidFill>
                  <a:srgbClr val="111111"/>
                </a:solidFill>
                <a:latin typeface="Calibri"/>
              </a:rPr>
              <a:t>- Competitive intensity from discount brokers compressing yields.</a:t>
            </a:r>
          </a:p>
          <a:p>
            <a:pPr/>
            <a:r>
              <a:rPr sz="1100" b="0">
                <a:solidFill>
                  <a:srgbClr val="111111"/>
                </a:solidFill>
                <a:latin typeface="Calibri"/>
              </a:rPr>
              <a:t>- Housing finance asset-quality slippage in stressed credit cycles.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MOTILALOFS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16</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For internal research workflow validation only. Final legal disclaimer copy will be supplied from approved assets.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