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 Initiation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MOFSL | BUY | Annuity re-rating in progress</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 (INR)</a:t>
            </a:r>
          </a:p>
          <a:p>
            <a:pPr algn="ctr"/>
            <a:r>
              <a:rPr sz="2000" b="1">
                <a:solidFill>
                  <a:srgbClr val="1F4690"/>
                </a:solidFill>
                <a:latin typeface="Calibri"/>
              </a:rPr>
              <a:t>INR 822.9</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 (INR)</a:t>
            </a:r>
          </a:p>
          <a:p>
            <a:pPr algn="ctr"/>
            <a:r>
              <a:rPr sz="2000" b="1">
                <a:solidFill>
                  <a:srgbClr val="1F4690"/>
                </a:solidFill>
                <a:latin typeface="Calibri"/>
              </a:rPr>
              <a:t>INR 1127.0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MOFSL with a BUY rating. The franchise is executing a structural migration from transactional broking revenues toward an annuity-driven mix anchored in AMC, private wealth, and alternative investments. ARR now represents the majority of net revenues, materially de-risking the earnings base. Current valuation does not fully reflect this quality shift, creating a meaningful upside opportunity to our target price.</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ARR contribution at a majority of net revenues reduces dependence on volatile broking and F&amp;O volumes.</a:t>
            </a:r>
          </a:p>
          <a:p>
            <a:pPr/>
            <a:r>
              <a:rPr sz="1100" b="0">
                <a:solidFill>
                  <a:srgbClr val="111111"/>
                </a:solidFill>
                <a:latin typeface="Calibri"/>
              </a:rPr>
              <a:t>- Total AUM compounding strongly YoY with category-leading benchmark outperformance across AMC strategies.</a:t>
            </a:r>
          </a:p>
          <a:p>
            <a:pPr/>
            <a:r>
              <a:rPr sz="1100" b="0">
                <a:solidFill>
                  <a:srgbClr val="111111"/>
                </a:solidFill>
                <a:latin typeface="Calibri"/>
              </a:rPr>
              <a:t>- Private Wealth franchise growing family count and AUM faster than industry, diversifying revenue streams.</a:t>
            </a:r>
          </a:p>
          <a:p>
            <a:pPr/>
            <a:r>
              <a:rPr sz="1100" b="0">
                <a:solidFill>
                  <a:srgbClr val="111111"/>
                </a:solidFill>
                <a:latin typeface="Calibri"/>
              </a:rPr>
              <a:t>- Operating leverage from a largely fixed cost base supports margin expansion as annuity mix rises.</a:t>
            </a:r>
          </a:p>
          <a:p>
            <a:pPr/>
            <a:r>
              <a:rPr sz="1100" b="0">
                <a:solidFill>
                  <a:srgbClr val="111111"/>
                </a:solidFill>
                <a:latin typeface="Calibri"/>
              </a:rPr>
              <a:t>- AA+ credit upgrade by ICRA endorses balance-sheet strength and capacity for disciplined reinvestment.</a:t>
            </a:r>
          </a:p>
          <a:p>
            <a:pPr/>
            <a:r>
              <a:rPr sz="1100" b="0">
                <a:solidFill>
                  <a:srgbClr val="111111"/>
                </a:solidFill>
                <a:latin typeface="Calibri"/>
              </a:rPr>
              <a:t>- Probability-weighted target prices in regulatory risk while retaining material upside to the base case.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Founded in 1987, Motilal Oswal Financial Services has evolved from a research-led equity broking house into one of India's most comprehensive financial services platforms. Its four pillars — Capital Markets, Asset &amp; Wealth Management, Housing Finance, and Alternative Investments — serve over 1.6 million customers across 550+ cities. Research coverage of 300+ companies remains the firm's enduring competitive moat.</a:t>
            </a:r>
          </a:p>
        </p:txBody>
      </p:sp>
      <p:sp>
        <p:nvSpPr>
          <p:cNvPr id="12" name="TextBox 11"/>
          <p:cNvSpPr txBox="1"/>
          <p:nvPr/>
        </p:nvSpPr>
        <p:spPr>
          <a:xfrm>
            <a:off x="6675120" y="1417320"/>
            <a:ext cx="1219123" cy="5029200"/>
          </a:xfrm>
          <a:prstGeom prst="rect">
            <a:avLst/>
          </a:prstGeom>
          <a:noFill/>
        </p:spPr>
        <p:txBody>
          <a:bodyPr wrap="square">
            <a:spAutoFit/>
          </a:bodyPr>
          <a:lstStyle/>
          <a:p>
            <a:pPr algn="ctr"/>
            <a:r>
              <a:rPr sz="1400" b="1">
                <a:solidFill>
                  <a:srgbClr val="1F4690"/>
                </a:solidFill>
                <a:latin typeface="Calibri"/>
              </a:rPr>
              <a:t>CMP (INR) INR 822.9</a:t>
            </a:r>
          </a:p>
        </p:txBody>
      </p:sp>
      <p:sp>
        <p:nvSpPr>
          <p:cNvPr id="13" name="TextBox 12"/>
          <p:cNvSpPr txBox="1"/>
          <p:nvPr/>
        </p:nvSpPr>
        <p:spPr>
          <a:xfrm>
            <a:off x="7939963" y="1417320"/>
            <a:ext cx="1219123" cy="5029200"/>
          </a:xfrm>
          <a:prstGeom prst="rect">
            <a:avLst/>
          </a:prstGeom>
          <a:noFill/>
        </p:spPr>
        <p:txBody>
          <a:bodyPr wrap="square">
            <a:spAutoFit/>
          </a:bodyPr>
          <a:lstStyle/>
          <a:p>
            <a:pPr algn="ctr"/>
            <a:r>
              <a:rPr sz="1400" b="1">
                <a:solidFill>
                  <a:srgbClr val="1F4690"/>
                </a:solidFill>
                <a:latin typeface="Calibri"/>
              </a:rPr>
              <a:t>Target Price (INR) INR 1127.0</a:t>
            </a:r>
          </a:p>
        </p:txBody>
      </p:sp>
      <p:sp>
        <p:nvSpPr>
          <p:cNvPr id="14" name="TextBox 13"/>
          <p:cNvSpPr txBox="1"/>
          <p:nvPr/>
        </p:nvSpPr>
        <p:spPr>
          <a:xfrm>
            <a:off x="9204807" y="1417320"/>
            <a:ext cx="1219123" cy="5029200"/>
          </a:xfrm>
          <a:prstGeom prst="rect">
            <a:avLst/>
          </a:prstGeom>
          <a:noFill/>
        </p:spPr>
        <p:txBody>
          <a:bodyPr wrap="square">
            <a:spAutoFit/>
          </a:bodyPr>
          <a:lstStyle/>
          <a:p>
            <a:pPr algn="ctr"/>
            <a:r>
              <a:rPr sz="1400" b="1">
                <a:solidFill>
                  <a:srgbClr val="1F4690"/>
                </a:solidFill>
                <a:latin typeface="Calibri"/>
              </a:rPr>
              <a:t>Upside (%) 37.0%</a:t>
            </a:r>
          </a:p>
        </p:txBody>
      </p:sp>
      <p:sp>
        <p:nvSpPr>
          <p:cNvPr id="15" name="TextBox 14"/>
          <p:cNvSpPr txBox="1"/>
          <p:nvPr/>
        </p:nvSpPr>
        <p:spPr>
          <a:xfrm>
            <a:off x="10469651" y="1417320"/>
            <a:ext cx="1219123" cy="5029200"/>
          </a:xfrm>
          <a:prstGeom prst="rect">
            <a:avLst/>
          </a:prstGeom>
          <a:noFill/>
        </p:spPr>
        <p:txBody>
          <a:bodyPr wrap="square">
            <a:spAutoFit/>
          </a:bodyPr>
          <a:lstStyle/>
          <a:p>
            <a:pPr algn="ctr"/>
            <a:r>
              <a:rPr sz="1400" b="1">
                <a:solidFill>
                  <a:srgbClr val="1F4690"/>
                </a:solidFill>
                <a:latin typeface="Calibri"/>
              </a:rPr>
              <a:t>Total AUM (₹ lakh cr)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ARR Mix Shift: Annual Recurring Revenue now constitutes the majority of net revenues, fundamentally improving earnings quality.</a:t>
            </a:r>
          </a:p>
          <a:p>
            <a:pPr/>
            <a:r>
              <a:rPr sz="1100" b="0">
                <a:solidFill>
                  <a:srgbClr val="111111"/>
                </a:solidFill>
                <a:latin typeface="Calibri"/>
              </a:rPr>
              <a:t>- AUM Compounding: Total AUM growing strongly YoY with 91% of AMC AUM outperforming benchmarks over three years.</a:t>
            </a:r>
          </a:p>
          <a:p>
            <a:pPr/>
            <a:r>
              <a:rPr sz="1100" b="0">
                <a:solidFill>
                  <a:srgbClr val="111111"/>
                </a:solidFill>
                <a:latin typeface="Calibri"/>
              </a:rPr>
              <a:t>- Wealth Expansion: Private Wealth AUM growing above 30% YoY with family count expanding ahead of industry averages.</a:t>
            </a:r>
          </a:p>
          <a:p>
            <a:pPr/>
            <a:r>
              <a:rPr sz="1100" b="0">
                <a:solidFill>
                  <a:srgbClr val="111111"/>
                </a:solidFill>
                <a:latin typeface="Calibri"/>
              </a:rPr>
              <a:t>- Credit Upgrade: Long-term rating upgraded to AA+ (Stable) by ICRA, affirming balance-sheet resilience.</a:t>
            </a:r>
          </a:p>
          <a:p>
            <a:pPr/>
            <a:r>
              <a:rPr sz="1100" b="0">
                <a:solidFill>
                  <a:srgbClr val="111111"/>
                </a:solidFill>
                <a:latin typeface="Calibri"/>
              </a:rPr>
              <a:t>- Reinvestment Discipline: Reinvestment Quality scored 13/15 on SAARTHI, reflecting capital allocation into high-ROIC fee businesses.</a:t>
            </a:r>
          </a:p>
          <a:p>
            <a:pPr/>
            <a:r>
              <a:rPr sz="1100" b="0">
                <a:solidFill>
                  <a:srgbClr val="111111"/>
                </a:solidFill>
                <a:latin typeface="Calibri"/>
              </a:rPr>
              <a:t>- Valuation Discount: CMP trades at a significant discount to probability-weighted target, offering a favourable risk-reward entry.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Indian Capital Markets &amp; Wealth...</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Indian financial services is at an inflection point, driven by rising financialisation of household savings, deepening capital markets, and rapidly expanding high-net-worth segments. India is projected to become the fourth-largest private wealth market by 2028. Mutual fund penetration remains at just 5–6% of GDP, implying substantial latent demand. Private credit reached a record USD 9.0 billion in H1 2025, up 53% YoY, reflecting the broadening of India's alternative investment ecosystem.</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India projected to have 16.57 lakh HNWIs by 2027, expanding the addressable wealth management market.</a:t>
            </a:r>
          </a:p>
          <a:p>
            <a:pPr/>
            <a:r>
              <a:rPr sz="1100" b="0">
                <a:solidFill>
                  <a:srgbClr val="111111"/>
                </a:solidFill>
                <a:latin typeface="Calibri"/>
              </a:rPr>
              <a:t>- UHNWI count expected to rise 58.4%, widening the opportunity for private wealth and alternative products.</a:t>
            </a:r>
          </a:p>
          <a:p>
            <a:pPr/>
            <a:r>
              <a:rPr sz="1100" b="0">
                <a:solidFill>
                  <a:srgbClr val="111111"/>
                </a:solidFill>
                <a:latin typeface="Calibri"/>
              </a:rPr>
              <a:t>- Mutual fund penetration at 5–6% of GDP leaves substantial headroom for AUM growth over the next decade.</a:t>
            </a:r>
          </a:p>
          <a:p>
            <a:pPr/>
            <a:r>
              <a:rPr sz="1100" b="0">
                <a:solidFill>
                  <a:srgbClr val="111111"/>
                </a:solidFill>
                <a:latin typeface="Calibri"/>
              </a:rPr>
              <a:t>- Private credit at record USD 9.0 billion in H1 2025 validates demand for alternative fixed-income strategies.</a:t>
            </a:r>
          </a:p>
          <a:p>
            <a:pPr/>
            <a:r>
              <a:rPr sz="1100" b="0">
                <a:solidFill>
                  <a:srgbClr val="111111"/>
                </a:solidFill>
                <a:latin typeface="Calibri"/>
              </a:rPr>
              <a:t>- NBFC sector profits projected to nearly double by FY30, supporting fee and NIM growth across lending platforms.</a:t>
            </a:r>
          </a:p>
          <a:p>
            <a:pPr/>
            <a:r>
              <a:rPr sz="1100" b="0">
                <a:solidFill>
                  <a:srgbClr val="111111"/>
                </a:solidFill>
                <a:latin typeface="Calibri"/>
              </a:rPr>
              <a:t>- Increasing retail investor participation post-pandemic deepens broking and distribution revenue pools.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Segment Revenue &amp; EBITDA Mix</a:t>
            </a:r>
          </a:p>
        </p:txBody>
      </p:sp>
      <p:pic>
        <p:nvPicPr>
          <p:cNvPr id="11" name="Picture 10" descr="image.png"/>
          <p:cNvPicPr>
            <a:picLocks noChangeAspect="1"/>
          </p:cNvPicPr>
          <p:nvPr/>
        </p:nvPicPr>
        <p:blipFill>
          <a:blip r:embed="rId3"/>
          <a:stretch>
            <a:fillRect/>
          </a:stretch>
        </p:blipFill>
        <p:spPr>
          <a:xfrm>
            <a:off x="5120640" y="1417320"/>
            <a:ext cx="6613855" cy="5029200"/>
          </a:xfrm>
          <a:prstGeom prst="rect">
            <a:avLst/>
          </a:prstGeom>
        </p:spPr>
      </p:pic>
      <p:sp>
        <p:nvSpPr>
          <p:cNvPr id="12" name="TextBox 11"/>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Asset &amp; Wealth Management now contributes the largest share of revenues with higher EBITDA margins than the Capital Markets segment. The growing weight of AMC management fees and PWM advisory fees tilts the mix toward ARR, while Housing Finance and Alternatives provide additional diversification beyond equity market cycles.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Growth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Consolidated revenues have compounded strongly, with annuity fees from AMC and private wealth growing faster than cyclical broking income. Forward estimates reflect continued AUM-linked fee growth partly offset by regulatory headwinds on F&amp;O volumes. The cost base remains largely fixed, enabling operating leverage as ARR scales.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Profitability — PAT and EBITDA Trends</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EBITDA and PAT growth have been strong in recent periods, with Q2FY25 profits rising sharply YoY. However, Q2FY26 saw a meaningful YoY decline due to SEBI regulatory changes on F&amp;O norms — underscoring residual cyclicality in the broking segment. The forward trajectory assumes continued fee income growth offsetting volume-related revenue compression.</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Quarterly Performance Snapshot</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5638647"/>
                <a:gridCol w="5638648"/>
              </a:tblGrid>
              <a:tr h="708660">
                <a:tc>
                  <a:txBody>
                    <a:bodyPr/>
                    <a:lstStyle/>
                    <a:p>
                      <a:r>
                        <a:rPr b="1" sz="1100">
                          <a:solidFill>
                            <a:srgbClr val="FFFFFF"/>
                          </a:solidFill>
                          <a:latin typeface="Calibri"/>
                        </a:rPr>
                        <a:t>Quarter</a:t>
                      </a:r>
                    </a:p>
                  </a:txBody>
                  <a:tcPr>
                    <a:solidFill>
                      <a:srgbClr val="1F4690"/>
                    </a:solidFill>
                  </a:tcPr>
                </a:tc>
                <a:tc>
                  <a:txBody>
                    <a:bodyPr/>
                    <a:lstStyle/>
                    <a:p>
                      <a:r>
                        <a:rPr b="1" sz="1100">
                          <a:solidFill>
                            <a:srgbClr val="FFFFFF"/>
                          </a:solidFill>
                          <a:latin typeface="Calibri"/>
                        </a:rPr>
                        <a:t>PAT (INR cr)</a:t>
                      </a:r>
                    </a:p>
                  </a:txBody>
                  <a:tcPr>
                    <a:solidFill>
                      <a:srgbClr val="1F4690"/>
                    </a:solidFill>
                  </a:tcPr>
                </a:tc>
              </a:tr>
              <a:tr h="708660">
                <a:tc>
                  <a:txBody>
                    <a:bodyPr/>
                    <a:lstStyle/>
                    <a:p>
                      <a:r>
                        <a:rPr sz="1100">
                          <a:solidFill>
                            <a:srgbClr val="111111"/>
                          </a:solidFill>
                          <a:latin typeface="Calibri"/>
                        </a:rPr>
                        <a:t>Q2FY25</a:t>
                      </a:r>
                    </a:p>
                  </a:txBody>
                  <a:tcPr/>
                </a:tc>
                <a:tc>
                  <a:txBody>
                    <a:bodyPr/>
                    <a:lstStyle/>
                    <a:p>
                      <a:r>
                        <a:rPr sz="1100">
                          <a:solidFill>
                            <a:srgbClr val="111111"/>
                          </a:solidFill>
                          <a:latin typeface="Calibri"/>
                        </a:rPr>
                        <a:t>1242.0</a:t>
                      </a:r>
                    </a:p>
                  </a:txBody>
                  <a:tcPr/>
                </a:tc>
              </a:tr>
              <a:tr h="708660">
                <a:tc>
                  <a:txBody>
                    <a:bodyPr/>
                    <a:lstStyle/>
                    <a:p>
                      <a:r>
                        <a:rPr sz="1100">
                          <a:solidFill>
                            <a:srgbClr val="111111"/>
                          </a:solidFill>
                          <a:latin typeface="Calibri"/>
                        </a:rPr>
                        <a:t>Q3FY25</a:t>
                      </a:r>
                    </a:p>
                  </a:txBody>
                  <a:tcPr>
                    <a:solidFill>
                      <a:srgbClr val="FFFFFF"/>
                    </a:solidFill>
                  </a:tcPr>
                </a:tc>
                <a:tc>
                  <a:txBody>
                    <a:bodyPr/>
                    <a:lstStyle/>
                    <a:p>
                      <a:r>
                        <a:rPr sz="1100">
                          <a:solidFill>
                            <a:srgbClr val="111111"/>
                          </a:solidFill>
                          <a:latin typeface="Calibri"/>
                        </a:rPr>
                        <a:t>715.0</a:t>
                      </a:r>
                    </a:p>
                  </a:txBody>
                  <a:tcPr>
                    <a:solidFill>
                      <a:srgbClr val="FFFFFF"/>
                    </a:solidFill>
                  </a:tcPr>
                </a:tc>
              </a:tr>
              <a:tr h="708660">
                <a:tc>
                  <a:txBody>
                    <a:bodyPr/>
                    <a:lstStyle/>
                    <a:p>
                      <a:r>
                        <a:rPr sz="1100">
                          <a:solidFill>
                            <a:srgbClr val="111111"/>
                          </a:solidFill>
                          <a:latin typeface="Calibri"/>
                        </a:rPr>
                        <a:t>Q4FY25</a:t>
                      </a:r>
                    </a:p>
                  </a:txBody>
                  <a:tcPr/>
                </a:tc>
                <a:tc>
                  <a:txBody>
                    <a:bodyPr/>
                    <a:lstStyle/>
                    <a:p>
                      <a:r>
                        <a:rPr sz="1100">
                          <a:solidFill>
                            <a:srgbClr val="111111"/>
                          </a:solidFill>
                          <a:latin typeface="Calibri"/>
                        </a:rPr>
                        <a:t>545.0</a:t>
                      </a:r>
                    </a:p>
                  </a:txBody>
                  <a:tcPr/>
                </a:tc>
              </a:tr>
              <a:tr h="708660">
                <a:tc>
                  <a:txBody>
                    <a:bodyPr/>
                    <a:lstStyle/>
                    <a:p>
                      <a:r>
                        <a:rPr sz="1100">
                          <a:solidFill>
                            <a:srgbClr val="111111"/>
                          </a:solidFill>
                          <a:latin typeface="Calibri"/>
                        </a:rPr>
                        <a:t>Q1FY26</a:t>
                      </a:r>
                    </a:p>
                  </a:txBody>
                  <a:tcPr>
                    <a:solidFill>
                      <a:srgbClr val="FFFFFF"/>
                    </a:solidFill>
                  </a:tcPr>
                </a:tc>
                <a:tc>
                  <a:txBody>
                    <a:bodyPr/>
                    <a:lstStyle/>
                    <a:p>
                      <a:r>
                        <a:rPr sz="1100">
                          <a:solidFill>
                            <a:srgbClr val="111111"/>
                          </a:solidFill>
                          <a:latin typeface="Calibri"/>
                        </a:rPr>
                        <a:t>425.0</a:t>
                      </a:r>
                    </a:p>
                  </a:txBody>
                  <a:tcPr>
                    <a:solidFill>
                      <a:srgbClr val="FFFFFF"/>
                    </a:solidFill>
                  </a:tcPr>
                </a:tc>
              </a:tr>
              <a:tr h="708660">
                <a:tc>
                  <a:txBody>
                    <a:bodyPr/>
                    <a:lstStyle/>
                    <a:p>
                      <a:r>
                        <a:rPr sz="1100">
                          <a:solidFill>
                            <a:srgbClr val="111111"/>
                          </a:solidFill>
                          <a:latin typeface="Calibri"/>
                        </a:rPr>
                        <a:t>Q2FY26</a:t>
                      </a:r>
                    </a:p>
                  </a:txBody>
                  <a:tcPr/>
                </a:tc>
                <a:tc>
                  <a:txBody>
                    <a:bodyPr/>
                    <a:lstStyle/>
                    <a:p>
                      <a:r>
                        <a:rPr sz="1100">
                          <a:solidFill>
                            <a:srgbClr val="111111"/>
                          </a:solidFill>
                          <a:latin typeface="Calibri"/>
                        </a:rPr>
                        <a:t>401.0</a:t>
                      </a:r>
                    </a:p>
                  </a:txBody>
                  <a:tcPr/>
                </a:tc>
              </a:tr>
            </a:tbl>
          </a:graphicData>
        </a:graphic>
      </p:graphicFrame>
      <p:sp>
        <p:nvSpPr>
          <p:cNvPr id="12" name="TextBox 11"/>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Quarterly profits exhibit meaningful variability driven by F&amp;O volumes, market levels and mark-to-market movements on the proprietary book. Q2FY26 profit declined due to SEBI regulatory changes. The rising ARR mix should dampen this volatility over time, but investors should model for quarter-on-quarter swings in the near term.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Ratios — Margins, Returns and Multiples</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253032"/>
                <a:gridCol w="1253032"/>
                <a:gridCol w="1253032"/>
                <a:gridCol w="1253032"/>
                <a:gridCol w="1253032"/>
                <a:gridCol w="1253032"/>
                <a:gridCol w="1253032"/>
                <a:gridCol w="1253032"/>
                <a:gridCol w="1253039"/>
              </a:tblGrid>
              <a:tr h="472440">
                <a:tc>
                  <a:txBody>
                    <a:bodyPr/>
                    <a:lstStyle/>
                    <a:p>
                      <a:r>
                        <a:rPr b="1" sz="1100">
                          <a:solidFill>
                            <a:srgbClr val="FFFFFF"/>
                          </a:solidFill>
                          <a:latin typeface="Calibri"/>
                        </a:rPr>
                        <a:t>Ratio</a:t>
                      </a:r>
                    </a:p>
                  </a:txBody>
                  <a:tcPr>
                    <a:solidFill>
                      <a:srgbClr val="1F4690"/>
                    </a:solidFill>
                  </a:tcPr>
                </a:tc>
                <a:tc>
                  <a:txBody>
                    <a:bodyPr/>
                    <a:lstStyle/>
                    <a:p>
                      <a:r>
                        <a:rPr b="1" sz="1100">
                          <a:solidFill>
                            <a:srgbClr val="FFFFFF"/>
                          </a:solidFill>
                          <a:latin typeface="Calibri"/>
                        </a:rPr>
                        <a:t>Unit</a:t>
                      </a:r>
                    </a:p>
                  </a:txBody>
                  <a:tcPr>
                    <a:solidFill>
                      <a:srgbClr val="1F4690"/>
                    </a:solidFill>
                  </a:tcPr>
                </a:tc>
                <a:tc>
                  <a:txBody>
                    <a:bodyPr/>
                    <a:lstStyle/>
                    <a:p>
                      <a:r>
                        <a:rPr b="1" sz="1100">
                          <a:solidFill>
                            <a:srgbClr val="FFFFFF"/>
                          </a:solidFill>
                          <a:latin typeface="Calibri"/>
                        </a:rPr>
                        <a:t>FY22A</a:t>
                      </a:r>
                    </a:p>
                  </a:txBody>
                  <a:tcPr>
                    <a:solidFill>
                      <a:srgbClr val="1F4690"/>
                    </a:solidFill>
                  </a:tcPr>
                </a:tc>
                <a:tc>
                  <a:txBody>
                    <a:bodyPr/>
                    <a:lstStyle/>
                    <a:p>
                      <a:r>
                        <a:rPr b="1" sz="1100">
                          <a:solidFill>
                            <a:srgbClr val="FFFFFF"/>
                          </a:solidFill>
                          <a:latin typeface="Calibri"/>
                        </a:rPr>
                        <a:t>FY23A</a:t>
                      </a:r>
                    </a:p>
                  </a:txBody>
                  <a:tcPr>
                    <a:solidFill>
                      <a:srgbClr val="1F4690"/>
                    </a:solidFill>
                  </a:tcPr>
                </a:tc>
                <a:tc>
                  <a:txBody>
                    <a:bodyPr/>
                    <a:lstStyle/>
                    <a:p>
                      <a:r>
                        <a:rPr b="1" sz="1100">
                          <a:solidFill>
                            <a:srgbClr val="FFFFFF"/>
                          </a:solidFill>
                          <a:latin typeface="Calibri"/>
                        </a:rPr>
                        <a:t>FY24A</a:t>
                      </a:r>
                    </a:p>
                  </a:txBody>
                  <a:tcPr>
                    <a:solidFill>
                      <a:srgbClr val="1F4690"/>
                    </a:solidFill>
                  </a:tcPr>
                </a:tc>
                <a:tc>
                  <a:txBody>
                    <a:bodyPr/>
                    <a:lstStyle/>
                    <a:p>
                      <a:r>
                        <a:rPr b="1" sz="1100">
                          <a:solidFill>
                            <a:srgbClr val="FFFFFF"/>
                          </a:solidFill>
                          <a:latin typeface="Calibri"/>
                        </a:rPr>
                        <a:t>FY25A</a:t>
                      </a:r>
                    </a:p>
                  </a:txBody>
                  <a:tcPr>
                    <a:solidFill>
                      <a:srgbClr val="1F4690"/>
                    </a:solidFill>
                  </a:tcPr>
                </a:tc>
                <a:tc>
                  <a:txBody>
                    <a:bodyPr/>
                    <a:lstStyle/>
                    <a:p>
                      <a:r>
                        <a:rPr b="1" sz="1100">
                          <a:solidFill>
                            <a:srgbClr val="FFFFFF"/>
                          </a:solidFill>
                          <a:latin typeface="Calibri"/>
                        </a:rPr>
                        <a:t>FY26E</a:t>
                      </a:r>
                    </a:p>
                  </a:txBody>
                  <a:tcPr>
                    <a:solidFill>
                      <a:srgbClr val="1F4690"/>
                    </a:solidFill>
                  </a:tcPr>
                </a:tc>
                <a:tc>
                  <a:txBody>
                    <a:bodyPr/>
                    <a:lstStyle/>
                    <a:p>
                      <a:r>
                        <a:rPr b="1" sz="1100">
                          <a:solidFill>
                            <a:srgbClr val="FFFFFF"/>
                          </a:solidFill>
                          <a:latin typeface="Calibri"/>
                        </a:rPr>
                        <a:t>FY27E</a:t>
                      </a:r>
                    </a:p>
                  </a:txBody>
                  <a:tcPr>
                    <a:solidFill>
                      <a:srgbClr val="1F4690"/>
                    </a:solidFill>
                  </a:tcPr>
                </a:tc>
                <a:tc>
                  <a:txBody>
                    <a:bodyPr/>
                    <a:lstStyle/>
                    <a:p>
                      <a:r>
                        <a:rPr b="1" sz="1100">
                          <a:solidFill>
                            <a:srgbClr val="FFFFFF"/>
                          </a:solidFill>
                          <a:latin typeface="Calibri"/>
                        </a:rPr>
                        <a:t>FY28E</a:t>
                      </a:r>
                    </a:p>
                  </a:txBody>
                  <a:tcPr>
                    <a:solidFill>
                      <a:srgbClr val="1F4690"/>
                    </a:solidFill>
                  </a:tcPr>
                </a:tc>
              </a:tr>
              <a:tr h="472440">
                <a:tc>
                  <a:txBody>
                    <a:bodyPr/>
                    <a:lstStyle/>
                    <a:p>
                      <a:r>
                        <a:rPr sz="1100">
                          <a:solidFill>
                            <a:srgbClr val="111111"/>
                          </a:solidFill>
                          <a:latin typeface="Calibri"/>
                        </a:rPr>
                        <a:t>EBITDA Margin</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49.3</a:t>
                      </a:r>
                    </a:p>
                  </a:txBody>
                  <a:tcPr/>
                </a:tc>
                <a:tc>
                  <a:txBody>
                    <a:bodyPr/>
                    <a:lstStyle/>
                    <a:p>
                      <a:r>
                        <a:rPr sz="1100">
                          <a:solidFill>
                            <a:srgbClr val="111111"/>
                          </a:solidFill>
                          <a:latin typeface="Calibri"/>
                        </a:rPr>
                        <a:t>44.9</a:t>
                      </a:r>
                    </a:p>
                  </a:txBody>
                  <a:tcPr/>
                </a:tc>
                <a:tc>
                  <a:txBody>
                    <a:bodyPr/>
                    <a:lstStyle/>
                    <a:p>
                      <a:r>
                        <a:rPr sz="1100">
                          <a:solidFill>
                            <a:srgbClr val="111111"/>
                          </a:solidFill>
                          <a:latin typeface="Calibri"/>
                        </a:rPr>
                        <a:t>57.4</a:t>
                      </a:r>
                    </a:p>
                  </a:txBody>
                  <a:tcPr/>
                </a:tc>
                <a:tc>
                  <a:txBody>
                    <a:bodyPr/>
                    <a:lstStyle/>
                    <a:p>
                      <a:r>
                        <a:rPr sz="1100">
                          <a:solidFill>
                            <a:srgbClr val="111111"/>
                          </a:solidFill>
                          <a:latin typeface="Calibri"/>
                        </a:rPr>
                        <a:t>54.5</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r>
              <a:tr h="472440">
                <a:tc>
                  <a:txBody>
                    <a:bodyPr/>
                    <a:lstStyle/>
                    <a:p>
                      <a:r>
                        <a:rPr sz="1100">
                          <a:solidFill>
                            <a:srgbClr val="111111"/>
                          </a:solidFill>
                          <a:latin typeface="Calibri"/>
                        </a:rPr>
                        <a:t>PAT Margin</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30.5</a:t>
                      </a:r>
                    </a:p>
                  </a:txBody>
                  <a:tcPr>
                    <a:solidFill>
                      <a:srgbClr val="FFFFFF"/>
                    </a:solidFill>
                  </a:tcPr>
                </a:tc>
                <a:tc>
                  <a:txBody>
                    <a:bodyPr/>
                    <a:lstStyle/>
                    <a:p>
                      <a:r>
                        <a:rPr sz="1100">
                          <a:solidFill>
                            <a:srgbClr val="111111"/>
                          </a:solidFill>
                          <a:latin typeface="Calibri"/>
                        </a:rPr>
                        <a:t>22.3</a:t>
                      </a:r>
                    </a:p>
                  </a:txBody>
                  <a:tcPr>
                    <a:solidFill>
                      <a:srgbClr val="FFFFFF"/>
                    </a:solidFill>
                  </a:tcPr>
                </a:tc>
                <a:tc>
                  <a:txBody>
                    <a:bodyPr/>
                    <a:lstStyle/>
                    <a:p>
                      <a:r>
                        <a:rPr sz="1100">
                          <a:solidFill>
                            <a:srgbClr val="111111"/>
                          </a:solidFill>
                          <a:latin typeface="Calibri"/>
                        </a:rPr>
                        <a:t>34.4</a:t>
                      </a:r>
                    </a:p>
                  </a:txBody>
                  <a:tcPr>
                    <a:solidFill>
                      <a:srgbClr val="FFFFFF"/>
                    </a:solidFill>
                  </a:tcPr>
                </a:tc>
                <a:tc>
                  <a:txBody>
                    <a:bodyPr/>
                    <a:lstStyle/>
                    <a:p>
                      <a:r>
                        <a:rPr sz="1100">
                          <a:solidFill>
                            <a:srgbClr val="111111"/>
                          </a:solidFill>
                          <a:latin typeface="Calibri"/>
                        </a:rPr>
                        <a:t>30.0</a:t>
                      </a:r>
                    </a:p>
                  </a:txBody>
                  <a:tcPr>
                    <a:solidFill>
                      <a:srgbClr val="FFFFFF"/>
                    </a:solidFill>
                  </a:tcPr>
                </a:tc>
                <a:tc>
                  <a:txBody>
                    <a:bodyPr/>
                    <a:lstStyle/>
                    <a:p>
                      <a:r>
                        <a:rPr sz="1100">
                          <a:solidFill>
                            <a:srgbClr val="111111"/>
                          </a:solidFill>
                          <a:latin typeface="Calibri"/>
                        </a:rPr>
                        <a:t>29.5</a:t>
                      </a:r>
                    </a:p>
                  </a:txBody>
                  <a:tcPr>
                    <a:solidFill>
                      <a:srgbClr val="FFFFFF"/>
                    </a:solidFill>
                  </a:tcPr>
                </a:tc>
                <a:tc>
                  <a:txBody>
                    <a:bodyPr/>
                    <a:lstStyle/>
                    <a:p>
                      <a:r>
                        <a:rPr sz="1100">
                          <a:solidFill>
                            <a:srgbClr val="111111"/>
                          </a:solidFill>
                          <a:latin typeface="Calibri"/>
                        </a:rPr>
                        <a:t>30.7</a:t>
                      </a:r>
                    </a:p>
                  </a:txBody>
                  <a:tcPr>
                    <a:solidFill>
                      <a:srgbClr val="FFFFFF"/>
                    </a:solidFill>
                  </a:tcPr>
                </a:tc>
                <a:tc>
                  <a:txBody>
                    <a:bodyPr/>
                    <a:lstStyle/>
                    <a:p>
                      <a:r>
                        <a:rPr sz="1100">
                          <a:solidFill>
                            <a:srgbClr val="111111"/>
                          </a:solidFill>
                          <a:latin typeface="Calibri"/>
                        </a:rPr>
                        <a:t>31.7</a:t>
                      </a:r>
                    </a:p>
                  </a:txBody>
                  <a:tcPr>
                    <a:solidFill>
                      <a:srgbClr val="FFFFFF"/>
                    </a:solidFill>
                  </a:tcPr>
                </a:tc>
              </a:tr>
              <a:tr h="472440">
                <a:tc>
                  <a:txBody>
                    <a:bodyPr/>
                    <a:lstStyle/>
                    <a:p>
                      <a:r>
                        <a:rPr sz="1100">
                          <a:solidFill>
                            <a:srgbClr val="111111"/>
                          </a:solidFill>
                          <a:latin typeface="Calibri"/>
                        </a:rPr>
                        <a:t>RoE</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15.0</a:t>
                      </a:r>
                    </a:p>
                  </a:txBody>
                  <a:tcPr/>
                </a:tc>
                <a:tc>
                  <a:txBody>
                    <a:bodyPr/>
                    <a:lstStyle/>
                    <a:p>
                      <a:r>
                        <a:rPr sz="1100">
                          <a:solidFill>
                            <a:srgbClr val="111111"/>
                          </a:solidFill>
                          <a:latin typeface="Calibri"/>
                        </a:rPr>
                        <a:t>28.0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RoCE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13.0</a:t>
                      </a:r>
                    </a:p>
                  </a:txBody>
                  <a:tcPr>
                    <a:solidFill>
                      <a:srgbClr val="FFFFFF"/>
                    </a:solidFill>
                  </a:tcPr>
                </a:tc>
                <a:tc>
                  <a:txBody>
                    <a:bodyPr/>
                    <a:lstStyle/>
                    <a:p>
                      <a:r>
                        <a:rPr sz="1100">
                          <a:solidFill>
                            <a:srgbClr val="111111"/>
                          </a:solidFill>
                          <a:latin typeface="Calibri"/>
                        </a:rPr>
                        <a:t>21.0</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19.0</a:t>
                      </a:r>
                    </a:p>
                  </a:txBody>
                  <a:tcPr>
                    <a:solidFill>
                      <a:srgbClr val="FFFFFF"/>
                    </a:solidFill>
                  </a:tcPr>
                </a:tc>
              </a:tr>
              <a:tr h="472440">
                <a:tc>
                  <a:txBody>
                    <a:bodyPr/>
                    <a:lstStyle/>
                    <a:p>
                      <a:r>
                        <a:rPr sz="1100">
                          <a:solidFill>
                            <a:srgbClr val="111111"/>
                          </a:solidFill>
                          <a:latin typeface="Calibri"/>
                        </a:rPr>
                        <a:t>RoIC</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92.0</a:t>
                      </a:r>
                    </a:p>
                  </a:txBody>
                  <a:tcPr/>
                </a:tc>
                <a:tc>
                  <a:txBody>
                    <a:bodyPr/>
                    <a:lstStyle/>
                    <a:p>
                      <a:r>
                        <a:rPr sz="1100">
                          <a:solidFill>
                            <a:srgbClr val="111111"/>
                          </a:solidFill>
                          <a:latin typeface="Calibri"/>
                        </a:rPr>
                        <a:t>78.0</a:t>
                      </a:r>
                    </a:p>
                  </a:txBody>
                  <a:tcPr/>
                </a:tc>
                <a:tc>
                  <a:txBody>
                    <a:bodyPr/>
                    <a:lstStyle/>
                    <a:p>
                      <a:r>
                        <a:rPr sz="1100">
                          <a:solidFill>
                            <a:srgbClr val="111111"/>
                          </a:solidFill>
                          <a:latin typeface="Calibri"/>
                        </a:rPr>
                        <a:t>119.0</a:t>
                      </a:r>
                    </a:p>
                  </a:txBody>
                  <a:tcPr/>
                </a:tc>
                <a:tc>
                  <a:txBody>
                    <a:bodyPr/>
                    <a:lstStyle/>
                    <a:p>
                      <a:r>
                        <a:rPr sz="1100">
                          <a:solidFill>
                            <a:srgbClr val="111111"/>
                          </a:solidFill>
                          <a:latin typeface="Calibri"/>
                        </a:rPr>
                        <a:t>87.0</a:t>
                      </a:r>
                    </a:p>
                  </a:txBody>
                  <a:tcPr/>
                </a:tc>
                <a:tc>
                  <a:txBody>
                    <a:bodyPr/>
                    <a:lstStyle/>
                    <a:p>
                      <a:r>
                        <a:rPr sz="1100">
                          <a:solidFill>
                            <a:srgbClr val="111111"/>
                          </a:solidFill>
                          <a:latin typeface="Calibri"/>
                        </a:rPr>
                        <a:t>35.0</a:t>
                      </a:r>
                    </a:p>
                  </a:txBody>
                  <a:tcPr/>
                </a:tc>
                <a:tc>
                  <a:txBody>
                    <a:bodyPr/>
                    <a:lstStyle/>
                    <a:p>
                      <a:r>
                        <a:rPr sz="1100">
                          <a:solidFill>
                            <a:srgbClr val="111111"/>
                          </a:solidFill>
                          <a:latin typeface="Calibri"/>
                        </a:rPr>
                        <a:t>24.0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P/E</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37.5</a:t>
                      </a:r>
                    </a:p>
                  </a:txBody>
                  <a:tcPr>
                    <a:solidFill>
                      <a:srgbClr val="FFFFFF"/>
                    </a:solidFill>
                  </a:tcPr>
                </a:tc>
                <a:tc>
                  <a:txBody>
                    <a:bodyPr/>
                    <a:lstStyle/>
                    <a:p>
                      <a:r>
                        <a:rPr sz="1100">
                          <a:solidFill>
                            <a:srgbClr val="111111"/>
                          </a:solidFill>
                          <a:latin typeface="Calibri"/>
                        </a:rPr>
                        <a:t>52.3</a:t>
                      </a:r>
                    </a:p>
                  </a:txBody>
                  <a:tcPr>
                    <a:solidFill>
                      <a:srgbClr val="FFFFFF"/>
                    </a:solidFill>
                  </a:tcPr>
                </a:tc>
                <a:tc>
                  <a:txBody>
                    <a:bodyPr/>
                    <a:lstStyle/>
                    <a:p>
                      <a:r>
                        <a:rPr sz="1100">
                          <a:solidFill>
                            <a:srgbClr val="111111"/>
                          </a:solidFill>
                          <a:latin typeface="Calibri"/>
                        </a:rPr>
                        <a:t>20.1</a:t>
                      </a:r>
                    </a:p>
                  </a:txBody>
                  <a:tcPr>
                    <a:solidFill>
                      <a:srgbClr val="FFFFFF"/>
                    </a:solidFill>
                  </a:tcPr>
                </a:tc>
                <a:tc>
                  <a:txBody>
                    <a:bodyPr/>
                    <a:lstStyle/>
                    <a:p>
                      <a:r>
                        <a:rPr sz="1100">
                          <a:solidFill>
                            <a:srgbClr val="111111"/>
                          </a:solidFill>
                          <a:latin typeface="Calibri"/>
                        </a:rPr>
                        <a:t>19.7</a:t>
                      </a:r>
                    </a:p>
                  </a:txBody>
                  <a:tcPr>
                    <a:solidFill>
                      <a:srgbClr val="FFFFFF"/>
                    </a:solidFill>
                  </a:tcPr>
                </a:tc>
                <a:tc>
                  <a:txBody>
                    <a:bodyPr/>
                    <a:lstStyle/>
                    <a:p>
                      <a:r>
                        <a:rPr sz="1100">
                          <a:solidFill>
                            <a:srgbClr val="111111"/>
                          </a:solidFill>
                          <a:latin typeface="Calibri"/>
                        </a:rPr>
                        <a:t>16.1</a:t>
                      </a:r>
                    </a:p>
                  </a:txBody>
                  <a:tcPr>
                    <a:solidFill>
                      <a:srgbClr val="FFFFFF"/>
                    </a:solidFill>
                  </a:tcPr>
                </a:tc>
                <a:tc>
                  <a:txBody>
                    <a:bodyPr/>
                    <a:lstStyle/>
                    <a:p>
                      <a:r>
                        <a:rPr sz="1100">
                          <a:solidFill>
                            <a:srgbClr val="111111"/>
                          </a:solidFill>
                          <a:latin typeface="Calibri"/>
                        </a:rPr>
                        <a:t>12.4</a:t>
                      </a:r>
                    </a:p>
                  </a:txBody>
                  <a:tcPr>
                    <a:solidFill>
                      <a:srgbClr val="FFFFFF"/>
                    </a:solidFill>
                  </a:tcPr>
                </a:tc>
                <a:tc>
                  <a:txBody>
                    <a:bodyPr/>
                    <a:lstStyle/>
                    <a:p>
                      <a:r>
                        <a:rPr sz="1100">
                          <a:solidFill>
                            <a:srgbClr val="111111"/>
                          </a:solidFill>
                          <a:latin typeface="Calibri"/>
                        </a:rPr>
                        <a:t>9.6</a:t>
                      </a:r>
                    </a:p>
                  </a:txBody>
                  <a:tcPr>
                    <a:solidFill>
                      <a:srgbClr val="FFFFFF"/>
                    </a:solidFill>
                  </a:tcPr>
                </a:tc>
              </a:tr>
              <a:tr h="472440">
                <a:tc>
                  <a:txBody>
                    <a:bodyPr/>
                    <a:lstStyle/>
                    <a:p>
                      <a:r>
                        <a:rPr sz="1100">
                          <a:solidFill>
                            <a:srgbClr val="111111"/>
                          </a:solidFill>
                          <a:latin typeface="Calibri"/>
                        </a:rPr>
                        <a:t>P/B</a:t>
                      </a:r>
                    </a:p>
                  </a:txBody>
                  <a:tcPr/>
                </a:tc>
                <a:tc>
                  <a:txBody>
                    <a:bodyPr/>
                    <a:lstStyle/>
                    <a:p>
                      <a:r>
                        <a:rPr sz="1100">
                          <a:solidFill>
                            <a:srgbClr val="111111"/>
                          </a:solidFill>
                          <a:latin typeface="Calibri"/>
                        </a:rPr>
                        <a:t>x</a:t>
                      </a:r>
                    </a:p>
                  </a:txBody>
                  <a:tcPr/>
                </a:tc>
                <a:tc>
                  <a:txBody>
                    <a:bodyPr/>
                    <a:lstStyle/>
                    <a:p>
                      <a:r>
                        <a:rPr sz="1100">
                          <a:solidFill>
                            <a:srgbClr val="111111"/>
                          </a:solidFill>
                          <a:latin typeface="Calibri"/>
                        </a:rPr>
                        <a:t>8.7</a:t>
                      </a:r>
                    </a:p>
                  </a:txBody>
                  <a:tcPr/>
                </a:tc>
                <a:tc>
                  <a:txBody>
                    <a:bodyPr/>
                    <a:lstStyle/>
                    <a:p>
                      <a:r>
                        <a:rPr sz="1100">
                          <a:solidFill>
                            <a:srgbClr val="111111"/>
                          </a:solidFill>
                          <a:latin typeface="Calibri"/>
                        </a:rPr>
                        <a:t>7.8</a:t>
                      </a:r>
                    </a:p>
                  </a:txBody>
                  <a:tcPr/>
                </a:tc>
                <a:tc>
                  <a:txBody>
                    <a:bodyPr/>
                    <a:lstStyle/>
                    <a:p>
                      <a:r>
                        <a:rPr sz="1100">
                          <a:solidFill>
                            <a:srgbClr val="111111"/>
                          </a:solidFill>
                          <a:latin typeface="Calibri"/>
                        </a:rPr>
                        <a:t>5.6</a:t>
                      </a:r>
                    </a:p>
                  </a:txBody>
                  <a:tcPr/>
                </a:tc>
                <a:tc>
                  <a:txBody>
                    <a:bodyPr/>
                    <a:lstStyle/>
                    <a:p>
                      <a:r>
                        <a:rPr sz="1100">
                          <a:solidFill>
                            <a:srgbClr val="111111"/>
                          </a:solidFill>
                          <a:latin typeface="Calibri"/>
                        </a:rPr>
                        <a:t>4.5</a:t>
                      </a:r>
                    </a:p>
                  </a:txBody>
                  <a:tcPr/>
                </a:tc>
                <a:tc>
                  <a:txBody>
                    <a:bodyPr/>
                    <a:lstStyle/>
                    <a:p>
                      <a:r>
                        <a:rPr sz="1100">
                          <a:solidFill>
                            <a:srgbClr val="111111"/>
                          </a:solidFill>
                          <a:latin typeface="Calibri"/>
                        </a:rPr>
                        <a:t>3.6</a:t>
                      </a:r>
                    </a:p>
                  </a:txBody>
                  <a:tcPr/>
                </a:tc>
                <a:tc>
                  <a:txBody>
                    <a:bodyPr/>
                    <a:lstStyle/>
                    <a:p>
                      <a:r>
                        <a:rPr sz="1100">
                          <a:solidFill>
                            <a:srgbClr val="111111"/>
                          </a:solidFill>
                          <a:latin typeface="Calibri"/>
                        </a:rPr>
                        <a:t>2.9</a:t>
                      </a:r>
                    </a:p>
                  </a:txBody>
                  <a:tcPr/>
                </a:tc>
                <a:tc>
                  <a:txBody>
                    <a:bodyPr/>
                    <a:lstStyle/>
                    <a:p>
                      <a:r>
                        <a:rPr sz="1100">
                          <a:solidFill>
                            <a:srgbClr val="111111"/>
                          </a:solidFill>
                          <a:latin typeface="Calibri"/>
                        </a:rPr>
                        <a:t>2.3</a:t>
                      </a:r>
                    </a:p>
                  </a:txBody>
                  <a:tcPr/>
                </a:tc>
              </a:tr>
              <a:tr h="472440">
                <a:tc>
                  <a:txBody>
                    <a:bodyPr/>
                    <a:lstStyle/>
                    <a:p>
                      <a:r>
                        <a:rPr sz="1100">
                          <a:solidFill>
                            <a:srgbClr val="111111"/>
                          </a:solidFill>
                          <a:latin typeface="Calibri"/>
                        </a:rPr>
                        <a:t>EV/EBITDA</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9.0</a:t>
                      </a:r>
                    </a:p>
                  </a:txBody>
                  <a:tcPr>
                    <a:solidFill>
                      <a:srgbClr val="FFFFFF"/>
                    </a:solidFill>
                  </a:tcPr>
                </a:tc>
                <a:tc>
                  <a:txBody>
                    <a:bodyPr/>
                    <a:lstStyle/>
                    <a:p>
                      <a:r>
                        <a:rPr sz="1100">
                          <a:solidFill>
                            <a:srgbClr val="111111"/>
                          </a:solidFill>
                          <a:latin typeface="Calibri"/>
                        </a:rPr>
                        <a:t>10.3</a:t>
                      </a:r>
                    </a:p>
                  </a:txBody>
                  <a:tcPr>
                    <a:solidFill>
                      <a:srgbClr val="FFFFFF"/>
                    </a:solidFill>
                  </a:tcPr>
                </a:tc>
                <a:tc>
                  <a:txBody>
                    <a:bodyPr/>
                    <a:lstStyle/>
                    <a:p>
                      <a:r>
                        <a:rPr sz="1100">
                          <a:solidFill>
                            <a:srgbClr val="111111"/>
                          </a:solidFill>
                          <a:latin typeface="Calibri"/>
                        </a:rPr>
                        <a:t>9.5</a:t>
                      </a:r>
                    </a:p>
                  </a:txBody>
                  <a:tcPr>
                    <a:solidFill>
                      <a:srgbClr val="FFFFFF"/>
                    </a:solidFill>
                  </a:tcPr>
                </a:tc>
                <a:tc>
                  <a:txBody>
                    <a:bodyPr/>
                    <a:lstStyle/>
                    <a:p>
                      <a:r>
                        <a:rPr sz="1100">
                          <a:solidFill>
                            <a:srgbClr val="111111"/>
                          </a:solidFill>
                          <a:latin typeface="Calibri"/>
                        </a:rPr>
                        <a:t>11.4</a:t>
                      </a:r>
                    </a:p>
                  </a:txBody>
                  <a:tcPr>
                    <a:solidFill>
                      <a:srgbClr val="FFFFFF"/>
                    </a:solidFill>
                  </a:tcPr>
                </a:tc>
                <a:tc>
                  <a:txBody>
                    <a:bodyPr/>
                    <a:lstStyle/>
                    <a:p>
                      <a:r>
                        <a:rPr sz="1100">
                          <a:solidFill>
                            <a:srgbClr val="111111"/>
                          </a:solidFill>
                          <a:latin typeface="Calibri"/>
                        </a:rPr>
                        <a:t>12.7</a:t>
                      </a:r>
                    </a:p>
                  </a:txBody>
                  <a:tcPr>
                    <a:solidFill>
                      <a:srgbClr val="FFFFFF"/>
                    </a:solidFill>
                  </a:tcPr>
                </a:tc>
                <a:tc>
                  <a:txBody>
                    <a:bodyPr/>
                    <a:lstStyle/>
                    <a:p>
                      <a:r>
                        <a:rPr sz="1100">
                          <a:solidFill>
                            <a:srgbClr val="111111"/>
                          </a:solidFill>
                          <a:latin typeface="Calibri"/>
                        </a:rPr>
                        <a:t>10.5</a:t>
                      </a:r>
                    </a:p>
                  </a:txBody>
                  <a:tcPr>
                    <a:solidFill>
                      <a:srgbClr val="FFFFFF"/>
                    </a:solidFill>
                  </a:tcPr>
                </a:tc>
                <a:tc>
                  <a:txBody>
                    <a:bodyPr/>
                    <a:lstStyle/>
                    <a:p>
                      <a:r>
                        <a:rPr sz="1100">
                          <a:solidFill>
                            <a:srgbClr val="111111"/>
                          </a:solidFill>
                          <a:latin typeface="Calibri"/>
                        </a:rPr>
                        <a:t>8.8</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Peer Comparison — Capital Markets &amp; Wealth Platforms</a:t>
            </a:r>
          </a:p>
        </p:txBody>
      </p:sp>
      <p:graphicFrame>
        <p:nvGraphicFramePr>
          <p:cNvPr id="11" name="Table 10"/>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777240">
                <a:tc>
                  <a:txBody>
                    <a:bodyPr/>
                    <a:lstStyle/>
                    <a:p>
                      <a:r>
                        <a:rPr b="1" sz="1100">
                          <a:solidFill>
                            <a:srgbClr val="FFFFFF"/>
                          </a:solidFill>
                          <a:latin typeface="Calibri"/>
                        </a:rPr>
                        <a:t>Method</a:t>
                      </a:r>
                    </a:p>
                  </a:txBody>
                  <a:tcPr>
                    <a:solidFill>
                      <a:srgbClr val="1F4690"/>
                    </a:solidFill>
                  </a:tcPr>
                </a:tc>
                <a:tc>
                  <a:txBody>
                    <a:bodyPr/>
                    <a:lstStyle/>
                    <a:p>
                      <a:r>
                        <a:rPr b="1" sz="1100">
                          <a:solidFill>
                            <a:srgbClr val="FFFFFF"/>
                          </a:solidFill>
                          <a:latin typeface="Calibri"/>
                        </a:rPr>
                        <a:t>Bear (INR)</a:t>
                      </a:r>
                    </a:p>
                  </a:txBody>
                  <a:tcPr>
                    <a:solidFill>
                      <a:srgbClr val="1F4690"/>
                    </a:solidFill>
                  </a:tcPr>
                </a:tc>
                <a:tc>
                  <a:txBody>
                    <a:bodyPr/>
                    <a:lstStyle/>
                    <a:p>
                      <a:r>
                        <a:rPr b="1" sz="1100">
                          <a:solidFill>
                            <a:srgbClr val="FFFFFF"/>
                          </a:solidFill>
                          <a:latin typeface="Calibri"/>
                        </a:rPr>
                        <a:t>Base (INR)</a:t>
                      </a:r>
                    </a:p>
                  </a:txBody>
                  <a:tcPr>
                    <a:solidFill>
                      <a:srgbClr val="1F4690"/>
                    </a:solidFill>
                  </a:tcPr>
                </a:tc>
                <a:tc>
                  <a:txBody>
                    <a:bodyPr/>
                    <a:lstStyle/>
                    <a:p>
                      <a:r>
                        <a:rPr b="1" sz="1100">
                          <a:solidFill>
                            <a:srgbClr val="FFFFFF"/>
                          </a:solidFill>
                          <a:latin typeface="Calibri"/>
                        </a:rPr>
                        <a:t>Bull (INR)</a:t>
                      </a:r>
                    </a:p>
                  </a:txBody>
                  <a:tcPr>
                    <a:solidFill>
                      <a:srgbClr val="1F4690"/>
                    </a:solidFill>
                  </a:tcPr>
                </a:tc>
                <a:tc>
                  <a:txBody>
                    <a:bodyPr/>
                    <a:lstStyle/>
                    <a:p>
                      <a:r>
                        <a:rPr b="1" sz="1100">
                          <a:solidFill>
                            <a:srgbClr val="FFFFFF"/>
                          </a:solidFill>
                          <a:latin typeface="Calibri"/>
                        </a:rPr>
                        <a:t>Weight</a:t>
                      </a:r>
                    </a:p>
                  </a:txBody>
                  <a:tcPr>
                    <a:solidFill>
                      <a:srgbClr val="1F4690"/>
                    </a:solidFill>
                  </a:tcPr>
                </a:tc>
                <a:tc>
                  <a:txBody>
                    <a:bodyPr/>
                    <a:lstStyle/>
                    <a:p>
                      <a:r>
                        <a:rPr b="1" sz="1100">
                          <a:solidFill>
                            <a:srgbClr val="FFFFFF"/>
                          </a:solidFill>
                          <a:latin typeface="Calibri"/>
                        </a:rPr>
                        <a:t>Notes</a:t>
                      </a:r>
                    </a:p>
                  </a:txBody>
                  <a:tcPr>
                    <a:solidFill>
                      <a:srgbClr val="1F4690"/>
                    </a:solidFill>
                  </a:tcPr>
                </a:tc>
              </a:tr>
              <a:tr h="777240">
                <a:tc>
                  <a:txBody>
                    <a:bodyPr/>
                    <a:lstStyle/>
                    <a:p>
                      <a:r>
                        <a:rPr sz="1100">
                          <a:solidFill>
                            <a:srgbClr val="111111"/>
                          </a:solidFill>
                          <a:latin typeface="Calibri"/>
                        </a:rPr>
                        <a:t>Bull Case</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28x P/E on FY27E EPS of INR 50; ARR &gt; 70%, AMC +40% YoY.</a:t>
                      </a:r>
                    </a:p>
                  </a:txBody>
                  <a:tcPr/>
                </a:tc>
              </a:tr>
              <a:tr h="777240">
                <a:tc>
                  <a:txBody>
                    <a:bodyPr/>
                    <a:lstStyle/>
                    <a:p>
                      <a:r>
                        <a:rPr sz="1100">
                          <a:solidFill>
                            <a:srgbClr val="111111"/>
                          </a:solidFill>
                          <a:latin typeface="Calibri"/>
                        </a:rPr>
                        <a:t>Base Case</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24x P/E on FY27E EPS of INR 47; ARR stable at 65%, steady AUM.</a:t>
                      </a:r>
                    </a:p>
                  </a:txBody>
                  <a:tcPr>
                    <a:solidFill>
                      <a:srgbClr val="FFFFFF"/>
                    </a:solidFill>
                  </a:tcPr>
                </a:tc>
              </a:tr>
              <a:tr h="777240">
                <a:tc>
                  <a:txBody>
                    <a:bodyPr/>
                    <a:lstStyle/>
                    <a:p>
                      <a:r>
                        <a:rPr sz="1100">
                          <a:solidFill>
                            <a:srgbClr val="111111"/>
                          </a:solidFill>
                          <a:latin typeface="Calibri"/>
                        </a:rPr>
                        <a:t>Bear Case</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18x P/E on depressed FY27E EPS of INR 35; sustained regulatory headwinds.</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base-case target is derived from a blended P/E and P/B valuation applied to FY26E–FY27E estimates, with a probability-weighted target that accounts for regulatory risk scenarios. The current market price implies a significant discount to this target. As the ARR mix crosses 70%, we expect the market to re-rate the stock toward asset management multiples fr...</a:t>
            </a:r>
          </a:p>
        </p:txBody>
      </p:sp>
      <p:sp>
        <p:nvSpPr>
          <p:cNvPr id="12" name="TextBox 11"/>
          <p:cNvSpPr txBox="1"/>
          <p:nvPr/>
        </p:nvSpPr>
        <p:spPr>
          <a:xfrm>
            <a:off x="5303520" y="1417320"/>
            <a:ext cx="1026109" cy="1645920"/>
          </a:xfrm>
          <a:prstGeom prst="rect">
            <a:avLst/>
          </a:prstGeom>
          <a:noFill/>
        </p:spPr>
        <p:txBody>
          <a:bodyPr wrap="square">
            <a:spAutoFit/>
          </a:bodyPr>
          <a:lstStyle/>
          <a:p>
            <a:pPr algn="ctr"/>
            <a:r>
              <a:rPr sz="1400" b="1">
                <a:solidFill>
                  <a:srgbClr val="1F4690"/>
                </a:solidFill>
                <a:latin typeface="Calibri"/>
              </a:rPr>
              <a:t>CMP (INR) INR 822.9</a:t>
            </a:r>
          </a:p>
        </p:txBody>
      </p:sp>
      <p:sp>
        <p:nvSpPr>
          <p:cNvPr id="13" name="TextBox 12"/>
          <p:cNvSpPr txBox="1"/>
          <p:nvPr/>
        </p:nvSpPr>
        <p:spPr>
          <a:xfrm>
            <a:off x="6375349" y="1417320"/>
            <a:ext cx="1026109" cy="1645920"/>
          </a:xfrm>
          <a:prstGeom prst="rect">
            <a:avLst/>
          </a:prstGeom>
          <a:noFill/>
        </p:spPr>
        <p:txBody>
          <a:bodyPr wrap="square">
            <a:spAutoFit/>
          </a:bodyPr>
          <a:lstStyle/>
          <a:p>
            <a:pPr algn="ctr"/>
            <a:r>
              <a:rPr sz="1400" b="1">
                <a:solidFill>
                  <a:srgbClr val="1F4690"/>
                </a:solidFill>
                <a:latin typeface="Calibri"/>
              </a:rPr>
              <a:t>Target Price (INR) INR 1127.0</a:t>
            </a:r>
          </a:p>
        </p:txBody>
      </p:sp>
      <p:sp>
        <p:nvSpPr>
          <p:cNvPr id="14" name="TextBox 13"/>
          <p:cNvSpPr txBox="1"/>
          <p:nvPr/>
        </p:nvSpPr>
        <p:spPr>
          <a:xfrm>
            <a:off x="7447178" y="1417320"/>
            <a:ext cx="1026109" cy="1645920"/>
          </a:xfrm>
          <a:prstGeom prst="rect">
            <a:avLst/>
          </a:prstGeom>
          <a:noFill/>
        </p:spPr>
        <p:txBody>
          <a:bodyPr wrap="square">
            <a:spAutoFit/>
          </a:bodyPr>
          <a:lstStyle/>
          <a:p>
            <a:pPr algn="ctr"/>
            <a:r>
              <a:rPr sz="1400" b="1">
                <a:solidFill>
                  <a:srgbClr val="1F4690"/>
                </a:solidFill>
                <a:latin typeface="Calibri"/>
              </a:rPr>
              <a:t>Upside (%) 37.0%</a:t>
            </a:r>
          </a:p>
        </p:txBody>
      </p:sp>
      <p:sp>
        <p:nvSpPr>
          <p:cNvPr id="15" name="TextBox 14"/>
          <p:cNvSpPr txBox="1"/>
          <p:nvPr/>
        </p:nvSpPr>
        <p:spPr>
          <a:xfrm>
            <a:off x="8519007" y="1417320"/>
            <a:ext cx="1026109" cy="1645920"/>
          </a:xfrm>
          <a:prstGeom prst="rect">
            <a:avLst/>
          </a:prstGeom>
          <a:noFill/>
        </p:spPr>
        <p:txBody>
          <a:bodyPr wrap="square">
            <a:spAutoFit/>
          </a:bodyPr>
          <a:lstStyle/>
          <a:p>
            <a:pPr algn="ctr"/>
            <a:r>
              <a:rPr sz="1400" b="1">
                <a:solidFill>
                  <a:srgbClr val="1F4690"/>
                </a:solidFill>
                <a:latin typeface="Calibri"/>
              </a:rPr>
              <a:t>Prob-Weighted Target (INR) 1109.0</a:t>
            </a:r>
          </a:p>
        </p:txBody>
      </p:sp>
      <p:sp>
        <p:nvSpPr>
          <p:cNvPr id="16" name="TextBox 15"/>
          <p:cNvSpPr txBox="1"/>
          <p:nvPr/>
        </p:nvSpPr>
        <p:spPr>
          <a:xfrm>
            <a:off x="9590836" y="1417320"/>
            <a:ext cx="1026109" cy="1645920"/>
          </a:xfrm>
          <a:prstGeom prst="rect">
            <a:avLst/>
          </a:prstGeom>
          <a:noFill/>
        </p:spPr>
        <p:txBody>
          <a:bodyPr wrap="square">
            <a:spAutoFit/>
          </a:bodyPr>
          <a:lstStyle/>
          <a:p>
            <a:pPr algn="ctr"/>
            <a:r>
              <a:rPr sz="1400" b="1">
                <a:solidFill>
                  <a:srgbClr val="1F4690"/>
                </a:solidFill>
                <a:latin typeface="Calibri"/>
              </a:rPr>
              <a:t>P/E FY26E (x) 16.1</a:t>
            </a:r>
          </a:p>
        </p:txBody>
      </p:sp>
      <p:sp>
        <p:nvSpPr>
          <p:cNvPr id="17" name="TextBox 16"/>
          <p:cNvSpPr txBox="1"/>
          <p:nvPr/>
        </p:nvSpPr>
        <p:spPr>
          <a:xfrm>
            <a:off x="10662666" y="1417320"/>
            <a:ext cx="1026109" cy="1645920"/>
          </a:xfrm>
          <a:prstGeom prst="rect">
            <a:avLst/>
          </a:prstGeom>
          <a:noFill/>
        </p:spPr>
        <p:txBody>
          <a:bodyPr wrap="square">
            <a:spAutoFit/>
          </a:bodyPr>
          <a:lstStyle/>
          <a:p>
            <a:pPr algn="ctr"/>
            <a:r>
              <a:rPr sz="1400" b="1">
                <a:solidFill>
                  <a:srgbClr val="1F4690"/>
                </a:solidFill>
                <a:latin typeface="Calibri"/>
              </a:rPr>
              <a:t>P/B FY26E (x) 3.6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Assumptions and Output</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Our DCF model discounts free cash flows over a ten-year explicit forecast period followed by a terminal value. The model captures the structural shift in revenue mix, with higher ARR businesses attracting a lower cost of equity as earnings visibility improves. Sensitivity to WACC and terminal growth rate brackets the intrinsic value range used in scenario analysis.</a:t>
            </a:r>
          </a:p>
        </p:txBody>
      </p:sp>
      <p:sp>
        <p:nvSpPr>
          <p:cNvPr id="12" name="TextBox 11"/>
          <p:cNvSpPr txBox="1"/>
          <p:nvPr/>
        </p:nvSpPr>
        <p:spPr>
          <a:xfrm>
            <a:off x="5760720" y="1417320"/>
            <a:ext cx="1447723" cy="1554480"/>
          </a:xfrm>
          <a:prstGeom prst="rect">
            <a:avLst/>
          </a:prstGeom>
          <a:noFill/>
        </p:spPr>
        <p:txBody>
          <a:bodyPr wrap="square">
            <a:spAutoFit/>
          </a:bodyPr>
          <a:lstStyle/>
          <a:p>
            <a:pPr algn="ctr"/>
            <a:r>
              <a:rPr sz="1400" b="1">
                <a:solidFill>
                  <a:srgbClr val="1F4690"/>
                </a:solidFill>
                <a:latin typeface="Calibri"/>
              </a:rPr>
              <a:t>RoE FY26E (%) 22.0</a:t>
            </a:r>
          </a:p>
        </p:txBody>
      </p:sp>
      <p:sp>
        <p:nvSpPr>
          <p:cNvPr id="13" name="TextBox 12"/>
          <p:cNvSpPr txBox="1"/>
          <p:nvPr/>
        </p:nvSpPr>
        <p:spPr>
          <a:xfrm>
            <a:off x="7254163" y="1417320"/>
            <a:ext cx="1447723" cy="1554480"/>
          </a:xfrm>
          <a:prstGeom prst="rect">
            <a:avLst/>
          </a:prstGeom>
          <a:noFill/>
        </p:spPr>
        <p:txBody>
          <a:bodyPr wrap="square">
            <a:spAutoFit/>
          </a:bodyPr>
          <a:lstStyle/>
          <a:p>
            <a:pPr algn="ctr"/>
            <a:r>
              <a:rPr sz="1400" b="1">
                <a:solidFill>
                  <a:srgbClr val="1F4690"/>
                </a:solidFill>
                <a:latin typeface="Calibri"/>
              </a:rPr>
              <a:t>RoCE FY26E (%) 18.0</a:t>
            </a:r>
          </a:p>
        </p:txBody>
      </p:sp>
      <p:sp>
        <p:nvSpPr>
          <p:cNvPr id="14" name="TextBox 13"/>
          <p:cNvSpPr txBox="1"/>
          <p:nvPr/>
        </p:nvSpPr>
        <p:spPr>
          <a:xfrm>
            <a:off x="8747607" y="1417320"/>
            <a:ext cx="1447723" cy="1554480"/>
          </a:xfrm>
          <a:prstGeom prst="rect">
            <a:avLst/>
          </a:prstGeom>
          <a:noFill/>
        </p:spPr>
        <p:txBody>
          <a:bodyPr wrap="square">
            <a:spAutoFit/>
          </a:bodyPr>
          <a:lstStyle/>
          <a:p>
            <a:pPr algn="ctr"/>
            <a:r>
              <a:rPr sz="1400" b="1">
                <a:solidFill>
                  <a:srgbClr val="1F4690"/>
                </a:solidFill>
                <a:latin typeface="Calibri"/>
              </a:rPr>
              <a:t>EPS FY26E (INR) 51.2</a:t>
            </a:r>
          </a:p>
        </p:txBody>
      </p:sp>
      <p:sp>
        <p:nvSpPr>
          <p:cNvPr id="15" name="TextBox 14"/>
          <p:cNvSpPr txBox="1"/>
          <p:nvPr/>
        </p:nvSpPr>
        <p:spPr>
          <a:xfrm>
            <a:off x="10241051" y="1417320"/>
            <a:ext cx="1447723" cy="1554480"/>
          </a:xfrm>
          <a:prstGeom prst="rect">
            <a:avLst/>
          </a:prstGeom>
          <a:noFill/>
        </p:spPr>
        <p:txBody>
          <a:bodyPr wrap="square">
            <a:spAutoFit/>
          </a:bodyPr>
          <a:lstStyle/>
          <a:p>
            <a:pPr algn="ctr"/>
            <a:r>
              <a:rPr sz="1400" b="1">
                <a:solidFill>
                  <a:srgbClr val="1F4690"/>
                </a:solidFill>
                <a:latin typeface="Calibri"/>
              </a:rPr>
              <a:t>BVPS FY26E (INR) 229.8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Scenario Analysis — Bear, Base and Bull Cases</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1257300">
                <a:tc>
                  <a:txBody>
                    <a:bodyPr/>
                    <a:lstStyle/>
                    <a:p>
                      <a:r>
                        <a:rPr b="1" sz="1100">
                          <a:solidFill>
                            <a:srgbClr val="FFFFFF"/>
                          </a:solidFill>
                          <a:latin typeface="Calibri"/>
                        </a:rPr>
                        <a:t>Scenario</a:t>
                      </a:r>
                    </a:p>
                  </a:txBody>
                  <a:tcPr>
                    <a:solidFill>
                      <a:srgbClr val="1F4690"/>
                    </a:solidFill>
                  </a:tcPr>
                </a:tc>
                <a:tc>
                  <a:txBody>
                    <a:bodyPr/>
                    <a:lstStyle/>
                    <a:p>
                      <a:r>
                        <a:rPr b="1" sz="1100">
                          <a:solidFill>
                            <a:srgbClr val="FFFFFF"/>
                          </a:solidFill>
                          <a:latin typeface="Calibri"/>
                        </a:rPr>
                        <a:t>Rev CAGR</a:t>
                      </a:r>
                    </a:p>
                  </a:txBody>
                  <a:tcPr>
                    <a:solidFill>
                      <a:srgbClr val="1F4690"/>
                    </a:solidFill>
                  </a:tcPr>
                </a:tc>
                <a:tc>
                  <a:txBody>
                    <a:bodyPr/>
                    <a:lstStyle/>
                    <a:p>
                      <a:r>
                        <a:rPr b="1" sz="1100">
                          <a:solidFill>
                            <a:srgbClr val="FFFFFF"/>
                          </a:solidFill>
                          <a:latin typeface="Calibri"/>
                        </a:rPr>
                        <a:t>EBITDA Margin</a:t>
                      </a:r>
                    </a:p>
                  </a:txBody>
                  <a:tcPr>
                    <a:solidFill>
                      <a:srgbClr val="1F4690"/>
                    </a:solidFill>
                  </a:tcPr>
                </a:tc>
                <a:tc>
                  <a:txBody>
                    <a:bodyPr/>
                    <a:lstStyle/>
                    <a:p>
                      <a:r>
                        <a:rPr b="1" sz="1100">
                          <a:solidFill>
                            <a:srgbClr val="FFFFFF"/>
                          </a:solidFill>
                          <a:latin typeface="Calibri"/>
                        </a:rPr>
                        <a:t>Target Price (INR)</a:t>
                      </a:r>
                    </a:p>
                  </a:txBody>
                  <a:tcPr>
                    <a:solidFill>
                      <a:srgbClr val="1F4690"/>
                    </a:solidFill>
                  </a:tcPr>
                </a:tc>
                <a:tc>
                  <a:txBody>
                    <a:bodyPr/>
                    <a:lstStyle/>
                    <a:p>
                      <a:r>
                        <a:rPr b="1" sz="1100">
                          <a:solidFill>
                            <a:srgbClr val="FFFFFF"/>
                          </a:solidFill>
                          <a:latin typeface="Calibri"/>
                        </a:rPr>
                        <a:t>Probability</a:t>
                      </a:r>
                    </a:p>
                  </a:txBody>
                  <a:tcPr>
                    <a:solidFill>
                      <a:srgbClr val="1F4690"/>
                    </a:solidFill>
                  </a:tcPr>
                </a:tc>
                <a:tc>
                  <a:txBody>
                    <a:bodyPr/>
                    <a:lstStyle/>
                    <a:p>
                      <a:r>
                        <a:rPr b="1" sz="1100">
                          <a:solidFill>
                            <a:srgbClr val="FFFFFF"/>
                          </a:solidFill>
                          <a:latin typeface="Calibri"/>
                        </a:rPr>
                        <a:t>Key Assumption</a:t>
                      </a:r>
                    </a:p>
                  </a:txBody>
                  <a:tcPr>
                    <a:solidFill>
                      <a:srgbClr val="1F4690"/>
                    </a:solidFill>
                  </a:tcPr>
                </a:tc>
              </a:tr>
              <a:tr h="1257300">
                <a:tc>
                  <a:txBody>
                    <a:bodyPr/>
                    <a:lstStyle/>
                    <a:p>
                      <a:r>
                        <a:rPr sz="1100">
                          <a:solidFill>
                            <a:srgbClr val="111111"/>
                          </a:solidFill>
                          <a:latin typeface="Calibri"/>
                        </a:rPr>
                        <a:t>Bull</a:t>
                      </a:r>
                    </a:p>
                  </a:txBody>
                  <a:tcPr/>
                </a:tc>
                <a:tc>
                  <a:txBody>
                    <a:bodyPr/>
                    <a:lstStyle/>
                    <a:p>
                      <a:r>
                        <a:rPr sz="1100">
                          <a:solidFill>
                            <a:srgbClr val="111111"/>
                          </a:solidFill>
                          <a:latin typeface="Calibri"/>
                        </a:rPr>
                        <a:t>27.5%</a:t>
                      </a:r>
                    </a:p>
                  </a:txBody>
                  <a:tcPr/>
                </a:tc>
                <a:tc>
                  <a:txBody>
                    <a:bodyPr/>
                    <a:lstStyle/>
                    <a:p>
                      <a:r>
                        <a:rPr sz="1100">
                          <a:solidFill>
                            <a:srgbClr val="111111"/>
                          </a:solidFill>
                          <a:latin typeface="Calibri"/>
                        </a:rPr>
                        <a:t>55.0%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ARR &gt; 70%, AMC AUM +40% YoY, regulatory clarity.</a:t>
                      </a:r>
                    </a:p>
                  </a:txBody>
                  <a:tcPr/>
                </a:tc>
              </a:tr>
              <a:tr h="1257300">
                <a:tc>
                  <a:txBody>
                    <a:bodyPr/>
                    <a:lstStyle/>
                    <a:p>
                      <a:r>
                        <a:rPr sz="1100">
                          <a:solidFill>
                            <a:srgbClr val="111111"/>
                          </a:solidFill>
                          <a:latin typeface="Calibri"/>
                        </a:rPr>
                        <a:t>Base</a:t>
                      </a:r>
                    </a:p>
                  </a:txBody>
                  <a:tcPr>
                    <a:solidFill>
                      <a:srgbClr val="FFFFFF"/>
                    </a:solidFill>
                  </a:tcPr>
                </a:tc>
                <a:tc>
                  <a:txBody>
                    <a:bodyPr/>
                    <a:lstStyle/>
                    <a:p>
                      <a:r>
                        <a:rPr sz="1100">
                          <a:solidFill>
                            <a:srgbClr val="111111"/>
                          </a:solidFill>
                          <a:latin typeface="Calibri"/>
                        </a:rPr>
                        <a:t>16.0%</a:t>
                      </a:r>
                    </a:p>
                  </a:txBody>
                  <a:tcPr>
                    <a:solidFill>
                      <a:srgbClr val="FFFFFF"/>
                    </a:solidFill>
                  </a:tcPr>
                </a:tc>
                <a:tc>
                  <a:txBody>
                    <a:bodyPr/>
                    <a:lstStyle/>
                    <a:p>
                      <a:r>
                        <a:rPr sz="1100">
                          <a:solidFill>
                            <a:srgbClr val="111111"/>
                          </a:solidFill>
                          <a:latin typeface="Calibri"/>
                        </a:rPr>
                        <a:t>51.0%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ARR steady at 65%, AUM compounding, stable regulation.</a:t>
                      </a:r>
                    </a:p>
                  </a:txBody>
                  <a:tcPr>
                    <a:solidFill>
                      <a:srgbClr val="FFFFFF"/>
                    </a:solidFill>
                  </a:tcPr>
                </a:tc>
              </a:tr>
              <a:tr h="1257300">
                <a:tc>
                  <a:txBody>
                    <a:bodyPr/>
                    <a:lstStyle/>
                    <a:p>
                      <a:r>
                        <a:rPr sz="1100">
                          <a:solidFill>
                            <a:srgbClr val="111111"/>
                          </a:solidFill>
                          <a:latin typeface="Calibri"/>
                        </a:rPr>
                        <a:t>Bear</a:t>
                      </a:r>
                    </a:p>
                  </a:txBody>
                  <a:tcPr/>
                </a:tc>
                <a:tc>
                  <a:txBody>
                    <a:bodyPr/>
                    <a:lstStyle/>
                    <a:p>
                      <a:r>
                        <a:rPr sz="1100">
                          <a:solidFill>
                            <a:srgbClr val="111111"/>
                          </a:solidFill>
                          <a:latin typeface="Calibri"/>
                        </a:rPr>
                        <a:t>6.0%</a:t>
                      </a:r>
                    </a:p>
                  </a:txBody>
                  <a:tcPr/>
                </a:tc>
                <a:tc>
                  <a:txBody>
                    <a:bodyPr/>
                    <a:lstStyle/>
                    <a:p>
                      <a:r>
                        <a:rPr sz="1100">
                          <a:solidFill>
                            <a:srgbClr val="111111"/>
                          </a:solidFill>
                          <a:latin typeface="Calibri"/>
                        </a:rPr>
                        <a:t>45.0%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Sustained F&amp;O headwinds, fintech share loss.</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SAARTHI Scorecard — 72/100</a:t>
            </a:r>
          </a:p>
        </p:txBody>
      </p:sp>
      <p:graphicFrame>
        <p:nvGraphicFramePr>
          <p:cNvPr id="11" name="Table 10"/>
          <p:cNvGraphicFramePr>
            <a:graphicFrameLocks noGrp="1"/>
          </p:cNvGraphicFramePr>
          <p:nvPr/>
        </p:nvGraphicFramePr>
        <p:xfrm>
          <a:off x="457200" y="3108960"/>
          <a:ext cx="11277295" cy="333756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417195">
                <a:tc>
                  <a:txBody>
                    <a:bodyPr/>
                    <a:lstStyle/>
                    <a:p>
                      <a:r>
                        <a:rPr b="1" sz="1100">
                          <a:solidFill>
                            <a:srgbClr val="FFFFFF"/>
                          </a:solidFill>
                          <a:latin typeface="Calibri"/>
                        </a:rPr>
                        <a:t>Code</a:t>
                      </a:r>
                    </a:p>
                  </a:txBody>
                  <a:tcPr>
                    <a:solidFill>
                      <a:srgbClr val="1F4690"/>
                    </a:solidFill>
                  </a:tcPr>
                </a:tc>
                <a:tc>
                  <a:txBody>
                    <a:bodyPr/>
                    <a:lstStyle/>
                    <a:p>
                      <a:r>
                        <a:rPr b="1" sz="1100">
                          <a:solidFill>
                            <a:srgbClr val="FFFFFF"/>
                          </a:solidFill>
                          <a:latin typeface="Calibri"/>
                        </a:rPr>
                        <a:t>Dimension</a:t>
                      </a:r>
                    </a:p>
                  </a:txBody>
                  <a:tcPr>
                    <a:solidFill>
                      <a:srgbClr val="1F4690"/>
                    </a:solidFill>
                  </a:tcPr>
                </a:tc>
                <a:tc>
                  <a:txBody>
                    <a:bodyPr/>
                    <a:lstStyle/>
                    <a:p>
                      <a:r>
                        <a:rPr b="1" sz="1100">
                          <a:solidFill>
                            <a:srgbClr val="FFFFFF"/>
                          </a:solidFill>
                          <a:latin typeface="Calibri"/>
                        </a:rPr>
                        <a:t>Score</a:t>
                      </a:r>
                    </a:p>
                  </a:txBody>
                  <a:tcPr>
                    <a:solidFill>
                      <a:srgbClr val="1F4690"/>
                    </a:solidFill>
                  </a:tcPr>
                </a:tc>
                <a:tc>
                  <a:txBody>
                    <a:bodyPr/>
                    <a:lstStyle/>
                    <a:p>
                      <a:r>
                        <a:rPr b="1" sz="1100">
                          <a:solidFill>
                            <a:srgbClr val="FFFFFF"/>
                          </a:solidFill>
                          <a:latin typeface="Calibri"/>
                        </a:rPr>
                        <a:t>Assessment</a:t>
                      </a:r>
                    </a:p>
                  </a:txBody>
                  <a:tcPr>
                    <a:solidFill>
                      <a:srgbClr val="1F4690"/>
                    </a:solidFill>
                  </a:tcPr>
                </a:tc>
                <a:tc>
                  <a:txBody>
                    <a:bodyPr/>
                    <a:lstStyle/>
                    <a:p>
                      <a:r>
                        <a:rPr b="1" sz="1100">
                          <a:solidFill>
                            <a:srgbClr val="FFFFFF"/>
                          </a:solidFill>
                          <a:latin typeface="Calibri"/>
                        </a:rPr>
                        <a:t>Evidence</a:t>
                      </a:r>
                    </a:p>
                  </a:txBody>
                  <a:tcPr>
                    <a:solidFill>
                      <a:srgbClr val="1F4690"/>
                    </a:solidFill>
                  </a:tcPr>
                </a:tc>
              </a:tr>
              <a:tr h="417195">
                <a:tc>
                  <a:txBody>
                    <a:bodyPr/>
                    <a:lstStyle/>
                    <a:p>
                      <a:r>
                        <a:rPr sz="1100">
                          <a:solidFill>
                            <a:srgbClr val="111111"/>
                          </a:solidFill>
                          <a:latin typeface="Calibri"/>
                        </a:rPr>
                        <a:t>S</a:t>
                      </a:r>
                    </a:p>
                  </a:txBody>
                  <a:tcPr/>
                </a:tc>
                <a:tc>
                  <a:txBody>
                    <a:bodyPr/>
                    <a:lstStyle/>
                    <a:p>
                      <a:r>
                        <a:rPr sz="1100">
                          <a:solidFill>
                            <a:srgbClr val="111111"/>
                          </a:solidFill>
                          <a:latin typeface="Calibri"/>
                        </a:rPr>
                        <a:t>Scalability of Core Engine</a:t>
                      </a:r>
                    </a:p>
                  </a:txBody>
                  <a:tcPr/>
                </a:tc>
                <a:tc>
                  <a:txBody>
                    <a:bodyPr/>
                    <a:lstStyle/>
                    <a:p>
                      <a:r>
                        <a:rPr sz="1100">
                          <a:solidFill>
                            <a:srgbClr val="111111"/>
                          </a:solidFill>
                          <a:latin typeface="Calibri"/>
                        </a:rPr>
                        <a:t>12/15</a:t>
                      </a:r>
                    </a:p>
                  </a:txBody>
                  <a:tcPr/>
                </a:tc>
                <a:tc>
                  <a:txBody>
                    <a:bodyPr/>
                    <a:lstStyle/>
                    <a:p>
                      <a:r>
                        <a:rPr sz="110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a:t>
                      </a:r>
                    </a:p>
                  </a:txBody>
                  <a:tcPr/>
                </a:tc>
                <a:tc>
                  <a:txBody>
                    <a:bodyPr/>
                    <a:lstStyle/>
                    <a:p>
                      <a:r>
                        <a:rPr sz="1100">
                          <a:solidFill>
                            <a:srgbClr val="111111"/>
                          </a:solidFill>
                          <a:latin typeface="Calibri"/>
                        </a:rPr>
                        <a:t>AMC AUM +33% YoY to INR 1.89L Cr with INR 11,610 Cr net flows.</a:t>
                      </a:r>
                    </a:p>
                  </a:txBody>
                  <a:tcPr/>
                </a:tc>
              </a:tr>
              <a:tr h="417195">
                <a:tc>
                  <a:txBody>
                    <a:bodyPr/>
                    <a:lstStyle/>
                    <a:p>
                      <a:r>
                        <a:rPr sz="1100">
                          <a:solidFill>
                            <a:srgbClr val="111111"/>
                          </a:solidFill>
                          <a:latin typeface="Calibri"/>
                        </a:rPr>
                        <a:t>A1</a:t>
                      </a:r>
                    </a:p>
                  </a:txBody>
                  <a:tcPr>
                    <a:solidFill>
                      <a:srgbClr val="FFFFFF"/>
                    </a:solidFill>
                  </a:tcPr>
                </a:tc>
                <a:tc>
                  <a:txBody>
                    <a:bodyPr/>
                    <a:lstStyle/>
                    <a:p>
                      <a:r>
                        <a:rPr sz="1100">
                          <a:solidFill>
                            <a:srgbClr val="111111"/>
                          </a:solidFill>
                          <a:latin typeface="Calibri"/>
                        </a:rPr>
                        <a:t>Addressable Market &amp; Adjacency</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a:t>
                      </a:r>
                    </a:p>
                  </a:txBody>
                  <a:tcPr>
                    <a:solidFill>
                      <a:srgbClr val="FFFFFF"/>
                    </a:solidFill>
                  </a:tcPr>
                </a:tc>
                <a:tc>
                  <a:txBody>
                    <a:bodyPr/>
                    <a:lstStyle/>
                    <a:p>
                      <a:r>
                        <a:rPr sz="1100">
                          <a:solidFill>
                            <a:srgbClr val="111111"/>
                          </a:solidFill>
                          <a:latin typeface="Calibri"/>
                        </a:rPr>
                        <a:t>India private credit hit USD 9.0 Bn in H1 2025 (+53% YoY).</a:t>
                      </a:r>
                    </a:p>
                  </a:txBody>
                  <a:tcPr>
                    <a:solidFill>
                      <a:srgbClr val="FFFFFF"/>
                    </a:solidFill>
                  </a:tcPr>
                </a:tc>
              </a:tr>
              <a:tr h="417195">
                <a:tc>
                  <a:txBody>
                    <a:bodyPr/>
                    <a:lstStyle/>
                    <a:p>
                      <a:r>
                        <a:rPr sz="1100">
                          <a:solidFill>
                            <a:srgbClr val="111111"/>
                          </a:solidFill>
                          <a:latin typeface="Calibri"/>
                        </a:rPr>
                        <a:t>A2</a:t>
                      </a:r>
                    </a:p>
                  </a:txBody>
                  <a:tcPr/>
                </a:tc>
                <a:tc>
                  <a:txBody>
                    <a:bodyPr/>
                    <a:lstStyle/>
                    <a:p>
                      <a:r>
                        <a:rPr sz="1100">
                          <a:solidFill>
                            <a:srgbClr val="111111"/>
                          </a:solidFill>
                          <a:latin typeface="Calibri"/>
                        </a:rPr>
                        <a:t>Asymmetric Pricing Power</a:t>
                      </a:r>
                    </a:p>
                  </a:txBody>
                  <a:tcPr/>
                </a:tc>
                <a:tc>
                  <a:txBody>
                    <a:bodyPr/>
                    <a:lstStyle/>
                    <a:p>
                      <a:r>
                        <a:rPr sz="1100">
                          <a:solidFill>
                            <a:srgbClr val="111111"/>
                          </a:solidFill>
                          <a:latin typeface="Calibri"/>
                        </a:rPr>
                        <a:t>10/15</a:t>
                      </a:r>
                    </a:p>
                  </a:txBody>
                  <a:tcPr/>
                </a:tc>
                <a:tc>
                  <a:txBody>
                    <a:bodyPr/>
                    <a:lstStyle/>
                    <a:p>
                      <a:r>
                        <a:rPr sz="110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a:t>
                      </a:r>
                    </a:p>
                  </a:txBody>
                  <a:tcPr/>
                </a:tc>
                <a:tc>
                  <a:txBody>
                    <a:bodyPr/>
                    <a:lstStyle/>
                    <a:p>
                      <a:r>
                        <a:rPr sz="1100">
                          <a:solidFill>
                            <a:srgbClr val="111111"/>
                          </a:solidFill>
                          <a:latin typeface="Calibri"/>
                        </a:rPr>
                        <a:t>Diversified mix offset 24% brokerage decline, validating partial pricing-power hedge.</a:t>
                      </a:r>
                    </a:p>
                  </a:txBody>
                  <a:tcPr/>
                </a:tc>
              </a:tr>
              <a:tr h="417195">
                <a:tc>
                  <a:txBody>
                    <a:bodyPr/>
                    <a:lstStyle/>
                    <a:p>
                      <a:r>
                        <a:rPr sz="1100">
                          <a:solidFill>
                            <a:srgbClr val="111111"/>
                          </a:solidFill>
                          <a:latin typeface="Calibri"/>
                        </a:rPr>
                        <a:t>R</a:t>
                      </a:r>
                    </a:p>
                  </a:txBody>
                  <a:tcPr>
                    <a:solidFill>
                      <a:srgbClr val="FFFFFF"/>
                    </a:solidFill>
                  </a:tcPr>
                </a:tc>
                <a:tc>
                  <a:txBody>
                    <a:bodyPr/>
                    <a:lstStyle/>
                    <a:p>
                      <a:r>
                        <a:rPr sz="1100">
                          <a:solidFill>
                            <a:srgbClr val="111111"/>
                          </a:solidFill>
                          <a:latin typeface="Calibri"/>
                        </a:rPr>
                        <a:t>Reinvestment Quality</a:t>
                      </a:r>
                    </a:p>
                  </a:txBody>
                  <a:tcPr>
                    <a:solidFill>
                      <a:srgbClr val="FFFFFF"/>
                    </a:solidFill>
                  </a:tcPr>
                </a:tc>
                <a:tc>
                  <a:txBody>
                    <a:bodyPr/>
                    <a:lstStyle/>
                    <a:p>
                      <a:r>
                        <a:rPr sz="1100">
                          <a:solidFill>
                            <a:srgbClr val="111111"/>
                          </a:solidFill>
                          <a:latin typeface="Calibri"/>
                        </a:rPr>
                        <a:t>13/15</a:t>
                      </a:r>
                    </a:p>
                  </a:txBody>
                  <a:tcPr>
                    <a:solidFill>
                      <a:srgbClr val="FFFFFF"/>
                    </a:solidFill>
                  </a:tcPr>
                </a:tc>
                <a:tc>
                  <a:txBody>
                    <a:bodyPr/>
                    <a:lstStyle/>
                    <a:p>
                      <a:r>
                        <a:rPr sz="1100">
                          <a:solidFill>
                            <a:srgbClr val="111111"/>
                          </a:solidFill>
                          <a:latin typeface="Calibri"/>
                        </a:rPr>
                        <a:t>MCap INR 49,079 Cr (+24.8% YoY); P/E 24.2; P/B 3.82. Strong RoCE; disciplined allocation into high-return fee businesses. Reinvestment in tech, talent, distribution, research generates sustainable advantage.</a:t>
                      </a:r>
                    </a:p>
                  </a:txBody>
                  <a:tcPr>
                    <a:solidFill>
                      <a:srgbClr val="FFFFFF"/>
                    </a:solidFill>
                  </a:tcPr>
                </a:tc>
                <a:tc>
                  <a:txBody>
                    <a:bodyPr/>
                    <a:lstStyle/>
                    <a:p>
                      <a:r>
                        <a:rPr sz="1100">
                          <a:solidFill>
                            <a:srgbClr val="111111"/>
                          </a:solidFill>
                          <a:latin typeface="Calibri"/>
                        </a:rPr>
                        <a:t>PWM AUM +31% YoY to INR 1.96L Cr; family count +41%; PAT +14% (9M).</a:t>
                      </a:r>
                    </a:p>
                  </a:txBody>
                  <a:tcPr>
                    <a:solidFill>
                      <a:srgbClr val="FFFFFF"/>
                    </a:solidFill>
                  </a:tcPr>
                </a:tc>
              </a:tr>
              <a:tr h="417195">
                <a:tc>
                  <a:txBody>
                    <a:bodyPr/>
                    <a:lstStyle/>
                    <a:p>
                      <a:r>
                        <a:rPr sz="1100">
                          <a:solidFill>
                            <a:srgbClr val="111111"/>
                          </a:solidFill>
                          <a:latin typeface="Calibri"/>
                        </a:rPr>
                        <a:t>T</a:t>
                      </a:r>
                    </a:p>
                  </a:txBody>
                  <a:tcPr/>
                </a:tc>
                <a:tc>
                  <a:txBody>
                    <a:bodyPr/>
                    <a:lstStyle/>
                    <a:p>
                      <a:r>
                        <a:rPr sz="1100">
                          <a:solidFill>
                            <a:srgbClr val="111111"/>
                          </a:solidFill>
                          <a:latin typeface="Calibri"/>
                        </a:rPr>
                        <a:t>Track Record Through Adversity</a:t>
                      </a:r>
                    </a:p>
                  </a:txBody>
                  <a:tcPr/>
                </a:tc>
                <a:tc>
                  <a:txBody>
                    <a:bodyPr/>
                    <a:lstStyle/>
                    <a:p>
                      <a:r>
                        <a:rPr sz="1100">
                          <a:solidFill>
                            <a:srgbClr val="111111"/>
                          </a:solidFill>
                          <a:latin typeface="Calibri"/>
                        </a:rPr>
                        <a:t>8/10</a:t>
                      </a:r>
                    </a:p>
                  </a:txBody>
                  <a:tcPr/>
                </a:tc>
                <a:tc>
                  <a:txBody>
                    <a:bodyPr/>
                    <a:lstStyle/>
                    <a:p>
                      <a:r>
                        <a:rPr sz="1100">
                          <a:solidFill>
                            <a:srgbClr val="111111"/>
                          </a:solidFill>
                          <a:latin typeface="Calibri"/>
                        </a:rPr>
                        <a:t>Q2FY25 PAT INR 1,242 Cr (+123% YoY), 46% revenue growth, 48% RoE — recovery and execution. Q2FY26 PAT -67.6% YoY, revenue -34.9% YoY shows residual cyclicality from F&amp;O regulation. Continuity across cycles maintained.</a:t>
                      </a:r>
                    </a:p>
                  </a:txBody>
                  <a:tcPr/>
                </a:tc>
                <a:tc>
                  <a:txBody>
                    <a:bodyPr/>
                    <a:lstStyle/>
                    <a:p>
                      <a:r>
                        <a:rPr sz="1100">
                          <a:solidFill>
                            <a:srgbClr val="111111"/>
                          </a:solidFill>
                          <a:latin typeface="Calibri"/>
                        </a:rPr>
                        <a:t>Despite repeated SEBI interventions, AUM and ARR base continue to compound — institutional resilience.</a:t>
                      </a:r>
                    </a:p>
                  </a:txBody>
                  <a:tcPr/>
                </a:tc>
              </a:tr>
              <a:tr h="417195">
                <a:tc>
                  <a:txBody>
                    <a:bodyPr/>
                    <a:lstStyle/>
                    <a:p>
                      <a:r>
                        <a:rPr sz="1100">
                          <a:solidFill>
                            <a:srgbClr val="111111"/>
                          </a:solidFill>
                          <a:latin typeface="Calibri"/>
                        </a:rPr>
                        <a:t>H</a:t>
                      </a:r>
                    </a:p>
                  </a:txBody>
                  <a:tcPr>
                    <a:solidFill>
                      <a:srgbClr val="FFFFFF"/>
                    </a:solidFill>
                  </a:tcPr>
                </a:tc>
                <a:tc>
                  <a:txBody>
                    <a:bodyPr/>
                    <a:lstStyle/>
                    <a:p>
                      <a:r>
                        <a:rPr sz="1100">
                          <a:solidFill>
                            <a:srgbClr val="111111"/>
                          </a:solidFill>
                          <a:latin typeface="Calibri"/>
                        </a:rPr>
                        <a:t>Human Capital &amp; Institutional DNA</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a:t>
                      </a:r>
                    </a:p>
                  </a:txBody>
                  <a:tcPr>
                    <a:solidFill>
                      <a:srgbClr val="FFFFFF"/>
                    </a:solidFill>
                  </a:tcPr>
                </a:tc>
                <a:tc>
                  <a:txBody>
                    <a:bodyPr/>
                    <a:lstStyle/>
                    <a:p>
                      <a:r>
                        <a:rPr sz="1100">
                          <a:solidFill>
                            <a:srgbClr val="111111"/>
                          </a:solidFill>
                          <a:latin typeface="Calibri"/>
                        </a:rPr>
                        <a:t>Rashtriya Samman Patra recipient (top tax-payer FY95–FY99) signals early ethical commercial success.</a:t>
                      </a:r>
                    </a:p>
                  </a:txBody>
                  <a:tcPr>
                    <a:solidFill>
                      <a:srgbClr val="FFFFFF"/>
                    </a:solidFill>
                  </a:tcPr>
                </a:tc>
              </a:tr>
              <a:tr h="417195">
                <a:tc>
                  <a:txBody>
                    <a:bodyPr/>
                    <a:lstStyle/>
                    <a:p>
                      <a:r>
                        <a:rPr sz="1100">
                          <a:solidFill>
                            <a:srgbClr val="111111"/>
                          </a:solidFill>
                          <a:latin typeface="Calibri"/>
                        </a:rPr>
                        <a:t>I</a:t>
                      </a:r>
                    </a:p>
                  </a:txBody>
                  <a:tcPr/>
                </a:tc>
                <a:tc>
                  <a:txBody>
                    <a:bodyPr/>
                    <a:lstStyle/>
                    <a:p>
                      <a:r>
                        <a:rPr sz="1100">
                          <a:solidFill>
                            <a:srgbClr val="111111"/>
                          </a:solidFill>
                          <a:latin typeface="Calibri"/>
                        </a:rPr>
                        <a:t>Inflection Point Identification</a:t>
                      </a:r>
                    </a:p>
                  </a:txBody>
                  <a:tcPr/>
                </a:tc>
                <a:tc>
                  <a:txBody>
                    <a:bodyPr/>
                    <a:lstStyle/>
                    <a:p>
                      <a:r>
                        <a:rPr sz="1100">
                          <a:solidFill>
                            <a:srgbClr val="111111"/>
                          </a:solidFill>
                          <a:latin typeface="Calibri"/>
                        </a:rPr>
                        <a:t>11/15</a:t>
                      </a:r>
                    </a:p>
                  </a:txBody>
                  <a:tcPr/>
                </a:tc>
                <a:tc>
                  <a:txBody>
                    <a:bodyPr/>
                    <a:lstStyle/>
                    <a:p>
                      <a:r>
                        <a:rPr sz="110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a:t>
                      </a:r>
                    </a:p>
                  </a:txBody>
                  <a:tcPr/>
                </a:tc>
                <a:tc>
                  <a:txBody>
                    <a:bodyPr/>
                    <a:lstStyle/>
                    <a:p>
                      <a:r>
                        <a:rPr sz="1100">
                          <a:solidFill>
                            <a:srgbClr val="111111"/>
                          </a:solidFill>
                          <a:latin typeface="Calibri"/>
                        </a:rPr>
                        <a:t>ARR at 65% of net revenues (up from 61%); management guiding higher — measurable inflection.</a:t>
                      </a:r>
                    </a:p>
                  </a:txBody>
                  <a:tcPr/>
                </a:tc>
              </a:tr>
            </a:tbl>
          </a:graphicData>
        </a:graphic>
      </p:graphicFrame>
      <p:sp>
        <p:nvSpPr>
          <p:cNvPr id="12" name="TextBox 11"/>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MOFSL scores 72/100 on the SAARTHI framework, reflecting strong scores on growth quality, reinvestment discipline, and AUM outperformance. Forensic and governance dimensions are flagged as requiring ongoing monitoring given recurring SEBI matters. The overall score is consistent with a BUY view on a risk-adjusted basis.</a:t>
            </a:r>
          </a:p>
        </p:txBody>
      </p:sp>
      <p:sp>
        <p:nvSpPr>
          <p:cNvPr id="13" name="TextBox 12"/>
          <p:cNvSpPr txBox="1"/>
          <p:nvPr/>
        </p:nvSpPr>
        <p:spPr>
          <a:xfrm>
            <a:off x="457200" y="2194560"/>
            <a:ext cx="3713378" cy="822960"/>
          </a:xfrm>
          <a:prstGeom prst="rect">
            <a:avLst/>
          </a:prstGeom>
          <a:noFill/>
        </p:spPr>
        <p:txBody>
          <a:bodyPr wrap="square">
            <a:spAutoFit/>
          </a:bodyPr>
          <a:lstStyle/>
          <a:p>
            <a:pPr algn="ctr"/>
            <a:r>
              <a:rPr sz="1400" b="1">
                <a:solidFill>
                  <a:srgbClr val="1F4690"/>
                </a:solidFill>
                <a:latin typeface="Calibri"/>
              </a:rPr>
              <a:t>Total AUM YoY (%) 46.0</a:t>
            </a:r>
          </a:p>
        </p:txBody>
      </p:sp>
      <p:sp>
        <p:nvSpPr>
          <p:cNvPr id="14" name="TextBox 13"/>
          <p:cNvSpPr txBox="1"/>
          <p:nvPr/>
        </p:nvSpPr>
        <p:spPr>
          <a:xfrm>
            <a:off x="4216298" y="2194560"/>
            <a:ext cx="3713378" cy="822960"/>
          </a:xfrm>
          <a:prstGeom prst="rect">
            <a:avLst/>
          </a:prstGeom>
          <a:noFill/>
        </p:spPr>
        <p:txBody>
          <a:bodyPr wrap="square">
            <a:spAutoFit/>
          </a:bodyPr>
          <a:lstStyle/>
          <a:p>
            <a:pPr algn="ctr"/>
            <a:r>
              <a:rPr sz="1400" b="1">
                <a:solidFill>
                  <a:srgbClr val="1F4690"/>
                </a:solidFill>
                <a:latin typeface="Calibri"/>
              </a:rPr>
              <a:t>ARR % of Revenue 65.0</a:t>
            </a:r>
          </a:p>
        </p:txBody>
      </p:sp>
      <p:sp>
        <p:nvSpPr>
          <p:cNvPr id="15" name="TextBox 14"/>
          <p:cNvSpPr txBox="1"/>
          <p:nvPr/>
        </p:nvSpPr>
        <p:spPr>
          <a:xfrm>
            <a:off x="7975396" y="2194560"/>
            <a:ext cx="3713378" cy="822960"/>
          </a:xfrm>
          <a:prstGeom prst="rect">
            <a:avLst/>
          </a:prstGeom>
          <a:noFill/>
        </p:spPr>
        <p:txBody>
          <a:bodyPr wrap="square">
            <a:spAutoFit/>
          </a:bodyPr>
          <a:lstStyle/>
          <a:p>
            <a:pPr algn="ctr"/>
            <a:r>
              <a:rPr sz="1400" b="1">
                <a:solidFill>
                  <a:srgbClr val="1F4690"/>
                </a:solidFill>
                <a:latin typeface="Calibri"/>
              </a:rPr>
              <a:t>Credit Rating AA+ (Stable) ICRA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Management Team</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3759098"/>
                <a:gridCol w="3759098"/>
                <a:gridCol w="3759099"/>
              </a:tblGrid>
              <a:tr h="850392">
                <a:tc>
                  <a:txBody>
                    <a:bodyPr/>
                    <a:lstStyle/>
                    <a:p>
                      <a:r>
                        <a:rPr b="1" sz="1100">
                          <a:solidFill>
                            <a:srgbClr val="FFFFFF"/>
                          </a:solidFill>
                          <a:latin typeface="Calibri"/>
                        </a:rPr>
                        <a:t>Name</a:t>
                      </a:r>
                    </a:p>
                  </a:txBody>
                  <a:tcPr>
                    <a:solidFill>
                      <a:srgbClr val="1F4690"/>
                    </a:solidFill>
                  </a:tcPr>
                </a:tc>
                <a:tc>
                  <a:txBody>
                    <a:bodyPr/>
                    <a:lstStyle/>
                    <a:p>
                      <a:r>
                        <a:rPr b="1" sz="1100">
                          <a:solidFill>
                            <a:srgbClr val="FFFFFF"/>
                          </a:solidFill>
                          <a:latin typeface="Calibri"/>
                        </a:rPr>
                        <a:t>Role</a:t>
                      </a:r>
                    </a:p>
                  </a:txBody>
                  <a:tcPr>
                    <a:solidFill>
                      <a:srgbClr val="1F4690"/>
                    </a:solidFill>
                  </a:tcPr>
                </a:tc>
                <a:tc>
                  <a:txBody>
                    <a:bodyPr/>
                    <a:lstStyle/>
                    <a:p>
                      <a:r>
                        <a:rPr b="1" sz="1100">
                          <a:solidFill>
                            <a:srgbClr val="FFFFFF"/>
                          </a:solidFill>
                          <a:latin typeface="Calibri"/>
                        </a:rPr>
                        <a:t>Background</a:t>
                      </a:r>
                    </a:p>
                  </a:txBody>
                  <a:tcPr>
                    <a:solidFill>
                      <a:srgbClr val="1F4690"/>
                    </a:solidFill>
                  </a:tcPr>
                </a:tc>
              </a:tr>
              <a:tr h="850392">
                <a:tc>
                  <a:txBody>
                    <a:bodyPr/>
                    <a:lstStyle/>
                    <a:p>
                      <a:r>
                        <a:rPr sz="1100">
                          <a:solidFill>
                            <a:srgbClr val="111111"/>
                          </a:solidFill>
                          <a:latin typeface="Calibri"/>
                        </a:rPr>
                        <a:t>Raamdeo Agrawal</a:t>
                      </a:r>
                    </a:p>
                  </a:txBody>
                  <a:tcPr/>
                </a:tc>
                <a:tc>
                  <a:txBody>
                    <a:bodyPr/>
                    <a:lstStyle/>
                    <a:p>
                      <a:r>
                        <a:rPr sz="1100">
                          <a:solidFill>
                            <a:srgbClr val="111111"/>
                          </a:solidFill>
                          <a:latin typeface="Calibri"/>
                        </a:rPr>
                        <a:t>Chairman, MOFSL &amp; Chairman, AMC</a:t>
                      </a:r>
                    </a:p>
                  </a:txBody>
                  <a:tcPr/>
                </a:tc>
                <a:tc>
                  <a:txBody>
                    <a:bodyPr/>
                    <a:lstStyle/>
                    <a:p>
                      <a:r>
                        <a:rPr sz="11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a:tc>
              </a:tr>
              <a:tr h="850392">
                <a:tc>
                  <a:txBody>
                    <a:bodyPr/>
                    <a:lstStyle/>
                    <a:p>
                      <a:r>
                        <a:rPr sz="1100">
                          <a:solidFill>
                            <a:srgbClr val="111111"/>
                          </a:solidFill>
                          <a:latin typeface="Calibri"/>
                        </a:rPr>
                        <a:t>Motilal Oswal</a:t>
                      </a:r>
                    </a:p>
                  </a:txBody>
                  <a:tcPr>
                    <a:solidFill>
                      <a:srgbClr val="FFFFFF"/>
                    </a:solidFill>
                  </a:tcPr>
                </a:tc>
                <a:tc>
                  <a:txBody>
                    <a:bodyPr/>
                    <a:lstStyle/>
                    <a:p>
                      <a:r>
                        <a:rPr sz="1100">
                          <a:solidFill>
                            <a:srgbClr val="111111"/>
                          </a:solidFill>
                          <a:latin typeface="Calibri"/>
                        </a:rPr>
                        <a:t>Founder, Chairman &amp; MD</a:t>
                      </a:r>
                    </a:p>
                  </a:txBody>
                  <a:tcPr>
                    <a:solidFill>
                      <a:srgbClr val="FFFFFF"/>
                    </a:solidFill>
                  </a:tcPr>
                </a:tc>
                <a:tc>
                  <a:txBody>
                    <a:bodyPr/>
                    <a:lstStyle/>
                    <a:p>
                      <a:r>
                        <a:rPr sz="11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a:solidFill>
                      <a:srgbClr val="FFFFFF"/>
                    </a:solidFill>
                  </a:tcPr>
                </a:tc>
              </a:tr>
              <a:tr h="850392">
                <a:tc>
                  <a:txBody>
                    <a:bodyPr/>
                    <a:lstStyle/>
                    <a:p>
                      <a:r>
                        <a:rPr sz="1100">
                          <a:solidFill>
                            <a:srgbClr val="111111"/>
                          </a:solidFill>
                          <a:latin typeface="Calibri"/>
                        </a:rPr>
                        <a:t>Navin Agarwal</a:t>
                      </a:r>
                    </a:p>
                  </a:txBody>
                  <a:tcPr/>
                </a:tc>
                <a:tc>
                  <a:txBody>
                    <a:bodyPr/>
                    <a:lstStyle/>
                    <a:p>
                      <a:r>
                        <a:rPr sz="1100">
                          <a:solidFill>
                            <a:srgbClr val="111111"/>
                          </a:solidFill>
                          <a:latin typeface="Calibri"/>
                        </a:rPr>
                        <a:t>Executive Board — Strategy &amp; Capital Allocation</a:t>
                      </a:r>
                    </a:p>
                  </a:txBody>
                  <a:tcPr/>
                </a:tc>
                <a:tc>
                  <a:txBody>
                    <a:bodyPr/>
                    <a:lstStyle/>
                    <a:p>
                      <a:r>
                        <a:rPr sz="1100">
                          <a:solidFill>
                            <a:srgbClr val="111111"/>
                          </a:solidFill>
                          <a:latin typeface="Calibri"/>
                        </a:rPr>
                        <a:t>Joined 2000. Drives business strategy and capital allocation across the Group, building market-leading positions through disciplined deployment.</a:t>
                      </a:r>
                    </a:p>
                  </a:txBody>
                  <a:tcPr/>
                </a:tc>
              </a:tr>
              <a:tr h="850392">
                <a:tc>
                  <a:txBody>
                    <a:bodyPr/>
                    <a:lstStyle/>
                    <a:p>
                      <a:r>
                        <a:rPr sz="1100">
                          <a:solidFill>
                            <a:srgbClr val="111111"/>
                          </a:solidFill>
                          <a:latin typeface="Calibri"/>
                        </a:rPr>
                        <a:t>Ajay Menon</a:t>
                      </a:r>
                    </a:p>
                  </a:txBody>
                  <a:tcPr>
                    <a:solidFill>
                      <a:srgbClr val="FFFFFF"/>
                    </a:solidFill>
                  </a:tcPr>
                </a:tc>
                <a:tc>
                  <a:txBody>
                    <a:bodyPr/>
                    <a:lstStyle/>
                    <a:p>
                      <a:r>
                        <a:rPr sz="1100">
                          <a:solidFill>
                            <a:srgbClr val="111111"/>
                          </a:solidFill>
                          <a:latin typeface="Calibri"/>
                        </a:rPr>
                        <a:t>Executive — Operations, Compliance, Risk &amp; Technology</a:t>
                      </a:r>
                    </a:p>
                  </a:txBody>
                  <a:tcPr>
                    <a:solidFill>
                      <a:srgbClr val="FFFFFF"/>
                    </a:solidFill>
                  </a:tcPr>
                </a:tc>
                <a:tc>
                  <a:txBody>
                    <a:bodyPr/>
                    <a:lstStyle/>
                    <a:p>
                      <a:r>
                        <a:rPr sz="1100">
                          <a:solidFill>
                            <a:srgbClr val="111111"/>
                          </a:solidFill>
                          <a:latin typeface="Calibri"/>
                        </a:rPr>
                        <a:t>Joined 1998. 27+ years in Indian capital markets. Cornerstone of operational excellence and technology initiatives across the Group.</a:t>
                      </a:r>
                    </a:p>
                  </a:txBody>
                  <a:tcPr>
                    <a:solidFill>
                      <a:srgbClr val="FFFFFF"/>
                    </a:solidFill>
                  </a:tcPr>
                </a:tc>
              </a:tr>
            </a:tbl>
          </a:graphicData>
        </a:graphic>
      </p:graphicFrame>
      <p:sp>
        <p:nvSpPr>
          <p:cNvPr id="12" name="TextBox 11"/>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The company is led by its founders, Motilal Oswal and Raamdeo Agrawal, who bring over three decades of capital markets experience. Their continued active involvement provides strategic continuity, a long-term orientation, and sustained commitment to the research-driven investment philosophy underpinning the franchise.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Forensic Assessment — Monitor Closely</a:t>
            </a:r>
          </a:p>
        </p:txBody>
      </p:sp>
      <p:graphicFrame>
        <p:nvGraphicFramePr>
          <p:cNvPr id="11" name="Table 10"/>
          <p:cNvGraphicFramePr>
            <a:graphicFrameLocks noGrp="1"/>
          </p:cNvGraphicFramePr>
          <p:nvPr/>
        </p:nvGraphicFramePr>
        <p:xfrm>
          <a:off x="457200" y="2377440"/>
          <a:ext cx="11277295" cy="4069080"/>
        </p:xfrm>
        <a:graphic>
          <a:graphicData uri="http://schemas.openxmlformats.org/drawingml/2006/table">
            <a:tbl>
              <a:tblPr firstRow="1" bandRow="1">
                <a:tableStyleId>{5C22544A-7EE6-4342-B048-85BDC9FD1C3A}</a:tableStyleId>
              </a:tblPr>
              <a:tblGrid>
                <a:gridCol w="3759098"/>
                <a:gridCol w="3759098"/>
                <a:gridCol w="3759099"/>
              </a:tblGrid>
              <a:tr h="678180">
                <a:tc>
                  <a:txBody>
                    <a:bodyPr/>
                    <a:lstStyle/>
                    <a:p>
                      <a:r>
                        <a:rPr b="1" sz="1100">
                          <a:solidFill>
                            <a:srgbClr val="FFFFFF"/>
                          </a:solidFill>
                          <a:latin typeface="Calibri"/>
                        </a:rPr>
                        <a:t>Matter</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c>
                  <a:txBody>
                    <a:bodyPr/>
                    <a:lstStyle/>
                    <a:p>
                      <a:r>
                        <a:rPr b="1" sz="1100">
                          <a:solidFill>
                            <a:srgbClr val="FFFFFF"/>
                          </a:solidFill>
                          <a:latin typeface="Calibri"/>
                        </a:rPr>
                        <a:t>Severity</a:t>
                      </a:r>
                    </a:p>
                  </a:txBody>
                  <a:tcPr>
                    <a:solidFill>
                      <a:srgbClr val="1F4690"/>
                    </a:solidFill>
                  </a:tcPr>
                </a:tc>
              </a:tr>
              <a:tr h="678180">
                <a:tc>
                  <a:txBody>
                    <a:bodyPr/>
                    <a:lstStyle/>
                    <a:p>
                      <a:r>
                        <a:rPr sz="1100">
                          <a:solidFill>
                            <a:srgbClr val="111111"/>
                          </a:solidFill>
                          <a:latin typeface="Calibri"/>
                        </a:rPr>
                        <a:t>SEBI — Margin Reporting Violations</a:t>
                      </a:r>
                    </a:p>
                  </a:txBody>
                  <a:tcPr/>
                </a:tc>
                <a:tc>
                  <a:txBody>
                    <a:bodyPr/>
                    <a:lstStyle/>
                    <a:p>
                      <a:r>
                        <a:rPr sz="1100">
                          <a:solidFill>
                            <a:srgbClr val="111111"/>
                          </a:solidFill>
                          <a:latin typeface="Calibri"/>
                        </a:rPr>
                        <a:t>INR 7 lakh penalty for margin reporting, collection violations, and other regulatory lapses found during inspection.</a:t>
                      </a:r>
                    </a:p>
                  </a:txBody>
                  <a:tcPr/>
                </a:tc>
                <a:tc>
                  <a:txBody>
                    <a:bodyPr/>
                    <a:lstStyle/>
                    <a:p>
                      <a:r>
                        <a:rPr sz="1100">
                          <a:solidFill>
                            <a:srgbClr val="111111"/>
                          </a:solidFill>
                          <a:latin typeface="Calibri"/>
                        </a:rPr>
                        <a:t>Low</a:t>
                      </a:r>
                    </a:p>
                  </a:txBody>
                  <a:tcPr/>
                </a:tc>
              </a:tr>
              <a:tr h="678180">
                <a:tc>
                  <a:txBody>
                    <a:bodyPr/>
                    <a:lstStyle/>
                    <a:p>
                      <a:r>
                        <a:rPr sz="1100">
                          <a:solidFill>
                            <a:srgbClr val="111111"/>
                          </a:solidFill>
                          <a:latin typeface="Calibri"/>
                        </a:rPr>
                        <a:t>SEBI — Client Fund Misutilization (2022)</a:t>
                      </a:r>
                    </a:p>
                  </a:txBody>
                  <a:tcPr>
                    <a:solidFill>
                      <a:srgbClr val="FFFFFF"/>
                    </a:solidFill>
                  </a:tcPr>
                </a:tc>
                <a:tc>
                  <a:txBody>
                    <a:bodyPr/>
                    <a:lstStyle/>
                    <a:p>
                      <a:r>
                        <a:rPr sz="1100">
                          <a:solidFill>
                            <a:srgbClr val="111111"/>
                          </a:solidFill>
                          <a:latin typeface="Calibri"/>
                        </a:rPr>
                        <a:t>INR 25 lakh fine for misutilization of client funds and inaccurate margin reporting.</a:t>
                      </a:r>
                    </a:p>
                  </a:txBody>
                  <a:tcPr>
                    <a:solidFill>
                      <a:srgbClr val="FFFFFF"/>
                    </a:solidFill>
                  </a:tcPr>
                </a:tc>
                <a:tc>
                  <a:txBody>
                    <a:bodyPr/>
                    <a:lstStyle/>
                    <a:p>
                      <a:r>
                        <a:rPr sz="1100">
                          <a:solidFill>
                            <a:srgbClr val="111111"/>
                          </a:solidFill>
                          <a:latin typeface="Calibri"/>
                        </a:rPr>
                        <a:t>Medium</a:t>
                      </a:r>
                    </a:p>
                  </a:txBody>
                  <a:tcPr>
                    <a:solidFill>
                      <a:srgbClr val="FFFFFF"/>
                    </a:solidFill>
                  </a:tcPr>
                </a:tc>
              </a:tr>
              <a:tr h="678180">
                <a:tc>
                  <a:txBody>
                    <a:bodyPr/>
                    <a:lstStyle/>
                    <a:p>
                      <a:r>
                        <a:rPr sz="1100">
                          <a:solidFill>
                            <a:srgbClr val="111111"/>
                          </a:solidFill>
                          <a:latin typeface="Calibri"/>
                        </a:rPr>
                        <a:t>NSEL — Misselling Accusations</a:t>
                      </a:r>
                    </a:p>
                  </a:txBody>
                  <a:tcPr/>
                </a:tc>
                <a:tc>
                  <a:txBody>
                    <a:bodyPr/>
                    <a:lstStyle/>
                    <a:p>
                      <a:r>
                        <a:rPr sz="1100">
                          <a:solidFill>
                            <a:srgbClr val="111111"/>
                          </a:solidFill>
                          <a:latin typeface="Calibri"/>
                        </a:rPr>
                        <a:t>Accused alongside other top brokers of misselling NSEL contracts, KYC manipulation, client code modification, and illegal transactions per SFIO/EOW findings.</a:t>
                      </a:r>
                    </a:p>
                  </a:txBody>
                  <a:tcPr/>
                </a:tc>
                <a:tc>
                  <a:txBody>
                    <a:bodyPr/>
                    <a:lstStyle/>
                    <a:p>
                      <a:r>
                        <a:rPr sz="1100">
                          <a:solidFill>
                            <a:srgbClr val="111111"/>
                          </a:solidFill>
                          <a:latin typeface="Calibri"/>
                        </a:rPr>
                        <a:t>High (Historical)</a:t>
                      </a:r>
                    </a:p>
                  </a:txBody>
                  <a:tcPr/>
                </a:tc>
              </a:tr>
              <a:tr h="678180">
                <a:tc>
                  <a:txBody>
                    <a:bodyPr/>
                    <a:lstStyle/>
                    <a:p>
                      <a:r>
                        <a:rPr sz="1100">
                          <a:solidFill>
                            <a:srgbClr val="111111"/>
                          </a:solidFill>
                          <a:latin typeface="Calibri"/>
                        </a:rPr>
                        <a:t>SEBI — Not Fit and Proper (Commodities)</a:t>
                      </a:r>
                    </a:p>
                  </a:txBody>
                  <a:tcPr>
                    <a:solidFill>
                      <a:srgbClr val="FFFFFF"/>
                    </a:solidFill>
                  </a:tcPr>
                </a:tc>
                <a:tc>
                  <a:txBody>
                    <a:bodyPr/>
                    <a:lstStyle/>
                    <a:p>
                      <a:r>
                        <a:rPr sz="1100">
                          <a:solidFill>
                            <a:srgbClr val="111111"/>
                          </a:solidFill>
                          <a:latin typeface="Calibri"/>
                        </a:rPr>
                        <a:t>Declared 'not fit and proper' as commodity derivative broker in Feb 2019 based on SFIO/EOW recommendations.</a:t>
                      </a:r>
                    </a:p>
                  </a:txBody>
                  <a:tcPr>
                    <a:solidFill>
                      <a:srgbClr val="FFFFFF"/>
                    </a:solidFill>
                  </a:tcPr>
                </a:tc>
                <a:tc>
                  <a:txBody>
                    <a:bodyPr/>
                    <a:lstStyle/>
                    <a:p>
                      <a:r>
                        <a:rPr sz="1100">
                          <a:solidFill>
                            <a:srgbClr val="111111"/>
                          </a:solidFill>
                          <a:latin typeface="Calibri"/>
                        </a:rPr>
                        <a:t>High (Historical)</a:t>
                      </a:r>
                    </a:p>
                  </a:txBody>
                  <a:tcPr>
                    <a:solidFill>
                      <a:srgbClr val="FFFFFF"/>
                    </a:solidFill>
                  </a:tcPr>
                </a:tc>
              </a:tr>
              <a:tr h="678180">
                <a:tc>
                  <a:txBody>
                    <a:bodyPr/>
                    <a:lstStyle/>
                    <a:p>
                      <a:r>
                        <a:rPr sz="1100">
                          <a:solidFill>
                            <a:srgbClr val="111111"/>
                          </a:solidFill>
                          <a:latin typeface="Calibri"/>
                        </a:rPr>
                        <a:t>Unauthorized Terminal Operations</a:t>
                      </a:r>
                    </a:p>
                  </a:txBody>
                  <a:tcPr/>
                </a:tc>
                <a:tc>
                  <a:txBody>
                    <a:bodyPr/>
                    <a:lstStyle/>
                    <a:p>
                      <a:r>
                        <a:rPr sz="1100">
                          <a:solidFill>
                            <a:srgbClr val="111111"/>
                          </a:solidFill>
                          <a:latin typeface="Calibri"/>
                        </a:rPr>
                        <a:t>13 NSE and 9 BSE terminals operating from undeclared locations including an unreported branch in Delhi.</a:t>
                      </a:r>
                    </a:p>
                  </a:txBody>
                  <a:tcPr/>
                </a:tc>
                <a:tc>
                  <a:txBody>
                    <a:bodyPr/>
                    <a:lstStyle/>
                    <a:p>
                      <a:r>
                        <a:rPr sz="1100">
                          <a:solidFill>
                            <a:srgbClr val="111111"/>
                          </a:solidFill>
                          <a:latin typeface="Calibri"/>
                        </a:rPr>
                        <a:t>Medium</a:t>
                      </a:r>
                    </a:p>
                  </a:txBody>
                  <a:tcPr/>
                </a:tc>
              </a:tr>
            </a:tbl>
          </a:graphicData>
        </a:graphic>
      </p:graphicFrame>
      <p:sp>
        <p:nvSpPr>
          <p:cNvPr id="12" name="TextBox 11"/>
          <p:cNvSpPr txBox="1"/>
          <p:nvPr/>
        </p:nvSpPr>
        <p:spPr>
          <a:xfrm>
            <a:off x="457200" y="1417320"/>
            <a:ext cx="11277295" cy="822960"/>
          </a:xfrm>
          <a:prstGeom prst="rect">
            <a:avLst/>
          </a:prstGeom>
          <a:noFill/>
        </p:spPr>
        <p:txBody>
          <a:bodyPr wrap="square">
            <a:spAutoFit/>
          </a:bodyPr>
          <a:lstStyle/>
          <a:p>
            <a:r>
              <a:rPr sz="1100" b="0">
                <a:solidFill>
                  <a:srgbClr val="111111"/>
                </a:solidFill>
                <a:latin typeface="Calibri"/>
              </a:rPr>
              <a:t>MOFSL is categorised as Monitor Closely on the forensic dimension. Recurring SEBI proceedings and compliance matters are not individually material to the investment case at present, but represent a risk factor that warrants ongoing monitoring. Investors should review regulatory disclosures on a quarterly basis alongside the company's compliance track record.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SEBI F&amp;O regulatory tightening compressing derivatives volumes could persistently reduce Capital Markets segment revenues.</a:t>
            </a:r>
          </a:p>
          <a:p>
            <a:pPr/>
            <a:r>
              <a:rPr sz="1100" b="0">
                <a:solidFill>
                  <a:srgbClr val="111111"/>
                </a:solidFill>
                <a:latin typeface="Calibri"/>
              </a:rPr>
              <a:t>- Competitive pressure from discount brokers and fintech platforms may erode yield per transaction over time.</a:t>
            </a:r>
          </a:p>
          <a:p>
            <a:pPr/>
            <a:r>
              <a:rPr sz="1100" b="0">
                <a:solidFill>
                  <a:srgbClr val="111111"/>
                </a:solidFill>
                <a:latin typeface="Calibri"/>
              </a:rPr>
              <a:t>- Mark-to-market volatility on the proprietary investment book introduces earnings variability not captured in operating metrics.</a:t>
            </a:r>
          </a:p>
          <a:p>
            <a:pPr/>
            <a:r>
              <a:rPr sz="1100" b="0">
                <a:solidFill>
                  <a:srgbClr val="111111"/>
                </a:solidFill>
                <a:latin typeface="Calibri"/>
              </a:rPr>
              <a:t>- Housing finance asset-quality deterioration in a stressed credit cycle could raise credit costs and depress NBFC segment returns.</a:t>
            </a:r>
          </a:p>
          <a:p>
            <a:pPr/>
            <a:r>
              <a:rPr sz="1100" b="0">
                <a:solidFill>
                  <a:srgbClr val="111111"/>
                </a:solidFill>
                <a:latin typeface="Calibri"/>
              </a:rPr>
              <a:t>- Governance and compliance matters flagged in the forensic assessment could escalate, introducing headline and regulatory risk.</a:t>
            </a:r>
          </a:p>
          <a:p>
            <a:pPr/>
            <a:r>
              <a:rPr sz="1100" b="0">
                <a:solidFill>
                  <a:srgbClr val="111111"/>
                </a:solidFill>
                <a:latin typeface="Calibri"/>
              </a:rPr>
              <a:t>- A sustained equity market correction would compress AUM and fee revenues across AMC and private wealth simultaneously.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Catalysts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Several identifiable milestones could serve as re-rating triggers as the transformation toward an annuity-driven model matures. Crossing the 70% ARR threshold is the most consequential, as it would likely shift the market's comparator set from broking peers to asset management peers, implying a higher multiple on the same earnings stream.</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ARR contribution crossing 70% of net revenues, prompting re-rating from broking to AMC multiples.</a:t>
            </a:r>
          </a:p>
          <a:p>
            <a:pPr/>
            <a:r>
              <a:rPr sz="1100" b="0">
                <a:solidFill>
                  <a:srgbClr val="111111"/>
                </a:solidFill>
                <a:latin typeface="Calibri"/>
              </a:rPr>
              <a:t>- Sustained AMC AUM growth above 25% YoY with net flows exceeding meaningful thresholds annually.</a:t>
            </a:r>
          </a:p>
          <a:p>
            <a:pPr/>
            <a:r>
              <a:rPr sz="1100" b="0">
                <a:solidFill>
                  <a:srgbClr val="111111"/>
                </a:solidFill>
                <a:latin typeface="Calibri"/>
              </a:rPr>
              <a:t>- Private Wealth AUM growth above 25% YoY with continued family count expansion above industry averages.</a:t>
            </a:r>
          </a:p>
          <a:p>
            <a:pPr/>
            <a:r>
              <a:rPr sz="1100" b="0">
                <a:solidFill>
                  <a:srgbClr val="111111"/>
                </a:solidFill>
                <a:latin typeface="Calibri"/>
              </a:rPr>
              <a:t>- Operating leverage materialising with cost-to-income ratio declining as the fixed cost base is absorbed.</a:t>
            </a:r>
          </a:p>
          <a:p>
            <a:pPr/>
            <a:r>
              <a:rPr sz="1100" b="0">
                <a:solidFill>
                  <a:srgbClr val="111111"/>
                </a:solidFill>
                <a:latin typeface="Calibri"/>
              </a:rPr>
              <a:t>- Regulatory clarity on F&amp;O norms removing overhang on Capital Markets segment revenue forecasts.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 — Entry, Review and Exit Framework</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The investment case is premised on a 12–18 month re-rating horizon. Entry is supported at current levels given the discount to probability-weighted target. Review triggers are tied to ARR mix trajectory and AUM growth, not short-term earnings prints, given known quarterly volatility from F&amp;O regulatory changes.</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Initiate positions at or below current market price; the risk-reward is attractive relative to the probability-weigh...</a:t>
            </a:r>
          </a:p>
          <a:p>
            <a:pPr/>
            <a:r>
              <a:rPr sz="1100" b="0">
                <a:solidFill>
                  <a:srgbClr val="111111"/>
                </a:solidFill>
                <a:latin typeface="Calibri"/>
              </a:rPr>
              <a:t>- Add: Accumulate on weakness triggered by market-wide corrections or near-term regulatory noise rather than structural deter...</a:t>
            </a:r>
          </a:p>
          <a:p>
            <a:pPr/>
            <a:r>
              <a:rPr sz="1100" b="0">
                <a:solidFill>
                  <a:srgbClr val="111111"/>
                </a:solidFill>
                <a:latin typeface="Calibri"/>
              </a:rPr>
              <a:t>- Review: Revisit thesis if ARR growth stalls below 60% of revenues or AUM flows disappoint for two consecutive quarters.</a:t>
            </a:r>
          </a:p>
          <a:p>
            <a:pPr/>
            <a:r>
              <a:rPr sz="1100" b="0">
                <a:solidFill>
                  <a:srgbClr val="111111"/>
                </a:solidFill>
                <a:latin typeface="Calibri"/>
              </a:rPr>
              <a:t>- Exit: Reduce exposure if forensic matters escalate materially, a key management departure occurs, or F&amp;O revenue impairment...</a:t>
            </a:r>
          </a:p>
          <a:p>
            <a:pPr/>
            <a:r>
              <a:rPr sz="1100" b="0">
                <a:solidFill>
                  <a:srgbClr val="111111"/>
                </a:solidFill>
                <a:latin typeface="Calibri"/>
              </a:rPr>
              <a:t>- Time Horizon: 12–18 months for base-case re-rating; patience required through near-term earnings volatility.</a:t>
            </a:r>
          </a:p>
        </p:txBody>
      </p:sp>
      <p:sp>
        <p:nvSpPr>
          <p:cNvPr id="13" name="TextBox 12"/>
          <p:cNvSpPr txBox="1"/>
          <p:nvPr/>
        </p:nvSpPr>
        <p:spPr>
          <a:xfrm>
            <a:off x="457200" y="1417320"/>
            <a:ext cx="3713378" cy="868680"/>
          </a:xfrm>
          <a:prstGeom prst="rect">
            <a:avLst/>
          </a:prstGeom>
          <a:noFill/>
        </p:spPr>
        <p:txBody>
          <a:bodyPr wrap="square">
            <a:spAutoFit/>
          </a:bodyPr>
          <a:lstStyle/>
          <a:p>
            <a:pPr algn="ctr"/>
            <a:r>
              <a:rPr sz="1400" b="1">
                <a:solidFill>
                  <a:srgbClr val="1F4690"/>
                </a:solidFill>
                <a:latin typeface="Calibri"/>
              </a:rPr>
              <a:t>CMP (INR) INR 822.9</a:t>
            </a:r>
          </a:p>
        </p:txBody>
      </p:sp>
      <p:sp>
        <p:nvSpPr>
          <p:cNvPr id="14" name="TextBox 13"/>
          <p:cNvSpPr txBox="1"/>
          <p:nvPr/>
        </p:nvSpPr>
        <p:spPr>
          <a:xfrm>
            <a:off x="4216298" y="1417320"/>
            <a:ext cx="3713378" cy="868680"/>
          </a:xfrm>
          <a:prstGeom prst="rect">
            <a:avLst/>
          </a:prstGeom>
          <a:noFill/>
        </p:spPr>
        <p:txBody>
          <a:bodyPr wrap="square">
            <a:spAutoFit/>
          </a:bodyPr>
          <a:lstStyle/>
          <a:p>
            <a:pPr algn="ctr"/>
            <a:r>
              <a:rPr sz="1400" b="1">
                <a:solidFill>
                  <a:srgbClr val="1F4690"/>
                </a:solidFill>
                <a:latin typeface="Calibri"/>
              </a:rPr>
              <a:t>Target Price (INR) INR 1127.0</a:t>
            </a:r>
          </a:p>
        </p:txBody>
      </p:sp>
      <p:sp>
        <p:nvSpPr>
          <p:cNvPr id="15" name="TextBox 14"/>
          <p:cNvSpPr txBox="1"/>
          <p:nvPr/>
        </p:nvSpPr>
        <p:spPr>
          <a:xfrm>
            <a:off x="7975396" y="1417320"/>
            <a:ext cx="3713378" cy="868680"/>
          </a:xfrm>
          <a:prstGeom prst="rect">
            <a:avLst/>
          </a:prstGeom>
          <a:noFill/>
        </p:spPr>
        <p:txBody>
          <a:bodyPr wrap="square">
            <a:spAutoFit/>
          </a:bodyPr>
          <a:lstStyle/>
          <a:p>
            <a:pPr algn="ctr"/>
            <a:r>
              <a:rPr sz="1400" b="1">
                <a:solidFill>
                  <a:srgbClr val="1F4690"/>
                </a:solidFill>
                <a:latin typeface="Calibri"/>
              </a:rPr>
              <a:t>Upside (%) 37.0%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report has been prepared by Tikona Capital, a SEBI-registered research analyst. It is for informational purposes only and does not constitute an offer or solicitation to buy or sell any securities. Investment in securities is subject to market risks. Past performance is not a guarantee of future results. Readers should consult their financial advisors before making investment decisions. The analyst and firm may hold positions in the securities discussed. The renderer will substitute approved SEBI boilerplate disclosure in the final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