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INR 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INR 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with a BUY view. MOFSL is migrating from cyclical broking revenue toward an annuity-driven mix, with ARR now at 65% of net revenues and management guiding further increases. The market has not fully priced this structural shift, leaving meaningful upside to analyst consensus. A probability-weighted target anchors our valuation across regulatory scenarios.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at 65% of net revenues reduces dependence on volatile broking and F&amp;O flows.</a:t>
            </a:r>
          </a:p>
          <a:p>
            <a:pPr/>
            <a:r>
              <a:rPr sz="1100" b="0">
                <a:solidFill>
                  <a:srgbClr val="111111"/>
                </a:solidFill>
                <a:latin typeface="Calibri"/>
              </a:rPr>
              <a:t>- Total AUM compounding above 40% YoY with 91% of AMC AUM outperforming benchmarks.</a:t>
            </a:r>
          </a:p>
          <a:p>
            <a:pPr/>
            <a:r>
              <a:rPr sz="1100" b="0">
                <a:solidFill>
                  <a:srgbClr val="111111"/>
                </a:solidFill>
                <a:latin typeface="Calibri"/>
              </a:rPr>
              <a:t>- Private Wealth franchise growing rapidly — family count and AUM both accelerating.</a:t>
            </a:r>
          </a:p>
          <a:p>
            <a:pPr/>
            <a:r>
              <a:rPr sz="1100" b="0">
                <a:solidFill>
                  <a:srgbClr val="111111"/>
                </a:solidFill>
                <a:latin typeface="Calibri"/>
              </a:rPr>
              <a:t>- AA+ credit upgrade by ICRA endorses balance-sheet strength and reinvestment capacity.</a:t>
            </a:r>
          </a:p>
          <a:p>
            <a:pPr/>
            <a:r>
              <a:rPr sz="1100" b="0">
                <a:solidFill>
                  <a:srgbClr val="111111"/>
                </a:solidFill>
                <a:latin typeface="Calibri"/>
              </a:rPr>
              <a:t>- Operating leverage from a largely fixed cost base supports margin expansion as ARR scales.</a:t>
            </a:r>
          </a:p>
          <a:p>
            <a:pPr/>
            <a:r>
              <a:rPr sz="1100" b="0">
                <a:solidFill>
                  <a:srgbClr val="111111"/>
                </a:solidFill>
                <a:latin typeface="Calibri"/>
              </a:rPr>
              <a:t>- Probability-weighted target reflects balanced assessment across bull, base, and bear scenarios.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Founded in 1987, Motilal Oswal Financial Services has evolved into a comprehensive platform spanning Capital Markets, Asset &amp; Wealth Management, Housing Finance, and Alternative Investments. The firm serves over 1.6 million customers across 550+ cities through 2,500+ business locations, anchored by coverage of 300+ companies — a durable research moat. Revenue is increasingly fee-based, reducing cyclicality.</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Tailwinds: India's Wealth &amp; Capital Markets...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is a long-duration structural growth story. The country is expected to host 16.57 lakh HNWIs by 2027 and become the fourth-largest private wealth market by 2028, with a 58.4% projected rise in UHNWIs. Mutual fund penetration remains at just 5–6%, reflecting substantial latent opportunity. Financial sector profits are projected to nearly double by FY30, led by NBFCs growing at approximately 16% annually. Private credit hit a record USD 9.0 billion in H1 2025, up 53% YoY.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Rapid HNWI and UHNWI wealth formation provides a long runway for private wealth AUM growth.</a:t>
            </a:r>
          </a:p>
          <a:p>
            <a:pPr/>
            <a:r>
              <a:rPr sz="1100" b="0">
                <a:solidFill>
                  <a:srgbClr val="111111"/>
                </a:solidFill>
                <a:latin typeface="Calibri"/>
              </a:rPr>
              <a:t>- Mutual fund penetration at 5–6% implies multi-decade compounding potential for AMC franchises.</a:t>
            </a:r>
          </a:p>
          <a:p>
            <a:pPr/>
            <a:r>
              <a:rPr sz="1100" b="0">
                <a:solidFill>
                  <a:srgbClr val="111111"/>
                </a:solidFill>
                <a:latin typeface="Calibri"/>
              </a:rPr>
              <a:t>- NBFCs projected to grow earnings at ~16% annually through FY30, supporting housing finance.</a:t>
            </a:r>
          </a:p>
          <a:p>
            <a:pPr/>
            <a:r>
              <a:rPr sz="1100" b="0">
                <a:solidFill>
                  <a:srgbClr val="111111"/>
                </a:solidFill>
                <a:latin typeface="Calibri"/>
              </a:rPr>
              <a:t>- Private credit market expanding rapidly, enabling alternative investment fee streams.</a:t>
            </a:r>
          </a:p>
          <a:p>
            <a:pPr/>
            <a:r>
              <a:rPr sz="1100" b="0">
                <a:solidFill>
                  <a:srgbClr val="111111"/>
                </a:solidFill>
                <a:latin typeface="Calibri"/>
              </a:rPr>
              <a:t>- Digitisation and SIP culture deepening retail participation across equity and debt products.</a:t>
            </a:r>
          </a:p>
          <a:p>
            <a:pPr/>
            <a:r>
              <a:rPr sz="1100" b="0">
                <a:solidFill>
                  <a:srgbClr val="111111"/>
                </a:solidFill>
                <a:latin typeface="Calibri"/>
              </a:rPr>
              <a:t>- Regulatory evolution standardising the industry and rewarding scale players.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Five Pillars of the Investment Case</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Re-rating: Annual Recurring Revenue at 65% of net revenues, structurally de-risking earnings from broking cyclicality.</a:t>
            </a:r>
          </a:p>
          <a:p>
            <a:pPr/>
            <a:r>
              <a:rPr sz="1100" b="0">
                <a:solidFill>
                  <a:srgbClr val="111111"/>
                </a:solidFill>
                <a:latin typeface="Calibri"/>
              </a:rPr>
              <a:t>- AUM Scale: Total AUM of INR 1.77 lakh crore (+46% YoY); 91% of AMC AUM outperforming benchmarks over 3 years.</a:t>
            </a:r>
          </a:p>
          <a:p>
            <a:pPr/>
            <a:r>
              <a:rPr sz="1100" b="0">
                <a:solidFill>
                  <a:srgbClr val="111111"/>
                </a:solidFill>
                <a:latin typeface="Calibri"/>
              </a:rPr>
              <a:t>- Wealth Franchise: Private Wealth AUM at INR 1.96 lakh crore (+31% YoY); family count expanding 41% YoY.</a:t>
            </a:r>
          </a:p>
          <a:p>
            <a:pPr/>
            <a:r>
              <a:rPr sz="1100" b="0">
                <a:solidFill>
                  <a:srgbClr val="111111"/>
                </a:solidFill>
                <a:latin typeface="Calibri"/>
              </a:rPr>
              <a:t>- Balance-Sheet Quality: Long-term credit rating upgraded to AA+ (Stable) by ICRA; net worth supports growth.</a:t>
            </a:r>
          </a:p>
          <a:p>
            <a:pPr/>
            <a:r>
              <a:rPr sz="1100" b="0">
                <a:solidFill>
                  <a:srgbClr val="111111"/>
                </a:solidFill>
                <a:latin typeface="Calibri"/>
              </a:rPr>
              <a:t>- Valuation Discount: CMP offers a meaningful discount to probability-weighted analyst target — re-rating thesis intact.</a:t>
            </a:r>
          </a:p>
          <a:p>
            <a:pPr/>
            <a:r>
              <a:rPr sz="1100" b="0">
                <a:solidFill>
                  <a:srgbClr val="111111"/>
                </a:solidFill>
                <a:latin typeface="Calibri"/>
              </a:rPr>
              <a:t>- Reinvestment Discipline: SAARTHI Reinvestment Quality score of 13/15 — capital channelled into fee-based businesses.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Revenue Mix: Annuity vs. Transactional</a:t>
            </a:r>
          </a:p>
        </p:txBody>
      </p:sp>
      <p:pic>
        <p:nvPicPr>
          <p:cNvPr id="11" name="Picture 10" descr="image.png"/>
          <p:cNvPicPr>
            <a:picLocks noChangeAspect="1"/>
          </p:cNvPicPr>
          <p:nvPr/>
        </p:nvPicPr>
        <p:blipFill>
          <a:blip r:embed="rId3"/>
          <a:stretch>
            <a:fillRect/>
          </a:stretch>
        </p:blipFill>
        <p:spPr>
          <a:xfrm>
            <a:off x="5120640" y="1417320"/>
            <a:ext cx="6613855" cy="5029200"/>
          </a:xfrm>
          <a:prstGeom prst="rect">
            <a:avLst/>
          </a:prstGeom>
        </p:spPr>
      </p:pic>
      <p:sp>
        <p:nvSpPr>
          <p:cNvPr id="12" name="TextBox 11"/>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Capital Markets contributes cyclical but high-margin brokerage revenue, while Asset Management, Private Wealth, and Alternative Investments supply recurring fee income. The ongoing shift toward annuity segments is the primary driver of quality-of-earnings improvement and the key catalyst for a valuation re-rating from broking multiples toward asset-management multiples.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Compounding Fee Streams</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has compounded strongly on the back of AUM growth, expansion of the private wealth book, and increasing penetration of alternative investment products. The forward trajectory assumes continued ARR mix improvement, sustained AUM net inflows, and a gradual normalisation of broking revenues as regulatory clarity on F&amp;O norms emerges. Estimates embed conservative assumptions on broking market-share gains.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PAT Growth and Margin Profile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Profitability reflects strong operating leverage inherent in the asset-light AMC and wealth management businesses. Q2FY25 PAT grew 123% YoY, demonstrating earnings torque when market conditions and AUM flows align. Q2FY26 saw a 67.6% YoY PAT decline due to regulatory changes in F&amp;O — illustrating residual cyclicality that ARR scaling is progressively mitigating. Forward estimates reflect a normalised base.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Trend: Cyclicality and Recovery</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PAT exhibits meaningful variability driven by market conditions, broking volumes, and mark-to-market movements on the proprietary book. The Q2FY26 dip of 67.6% YoY reflects the acute impact of SEBI F&amp;O regulatory changes on transactional revenues, underscoring why ARR expansion is the critical de-risking lever to monitor.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Financial Ratios: Margins, Returns,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472440">
                <a:tc>
                  <a:txBody>
                    <a:bodyPr/>
                    <a:lstStyle/>
                    <a:p>
                      <a:r>
                        <a:rPr b="1" sz="1100">
                          <a:solidFill>
                            <a:srgbClr val="FFFFFF"/>
                          </a:solidFill>
                          <a:latin typeface="Calibri"/>
                        </a:rPr>
                        <a:t>Metric</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37.5</a:t>
                      </a:r>
                    </a:p>
                  </a:txBody>
                  <a:tcPr>
                    <a:solidFill>
                      <a:srgbClr val="FFFFFF"/>
                    </a:solidFill>
                  </a:tcPr>
                </a:tc>
                <a:tc>
                  <a:txBody>
                    <a:bodyPr/>
                    <a:lstStyle/>
                    <a:p>
                      <a:r>
                        <a:rPr sz="1100">
                          <a:solidFill>
                            <a:srgbClr val="111111"/>
                          </a:solidFill>
                          <a:latin typeface="Calibri"/>
                        </a:rPr>
                        <a:t>52.3</a:t>
                      </a:r>
                    </a:p>
                  </a:txBody>
                  <a:tcPr>
                    <a:solidFill>
                      <a:srgbClr val="FFFFFF"/>
                    </a:solidFill>
                  </a:tcPr>
                </a:tc>
                <a:tc>
                  <a:txBody>
                    <a:bodyPr/>
                    <a:lstStyle/>
                    <a:p>
                      <a:r>
                        <a:rPr sz="1100">
                          <a:solidFill>
                            <a:srgbClr val="111111"/>
                          </a:solidFill>
                          <a:latin typeface="Calibri"/>
                        </a:rPr>
                        <a:t>20.1</a:t>
                      </a:r>
                    </a:p>
                  </a:txBody>
                  <a:tcPr>
                    <a:solidFill>
                      <a:srgbClr val="FFFFFF"/>
                    </a:solidFill>
                  </a:tcPr>
                </a:tc>
                <a:tc>
                  <a:txBody>
                    <a:bodyPr/>
                    <a:lstStyle/>
                    <a:p>
                      <a:r>
                        <a:rPr sz="1100">
                          <a:solidFill>
                            <a:srgbClr val="111111"/>
                          </a:solidFill>
                          <a:latin typeface="Calibri"/>
                        </a:rPr>
                        <a:t>19.7</a:t>
                      </a:r>
                    </a:p>
                  </a:txBody>
                  <a:tcPr>
                    <a:solidFill>
                      <a:srgbClr val="FFFFFF"/>
                    </a:solidFill>
                  </a:tcPr>
                </a:tc>
                <a:tc>
                  <a:txBody>
                    <a:bodyPr/>
                    <a:lstStyle/>
                    <a:p>
                      <a:r>
                        <a:rPr sz="1100">
                          <a:solidFill>
                            <a:srgbClr val="111111"/>
                          </a:solidFill>
                          <a:latin typeface="Calibri"/>
                        </a:rPr>
                        <a:t>16.1</a:t>
                      </a:r>
                    </a:p>
                  </a:txBody>
                  <a:tcPr>
                    <a:solidFill>
                      <a:srgbClr val="FFFFFF"/>
                    </a:solidFill>
                  </a:tcPr>
                </a:tc>
                <a:tc>
                  <a:txBody>
                    <a:bodyPr/>
                    <a:lstStyle/>
                    <a:p>
                      <a:r>
                        <a:rPr sz="1100">
                          <a:solidFill>
                            <a:srgbClr val="111111"/>
                          </a:solidFill>
                          <a:latin typeface="Calibri"/>
                        </a:rPr>
                        <a:t>12.4</a:t>
                      </a:r>
                    </a:p>
                  </a:txBody>
                  <a:tcPr>
                    <a:solidFill>
                      <a:srgbClr val="FFFFFF"/>
                    </a:solidFill>
                  </a:tcPr>
                </a:tc>
                <a:tc>
                  <a:txBody>
                    <a:bodyPr/>
                    <a:lstStyle/>
                    <a:p>
                      <a:r>
                        <a:rPr sz="1100">
                          <a:solidFill>
                            <a:srgbClr val="111111"/>
                          </a:solidFill>
                          <a:latin typeface="Calibri"/>
                        </a:rPr>
                        <a:t>9.6</a:t>
                      </a:r>
                    </a:p>
                  </a:txBody>
                  <a:tcPr>
                    <a:solidFill>
                      <a:srgbClr val="FFFFFF"/>
                    </a:solidFill>
                  </a:tcPr>
                </a:tc>
              </a:tr>
              <a:tr h="472440">
                <a:tc>
                  <a:txBody>
                    <a:bodyPr/>
                    <a:lstStyle/>
                    <a:p>
                      <a:r>
                        <a:rPr sz="1100">
                          <a:solidFill>
                            <a:srgbClr val="111111"/>
                          </a:solidFill>
                          <a:latin typeface="Calibri"/>
                        </a:rPr>
                        <a:t>-</a:t>
                      </a:r>
                    </a:p>
                  </a:txBody>
                  <a:tcPr/>
                </a:tc>
                <a:tc>
                  <a:txBody>
                    <a:bodyPr/>
                    <a:lstStyle/>
                    <a:p>
                      <a:r>
                        <a:rPr sz="1100">
                          <a:solidFill>
                            <a:srgbClr val="111111"/>
                          </a:solidFill>
                          <a:latin typeface="Calibri"/>
                        </a:rPr>
                        <a:t>8.7</a:t>
                      </a:r>
                    </a:p>
                  </a:txBody>
                  <a:tcPr/>
                </a:tc>
                <a:tc>
                  <a:txBody>
                    <a:bodyPr/>
                    <a:lstStyle/>
                    <a:p>
                      <a:r>
                        <a:rPr sz="1100">
                          <a:solidFill>
                            <a:srgbClr val="111111"/>
                          </a:solidFill>
                          <a:latin typeface="Calibri"/>
                        </a:rPr>
                        <a:t>7.8</a:t>
                      </a:r>
                    </a:p>
                  </a:txBody>
                  <a:tcPr/>
                </a:tc>
                <a:tc>
                  <a:txBody>
                    <a:bodyPr/>
                    <a:lstStyle/>
                    <a:p>
                      <a:r>
                        <a:rPr sz="1100">
                          <a:solidFill>
                            <a:srgbClr val="111111"/>
                          </a:solidFill>
                          <a:latin typeface="Calibri"/>
                        </a:rPr>
                        <a:t>5.6</a:t>
                      </a:r>
                    </a:p>
                  </a:txBody>
                  <a:tcPr/>
                </a:tc>
                <a:tc>
                  <a:txBody>
                    <a:bodyPr/>
                    <a:lstStyle/>
                    <a:p>
                      <a:r>
                        <a:rPr sz="1100">
                          <a:solidFill>
                            <a:srgbClr val="111111"/>
                          </a:solidFill>
                          <a:latin typeface="Calibri"/>
                        </a:rPr>
                        <a:t>4.5</a:t>
                      </a:r>
                    </a:p>
                  </a:txBody>
                  <a:tcPr/>
                </a:tc>
                <a:tc>
                  <a:txBody>
                    <a:bodyPr/>
                    <a:lstStyle/>
                    <a:p>
                      <a:r>
                        <a:rPr sz="1100">
                          <a:solidFill>
                            <a:srgbClr val="111111"/>
                          </a:solidFill>
                          <a:latin typeface="Calibri"/>
                        </a:rPr>
                        <a:t>3.6</a:t>
                      </a:r>
                    </a:p>
                  </a:txBody>
                  <a:tcPr/>
                </a:tc>
                <a:tc>
                  <a:txBody>
                    <a:bodyPr/>
                    <a:lstStyle/>
                    <a:p>
                      <a:r>
                        <a:rPr sz="1100">
                          <a:solidFill>
                            <a:srgbClr val="111111"/>
                          </a:solidFill>
                          <a:latin typeface="Calibri"/>
                        </a:rPr>
                        <a:t>2.9</a:t>
                      </a:r>
                    </a:p>
                  </a:txBody>
                  <a:tcPr/>
                </a:tc>
                <a:tc>
                  <a:txBody>
                    <a:bodyPr/>
                    <a:lstStyle/>
                    <a:p>
                      <a:r>
                        <a:rPr sz="1100">
                          <a:solidFill>
                            <a:srgbClr val="111111"/>
                          </a:solidFill>
                          <a:latin typeface="Calibri"/>
                        </a:rPr>
                        <a:t>2.3</a:t>
                      </a:r>
                    </a:p>
                  </a:txBody>
                  <a:tcPr/>
                </a:tc>
              </a:tr>
              <a:tr h="47244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10.3</a:t>
                      </a:r>
                    </a:p>
                  </a:txBody>
                  <a:tcPr>
                    <a:solidFill>
                      <a:srgbClr val="FFFFFF"/>
                    </a:solidFill>
                  </a:tcPr>
                </a:tc>
                <a:tc>
                  <a:txBody>
                    <a:bodyPr/>
                    <a:lstStyle/>
                    <a:p>
                      <a:r>
                        <a:rPr sz="1100">
                          <a:solidFill>
                            <a:srgbClr val="111111"/>
                          </a:solidFill>
                          <a:latin typeface="Calibri"/>
                        </a:rPr>
                        <a:t>9.5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12.7</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8.8</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graphicFrame>
        <p:nvGraphicFramePr>
          <p:cNvPr id="11" name="Table 10"/>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819323"/>
                <a:gridCol w="2819323"/>
                <a:gridCol w="2819323"/>
                <a:gridCol w="2819326"/>
              </a:tblGrid>
              <a:tr h="417195">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Max</a:t>
                      </a:r>
                    </a:p>
                  </a:txBody>
                  <a:tcPr>
                    <a:solidFill>
                      <a:srgbClr val="1F4690"/>
                    </a:solidFill>
                  </a:tcPr>
                </a:tc>
                <a:tc>
                  <a:txBody>
                    <a:bodyPr/>
                    <a:lstStyle/>
                    <a:p>
                      <a:r>
                        <a:rPr b="1" sz="1100">
                          <a:solidFill>
                            <a:srgbClr val="FFFFFF"/>
                          </a:solidFill>
                          <a:latin typeface="Calibri"/>
                        </a:rPr>
                        <a:t>Commentary</a:t>
                      </a:r>
                    </a:p>
                  </a:txBody>
                  <a:tcPr>
                    <a:solidFill>
                      <a:srgbClr val="1F4690"/>
                    </a:solidFill>
                  </a:tcPr>
                </a:tc>
              </a:tr>
              <a:tr h="417195">
                <a:tc>
                  <a:txBody>
                    <a:bodyPr/>
                    <a:lstStyle/>
                    <a:p>
                      <a:r>
                        <a:rPr sz="1100">
                          <a:solidFill>
                            <a:srgbClr val="111111"/>
                          </a:solidFill>
                          <a:latin typeface="Calibri"/>
                        </a:rPr>
                        <a:t>-</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417195">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417195">
                <a:tc>
                  <a:txBody>
                    <a:bodyPr/>
                    <a:lstStyle/>
                    <a:p>
                      <a:r>
                        <a:rPr sz="1100">
                          <a:solidFill>
                            <a:srgbClr val="111111"/>
                          </a:solidFill>
                          <a:latin typeface="Calibri"/>
                        </a:rPr>
                        <a:t>-</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417195">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417195">
                <a:tc>
                  <a:txBody>
                    <a:bodyPr/>
                    <a:lstStyle/>
                    <a:p>
                      <a:r>
                        <a:rPr sz="1100">
                          <a:solidFill>
                            <a:srgbClr val="111111"/>
                          </a:solidFill>
                          <a:latin typeface="Calibri"/>
                        </a:rPr>
                        <a:t>-</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417195">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417195">
                <a:tc>
                  <a:txBody>
                    <a:bodyPr/>
                    <a:lstStyle/>
                    <a:p>
                      <a:r>
                        <a:rPr sz="1100">
                          <a:solidFill>
                            <a:srgbClr val="111111"/>
                          </a:solidFill>
                          <a:latin typeface="Calibri"/>
                        </a:rPr>
                        <a:t>-</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A SAARTHI score of 72/100 reflects strong earnings quality and reinvestment discipline, partially offset by residual governance monitoring requirements and cyclical broking exposure. Reinvestment Quality of 13/15 is particularly notable, reflecting consistent capital allocation toward fee-based, higher-multiple businesses rather than proprietary risk-taking.</a:t>
            </a:r>
          </a:p>
        </p:txBody>
      </p:sp>
      <p:sp>
        <p:nvSpPr>
          <p:cNvPr id="13" name="TextBox 12"/>
          <p:cNvSpPr txBox="1"/>
          <p:nvPr/>
        </p:nvSpPr>
        <p:spPr>
          <a:xfrm>
            <a:off x="457200" y="2194560"/>
            <a:ext cx="3713378" cy="822960"/>
          </a:xfrm>
          <a:prstGeom prst="rect">
            <a:avLst/>
          </a:prstGeom>
          <a:noFill/>
        </p:spPr>
        <p:txBody>
          <a:bodyPr wrap="square">
            <a:spAutoFit/>
          </a:bodyPr>
          <a:lstStyle/>
          <a:p>
            <a:pPr algn="ctr"/>
            <a:r>
              <a:rPr sz="1400" b="1">
                <a:solidFill>
                  <a:srgbClr val="1F4690"/>
                </a:solidFill>
                <a:latin typeface="Calibri"/>
              </a:rPr>
              <a:t>ARR % of Revenue 65.0</a:t>
            </a:r>
          </a:p>
        </p:txBody>
      </p:sp>
      <p:sp>
        <p:nvSpPr>
          <p:cNvPr id="14" name="TextBox 13"/>
          <p:cNvSpPr txBox="1"/>
          <p:nvPr/>
        </p:nvSpPr>
        <p:spPr>
          <a:xfrm>
            <a:off x="4216298" y="2194560"/>
            <a:ext cx="3713378" cy="822960"/>
          </a:xfrm>
          <a:prstGeom prst="rect">
            <a:avLst/>
          </a:prstGeom>
          <a:noFill/>
        </p:spPr>
        <p:txBody>
          <a:bodyPr wrap="square">
            <a:spAutoFit/>
          </a:bodyPr>
          <a:lstStyle/>
          <a:p>
            <a:pPr algn="ctr"/>
            <a:r>
              <a:rPr sz="1400" b="1">
                <a:solidFill>
                  <a:srgbClr val="1F4690"/>
                </a:solidFill>
                <a:latin typeface="Calibri"/>
              </a:rPr>
              <a:t>RoE FY26E (%) 22.0</a:t>
            </a:r>
          </a:p>
        </p:txBody>
      </p:sp>
      <p:sp>
        <p:nvSpPr>
          <p:cNvPr id="15" name="TextBox 14"/>
          <p:cNvSpPr txBox="1"/>
          <p:nvPr/>
        </p:nvSpPr>
        <p:spPr>
          <a:xfrm>
            <a:off x="7975396" y="2194560"/>
            <a:ext cx="3713378" cy="822960"/>
          </a:xfrm>
          <a:prstGeom prst="rect">
            <a:avLst/>
          </a:prstGeom>
          <a:noFill/>
        </p:spPr>
        <p:txBody>
          <a:bodyPr wrap="square">
            <a:spAutoFit/>
          </a:bodyPr>
          <a:lstStyle/>
          <a:p>
            <a:pPr algn="ctr"/>
            <a:r>
              <a:rPr sz="1400" b="1">
                <a:solidFill>
                  <a:srgbClr val="1F4690"/>
                </a:solidFill>
                <a:latin typeface="Calibri"/>
              </a:rPr>
              <a:t>RoCE FY26E (%) 18.0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Founder-Led with Deep Domain Expertise</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2819323"/>
                <a:gridCol w="2819323"/>
                <a:gridCol w="2819323"/>
                <a:gridCol w="2819326"/>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Title</a:t>
                      </a:r>
                    </a:p>
                  </a:txBody>
                  <a:tcPr>
                    <a:solidFill>
                      <a:srgbClr val="1F4690"/>
                    </a:solidFill>
                  </a:tcPr>
                </a:tc>
                <a:tc>
                  <a:txBody>
                    <a:bodyPr/>
                    <a:lstStyle/>
                    <a:p>
                      <a:r>
                        <a:rPr b="1" sz="1100">
                          <a:solidFill>
                            <a:srgbClr val="FFFFFF"/>
                          </a:solidFill>
                          <a:latin typeface="Calibri"/>
                        </a:rPr>
                        <a:t>Tenure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was co-founded in 1987 by Motilal Oswal and Raamdeo Agrawal, both of whom remain active in the business. Founder-led institutions with deep research and capital-allocation cultures have historically demonstrated superior long-term franchise value creation. Management has consistently channelled capital toward fee-based businesses, evidenced by the sustained ARR mix improvement.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graphicFrame>
        <p:nvGraphicFramePr>
          <p:cNvPr id="11" name="Table 10"/>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2819323"/>
                <a:gridCol w="2819323"/>
                <a:gridCol w="2819323"/>
                <a:gridCol w="2819326"/>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Regulator</a:t>
                      </a:r>
                    </a:p>
                  </a:txBody>
                  <a:tcPr>
                    <a:solidFill>
                      <a:srgbClr val="1F4690"/>
                    </a:solidFill>
                  </a:tcPr>
                </a:tc>
                <a:tc>
                  <a:txBody>
                    <a:bodyPr/>
                    <a:lstStyle/>
                    <a:p>
                      <a:r>
                        <a:rPr b="1" sz="1100">
                          <a:solidFill>
                            <a:srgbClr val="FFFFFF"/>
                          </a:solidFill>
                          <a:latin typeface="Calibri"/>
                        </a:rPr>
                        <a:t>Status</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r>
              <a:tr h="67818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67818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67818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r h="67818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r>
              <a:tr h="67818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r>
            </a:tbl>
          </a:graphicData>
        </a:graphic>
      </p:graphicFrame>
      <p:sp>
        <p:nvSpPr>
          <p:cNvPr id="12" name="TextBox 11"/>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has a history of recurring SEBI-related regulatory matters, placing it in the Monitor Closely category under our forensic framework. While none of the identified issues are currently assessed as investment-disqualifying, investors should track regulatory developments proactively. Governance risk is factored into the SAARTHI score and reflected in scenario-weighted valuation.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Bull / Base / Bear Scenarios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Bear (INR)</a:t>
                      </a:r>
                    </a:p>
                  </a:txBody>
                  <a:tcPr>
                    <a:solidFill>
                      <a:srgbClr val="1F4690"/>
                    </a:solidFill>
                  </a:tcPr>
                </a:tc>
                <a:tc>
                  <a:txBody>
                    <a:bodyPr/>
                    <a:lstStyle/>
                    <a:p>
                      <a:r>
                        <a:rPr b="1" sz="1100">
                          <a:solidFill>
                            <a:srgbClr val="FFFFFF"/>
                          </a:solidFill>
                          <a:latin typeface="Calibri"/>
                        </a:rPr>
                        <a:t>Base (INR)</a:t>
                      </a:r>
                    </a:p>
                  </a:txBody>
                  <a:tcPr>
                    <a:solidFill>
                      <a:srgbClr val="1F4690"/>
                    </a:solidFill>
                  </a:tcPr>
                </a:tc>
                <a:tc>
                  <a:txBody>
                    <a:bodyPr/>
                    <a:lstStyle/>
                    <a:p>
                      <a:r>
                        <a:rPr b="1" sz="1100">
                          <a:solidFill>
                            <a:srgbClr val="FFFFFF"/>
                          </a:solidFill>
                          <a:latin typeface="Calibri"/>
                        </a:rPr>
                        <a:t>Bull (INR)</a:t>
                      </a:r>
                    </a:p>
                  </a:txBody>
                  <a:tcPr>
                    <a:solidFill>
                      <a:srgbClr val="1F4690"/>
                    </a:solidFill>
                  </a:tcPr>
                </a:tc>
                <a:tc>
                  <a:txBody>
                    <a:bodyPr/>
                    <a:lstStyle/>
                    <a:p>
                      <a:r>
                        <a:rPr b="1" sz="1100">
                          <a:solidFill>
                            <a:srgbClr val="FFFFFF"/>
                          </a:solidFill>
                          <a:latin typeface="Calibri"/>
                        </a:rPr>
                        <a:t>Weight (%)</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BUY with Probability-Weighted Target</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BUY rating is supported by a probability-weighted target that blends asset-management and broking valuation frameworks across three regulatory scenarios. As ARR crosses 70% of revenues, we expect a progressive re-rating from broking multiples toward AMC-quality multiples. The current CMP embeds excessive pessimism around F&amp;O regulatory risk, which we view...</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Probability-Weighted TP (INR) 1109.0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P/E FY26E (x) 16.1</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P/B FY26E (x)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 Long-Duration Value of the Annuity Bu...</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The DCF framework captures the long-duration value of MOFSL's annuity revenue streams — AMC management fees, private wealth advisory, and alternative investment carry. A higher-quality earnings mix supports a lower cost of equity over time. Terminal growth assumptions reflect India's long-run nominal GDP trajectory, which underpins sustainable AUM and fee compounding for well-positioned platform franchises.</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EPS FY26E (INR) 51.2</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BVPS FY26E (INR) 229.8</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RoE FY26E (%) 22.0</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EV/EBITDA FY26E (x) 12.7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Triggers</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The risk/reward profile is asymmetric to the upside at the current CMP, provided the ARR mix continues to improve. Accumulation is warranted on regulatory-driven pullbacks. The thesis should be revisited if ARR contribution stagnates below 60% for two consecutive quarters or if material governance sanctions are imposed.</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Accumulate at or below CMP; add on regulatory-driven dips that do not impair the ARR trajectory.</a:t>
            </a:r>
          </a:p>
          <a:p>
            <a:pPr/>
            <a:r>
              <a:rPr sz="1100" b="0">
                <a:solidFill>
                  <a:srgbClr val="111111"/>
                </a:solidFill>
                <a:latin typeface="Calibri"/>
              </a:rPr>
              <a:t>- Catalyst watch: ARR crossing 70% of revenues is the primary re-rating trigger to monitor each quarter.</a:t>
            </a:r>
          </a:p>
          <a:p>
            <a:pPr/>
            <a:r>
              <a:rPr sz="1100" b="0">
                <a:solidFill>
                  <a:srgbClr val="111111"/>
                </a:solidFill>
                <a:latin typeface="Calibri"/>
              </a:rPr>
              <a:t>- Review: Revisit if AMC AUM net flows decline materially or private wealth family count growth stalls.</a:t>
            </a:r>
          </a:p>
          <a:p>
            <a:pPr/>
            <a:r>
              <a:rPr sz="1100" b="0">
                <a:solidFill>
                  <a:srgbClr val="111111"/>
                </a:solidFill>
                <a:latin typeface="Calibri"/>
              </a:rPr>
              <a:t>- Exit: Reduce position if ARR contribution falls below 60% for two consecutive quarters.</a:t>
            </a:r>
          </a:p>
          <a:p>
            <a:pPr/>
            <a:r>
              <a:rPr sz="1100" b="0">
                <a:solidFill>
                  <a:srgbClr val="111111"/>
                </a:solidFill>
                <a:latin typeface="Calibri"/>
              </a:rPr>
              <a:t>- Exit: Materially adverse SEBI governance ruling affecting the core brokerage licence warrants reassessment.</a:t>
            </a:r>
          </a:p>
        </p:txBody>
      </p:sp>
      <p:sp>
        <p:nvSpPr>
          <p:cNvPr id="13" name="TextBox 12"/>
          <p:cNvSpPr txBox="1"/>
          <p:nvPr/>
        </p:nvSpPr>
        <p:spPr>
          <a:xfrm>
            <a:off x="457200" y="1417320"/>
            <a:ext cx="3713378" cy="868680"/>
          </a:xfrm>
          <a:prstGeom prst="rect">
            <a:avLst/>
          </a:prstGeom>
          <a:noFill/>
        </p:spPr>
        <p:txBody>
          <a:bodyPr wrap="square">
            <a:spAutoFit/>
          </a:bodyPr>
          <a:lstStyle/>
          <a:p>
            <a:pPr algn="ctr"/>
            <a:r>
              <a:rPr sz="1400" b="1">
                <a:solidFill>
                  <a:srgbClr val="1F4690"/>
                </a:solidFill>
                <a:latin typeface="Calibri"/>
              </a:rPr>
              <a:t>CMP (INR) INR 822.9</a:t>
            </a:r>
          </a:p>
        </p:txBody>
      </p:sp>
      <p:sp>
        <p:nvSpPr>
          <p:cNvPr id="14" name="TextBox 13"/>
          <p:cNvSpPr txBox="1"/>
          <p:nvPr/>
        </p:nvSpPr>
        <p:spPr>
          <a:xfrm>
            <a:off x="4216298" y="1417320"/>
            <a:ext cx="3713378" cy="86868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5" name="TextBox 14"/>
          <p:cNvSpPr txBox="1"/>
          <p:nvPr/>
        </p:nvSpPr>
        <p:spPr>
          <a:xfrm>
            <a:off x="7975396" y="1417320"/>
            <a:ext cx="3713378" cy="868680"/>
          </a:xfrm>
          <a:prstGeom prst="rect">
            <a:avLst/>
          </a:prstGeom>
          <a:noFill/>
        </p:spPr>
        <p:txBody>
          <a:bodyPr wrap="square">
            <a:spAutoFit/>
          </a:bodyPr>
          <a:lstStyle/>
          <a:p>
            <a:pPr algn="ctr"/>
            <a:r>
              <a:rPr sz="1400" b="1">
                <a:solidFill>
                  <a:srgbClr val="1F4690"/>
                </a:solidFill>
                <a:latin typeface="Calibri"/>
              </a:rPr>
              <a:t>Upside (%) 37.0%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 Monitoring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tightening on F&amp;O norms could compress cyclical broking revenues beyond current estimates.</a:t>
            </a:r>
          </a:p>
          <a:p>
            <a:pPr/>
            <a:r>
              <a:rPr sz="1100" b="0">
                <a:solidFill>
                  <a:srgbClr val="111111"/>
                </a:solidFill>
                <a:latin typeface="Calibri"/>
              </a:rPr>
              <a:t>- Competitive pressure from discount brokers and fintech platforms may erode broking yields and market share.</a:t>
            </a:r>
          </a:p>
          <a:p>
            <a:pPr/>
            <a:r>
              <a:rPr sz="1100" b="0">
                <a:solidFill>
                  <a:srgbClr val="111111"/>
                </a:solidFill>
                <a:latin typeface="Calibri"/>
              </a:rPr>
              <a:t>- Q2FY26 revenue decline of 34.9% YoY illustrates that residual earnings cyclicality remains material near-term.</a:t>
            </a:r>
          </a:p>
          <a:p>
            <a:pPr/>
            <a:r>
              <a:rPr sz="1100" b="0">
                <a:solidFill>
                  <a:srgbClr val="111111"/>
                </a:solidFill>
                <a:latin typeface="Calibri"/>
              </a:rPr>
              <a:t>- Mark-to-market volatility on the proprietary book can cause significant quarterly PAT swings.</a:t>
            </a:r>
          </a:p>
          <a:p>
            <a:pPr/>
            <a:r>
              <a:rPr sz="1100" b="0">
                <a:solidFill>
                  <a:srgbClr val="111111"/>
                </a:solidFill>
                <a:latin typeface="Calibri"/>
              </a:rPr>
              <a:t>- Housing finance asset-quality deterioration in a stressed credit cycle would pressure NBFC segment earnings.</a:t>
            </a:r>
          </a:p>
          <a:p>
            <a:pPr/>
            <a:r>
              <a:rPr sz="1100" b="0">
                <a:solidFill>
                  <a:srgbClr val="111111"/>
                </a:solidFill>
                <a:latin typeface="Calibri"/>
              </a:rPr>
              <a:t>- Recurring SEBI governance matters categorised as Monitor Closely could escalate and affect franchise reputation.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Bull, Base, and Bear Targets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819323"/>
                <a:gridCol w="2819323"/>
                <a:gridCol w="2819323"/>
                <a:gridCol w="2819326"/>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c>
                  <a:txBody>
                    <a:bodyPr/>
                    <a:lstStyle/>
                    <a:p>
                      <a:r>
                        <a:rPr b="1" sz="1100">
                          <a:solidFill>
                            <a:srgbClr val="FFFFFF"/>
                          </a:solidFill>
                          <a:latin typeface="Calibri"/>
                        </a:rPr>
                        <a:t>Target Price (INR)</a:t>
                      </a:r>
                    </a:p>
                  </a:txBody>
                  <a:tcPr>
                    <a:solidFill>
                      <a:srgbClr val="1F4690"/>
                    </a:solidFill>
                  </a:tcPr>
                </a:tc>
                <a:tc>
                  <a:txBody>
                    <a:bodyPr/>
                    <a:lstStyle/>
                    <a:p>
                      <a:r>
                        <a:rPr b="1" sz="1100">
                          <a:solidFill>
                            <a:srgbClr val="FFFFFF"/>
                          </a:solidFill>
                          <a:latin typeface="Calibri"/>
                        </a:rPr>
                        <a:t>Probability (%)</a:t>
                      </a:r>
                    </a:p>
                  </a:txBody>
                  <a:tcPr>
                    <a:solidFill>
                      <a:srgbClr val="1F4690"/>
                    </a:solidFill>
                  </a:tcPr>
                </a:tc>
              </a:tr>
              <a:tr h="125730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r>
              <a:tr h="1257300">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r>
              <a:tr h="1257300">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 vs. Benchmark</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This document is for informational purposes only and does not constitute an offer, solicitation, or recommendation to buy or sell any security. Investments in securities markets are subject to market risks; please read all related documents carefully before investing. Past performance is not indicative of future results. The analyst(s) certify that the views expressed herein accurately reflect their personal views. Tikona Capital may hold positions in securities mentioned. Readers should conduct independent due diligence before making investment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