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 Re-Rating in Progress</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Broking House to Annuity Platform</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The firm is executing a deliberate and measurable migration from cyclical broking revenues toward a high-quality, annuity-driven financial services platform. Annual Recurring Revenue now constitutes a substantial majority of net revenues — with management guiding for further increases — fundamentally improving the quality and predictability of the earnings base. This structural shift has not yet been fully reflected in the market's valuation framework, which continues to apply broking-sector multiples to a business increasingly resembling an asset and wealth manager. The current market price therefore represents a meaningful discount to the analyst's probability-weighted target, creating an asymmetric risk-reward opportunity for long-horizon investors. The balance sheet has been reinforced by a long-term credit rating upgrade to AA+ (Stable) by ICRA, while total AUM has compounded sharply on a year-over-year basis across both the AMC and Private Wealth segments.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now forms the majority of net revenues, materially reducing dependence on cyclical broking and F&amp;O transaction volumes across m...</a:t>
            </a:r>
          </a:p>
          <a:p>
            <a:pPr/>
            <a:r>
              <a:rPr sz="1100" b="0">
                <a:solidFill>
                  <a:srgbClr val="111111"/>
                </a:solidFill>
                <a:latin typeface="Calibri"/>
              </a:rPr>
              <a:t>- Total AUM has grown strongly year-on-year, with the vast majority of AMC AUM outperforming benchmarks over a 3-year horizon, suppor...</a:t>
            </a:r>
          </a:p>
          <a:p>
            <a:pPr/>
            <a:r>
              <a:rPr sz="1100" b="0">
                <a:solidFill>
                  <a:srgbClr val="111111"/>
                </a:solidFill>
                <a:latin typeface="Calibri"/>
              </a:rPr>
              <a:t>- Private Wealth AUM and family count are both compounding at high double-digit rates, signalling durable advisory revenue streams wi...</a:t>
            </a:r>
          </a:p>
          <a:p>
            <a:pPr/>
            <a:r>
              <a:rPr sz="1100" b="0">
                <a:solidFill>
                  <a:srgbClr val="111111"/>
                </a:solidFill>
                <a:latin typeface="Calibri"/>
              </a:rPr>
              <a:t>- Operating leverage on a largely fixed cost base positions MOFSL to deliver significant margin expansion as fee revenues scale beyon...</a:t>
            </a:r>
          </a:p>
          <a:p>
            <a:pPr/>
            <a:r>
              <a:rPr sz="1100" b="0">
                <a:solidFill>
                  <a:srgbClr val="111111"/>
                </a:solidFill>
                <a:latin typeface="Calibri"/>
              </a:rPr>
              <a:t>- AA+ (Stable) credit rating by ICRA endorses balance-sheet strength and validates the firm's capacity to fund reinvestment in fee-ba...</a:t>
            </a:r>
          </a:p>
          <a:p>
            <a:pPr/>
            <a:r>
              <a:rPr sz="1100" b="0">
                <a:solidFill>
                  <a:srgbClr val="111111"/>
                </a:solidFill>
                <a:latin typeface="Calibri"/>
              </a:rPr>
              <a:t>- Probability-weighted target accounts for regulatory scenario dispersion, providing a balanced view of risk-adjusted upside across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 Integrated Financial Services Plat...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founded in 1987, has evolved from a research-driven equity broking house into one of India's most comprehensive financial services platforms. The company's revenue model spans 4 broad pillars — Capital Markets (broking, IB, distribution), Asset Management (equity mutual funds, PMS), Private Wealth Management, and Housing Finance — serving over 1.6 million customers across 550-plus cities through 2,500-plus business locations. Research coverage of 300-plus companies across market caps remains the firm's enduring competitive moat, differentiating it from pure-play discount brokers and underpinning the quality of its asset-management franchise. The shift toward fee-based recurring revenues across AMC and PWM is the primary re-rating lever for the stock.</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Investment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Transformation: Annual Recurring Revenue forms the majority of net revenues and is guided to rise further, structurally de-risking earnings from broking cycle volatility.</a:t>
            </a:r>
          </a:p>
          <a:p>
            <a:pPr/>
            <a:r>
              <a:rPr sz="1100" b="0">
                <a:solidFill>
                  <a:srgbClr val="111111"/>
                </a:solidFill>
                <a:latin typeface="Calibri"/>
              </a:rPr>
              <a:t>- AUM Compounding Engine: Total AUM has grown sharply year-on-year, with Private Wealth AUM and AMC AUM both outpacing broader market averages on flows and performance.</a:t>
            </a:r>
          </a:p>
          <a:p>
            <a:pPr/>
            <a:r>
              <a:rPr sz="1100" b="0">
                <a:solidFill>
                  <a:srgbClr val="111111"/>
                </a:solidFill>
                <a:latin typeface="Calibri"/>
              </a:rPr>
              <a:t>- Benchmark Outperformance: The vast majority of AMC AUM has outperformed its benchmark over a 3-year period, underpinning management fee durability and client retention.</a:t>
            </a:r>
          </a:p>
          <a:p>
            <a:pPr/>
            <a:r>
              <a:rPr sz="1100" b="0">
                <a:solidFill>
                  <a:srgbClr val="111111"/>
                </a:solidFill>
                <a:latin typeface="Calibri"/>
              </a:rPr>
              <a:t>- Credit Quality Upgrade: Long-term rating upgraded to AA+ (Stable) by ICRA, reflecting improved balance-sheet strength and reduced refinancing risk across the housing finance book.</a:t>
            </a:r>
          </a:p>
          <a:p>
            <a:pPr/>
            <a:r>
              <a:rPr sz="1100" b="0">
                <a:solidFill>
                  <a:srgbClr val="111111"/>
                </a:solidFill>
                <a:latin typeface="Calibri"/>
              </a:rPr>
              <a:t>- Reinvestment Discipline: Capital is being systematically redeployed into fee-based, higher-multiple businesses rather than into balance-sheet-intensive cyclical segments.</a:t>
            </a:r>
          </a:p>
          <a:p>
            <a:pPr/>
            <a:r>
              <a:rPr sz="1100" b="0">
                <a:solidFill>
                  <a:srgbClr val="111111"/>
                </a:solidFill>
                <a:latin typeface="Calibri"/>
              </a:rPr>
              <a:t>- Valuation Discount: The current market price represents a material discount to the probability-weighted analyst target, with upside underpinned by an ARR-driven re-rating 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Context: India's Wealth and Asset Managemen...</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sits at the intersection of rising household wealth, low product penetration, and a rapidly formalising capital market ecosystem. Mutual fund penetration remains in the low single-digit percentage of GDP, reflecting a vast latent opportunity as retail and HNI savings migrate from physical assets into financial products. India's HNWI population is projected to grow significantly by 2027, with the country on track to become the fourth-largest private wealth market by 2028. The UHNWI segment is expected to see a particularly pronounced rise, driving demand for sophisticated wealth advisory and alternatives. The private credit market reached a record in the first half of 2025, growing substantially year-on-year, reflecting institutional appetite for yield-oriented products beyond conventional fixed income. Financial services sector profits are projected to nearly double by FY30, with non-bank lenders expanding at a high mid-teen annual rate — creating structural demand for integrated platforms like MOFSL that can originate, manage, and distribute across the capital spectrum.</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 is on track to become the fourth-largest private wealth market by 2028, underpinned by rapid UHNWI and HNWI populatio...</a:t>
            </a:r>
          </a:p>
          <a:p>
            <a:pPr/>
            <a:r>
              <a:rPr sz="1100" b="0">
                <a:solidFill>
                  <a:srgbClr val="111111"/>
                </a:solidFill>
                <a:latin typeface="Calibri"/>
              </a:rPr>
              <a:t>- Mutual fund penetration in the low single digits of GDP signals multi-decade headroom for SIP and lump-sum AUM accumulation...</a:t>
            </a:r>
          </a:p>
          <a:p>
            <a:pPr/>
            <a:r>
              <a:rPr sz="1100" b="0">
                <a:solidFill>
                  <a:srgbClr val="111111"/>
                </a:solidFill>
                <a:latin typeface="Calibri"/>
              </a:rPr>
              <a:t>- Private credit hit a record in H1 2025, growing well above prior-year levels, creating a durable alternative-investment dis...</a:t>
            </a:r>
          </a:p>
          <a:p>
            <a:pPr/>
            <a:r>
              <a:rPr sz="1100" b="0">
                <a:solidFill>
                  <a:srgbClr val="111111"/>
                </a:solidFill>
                <a:latin typeface="Calibri"/>
              </a:rPr>
              <a:t>- Financialisation of household savings is accelerating as physical asset allocation in gold and real estate gives way to cap...</a:t>
            </a:r>
          </a:p>
          <a:p>
            <a:pPr/>
            <a:r>
              <a:rPr sz="1100" b="0">
                <a:solidFill>
                  <a:srgbClr val="111111"/>
                </a:solidFill>
                <a:latin typeface="Calibri"/>
              </a:rPr>
              <a:t>- SEBI-led market structure reforms have deepened investor participation, expanding the addressable customer base for broking...</a:t>
            </a:r>
          </a:p>
          <a:p>
            <a:pPr/>
            <a:r>
              <a:rPr sz="1100" b="0">
                <a:solidFill>
                  <a:srgbClr val="111111"/>
                </a:solidFill>
                <a:latin typeface="Calibri"/>
              </a:rPr>
              <a:t>- Financial services sector earnings are projected to nearly double by FY30, with NBFCs contributing disproportionately to 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4-Pillar Revenue Model</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 operates 4 distinct business segments, each with differentiated economics. Capital Markets contributes the largest share of revenues but carries the highest cyclicality; Asset Management and Private Wealth are the ARR engines that the market will increasingly reward with premium multiples. Housing Finance adds a balance-sheet-intensive leg with separate credit and margin dynamics. Understanding the inter-segment mix and its evolution is essential to tracking the re-rating catalyst — as...</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Key Driver</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From Cyclical to Compounding</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consolidated revenue trajectory reflects the structural migration underway in the business mix. Capital Markets revenues remain subject to market volume and regulatory cycles — as evidenced by the sharp year-over-year decline in the most recent quarter — but AMC management fees and Private Wealth advisory retainers are growing at a pace that increasingly dominates the consolidated line. The FY26E and FY27E estimates embed a moderated Capital Markets contribution alongside continued high-teens-to-twenty-plus percent growth in recurring fee segments. EBITDA growth is expected to outpace revenue growth as operating leverage accrues from a largely fixed overhead base — technology, research, compliance — that was sized to support a larger transactional volume. Investors should focus on fee revenue CAGR and ARR share progression as the primary leading indicators for earnings quality improvement over the forecast period.</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PAT Growth and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profit-after-tax trajectory has been characterised by strong peaks driven by bull-market broking volumes and troughs driven by regulatory action or market slowdowns — a pattern that is expected to dampen as ARR grows as a share of revenues. The Q2FY25 performance demonstrated the platform's upside capture capacity: profit growth was exceptional year-on-year, driven by equity market buoyancy and strong AMC inflows. Conversely, Q2FY26 profit declined sharply year-on-year as SEBI's F&amp;O rule changes compressed derivative transaction volumes, illustrating the residual cyclicality that remains in the Capital Markets segment. The forward earnings estimates reflect a normalised environment: AMC and PWM revenues compounding, broking revenues stabilising at a lower base, and housing finance growing steadily. EBITDA margins are projected to improve as the fixed cost base is absorbed across a larger recurring revenue pool, with ROE and ROCE both supported by disciplined capital allocation away from balance-sheet-intensive activities.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Earnings: Volatility Profile and Trend</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quarterly earnings record is essential context for investors evaluating MOFSL's risk profile. Q2FY25 was a standout quarter — profits more than doubled year-on-year on the back of robust equity markets, strong AMC net inflows, and a buoyant broking environment. Q2FY26, however, saw profit fall sharply as SEBI's revised F&amp;O trading norms took effect, compressing derivative volumes...</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Ratios: Margins, Returns, and Valuation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ARR Re-Rating Drives the Upside Case</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for MOFSL applies segment-level methodologies that reflect the distinct economic character of each business unit. The Asset Management and Private Wealth businesses are valued on earnings-per-share multiples consistent with asset-light, fee-driven comparables; Capital Markets is valued on a price-to-book basis reflecting its more cycli...</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₹1,127.0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Prob.-Weighted Target 1,109.0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P/E FY26E 16.1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Method, Scenario, and Target Reconc...</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Valuation Method</a:t>
                      </a:r>
                    </a:p>
                  </a:txBody>
                  <a:tcPr>
                    <a:solidFill>
                      <a:srgbClr val="1F4690"/>
                    </a:solidFill>
                  </a:tcPr>
                </a:tc>
                <a:tc>
                  <a:txBody>
                    <a:bodyPr/>
                    <a:lstStyle/>
                    <a:p>
                      <a:r>
                        <a:rPr b="1" sz="1100">
                          <a:solidFill>
                            <a:srgbClr val="FFFFFF"/>
                          </a:solidFill>
                          <a:latin typeface="Calibri"/>
                        </a:rPr>
                        <a:t>Bear Case</a:t>
                      </a:r>
                    </a:p>
                  </a:txBody>
                  <a:tcPr>
                    <a:solidFill>
                      <a:srgbClr val="1F4690"/>
                    </a:solidFill>
                  </a:tcPr>
                </a:tc>
                <a:tc>
                  <a:txBody>
                    <a:bodyPr/>
                    <a:lstStyle/>
                    <a:p>
                      <a:r>
                        <a:rPr b="1" sz="1100">
                          <a:solidFill>
                            <a:srgbClr val="FFFFFF"/>
                          </a:solidFill>
                          <a:latin typeface="Calibri"/>
                        </a:rPr>
                        <a:t>Base Case</a:t>
                      </a:r>
                    </a:p>
                  </a:txBody>
                  <a:tcPr>
                    <a:solidFill>
                      <a:srgbClr val="1F4690"/>
                    </a:solidFill>
                  </a:tcPr>
                </a:tc>
                <a:tc>
                  <a:txBody>
                    <a:bodyPr/>
                    <a:lstStyle/>
                    <a:p>
                      <a:r>
                        <a:rPr b="1" sz="1100">
                          <a:solidFill>
                            <a:srgbClr val="FFFFFF"/>
                          </a:solidFill>
                          <a:latin typeface="Calibri"/>
                        </a:rPr>
                        <a:t>Bull Case</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Regulatory and AUM Growth Sensiti...</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Revenue CAGR</a:t>
                      </a:r>
                    </a:p>
                  </a:txBody>
                  <a:tcPr>
                    <a:solidFill>
                      <a:srgbClr val="1F4690"/>
                    </a:solidFill>
                  </a:tcPr>
                </a:tc>
                <a:tc>
                  <a:txBody>
                    <a:bodyPr/>
                    <a:lstStyle/>
                    <a:p>
                      <a:r>
                        <a:rPr b="1" sz="1100">
                          <a:solidFill>
                            <a:srgbClr val="FFFFFF"/>
                          </a:solidFill>
                          <a:latin typeface="Calibri"/>
                        </a:rPr>
                        <a:t>EBITDA Margin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Key Assumption</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Our proprietary SAARTHI framework evaluates investment quality across 7 dimensions: Scalability, Advocacy moat, Annuity revenue, Return profile, Technology and compliance, Honesty of management, and Insider conviction. MOFSL scores well on the Annuity and Return dimensions, reflecting the ARR mix shift and strong ROE profile. The Reinvestment Quality sub-score is particularly high, co...</a:t>
            </a:r>
          </a:p>
        </p:txBody>
      </p:sp>
      <p:sp>
        <p:nvSpPr>
          <p:cNvPr id="12" name="TextBox 11"/>
          <p:cNvSpPr txBox="1"/>
          <p:nvPr/>
        </p:nvSpPr>
        <p:spPr>
          <a:xfrm>
            <a:off x="457200" y="2194560"/>
            <a:ext cx="3713378" cy="822960"/>
          </a:xfrm>
          <a:prstGeom prst="rect">
            <a:avLst/>
          </a:prstGeom>
          <a:noFill/>
        </p:spPr>
        <p:txBody>
          <a:bodyPr wrap="square">
            <a:spAutoFit/>
          </a:bodyPr>
          <a:lstStyle/>
          <a:p>
            <a:pPr algn="ctr"/>
            <a:r>
              <a:rPr sz="1400" b="1">
                <a:solidFill>
                  <a:srgbClr val="1F4690"/>
                </a:solidFill>
                <a:latin typeface="Calibri"/>
              </a:rPr>
              <a:t>ARR as % of Revenue 65.0</a:t>
            </a:r>
          </a:p>
        </p:txBody>
      </p:sp>
      <p:sp>
        <p:nvSpPr>
          <p:cNvPr id="13" name="TextBox 12"/>
          <p:cNvSpPr txBox="1"/>
          <p:nvPr/>
        </p:nvSpPr>
        <p:spPr>
          <a:xfrm>
            <a:off x="4216298" y="2194560"/>
            <a:ext cx="3713378" cy="822960"/>
          </a:xfrm>
          <a:prstGeom prst="rect">
            <a:avLst/>
          </a:prstGeom>
          <a:noFill/>
        </p:spPr>
        <p:txBody>
          <a:bodyPr wrap="square">
            <a:spAutoFit/>
          </a:bodyPr>
          <a:lstStyle/>
          <a:p>
            <a:pPr algn="ctr"/>
            <a:r>
              <a:rPr sz="1400" b="1">
                <a:solidFill>
                  <a:srgbClr val="1F4690"/>
                </a:solidFill>
                <a:latin typeface="Calibri"/>
              </a:rPr>
              <a:t>RoE FY26E 22.0</a:t>
            </a:r>
          </a:p>
        </p:txBody>
      </p:sp>
      <p:sp>
        <p:nvSpPr>
          <p:cNvPr id="14" name="TextBox 13"/>
          <p:cNvSpPr txBox="1"/>
          <p:nvPr/>
        </p:nvSpPr>
        <p:spPr>
          <a:xfrm>
            <a:off x="7975396" y="2194560"/>
            <a:ext cx="3713378" cy="822960"/>
          </a:xfrm>
          <a:prstGeom prst="rect">
            <a:avLst/>
          </a:prstGeom>
          <a:noFill/>
        </p:spPr>
        <p:txBody>
          <a:bodyPr wrap="square">
            <a:spAutoFit/>
          </a:bodyPr>
          <a:lstStyle/>
          <a:p>
            <a:pPr algn="ctr"/>
            <a:r>
              <a:rPr sz="1400" b="1">
                <a:solidFill>
                  <a:srgbClr val="1F4690"/>
                </a:solidFill>
                <a:latin typeface="Calibri"/>
              </a:rPr>
              <a:t>RoCE FY26E 18.0</a:t>
            </a:r>
          </a:p>
        </p:txBody>
      </p:sp>
      <p:graphicFrame>
        <p:nvGraphicFramePr>
          <p:cNvPr id="15" name="Table 14"/>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has a history of recurring SEBI regulatory matters that institutional investors must monitor as part of ongoing due diligence. Our forensic review assigns the firm a 'Monitor Closely' classification — not a disqualifying flag, but a signal that governance quality and regulatory compliance should be tracked alongside financial performance. The matters identified are consistent wi...</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Founder-Led, Research-Rooted</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was co-founded in 1987 by Motilal Oswal and Raamdeo Agrawal, both of whom remain actively involved in strategic oversight. The firm's identity as a research-driven franchise is a direct extension of the founders' investment philosophy — value-oriented, conviction-heavy, and analytically rigorous. Leadership continuity at the top is a material positive for an asset and wealth man...</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What Could Break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action remains the most material near-term risk; further restrictions on derivatives trading could structurally impair Capital Markets revenues beyond current estimates.</a:t>
            </a:r>
          </a:p>
          <a:p>
            <a:pPr/>
            <a:r>
              <a:rPr sz="1100" b="0">
                <a:solidFill>
                  <a:srgbClr val="111111"/>
                </a:solidFill>
                <a:latin typeface="Calibri"/>
              </a:rPr>
              <a:t>- Q2FY26 demonstrated residual earnings cyclicality — a sustained market downturn or prolonged low-volume regime would compress broking revenues and delay the ARR-share crossover.</a:t>
            </a:r>
          </a:p>
          <a:p>
            <a:pPr/>
            <a:r>
              <a:rPr sz="1100" b="0">
                <a:solidFill>
                  <a:srgbClr val="111111"/>
                </a:solidFill>
                <a:latin typeface="Calibri"/>
              </a:rPr>
              <a:t>- Competitive pressure from discount brokers and fintech platforms is compressing per-trade yields in equity cash and derivatives, threatening the revenue-per-customer trajectory.</a:t>
            </a:r>
          </a:p>
          <a:p>
            <a:pPr/>
            <a:r>
              <a:rPr sz="1100" b="0">
                <a:solidFill>
                  <a:srgbClr val="111111"/>
                </a:solidFill>
                <a:latin typeface="Calibri"/>
              </a:rPr>
              <a:t>- Housing Finance asset-quality slippage in a stressed credit cycle could generate elevated provisions and impair the segment's contribution to consolidated PAT.</a:t>
            </a:r>
          </a:p>
          <a:p>
            <a:pPr/>
            <a:r>
              <a:rPr sz="1100" b="0">
                <a:solidFill>
                  <a:srgbClr val="111111"/>
                </a:solidFill>
                <a:latin typeface="Calibri"/>
              </a:rPr>
              <a:t>- Mark-to-market losses on the proprietary investment book can create episodic earnings volatility that obscures the underlying franchise quality for external analysts.</a:t>
            </a:r>
          </a:p>
          <a:p>
            <a:pPr/>
            <a:r>
              <a:rPr sz="1100" b="0">
                <a:solidFill>
                  <a:srgbClr val="111111"/>
                </a:solidFill>
                <a:latin typeface="Calibri"/>
              </a:rPr>
              <a:t>- SEBI regulatory and forensic matters require ongoing monitoring; any escalation in enforcement action could have reputational and operational implications for the integrated platform.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 What Could Accelerate the Re-Rating</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ARR share crossing a higher threshold of revenues would trigger a re-rating from broking-sector multiples to asset-management multiples, representing the single largest valuation catalyst.</a:t>
            </a:r>
          </a:p>
          <a:p>
            <a:pPr/>
            <a:r>
              <a:rPr sz="1100" b="0">
                <a:solidFill>
                  <a:srgbClr val="111111"/>
                </a:solidFill>
                <a:latin typeface="Calibri"/>
              </a:rPr>
              <a:t>- Sustained AMC AUM growth above trend with net flows exceeding a meaningful quarterly run-rate would validate the investment performance edge and fee retention capacity.</a:t>
            </a:r>
          </a:p>
          <a:p>
            <a:pPr/>
            <a:r>
              <a:rPr sz="1100" b="0">
                <a:solidFill>
                  <a:srgbClr val="111111"/>
                </a:solidFill>
                <a:latin typeface="Calibri"/>
              </a:rPr>
              <a:t>- Private Wealth AUM growth above prior-year rates alongside accelerating family count addition would confirm the advisory model is scaling without yield dilution.</a:t>
            </a:r>
          </a:p>
          <a:p>
            <a:pPr/>
            <a:r>
              <a:rPr sz="1100" b="0">
                <a:solidFill>
                  <a:srgbClr val="111111"/>
                </a:solidFill>
                <a:latin typeface="Calibri"/>
              </a:rPr>
              <a:t>- Regulatory clarity on F&amp;O trading norms — particularly if revised rules are less restrictive than feared — would restore broking revenue visibility and remove a key overhang.</a:t>
            </a:r>
          </a:p>
          <a:p>
            <a:pPr/>
            <a:r>
              <a:rPr sz="1100" b="0">
                <a:solidFill>
                  <a:srgbClr val="111111"/>
                </a:solidFill>
                <a:latin typeface="Calibri"/>
              </a:rPr>
              <a:t>- Operating leverage materialisation through a declining cost-to-income ratio would demonstrate that the fixed-cost investment cycle is translating into margin expansion.</a:t>
            </a:r>
          </a:p>
          <a:p>
            <a:pPr/>
            <a:r>
              <a:rPr sz="1100" b="0">
                <a:solidFill>
                  <a:srgbClr val="111111"/>
                </a:solidFill>
                <a:latin typeface="Calibri"/>
              </a:rPr>
              <a:t>- Additional credit rating upgrades or improvement in housing finance asset quality metrics would reduce risk premium and support lower cost of funds across the NBFC subsidiary.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Monitoring, and Review Trig...</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recommended approach is to initiate a position at or near current market levels, where the stock trades at a material discount to both the base-case and probability-weighted targets. The risk-reward profile is asymmetric: the bull case is driven by a re-rating catalyst (ARR crossing a higher share threshold) that is observable and time-bounded, while the bear case is bounded by the persistent cash-generation capacity of the AMC and PWM businesses. Position sizing should reflect the residual quarterly earnings volatility in Capital Markets — investors with a shorter time horizon should size more conservatively and use quarterly reporting events as review triggers. The target price and rating should be reviewed if ARR share falls below its current trajectory, if SEBI imposes materially more restrictive F&amp;O regulations than currently enacted, or if Housing Finance NPA levels rise beyond a threshold consistent with base-case credit assumptions.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Initiate at or near current market price; the discount to probability-weighted target provides a meaningful margin o...</a:t>
            </a:r>
          </a:p>
          <a:p>
            <a:pPr/>
            <a:r>
              <a:rPr sz="1100" b="0">
                <a:solidFill>
                  <a:srgbClr val="111111"/>
                </a:solidFill>
                <a:latin typeface="Calibri"/>
              </a:rPr>
              <a:t>- Add: Consider adding on dips driven by quarterly broking-revenue disappointment, as these do not impair the structural ARR...</a:t>
            </a:r>
          </a:p>
          <a:p>
            <a:pPr/>
            <a:r>
              <a:rPr sz="1100" b="0">
                <a:solidFill>
                  <a:srgbClr val="111111"/>
                </a:solidFill>
                <a:latin typeface="Calibri"/>
              </a:rPr>
              <a:t>- Review trigger — positive: ARR share inflection above a higher revenue threshold or AMC AUM net flows materially exceeding...</a:t>
            </a:r>
          </a:p>
          <a:p>
            <a:pPr/>
            <a:r>
              <a:rPr sz="1100" b="0">
                <a:solidFill>
                  <a:srgbClr val="111111"/>
                </a:solidFill>
                <a:latin typeface="Calibri"/>
              </a:rPr>
              <a:t>- Review trigger — negative: Further SEBI F&amp;O restrictions beyond current rules, sustained decline in AMC benchmark outperfor...</a:t>
            </a:r>
          </a:p>
          <a:p>
            <a:pPr/>
            <a:r>
              <a:rPr sz="1100" b="0">
                <a:solidFill>
                  <a:srgbClr val="111111"/>
                </a:solidFill>
                <a:latin typeface="Calibri"/>
              </a:rPr>
              <a:t>- Exit: Revisit the thesis if ARR share trajectory reverses, management guidance on fee business growth decelerates materiall...</a:t>
            </a:r>
          </a:p>
        </p:txBody>
      </p:sp>
      <p:sp>
        <p:nvSpPr>
          <p:cNvPr id="13" name="TextBox 12"/>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Monitor quarterly: ARR as a percentage of net revenues, AMC AUM net flows, Private Wealth family count addition, and Capita...</a:t>
            </a:r>
          </a:p>
          <a:p>
            <a:pPr/>
            <a:r>
              <a:rPr sz="1100" b="0">
                <a:solidFill>
                  <a:srgbClr val="111111"/>
                </a:solidFill>
                <a:latin typeface="Calibri"/>
              </a:rPr>
              <a:t>- Monitor periodically: SEBI enforcement communications, housing finance NPA disclosures, proprietary book mark-to-market pos...</a:t>
            </a:r>
          </a:p>
          <a:p>
            <a:pPr/>
            <a:r>
              <a:rPr sz="1100" b="0">
                <a:solidFill>
                  <a:srgbClr val="111111"/>
                </a:solidFill>
                <a:latin typeface="Calibri"/>
              </a:rPr>
              <a:t>- Re-rating signal to watch: The first quarter in which AMC and PWM combined revenues clearly exceed Capital Markets revenues...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Summary: BUY — Annuity Transformation at...</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grounded in the conviction that the market is applying an outdated, cyclical-broking valuation framework to a business that is structurally migrating toward asset and wealth management economics. ARR now constitutes the majority of net revenues and is growing faster than transactional revenues, driven by strong AUM compounding across both the AMC and Private Wealth segments. The vast majority of AMC AUM is outperforming benchmarks over a 3-year horizon, supporting fee retention and net-flow momentum. A long-term credit upgrade to AA+ (Stable) endorses balance-sheet strength. The current market price offers a material discount to our probability-weighted target, with the upside case anchored by an observable re-rating catalyst: ARR share crossing a higher threshold that justifies asset-management sector multiples. Risks are real — regulatory uncertainty around F&amp;O norms, competitive yield pressure, housing finance credit cycles — but are assessed as more than reflected in the current discount. We recommend institutional investors initiate positions with a 12–18 month investment horizon and review at each quarterly earnings cycle.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BUY rating based on ARR mix transformation driving a re-rating from broking to asset-management multiples — the primary val...</a:t>
            </a:r>
          </a:p>
          <a:p>
            <a:pPr/>
            <a:r>
              <a:rPr sz="1100" b="0">
                <a:solidFill>
                  <a:srgbClr val="111111"/>
                </a:solidFill>
                <a:latin typeface="Calibri"/>
              </a:rPr>
              <a:t>- Total AUM compounding strongly year-on-year across AMC and Private Wealth, with AMC benchmark outperformance providing a du...</a:t>
            </a:r>
          </a:p>
          <a:p>
            <a:pPr/>
            <a:r>
              <a:rPr sz="1100" b="0">
                <a:solidFill>
                  <a:srgbClr val="111111"/>
                </a:solidFill>
                <a:latin typeface="Calibri"/>
              </a:rPr>
              <a:t>- Probability-weighted target incorporates regulatory scenario dispersion; the current price represents a significant discoun...</a:t>
            </a:r>
          </a:p>
          <a:p>
            <a:pPr/>
            <a:r>
              <a:rPr sz="1100" b="0">
                <a:solidFill>
                  <a:srgbClr val="111111"/>
                </a:solidFill>
                <a:latin typeface="Calibri"/>
              </a:rPr>
              <a:t>- AA+ (Stable) credit rating by ICRA validates balance-sheet resilience and reduces cost-of-funds risk across the housing fin...</a:t>
            </a:r>
          </a:p>
          <a:p>
            <a:pPr/>
            <a:r>
              <a:rPr sz="1100" b="0">
                <a:solidFill>
                  <a:srgbClr val="111111"/>
                </a:solidFill>
                <a:latin typeface="Calibri"/>
              </a:rPr>
              <a:t>- SAARTHI score of 72/100 places MOFSL in the high-quality tier for the capital-markets sector, with Reinvestment Quality as...</a:t>
            </a:r>
          </a:p>
          <a:p>
            <a:pPr/>
            <a:r>
              <a:rPr sz="1100" b="0">
                <a:solidFill>
                  <a:srgbClr val="111111"/>
                </a:solidFill>
                <a:latin typeface="Calibri"/>
              </a:rPr>
              <a:t>- Key risk to monitor: SEBI F&amp;O regulatory escalation; forensic matters are classified Monitor Closely and warrant ongoing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The report is intended for informational purposes only and does not constitute an offer, solicitation, or recommendation to buy, sell, or hold any security. The information contained herein has been obtained from sources believed to be reliable, but Tikona Capital makes no representation or warranty, express or implied, as to its accuracy, completeness, or timeliness. Past performance of any security or financial instrument discussed herein is not a reliable indicator of future results. Investments in securities markets are subject to market risk; readers are advised to read all scheme-related documents and offering circulars carefully before investing. This report is not directed at, or intended for distribution to, any person or entity in any jurisdiction where such distribution would be contrary to applicable laws or regulations. Tikona Capital, its affiliates, directors, employees, and analysts may hold positions in the securities discussed in this report. Any opinions, estimates, or forecasts herein constitute the judgment of the analyst as of the date of this report and are subject to change without notice. Tikona Capital has no obligation to update, modify, or amend this report. SEBI Registration Number: [To be inserted by compliance]. CIN: [To be inserted by compliance]. The renderer may replace this block with approved compliance boilerplate as per firm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