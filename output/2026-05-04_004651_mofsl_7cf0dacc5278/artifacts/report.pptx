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377190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771900"/>
            <a:ext cx="12191695" cy="5486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84048" y="347472"/>
            <a:ext cx="2468880" cy="65836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411480"/>
            <a:ext cx="2056718" cy="502920"/>
          </a:xfrm>
          <a:prstGeom prst="rect">
            <a:avLst/>
          </a:prstGeom>
        </p:spPr>
      </p:pic>
      <p:sp>
        <p:nvSpPr>
          <p:cNvPr id="6" name="Rectangle 5"/>
          <p:cNvSpPr/>
          <p:nvPr/>
        </p:nvSpPr>
        <p:spPr>
          <a:xfrm>
            <a:off x="0" y="644652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6446520"/>
            <a:ext cx="11277295" cy="41148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8" name="TextBox 7"/>
          <p:cNvSpPr txBox="1"/>
          <p:nvPr/>
        </p:nvSpPr>
        <p:spPr>
          <a:xfrm>
            <a:off x="548640" y="1371600"/>
            <a:ext cx="11094415" cy="1280160"/>
          </a:xfrm>
          <a:prstGeom prst="rect">
            <a:avLst/>
          </a:prstGeom>
          <a:noFill/>
        </p:spPr>
        <p:txBody>
          <a:bodyPr wrap="square">
            <a:spAutoFit/>
          </a:bodyPr>
          <a:lstStyle/>
          <a:p>
            <a:r>
              <a:rPr sz="4000" b="1">
                <a:solidFill>
                  <a:srgbClr val="FFFFFF"/>
                </a:solidFill>
                <a:latin typeface="Calibri"/>
              </a:rPr>
              <a:t>Motilal Oswal Financial Services Initiation Note</a:t>
            </a:r>
          </a:p>
        </p:txBody>
      </p:sp>
      <p:sp>
        <p:nvSpPr>
          <p:cNvPr id="9" name="TextBox 8"/>
          <p:cNvSpPr txBox="1"/>
          <p:nvPr/>
        </p:nvSpPr>
        <p:spPr>
          <a:xfrm>
            <a:off x="548640" y="2697480"/>
            <a:ext cx="11094415" cy="548640"/>
          </a:xfrm>
          <a:prstGeom prst="rect">
            <a:avLst/>
          </a:prstGeom>
          <a:noFill/>
        </p:spPr>
        <p:txBody>
          <a:bodyPr wrap="none">
            <a:spAutoFit/>
          </a:bodyPr>
          <a:lstStyle/>
          <a:p>
            <a:r>
              <a:rPr sz="1800" b="0">
                <a:solidFill>
                  <a:srgbClr val="FFE5B4"/>
                </a:solidFill>
                <a:latin typeface="Calibri"/>
              </a:rPr>
              <a:t>Motilal Oswal Financial Services Ltd | BUY</a:t>
            </a:r>
          </a:p>
        </p:txBody>
      </p:sp>
      <p:sp>
        <p:nvSpPr>
          <p:cNvPr id="10" name="Rounded Rectangle 9"/>
          <p:cNvSpPr/>
          <p:nvPr/>
        </p:nvSpPr>
        <p:spPr>
          <a:xfrm>
            <a:off x="9997135" y="548640"/>
            <a:ext cx="1645920" cy="5029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Rounded Rectangle 10"/>
          <p:cNvSpPr/>
          <p:nvPr/>
        </p:nvSpPr>
        <p:spPr>
          <a:xfrm>
            <a:off x="548640"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Rating</a:t>
            </a:r>
          </a:p>
          <a:p>
            <a:pPr algn="ctr"/>
            <a:r>
              <a:rPr sz="2000" b="1">
                <a:solidFill>
                  <a:srgbClr val="1F4690"/>
                </a:solidFill>
                <a:latin typeface="Calibri"/>
              </a:rPr>
              <a:t>BUY</a:t>
            </a:r>
          </a:p>
        </p:txBody>
      </p:sp>
      <p:sp>
        <p:nvSpPr>
          <p:cNvPr id="12" name="Rounded Rectangle 11"/>
          <p:cNvSpPr/>
          <p:nvPr/>
        </p:nvSpPr>
        <p:spPr>
          <a:xfrm>
            <a:off x="4338218"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CMP</a:t>
            </a:r>
          </a:p>
          <a:p>
            <a:pPr algn="ctr"/>
            <a:r>
              <a:rPr sz="2000" b="1">
                <a:solidFill>
                  <a:srgbClr val="1F4690"/>
                </a:solidFill>
                <a:latin typeface="Calibri"/>
              </a:rPr>
              <a:t>INR 822.9</a:t>
            </a:r>
          </a:p>
        </p:txBody>
      </p:sp>
      <p:sp>
        <p:nvSpPr>
          <p:cNvPr id="13" name="Rounded Rectangle 12"/>
          <p:cNvSpPr/>
          <p:nvPr/>
        </p:nvSpPr>
        <p:spPr>
          <a:xfrm>
            <a:off x="8127796" y="5074920"/>
            <a:ext cx="3515258" cy="1005840"/>
          </a:xfrm>
          <a:prstGeom prst="roundRect">
            <a:avLst/>
          </a:prstGeom>
          <a:solidFill>
            <a:srgbClr val="FFFFFF"/>
          </a:solidFill>
          <a:ln w="15875">
            <a:solidFill>
              <a:srgbClr val="FFA500"/>
            </a:solidFill>
          </a:ln>
        </p:spPr>
        <p:style>
          <a:lnRef idx="1">
            <a:schemeClr val="accent1"/>
          </a:lnRef>
          <a:fillRef idx="3">
            <a:schemeClr val="accent1"/>
          </a:fillRef>
          <a:effectRef idx="2">
            <a:schemeClr val="accent1"/>
          </a:effectRef>
          <a:fontRef idx="minor">
            <a:schemeClr val="lt1"/>
          </a:fontRef>
        </p:style>
        <p:txBody>
          <a:bodyPr rtlCol="0" anchor="ctr" tIns="73152" bIns="73152"/>
          <a:lstStyle/>
          <a:p>
            <a:pPr algn="ctr"/>
            <a:r>
              <a:rPr sz="1100" b="0">
                <a:solidFill>
                  <a:srgbClr val="5A6573"/>
                </a:solidFill>
                <a:latin typeface="Calibri"/>
              </a:rPr>
              <a:t>TP</a:t>
            </a:r>
          </a:p>
          <a:p>
            <a:pPr algn="ctr"/>
            <a:r>
              <a:rPr sz="2000" b="1">
                <a:solidFill>
                  <a:srgbClr val="1F4690"/>
                </a:solidFill>
                <a:latin typeface="Calibri"/>
              </a:rPr>
              <a:t>INR 1127.0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Investment Thesis</a:t>
            </a:r>
          </a:p>
        </p:txBody>
      </p:sp>
      <p:sp>
        <p:nvSpPr>
          <p:cNvPr id="11" name="TextBox 10"/>
          <p:cNvSpPr txBox="1"/>
          <p:nvPr/>
        </p:nvSpPr>
        <p:spPr>
          <a:xfrm>
            <a:off x="457200" y="1417320"/>
            <a:ext cx="5120640" cy="5029200"/>
          </a:xfrm>
          <a:prstGeom prst="rect">
            <a:avLst/>
          </a:prstGeom>
          <a:noFill/>
        </p:spPr>
        <p:txBody>
          <a:bodyPr wrap="square">
            <a:spAutoFit/>
          </a:bodyPr>
          <a:lstStyle/>
          <a:p>
            <a:r>
              <a:rPr sz="11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65% of total net revenues — with management guiding for further increases — fundamentally re-rating the quality of the earnings base. CMP of INR 822.90 offers a 37% discount to analyst consensus target of INR 1,127, with a probability-weighted target of INR 1,109.</a:t>
            </a:r>
          </a:p>
        </p:txBody>
      </p:sp>
      <p:sp>
        <p:nvSpPr>
          <p:cNvPr id="12" name="TextBox 11"/>
          <p:cNvSpPr txBox="1"/>
          <p:nvPr/>
        </p:nvSpPr>
        <p:spPr>
          <a:xfrm>
            <a:off x="5852160" y="1417320"/>
            <a:ext cx="5882335" cy="5029200"/>
          </a:xfrm>
          <a:prstGeom prst="rect">
            <a:avLst/>
          </a:prstGeom>
          <a:noFill/>
        </p:spPr>
        <p:txBody>
          <a:bodyPr wrap="square">
            <a:spAutoFit/>
          </a:bodyPr>
          <a:lstStyle/>
          <a:p>
            <a:pPr/>
            <a:r>
              <a:rPr sz="1100" b="0">
                <a:solidFill>
                  <a:srgbClr val="111111"/>
                </a:solidFill>
                <a:latin typeface="Calibri"/>
              </a:rPr>
              <a:t>- BUY with SAARTHI Score of 72/100. Motilal Oswal Financial Services represents a compelling investment opportunity driven by its acc...</a:t>
            </a:r>
          </a:p>
          <a:p>
            <a:pPr/>
            <a:r>
              <a:rPr sz="1100" b="0">
                <a:solidFill>
                  <a:srgbClr val="111111"/>
                </a:solidFill>
                <a:latin typeface="Calibri"/>
              </a:rPr>
              <a:t>- ARR contribution at 65% of total net revenues, reducing cyclical broking volatility</a:t>
            </a:r>
          </a:p>
          <a:p>
            <a:pPr/>
            <a:r>
              <a:rPr sz="1100" b="0">
                <a:solidFill>
                  <a:srgbClr val="111111"/>
                </a:solidFill>
                <a:latin typeface="Calibri"/>
              </a:rPr>
              <a:t>- Q2FY25 profits up 123% YoY with 46% revenue growth and 48% ROE</a:t>
            </a:r>
          </a:p>
          <a:p>
            <a:pPr/>
            <a:r>
              <a:rPr sz="1100" b="0">
                <a:solidFill>
                  <a:srgbClr val="111111"/>
                </a:solidFill>
                <a:latin typeface="Calibri"/>
              </a:rPr>
              <a:t>- Total AUM at INR 1.77 lakh crore (+46% YoY); 91% of AUM outperforming benchmarks over 3 years</a:t>
            </a:r>
          </a:p>
          <a:p>
            <a:pPr/>
            <a:r>
              <a:rPr sz="1100" b="0">
                <a:solidFill>
                  <a:srgbClr val="111111"/>
                </a:solidFill>
                <a:latin typeface="Calibri"/>
              </a:rPr>
              <a:t>- Private Wealth AUM at INR 1.96 lakh crore (+31% YoY); family count up 41% YoY</a:t>
            </a:r>
          </a:p>
          <a:p>
            <a:pPr/>
            <a:r>
              <a:rPr sz="11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SAARTHI Investment Quality Score — 72/100</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Proprietary 7-dimension framework. Overall score 72/100 (BUY (70-84 range)).</a:t>
            </a:r>
          </a:p>
        </p:txBody>
      </p:sp>
      <p:graphicFrame>
        <p:nvGraphicFramePr>
          <p:cNvPr id="12" name="Table 11"/>
          <p:cNvGraphicFramePr>
            <a:graphicFrameLocks noGrp="1"/>
          </p:cNvGraphicFramePr>
          <p:nvPr/>
        </p:nvGraphicFramePr>
        <p:xfrm>
          <a:off x="457200" y="3108960"/>
          <a:ext cx="11277295" cy="3337560"/>
        </p:xfrm>
        <a:graphic>
          <a:graphicData uri="http://schemas.openxmlformats.org/drawingml/2006/table">
            <a:tbl>
              <a:tblPr firstRow="1" bandRow="1">
                <a:tableStyleId>{5C22544A-7EE6-4342-B048-85BDC9FD1C3A}</a:tableStyleId>
              </a:tblPr>
              <a:tblGrid>
                <a:gridCol w="2819323"/>
                <a:gridCol w="2819323"/>
                <a:gridCol w="2819323"/>
                <a:gridCol w="2819326"/>
              </a:tblGrid>
              <a:tr h="417195">
                <a:tc>
                  <a:txBody>
                    <a:bodyPr/>
                    <a:lstStyle/>
                    <a:p>
                      <a:r>
                        <a:rPr b="1" sz="1100">
                          <a:solidFill>
                            <a:srgbClr val="FFFFFF"/>
                          </a:solidFill>
                          <a:latin typeface="Calibri"/>
                        </a:rPr>
                        <a:t>Code</a:t>
                      </a:r>
                    </a:p>
                  </a:txBody>
                  <a:tcPr>
                    <a:solidFill>
                      <a:srgbClr val="1F4690"/>
                    </a:solidFill>
                  </a:tcPr>
                </a:tc>
                <a:tc>
                  <a:txBody>
                    <a:bodyPr/>
                    <a:lstStyle/>
                    <a:p>
                      <a:r>
                        <a:rPr b="1" sz="1100">
                          <a:solidFill>
                            <a:srgbClr val="FFFFFF"/>
                          </a:solidFill>
                          <a:latin typeface="Calibri"/>
                        </a:rPr>
                        <a:t>Dimension</a:t>
                      </a:r>
                    </a:p>
                  </a:txBody>
                  <a:tcPr>
                    <a:solidFill>
                      <a:srgbClr val="1F4690"/>
                    </a:solidFill>
                  </a:tcPr>
                </a:tc>
                <a:tc>
                  <a:txBody>
                    <a:bodyPr/>
                    <a:lstStyle/>
                    <a:p>
                      <a:r>
                        <a:rPr b="1" sz="1100">
                          <a:solidFill>
                            <a:srgbClr val="FFFFFF"/>
                          </a:solidFill>
                          <a:latin typeface="Calibri"/>
                        </a:rPr>
                        <a:t>Score</a:t>
                      </a:r>
                    </a:p>
                  </a:txBody>
                  <a:tcPr>
                    <a:solidFill>
                      <a:srgbClr val="1F4690"/>
                    </a:solidFill>
                  </a:tcPr>
                </a:tc>
                <a:tc>
                  <a:txBody>
                    <a:bodyPr/>
                    <a:lstStyle/>
                    <a:p>
                      <a:r>
                        <a:rPr b="1" sz="1100">
                          <a:solidFill>
                            <a:srgbClr val="FFFFFF"/>
                          </a:solidFill>
                          <a:latin typeface="Calibri"/>
                        </a:rPr>
                        <a:t>Key Evidence</a:t>
                      </a:r>
                    </a:p>
                  </a:txBody>
                  <a:tcPr>
                    <a:solidFill>
                      <a:srgbClr val="1F4690"/>
                    </a:solidFill>
                  </a:tcPr>
                </a:tc>
              </a:tr>
              <a:tr h="417195">
                <a:tc>
                  <a:txBody>
                    <a:bodyPr/>
                    <a:lstStyle/>
                    <a:p>
                      <a:r>
                        <a:rPr sz="1100">
                          <a:solidFill>
                            <a:srgbClr val="111111"/>
                          </a:solidFill>
                          <a:latin typeface="Calibri"/>
                        </a:rPr>
                        <a:t>S</a:t>
                      </a:r>
                    </a:p>
                  </a:txBody>
                  <a:tcPr/>
                </a:tc>
                <a:tc>
                  <a:txBody>
                    <a:bodyPr/>
                    <a:lstStyle/>
                    <a:p>
                      <a:r>
                        <a:rPr sz="1100">
                          <a:solidFill>
                            <a:srgbClr val="111111"/>
                          </a:solidFill>
                          <a:latin typeface="Calibri"/>
                        </a:rPr>
                        <a:t>Scalability of Core Engine</a:t>
                      </a:r>
                    </a:p>
                  </a:txBody>
                  <a:tcPr/>
                </a:tc>
                <a:tc>
                  <a:txBody>
                    <a:bodyPr/>
                    <a:lstStyle/>
                    <a:p>
                      <a:r>
                        <a:rPr sz="1100">
                          <a:solidFill>
                            <a:srgbClr val="111111"/>
                          </a:solidFill>
                          <a:latin typeface="Calibri"/>
                        </a:rPr>
                        <a:t>12/15</a:t>
                      </a:r>
                    </a:p>
                  </a:txBody>
                  <a:tcPr/>
                </a:tc>
                <a:tc>
                  <a:txBody>
                    <a:bodyPr/>
                    <a:lstStyle/>
                    <a:p>
                      <a:r>
                        <a:rPr sz="1100">
                          <a:solidFill>
                            <a:srgbClr val="111111"/>
                          </a:solidFill>
                          <a:latin typeface="Calibri"/>
                        </a:rPr>
                        <a:t>AMC AUM +33% YoY to INR 1.89L Cr with INR 11,610 Cr net flows.</a:t>
                      </a:r>
                    </a:p>
                  </a:txBody>
                  <a:tcPr/>
                </a:tc>
              </a:tr>
              <a:tr h="417195">
                <a:tc>
                  <a:txBody>
                    <a:bodyPr/>
                    <a:lstStyle/>
                    <a:p>
                      <a:r>
                        <a:rPr sz="1100">
                          <a:solidFill>
                            <a:srgbClr val="111111"/>
                          </a:solidFill>
                          <a:latin typeface="Calibri"/>
                        </a:rPr>
                        <a:t>A1</a:t>
                      </a:r>
                    </a:p>
                  </a:txBody>
                  <a:tcPr>
                    <a:solidFill>
                      <a:srgbClr val="FFFFFF"/>
                    </a:solidFill>
                  </a:tcPr>
                </a:tc>
                <a:tc>
                  <a:txBody>
                    <a:bodyPr/>
                    <a:lstStyle/>
                    <a:p>
                      <a:r>
                        <a:rPr sz="1100">
                          <a:solidFill>
                            <a:srgbClr val="111111"/>
                          </a:solidFill>
                          <a:latin typeface="Calibri"/>
                        </a:rPr>
                        <a:t>Addressable Market &amp; Adjacency</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India private credit hit USD 9.0 Bn in H1 2025 (+53% YoY).</a:t>
                      </a:r>
                    </a:p>
                  </a:txBody>
                  <a:tcPr>
                    <a:solidFill>
                      <a:srgbClr val="FFFFFF"/>
                    </a:solidFill>
                  </a:tcPr>
                </a:tc>
              </a:tr>
              <a:tr h="417195">
                <a:tc>
                  <a:txBody>
                    <a:bodyPr/>
                    <a:lstStyle/>
                    <a:p>
                      <a:r>
                        <a:rPr sz="1100">
                          <a:solidFill>
                            <a:srgbClr val="111111"/>
                          </a:solidFill>
                          <a:latin typeface="Calibri"/>
                        </a:rPr>
                        <a:t>A2</a:t>
                      </a:r>
                    </a:p>
                  </a:txBody>
                  <a:tcPr/>
                </a:tc>
                <a:tc>
                  <a:txBody>
                    <a:bodyPr/>
                    <a:lstStyle/>
                    <a:p>
                      <a:r>
                        <a:rPr sz="1100">
                          <a:solidFill>
                            <a:srgbClr val="111111"/>
                          </a:solidFill>
                          <a:latin typeface="Calibri"/>
                        </a:rPr>
                        <a:t>Asymmetric Pricing Power</a:t>
                      </a:r>
                    </a:p>
                  </a:txBody>
                  <a:tcPr/>
                </a:tc>
                <a:tc>
                  <a:txBody>
                    <a:bodyPr/>
                    <a:lstStyle/>
                    <a:p>
                      <a:r>
                        <a:rPr sz="1100">
                          <a:solidFill>
                            <a:srgbClr val="111111"/>
                          </a:solidFill>
                          <a:latin typeface="Calibri"/>
                        </a:rPr>
                        <a:t>10/15</a:t>
                      </a:r>
                    </a:p>
                  </a:txBody>
                  <a:tcPr/>
                </a:tc>
                <a:tc>
                  <a:txBody>
                    <a:bodyPr/>
                    <a:lstStyle/>
                    <a:p>
                      <a:r>
                        <a:rPr sz="1100">
                          <a:solidFill>
                            <a:srgbClr val="111111"/>
                          </a:solidFill>
                          <a:latin typeface="Calibri"/>
                        </a:rPr>
                        <a:t>Diversified mix offset 24% brokerage decline, validating partial pricing-power hedge.</a:t>
                      </a:r>
                    </a:p>
                  </a:txBody>
                  <a:tcPr/>
                </a:tc>
              </a:tr>
              <a:tr h="417195">
                <a:tc>
                  <a:txBody>
                    <a:bodyPr/>
                    <a:lstStyle/>
                    <a:p>
                      <a:r>
                        <a:rPr sz="1100">
                          <a:solidFill>
                            <a:srgbClr val="111111"/>
                          </a:solidFill>
                          <a:latin typeface="Calibri"/>
                        </a:rPr>
                        <a:t>R</a:t>
                      </a:r>
                    </a:p>
                  </a:txBody>
                  <a:tcPr>
                    <a:solidFill>
                      <a:srgbClr val="FFFFFF"/>
                    </a:solidFill>
                  </a:tcPr>
                </a:tc>
                <a:tc>
                  <a:txBody>
                    <a:bodyPr/>
                    <a:lstStyle/>
                    <a:p>
                      <a:r>
                        <a:rPr sz="1100">
                          <a:solidFill>
                            <a:srgbClr val="111111"/>
                          </a:solidFill>
                          <a:latin typeface="Calibri"/>
                        </a:rPr>
                        <a:t>Reinvestment Quality</a:t>
                      </a:r>
                    </a:p>
                  </a:txBody>
                  <a:tcPr>
                    <a:solidFill>
                      <a:srgbClr val="FFFFFF"/>
                    </a:solidFill>
                  </a:tcPr>
                </a:tc>
                <a:tc>
                  <a:txBody>
                    <a:bodyPr/>
                    <a:lstStyle/>
                    <a:p>
                      <a:r>
                        <a:rPr sz="1100">
                          <a:solidFill>
                            <a:srgbClr val="111111"/>
                          </a:solidFill>
                          <a:latin typeface="Calibri"/>
                        </a:rPr>
                        <a:t>13/15</a:t>
                      </a:r>
                    </a:p>
                  </a:txBody>
                  <a:tcPr>
                    <a:solidFill>
                      <a:srgbClr val="FFFFFF"/>
                    </a:solidFill>
                  </a:tcPr>
                </a:tc>
                <a:tc>
                  <a:txBody>
                    <a:bodyPr/>
                    <a:lstStyle/>
                    <a:p>
                      <a:r>
                        <a:rPr sz="1100">
                          <a:solidFill>
                            <a:srgbClr val="111111"/>
                          </a:solidFill>
                          <a:latin typeface="Calibri"/>
                        </a:rPr>
                        <a:t>PWM AUM +31% YoY to INR 1.96L Cr; family count +41%; PAT +14% (9M).</a:t>
                      </a:r>
                    </a:p>
                  </a:txBody>
                  <a:tcPr>
                    <a:solidFill>
                      <a:srgbClr val="FFFFFF"/>
                    </a:solidFill>
                  </a:tcPr>
                </a:tc>
              </a:tr>
              <a:tr h="417195">
                <a:tc>
                  <a:txBody>
                    <a:bodyPr/>
                    <a:lstStyle/>
                    <a:p>
                      <a:r>
                        <a:rPr sz="1100">
                          <a:solidFill>
                            <a:srgbClr val="111111"/>
                          </a:solidFill>
                          <a:latin typeface="Calibri"/>
                        </a:rPr>
                        <a:t>T</a:t>
                      </a:r>
                    </a:p>
                  </a:txBody>
                  <a:tcPr/>
                </a:tc>
                <a:tc>
                  <a:txBody>
                    <a:bodyPr/>
                    <a:lstStyle/>
                    <a:p>
                      <a:r>
                        <a:rPr sz="1100">
                          <a:solidFill>
                            <a:srgbClr val="111111"/>
                          </a:solidFill>
                          <a:latin typeface="Calibri"/>
                        </a:rPr>
                        <a:t>Track Record Through Adversity</a:t>
                      </a:r>
                    </a:p>
                  </a:txBody>
                  <a:tcPr/>
                </a:tc>
                <a:tc>
                  <a:txBody>
                    <a:bodyPr/>
                    <a:lstStyle/>
                    <a:p>
                      <a:r>
                        <a:rPr sz="1100">
                          <a:solidFill>
                            <a:srgbClr val="111111"/>
                          </a:solidFill>
                          <a:latin typeface="Calibri"/>
                        </a:rPr>
                        <a:t>8/10</a:t>
                      </a:r>
                    </a:p>
                  </a:txBody>
                  <a:tcPr/>
                </a:tc>
                <a:tc>
                  <a:txBody>
                    <a:bodyPr/>
                    <a:lstStyle/>
                    <a:p>
                      <a:r>
                        <a:rPr sz="1100">
                          <a:solidFill>
                            <a:srgbClr val="111111"/>
                          </a:solidFill>
                          <a:latin typeface="Calibri"/>
                        </a:rPr>
                        <a:t>Despite repeated SEBI interventions, AUM and ARR base continue to compound — institutional resilience.</a:t>
                      </a:r>
                    </a:p>
                  </a:txBody>
                  <a:tcPr/>
                </a:tc>
              </a:tr>
              <a:tr h="417195">
                <a:tc>
                  <a:txBody>
                    <a:bodyPr/>
                    <a:lstStyle/>
                    <a:p>
                      <a:r>
                        <a:rPr sz="1100">
                          <a:solidFill>
                            <a:srgbClr val="111111"/>
                          </a:solidFill>
                          <a:latin typeface="Calibri"/>
                        </a:rPr>
                        <a:t>H</a:t>
                      </a:r>
                    </a:p>
                  </a:txBody>
                  <a:tcPr>
                    <a:solidFill>
                      <a:srgbClr val="FFFFFF"/>
                    </a:solidFill>
                  </a:tcPr>
                </a:tc>
                <a:tc>
                  <a:txBody>
                    <a:bodyPr/>
                    <a:lstStyle/>
                    <a:p>
                      <a:r>
                        <a:rPr sz="1100">
                          <a:solidFill>
                            <a:srgbClr val="111111"/>
                          </a:solidFill>
                          <a:latin typeface="Calibri"/>
                        </a:rPr>
                        <a:t>Human Capital &amp; Institutional DNA</a:t>
                      </a:r>
                    </a:p>
                  </a:txBody>
                  <a:tcPr>
                    <a:solidFill>
                      <a:srgbClr val="FFFFFF"/>
                    </a:solidFill>
                  </a:tcPr>
                </a:tc>
                <a:tc>
                  <a:txBody>
                    <a:bodyPr/>
                    <a:lstStyle/>
                    <a:p>
                      <a:r>
                        <a:rPr sz="1100">
                          <a:solidFill>
                            <a:srgbClr val="111111"/>
                          </a:solidFill>
                          <a:latin typeface="Calibri"/>
                        </a:rPr>
                        <a:t>9/10</a:t>
                      </a:r>
                    </a:p>
                  </a:txBody>
                  <a:tcPr>
                    <a:solidFill>
                      <a:srgbClr val="FFFFFF"/>
                    </a:solidFill>
                  </a:tcPr>
                </a:tc>
                <a:tc>
                  <a:txBody>
                    <a:bodyPr/>
                    <a:lstStyle/>
                    <a:p>
                      <a:r>
                        <a:rPr sz="1100">
                          <a:solidFill>
                            <a:srgbClr val="111111"/>
                          </a:solidFill>
                          <a:latin typeface="Calibri"/>
                        </a:rPr>
                        <a:t>Rashtriya Samman Patra recipient (top tax-payer FY95–FY99) signals early ethical commercial success.</a:t>
                      </a:r>
                    </a:p>
                  </a:txBody>
                  <a:tcPr>
                    <a:solidFill>
                      <a:srgbClr val="FFFFFF"/>
                    </a:solidFill>
                  </a:tcPr>
                </a:tc>
              </a:tr>
              <a:tr h="417195">
                <a:tc>
                  <a:txBody>
                    <a:bodyPr/>
                    <a:lstStyle/>
                    <a:p>
                      <a:r>
                        <a:rPr sz="1100">
                          <a:solidFill>
                            <a:srgbClr val="111111"/>
                          </a:solidFill>
                          <a:latin typeface="Calibri"/>
                        </a:rPr>
                        <a:t>I</a:t>
                      </a:r>
                    </a:p>
                  </a:txBody>
                  <a:tcPr/>
                </a:tc>
                <a:tc>
                  <a:txBody>
                    <a:bodyPr/>
                    <a:lstStyle/>
                    <a:p>
                      <a:r>
                        <a:rPr sz="1100">
                          <a:solidFill>
                            <a:srgbClr val="111111"/>
                          </a:solidFill>
                          <a:latin typeface="Calibri"/>
                        </a:rPr>
                        <a:t>Inflection Point Identification</a:t>
                      </a:r>
                    </a:p>
                  </a:txBody>
                  <a:tcPr/>
                </a:tc>
                <a:tc>
                  <a:txBody>
                    <a:bodyPr/>
                    <a:lstStyle/>
                    <a:p>
                      <a:r>
                        <a:rPr sz="1100">
                          <a:solidFill>
                            <a:srgbClr val="111111"/>
                          </a:solidFill>
                          <a:latin typeface="Calibri"/>
                        </a:rPr>
                        <a:t>11/15</a:t>
                      </a:r>
                    </a:p>
                  </a:txBody>
                  <a:tcPr/>
                </a:tc>
                <a:tc>
                  <a:txBody>
                    <a:bodyPr/>
                    <a:lstStyle/>
                    <a:p>
                      <a:r>
                        <a:rPr sz="1100">
                          <a:solidFill>
                            <a:srgbClr val="111111"/>
                          </a:solidFill>
                          <a:latin typeface="Calibri"/>
                        </a:rPr>
                        <a:t>ARR at 65% of net revenues (up from 61%); management guiding higher — measurable inflection.</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Motilal Oswal Financial Services Ltd At A Glance</a:t>
            </a:r>
          </a:p>
        </p:txBody>
      </p:sp>
      <p:sp>
        <p:nvSpPr>
          <p:cNvPr id="11" name="TextBox 10"/>
          <p:cNvSpPr txBox="1"/>
          <p:nvPr/>
        </p:nvSpPr>
        <p:spPr>
          <a:xfrm>
            <a:off x="457200" y="1417320"/>
            <a:ext cx="5943600" cy="5029200"/>
          </a:xfrm>
          <a:prstGeom prst="rect">
            <a:avLst/>
          </a:prstGeom>
          <a:noFill/>
        </p:spPr>
        <p:txBody>
          <a:bodyPr wrap="square">
            <a:spAutoFit/>
          </a:bodyPr>
          <a:lstStyle/>
          <a:p>
            <a:r>
              <a:rPr sz="11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2" name="TextBox 11"/>
          <p:cNvSpPr txBox="1"/>
          <p:nvPr/>
        </p:nvSpPr>
        <p:spPr>
          <a:xfrm>
            <a:off x="6675120" y="1417320"/>
            <a:ext cx="1640738" cy="5029200"/>
          </a:xfrm>
          <a:prstGeom prst="rect">
            <a:avLst/>
          </a:prstGeom>
          <a:noFill/>
        </p:spPr>
        <p:txBody>
          <a:bodyPr wrap="square">
            <a:spAutoFit/>
          </a:bodyPr>
          <a:lstStyle/>
          <a:p>
            <a:pPr algn="ctr"/>
            <a:r>
              <a:rPr sz="1400" b="1">
                <a:solidFill>
                  <a:srgbClr val="1F4690"/>
                </a:solidFill>
                <a:latin typeface="Calibri"/>
              </a:rPr>
              <a:t>CMP INR 822.9</a:t>
            </a:r>
          </a:p>
        </p:txBody>
      </p:sp>
      <p:sp>
        <p:nvSpPr>
          <p:cNvPr id="13" name="TextBox 12"/>
          <p:cNvSpPr txBox="1"/>
          <p:nvPr/>
        </p:nvSpPr>
        <p:spPr>
          <a:xfrm>
            <a:off x="8361578" y="1417320"/>
            <a:ext cx="1640738" cy="5029200"/>
          </a:xfrm>
          <a:prstGeom prst="rect">
            <a:avLst/>
          </a:prstGeom>
          <a:noFill/>
        </p:spPr>
        <p:txBody>
          <a:bodyPr wrap="square">
            <a:spAutoFit/>
          </a:bodyPr>
          <a:lstStyle/>
          <a:p>
            <a:pPr algn="ctr"/>
            <a:r>
              <a:rPr sz="1400" b="1">
                <a:solidFill>
                  <a:srgbClr val="1F4690"/>
                </a:solidFill>
                <a:latin typeface="Calibri"/>
              </a:rPr>
              <a:t>TP INR 1127.0</a:t>
            </a:r>
          </a:p>
        </p:txBody>
      </p:sp>
      <p:sp>
        <p:nvSpPr>
          <p:cNvPr id="14" name="TextBox 13"/>
          <p:cNvSpPr txBox="1"/>
          <p:nvPr/>
        </p:nvSpPr>
        <p:spPr>
          <a:xfrm>
            <a:off x="10048036" y="1417320"/>
            <a:ext cx="1640738" cy="5029200"/>
          </a:xfrm>
          <a:prstGeom prst="rect">
            <a:avLst/>
          </a:prstGeom>
          <a:noFill/>
        </p:spPr>
        <p:txBody>
          <a:bodyPr wrap="square">
            <a:spAutoFit/>
          </a:bodyPr>
          <a:lstStyle/>
          <a:p>
            <a:pPr algn="ctr"/>
            <a:r>
              <a:rPr sz="1400" b="1">
                <a:solidFill>
                  <a:srgbClr val="1F4690"/>
                </a:solidFill>
                <a:latin typeface="Calibri"/>
              </a:rPr>
              <a:t>Upside 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Industry Overview</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Indian Financial Services is a strategic shock absorber for the growth story. India is expected to have 16.57 lakh HNWIs by 2027 and become the fourth-largest private wealth market by 2028, with a 58.4% projected rise in UHNWIs. The financial services sector is projected to nearly double profits by FY30, led by NBFCs growing at 16% annually. Mutual fund penetration at just 5–6% reflects substantial latent growth opportunity. Private credit hit a record USD 9.0 billion in H1 2025, up 53% YoY.</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Mutual fund penetration at 5-6% — massive latent opportunity</a:t>
            </a:r>
          </a:p>
          <a:p>
            <a:pPr/>
            <a:r>
              <a:rPr sz="1100" b="0">
                <a:solidFill>
                  <a:srgbClr val="111111"/>
                </a:solidFill>
                <a:latin typeface="Calibri"/>
              </a:rPr>
              <a:t>- Financial savings shifting from gold/real estate to financial assets</a:t>
            </a:r>
          </a:p>
          <a:p>
            <a:pPr/>
            <a:r>
              <a:rPr sz="1100" b="0">
                <a:solidFill>
                  <a:srgbClr val="111111"/>
                </a:solidFill>
                <a:latin typeface="Calibri"/>
              </a:rPr>
              <a:t>- BSE-listed companies grew from 135 (1995) to 5,328 (Feb 2025)</a:t>
            </a:r>
          </a:p>
          <a:p>
            <a:pPr/>
            <a:r>
              <a:rPr sz="1100" b="0">
                <a:solidFill>
                  <a:srgbClr val="111111"/>
                </a:solidFill>
                <a:latin typeface="Calibri"/>
              </a:rPr>
              <a:t>- Private wealth set to be 4th-largest globally by 2028</a:t>
            </a:r>
          </a:p>
          <a:p>
            <a:pPr/>
            <a:r>
              <a:rPr sz="1100" b="0">
                <a:solidFill>
                  <a:srgbClr val="111111"/>
                </a:solidFill>
                <a:latin typeface="Calibri"/>
              </a:rPr>
              <a:t>- NBFCs growing at 16% annually with improving asset quality</a:t>
            </a:r>
          </a:p>
          <a:p>
            <a:pPr/>
            <a:r>
              <a:rPr sz="11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Highlights</a:t>
            </a:r>
          </a:p>
        </p:txBody>
      </p:sp>
      <p:sp>
        <p:nvSpPr>
          <p:cNvPr id="11" name="TextBox 10"/>
          <p:cNvSpPr txBox="1"/>
          <p:nvPr/>
        </p:nvSpPr>
        <p:spPr>
          <a:xfrm>
            <a:off x="457200" y="1417320"/>
            <a:ext cx="11277295" cy="548640"/>
          </a:xfrm>
          <a:prstGeom prst="rect">
            <a:avLst/>
          </a:prstGeom>
          <a:noFill/>
        </p:spPr>
        <p:txBody>
          <a:bodyPr wrap="square">
            <a:spAutoFit/>
          </a:bodyPr>
          <a:lstStyle/>
          <a:p>
            <a:r>
              <a:rPr sz="1100" b="0">
                <a:solidFill>
                  <a:srgbClr val="111111"/>
                </a:solidFill>
                <a:latin typeface="Calibri"/>
              </a:rPr>
              <a:t>Six themes underpinning the investment view.</a:t>
            </a:r>
          </a:p>
        </p:txBody>
      </p:sp>
      <p:sp>
        <p:nvSpPr>
          <p:cNvPr id="12" name="TextBox 11"/>
          <p:cNvSpPr txBox="1"/>
          <p:nvPr/>
        </p:nvSpPr>
        <p:spPr>
          <a:xfrm>
            <a:off x="457200" y="2103120"/>
            <a:ext cx="11277295" cy="4343400"/>
          </a:xfrm>
          <a:prstGeom prst="rect">
            <a:avLst/>
          </a:prstGeom>
          <a:noFill/>
        </p:spPr>
        <p:txBody>
          <a:bodyPr wrap="square">
            <a:spAutoFit/>
          </a:bodyPr>
          <a:lstStyle/>
          <a:p>
            <a:pPr/>
            <a:r>
              <a:rPr sz="1100" b="0">
                <a:solidFill>
                  <a:srgbClr val="111111"/>
                </a:solidFill>
                <a:latin typeface="Calibri"/>
              </a:rPr>
              <a:t>- ARR Transformation: ARR at 65% of net revenues (up from 61%); fee-based at 45%. Annuity income reduces transaction-cycle volatility.</a:t>
            </a:r>
          </a:p>
          <a:p>
            <a:pPr/>
            <a:r>
              <a:rPr sz="1100" b="0">
                <a:solidFill>
                  <a:srgbClr val="111111"/>
                </a:solidFill>
                <a:latin typeface="Calibri"/>
              </a:rPr>
              <a:t>- Profitability Momentum: Q2FY25 PAT INR 1,242 Cr (+123% YoY); H1FY26 operating PAT INR 1,088 Cr (+11% YoY); Asset &amp; PWM businesses leading at +32% PAT growth.</a:t>
            </a:r>
          </a:p>
          <a:p>
            <a:pPr/>
            <a:r>
              <a:rPr sz="1100" b="0">
                <a:solidFill>
                  <a:srgbClr val="111111"/>
                </a:solidFill>
                <a:latin typeface="Calibri"/>
              </a:rPr>
              <a:t>- AUM Scale and Outperformance: Total AUM INR 1.77L Cr (+46% YoY). AMC AUM INR 1.89L Cr (+33%) with INR 11,610 Cr net flows. 91% of AUM outperforming benchmarks over 3 years.</a:t>
            </a:r>
          </a:p>
          <a:p>
            <a:pPr/>
            <a:r>
              <a:rPr sz="1100" b="0">
                <a:solidFill>
                  <a:srgbClr val="111111"/>
                </a:solidFill>
                <a:latin typeface="Calibri"/>
              </a:rPr>
              <a:t>- Private Wealth Expansion: PWM AUM INR 1.96L Cr (+31% YoY); family count +41% YoY; PAT +14% (9M). Distribution book +34% YoY to INR 42,775 Cr.</a:t>
            </a:r>
          </a:p>
          <a:p>
            <a:pPr/>
            <a:r>
              <a:rPr sz="1100" b="0">
                <a:solidFill>
                  <a:srgbClr val="111111"/>
                </a:solidFill>
                <a:latin typeface="Calibri"/>
              </a:rPr>
              <a:t>- Valuation Opportunity: CMP INR 822.90 vs consensus TP INR 1,126.67 (max INR 1,200) — 37% upside. Probability-weighted target INR 1,109.</a:t>
            </a:r>
          </a:p>
          <a:p>
            <a:pPr/>
            <a:r>
              <a:rPr sz="1100" b="0">
                <a:solidFill>
                  <a:srgbClr val="111111"/>
                </a:solidFill>
                <a:latin typeface="Calibri"/>
              </a:rPr>
              <a:t>- Credit Upgrade: Long-term credit rating upgraded to AA+ (Stable) by ICRA. Net worth INR 12,871 Cr (+16%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Revenue Trend</a:t>
            </a:r>
          </a:p>
        </p:txBody>
      </p:sp>
      <p:sp>
        <p:nvSpPr>
          <p:cNvPr id="11" name="TextBox 10"/>
          <p:cNvSpPr txBox="1"/>
          <p:nvPr/>
        </p:nvSpPr>
        <p:spPr>
          <a:xfrm>
            <a:off x="457200" y="1417320"/>
            <a:ext cx="4389120" cy="5029200"/>
          </a:xfrm>
          <a:prstGeom prst="rect">
            <a:avLst/>
          </a:prstGeom>
          <a:noFill/>
        </p:spPr>
        <p:txBody>
          <a:bodyPr wrap="square">
            <a:spAutoFit/>
          </a:bodyPr>
          <a:lstStyle/>
          <a:p>
            <a:r>
              <a:rPr sz="1100" b="0">
                <a:solidFill>
                  <a:srgbClr val="111111"/>
                </a:solidFill>
                <a:latin typeface="Calibri"/>
              </a:rPr>
              <a:t>Revenue trajectory across FY22A–FY28E reflects post-FY22 step-up driven by ARR-led mix shift and AUM scale-up.</a:t>
            </a:r>
          </a:p>
        </p:txBody>
      </p:sp>
      <p:pic>
        <p:nvPicPr>
          <p:cNvPr id="12" name="Picture 11"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Annual Financial Summary</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5638647"/>
                <a:gridCol w="5638648"/>
              </a:tblGrid>
              <a:tr h="628650">
                <a:tc>
                  <a:txBody>
                    <a:bodyPr/>
                    <a:lstStyle/>
                    <a:p>
                      <a:r>
                        <a:rPr b="1" sz="1100">
                          <a:solidFill>
                            <a:srgbClr val="FFFFFF"/>
                          </a:solidFill>
                          <a:latin typeface="Calibri"/>
                        </a:rPr>
                        <a:t>Period</a:t>
                      </a:r>
                    </a:p>
                  </a:txBody>
                  <a:tcPr>
                    <a:solidFill>
                      <a:srgbClr val="1F4690"/>
                    </a:solidFill>
                  </a:tcPr>
                </a:tc>
                <a:tc>
                  <a:txBody>
                    <a:bodyPr/>
                    <a:lstStyle/>
                    <a:p>
                      <a:r>
                        <a:rPr b="1" sz="1100">
                          <a:solidFill>
                            <a:srgbClr val="FFFFFF"/>
                          </a:solidFill>
                          <a:latin typeface="Calibri"/>
                        </a:rPr>
                        <a:t>Revenue (INR Cr)</a:t>
                      </a:r>
                    </a:p>
                  </a:txBody>
                  <a:tcPr>
                    <a:solidFill>
                      <a:srgbClr val="1F4690"/>
                    </a:solidFill>
                  </a:tcPr>
                </a:tc>
              </a:tr>
              <a:tr h="628650">
                <a:tc>
                  <a:txBody>
                    <a:bodyPr/>
                    <a:lstStyle/>
                    <a:p>
                      <a:r>
                        <a:rPr sz="1100">
                          <a:solidFill>
                            <a:srgbClr val="111111"/>
                          </a:solidFill>
                          <a:latin typeface="Calibri"/>
                        </a:rPr>
                        <a:t>FY22A</a:t>
                      </a:r>
                    </a:p>
                  </a:txBody>
                  <a:tcPr/>
                </a:tc>
                <a:tc>
                  <a:txBody>
                    <a:bodyPr/>
                    <a:lstStyle/>
                    <a:p>
                      <a:r>
                        <a:rPr sz="1100">
                          <a:solidFill>
                            <a:srgbClr val="111111"/>
                          </a:solidFill>
                          <a:latin typeface="Calibri"/>
                        </a:rPr>
                        <a:t>4298.0</a:t>
                      </a:r>
                    </a:p>
                  </a:txBody>
                  <a:tcPr/>
                </a:tc>
              </a:tr>
              <a:tr h="628650">
                <a:tc>
                  <a:txBody>
                    <a:bodyPr/>
                    <a:lstStyle/>
                    <a:p>
                      <a:r>
                        <a:rPr sz="1100">
                          <a:solidFill>
                            <a:srgbClr val="111111"/>
                          </a:solidFill>
                          <a:latin typeface="Calibri"/>
                        </a:rPr>
                        <a:t>FY23A</a:t>
                      </a:r>
                    </a:p>
                  </a:txBody>
                  <a:tcPr>
                    <a:solidFill>
                      <a:srgbClr val="FFFFFF"/>
                    </a:solidFill>
                  </a:tcPr>
                </a:tc>
                <a:tc>
                  <a:txBody>
                    <a:bodyPr/>
                    <a:lstStyle/>
                    <a:p>
                      <a:r>
                        <a:rPr sz="1100">
                          <a:solidFill>
                            <a:srgbClr val="111111"/>
                          </a:solidFill>
                          <a:latin typeface="Calibri"/>
                        </a:rPr>
                        <a:t>4178.0</a:t>
                      </a:r>
                    </a:p>
                  </a:txBody>
                  <a:tcPr>
                    <a:solidFill>
                      <a:srgbClr val="FFFFFF"/>
                    </a:solidFill>
                  </a:tcPr>
                </a:tc>
              </a:tr>
              <a:tr h="628650">
                <a:tc>
                  <a:txBody>
                    <a:bodyPr/>
                    <a:lstStyle/>
                    <a:p>
                      <a:r>
                        <a:rPr sz="1100">
                          <a:solidFill>
                            <a:srgbClr val="111111"/>
                          </a:solidFill>
                          <a:latin typeface="Calibri"/>
                        </a:rPr>
                        <a:t>FY24A</a:t>
                      </a:r>
                    </a:p>
                  </a:txBody>
                  <a:tcPr/>
                </a:tc>
                <a:tc>
                  <a:txBody>
                    <a:bodyPr/>
                    <a:lstStyle/>
                    <a:p>
                      <a:r>
                        <a:rPr sz="1100">
                          <a:solidFill>
                            <a:srgbClr val="111111"/>
                          </a:solidFill>
                          <a:latin typeface="Calibri"/>
                        </a:rPr>
                        <a:t>7106.0</a:t>
                      </a:r>
                    </a:p>
                  </a:txBody>
                  <a:tcPr/>
                </a:tc>
              </a:tr>
              <a:tr h="628650">
                <a:tc>
                  <a:txBody>
                    <a:bodyPr/>
                    <a:lstStyle/>
                    <a:p>
                      <a:r>
                        <a:rPr sz="1100">
                          <a:solidFill>
                            <a:srgbClr val="111111"/>
                          </a:solidFill>
                          <a:latin typeface="Calibri"/>
                        </a:rPr>
                        <a:t>FY25A</a:t>
                      </a:r>
                    </a:p>
                  </a:txBody>
                  <a:tcPr>
                    <a:solidFill>
                      <a:srgbClr val="FFFFFF"/>
                    </a:solidFill>
                  </a:tcPr>
                </a:tc>
                <a:tc>
                  <a:txBody>
                    <a:bodyPr/>
                    <a:lstStyle/>
                    <a:p>
                      <a:r>
                        <a:rPr sz="1100">
                          <a:solidFill>
                            <a:srgbClr val="111111"/>
                          </a:solidFill>
                          <a:latin typeface="Calibri"/>
                        </a:rPr>
                        <a:t>8340.0</a:t>
                      </a:r>
                    </a:p>
                  </a:txBody>
                  <a:tcPr>
                    <a:solidFill>
                      <a:srgbClr val="FFFFFF"/>
                    </a:solidFill>
                  </a:tcPr>
                </a:tc>
              </a:tr>
              <a:tr h="628650">
                <a:tc>
                  <a:txBody>
                    <a:bodyPr/>
                    <a:lstStyle/>
                    <a:p>
                      <a:r>
                        <a:rPr sz="1100">
                          <a:solidFill>
                            <a:srgbClr val="111111"/>
                          </a:solidFill>
                          <a:latin typeface="Calibri"/>
                        </a:rPr>
                        <a:t>FY26E</a:t>
                      </a:r>
                    </a:p>
                  </a:txBody>
                  <a:tcPr/>
                </a:tc>
                <a:tc>
                  <a:txBody>
                    <a:bodyPr/>
                    <a:lstStyle/>
                    <a:p>
                      <a:r>
                        <a:rPr sz="1100">
                          <a:solidFill>
                            <a:srgbClr val="111111"/>
                          </a:solidFill>
                          <a:latin typeface="Calibri"/>
                        </a:rPr>
                        <a:t>10402.0</a:t>
                      </a:r>
                    </a:p>
                  </a:txBody>
                  <a:tcPr/>
                </a:tc>
              </a:tr>
              <a:tr h="628650">
                <a:tc>
                  <a:txBody>
                    <a:bodyPr/>
                    <a:lstStyle/>
                    <a:p>
                      <a:r>
                        <a:rPr sz="1100">
                          <a:solidFill>
                            <a:srgbClr val="111111"/>
                          </a:solidFill>
                          <a:latin typeface="Calibri"/>
                        </a:rPr>
                        <a:t>FY27E</a:t>
                      </a:r>
                    </a:p>
                  </a:txBody>
                  <a:tcPr>
                    <a:solidFill>
                      <a:srgbClr val="FFFFFF"/>
                    </a:solidFill>
                  </a:tcPr>
                </a:tc>
                <a:tc>
                  <a:txBody>
                    <a:bodyPr/>
                    <a:lstStyle/>
                    <a:p>
                      <a:r>
                        <a:rPr sz="1100">
                          <a:solidFill>
                            <a:srgbClr val="111111"/>
                          </a:solidFill>
                          <a:latin typeface="Calibri"/>
                        </a:rPr>
                        <a:t>12973.0</a:t>
                      </a:r>
                    </a:p>
                  </a:txBody>
                  <a:tcPr>
                    <a:solidFill>
                      <a:srgbClr val="FFFFFF"/>
                    </a:solidFill>
                  </a:tcPr>
                </a:tc>
              </a:tr>
              <a:tr h="628650">
                <a:tc>
                  <a:txBody>
                    <a:bodyPr/>
                    <a:lstStyle/>
                    <a:p>
                      <a:r>
                        <a:rPr sz="1100">
                          <a:solidFill>
                            <a:srgbClr val="111111"/>
                          </a:solidFill>
                          <a:latin typeface="Calibri"/>
                        </a:rPr>
                        <a:t>FY28E</a:t>
                      </a:r>
                    </a:p>
                  </a:txBody>
                  <a:tcPr/>
                </a:tc>
                <a:tc>
                  <a:txBody>
                    <a:bodyPr/>
                    <a:lstStyle/>
                    <a:p>
                      <a:r>
                        <a:rPr sz="1100">
                          <a:solidFill>
                            <a:srgbClr val="111111"/>
                          </a:solidFill>
                          <a:latin typeface="Calibri"/>
                        </a:rPr>
                        <a:t>16181.0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Quarterly Performance</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Quarterly trajectory shows the impact of F&amp;O regulatory changes on broking; Q2FY26 declined sharply YoY before stabilising.</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5638647"/>
                <a:gridCol w="5638648"/>
              </a:tblGrid>
              <a:tr h="708660">
                <a:tc>
                  <a:txBody>
                    <a:bodyPr/>
                    <a:lstStyle/>
                    <a:p>
                      <a:r>
                        <a:rPr b="1" sz="1100">
                          <a:solidFill>
                            <a:srgbClr val="FFFFFF"/>
                          </a:solidFill>
                          <a:latin typeface="Calibri"/>
                        </a:rPr>
                        <a:t>Quarter</a:t>
                      </a:r>
                    </a:p>
                  </a:txBody>
                  <a:tcPr>
                    <a:solidFill>
                      <a:srgbClr val="1F4690"/>
                    </a:solidFill>
                  </a:tcPr>
                </a:tc>
                <a:tc>
                  <a:txBody>
                    <a:bodyPr/>
                    <a:lstStyle/>
                    <a:p>
                      <a:r>
                        <a:rPr b="1" sz="1100">
                          <a:solidFill>
                            <a:srgbClr val="FFFFFF"/>
                          </a:solidFill>
                          <a:latin typeface="Calibri"/>
                        </a:rPr>
                        <a:t>PAT (INR Cr)</a:t>
                      </a:r>
                    </a:p>
                  </a:txBody>
                  <a:tcPr>
                    <a:solidFill>
                      <a:srgbClr val="1F4690"/>
                    </a:solidFill>
                  </a:tcPr>
                </a:tc>
              </a:tr>
              <a:tr h="708660">
                <a:tc>
                  <a:txBody>
                    <a:bodyPr/>
                    <a:lstStyle/>
                    <a:p>
                      <a:r>
                        <a:rPr sz="1100">
                          <a:solidFill>
                            <a:srgbClr val="111111"/>
                          </a:solidFill>
                          <a:latin typeface="Calibri"/>
                        </a:rPr>
                        <a:t>Q2FY25</a:t>
                      </a:r>
                    </a:p>
                  </a:txBody>
                  <a:tcPr/>
                </a:tc>
                <a:tc>
                  <a:txBody>
                    <a:bodyPr/>
                    <a:lstStyle/>
                    <a:p>
                      <a:r>
                        <a:rPr sz="1100">
                          <a:solidFill>
                            <a:srgbClr val="111111"/>
                          </a:solidFill>
                          <a:latin typeface="Calibri"/>
                        </a:rPr>
                        <a:t>1242.0</a:t>
                      </a:r>
                    </a:p>
                  </a:txBody>
                  <a:tcPr/>
                </a:tc>
              </a:tr>
              <a:tr h="708660">
                <a:tc>
                  <a:txBody>
                    <a:bodyPr/>
                    <a:lstStyle/>
                    <a:p>
                      <a:r>
                        <a:rPr sz="1100">
                          <a:solidFill>
                            <a:srgbClr val="111111"/>
                          </a:solidFill>
                          <a:latin typeface="Calibri"/>
                        </a:rPr>
                        <a:t>Q3FY25</a:t>
                      </a:r>
                    </a:p>
                  </a:txBody>
                  <a:tcPr>
                    <a:solidFill>
                      <a:srgbClr val="FFFFFF"/>
                    </a:solidFill>
                  </a:tcPr>
                </a:tc>
                <a:tc>
                  <a:txBody>
                    <a:bodyPr/>
                    <a:lstStyle/>
                    <a:p>
                      <a:r>
                        <a:rPr sz="1100">
                          <a:solidFill>
                            <a:srgbClr val="111111"/>
                          </a:solidFill>
                          <a:latin typeface="Calibri"/>
                        </a:rPr>
                        <a:t>715.0</a:t>
                      </a:r>
                    </a:p>
                  </a:txBody>
                  <a:tcPr>
                    <a:solidFill>
                      <a:srgbClr val="FFFFFF"/>
                    </a:solidFill>
                  </a:tcPr>
                </a:tc>
              </a:tr>
              <a:tr h="708660">
                <a:tc>
                  <a:txBody>
                    <a:bodyPr/>
                    <a:lstStyle/>
                    <a:p>
                      <a:r>
                        <a:rPr sz="1100">
                          <a:solidFill>
                            <a:srgbClr val="111111"/>
                          </a:solidFill>
                          <a:latin typeface="Calibri"/>
                        </a:rPr>
                        <a:t>Q4FY25</a:t>
                      </a:r>
                    </a:p>
                  </a:txBody>
                  <a:tcPr/>
                </a:tc>
                <a:tc>
                  <a:txBody>
                    <a:bodyPr/>
                    <a:lstStyle/>
                    <a:p>
                      <a:r>
                        <a:rPr sz="1100">
                          <a:solidFill>
                            <a:srgbClr val="111111"/>
                          </a:solidFill>
                          <a:latin typeface="Calibri"/>
                        </a:rPr>
                        <a:t>545.0</a:t>
                      </a:r>
                    </a:p>
                  </a:txBody>
                  <a:tcPr/>
                </a:tc>
              </a:tr>
              <a:tr h="708660">
                <a:tc>
                  <a:txBody>
                    <a:bodyPr/>
                    <a:lstStyle/>
                    <a:p>
                      <a:r>
                        <a:rPr sz="1100">
                          <a:solidFill>
                            <a:srgbClr val="111111"/>
                          </a:solidFill>
                          <a:latin typeface="Calibri"/>
                        </a:rPr>
                        <a:t>Q1FY26</a:t>
                      </a:r>
                    </a:p>
                  </a:txBody>
                  <a:tcPr>
                    <a:solidFill>
                      <a:srgbClr val="FFFFFF"/>
                    </a:solidFill>
                  </a:tcPr>
                </a:tc>
                <a:tc>
                  <a:txBody>
                    <a:bodyPr/>
                    <a:lstStyle/>
                    <a:p>
                      <a:r>
                        <a:rPr sz="1100">
                          <a:solidFill>
                            <a:srgbClr val="111111"/>
                          </a:solidFill>
                          <a:latin typeface="Calibri"/>
                        </a:rPr>
                        <a:t>425.0</a:t>
                      </a:r>
                    </a:p>
                  </a:txBody>
                  <a:tcPr>
                    <a:solidFill>
                      <a:srgbClr val="FFFFFF"/>
                    </a:solidFill>
                  </a:tcPr>
                </a:tc>
              </a:tr>
              <a:tr h="708660">
                <a:tc>
                  <a:txBody>
                    <a:bodyPr/>
                    <a:lstStyle/>
                    <a:p>
                      <a:r>
                        <a:rPr sz="1100">
                          <a:solidFill>
                            <a:srgbClr val="111111"/>
                          </a:solidFill>
                          <a:latin typeface="Calibri"/>
                        </a:rPr>
                        <a:t>Q2FY26</a:t>
                      </a:r>
                    </a:p>
                  </a:txBody>
                  <a:tcPr/>
                </a:tc>
                <a:tc>
                  <a:txBody>
                    <a:bodyPr/>
                    <a:lstStyle/>
                    <a:p>
                      <a:r>
                        <a:rPr sz="1100">
                          <a:solidFill>
                            <a:srgbClr val="111111"/>
                          </a:solidFill>
                          <a:latin typeface="Calibri"/>
                        </a:rPr>
                        <a:t>401.0</a:t>
                      </a:r>
                    </a:p>
                  </a:txBody>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10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Segment Mix</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2819323"/>
                <a:gridCol w="2819323"/>
                <a:gridCol w="2819323"/>
                <a:gridCol w="2819326"/>
              </a:tblGrid>
              <a:tr h="838200">
                <a:tc>
                  <a:txBody>
                    <a:bodyPr/>
                    <a:lstStyle/>
                    <a:p>
                      <a:r>
                        <a:rPr b="1" sz="1100">
                          <a:solidFill>
                            <a:srgbClr val="FFFFFF"/>
                          </a:solidFill>
                          <a:latin typeface="Calibri"/>
                        </a:rPr>
                        <a:t>Segment</a:t>
                      </a:r>
                    </a:p>
                  </a:txBody>
                  <a:tcPr>
                    <a:solidFill>
                      <a:srgbClr val="1F4690"/>
                    </a:solidFill>
                  </a:tcPr>
                </a:tc>
                <a:tc>
                  <a:txBody>
                    <a:bodyPr/>
                    <a:lstStyle/>
                    <a:p>
                      <a:r>
                        <a:rPr b="1" sz="1100">
                          <a:solidFill>
                            <a:srgbClr val="FFFFFF"/>
                          </a:solidFill>
                          <a:latin typeface="Calibri"/>
                        </a:rPr>
                        <a:t>Scale Metric</a:t>
                      </a:r>
                    </a:p>
                  </a:txBody>
                  <a:tcPr>
                    <a:solidFill>
                      <a:srgbClr val="1F4690"/>
                    </a:solidFill>
                  </a:tcPr>
                </a:tc>
                <a:tc>
                  <a:txBody>
                    <a:bodyPr/>
                    <a:lstStyle/>
                    <a:p>
                      <a:r>
                        <a:rPr b="1" sz="1100">
                          <a:solidFill>
                            <a:srgbClr val="FFFFFF"/>
                          </a:solidFill>
                          <a:latin typeface="Calibri"/>
                        </a:rPr>
                        <a:t>Latest</a:t>
                      </a:r>
                    </a:p>
                  </a:txBody>
                  <a:tcPr>
                    <a:solidFill>
                      <a:srgbClr val="1F4690"/>
                    </a:solidFill>
                  </a:tcPr>
                </a:tc>
                <a:tc>
                  <a:txBody>
                    <a:bodyPr/>
                    <a:lstStyle/>
                    <a:p>
                      <a:r>
                        <a:rPr b="1" sz="1100">
                          <a:solidFill>
                            <a:srgbClr val="FFFFFF"/>
                          </a:solidFill>
                          <a:latin typeface="Calibri"/>
                        </a:rPr>
                        <a:t>Notes</a:t>
                      </a:r>
                    </a:p>
                  </a:txBody>
                  <a:tcPr>
                    <a:solidFill>
                      <a:srgbClr val="1F4690"/>
                    </a:solidFill>
                  </a:tcPr>
                </a:tc>
              </a:tr>
              <a:tr h="838200">
                <a:tc>
                  <a:txBody>
                    <a:bodyPr/>
                    <a:lstStyle/>
                    <a:p>
                      <a:r>
                        <a:rPr sz="1100">
                          <a:solidFill>
                            <a:srgbClr val="111111"/>
                          </a:solidFill>
                          <a:latin typeface="Calibri"/>
                        </a:rPr>
                        <a:t>Capital Markets (Broking + IB)</a:t>
                      </a:r>
                    </a:p>
                  </a:txBody>
                  <a:tcPr/>
                </a:tc>
                <a:tc>
                  <a:txBody>
                    <a:bodyPr/>
                    <a:lstStyle/>
                    <a:p>
                      <a:r>
                        <a:rPr sz="1100">
                          <a:solidFill>
                            <a:srgbClr val="111111"/>
                          </a:solidFill>
                          <a:latin typeface="Calibri"/>
                        </a:rPr>
                        <a:t>Brokerage Rev YoY</a:t>
                      </a:r>
                    </a:p>
                  </a:txBody>
                  <a:tcPr/>
                </a:tc>
                <a:tc>
                  <a:txBody>
                    <a:bodyPr/>
                    <a:lstStyle/>
                    <a:p>
                      <a:r>
                        <a:rPr sz="1100">
                          <a:solidFill>
                            <a:srgbClr val="111111"/>
                          </a:solidFill>
                          <a:latin typeface="Calibri"/>
                        </a:rPr>
                        <a:t>-24%</a:t>
                      </a:r>
                    </a:p>
                  </a:txBody>
                  <a:tcPr/>
                </a:tc>
                <a:tc>
                  <a:txBody>
                    <a:bodyPr/>
                    <a:lstStyle/>
                    <a:p>
                      <a:r>
                        <a:rPr sz="1100">
                          <a:solidFill>
                            <a:srgbClr val="111111"/>
                          </a:solidFill>
                          <a:latin typeface="Calibri"/>
                        </a:rPr>
                        <a:t>Equity, derivatives, commodity, currency trading + institutional services and investment banking. Brokerage now contributes only 30% of total revenue, down from historical highs.</a:t>
                      </a:r>
                    </a:p>
                  </a:txBody>
                  <a:tcPr/>
                </a:tc>
              </a:tr>
              <a:tr h="838200">
                <a:tc>
                  <a:txBody>
                    <a:bodyPr/>
                    <a:lstStyle/>
                    <a:p>
                      <a:r>
                        <a:rPr sz="1100">
                          <a:solidFill>
                            <a:srgbClr val="111111"/>
                          </a:solidFill>
                          <a:latin typeface="Calibri"/>
                        </a:rPr>
                        <a:t>Asset Management</a:t>
                      </a:r>
                    </a:p>
                  </a:txBody>
                  <a:tcPr>
                    <a:solidFill>
                      <a:srgbClr val="FFFFFF"/>
                    </a:solidFill>
                  </a:tcPr>
                </a:tc>
                <a:tc>
                  <a:txBody>
                    <a:bodyPr/>
                    <a:lstStyle/>
                    <a:p>
                      <a:r>
                        <a:rPr sz="1100">
                          <a:solidFill>
                            <a:srgbClr val="111111"/>
                          </a:solidFill>
                          <a:latin typeface="Calibri"/>
                        </a:rPr>
                        <a:t>AMC AUM</a:t>
                      </a:r>
                    </a:p>
                  </a:txBody>
                  <a:tcPr>
                    <a:solidFill>
                      <a:srgbClr val="FFFFFF"/>
                    </a:solidFill>
                  </a:tcPr>
                </a:tc>
                <a:tc>
                  <a:txBody>
                    <a:bodyPr/>
                    <a:lstStyle/>
                    <a:p>
                      <a:r>
                        <a:rPr sz="1100">
                          <a:solidFill>
                            <a:srgbClr val="111111"/>
                          </a:solidFill>
                          <a:latin typeface="Calibri"/>
                        </a:rPr>
                        <a:t>INR 1.89L Cr (+33% YoY)</a:t>
                      </a:r>
                    </a:p>
                  </a:txBody>
                  <a:tcPr>
                    <a:solidFill>
                      <a:srgbClr val="FFFFFF"/>
                    </a:solidFill>
                  </a:tcPr>
                </a:tc>
                <a:tc>
                  <a:txBody>
                    <a:bodyPr/>
                    <a:lstStyle/>
                    <a:p>
                      <a:r>
                        <a:rPr sz="1100">
                          <a:solidFill>
                            <a:srgbClr val="111111"/>
                          </a:solidFill>
                          <a:latin typeface="Calibri"/>
                        </a:rPr>
                        <a:t>Mutual funds and PMS. 91% of AUM outperforming benchmarks over 3 years.</a:t>
                      </a:r>
                    </a:p>
                  </a:txBody>
                  <a:tcPr>
                    <a:solidFill>
                      <a:srgbClr val="FFFFFF"/>
                    </a:solidFill>
                  </a:tcPr>
                </a:tc>
              </a:tr>
              <a:tr h="838200">
                <a:tc>
                  <a:txBody>
                    <a:bodyPr/>
                    <a:lstStyle/>
                    <a:p>
                      <a:r>
                        <a:rPr sz="1100">
                          <a:solidFill>
                            <a:srgbClr val="111111"/>
                          </a:solidFill>
                          <a:latin typeface="Calibri"/>
                        </a:rPr>
                        <a:t>Private Wealth Management</a:t>
                      </a:r>
                    </a:p>
                  </a:txBody>
                  <a:tcPr/>
                </a:tc>
                <a:tc>
                  <a:txBody>
                    <a:bodyPr/>
                    <a:lstStyle/>
                    <a:p>
                      <a:r>
                        <a:rPr sz="1100">
                          <a:solidFill>
                            <a:srgbClr val="111111"/>
                          </a:solidFill>
                          <a:latin typeface="Calibri"/>
                        </a:rPr>
                        <a:t>PWM AUM</a:t>
                      </a:r>
                    </a:p>
                  </a:txBody>
                  <a:tcPr/>
                </a:tc>
                <a:tc>
                  <a:txBody>
                    <a:bodyPr/>
                    <a:lstStyle/>
                    <a:p>
                      <a:r>
                        <a:rPr sz="1100">
                          <a:solidFill>
                            <a:srgbClr val="111111"/>
                          </a:solidFill>
                          <a:latin typeface="Calibri"/>
                        </a:rPr>
                        <a:t>INR 1.96L Cr (+31% YoY)</a:t>
                      </a:r>
                    </a:p>
                  </a:txBody>
                  <a:tcPr/>
                </a:tc>
                <a:tc>
                  <a:txBody>
                    <a:bodyPr/>
                    <a:lstStyle/>
                    <a:p>
                      <a:r>
                        <a:rPr sz="1100">
                          <a:solidFill>
                            <a:srgbClr val="111111"/>
                          </a:solidFill>
                          <a:latin typeface="Calibri"/>
                        </a:rPr>
                        <a:t>HNI/UHNI advisory. Family count up 41% YoY.</a:t>
                      </a:r>
                    </a:p>
                  </a:txBody>
                  <a:tcPr/>
                </a:tc>
              </a:tr>
              <a:tr h="838200">
                <a:tc>
                  <a:txBody>
                    <a:bodyPr/>
                    <a:lstStyle/>
                    <a:p>
                      <a:r>
                        <a:rPr sz="1100">
                          <a:solidFill>
                            <a:srgbClr val="111111"/>
                          </a:solidFill>
                          <a:latin typeface="Calibri"/>
                        </a:rPr>
                        <a:t>Housing Finance</a:t>
                      </a:r>
                    </a:p>
                  </a:txBody>
                  <a:tcPr>
                    <a:solidFill>
                      <a:srgbClr val="FFFFFF"/>
                    </a:solidFill>
                  </a:tcPr>
                </a:tc>
                <a:tc>
                  <a:txBody>
                    <a:bodyPr/>
                    <a:lstStyle/>
                    <a:p>
                      <a:r>
                        <a:rPr sz="1100">
                          <a:solidFill>
                            <a:srgbClr val="111111"/>
                          </a:solidFill>
                          <a:latin typeface="Calibri"/>
                        </a:rPr>
                        <a:t>Loan Book</a:t>
                      </a:r>
                    </a:p>
                  </a:txBody>
                  <a:tcPr>
                    <a:solidFill>
                      <a:srgbClr val="FFFFFF"/>
                    </a:solidFill>
                  </a:tcPr>
                </a:tc>
                <a:tc>
                  <a:txBody>
                    <a:bodyPr/>
                    <a:lstStyle/>
                    <a:p>
                      <a:r>
                        <a:rPr sz="1100">
                          <a:solidFill>
                            <a:srgbClr val="111111"/>
                          </a:solidFill>
                          <a:latin typeface="Calibri"/>
                        </a:rPr>
                        <a:t>INR 6,630 Cr (+25% YoY)</a:t>
                      </a:r>
                    </a:p>
                  </a:txBody>
                  <a:tcPr>
                    <a:solidFill>
                      <a:srgbClr val="FFFFFF"/>
                    </a:solidFill>
                  </a:tcPr>
                </a:tc>
                <a:tc>
                  <a:txBody>
                    <a:bodyPr/>
                    <a:lstStyle/>
                    <a:p>
                      <a:r>
                        <a:rPr sz="1100">
                          <a:solidFill>
                            <a:srgbClr val="111111"/>
                          </a:solidFill>
                          <a:latin typeface="Calibri"/>
                        </a:rPr>
                        <a:t>Retail mortgage lending — affordable and mid-segment.</a:t>
                      </a:r>
                    </a:p>
                  </a:txBody>
                  <a:tcPr>
                    <a:solidFill>
                      <a:srgbClr val="FFFFFF"/>
                    </a:solidFill>
                  </a:tcPr>
                </a:tc>
              </a:tr>
              <a:tr h="838200">
                <a:tc>
                  <a:txBody>
                    <a:bodyPr/>
                    <a:lstStyle/>
                    <a:p>
                      <a:r>
                        <a:rPr sz="1100">
                          <a:solidFill>
                            <a:srgbClr val="111111"/>
                          </a:solidFill>
                          <a:latin typeface="Calibri"/>
                        </a:rPr>
                        <a:t>Alternative Investments</a:t>
                      </a:r>
                    </a:p>
                  </a:txBody>
                  <a:tcPr/>
                </a:tc>
                <a:tc>
                  <a:txBody>
                    <a:bodyPr/>
                    <a:lstStyle/>
                    <a:p>
                      <a:r>
                        <a:rPr sz="1100">
                          <a:solidFill>
                            <a:srgbClr val="111111"/>
                          </a:solidFill>
                          <a:latin typeface="Calibri"/>
                        </a:rPr>
                        <a:t>Carry Income</a:t>
                      </a:r>
                    </a:p>
                  </a:txBody>
                  <a:tcPr/>
                </a:tc>
                <a:tc>
                  <a:txBody>
                    <a:bodyPr/>
                    <a:lstStyle/>
                    <a:p>
                      <a:r>
                        <a:rPr sz="1100">
                          <a:solidFill>
                            <a:srgbClr val="111111"/>
                          </a:solidFill>
                          <a:latin typeface="Calibri"/>
                        </a:rPr>
                        <a:t>INR 58 Cr recurring</a:t>
                      </a:r>
                    </a:p>
                  </a:txBody>
                  <a:tcPr/>
                </a:tc>
                <a:tc>
                  <a:txBody>
                    <a:bodyPr/>
                    <a:lstStyle/>
                    <a:p>
                      <a:r>
                        <a:rPr sz="1100">
                          <a:solidFill>
                            <a:srgbClr val="111111"/>
                          </a:solidFill>
                          <a:latin typeface="Calibri"/>
                        </a:rPr>
                        <a:t>Private credit, real estate, alternatives.</a:t>
                      </a:r>
                    </a:p>
                  </a:txBody>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11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Ratios</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Margin and return profile across the forecast period; valuation multiples compressing as earnings scale.</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8"/>
              </a:tblGrid>
              <a:tr h="472440">
                <a:tc>
                  <a:txBody>
                    <a:bodyPr/>
                    <a:lstStyle/>
                    <a:p>
                      <a:r>
                        <a:rPr b="1" sz="1100">
                          <a:solidFill>
                            <a:srgbClr val="FFFFFF"/>
                          </a:solidFill>
                          <a:latin typeface="Calibri"/>
                        </a:rPr>
                        <a:t>Ratio</a:t>
                      </a:r>
                    </a:p>
                  </a:txBody>
                  <a:tcPr>
                    <a:solidFill>
                      <a:srgbClr val="1F4690"/>
                    </a:solidFill>
                  </a:tcPr>
                </a:tc>
                <a:tc>
                  <a:txBody>
                    <a:bodyPr/>
                    <a:lstStyle/>
                    <a:p>
                      <a:r>
                        <a:rPr b="1" sz="1100">
                          <a:solidFill>
                            <a:srgbClr val="FFFFFF"/>
                          </a:solidFill>
                          <a:latin typeface="Calibri"/>
                        </a:rPr>
                        <a:t>FY22A</a:t>
                      </a:r>
                    </a:p>
                  </a:txBody>
                  <a:tcPr>
                    <a:solidFill>
                      <a:srgbClr val="1F4690"/>
                    </a:solidFill>
                  </a:tcPr>
                </a:tc>
                <a:tc>
                  <a:txBody>
                    <a:bodyPr/>
                    <a:lstStyle/>
                    <a:p>
                      <a:r>
                        <a:rPr b="1" sz="1100">
                          <a:solidFill>
                            <a:srgbClr val="FFFFFF"/>
                          </a:solidFill>
                          <a:latin typeface="Calibri"/>
                        </a:rPr>
                        <a:t>FY23A</a:t>
                      </a:r>
                    </a:p>
                  </a:txBody>
                  <a:tcPr>
                    <a:solidFill>
                      <a:srgbClr val="1F4690"/>
                    </a:solidFill>
                  </a:tcPr>
                </a:tc>
                <a:tc>
                  <a:txBody>
                    <a:bodyPr/>
                    <a:lstStyle/>
                    <a:p>
                      <a:r>
                        <a:rPr b="1" sz="1100">
                          <a:solidFill>
                            <a:srgbClr val="FFFFFF"/>
                          </a:solidFill>
                          <a:latin typeface="Calibri"/>
                        </a:rPr>
                        <a:t>FY24A</a:t>
                      </a:r>
                    </a:p>
                  </a:txBody>
                  <a:tcPr>
                    <a:solidFill>
                      <a:srgbClr val="1F4690"/>
                    </a:solidFill>
                  </a:tcPr>
                </a:tc>
                <a:tc>
                  <a:txBody>
                    <a:bodyPr/>
                    <a:lstStyle/>
                    <a:p>
                      <a:r>
                        <a:rPr b="1" sz="1100">
                          <a:solidFill>
                            <a:srgbClr val="FFFFFF"/>
                          </a:solidFill>
                          <a:latin typeface="Calibri"/>
                        </a:rPr>
                        <a:t>FY25A</a:t>
                      </a:r>
                    </a:p>
                  </a:txBody>
                  <a:tcPr>
                    <a:solidFill>
                      <a:srgbClr val="1F4690"/>
                    </a:solidFill>
                  </a:tcPr>
                </a:tc>
                <a:tc>
                  <a:txBody>
                    <a:bodyPr/>
                    <a:lstStyle/>
                    <a:p>
                      <a:r>
                        <a:rPr b="1" sz="1100">
                          <a:solidFill>
                            <a:srgbClr val="FFFFFF"/>
                          </a:solidFill>
                          <a:latin typeface="Calibri"/>
                        </a:rPr>
                        <a:t>FY26E</a:t>
                      </a:r>
                    </a:p>
                  </a:txBody>
                  <a:tcPr>
                    <a:solidFill>
                      <a:srgbClr val="1F4690"/>
                    </a:solidFill>
                  </a:tcPr>
                </a:tc>
                <a:tc>
                  <a:txBody>
                    <a:bodyPr/>
                    <a:lstStyle/>
                    <a:p>
                      <a:r>
                        <a:rPr b="1" sz="1100">
                          <a:solidFill>
                            <a:srgbClr val="FFFFFF"/>
                          </a:solidFill>
                          <a:latin typeface="Calibri"/>
                        </a:rPr>
                        <a:t>FY27E</a:t>
                      </a:r>
                    </a:p>
                  </a:txBody>
                  <a:tcPr>
                    <a:solidFill>
                      <a:srgbClr val="1F4690"/>
                    </a:solidFill>
                  </a:tcPr>
                </a:tc>
                <a:tc>
                  <a:txBody>
                    <a:bodyPr/>
                    <a:lstStyle/>
                    <a:p>
                      <a:r>
                        <a:rPr b="1" sz="1100">
                          <a:solidFill>
                            <a:srgbClr val="FFFFFF"/>
                          </a:solidFill>
                          <a:latin typeface="Calibri"/>
                        </a:rPr>
                        <a:t>FY28E</a:t>
                      </a:r>
                    </a:p>
                  </a:txBody>
                  <a:tcPr>
                    <a:solidFill>
                      <a:srgbClr val="1F4690"/>
                    </a:solidFill>
                  </a:tcPr>
                </a:tc>
              </a:tr>
              <a:tr h="472440">
                <a:tc>
                  <a:txBody>
                    <a:bodyPr/>
                    <a:lstStyle/>
                    <a:p>
                      <a:r>
                        <a:rPr sz="1100">
                          <a:solidFill>
                            <a:srgbClr val="111111"/>
                          </a:solidFill>
                          <a:latin typeface="Calibri"/>
                        </a:rPr>
                        <a:t>EBITDA Margin</a:t>
                      </a:r>
                    </a:p>
                  </a:txBody>
                  <a:tcPr/>
                </a:tc>
                <a:tc>
                  <a:txBody>
                    <a:bodyPr/>
                    <a:lstStyle/>
                    <a:p>
                      <a:r>
                        <a:rPr sz="1100">
                          <a:solidFill>
                            <a:srgbClr val="111111"/>
                          </a:solidFill>
                          <a:latin typeface="Calibri"/>
                        </a:rPr>
                        <a:t>49.3</a:t>
                      </a:r>
                    </a:p>
                  </a:txBody>
                  <a:tcPr/>
                </a:tc>
                <a:tc>
                  <a:txBody>
                    <a:bodyPr/>
                    <a:lstStyle/>
                    <a:p>
                      <a:r>
                        <a:rPr sz="1100">
                          <a:solidFill>
                            <a:srgbClr val="111111"/>
                          </a:solidFill>
                          <a:latin typeface="Calibri"/>
                        </a:rPr>
                        <a:t>44.9</a:t>
                      </a:r>
                    </a:p>
                  </a:txBody>
                  <a:tcPr/>
                </a:tc>
                <a:tc>
                  <a:txBody>
                    <a:bodyPr/>
                    <a:lstStyle/>
                    <a:p>
                      <a:r>
                        <a:rPr sz="1100">
                          <a:solidFill>
                            <a:srgbClr val="111111"/>
                          </a:solidFill>
                          <a:latin typeface="Calibri"/>
                        </a:rPr>
                        <a:t>57.4</a:t>
                      </a:r>
                    </a:p>
                  </a:txBody>
                  <a:tcPr/>
                </a:tc>
                <a:tc>
                  <a:txBody>
                    <a:bodyPr/>
                    <a:lstStyle/>
                    <a:p>
                      <a:r>
                        <a:rPr sz="1100">
                          <a:solidFill>
                            <a:srgbClr val="111111"/>
                          </a:solidFill>
                          <a:latin typeface="Calibri"/>
                        </a:rPr>
                        <a:t>54.5</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c>
                  <a:txBody>
                    <a:bodyPr/>
                    <a:lstStyle/>
                    <a:p>
                      <a:r>
                        <a:rPr sz="1100">
                          <a:solidFill>
                            <a:srgbClr val="111111"/>
                          </a:solidFill>
                          <a:latin typeface="Calibri"/>
                        </a:rPr>
                        <a:t>52.3</a:t>
                      </a:r>
                    </a:p>
                  </a:txBody>
                  <a:tcPr/>
                </a:tc>
              </a:tr>
              <a:tr h="472440">
                <a:tc>
                  <a:txBody>
                    <a:bodyPr/>
                    <a:lstStyle/>
                    <a:p>
                      <a:r>
                        <a:rPr sz="1100">
                          <a:solidFill>
                            <a:srgbClr val="111111"/>
                          </a:solidFill>
                          <a:latin typeface="Calibri"/>
                        </a:rPr>
                        <a:t>PAT Margin</a:t>
                      </a:r>
                    </a:p>
                  </a:txBody>
                  <a:tcPr>
                    <a:solidFill>
                      <a:srgbClr val="FFFFFF"/>
                    </a:solidFill>
                  </a:tcPr>
                </a:tc>
                <a:tc>
                  <a:txBody>
                    <a:bodyPr/>
                    <a:lstStyle/>
                    <a:p>
                      <a:r>
                        <a:rPr sz="1100">
                          <a:solidFill>
                            <a:srgbClr val="111111"/>
                          </a:solidFill>
                          <a:latin typeface="Calibri"/>
                        </a:rPr>
                        <a:t>30.5</a:t>
                      </a:r>
                    </a:p>
                  </a:txBody>
                  <a:tcPr>
                    <a:solidFill>
                      <a:srgbClr val="FFFFFF"/>
                    </a:solidFill>
                  </a:tcPr>
                </a:tc>
                <a:tc>
                  <a:txBody>
                    <a:bodyPr/>
                    <a:lstStyle/>
                    <a:p>
                      <a:r>
                        <a:rPr sz="1100">
                          <a:solidFill>
                            <a:srgbClr val="111111"/>
                          </a:solidFill>
                          <a:latin typeface="Calibri"/>
                        </a:rPr>
                        <a:t>22.3</a:t>
                      </a:r>
                    </a:p>
                  </a:txBody>
                  <a:tcPr>
                    <a:solidFill>
                      <a:srgbClr val="FFFFFF"/>
                    </a:solidFill>
                  </a:tcPr>
                </a:tc>
                <a:tc>
                  <a:txBody>
                    <a:bodyPr/>
                    <a:lstStyle/>
                    <a:p>
                      <a:r>
                        <a:rPr sz="1100">
                          <a:solidFill>
                            <a:srgbClr val="111111"/>
                          </a:solidFill>
                          <a:latin typeface="Calibri"/>
                        </a:rPr>
                        <a:t>34.4</a:t>
                      </a:r>
                    </a:p>
                  </a:txBody>
                  <a:tcPr>
                    <a:solidFill>
                      <a:srgbClr val="FFFFFF"/>
                    </a:solidFill>
                  </a:tcPr>
                </a:tc>
                <a:tc>
                  <a:txBody>
                    <a:bodyPr/>
                    <a:lstStyle/>
                    <a:p>
                      <a:r>
                        <a:rPr sz="1100">
                          <a:solidFill>
                            <a:srgbClr val="111111"/>
                          </a:solidFill>
                          <a:latin typeface="Calibri"/>
                        </a:rPr>
                        <a:t>30.0</a:t>
                      </a:r>
                    </a:p>
                  </a:txBody>
                  <a:tcPr>
                    <a:solidFill>
                      <a:srgbClr val="FFFFFF"/>
                    </a:solidFill>
                  </a:tcPr>
                </a:tc>
                <a:tc>
                  <a:txBody>
                    <a:bodyPr/>
                    <a:lstStyle/>
                    <a:p>
                      <a:r>
                        <a:rPr sz="1100">
                          <a:solidFill>
                            <a:srgbClr val="111111"/>
                          </a:solidFill>
                          <a:latin typeface="Calibri"/>
                        </a:rPr>
                        <a:t>29.5</a:t>
                      </a:r>
                    </a:p>
                  </a:txBody>
                  <a:tcPr>
                    <a:solidFill>
                      <a:srgbClr val="FFFFFF"/>
                    </a:solidFill>
                  </a:tcPr>
                </a:tc>
                <a:tc>
                  <a:txBody>
                    <a:bodyPr/>
                    <a:lstStyle/>
                    <a:p>
                      <a:r>
                        <a:rPr sz="1100">
                          <a:solidFill>
                            <a:srgbClr val="111111"/>
                          </a:solidFill>
                          <a:latin typeface="Calibri"/>
                        </a:rPr>
                        <a:t>30.7</a:t>
                      </a:r>
                    </a:p>
                  </a:txBody>
                  <a:tcPr>
                    <a:solidFill>
                      <a:srgbClr val="FFFFFF"/>
                    </a:solidFill>
                  </a:tcPr>
                </a:tc>
                <a:tc>
                  <a:txBody>
                    <a:bodyPr/>
                    <a:lstStyle/>
                    <a:p>
                      <a:r>
                        <a:rPr sz="1100">
                          <a:solidFill>
                            <a:srgbClr val="111111"/>
                          </a:solidFill>
                          <a:latin typeface="Calibri"/>
                        </a:rPr>
                        <a:t>31.7</a:t>
                      </a:r>
                    </a:p>
                  </a:txBody>
                  <a:tcPr>
                    <a:solidFill>
                      <a:srgbClr val="FFFFFF"/>
                    </a:solidFill>
                  </a:tcPr>
                </a:tc>
              </a:tr>
              <a:tr h="472440">
                <a:tc>
                  <a:txBody>
                    <a:bodyPr/>
                    <a:lstStyle/>
                    <a:p>
                      <a:r>
                        <a:rPr sz="1100">
                          <a:solidFill>
                            <a:srgbClr val="111111"/>
                          </a:solidFill>
                          <a:latin typeface="Calibri"/>
                        </a:rPr>
                        <a:t>RoE</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15.0</a:t>
                      </a:r>
                    </a:p>
                  </a:txBody>
                  <a:tcPr/>
                </a:tc>
                <a:tc>
                  <a:txBody>
                    <a:bodyPr/>
                    <a:lstStyle/>
                    <a:p>
                      <a:r>
                        <a:rPr sz="1100">
                          <a:solidFill>
                            <a:srgbClr val="111111"/>
                          </a:solidFill>
                          <a:latin typeface="Calibri"/>
                        </a:rPr>
                        <a:t>28.0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22.0</a:t>
                      </a:r>
                    </a:p>
                  </a:txBody>
                  <a:tcPr/>
                </a:tc>
                <a:tc>
                  <a:txBody>
                    <a:bodyPr/>
                    <a:lstStyle/>
                    <a:p>
                      <a:r>
                        <a:rPr sz="1100">
                          <a:solidFill>
                            <a:srgbClr val="111111"/>
                          </a:solidFill>
                          <a:latin typeface="Calibri"/>
                        </a:rPr>
                        <a:t>23.0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RoCE</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13.0</a:t>
                      </a:r>
                    </a:p>
                  </a:txBody>
                  <a:tcPr>
                    <a:solidFill>
                      <a:srgbClr val="FFFFFF"/>
                    </a:solidFill>
                  </a:tcPr>
                </a:tc>
                <a:tc>
                  <a:txBody>
                    <a:bodyPr/>
                    <a:lstStyle/>
                    <a:p>
                      <a:r>
                        <a:rPr sz="1100">
                          <a:solidFill>
                            <a:srgbClr val="111111"/>
                          </a:solidFill>
                          <a:latin typeface="Calibri"/>
                        </a:rPr>
                        <a:t>21.0</a:t>
                      </a:r>
                    </a:p>
                  </a:txBody>
                  <a:tcPr>
                    <a:solidFill>
                      <a:srgbClr val="FFFFFF"/>
                    </a:solidFill>
                  </a:tcPr>
                </a:tc>
                <a:tc>
                  <a:txBody>
                    <a:bodyPr/>
                    <a:lstStyle/>
                    <a:p>
                      <a:r>
                        <a:rPr sz="1100">
                          <a:solidFill>
                            <a:srgbClr val="111111"/>
                          </a:solidFill>
                          <a:latin typeface="Calibri"/>
                        </a:rPr>
                        <a:t>19.0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18.0</a:t>
                      </a:r>
                    </a:p>
                  </a:txBody>
                  <a:tcPr>
                    <a:solidFill>
                      <a:srgbClr val="FFFFFF"/>
                    </a:solidFill>
                  </a:tcPr>
                </a:tc>
                <a:tc>
                  <a:txBody>
                    <a:bodyPr/>
                    <a:lstStyle/>
                    <a:p>
                      <a:r>
                        <a:rPr sz="1100">
                          <a:solidFill>
                            <a:srgbClr val="111111"/>
                          </a:solidFill>
                          <a:latin typeface="Calibri"/>
                        </a:rPr>
                        <a:t>19.0</a:t>
                      </a:r>
                    </a:p>
                  </a:txBody>
                  <a:tcPr>
                    <a:solidFill>
                      <a:srgbClr val="FFFFFF"/>
                    </a:solidFill>
                  </a:tcPr>
                </a:tc>
              </a:tr>
              <a:tr h="472440">
                <a:tc>
                  <a:txBody>
                    <a:bodyPr/>
                    <a:lstStyle/>
                    <a:p>
                      <a:r>
                        <a:rPr sz="1100">
                          <a:solidFill>
                            <a:srgbClr val="111111"/>
                          </a:solidFill>
                          <a:latin typeface="Calibri"/>
                        </a:rPr>
                        <a:t>RoIC</a:t>
                      </a:r>
                    </a:p>
                  </a:txBody>
                  <a:tcPr/>
                </a:tc>
                <a:tc>
                  <a:txBody>
                    <a:bodyPr/>
                    <a:lstStyle/>
                    <a:p>
                      <a:r>
                        <a:rPr sz="1100">
                          <a:solidFill>
                            <a:srgbClr val="111111"/>
                          </a:solidFill>
                          <a:latin typeface="Calibri"/>
                        </a:rPr>
                        <a:t>92.0</a:t>
                      </a:r>
                    </a:p>
                  </a:txBody>
                  <a:tcPr/>
                </a:tc>
                <a:tc>
                  <a:txBody>
                    <a:bodyPr/>
                    <a:lstStyle/>
                    <a:p>
                      <a:r>
                        <a:rPr sz="1100">
                          <a:solidFill>
                            <a:srgbClr val="111111"/>
                          </a:solidFill>
                          <a:latin typeface="Calibri"/>
                        </a:rPr>
                        <a:t>78.0</a:t>
                      </a:r>
                    </a:p>
                  </a:txBody>
                  <a:tcPr/>
                </a:tc>
                <a:tc>
                  <a:txBody>
                    <a:bodyPr/>
                    <a:lstStyle/>
                    <a:p>
                      <a:r>
                        <a:rPr sz="1100">
                          <a:solidFill>
                            <a:srgbClr val="111111"/>
                          </a:solidFill>
                          <a:latin typeface="Calibri"/>
                        </a:rPr>
                        <a:t>119.0</a:t>
                      </a:r>
                    </a:p>
                  </a:txBody>
                  <a:tcPr/>
                </a:tc>
                <a:tc>
                  <a:txBody>
                    <a:bodyPr/>
                    <a:lstStyle/>
                    <a:p>
                      <a:r>
                        <a:rPr sz="1100">
                          <a:solidFill>
                            <a:srgbClr val="111111"/>
                          </a:solidFill>
                          <a:latin typeface="Calibri"/>
                        </a:rPr>
                        <a:t>87.0</a:t>
                      </a:r>
                    </a:p>
                  </a:txBody>
                  <a:tcPr/>
                </a:tc>
                <a:tc>
                  <a:txBody>
                    <a:bodyPr/>
                    <a:lstStyle/>
                    <a:p>
                      <a:r>
                        <a:rPr sz="1100">
                          <a:solidFill>
                            <a:srgbClr val="111111"/>
                          </a:solidFill>
                          <a:latin typeface="Calibri"/>
                        </a:rPr>
                        <a:t>35.0</a:t>
                      </a:r>
                    </a:p>
                  </a:txBody>
                  <a:tcPr/>
                </a:tc>
                <a:tc>
                  <a:txBody>
                    <a:bodyPr/>
                    <a:lstStyle/>
                    <a:p>
                      <a:r>
                        <a:rPr sz="1100">
                          <a:solidFill>
                            <a:srgbClr val="111111"/>
                          </a:solidFill>
                          <a:latin typeface="Calibri"/>
                        </a:rPr>
                        <a:t>24.0</a:t>
                      </a:r>
                    </a:p>
                  </a:txBody>
                  <a:tcPr/>
                </a:tc>
                <a:tc>
                  <a:txBody>
                    <a:bodyPr/>
                    <a:lstStyle/>
                    <a:p>
                      <a:r>
                        <a:rPr sz="1100">
                          <a:solidFill>
                            <a:srgbClr val="111111"/>
                          </a:solidFill>
                          <a:latin typeface="Calibri"/>
                        </a:rPr>
                        <a:t>24.0</a:t>
                      </a:r>
                    </a:p>
                  </a:txBody>
                  <a:tcPr/>
                </a:tc>
              </a:tr>
              <a:tr h="472440">
                <a:tc>
                  <a:txBody>
                    <a:bodyPr/>
                    <a:lstStyle/>
                    <a:p>
                      <a:r>
                        <a:rPr sz="1100">
                          <a:solidFill>
                            <a:srgbClr val="111111"/>
                          </a:solidFill>
                          <a:latin typeface="Calibri"/>
                        </a:rPr>
                        <a:t>P/E</a:t>
                      </a:r>
                    </a:p>
                  </a:txBody>
                  <a:tcPr>
                    <a:solidFill>
                      <a:srgbClr val="FFFFFF"/>
                    </a:solidFill>
                  </a:tcPr>
                </a:tc>
                <a:tc>
                  <a:txBody>
                    <a:bodyPr/>
                    <a:lstStyle/>
                    <a:p>
                      <a:r>
                        <a:rPr sz="1100">
                          <a:solidFill>
                            <a:srgbClr val="111111"/>
                          </a:solidFill>
                          <a:latin typeface="Calibri"/>
                        </a:rPr>
                        <a:t>37.5</a:t>
                      </a:r>
                    </a:p>
                  </a:txBody>
                  <a:tcPr>
                    <a:solidFill>
                      <a:srgbClr val="FFFFFF"/>
                    </a:solidFill>
                  </a:tcPr>
                </a:tc>
                <a:tc>
                  <a:txBody>
                    <a:bodyPr/>
                    <a:lstStyle/>
                    <a:p>
                      <a:r>
                        <a:rPr sz="1100">
                          <a:solidFill>
                            <a:srgbClr val="111111"/>
                          </a:solidFill>
                          <a:latin typeface="Calibri"/>
                        </a:rPr>
                        <a:t>52.3</a:t>
                      </a:r>
                    </a:p>
                  </a:txBody>
                  <a:tcPr>
                    <a:solidFill>
                      <a:srgbClr val="FFFFFF"/>
                    </a:solidFill>
                  </a:tcPr>
                </a:tc>
                <a:tc>
                  <a:txBody>
                    <a:bodyPr/>
                    <a:lstStyle/>
                    <a:p>
                      <a:r>
                        <a:rPr sz="1100">
                          <a:solidFill>
                            <a:srgbClr val="111111"/>
                          </a:solidFill>
                          <a:latin typeface="Calibri"/>
                        </a:rPr>
                        <a:t>20.1</a:t>
                      </a:r>
                    </a:p>
                  </a:txBody>
                  <a:tcPr>
                    <a:solidFill>
                      <a:srgbClr val="FFFFFF"/>
                    </a:solidFill>
                  </a:tcPr>
                </a:tc>
                <a:tc>
                  <a:txBody>
                    <a:bodyPr/>
                    <a:lstStyle/>
                    <a:p>
                      <a:r>
                        <a:rPr sz="1100">
                          <a:solidFill>
                            <a:srgbClr val="111111"/>
                          </a:solidFill>
                          <a:latin typeface="Calibri"/>
                        </a:rPr>
                        <a:t>19.7</a:t>
                      </a:r>
                    </a:p>
                  </a:txBody>
                  <a:tcPr>
                    <a:solidFill>
                      <a:srgbClr val="FFFFFF"/>
                    </a:solidFill>
                  </a:tcPr>
                </a:tc>
                <a:tc>
                  <a:txBody>
                    <a:bodyPr/>
                    <a:lstStyle/>
                    <a:p>
                      <a:r>
                        <a:rPr sz="1100">
                          <a:solidFill>
                            <a:srgbClr val="111111"/>
                          </a:solidFill>
                          <a:latin typeface="Calibri"/>
                        </a:rPr>
                        <a:t>16.1</a:t>
                      </a:r>
                    </a:p>
                  </a:txBody>
                  <a:tcPr>
                    <a:solidFill>
                      <a:srgbClr val="FFFFFF"/>
                    </a:solidFill>
                  </a:tcPr>
                </a:tc>
                <a:tc>
                  <a:txBody>
                    <a:bodyPr/>
                    <a:lstStyle/>
                    <a:p>
                      <a:r>
                        <a:rPr sz="1100">
                          <a:solidFill>
                            <a:srgbClr val="111111"/>
                          </a:solidFill>
                          <a:latin typeface="Calibri"/>
                        </a:rPr>
                        <a:t>12.4</a:t>
                      </a:r>
                    </a:p>
                  </a:txBody>
                  <a:tcPr>
                    <a:solidFill>
                      <a:srgbClr val="FFFFFF"/>
                    </a:solidFill>
                  </a:tcPr>
                </a:tc>
                <a:tc>
                  <a:txBody>
                    <a:bodyPr/>
                    <a:lstStyle/>
                    <a:p>
                      <a:r>
                        <a:rPr sz="1100">
                          <a:solidFill>
                            <a:srgbClr val="111111"/>
                          </a:solidFill>
                          <a:latin typeface="Calibri"/>
                        </a:rPr>
                        <a:t>9.6</a:t>
                      </a:r>
                    </a:p>
                  </a:txBody>
                  <a:tcPr>
                    <a:solidFill>
                      <a:srgbClr val="FFFFFF"/>
                    </a:solidFill>
                  </a:tcPr>
                </a:tc>
              </a:tr>
              <a:tr h="472440">
                <a:tc>
                  <a:txBody>
                    <a:bodyPr/>
                    <a:lstStyle/>
                    <a:p>
                      <a:r>
                        <a:rPr sz="1100">
                          <a:solidFill>
                            <a:srgbClr val="111111"/>
                          </a:solidFill>
                          <a:latin typeface="Calibri"/>
                        </a:rPr>
                        <a:t>P/B</a:t>
                      </a:r>
                    </a:p>
                  </a:txBody>
                  <a:tcPr/>
                </a:tc>
                <a:tc>
                  <a:txBody>
                    <a:bodyPr/>
                    <a:lstStyle/>
                    <a:p>
                      <a:r>
                        <a:rPr sz="1100">
                          <a:solidFill>
                            <a:srgbClr val="111111"/>
                          </a:solidFill>
                          <a:latin typeface="Calibri"/>
                        </a:rPr>
                        <a:t>8.7</a:t>
                      </a:r>
                    </a:p>
                  </a:txBody>
                  <a:tcPr/>
                </a:tc>
                <a:tc>
                  <a:txBody>
                    <a:bodyPr/>
                    <a:lstStyle/>
                    <a:p>
                      <a:r>
                        <a:rPr sz="1100">
                          <a:solidFill>
                            <a:srgbClr val="111111"/>
                          </a:solidFill>
                          <a:latin typeface="Calibri"/>
                        </a:rPr>
                        <a:t>7.8</a:t>
                      </a:r>
                    </a:p>
                  </a:txBody>
                  <a:tcPr/>
                </a:tc>
                <a:tc>
                  <a:txBody>
                    <a:bodyPr/>
                    <a:lstStyle/>
                    <a:p>
                      <a:r>
                        <a:rPr sz="1100">
                          <a:solidFill>
                            <a:srgbClr val="111111"/>
                          </a:solidFill>
                          <a:latin typeface="Calibri"/>
                        </a:rPr>
                        <a:t>5.6</a:t>
                      </a:r>
                    </a:p>
                  </a:txBody>
                  <a:tcPr/>
                </a:tc>
                <a:tc>
                  <a:txBody>
                    <a:bodyPr/>
                    <a:lstStyle/>
                    <a:p>
                      <a:r>
                        <a:rPr sz="1100">
                          <a:solidFill>
                            <a:srgbClr val="111111"/>
                          </a:solidFill>
                          <a:latin typeface="Calibri"/>
                        </a:rPr>
                        <a:t>4.5</a:t>
                      </a:r>
                    </a:p>
                  </a:txBody>
                  <a:tcPr/>
                </a:tc>
                <a:tc>
                  <a:txBody>
                    <a:bodyPr/>
                    <a:lstStyle/>
                    <a:p>
                      <a:r>
                        <a:rPr sz="1100">
                          <a:solidFill>
                            <a:srgbClr val="111111"/>
                          </a:solidFill>
                          <a:latin typeface="Calibri"/>
                        </a:rPr>
                        <a:t>3.6</a:t>
                      </a:r>
                    </a:p>
                  </a:txBody>
                  <a:tcPr/>
                </a:tc>
                <a:tc>
                  <a:txBody>
                    <a:bodyPr/>
                    <a:lstStyle/>
                    <a:p>
                      <a:r>
                        <a:rPr sz="1100">
                          <a:solidFill>
                            <a:srgbClr val="111111"/>
                          </a:solidFill>
                          <a:latin typeface="Calibri"/>
                        </a:rPr>
                        <a:t>2.9</a:t>
                      </a:r>
                    </a:p>
                  </a:txBody>
                  <a:tcPr/>
                </a:tc>
                <a:tc>
                  <a:txBody>
                    <a:bodyPr/>
                    <a:lstStyle/>
                    <a:p>
                      <a:r>
                        <a:rPr sz="1100">
                          <a:solidFill>
                            <a:srgbClr val="111111"/>
                          </a:solidFill>
                          <a:latin typeface="Calibri"/>
                        </a:rPr>
                        <a:t>2.3</a:t>
                      </a:r>
                    </a:p>
                  </a:txBody>
                  <a:tcPr/>
                </a:tc>
              </a:tr>
              <a:tr h="472440">
                <a:tc>
                  <a:txBody>
                    <a:bodyPr/>
                    <a:lstStyle/>
                    <a:p>
                      <a:r>
                        <a:rPr sz="1100">
                          <a:solidFill>
                            <a:srgbClr val="111111"/>
                          </a:solidFill>
                          <a:latin typeface="Calibri"/>
                        </a:rPr>
                        <a:t>EV/EBITDA</a:t>
                      </a:r>
                    </a:p>
                  </a:txBody>
                  <a:tcPr>
                    <a:solidFill>
                      <a:srgbClr val="FFFFFF"/>
                    </a:solidFill>
                  </a:tcPr>
                </a:tc>
                <a:tc>
                  <a:txBody>
                    <a:bodyPr/>
                    <a:lstStyle/>
                    <a:p>
                      <a:r>
                        <a:rPr sz="1100">
                          <a:solidFill>
                            <a:srgbClr val="111111"/>
                          </a:solidFill>
                          <a:latin typeface="Calibri"/>
                        </a:rPr>
                        <a:t>9.0</a:t>
                      </a:r>
                    </a:p>
                  </a:txBody>
                  <a:tcPr>
                    <a:solidFill>
                      <a:srgbClr val="FFFFFF"/>
                    </a:solidFill>
                  </a:tcPr>
                </a:tc>
                <a:tc>
                  <a:txBody>
                    <a:bodyPr/>
                    <a:lstStyle/>
                    <a:p>
                      <a:r>
                        <a:rPr sz="1100">
                          <a:solidFill>
                            <a:srgbClr val="111111"/>
                          </a:solidFill>
                          <a:latin typeface="Calibri"/>
                        </a:rPr>
                        <a:t>10.3</a:t>
                      </a:r>
                    </a:p>
                  </a:txBody>
                  <a:tcPr>
                    <a:solidFill>
                      <a:srgbClr val="FFFFFF"/>
                    </a:solidFill>
                  </a:tcPr>
                </a:tc>
                <a:tc>
                  <a:txBody>
                    <a:bodyPr/>
                    <a:lstStyle/>
                    <a:p>
                      <a:r>
                        <a:rPr sz="1100">
                          <a:solidFill>
                            <a:srgbClr val="111111"/>
                          </a:solidFill>
                          <a:latin typeface="Calibri"/>
                        </a:rPr>
                        <a:t>9.5</a:t>
                      </a:r>
                    </a:p>
                  </a:txBody>
                  <a:tcPr>
                    <a:solidFill>
                      <a:srgbClr val="FFFFFF"/>
                    </a:solidFill>
                  </a:tcPr>
                </a:tc>
                <a:tc>
                  <a:txBody>
                    <a:bodyPr/>
                    <a:lstStyle/>
                    <a:p>
                      <a:r>
                        <a:rPr sz="1100">
                          <a:solidFill>
                            <a:srgbClr val="111111"/>
                          </a:solidFill>
                          <a:latin typeface="Calibri"/>
                        </a:rPr>
                        <a:t>11.4</a:t>
                      </a:r>
                    </a:p>
                  </a:txBody>
                  <a:tcPr>
                    <a:solidFill>
                      <a:srgbClr val="FFFFFF"/>
                    </a:solidFill>
                  </a:tcPr>
                </a:tc>
                <a:tc>
                  <a:txBody>
                    <a:bodyPr/>
                    <a:lstStyle/>
                    <a:p>
                      <a:r>
                        <a:rPr sz="1100">
                          <a:solidFill>
                            <a:srgbClr val="111111"/>
                          </a:solidFill>
                          <a:latin typeface="Calibri"/>
                        </a:rPr>
                        <a:t>12.7</a:t>
                      </a:r>
                    </a:p>
                  </a:txBody>
                  <a:tcPr>
                    <a:solidFill>
                      <a:srgbClr val="FFFFFF"/>
                    </a:solidFill>
                  </a:tcPr>
                </a:tc>
                <a:tc>
                  <a:txBody>
                    <a:bodyPr/>
                    <a:lstStyle/>
                    <a:p>
                      <a:r>
                        <a:rPr sz="1100">
                          <a:solidFill>
                            <a:srgbClr val="111111"/>
                          </a:solidFill>
                          <a:latin typeface="Calibri"/>
                        </a:rPr>
                        <a:t>10.5</a:t>
                      </a:r>
                    </a:p>
                  </a:txBody>
                  <a:tcPr>
                    <a:solidFill>
                      <a:srgbClr val="FFFFFF"/>
                    </a:solidFill>
                  </a:tcPr>
                </a:tc>
                <a:tc>
                  <a:txBody>
                    <a:bodyPr/>
                    <a:lstStyle/>
                    <a:p>
                      <a:r>
                        <a:rPr sz="1100">
                          <a:solidFill>
                            <a:srgbClr val="111111"/>
                          </a:solidFill>
                          <a:latin typeface="Calibri"/>
                        </a:rPr>
                        <a:t>8.8</a:t>
                      </a:r>
                    </a:p>
                  </a:txBody>
                  <a:tcP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12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Valuation — Methods Summary</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Probability-weighted target price reconciles bull, base, and bear cases.</a:t>
            </a:r>
          </a:p>
        </p:txBody>
      </p:sp>
      <p:graphicFrame>
        <p:nvGraphicFramePr>
          <p:cNvPr id="12" name="Table 11"/>
          <p:cNvGraphicFramePr>
            <a:graphicFrameLocks noGrp="1"/>
          </p:cNvGraphicFramePr>
          <p:nvPr/>
        </p:nvGraphicFramePr>
        <p:xfrm>
          <a:off x="457200" y="2194560"/>
          <a:ext cx="11277295" cy="3108960"/>
        </p:xfrm>
        <a:graphic>
          <a:graphicData uri="http://schemas.openxmlformats.org/drawingml/2006/table">
            <a:tbl>
              <a:tblPr firstRow="1" bandRow="1">
                <a:tableStyleId>{5C22544A-7EE6-4342-B048-85BDC9FD1C3A}</a:tableStyleId>
              </a:tblPr>
              <a:tblGrid>
                <a:gridCol w="2819323"/>
                <a:gridCol w="2819323"/>
                <a:gridCol w="2819323"/>
                <a:gridCol w="2819326"/>
              </a:tblGrid>
              <a:tr h="77724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Target</a:t>
                      </a:r>
                    </a:p>
                  </a:txBody>
                  <a:tcPr>
                    <a:solidFill>
                      <a:srgbClr val="1F4690"/>
                    </a:solidFill>
                  </a:tcPr>
                </a:tc>
                <a:tc>
                  <a:txBody>
                    <a:bodyPr/>
                    <a:lstStyle/>
                    <a:p>
                      <a:r>
                        <a:rPr b="1" sz="1100">
                          <a:solidFill>
                            <a:srgbClr val="FFFFFF"/>
                          </a:solidFill>
                          <a:latin typeface="Calibri"/>
                        </a:rPr>
                        <a:t>Weight</a:t>
                      </a:r>
                    </a:p>
                  </a:txBody>
                  <a:tcPr>
                    <a:solidFill>
                      <a:srgbClr val="1F4690"/>
                    </a:solidFill>
                  </a:tcPr>
                </a:tc>
                <a:tc>
                  <a:txBody>
                    <a:bodyPr/>
                    <a:lstStyle/>
                    <a:p>
                      <a:r>
                        <a:rPr b="1" sz="1100">
                          <a:solidFill>
                            <a:srgbClr val="FFFFFF"/>
                          </a:solidFill>
                          <a:latin typeface="Calibri"/>
                        </a:rPr>
                        <a:t>Basis</a:t>
                      </a:r>
                    </a:p>
                  </a:txBody>
                  <a:tcPr>
                    <a:solidFill>
                      <a:srgbClr val="1F4690"/>
                    </a:solidFill>
                  </a:tcPr>
                </a:tc>
              </a:tr>
              <a:tr h="777240">
                <a:tc>
                  <a:txBody>
                    <a:bodyPr/>
                    <a:lstStyle/>
                    <a:p>
                      <a:r>
                        <a:rPr sz="1100">
                          <a:solidFill>
                            <a:srgbClr val="111111"/>
                          </a:solidFill>
                          <a:latin typeface="Calibri"/>
                        </a:rPr>
                        <a:t>Bull Case</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28x P/E on FY27E EPS of INR 50; ARR &gt; 70%, AMC +40% YoY.</a:t>
                      </a:r>
                    </a:p>
                  </a:txBody>
                  <a:tcPr/>
                </a:tc>
              </a:tr>
              <a:tr h="777240">
                <a:tc>
                  <a:txBody>
                    <a:bodyPr/>
                    <a:lstStyle/>
                    <a:p>
                      <a:r>
                        <a:rPr sz="1100">
                          <a:solidFill>
                            <a:srgbClr val="111111"/>
                          </a:solidFill>
                          <a:latin typeface="Calibri"/>
                        </a:rPr>
                        <a:t>Base Case</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24x P/E on FY27E EPS of INR 47; ARR stable at 65%, steady AUM.</a:t>
                      </a:r>
                    </a:p>
                  </a:txBody>
                  <a:tcPr>
                    <a:solidFill>
                      <a:srgbClr val="FFFFFF"/>
                    </a:solidFill>
                  </a:tcPr>
                </a:tc>
              </a:tr>
              <a:tr h="777240">
                <a:tc>
                  <a:txBody>
                    <a:bodyPr/>
                    <a:lstStyle/>
                    <a:p>
                      <a:r>
                        <a:rPr sz="1100">
                          <a:solidFill>
                            <a:srgbClr val="111111"/>
                          </a:solidFill>
                          <a:latin typeface="Calibri"/>
                        </a:rPr>
                        <a:t>Bear Case</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18x P/E on depressed FY27E EPS of INR 35; sustained regulatory headwinds.</a:t>
                      </a:r>
                    </a:p>
                  </a:txBody>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13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Scenario Analysis</a:t>
            </a:r>
          </a:p>
        </p:txBody>
      </p:sp>
      <p:graphicFrame>
        <p:nvGraphicFramePr>
          <p:cNvPr id="11" name="Table 10"/>
          <p:cNvGraphicFramePr>
            <a:graphicFrameLocks noGrp="1"/>
          </p:cNvGraphicFramePr>
          <p:nvPr/>
        </p:nvGraphicFramePr>
        <p:xfrm>
          <a:off x="457200" y="1417320"/>
          <a:ext cx="11277295"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50"/>
              </a:tblGrid>
              <a:tr h="1257300">
                <a:tc>
                  <a:txBody>
                    <a:bodyPr/>
                    <a:lstStyle/>
                    <a:p>
                      <a:r>
                        <a:rPr b="1" sz="1100">
                          <a:solidFill>
                            <a:srgbClr val="FFFFFF"/>
                          </a:solidFill>
                          <a:latin typeface="Calibri"/>
                        </a:rPr>
                        <a:t>Case</a:t>
                      </a:r>
                    </a:p>
                  </a:txBody>
                  <a:tcPr>
                    <a:solidFill>
                      <a:srgbClr val="1F4690"/>
                    </a:solidFill>
                  </a:tcPr>
                </a:tc>
                <a:tc>
                  <a:txBody>
                    <a:bodyPr/>
                    <a:lstStyle/>
                    <a:p>
                      <a:r>
                        <a:rPr b="1" sz="1100">
                          <a:solidFill>
                            <a:srgbClr val="FFFFFF"/>
                          </a:solidFill>
                          <a:latin typeface="Calibri"/>
                        </a:rPr>
                        <a:t>Rev CAGR</a:t>
                      </a:r>
                    </a:p>
                  </a:txBody>
                  <a:tcPr>
                    <a:solidFill>
                      <a:srgbClr val="1F4690"/>
                    </a:solidFill>
                  </a:tcPr>
                </a:tc>
                <a:tc>
                  <a:txBody>
                    <a:bodyPr/>
                    <a:lstStyle/>
                    <a:p>
                      <a:r>
                        <a:rPr b="1" sz="1100">
                          <a:solidFill>
                            <a:srgbClr val="FFFFFF"/>
                          </a:solidFill>
                          <a:latin typeface="Calibri"/>
                        </a:rPr>
                        <a:t>EBITDA Mgn</a:t>
                      </a:r>
                    </a:p>
                  </a:txBody>
                  <a:tcPr>
                    <a:solidFill>
                      <a:srgbClr val="1F4690"/>
                    </a:solidFill>
                  </a:tcPr>
                </a:tc>
                <a:tc>
                  <a:txBody>
                    <a:bodyPr/>
                    <a:lstStyle/>
                    <a:p>
                      <a:r>
                        <a:rPr b="1" sz="1100">
                          <a:solidFill>
                            <a:srgbClr val="FFFFFF"/>
                          </a:solidFill>
                          <a:latin typeface="Calibri"/>
                        </a:rPr>
                        <a:t>Target Price</a:t>
                      </a:r>
                    </a:p>
                  </a:txBody>
                  <a:tcPr>
                    <a:solidFill>
                      <a:srgbClr val="1F4690"/>
                    </a:solidFill>
                  </a:tcPr>
                </a:tc>
                <a:tc>
                  <a:txBody>
                    <a:bodyPr/>
                    <a:lstStyle/>
                    <a:p>
                      <a:r>
                        <a:rPr b="1" sz="1100">
                          <a:solidFill>
                            <a:srgbClr val="FFFFFF"/>
                          </a:solidFill>
                          <a:latin typeface="Calibri"/>
                        </a:rPr>
                        <a:t>Probability</a:t>
                      </a:r>
                    </a:p>
                  </a:txBody>
                  <a:tcPr>
                    <a:solidFill>
                      <a:srgbClr val="1F4690"/>
                    </a:solidFill>
                  </a:tcPr>
                </a:tc>
                <a:tc>
                  <a:txBody>
                    <a:bodyPr/>
                    <a:lstStyle/>
                    <a:p>
                      <a:r>
                        <a:rPr b="1" sz="1100">
                          <a:solidFill>
                            <a:srgbClr val="FFFFFF"/>
                          </a:solidFill>
                          <a:latin typeface="Calibri"/>
                        </a:rPr>
                        <a:t>Drivers</a:t>
                      </a:r>
                    </a:p>
                  </a:txBody>
                  <a:tcPr>
                    <a:solidFill>
                      <a:srgbClr val="1F4690"/>
                    </a:solidFill>
                  </a:tcPr>
                </a:tc>
              </a:tr>
              <a:tr h="1257300">
                <a:tc>
                  <a:txBody>
                    <a:bodyPr/>
                    <a:lstStyle/>
                    <a:p>
                      <a:r>
                        <a:rPr sz="1100">
                          <a:solidFill>
                            <a:srgbClr val="111111"/>
                          </a:solidFill>
                          <a:latin typeface="Calibri"/>
                        </a:rPr>
                        <a:t>Bull</a:t>
                      </a:r>
                    </a:p>
                  </a:txBody>
                  <a:tcPr/>
                </a:tc>
                <a:tc>
                  <a:txBody>
                    <a:bodyPr/>
                    <a:lstStyle/>
                    <a:p>
                      <a:r>
                        <a:rPr sz="1100">
                          <a:solidFill>
                            <a:srgbClr val="111111"/>
                          </a:solidFill>
                          <a:latin typeface="Calibri"/>
                        </a:rPr>
                        <a:t>27.5%</a:t>
                      </a:r>
                    </a:p>
                  </a:txBody>
                  <a:tcPr/>
                </a:tc>
                <a:tc>
                  <a:txBody>
                    <a:bodyPr/>
                    <a:lstStyle/>
                    <a:p>
                      <a:r>
                        <a:rPr sz="1100">
                          <a:solidFill>
                            <a:srgbClr val="111111"/>
                          </a:solidFill>
                          <a:latin typeface="Calibri"/>
                        </a:rPr>
                        <a:t>55.0%</a:t>
                      </a:r>
                    </a:p>
                  </a:txBody>
                  <a:tcPr/>
                </a:tc>
                <a:tc>
                  <a:txBody>
                    <a:bodyPr/>
                    <a:lstStyle/>
                    <a:p>
                      <a:r>
                        <a:rPr sz="1100">
                          <a:solidFill>
                            <a:srgbClr val="111111"/>
                          </a:solidFill>
                          <a:latin typeface="Calibri"/>
                        </a:rPr>
                        <a:t>1400.0</a:t>
                      </a:r>
                    </a:p>
                  </a:txBody>
                  <a:tcPr/>
                </a:tc>
                <a:tc>
                  <a:txBody>
                    <a:bodyPr/>
                    <a:lstStyle/>
                    <a:p>
                      <a:r>
                        <a:rPr sz="1100">
                          <a:solidFill>
                            <a:srgbClr val="111111"/>
                          </a:solidFill>
                          <a:latin typeface="Calibri"/>
                        </a:rPr>
                        <a:t>30.0%</a:t>
                      </a:r>
                    </a:p>
                  </a:txBody>
                  <a:tcPr/>
                </a:tc>
                <a:tc>
                  <a:txBody>
                    <a:bodyPr/>
                    <a:lstStyle/>
                    <a:p>
                      <a:r>
                        <a:rPr sz="1100">
                          <a:solidFill>
                            <a:srgbClr val="111111"/>
                          </a:solidFill>
                          <a:latin typeface="Calibri"/>
                        </a:rPr>
                        <a:t>ARR &gt; 70%, AMC AUM +40% YoY, regulatory clarity.</a:t>
                      </a:r>
                    </a:p>
                  </a:txBody>
                  <a:tcPr/>
                </a:tc>
              </a:tr>
              <a:tr h="1257300">
                <a:tc>
                  <a:txBody>
                    <a:bodyPr/>
                    <a:lstStyle/>
                    <a:p>
                      <a:r>
                        <a:rPr sz="1100">
                          <a:solidFill>
                            <a:srgbClr val="111111"/>
                          </a:solidFill>
                          <a:latin typeface="Calibri"/>
                        </a:rPr>
                        <a:t>Base</a:t>
                      </a:r>
                    </a:p>
                  </a:txBody>
                  <a:tcPr>
                    <a:solidFill>
                      <a:srgbClr val="FFFFFF"/>
                    </a:solidFill>
                  </a:tcPr>
                </a:tc>
                <a:tc>
                  <a:txBody>
                    <a:bodyPr/>
                    <a:lstStyle/>
                    <a:p>
                      <a:r>
                        <a:rPr sz="1100">
                          <a:solidFill>
                            <a:srgbClr val="111111"/>
                          </a:solidFill>
                          <a:latin typeface="Calibri"/>
                        </a:rPr>
                        <a:t>16.0%</a:t>
                      </a:r>
                    </a:p>
                  </a:txBody>
                  <a:tcPr>
                    <a:solidFill>
                      <a:srgbClr val="FFFFFF"/>
                    </a:solidFill>
                  </a:tcPr>
                </a:tc>
                <a:tc>
                  <a:txBody>
                    <a:bodyPr/>
                    <a:lstStyle/>
                    <a:p>
                      <a:r>
                        <a:rPr sz="1100">
                          <a:solidFill>
                            <a:srgbClr val="111111"/>
                          </a:solidFill>
                          <a:latin typeface="Calibri"/>
                        </a:rPr>
                        <a:t>51.0%</a:t>
                      </a:r>
                    </a:p>
                  </a:txBody>
                  <a:tcPr>
                    <a:solidFill>
                      <a:srgbClr val="FFFFFF"/>
                    </a:solidFill>
                  </a:tcPr>
                </a:tc>
                <a:tc>
                  <a:txBody>
                    <a:bodyPr/>
                    <a:lstStyle/>
                    <a:p>
                      <a:r>
                        <a:rPr sz="1100">
                          <a:solidFill>
                            <a:srgbClr val="111111"/>
                          </a:solidFill>
                          <a:latin typeface="Calibri"/>
                        </a:rPr>
                        <a:t>1127.0</a:t>
                      </a:r>
                    </a:p>
                  </a:txBody>
                  <a:tcPr>
                    <a:solidFill>
                      <a:srgbClr val="FFFFFF"/>
                    </a:solidFill>
                  </a:tcPr>
                </a:tc>
                <a:tc>
                  <a:txBody>
                    <a:bodyPr/>
                    <a:lstStyle/>
                    <a:p>
                      <a:r>
                        <a:rPr sz="1100">
                          <a:solidFill>
                            <a:srgbClr val="111111"/>
                          </a:solidFill>
                          <a:latin typeface="Calibri"/>
                        </a:rPr>
                        <a:t>50.0%</a:t>
                      </a:r>
                    </a:p>
                  </a:txBody>
                  <a:tcPr>
                    <a:solidFill>
                      <a:srgbClr val="FFFFFF"/>
                    </a:solidFill>
                  </a:tcPr>
                </a:tc>
                <a:tc>
                  <a:txBody>
                    <a:bodyPr/>
                    <a:lstStyle/>
                    <a:p>
                      <a:r>
                        <a:rPr sz="1100">
                          <a:solidFill>
                            <a:srgbClr val="111111"/>
                          </a:solidFill>
                          <a:latin typeface="Calibri"/>
                        </a:rPr>
                        <a:t>ARR steady at 65%, AUM compounding, stable regulation.</a:t>
                      </a:r>
                    </a:p>
                  </a:txBody>
                  <a:tcPr>
                    <a:solidFill>
                      <a:srgbClr val="FFFFFF"/>
                    </a:solidFill>
                  </a:tcPr>
                </a:tc>
              </a:tr>
              <a:tr h="1257300">
                <a:tc>
                  <a:txBody>
                    <a:bodyPr/>
                    <a:lstStyle/>
                    <a:p>
                      <a:r>
                        <a:rPr sz="1100">
                          <a:solidFill>
                            <a:srgbClr val="111111"/>
                          </a:solidFill>
                          <a:latin typeface="Calibri"/>
                        </a:rPr>
                        <a:t>Bear</a:t>
                      </a:r>
                    </a:p>
                  </a:txBody>
                  <a:tcPr/>
                </a:tc>
                <a:tc>
                  <a:txBody>
                    <a:bodyPr/>
                    <a:lstStyle/>
                    <a:p>
                      <a:r>
                        <a:rPr sz="1100">
                          <a:solidFill>
                            <a:srgbClr val="111111"/>
                          </a:solidFill>
                          <a:latin typeface="Calibri"/>
                        </a:rPr>
                        <a:t>6.0%</a:t>
                      </a:r>
                    </a:p>
                  </a:txBody>
                  <a:tcPr/>
                </a:tc>
                <a:tc>
                  <a:txBody>
                    <a:bodyPr/>
                    <a:lstStyle/>
                    <a:p>
                      <a:r>
                        <a:rPr sz="1100">
                          <a:solidFill>
                            <a:srgbClr val="111111"/>
                          </a:solidFill>
                          <a:latin typeface="Calibri"/>
                        </a:rPr>
                        <a:t>45.0%</a:t>
                      </a:r>
                    </a:p>
                  </a:txBody>
                  <a:tcPr/>
                </a:tc>
                <a:tc>
                  <a:txBody>
                    <a:bodyPr/>
                    <a:lstStyle/>
                    <a:p>
                      <a:r>
                        <a:rPr sz="1100">
                          <a:solidFill>
                            <a:srgbClr val="111111"/>
                          </a:solidFill>
                          <a:latin typeface="Calibri"/>
                        </a:rPr>
                        <a:t>630.0</a:t>
                      </a:r>
                    </a:p>
                  </a:txBody>
                  <a:tcPr/>
                </a:tc>
                <a:tc>
                  <a:txBody>
                    <a:bodyPr/>
                    <a:lstStyle/>
                    <a:p>
                      <a:r>
                        <a:rPr sz="1100">
                          <a:solidFill>
                            <a:srgbClr val="111111"/>
                          </a:solidFill>
                          <a:latin typeface="Calibri"/>
                        </a:rPr>
                        <a:t>20.0%</a:t>
                      </a:r>
                    </a:p>
                  </a:txBody>
                  <a:tcPr/>
                </a:tc>
                <a:tc>
                  <a:txBody>
                    <a:bodyPr/>
                    <a:lstStyle/>
                    <a:p>
                      <a:r>
                        <a:rPr sz="1100">
                          <a:solidFill>
                            <a:srgbClr val="111111"/>
                          </a:solidFill>
                          <a:latin typeface="Calibri"/>
                        </a:rPr>
                        <a:t>Sustained F&amp;O headwinds, fintech share loss.</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14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Catalysts</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 ARR contribution crossing 70% of revenues, triggering valuation re-rating from broking to asset management multiples - Sustained AMC AUM growth above 25% YoY with net flows exceeding INR 10,000 crore annually - Private wealth AUM growth above 25% YoY with family count expansion - Operating leverage improvement with cost-to-income ratio declining - Regulatory clarity on F&amp;O trading norms</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crossing 70% of revenues, triggering valuation re-rating from broking to asset management multiples</a:t>
            </a:r>
          </a:p>
          <a:p>
            <a:pPr/>
            <a:r>
              <a:rPr sz="1100" b="0">
                <a:solidFill>
                  <a:srgbClr val="111111"/>
                </a:solidFill>
                <a:latin typeface="Calibri"/>
              </a:rPr>
              <a:t>- Sustained AMC AUM growth above 25% YoY with net flows exceeding INR 10,000 crore annually</a:t>
            </a:r>
          </a:p>
          <a:p>
            <a:pPr/>
            <a:r>
              <a:rPr sz="1100" b="0">
                <a:solidFill>
                  <a:srgbClr val="111111"/>
                </a:solidFill>
                <a:latin typeface="Calibri"/>
              </a:rPr>
              <a:t>- Private wealth AUM growth above 25% YoY with family count expansion</a:t>
            </a:r>
          </a:p>
          <a:p>
            <a:pPr/>
            <a:r>
              <a:rPr sz="1100" b="0">
                <a:solidFill>
                  <a:srgbClr val="111111"/>
                </a:solidFill>
                <a:latin typeface="Calibri"/>
              </a:rPr>
              <a:t>- Operating leverage improvement with cost-to-income ratio declining</a:t>
            </a:r>
          </a:p>
          <a:p>
            <a:pPr/>
            <a:r>
              <a:rPr sz="11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15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Management Team</a:t>
            </a:r>
          </a:p>
        </p:txBody>
      </p:sp>
      <p:sp>
        <p:nvSpPr>
          <p:cNvPr id="11" name="TextBox 10"/>
          <p:cNvSpPr txBox="1"/>
          <p:nvPr/>
        </p:nvSpPr>
        <p:spPr>
          <a:xfrm>
            <a:off x="457200" y="1417320"/>
            <a:ext cx="11277295" cy="640080"/>
          </a:xfrm>
          <a:prstGeom prst="rect">
            <a:avLst/>
          </a:prstGeom>
          <a:noFill/>
        </p:spPr>
        <p:txBody>
          <a:bodyPr wrap="square">
            <a:spAutoFit/>
          </a:bodyPr>
          <a:lstStyle/>
          <a:p>
            <a:r>
              <a:rPr sz="1100" b="0">
                <a:solidFill>
                  <a:srgbClr val="111111"/>
                </a:solidFill>
                <a:latin typeface="Calibri"/>
              </a:rPr>
              <a:t>Founder-led leadership with deep institutional DNA across nearly four decades.</a:t>
            </a:r>
          </a:p>
        </p:txBody>
      </p:sp>
      <p:graphicFrame>
        <p:nvGraphicFramePr>
          <p:cNvPr id="12" name="Table 11"/>
          <p:cNvGraphicFramePr>
            <a:graphicFrameLocks noGrp="1"/>
          </p:cNvGraphicFramePr>
          <p:nvPr/>
        </p:nvGraphicFramePr>
        <p:xfrm>
          <a:off x="457200" y="2194560"/>
          <a:ext cx="11277295" cy="4251960"/>
        </p:xfrm>
        <a:graphic>
          <a:graphicData uri="http://schemas.openxmlformats.org/drawingml/2006/table">
            <a:tbl>
              <a:tblPr firstRow="1" bandRow="1">
                <a:tableStyleId>{5C22544A-7EE6-4342-B048-85BDC9FD1C3A}</a:tableStyleId>
              </a:tblPr>
              <a:tblGrid>
                <a:gridCol w="3759098"/>
                <a:gridCol w="3759098"/>
                <a:gridCol w="3759099"/>
              </a:tblGrid>
              <a:tr h="850392">
                <a:tc>
                  <a:txBody>
                    <a:bodyPr/>
                    <a:lstStyle/>
                    <a:p>
                      <a:r>
                        <a:rPr b="1" sz="1100">
                          <a:solidFill>
                            <a:srgbClr val="FFFFFF"/>
                          </a:solidFill>
                          <a:latin typeface="Calibri"/>
                        </a:rPr>
                        <a:t>Name</a:t>
                      </a:r>
                    </a:p>
                  </a:txBody>
                  <a:tcPr>
                    <a:solidFill>
                      <a:srgbClr val="1F4690"/>
                    </a:solidFill>
                  </a:tcPr>
                </a:tc>
                <a:tc>
                  <a:txBody>
                    <a:bodyPr/>
                    <a:lstStyle/>
                    <a:p>
                      <a:r>
                        <a:rPr b="1" sz="1100">
                          <a:solidFill>
                            <a:srgbClr val="FFFFFF"/>
                          </a:solidFill>
                          <a:latin typeface="Calibri"/>
                        </a:rPr>
                        <a:t>Role</a:t>
                      </a:r>
                    </a:p>
                  </a:txBody>
                  <a:tcPr>
                    <a:solidFill>
                      <a:srgbClr val="1F4690"/>
                    </a:solidFill>
                  </a:tcPr>
                </a:tc>
                <a:tc>
                  <a:txBody>
                    <a:bodyPr/>
                    <a:lstStyle/>
                    <a:p>
                      <a:r>
                        <a:rPr b="1" sz="1100">
                          <a:solidFill>
                            <a:srgbClr val="FFFFFF"/>
                          </a:solidFill>
                          <a:latin typeface="Calibri"/>
                        </a:rPr>
                        <a:t>Background</a:t>
                      </a:r>
                    </a:p>
                  </a:txBody>
                  <a:tcPr>
                    <a:solidFill>
                      <a:srgbClr val="1F4690"/>
                    </a:solidFill>
                  </a:tcPr>
                </a:tc>
              </a:tr>
              <a:tr h="850392">
                <a:tc>
                  <a:txBody>
                    <a:bodyPr/>
                    <a:lstStyle/>
                    <a:p>
                      <a:r>
                        <a:rPr sz="1100">
                          <a:solidFill>
                            <a:srgbClr val="111111"/>
                          </a:solidFill>
                          <a:latin typeface="Calibri"/>
                        </a:rPr>
                        <a:t>Raamdeo Agrawal</a:t>
                      </a:r>
                    </a:p>
                  </a:txBody>
                  <a:tcPr/>
                </a:tc>
                <a:tc>
                  <a:txBody>
                    <a:bodyPr/>
                    <a:lstStyle/>
                    <a:p>
                      <a:r>
                        <a:rPr sz="1100">
                          <a:solidFill>
                            <a:srgbClr val="111111"/>
                          </a:solidFill>
                          <a:latin typeface="Calibri"/>
                        </a:rPr>
                        <a:t>Chairman, MOFSL &amp; Chairman, AMC</a:t>
                      </a:r>
                    </a:p>
                  </a:txBody>
                  <a:tcPr/>
                </a:tc>
                <a:tc>
                  <a:txBody>
                    <a:bodyPr/>
                    <a:lstStyle/>
                    <a:p>
                      <a:r>
                        <a:rPr sz="11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a:tc>
              </a:tr>
              <a:tr h="850392">
                <a:tc>
                  <a:txBody>
                    <a:bodyPr/>
                    <a:lstStyle/>
                    <a:p>
                      <a:r>
                        <a:rPr sz="1100">
                          <a:solidFill>
                            <a:srgbClr val="111111"/>
                          </a:solidFill>
                          <a:latin typeface="Calibri"/>
                        </a:rPr>
                        <a:t>Motilal Oswal</a:t>
                      </a:r>
                    </a:p>
                  </a:txBody>
                  <a:tcPr>
                    <a:solidFill>
                      <a:srgbClr val="FFFFFF"/>
                    </a:solidFill>
                  </a:tcPr>
                </a:tc>
                <a:tc>
                  <a:txBody>
                    <a:bodyPr/>
                    <a:lstStyle/>
                    <a:p>
                      <a:r>
                        <a:rPr sz="1100">
                          <a:solidFill>
                            <a:srgbClr val="111111"/>
                          </a:solidFill>
                          <a:latin typeface="Calibri"/>
                        </a:rPr>
                        <a:t>Founder, Chairman &amp; MD</a:t>
                      </a:r>
                    </a:p>
                  </a:txBody>
                  <a:tcPr>
                    <a:solidFill>
                      <a:srgbClr val="FFFFFF"/>
                    </a:solidFill>
                  </a:tcPr>
                </a:tc>
                <a:tc>
                  <a:txBody>
                    <a:bodyPr/>
                    <a:lstStyle/>
                    <a:p>
                      <a:r>
                        <a:rPr sz="11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a:solidFill>
                      <a:srgbClr val="FFFFFF"/>
                    </a:solidFill>
                  </a:tcPr>
                </a:tc>
              </a:tr>
              <a:tr h="850392">
                <a:tc>
                  <a:txBody>
                    <a:bodyPr/>
                    <a:lstStyle/>
                    <a:p>
                      <a:r>
                        <a:rPr sz="1100">
                          <a:solidFill>
                            <a:srgbClr val="111111"/>
                          </a:solidFill>
                          <a:latin typeface="Calibri"/>
                        </a:rPr>
                        <a:t>Navin Agarwal</a:t>
                      </a:r>
                    </a:p>
                  </a:txBody>
                  <a:tcPr/>
                </a:tc>
                <a:tc>
                  <a:txBody>
                    <a:bodyPr/>
                    <a:lstStyle/>
                    <a:p>
                      <a:r>
                        <a:rPr sz="1100">
                          <a:solidFill>
                            <a:srgbClr val="111111"/>
                          </a:solidFill>
                          <a:latin typeface="Calibri"/>
                        </a:rPr>
                        <a:t>Executive Board — Strategy &amp; Capital Allocation</a:t>
                      </a:r>
                    </a:p>
                  </a:txBody>
                  <a:tcPr/>
                </a:tc>
                <a:tc>
                  <a:txBody>
                    <a:bodyPr/>
                    <a:lstStyle/>
                    <a:p>
                      <a:r>
                        <a:rPr sz="1100">
                          <a:solidFill>
                            <a:srgbClr val="111111"/>
                          </a:solidFill>
                          <a:latin typeface="Calibri"/>
                        </a:rPr>
                        <a:t>Joined 2000. Drives business strategy and capital allocation across the Group, building market-leading positions through disciplined deployment.</a:t>
                      </a:r>
                    </a:p>
                  </a:txBody>
                  <a:tcPr/>
                </a:tc>
              </a:tr>
              <a:tr h="850392">
                <a:tc>
                  <a:txBody>
                    <a:bodyPr/>
                    <a:lstStyle/>
                    <a:p>
                      <a:r>
                        <a:rPr sz="1100">
                          <a:solidFill>
                            <a:srgbClr val="111111"/>
                          </a:solidFill>
                          <a:latin typeface="Calibri"/>
                        </a:rPr>
                        <a:t>Ajay Menon</a:t>
                      </a:r>
                    </a:p>
                  </a:txBody>
                  <a:tcPr>
                    <a:solidFill>
                      <a:srgbClr val="FFFFFF"/>
                    </a:solidFill>
                  </a:tcPr>
                </a:tc>
                <a:tc>
                  <a:txBody>
                    <a:bodyPr/>
                    <a:lstStyle/>
                    <a:p>
                      <a:r>
                        <a:rPr sz="1100">
                          <a:solidFill>
                            <a:srgbClr val="111111"/>
                          </a:solidFill>
                          <a:latin typeface="Calibri"/>
                        </a:rPr>
                        <a:t>Executive — Operations, Compliance, Risk &amp; Technology</a:t>
                      </a:r>
                    </a:p>
                  </a:txBody>
                  <a:tcPr>
                    <a:solidFill>
                      <a:srgbClr val="FFFFFF"/>
                    </a:solidFill>
                  </a:tcPr>
                </a:tc>
                <a:tc>
                  <a:txBody>
                    <a:bodyPr/>
                    <a:lstStyle/>
                    <a:p>
                      <a:r>
                        <a:rPr sz="1100">
                          <a:solidFill>
                            <a:srgbClr val="111111"/>
                          </a:solidFill>
                          <a:latin typeface="Calibri"/>
                        </a:rPr>
                        <a:t>Joined 1998. 27+ years in Indian capital markets. Cornerstone of operational excellence and technology initiatives across the Group.</a:t>
                      </a:r>
                    </a:p>
                  </a:txBody>
                  <a:tcP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16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Forensic / Governance — Monitor Closely</a:t>
            </a:r>
          </a:p>
        </p:txBody>
      </p:sp>
      <p:sp>
        <p:nvSpPr>
          <p:cNvPr id="11" name="TextBox 10"/>
          <p:cNvSpPr txBox="1"/>
          <p:nvPr/>
        </p:nvSpPr>
        <p:spPr>
          <a:xfrm>
            <a:off x="457200" y="1417320"/>
            <a:ext cx="11277295" cy="822960"/>
          </a:xfrm>
          <a:prstGeom prst="rect">
            <a:avLst/>
          </a:prstGeom>
          <a:noFill/>
        </p:spPr>
        <p:txBody>
          <a:bodyPr wrap="square">
            <a:spAutoFit/>
          </a:bodyPr>
          <a:lstStyle/>
          <a:p>
            <a:r>
              <a:rPr sz="11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2" name="Table 11"/>
          <p:cNvGraphicFramePr>
            <a:graphicFrameLocks noGrp="1"/>
          </p:cNvGraphicFramePr>
          <p:nvPr/>
        </p:nvGraphicFramePr>
        <p:xfrm>
          <a:off x="457200" y="2377440"/>
          <a:ext cx="11277295" cy="4069080"/>
        </p:xfrm>
        <a:graphic>
          <a:graphicData uri="http://schemas.openxmlformats.org/drawingml/2006/table">
            <a:tbl>
              <a:tblPr firstRow="1" bandRow="1">
                <a:tableStyleId>{5C22544A-7EE6-4342-B048-85BDC9FD1C3A}</a:tableStyleId>
              </a:tblPr>
              <a:tblGrid>
                <a:gridCol w="3759098"/>
                <a:gridCol w="3759098"/>
                <a:gridCol w="3759099"/>
              </a:tblGrid>
              <a:tr h="678180">
                <a:tc>
                  <a:txBody>
                    <a:bodyPr/>
                    <a:lstStyle/>
                    <a:p>
                      <a:r>
                        <a:rPr b="1" sz="1100">
                          <a:solidFill>
                            <a:srgbClr val="FFFFFF"/>
                          </a:solidFill>
                          <a:latin typeface="Calibri"/>
                        </a:rPr>
                        <a:t>Matter</a:t>
                      </a:r>
                    </a:p>
                  </a:txBody>
                  <a:tcPr>
                    <a:solidFill>
                      <a:srgbClr val="1F4690"/>
                    </a:solidFill>
                  </a:tcPr>
                </a:tc>
                <a:tc>
                  <a:txBody>
                    <a:bodyPr/>
                    <a:lstStyle/>
                    <a:p>
                      <a:r>
                        <a:rPr b="1" sz="1100">
                          <a:solidFill>
                            <a:srgbClr val="FFFFFF"/>
                          </a:solidFill>
                          <a:latin typeface="Calibri"/>
                        </a:rPr>
                        <a:t>Description</a:t>
                      </a:r>
                    </a:p>
                  </a:txBody>
                  <a:tcPr>
                    <a:solidFill>
                      <a:srgbClr val="1F4690"/>
                    </a:solidFill>
                  </a:tcPr>
                </a:tc>
                <a:tc>
                  <a:txBody>
                    <a:bodyPr/>
                    <a:lstStyle/>
                    <a:p>
                      <a:r>
                        <a:rPr b="1" sz="1100">
                          <a:solidFill>
                            <a:srgbClr val="FFFFFF"/>
                          </a:solidFill>
                          <a:latin typeface="Calibri"/>
                        </a:rPr>
                        <a:t>Severity</a:t>
                      </a:r>
                    </a:p>
                  </a:txBody>
                  <a:tcPr>
                    <a:solidFill>
                      <a:srgbClr val="1F4690"/>
                    </a:solidFill>
                  </a:tcPr>
                </a:tc>
              </a:tr>
              <a:tr h="678180">
                <a:tc>
                  <a:txBody>
                    <a:bodyPr/>
                    <a:lstStyle/>
                    <a:p>
                      <a:r>
                        <a:rPr sz="1100">
                          <a:solidFill>
                            <a:srgbClr val="111111"/>
                          </a:solidFill>
                          <a:latin typeface="Calibri"/>
                        </a:rPr>
                        <a:t>SEBI — Margin Reporting Violations</a:t>
                      </a:r>
                    </a:p>
                  </a:txBody>
                  <a:tcPr/>
                </a:tc>
                <a:tc>
                  <a:txBody>
                    <a:bodyPr/>
                    <a:lstStyle/>
                    <a:p>
                      <a:r>
                        <a:rPr sz="1100">
                          <a:solidFill>
                            <a:srgbClr val="111111"/>
                          </a:solidFill>
                          <a:latin typeface="Calibri"/>
                        </a:rPr>
                        <a:t>INR 7 lakh penalty for margin reporting, collection violations, and other regulatory lapses found during inspection.</a:t>
                      </a:r>
                    </a:p>
                  </a:txBody>
                  <a:tcPr/>
                </a:tc>
                <a:tc>
                  <a:txBody>
                    <a:bodyPr/>
                    <a:lstStyle/>
                    <a:p>
                      <a:r>
                        <a:rPr sz="1100">
                          <a:solidFill>
                            <a:srgbClr val="111111"/>
                          </a:solidFill>
                          <a:latin typeface="Calibri"/>
                        </a:rPr>
                        <a:t>Low</a:t>
                      </a:r>
                    </a:p>
                  </a:txBody>
                  <a:tcPr/>
                </a:tc>
              </a:tr>
              <a:tr h="678180">
                <a:tc>
                  <a:txBody>
                    <a:bodyPr/>
                    <a:lstStyle/>
                    <a:p>
                      <a:r>
                        <a:rPr sz="1100">
                          <a:solidFill>
                            <a:srgbClr val="111111"/>
                          </a:solidFill>
                          <a:latin typeface="Calibri"/>
                        </a:rPr>
                        <a:t>SEBI — Client Fund Misutilization (2022)</a:t>
                      </a:r>
                    </a:p>
                  </a:txBody>
                  <a:tcPr>
                    <a:solidFill>
                      <a:srgbClr val="FFFFFF"/>
                    </a:solidFill>
                  </a:tcPr>
                </a:tc>
                <a:tc>
                  <a:txBody>
                    <a:bodyPr/>
                    <a:lstStyle/>
                    <a:p>
                      <a:r>
                        <a:rPr sz="1100">
                          <a:solidFill>
                            <a:srgbClr val="111111"/>
                          </a:solidFill>
                          <a:latin typeface="Calibri"/>
                        </a:rPr>
                        <a:t>INR 25 lakh fine for misutilization of client funds and inaccurate margin reporting.</a:t>
                      </a:r>
                    </a:p>
                  </a:txBody>
                  <a:tcPr>
                    <a:solidFill>
                      <a:srgbClr val="FFFFFF"/>
                    </a:solidFill>
                  </a:tcPr>
                </a:tc>
                <a:tc>
                  <a:txBody>
                    <a:bodyPr/>
                    <a:lstStyle/>
                    <a:p>
                      <a:r>
                        <a:rPr sz="1100">
                          <a:solidFill>
                            <a:srgbClr val="111111"/>
                          </a:solidFill>
                          <a:latin typeface="Calibri"/>
                        </a:rPr>
                        <a:t>Medium</a:t>
                      </a:r>
                    </a:p>
                  </a:txBody>
                  <a:tcPr>
                    <a:solidFill>
                      <a:srgbClr val="FFFFFF"/>
                    </a:solidFill>
                  </a:tcPr>
                </a:tc>
              </a:tr>
              <a:tr h="678180">
                <a:tc>
                  <a:txBody>
                    <a:bodyPr/>
                    <a:lstStyle/>
                    <a:p>
                      <a:r>
                        <a:rPr sz="1100">
                          <a:solidFill>
                            <a:srgbClr val="111111"/>
                          </a:solidFill>
                          <a:latin typeface="Calibri"/>
                        </a:rPr>
                        <a:t>NSEL — Misselling Accusations</a:t>
                      </a:r>
                    </a:p>
                  </a:txBody>
                  <a:tcPr/>
                </a:tc>
                <a:tc>
                  <a:txBody>
                    <a:bodyPr/>
                    <a:lstStyle/>
                    <a:p>
                      <a:r>
                        <a:rPr sz="1100">
                          <a:solidFill>
                            <a:srgbClr val="111111"/>
                          </a:solidFill>
                          <a:latin typeface="Calibri"/>
                        </a:rPr>
                        <a:t>Accused alongside other top brokers of misselling NSEL contracts, KYC manipulation, client code modification, and illegal transactions per SFIO/EOW findings.</a:t>
                      </a:r>
                    </a:p>
                  </a:txBody>
                  <a:tcPr/>
                </a:tc>
                <a:tc>
                  <a:txBody>
                    <a:bodyPr/>
                    <a:lstStyle/>
                    <a:p>
                      <a:r>
                        <a:rPr sz="1100">
                          <a:solidFill>
                            <a:srgbClr val="111111"/>
                          </a:solidFill>
                          <a:latin typeface="Calibri"/>
                        </a:rPr>
                        <a:t>High (Historical)</a:t>
                      </a:r>
                    </a:p>
                  </a:txBody>
                  <a:tcPr/>
                </a:tc>
              </a:tr>
              <a:tr h="678180">
                <a:tc>
                  <a:txBody>
                    <a:bodyPr/>
                    <a:lstStyle/>
                    <a:p>
                      <a:r>
                        <a:rPr sz="1100">
                          <a:solidFill>
                            <a:srgbClr val="111111"/>
                          </a:solidFill>
                          <a:latin typeface="Calibri"/>
                        </a:rPr>
                        <a:t>SEBI — Not Fit and Proper (Commodities)</a:t>
                      </a:r>
                    </a:p>
                  </a:txBody>
                  <a:tcPr>
                    <a:solidFill>
                      <a:srgbClr val="FFFFFF"/>
                    </a:solidFill>
                  </a:tcPr>
                </a:tc>
                <a:tc>
                  <a:txBody>
                    <a:bodyPr/>
                    <a:lstStyle/>
                    <a:p>
                      <a:r>
                        <a:rPr sz="1100">
                          <a:solidFill>
                            <a:srgbClr val="111111"/>
                          </a:solidFill>
                          <a:latin typeface="Calibri"/>
                        </a:rPr>
                        <a:t>Declared 'not fit and proper' as commodity derivative broker in Feb 2019 based on SFIO/EOW recommendations.</a:t>
                      </a:r>
                    </a:p>
                  </a:txBody>
                  <a:tcPr>
                    <a:solidFill>
                      <a:srgbClr val="FFFFFF"/>
                    </a:solidFill>
                  </a:tcPr>
                </a:tc>
                <a:tc>
                  <a:txBody>
                    <a:bodyPr/>
                    <a:lstStyle/>
                    <a:p>
                      <a:r>
                        <a:rPr sz="1100">
                          <a:solidFill>
                            <a:srgbClr val="111111"/>
                          </a:solidFill>
                          <a:latin typeface="Calibri"/>
                        </a:rPr>
                        <a:t>High (Historical)</a:t>
                      </a:r>
                    </a:p>
                  </a:txBody>
                  <a:tcPr>
                    <a:solidFill>
                      <a:srgbClr val="FFFFFF"/>
                    </a:solidFill>
                  </a:tcPr>
                </a:tc>
              </a:tr>
              <a:tr h="678180">
                <a:tc>
                  <a:txBody>
                    <a:bodyPr/>
                    <a:lstStyle/>
                    <a:p>
                      <a:r>
                        <a:rPr sz="1100">
                          <a:solidFill>
                            <a:srgbClr val="111111"/>
                          </a:solidFill>
                          <a:latin typeface="Calibri"/>
                        </a:rPr>
                        <a:t>Unauthorized Terminal Operations</a:t>
                      </a:r>
                    </a:p>
                  </a:txBody>
                  <a:tcPr/>
                </a:tc>
                <a:tc>
                  <a:txBody>
                    <a:bodyPr/>
                    <a:lstStyle/>
                    <a:p>
                      <a:r>
                        <a:rPr sz="1100">
                          <a:solidFill>
                            <a:srgbClr val="111111"/>
                          </a:solidFill>
                          <a:latin typeface="Calibri"/>
                        </a:rPr>
                        <a:t>13 NSE and 9 BSE terminals operating from undeclared locations including an unreported branch in Delhi.</a:t>
                      </a:r>
                    </a:p>
                  </a:txBody>
                  <a:tcPr/>
                </a:tc>
                <a:tc>
                  <a:txBody>
                    <a:bodyPr/>
                    <a:lstStyle/>
                    <a:p>
                      <a:r>
                        <a:rPr sz="1100">
                          <a:solidFill>
                            <a:srgbClr val="111111"/>
                          </a:solidFill>
                          <a:latin typeface="Calibri"/>
                        </a:rPr>
                        <a:t>Medium</a:t>
                      </a:r>
                    </a:p>
                  </a:txBody>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17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Trading Strategy</a:t>
            </a:r>
          </a:p>
        </p:txBody>
      </p:sp>
      <p:sp>
        <p:nvSpPr>
          <p:cNvPr id="11" name="TextBox 10"/>
          <p:cNvSpPr txBox="1"/>
          <p:nvPr/>
        </p:nvSpPr>
        <p:spPr>
          <a:xfrm>
            <a:off x="457200" y="1417320"/>
            <a:ext cx="5486400" cy="5029200"/>
          </a:xfrm>
          <a:prstGeom prst="rect">
            <a:avLst/>
          </a:prstGeom>
          <a:noFill/>
        </p:spPr>
        <p:txBody>
          <a:bodyPr wrap="square">
            <a:spAutoFit/>
          </a:bodyPr>
          <a:lstStyle/>
          <a:p>
            <a:r>
              <a:rPr sz="1100" b="0">
                <a:solidFill>
                  <a:srgbClr val="111111"/>
                </a:solidFill>
                <a:latin typeface="Calibri"/>
              </a:rPr>
              <a:t>Entry: INR 800-850. 15-20% discount to analyst consensus target — margin of safety. Position size: 3-5% of portfolio (institutional). Review: Quarterly. Downside exit: Stop-loss at INR 750 (-8% from CMP) on technical break with high volume. Upside exit: Sell 50% at INR 1,100-1,150 (30-40% gains) / Sell remaining at INR 1,200+ if multiples expand beyond 25x P/E.</a:t>
            </a:r>
          </a:p>
        </p:txBody>
      </p:sp>
      <p:sp>
        <p:nvSpPr>
          <p:cNvPr id="12" name="TextBox 11"/>
          <p:cNvSpPr txBox="1"/>
          <p:nvPr/>
        </p:nvSpPr>
        <p:spPr>
          <a:xfrm>
            <a:off x="6217920" y="1417320"/>
            <a:ext cx="5516575" cy="5029200"/>
          </a:xfrm>
          <a:prstGeom prst="rect">
            <a:avLst/>
          </a:prstGeom>
          <a:noFill/>
        </p:spPr>
        <p:txBody>
          <a:bodyPr wrap="square">
            <a:spAutoFit/>
          </a:bodyPr>
          <a:lstStyle/>
          <a:p>
            <a:pPr/>
            <a:r>
              <a:rPr sz="1100" b="0">
                <a:solidFill>
                  <a:srgbClr val="111111"/>
                </a:solidFill>
                <a:latin typeface="Calibri"/>
              </a:rPr>
              <a:t>- ARR contribution above 60% of net revenues</a:t>
            </a:r>
          </a:p>
          <a:p>
            <a:pPr/>
            <a:r>
              <a:rPr sz="1100" b="0">
                <a:solidFill>
                  <a:srgbClr val="111111"/>
                </a:solidFill>
                <a:latin typeface="Calibri"/>
              </a:rPr>
              <a:t>- AMC AUM growth above 25% YoY with net flows &gt; INR 10,000 Cr</a:t>
            </a:r>
          </a:p>
          <a:p>
            <a:pPr/>
            <a:r>
              <a:rPr sz="1100" b="0">
                <a:solidFill>
                  <a:srgbClr val="111111"/>
                </a:solidFill>
                <a:latin typeface="Calibri"/>
              </a:rPr>
              <a:t>- PWM AUM growth above 25% YoY with family count expansion</a:t>
            </a:r>
          </a:p>
          <a:p>
            <a:pPr/>
            <a:r>
              <a:rPr sz="1100" b="0">
                <a:solidFill>
                  <a:srgbClr val="111111"/>
                </a:solidFill>
                <a:latin typeface="Calibri"/>
              </a:rPr>
              <a:t>- Cost-to-income ratio declining</a:t>
            </a:r>
          </a:p>
          <a:p>
            <a:pPr/>
            <a:r>
              <a:rPr sz="11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18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Key Risks</a:t>
            </a:r>
          </a:p>
        </p:txBody>
      </p:sp>
      <p:sp>
        <p:nvSpPr>
          <p:cNvPr id="11" name="TextBox 10"/>
          <p:cNvSpPr txBox="1"/>
          <p:nvPr/>
        </p:nvSpPr>
        <p:spPr>
          <a:xfrm>
            <a:off x="457200" y="1417320"/>
            <a:ext cx="11277295" cy="5029200"/>
          </a:xfrm>
          <a:prstGeom prst="rect">
            <a:avLst/>
          </a:prstGeom>
          <a:noFill/>
        </p:spPr>
        <p:txBody>
          <a:bodyPr wrap="square">
            <a:spAutoFit/>
          </a:bodyPr>
          <a:lstStyle/>
          <a:p>
            <a:pPr/>
            <a:r>
              <a:rPr sz="1100" b="0">
                <a:solidFill>
                  <a:srgbClr val="111111"/>
                </a:solidFill>
                <a:latin typeface="Calibri"/>
              </a:rPr>
              <a:t>- SEBI regulatory headwinds on F&amp;O trading norms compressing cyclical broking revenues</a:t>
            </a:r>
          </a:p>
          <a:p>
            <a:pPr/>
            <a:r>
              <a:rPr sz="1100" b="0">
                <a:solidFill>
                  <a:srgbClr val="111111"/>
                </a:solidFill>
                <a:latin typeface="Calibri"/>
              </a:rPr>
              <a:t>- Q2FY26 profit declined 67.6% YoY and revenue 34.9% YoY due to regulatory changes — residual cyclicality</a:t>
            </a:r>
          </a:p>
          <a:p>
            <a:pPr/>
            <a:r>
              <a:rPr sz="1100" b="0">
                <a:solidFill>
                  <a:srgbClr val="111111"/>
                </a:solidFill>
                <a:latin typeface="Calibri"/>
              </a:rPr>
              <a:t>- Competitive intensity from discount brokers and fintech platforms compressing yields</a:t>
            </a:r>
          </a:p>
          <a:p>
            <a:pPr/>
            <a:r>
              <a:rPr sz="1100" b="0">
                <a:solidFill>
                  <a:srgbClr val="111111"/>
                </a:solidFill>
                <a:latin typeface="Calibri"/>
              </a:rPr>
              <a:t>- Forensic / governance: recurring SEBI matters require monitoring (Monitor Closely category)</a:t>
            </a:r>
          </a:p>
          <a:p>
            <a:pPr/>
            <a:r>
              <a:rPr sz="1100" b="0">
                <a:solidFill>
                  <a:srgbClr val="111111"/>
                </a:solidFill>
                <a:latin typeface="Calibri"/>
              </a:rPr>
              <a:t>- Mark-to-market volatility on the proprietary book</a:t>
            </a:r>
          </a:p>
          <a:p>
            <a:pPr/>
            <a:r>
              <a:rPr sz="11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8076895" y="0"/>
            <a:ext cx="3657600" cy="411480"/>
          </a:xfrm>
          <a:prstGeom prst="rect">
            <a:avLst/>
          </a:prstGeom>
          <a:noFill/>
        </p:spPr>
        <p:txBody>
          <a:bodyPr wrap="none" lIns="45720" rIns="45720" tIns="18288" bIns="18288">
            <a:spAutoFit/>
          </a:bodyPr>
          <a:lstStyle/>
          <a:p>
            <a:pPr algn="r"/>
            <a:r>
              <a:rPr sz="1100" b="1">
                <a:solidFill>
                  <a:srgbClr val="FFFFFF"/>
                </a:solidFill>
                <a:latin typeface="Calibri"/>
              </a:rPr>
              <a:t>MOFSL  |  Pratik Gupta  |  2026-04-28</a:t>
            </a:r>
          </a:p>
        </p:txBody>
      </p:sp>
      <p:sp>
        <p:nvSpPr>
          <p:cNvPr id="6" name="Rectangle 5"/>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537960"/>
            <a:ext cx="9905695"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9" name="TextBox 8"/>
          <p:cNvSpPr txBox="1"/>
          <p:nvPr/>
        </p:nvSpPr>
        <p:spPr>
          <a:xfrm>
            <a:off x="10362895" y="6537960"/>
            <a:ext cx="1371600" cy="320040"/>
          </a:xfrm>
          <a:prstGeom prst="rect">
            <a:avLst/>
          </a:prstGeom>
          <a:noFill/>
        </p:spPr>
        <p:txBody>
          <a:bodyPr wrap="none" lIns="45720" rIns="45720" tIns="18288" bIns="18288">
            <a:spAutoFit/>
          </a:bodyPr>
          <a:lstStyle/>
          <a:p>
            <a:pPr algn="r"/>
            <a:r>
              <a:rPr sz="900" b="0">
                <a:solidFill>
                  <a:srgbClr val="FFFFFF"/>
                </a:solidFill>
                <a:latin typeface="Calibri"/>
              </a:rPr>
              <a:t>Page 19 of 19</a:t>
            </a:r>
          </a:p>
        </p:txBody>
      </p:sp>
      <p:sp>
        <p:nvSpPr>
          <p:cNvPr id="10" name="TextBox 9"/>
          <p:cNvSpPr txBox="1"/>
          <p:nvPr/>
        </p:nvSpPr>
        <p:spPr>
          <a:xfrm>
            <a:off x="457200" y="548640"/>
            <a:ext cx="11277295" cy="502920"/>
          </a:xfrm>
          <a:prstGeom prst="rect">
            <a:avLst/>
          </a:prstGeom>
          <a:noFill/>
        </p:spPr>
        <p:txBody>
          <a:bodyPr wrap="square">
            <a:spAutoFit/>
          </a:bodyPr>
          <a:lstStyle/>
          <a:p>
            <a:r>
              <a:rPr sz="2600" b="1">
                <a:solidFill>
                  <a:srgbClr val="1F4690"/>
                </a:solidFill>
                <a:latin typeface="Calibri"/>
              </a:rPr>
              <a:t>Disclaimer</a:t>
            </a:r>
          </a:p>
        </p:txBody>
      </p:sp>
      <p:sp>
        <p:nvSpPr>
          <p:cNvPr id="11" name="TextBox 10"/>
          <p:cNvSpPr txBox="1"/>
          <p:nvPr/>
        </p:nvSpPr>
        <p:spPr>
          <a:xfrm>
            <a:off x="457200" y="1417320"/>
            <a:ext cx="11277295" cy="5029200"/>
          </a:xfrm>
          <a:prstGeom prst="rect">
            <a:avLst/>
          </a:prstGeom>
          <a:noFill/>
        </p:spPr>
        <p:txBody>
          <a:bodyPr wrap="square">
            <a:spAutoFit/>
          </a:bodyPr>
          <a:lstStyle/>
          <a:p>
            <a:r>
              <a:rPr sz="1100" b="0">
                <a:solidFill>
                  <a:srgbClr val="111111"/>
                </a:solidFill>
                <a:latin typeface="Calibri"/>
              </a:rPr>
              <a:t>For internal research workflow validation only. Final legal disclaimer copy will be supplied from approved assets.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