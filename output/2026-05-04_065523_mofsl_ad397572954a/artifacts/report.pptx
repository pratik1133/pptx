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MOFSL | BUY | Annuity-Led Re-Rating in Progress</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 (INR)</a:t>
            </a:r>
          </a:p>
          <a:p>
            <a:pPr algn="ctr"/>
            <a:r>
              <a:rPr sz="2000" b="1">
                <a:solidFill>
                  <a:srgbClr val="1F4690"/>
                </a:solidFill>
                <a:latin typeface="Calibri"/>
              </a:rPr>
              <a:t>INR 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 (INR)</a:t>
            </a:r>
          </a:p>
          <a:p>
            <a:pPr algn="ctr"/>
            <a:r>
              <a:rPr sz="2000" b="1">
                <a:solidFill>
                  <a:srgbClr val="1F4690"/>
                </a:solidFill>
                <a:latin typeface="Calibri"/>
              </a:rPr>
              <a:t>INR 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on MOFSL with a BUY. The franchise is structurally migrating from cyclical broking revenue toward an annuity-driven mix. ARR now constitutes 65% of net revenues, fundamentally improving earnings quality. The market has yet to price this shift, leaving meaningful upside to analyst consensus.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ARR at 65% of net revenues with management guiding for further expansion, de-risking the earnings base.</a:t>
            </a:r>
          </a:p>
          <a:p>
            <a:pPr/>
            <a:r>
              <a:rPr sz="1100" b="0">
                <a:solidFill>
                  <a:srgbClr val="111111"/>
                </a:solidFill>
                <a:latin typeface="Calibri"/>
              </a:rPr>
              <a:t>- Total AUM compounding strongly YoY, with 91% of AMC AUM outperforming benchmarks over three years.</a:t>
            </a:r>
          </a:p>
          <a:p>
            <a:pPr/>
            <a:r>
              <a:rPr sz="1100" b="0">
                <a:solidFill>
                  <a:srgbClr val="111111"/>
                </a:solidFill>
                <a:latin typeface="Calibri"/>
              </a:rPr>
              <a:t>- Private Wealth AUM growing rapidly with a significant increase in family count, raising annuity fee visibility.</a:t>
            </a:r>
          </a:p>
          <a:p>
            <a:pPr/>
            <a:r>
              <a:rPr sz="1100" b="0">
                <a:solidFill>
                  <a:srgbClr val="111111"/>
                </a:solidFill>
                <a:latin typeface="Calibri"/>
              </a:rPr>
              <a:t>- AA+ (Stable) credit upgrade from ICRA endorses balance-sheet strength and reinvestment capacity.</a:t>
            </a:r>
          </a:p>
          <a:p>
            <a:pPr/>
            <a:r>
              <a:rPr sz="1100" b="0">
                <a:solidFill>
                  <a:srgbClr val="111111"/>
                </a:solidFill>
                <a:latin typeface="Calibri"/>
              </a:rPr>
              <a:t>- Probability-weighted target reflects a balanced view across regulatory scenarios.</a:t>
            </a:r>
          </a:p>
          <a:p>
            <a:pPr/>
            <a:r>
              <a:rPr sz="1100" b="0">
                <a:solidFill>
                  <a:srgbClr val="111111"/>
                </a:solidFill>
                <a:latin typeface="Calibri"/>
              </a:rPr>
              <a:t>- Reinvestment Quality score of 13/15 signals disciplined capital allocation into fee-based businesses.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Founded in 1987, MOFSL has evolved from a research-driven equity broker into a comprehensive financial-services platform spanning Capital Markets, Asset &amp; Wealth Management, Housing Finance, and Alternative Investments. The firm serves over 1.6 million customers across 550+ cities via 2,500+ business locations, with research coverage of 300+ companies as an enduring competitive moat.</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(INR) INR 822.9</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(INR) INR 1127.0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Total AUM (lakh cr)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Indian Capital Markets &amp; Wealth</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India's financial services sector is entering a structural expansion phase. The country is expected to have 16.57 lakh HNWIs by 2027 and become the fourth-largest private wealth market by 2028. Mutual fund penetration at 5–6% of GDP reflects substantial latent opportunity, while private credit hit a record USD 9.0 billion in H1 2025, up 53% YoY. Financial-sector profits are projected to nearly double by FY30.</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UHNWI population projected to rise 58.4%, expanding the addressable private wealth market.</a:t>
            </a:r>
          </a:p>
          <a:p>
            <a:pPr/>
            <a:r>
              <a:rPr sz="1100" b="0">
                <a:solidFill>
                  <a:srgbClr val="111111"/>
                </a:solidFill>
                <a:latin typeface="Calibri"/>
              </a:rPr>
              <a:t>- NBFC sector expected to grow at 16% annually, underpinning demand for capital-market intermediation.</a:t>
            </a:r>
          </a:p>
          <a:p>
            <a:pPr/>
            <a:r>
              <a:rPr sz="1100" b="0">
                <a:solidFill>
                  <a:srgbClr val="111111"/>
                </a:solidFill>
                <a:latin typeface="Calibri"/>
              </a:rPr>
              <a:t>- Mutual fund penetration at 5–6% versus 15–20% in developed markets signals a long runway.</a:t>
            </a:r>
          </a:p>
          <a:p>
            <a:pPr/>
            <a:r>
              <a:rPr sz="1100" b="0">
                <a:solidFill>
                  <a:srgbClr val="111111"/>
                </a:solidFill>
                <a:latin typeface="Calibri"/>
              </a:rPr>
              <a:t>- Private credit reaching record volumes diversifies institutional demand beyond public equity.</a:t>
            </a:r>
          </a:p>
          <a:p>
            <a:pPr/>
            <a:r>
              <a:rPr sz="1100" b="0">
                <a:solidFill>
                  <a:srgbClr val="111111"/>
                </a:solidFill>
                <a:latin typeface="Calibri"/>
              </a:rPr>
              <a:t>- Retail equity participation rising steadily, supporting broking and distribution volumes.</a:t>
            </a:r>
          </a:p>
          <a:p>
            <a:pPr/>
            <a:r>
              <a:rPr sz="1100" b="0">
                <a:solidFill>
                  <a:srgbClr val="111111"/>
                </a:solidFill>
                <a:latin typeface="Calibri"/>
              </a:rPr>
              <a:t>- Regulatory emphasis on investor protection and product suitability favours established, compliant platforms.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 — Why MOFSL Now</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ARR Mix Inflection: Annuity revenues at 65% of net revenues, guided higher, re-rating earnings quality.</a:t>
            </a:r>
          </a:p>
          <a:p>
            <a:pPr/>
            <a:r>
              <a:rPr sz="1100" b="0">
                <a:solidFill>
                  <a:srgbClr val="111111"/>
                </a:solidFill>
                <a:latin typeface="Calibri"/>
              </a:rPr>
              <a:t>- AUM Scale: Total AUM growing strongly YoY with 91% of AMC AUM outperforming three-year benchmarks.</a:t>
            </a:r>
          </a:p>
          <a:p>
            <a:pPr/>
            <a:r>
              <a:rPr sz="1100" b="0">
                <a:solidFill>
                  <a:srgbClr val="111111"/>
                </a:solidFill>
                <a:latin typeface="Calibri"/>
              </a:rPr>
              <a:t>- Wealth Engine: Private Wealth AUM expanding with family count up sharply, deepening fee revenue visibility.</a:t>
            </a:r>
          </a:p>
          <a:p>
            <a:pPr/>
            <a:r>
              <a:rPr sz="1100" b="0">
                <a:solidFill>
                  <a:srgbClr val="111111"/>
                </a:solidFill>
                <a:latin typeface="Calibri"/>
              </a:rPr>
              <a:t>- Balance-Sheet Strength: AA+ (Stable) upgrade by ICRA validates capital adequacy and reinvestment capacity.</a:t>
            </a:r>
          </a:p>
          <a:p>
            <a:pPr/>
            <a:r>
              <a:rPr sz="1100" b="0">
                <a:solidFill>
                  <a:srgbClr val="111111"/>
                </a:solidFill>
                <a:latin typeface="Calibri"/>
              </a:rPr>
              <a:t>- Cyclicality Buffer: Diversified platform absorbs broking volatility via asset and wealth management cushion.</a:t>
            </a:r>
          </a:p>
          <a:p>
            <a:pPr/>
            <a:r>
              <a:rPr sz="1100" b="0">
                <a:solidFill>
                  <a:srgbClr val="111111"/>
                </a:solidFill>
                <a:latin typeface="Calibri"/>
              </a:rPr>
              <a:t>- Valuation Discount: CMP implies a material discount to analyst consensus, offering an asymmetric entry point.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Mix — Revenue and EBITDA Contribution</a:t>
            </a:r>
          </a:p>
        </p:txBody>
      </p:sp>
      <p:pic>
        <p:nvPicPr>
          <p:cNvPr id="11" name="Picture 10" descr="image.png"/>
          <p:cNvPicPr>
            <a:picLocks noChangeAspect="1"/>
          </p:cNvPicPr>
          <p:nvPr/>
        </p:nvPicPr>
        <p:blipFill>
          <a:blip r:embed="rId3"/>
          <a:stretch>
            <a:fillRect/>
          </a:stretch>
        </p:blipFill>
        <p:spPr>
          <a:xfrm>
            <a:off x="5120640" y="1417320"/>
            <a:ext cx="6613855" cy="2194560"/>
          </a:xfrm>
          <a:prstGeom prst="rect">
            <a:avLst/>
          </a:prstGeom>
        </p:spPr>
      </p:pic>
      <p:sp>
        <p:nvSpPr>
          <p:cNvPr id="12" name="TextBox 11"/>
          <p:cNvSpPr txBox="1"/>
          <p:nvPr/>
        </p:nvSpPr>
        <p:spPr>
          <a:xfrm>
            <a:off x="457200" y="1417320"/>
            <a:ext cx="4389120" cy="2194560"/>
          </a:xfrm>
          <a:prstGeom prst="rect">
            <a:avLst/>
          </a:prstGeom>
          <a:noFill/>
        </p:spPr>
        <p:txBody>
          <a:bodyPr wrap="square">
            <a:spAutoFit/>
          </a:bodyPr>
          <a:lstStyle/>
          <a:p>
            <a:r>
              <a:rPr sz="1100" b="0">
                <a:solidFill>
                  <a:srgbClr val="111111"/>
                </a:solidFill>
                <a:latin typeface="Calibri"/>
              </a:rPr>
              <a:t>MOFSL's revenue mix is diversifying away from transactional broking toward recurring asset and wealth management fees. The Asset Management and Private Wealth segments together account for a growing share of both revenues and EBITDA, structurally improving earnings predictability across market cycles.</a:t>
            </a:r>
          </a:p>
        </p:txBody>
      </p:sp>
      <p:graphicFrame>
        <p:nvGraphicFramePr>
          <p:cNvPr id="13" name="Table 12"/>
          <p:cNvGraphicFramePr>
            <a:graphicFrameLocks noGrp="1"/>
          </p:cNvGraphicFramePr>
          <p:nvPr/>
        </p:nvGraphicFramePr>
        <p:xfrm>
          <a:off x="457200" y="3749039"/>
          <a:ext cx="11277295" cy="2697480"/>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449580">
                <a:tc>
                  <a:txBody>
                    <a:bodyPr/>
                    <a:lstStyle/>
                    <a:p>
                      <a:r>
                        <a:rPr b="1" sz="1100">
                          <a:solidFill>
                            <a:srgbClr val="FFFFFF"/>
                          </a:solidFill>
                          <a:latin typeface="Calibri"/>
                        </a:rPr>
                        <a:t>Segment</a:t>
                      </a:r>
                    </a:p>
                  </a:txBody>
                  <a:tcPr>
                    <a:solidFill>
                      <a:srgbClr val="1F4690"/>
                    </a:solidFill>
                  </a:tcPr>
                </a:tc>
                <a:tc>
                  <a:txBody>
                    <a:bodyPr/>
                    <a:lstStyle/>
                    <a:p>
                      <a:r>
                        <a:rPr b="1" sz="1100">
                          <a:solidFill>
                            <a:srgbClr val="FFFFFF"/>
                          </a:solidFill>
                          <a:latin typeface="Calibri"/>
                        </a:rPr>
                        <a:t>Rev Share (%)</a:t>
                      </a:r>
                    </a:p>
                  </a:txBody>
                  <a:tcPr>
                    <a:solidFill>
                      <a:srgbClr val="1F4690"/>
                    </a:solidFill>
                  </a:tcPr>
                </a:tc>
                <a:tc>
                  <a:txBody>
                    <a:bodyPr/>
                    <a:lstStyle/>
                    <a:p>
                      <a:r>
                        <a:rPr b="1" sz="1100">
                          <a:solidFill>
                            <a:srgbClr val="FFFFFF"/>
                          </a:solidFill>
                          <a:latin typeface="Calibri"/>
                        </a:rPr>
                        <a:t>EBITDA Share (%)</a:t>
                      </a:r>
                    </a:p>
                  </a:txBody>
                  <a:tcPr>
                    <a:solidFill>
                      <a:srgbClr val="1F4690"/>
                    </a:solidFill>
                  </a:tcPr>
                </a:tc>
                <a:tc>
                  <a:txBody>
                    <a:bodyPr/>
                    <a:lstStyle/>
                    <a:p>
                      <a:r>
                        <a:rPr b="1" sz="1100">
                          <a:solidFill>
                            <a:srgbClr val="FFFFFF"/>
                          </a:solidFill>
                          <a:latin typeface="Calibri"/>
                        </a:rPr>
                        <a:t>Growth</a:t>
                      </a:r>
                    </a:p>
                  </a:txBody>
                  <a:tcPr>
                    <a:solidFill>
                      <a:srgbClr val="1F4690"/>
                    </a:solidFill>
                  </a:tcPr>
                </a:tc>
                <a:tc>
                  <a:txBody>
                    <a:bodyPr/>
                    <a:lstStyle/>
                    <a:p>
                      <a:r>
                        <a:rPr b="1" sz="1100">
                          <a:solidFill>
                            <a:srgbClr val="FFFFFF"/>
                          </a:solidFill>
                          <a:latin typeface="Calibri"/>
                        </a:rPr>
                        <a:t>AUM Metric</a:t>
                      </a:r>
                    </a:p>
                  </a:txBody>
                  <a:tcPr>
                    <a:solidFill>
                      <a:srgbClr val="1F4690"/>
                    </a:solidFill>
                  </a:tcPr>
                </a:tc>
                <a:tc>
                  <a:txBody>
                    <a:bodyPr/>
                    <a:lstStyle/>
                    <a:p>
                      <a:r>
                        <a:rPr b="1" sz="1100">
                          <a:solidFill>
                            <a:srgbClr val="FFFFFF"/>
                          </a:solidFill>
                          <a:latin typeface="Calibri"/>
                        </a:rPr>
                        <a:t>AUM Value</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r>
              <a:tr h="449580">
                <a:tc>
                  <a:txBody>
                    <a:bodyPr/>
                    <a:lstStyle/>
                    <a:p>
                      <a:r>
                        <a:rPr sz="1100">
                          <a:solidFill>
                            <a:srgbClr val="111111"/>
                          </a:solidFill>
                          <a:latin typeface="Calibri"/>
                        </a:rPr>
                        <a:t>Capital Markets (Broking + IB)</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Brokerage Rev YoY</a:t>
                      </a:r>
                    </a:p>
                  </a:txBody>
                  <a:tcPr/>
                </a:tc>
                <a:tc>
                  <a:txBody>
                    <a:bodyPr/>
                    <a:lstStyle/>
                    <a:p>
                      <a:r>
                        <a:rPr sz="1100">
                          <a:solidFill>
                            <a:srgbClr val="111111"/>
                          </a:solidFill>
                          <a:latin typeface="Calibri"/>
                        </a:rPr>
                        <a:t>-24%</a:t>
                      </a:r>
                    </a:p>
                  </a:txBody>
                  <a:tcPr/>
                </a:tc>
                <a:tc>
                  <a:txBody>
                    <a:bodyPr/>
                    <a:lstStyle/>
                    <a:p>
                      <a:r>
                        <a:rPr sz="1100">
                          <a:solidFill>
                            <a:srgbClr val="111111"/>
                          </a:solidFill>
                          <a:latin typeface="Calibri"/>
                        </a:rPr>
                        <a:t>Equity, derivatives, commodity, currency trading + institutional services and investment banking. Brokerage now contributes only 30% of total revenue, down from historical highs.</a:t>
                      </a:r>
                    </a:p>
                  </a:txBody>
                  <a:tcPr/>
                </a:tc>
              </a:tr>
              <a:tr h="449580">
                <a:tc>
                  <a:txBody>
                    <a:bodyPr/>
                    <a:lstStyle/>
                    <a:p>
                      <a:r>
                        <a:rPr sz="1100">
                          <a:solidFill>
                            <a:srgbClr val="111111"/>
                          </a:solidFill>
                          <a:latin typeface="Calibri"/>
                        </a:rPr>
                        <a:t>Asset Management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AMC AUM</a:t>
                      </a:r>
                    </a:p>
                  </a:txBody>
                  <a:tcPr>
                    <a:solidFill>
                      <a:srgbClr val="FFFFFF"/>
                    </a:solidFill>
                  </a:tcPr>
                </a:tc>
                <a:tc>
                  <a:txBody>
                    <a:bodyPr/>
                    <a:lstStyle/>
                    <a:p>
                      <a:r>
                        <a:rPr sz="1100">
                          <a:solidFill>
                            <a:srgbClr val="111111"/>
                          </a:solidFill>
                          <a:latin typeface="Calibri"/>
                        </a:rPr>
                        <a:t>INR 1.89L Cr (+33% YoY)</a:t>
                      </a:r>
                    </a:p>
                  </a:txBody>
                  <a:tcPr>
                    <a:solidFill>
                      <a:srgbClr val="FFFFFF"/>
                    </a:solidFill>
                  </a:tcPr>
                </a:tc>
                <a:tc>
                  <a:txBody>
                    <a:bodyPr/>
                    <a:lstStyle/>
                    <a:p>
                      <a:r>
                        <a:rPr sz="1100">
                          <a:solidFill>
                            <a:srgbClr val="111111"/>
                          </a:solidFill>
                          <a:latin typeface="Calibri"/>
                        </a:rPr>
                        <a:t>Mutual funds and PMS. 91% of AUM outperforming benchmarks over 3 years.</a:t>
                      </a:r>
                    </a:p>
                  </a:txBody>
                  <a:tcPr>
                    <a:solidFill>
                      <a:srgbClr val="FFFFFF"/>
                    </a:solidFill>
                  </a:tcPr>
                </a:tc>
              </a:tr>
              <a:tr h="449580">
                <a:tc>
                  <a:txBody>
                    <a:bodyPr/>
                    <a:lstStyle/>
                    <a:p>
                      <a:r>
                        <a:rPr sz="1100">
                          <a:solidFill>
                            <a:srgbClr val="111111"/>
                          </a:solidFill>
                          <a:latin typeface="Calibri"/>
                        </a:rPr>
                        <a:t>Private Wealth Management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PWM AUM</a:t>
                      </a:r>
                    </a:p>
                  </a:txBody>
                  <a:tcPr/>
                </a:tc>
                <a:tc>
                  <a:txBody>
                    <a:bodyPr/>
                    <a:lstStyle/>
                    <a:p>
                      <a:r>
                        <a:rPr sz="1100">
                          <a:solidFill>
                            <a:srgbClr val="111111"/>
                          </a:solidFill>
                          <a:latin typeface="Calibri"/>
                        </a:rPr>
                        <a:t>INR 1.96L Cr (+31% YoY)</a:t>
                      </a:r>
                    </a:p>
                  </a:txBody>
                  <a:tcPr/>
                </a:tc>
                <a:tc>
                  <a:txBody>
                    <a:bodyPr/>
                    <a:lstStyle/>
                    <a:p>
                      <a:r>
                        <a:rPr sz="1100">
                          <a:solidFill>
                            <a:srgbClr val="111111"/>
                          </a:solidFill>
                          <a:latin typeface="Calibri"/>
                        </a:rPr>
                        <a:t>HNI/UHNI advisory. Family count up 41% YoY.</a:t>
                      </a:r>
                    </a:p>
                  </a:txBody>
                  <a:tcPr/>
                </a:tc>
              </a:tr>
              <a:tr h="449580">
                <a:tc>
                  <a:txBody>
                    <a:bodyPr/>
                    <a:lstStyle/>
                    <a:p>
                      <a:r>
                        <a:rPr sz="1100">
                          <a:solidFill>
                            <a:srgbClr val="111111"/>
                          </a:solidFill>
                          <a:latin typeface="Calibri"/>
                        </a:rPr>
                        <a:t>Housing Finance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Loan Book</a:t>
                      </a:r>
                    </a:p>
                  </a:txBody>
                  <a:tcPr>
                    <a:solidFill>
                      <a:srgbClr val="FFFFFF"/>
                    </a:solidFill>
                  </a:tcPr>
                </a:tc>
                <a:tc>
                  <a:txBody>
                    <a:bodyPr/>
                    <a:lstStyle/>
                    <a:p>
                      <a:r>
                        <a:rPr sz="1100">
                          <a:solidFill>
                            <a:srgbClr val="111111"/>
                          </a:solidFill>
                          <a:latin typeface="Calibri"/>
                        </a:rPr>
                        <a:t>INR 6,630 Cr (+25% YoY)</a:t>
                      </a:r>
                    </a:p>
                  </a:txBody>
                  <a:tcPr>
                    <a:solidFill>
                      <a:srgbClr val="FFFFFF"/>
                    </a:solidFill>
                  </a:tcPr>
                </a:tc>
                <a:tc>
                  <a:txBody>
                    <a:bodyPr/>
                    <a:lstStyle/>
                    <a:p>
                      <a:r>
                        <a:rPr sz="1100">
                          <a:solidFill>
                            <a:srgbClr val="111111"/>
                          </a:solidFill>
                          <a:latin typeface="Calibri"/>
                        </a:rPr>
                        <a:t>Retail mortgage lending — affordable and mid-segment.</a:t>
                      </a:r>
                    </a:p>
                  </a:txBody>
                  <a:tcPr>
                    <a:solidFill>
                      <a:srgbClr val="FFFFFF"/>
                    </a:solidFill>
                  </a:tcPr>
                </a:tc>
              </a:tr>
              <a:tr h="449580">
                <a:tc>
                  <a:txBody>
                    <a:bodyPr/>
                    <a:lstStyle/>
                    <a:p>
                      <a:r>
                        <a:rPr sz="1100">
                          <a:solidFill>
                            <a:srgbClr val="111111"/>
                          </a:solidFill>
                          <a:latin typeface="Calibri"/>
                        </a:rPr>
                        <a:t>Alternative Investments</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Carry Income</a:t>
                      </a:r>
                    </a:p>
                  </a:txBody>
                  <a:tcPr/>
                </a:tc>
                <a:tc>
                  <a:txBody>
                    <a:bodyPr/>
                    <a:lstStyle/>
                    <a:p>
                      <a:r>
                        <a:rPr sz="1100">
                          <a:solidFill>
                            <a:srgbClr val="111111"/>
                          </a:solidFill>
                          <a:latin typeface="Calibri"/>
                        </a:rPr>
                        <a:t>INR 58 Cr recurring</a:t>
                      </a:r>
                    </a:p>
                  </a:txBody>
                  <a:tcPr/>
                </a:tc>
                <a:tc>
                  <a:txBody>
                    <a:bodyPr/>
                    <a:lstStyle/>
                    <a:p>
                      <a:r>
                        <a:rPr sz="1100">
                          <a:solidFill>
                            <a:srgbClr val="111111"/>
                          </a:solidFill>
                          <a:latin typeface="Calibri"/>
                        </a:rPr>
                        <a:t>Private credit, real estate, alternatives.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revenue has compounded significantly across the review period, driven by AUM expansion in asset management and private wealth. Fee-based revenues are increasingly dominant, reducing dependence on transaction volumes. FY26E and beyond reflect continued AUM-led growth with operating leverage benefits.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Profitability — PAT Trend</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PAT has compounded strongly over the medium term, supported by AUM fees and operating leverage. Q2FY26 saw a meaningful YoY decline driven by regulatory changes to F&amp;O norms — illustrating residual cyclicality. The broking segment's share of earnings is expected to moderate as AMC and wealth contributions grow, improving through-cycle earnings stability.</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PAT — Cyclicality and Recovery Pattern</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 (INR cr)</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a:t>
                      </a:r>
                    </a:p>
                  </a:txBody>
                  <a:tcPr/>
                </a:tc>
              </a:tr>
            </a:tbl>
          </a:graphicData>
        </a:graphic>
      </p:graphicFrame>
      <p:sp>
        <p:nvSpPr>
          <p:cNvPr id="12" name="TextBox 11"/>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Quarterly PAT reflects the impact of SEBI regulatory changes on F&amp;O norms in H1FY26. The AMC and wealth segments provide a partial offset; recovery trajectory depends on normalisation of broking volumes and continued AUM growth.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Financial Ratios — FY22A to FY28E</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253032"/>
                <a:gridCol w="1253032"/>
                <a:gridCol w="1253032"/>
                <a:gridCol w="1253032"/>
                <a:gridCol w="1253032"/>
                <a:gridCol w="1253032"/>
                <a:gridCol w="1253032"/>
                <a:gridCol w="1253032"/>
                <a:gridCol w="1253039"/>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Unit</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37.5</a:t>
                      </a:r>
                    </a:p>
                  </a:txBody>
                  <a:tcPr>
                    <a:solidFill>
                      <a:srgbClr val="FFFFFF"/>
                    </a:solidFill>
                  </a:tcPr>
                </a:tc>
                <a:tc>
                  <a:txBody>
                    <a:bodyPr/>
                    <a:lstStyle/>
                    <a:p>
                      <a:r>
                        <a:rPr sz="1100">
                          <a:solidFill>
                            <a:srgbClr val="111111"/>
                          </a:solidFill>
                          <a:latin typeface="Calibri"/>
                        </a:rPr>
                        <a:t>52.3</a:t>
                      </a:r>
                    </a:p>
                  </a:txBody>
                  <a:tcPr>
                    <a:solidFill>
                      <a:srgbClr val="FFFFFF"/>
                    </a:solidFill>
                  </a:tcPr>
                </a:tc>
                <a:tc>
                  <a:txBody>
                    <a:bodyPr/>
                    <a:lstStyle/>
                    <a:p>
                      <a:r>
                        <a:rPr sz="1100">
                          <a:solidFill>
                            <a:srgbClr val="111111"/>
                          </a:solidFill>
                          <a:latin typeface="Calibri"/>
                        </a:rPr>
                        <a:t>20.1</a:t>
                      </a:r>
                    </a:p>
                  </a:txBody>
                  <a:tcPr>
                    <a:solidFill>
                      <a:srgbClr val="FFFFFF"/>
                    </a:solidFill>
                  </a:tcPr>
                </a:tc>
                <a:tc>
                  <a:txBody>
                    <a:bodyPr/>
                    <a:lstStyle/>
                    <a:p>
                      <a:r>
                        <a:rPr sz="1100">
                          <a:solidFill>
                            <a:srgbClr val="111111"/>
                          </a:solidFill>
                          <a:latin typeface="Calibri"/>
                        </a:rPr>
                        <a:t>19.7</a:t>
                      </a:r>
                    </a:p>
                  </a:txBody>
                  <a:tcPr>
                    <a:solidFill>
                      <a:srgbClr val="FFFFFF"/>
                    </a:solidFill>
                  </a:tcPr>
                </a:tc>
                <a:tc>
                  <a:txBody>
                    <a:bodyPr/>
                    <a:lstStyle/>
                    <a:p>
                      <a:r>
                        <a:rPr sz="1100">
                          <a:solidFill>
                            <a:srgbClr val="111111"/>
                          </a:solidFill>
                          <a:latin typeface="Calibri"/>
                        </a:rPr>
                        <a:t>16.1</a:t>
                      </a:r>
                    </a:p>
                  </a:txBody>
                  <a:tcPr>
                    <a:solidFill>
                      <a:srgbClr val="FFFFFF"/>
                    </a:solidFill>
                  </a:tcPr>
                </a:tc>
                <a:tc>
                  <a:txBody>
                    <a:bodyPr/>
                    <a:lstStyle/>
                    <a:p>
                      <a:r>
                        <a:rPr sz="1100">
                          <a:solidFill>
                            <a:srgbClr val="111111"/>
                          </a:solidFill>
                          <a:latin typeface="Calibri"/>
                        </a:rPr>
                        <a:t>12.4</a:t>
                      </a:r>
                    </a:p>
                  </a:txBody>
                  <a:tcPr>
                    <a:solidFill>
                      <a:srgbClr val="FFFFFF"/>
                    </a:solidFill>
                  </a:tcPr>
                </a:tc>
                <a:tc>
                  <a:txBody>
                    <a:bodyPr/>
                    <a:lstStyle/>
                    <a:p>
                      <a:r>
                        <a:rPr sz="1100">
                          <a:solidFill>
                            <a:srgbClr val="111111"/>
                          </a:solidFill>
                          <a:latin typeface="Calibri"/>
                        </a:rPr>
                        <a:t>9.6</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x</a:t>
                      </a:r>
                    </a:p>
                  </a:txBody>
                  <a:tcPr/>
                </a:tc>
                <a:tc>
                  <a:txBody>
                    <a:bodyPr/>
                    <a:lstStyle/>
                    <a:p>
                      <a:r>
                        <a:rPr sz="1100">
                          <a:solidFill>
                            <a:srgbClr val="111111"/>
                          </a:solidFill>
                          <a:latin typeface="Calibri"/>
                        </a:rPr>
                        <a:t>8.7</a:t>
                      </a:r>
                    </a:p>
                  </a:txBody>
                  <a:tcPr/>
                </a:tc>
                <a:tc>
                  <a:txBody>
                    <a:bodyPr/>
                    <a:lstStyle/>
                    <a:p>
                      <a:r>
                        <a:rPr sz="1100">
                          <a:solidFill>
                            <a:srgbClr val="111111"/>
                          </a:solidFill>
                          <a:latin typeface="Calibri"/>
                        </a:rPr>
                        <a:t>7.8</a:t>
                      </a:r>
                    </a:p>
                  </a:txBody>
                  <a:tcPr/>
                </a:tc>
                <a:tc>
                  <a:txBody>
                    <a:bodyPr/>
                    <a:lstStyle/>
                    <a:p>
                      <a:r>
                        <a:rPr sz="1100">
                          <a:solidFill>
                            <a:srgbClr val="111111"/>
                          </a:solidFill>
                          <a:latin typeface="Calibri"/>
                        </a:rPr>
                        <a:t>5.6</a:t>
                      </a:r>
                    </a:p>
                  </a:txBody>
                  <a:tcPr/>
                </a:tc>
                <a:tc>
                  <a:txBody>
                    <a:bodyPr/>
                    <a:lstStyle/>
                    <a:p>
                      <a:r>
                        <a:rPr sz="1100">
                          <a:solidFill>
                            <a:srgbClr val="111111"/>
                          </a:solidFill>
                          <a:latin typeface="Calibri"/>
                        </a:rPr>
                        <a:t>4.5</a:t>
                      </a:r>
                    </a:p>
                  </a:txBody>
                  <a:tcPr/>
                </a:tc>
                <a:tc>
                  <a:txBody>
                    <a:bodyPr/>
                    <a:lstStyle/>
                    <a:p>
                      <a:r>
                        <a:rPr sz="1100">
                          <a:solidFill>
                            <a:srgbClr val="111111"/>
                          </a:solidFill>
                          <a:latin typeface="Calibri"/>
                        </a:rPr>
                        <a:t>3.6</a:t>
                      </a:r>
                    </a:p>
                  </a:txBody>
                  <a:tcPr/>
                </a:tc>
                <a:tc>
                  <a:txBody>
                    <a:bodyPr/>
                    <a:lstStyle/>
                    <a:p>
                      <a:r>
                        <a:rPr sz="1100">
                          <a:solidFill>
                            <a:srgbClr val="111111"/>
                          </a:solidFill>
                          <a:latin typeface="Calibri"/>
                        </a:rPr>
                        <a:t>2.9</a:t>
                      </a:r>
                    </a:p>
                  </a:txBody>
                  <a:tcPr/>
                </a:tc>
                <a:tc>
                  <a:txBody>
                    <a:bodyPr/>
                    <a:lstStyle/>
                    <a:p>
                      <a:r>
                        <a:rPr sz="1100">
                          <a:solidFill>
                            <a:srgbClr val="111111"/>
                          </a:solidFill>
                          <a:latin typeface="Calibri"/>
                        </a:rPr>
                        <a:t>2.3</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9.0</a:t>
                      </a:r>
                    </a:p>
                  </a:txBody>
                  <a:tcPr>
                    <a:solidFill>
                      <a:srgbClr val="FFFFFF"/>
                    </a:solidFill>
                  </a:tcPr>
                </a:tc>
                <a:tc>
                  <a:txBody>
                    <a:bodyPr/>
                    <a:lstStyle/>
                    <a:p>
                      <a:r>
                        <a:rPr sz="1100">
                          <a:solidFill>
                            <a:srgbClr val="111111"/>
                          </a:solidFill>
                          <a:latin typeface="Calibri"/>
                        </a:rPr>
                        <a:t>10.3</a:t>
                      </a:r>
                    </a:p>
                  </a:txBody>
                  <a:tcPr>
                    <a:solidFill>
                      <a:srgbClr val="FFFFFF"/>
                    </a:solidFill>
                  </a:tcPr>
                </a:tc>
                <a:tc>
                  <a:txBody>
                    <a:bodyPr/>
                    <a:lstStyle/>
                    <a:p>
                      <a:r>
                        <a:rPr sz="1100">
                          <a:solidFill>
                            <a:srgbClr val="111111"/>
                          </a:solidFill>
                          <a:latin typeface="Calibri"/>
                        </a:rPr>
                        <a:t>9.5</a:t>
                      </a:r>
                    </a:p>
                  </a:txBody>
                  <a:tcPr>
                    <a:solidFill>
                      <a:srgbClr val="FFFFFF"/>
                    </a:solidFill>
                  </a:tcPr>
                </a:tc>
                <a:tc>
                  <a:txBody>
                    <a:bodyPr/>
                    <a:lstStyle/>
                    <a:p>
                      <a:r>
                        <a:rPr sz="1100">
                          <a:solidFill>
                            <a:srgbClr val="111111"/>
                          </a:solidFill>
                          <a:latin typeface="Calibri"/>
                        </a:rPr>
                        <a:t>11.4</a:t>
                      </a:r>
                    </a:p>
                  </a:txBody>
                  <a:tcPr>
                    <a:solidFill>
                      <a:srgbClr val="FFFFFF"/>
                    </a:solidFill>
                  </a:tcPr>
                </a:tc>
                <a:tc>
                  <a:txBody>
                    <a:bodyPr/>
                    <a:lstStyle/>
                    <a:p>
                      <a:r>
                        <a:rPr sz="1100">
                          <a:solidFill>
                            <a:srgbClr val="111111"/>
                          </a:solidFill>
                          <a:latin typeface="Calibri"/>
                        </a:rPr>
                        <a:t>12.7</a:t>
                      </a:r>
                    </a:p>
                  </a:txBody>
                  <a:tcPr>
                    <a:solidFill>
                      <a:srgbClr val="FFFFFF"/>
                    </a:solidFill>
                  </a:tcPr>
                </a:tc>
                <a:tc>
                  <a:txBody>
                    <a:bodyPr/>
                    <a:lstStyle/>
                    <a:p>
                      <a:r>
                        <a:rPr sz="1100">
                          <a:solidFill>
                            <a:srgbClr val="111111"/>
                          </a:solidFill>
                          <a:latin typeface="Calibri"/>
                        </a:rPr>
                        <a:t>10.5</a:t>
                      </a:r>
                    </a:p>
                  </a:txBody>
                  <a:tcPr>
                    <a:solidFill>
                      <a:srgbClr val="FFFFFF"/>
                    </a:solidFill>
                  </a:tcPr>
                </a:tc>
                <a:tc>
                  <a:txBody>
                    <a:bodyPr/>
                    <a:lstStyle/>
                    <a:p>
                      <a:r>
                        <a:rPr sz="1100">
                          <a:solidFill>
                            <a:srgbClr val="111111"/>
                          </a:solidFill>
                          <a:latin typeface="Calibri"/>
                        </a:rPr>
                        <a:t>8.8</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Peer Context — Relative Valuation Positioning</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MOFSL's current valuation multiples reflect a discount to the asset management peer group, consistent with residual broking cyclicality. As ARR mix expands toward 70%+, we expect a re-rating toward AMC-comparable multiples. The P/E and P/B metrics below reflect FY26E estimates and provide a basis for monitoring relative value.</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P/E FY26E (x) 16.1</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P/B FY26E (x) 3.6</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EV/EBITDA FY26E (x) 12.7</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RoE FY26E (%) 22.0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 — BUY, Target Price INR 1,127</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target price is derived through a blended valuation approach weighting P/E, P/B, and sum-of-parts methodologies. The probability-weighted target accounts for regulatory scenarios across broking and AMC segments. Current market price implies a material discount relative to intrinsic value, driven by near-term F&amp;O regulatory concerns we view as transitory.</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Target Price (INR) INR 1127.0</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Upside (%) 37.0%</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Prob-Weighted TP (INR) 1109.0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P/E FY26E (x) 16.1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Bands — Method-by-Method Reconciliation</a:t>
            </a:r>
          </a:p>
        </p:txBody>
      </p:sp>
      <p:graphicFrame>
        <p:nvGraphicFramePr>
          <p:cNvPr id="11" name="Table 10"/>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777240">
                <a:tc>
                  <a:txBody>
                    <a:bodyPr/>
                    <a:lstStyle/>
                    <a:p>
                      <a:r>
                        <a:rPr b="1" sz="1100">
                          <a:solidFill>
                            <a:srgbClr val="FFFFFF"/>
                          </a:solidFill>
                          <a:latin typeface="Calibri"/>
                        </a:rPr>
                        <a:t>Method</a:t>
                      </a:r>
                    </a:p>
                  </a:txBody>
                  <a:tcPr>
                    <a:solidFill>
                      <a:srgbClr val="1F4690"/>
                    </a:solidFill>
                  </a:tcPr>
                </a:tc>
                <a:tc>
                  <a:txBody>
                    <a:bodyPr/>
                    <a:lstStyle/>
                    <a:p>
                      <a:r>
                        <a:rPr b="1" sz="1100">
                          <a:solidFill>
                            <a:srgbClr val="FFFFFF"/>
                          </a:solidFill>
                          <a:latin typeface="Calibri"/>
                        </a:rPr>
                        <a:t>Low (INR)</a:t>
                      </a:r>
                    </a:p>
                  </a:txBody>
                  <a:tcPr>
                    <a:solidFill>
                      <a:srgbClr val="1F4690"/>
                    </a:solidFill>
                  </a:tcPr>
                </a:tc>
                <a:tc>
                  <a:txBody>
                    <a:bodyPr/>
                    <a:lstStyle/>
                    <a:p>
                      <a:r>
                        <a:rPr b="1" sz="1100">
                          <a:solidFill>
                            <a:srgbClr val="FFFFFF"/>
                          </a:solidFill>
                          <a:latin typeface="Calibri"/>
                        </a:rPr>
                        <a:t>Base (INR)</a:t>
                      </a:r>
                    </a:p>
                  </a:txBody>
                  <a:tcPr>
                    <a:solidFill>
                      <a:srgbClr val="1F4690"/>
                    </a:solidFill>
                  </a:tcPr>
                </a:tc>
                <a:tc>
                  <a:txBody>
                    <a:bodyPr/>
                    <a:lstStyle/>
                    <a:p>
                      <a:r>
                        <a:rPr b="1" sz="1100">
                          <a:solidFill>
                            <a:srgbClr val="FFFFFF"/>
                          </a:solidFill>
                          <a:latin typeface="Calibri"/>
                        </a:rPr>
                        <a:t>High (INR)</a:t>
                      </a:r>
                    </a:p>
                  </a:txBody>
                  <a:tcPr>
                    <a:solidFill>
                      <a:srgbClr val="1F4690"/>
                    </a:solidFill>
                  </a:tcPr>
                </a:tc>
                <a:tc>
                  <a:txBody>
                    <a:bodyPr/>
                    <a:lstStyle/>
                    <a:p>
                      <a:r>
                        <a:rPr b="1" sz="1100">
                          <a:solidFill>
                            <a:srgbClr val="FFFFFF"/>
                          </a:solidFill>
                          <a:latin typeface="Calibri"/>
                        </a:rPr>
                        <a:t>Weight (%)</a:t>
                      </a:r>
                    </a:p>
                  </a:txBody>
                  <a:tcPr>
                    <a:solidFill>
                      <a:srgbClr val="1F4690"/>
                    </a:solidFill>
                  </a:tcPr>
                </a:tc>
                <a:tc>
                  <a:txBody>
                    <a:bodyPr/>
                    <a:lstStyle/>
                    <a:p>
                      <a:r>
                        <a:rPr b="1" sz="1100">
                          <a:solidFill>
                            <a:srgbClr val="FFFFFF"/>
                          </a:solidFill>
                          <a:latin typeface="Calibri"/>
                        </a:rPr>
                        <a:t>Notes</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Framework — Key Assumptions and Outputs</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The DCF model underpins a cross-check of the multiple-based target price. Key drivers include AUM growth, management fee yield on AMC and wealth books, and operating leverage from a largely fixed cost base. Terminal value is sensitive to ARR mix at horizon end; higher ARR penetration supports a lower cost of equity assumption.</a:t>
            </a:r>
          </a:p>
        </p:txBody>
      </p:sp>
      <p:sp>
        <p:nvSpPr>
          <p:cNvPr id="12" name="TextBox 11"/>
          <p:cNvSpPr txBox="1"/>
          <p:nvPr/>
        </p:nvSpPr>
        <p:spPr>
          <a:xfrm>
            <a:off x="5760720" y="1417320"/>
            <a:ext cx="1447723" cy="1554480"/>
          </a:xfrm>
          <a:prstGeom prst="rect">
            <a:avLst/>
          </a:prstGeom>
          <a:noFill/>
        </p:spPr>
        <p:txBody>
          <a:bodyPr wrap="square">
            <a:spAutoFit/>
          </a:bodyPr>
          <a:lstStyle/>
          <a:p>
            <a:pPr algn="ctr"/>
            <a:r>
              <a:rPr sz="1400" b="1">
                <a:solidFill>
                  <a:srgbClr val="1F4690"/>
                </a:solidFill>
                <a:latin typeface="Calibri"/>
              </a:rPr>
              <a:t>EPS FY26E (INR) 51.2</a:t>
            </a:r>
          </a:p>
        </p:txBody>
      </p:sp>
      <p:sp>
        <p:nvSpPr>
          <p:cNvPr id="13" name="TextBox 12"/>
          <p:cNvSpPr txBox="1"/>
          <p:nvPr/>
        </p:nvSpPr>
        <p:spPr>
          <a:xfrm>
            <a:off x="7254163" y="1417320"/>
            <a:ext cx="1447723" cy="1554480"/>
          </a:xfrm>
          <a:prstGeom prst="rect">
            <a:avLst/>
          </a:prstGeom>
          <a:noFill/>
        </p:spPr>
        <p:txBody>
          <a:bodyPr wrap="square">
            <a:spAutoFit/>
          </a:bodyPr>
          <a:lstStyle/>
          <a:p>
            <a:pPr algn="ctr"/>
            <a:r>
              <a:rPr sz="1400" b="1">
                <a:solidFill>
                  <a:srgbClr val="1F4690"/>
                </a:solidFill>
                <a:latin typeface="Calibri"/>
              </a:rPr>
              <a:t>RoE FY26E (%) 22.0</a:t>
            </a:r>
          </a:p>
        </p:txBody>
      </p:sp>
      <p:sp>
        <p:nvSpPr>
          <p:cNvPr id="14" name="TextBox 13"/>
          <p:cNvSpPr txBox="1"/>
          <p:nvPr/>
        </p:nvSpPr>
        <p:spPr>
          <a:xfrm>
            <a:off x="8747607" y="1417320"/>
            <a:ext cx="1447723" cy="1554480"/>
          </a:xfrm>
          <a:prstGeom prst="rect">
            <a:avLst/>
          </a:prstGeom>
          <a:noFill/>
        </p:spPr>
        <p:txBody>
          <a:bodyPr wrap="square">
            <a:spAutoFit/>
          </a:bodyPr>
          <a:lstStyle/>
          <a:p>
            <a:pPr algn="ctr"/>
            <a:r>
              <a:rPr sz="1400" b="1">
                <a:solidFill>
                  <a:srgbClr val="1F4690"/>
                </a:solidFill>
                <a:latin typeface="Calibri"/>
              </a:rPr>
              <a:t>RoCE FY26E (%) 18.0</a:t>
            </a:r>
          </a:p>
        </p:txBody>
      </p:sp>
      <p:sp>
        <p:nvSpPr>
          <p:cNvPr id="15" name="TextBox 14"/>
          <p:cNvSpPr txBox="1"/>
          <p:nvPr/>
        </p:nvSpPr>
        <p:spPr>
          <a:xfrm>
            <a:off x="10241051" y="1417320"/>
            <a:ext cx="1447723" cy="1554480"/>
          </a:xfrm>
          <a:prstGeom prst="rect">
            <a:avLst/>
          </a:prstGeom>
          <a:noFill/>
        </p:spPr>
        <p:txBody>
          <a:bodyPr wrap="square">
            <a:spAutoFit/>
          </a:bodyPr>
          <a:lstStyle/>
          <a:p>
            <a:pPr algn="ctr"/>
            <a:r>
              <a:rPr sz="1400" b="1">
                <a:solidFill>
                  <a:srgbClr val="1F4690"/>
                </a:solidFill>
                <a:latin typeface="Calibri"/>
              </a:rPr>
              <a:t>P/B FY26E (x) 3.6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 Analysis — Regulatory and Growth Outcomes</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1257300">
                <a:tc>
                  <a:txBody>
                    <a:bodyPr/>
                    <a:lstStyle/>
                    <a:p>
                      <a:r>
                        <a:rPr b="1" sz="1100">
                          <a:solidFill>
                            <a:srgbClr val="FFFFFF"/>
                          </a:solidFill>
                          <a:latin typeface="Calibri"/>
                        </a:rPr>
                        <a:t>Scenario</a:t>
                      </a:r>
                    </a:p>
                  </a:txBody>
                  <a:tcPr>
                    <a:solidFill>
                      <a:srgbClr val="1F4690"/>
                    </a:solidFill>
                  </a:tcPr>
                </a:tc>
                <a:tc>
                  <a:txBody>
                    <a:bodyPr/>
                    <a:lstStyle/>
                    <a:p>
                      <a:r>
                        <a:rPr b="1" sz="1100">
                          <a:solidFill>
                            <a:srgbClr val="FFFFFF"/>
                          </a:solidFill>
                          <a:latin typeface="Calibri"/>
                        </a:rPr>
                        <a:t>Revenue CAGR (%)</a:t>
                      </a:r>
                    </a:p>
                  </a:txBody>
                  <a:tcPr>
                    <a:solidFill>
                      <a:srgbClr val="1F4690"/>
                    </a:solidFill>
                  </a:tcPr>
                </a:tc>
                <a:tc>
                  <a:txBody>
                    <a:bodyPr/>
                    <a:lstStyle/>
                    <a:p>
                      <a:r>
                        <a:rPr b="1" sz="1100">
                          <a:solidFill>
                            <a:srgbClr val="FFFFFF"/>
                          </a:solidFill>
                          <a:latin typeface="Calibri"/>
                        </a:rPr>
                        <a:t>EBITDA Margin (%)</a:t>
                      </a:r>
                    </a:p>
                  </a:txBody>
                  <a:tcPr>
                    <a:solidFill>
                      <a:srgbClr val="1F4690"/>
                    </a:solidFill>
                  </a:tcPr>
                </a:tc>
                <a:tc>
                  <a:txBody>
                    <a:bodyPr/>
                    <a:lstStyle/>
                    <a:p>
                      <a:r>
                        <a:rPr b="1" sz="1100">
                          <a:solidFill>
                            <a:srgbClr val="FFFFFF"/>
                          </a:solidFill>
                          <a:latin typeface="Calibri"/>
                        </a:rPr>
                        <a:t>Target Price (INR)</a:t>
                      </a:r>
                    </a:p>
                  </a:txBody>
                  <a:tcPr>
                    <a:solidFill>
                      <a:srgbClr val="1F4690"/>
                    </a:solidFill>
                  </a:tcPr>
                </a:tc>
                <a:tc>
                  <a:txBody>
                    <a:bodyPr/>
                    <a:lstStyle/>
                    <a:p>
                      <a:r>
                        <a:rPr b="1" sz="1100">
                          <a:solidFill>
                            <a:srgbClr val="FFFFFF"/>
                          </a:solidFill>
                          <a:latin typeface="Calibri"/>
                        </a:rPr>
                        <a:t>Probability (%)</a:t>
                      </a:r>
                    </a:p>
                  </a:txBody>
                  <a:tcPr>
                    <a:solidFill>
                      <a:srgbClr val="1F4690"/>
                    </a:solidFill>
                  </a:tcPr>
                </a:tc>
                <a:tc>
                  <a:txBody>
                    <a:bodyPr/>
                    <a:lstStyle/>
                    <a:p>
                      <a:r>
                        <a:rPr b="1" sz="1100">
                          <a:solidFill>
                            <a:srgbClr val="FFFFFF"/>
                          </a:solidFill>
                          <a:latin typeface="Calibri"/>
                        </a:rPr>
                        <a:t>Key Assumptions</a:t>
                      </a:r>
                    </a:p>
                  </a:txBody>
                  <a:tcPr>
                    <a:solidFill>
                      <a:srgbClr val="1F4690"/>
                    </a:solidFill>
                  </a:tcPr>
                </a:tc>
              </a:tr>
              <a:tr h="1257300">
                <a:tc>
                  <a:txBody>
                    <a:bodyPr/>
                    <a:lstStyle/>
                    <a:p>
                      <a:r>
                        <a:rPr sz="1100">
                          <a:solidFill>
                            <a:srgbClr val="111111"/>
                          </a:solidFill>
                          <a:latin typeface="Calibri"/>
                        </a:rPr>
                        <a:t>Bull</a:t>
                      </a:r>
                    </a:p>
                  </a:txBody>
                  <a:tcPr/>
                </a:tc>
                <a:tc>
                  <a:txBody>
                    <a:bodyPr/>
                    <a:lstStyle/>
                    <a:p>
                      <a:r>
                        <a:rPr sz="1100">
                          <a:solidFill>
                            <a:srgbClr val="111111"/>
                          </a:solidFill>
                          <a:latin typeface="Calibri"/>
                        </a:rPr>
                        <a:t>27.5%</a:t>
                      </a:r>
                    </a:p>
                  </a:txBody>
                  <a:tcPr/>
                </a:tc>
                <a:tc>
                  <a:txBody>
                    <a:bodyPr/>
                    <a:lstStyle/>
                    <a:p>
                      <a:r>
                        <a:rPr sz="1100">
                          <a:solidFill>
                            <a:srgbClr val="111111"/>
                          </a:solidFill>
                          <a:latin typeface="Calibri"/>
                        </a:rPr>
                        <a:t>55.0%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ARR &gt; 70%, AMC AUM +40% YoY, regulatory clarity.</a:t>
                      </a:r>
                    </a:p>
                  </a:txBody>
                  <a:tcPr/>
                </a:tc>
              </a:tr>
              <a:tr h="1257300">
                <a:tc>
                  <a:txBody>
                    <a:bodyPr/>
                    <a:lstStyle/>
                    <a:p>
                      <a:r>
                        <a:rPr sz="1100">
                          <a:solidFill>
                            <a:srgbClr val="111111"/>
                          </a:solidFill>
                          <a:latin typeface="Calibri"/>
                        </a:rPr>
                        <a:t>Base</a:t>
                      </a:r>
                    </a:p>
                  </a:txBody>
                  <a:tcPr>
                    <a:solidFill>
                      <a:srgbClr val="FFFFFF"/>
                    </a:solidFill>
                  </a:tcPr>
                </a:tc>
                <a:tc>
                  <a:txBody>
                    <a:bodyPr/>
                    <a:lstStyle/>
                    <a:p>
                      <a:r>
                        <a:rPr sz="1100">
                          <a:solidFill>
                            <a:srgbClr val="111111"/>
                          </a:solidFill>
                          <a:latin typeface="Calibri"/>
                        </a:rPr>
                        <a:t>16.0%</a:t>
                      </a:r>
                    </a:p>
                  </a:txBody>
                  <a:tcPr>
                    <a:solidFill>
                      <a:srgbClr val="FFFFFF"/>
                    </a:solidFill>
                  </a:tcPr>
                </a:tc>
                <a:tc>
                  <a:txBody>
                    <a:bodyPr/>
                    <a:lstStyle/>
                    <a:p>
                      <a:r>
                        <a:rPr sz="1100">
                          <a:solidFill>
                            <a:srgbClr val="111111"/>
                          </a:solidFill>
                          <a:latin typeface="Calibri"/>
                        </a:rPr>
                        <a:t>51.0%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ARR steady at 65%, AUM compounding, stable regulation.</a:t>
                      </a:r>
                    </a:p>
                  </a:txBody>
                  <a:tcPr>
                    <a:solidFill>
                      <a:srgbClr val="FFFFFF"/>
                    </a:solidFill>
                  </a:tcPr>
                </a:tc>
              </a:tr>
              <a:tr h="1257300">
                <a:tc>
                  <a:txBody>
                    <a:bodyPr/>
                    <a:lstStyle/>
                    <a:p>
                      <a:r>
                        <a:rPr sz="1100">
                          <a:solidFill>
                            <a:srgbClr val="111111"/>
                          </a:solidFill>
                          <a:latin typeface="Calibri"/>
                        </a:rPr>
                        <a:t>Bear</a:t>
                      </a:r>
                    </a:p>
                  </a:txBody>
                  <a:tcPr/>
                </a:tc>
                <a:tc>
                  <a:txBody>
                    <a:bodyPr/>
                    <a:lstStyle/>
                    <a:p>
                      <a:r>
                        <a:rPr sz="1100">
                          <a:solidFill>
                            <a:srgbClr val="111111"/>
                          </a:solidFill>
                          <a:latin typeface="Calibri"/>
                        </a:rPr>
                        <a:t>6.0%</a:t>
                      </a:r>
                    </a:p>
                  </a:txBody>
                  <a:tcPr/>
                </a:tc>
                <a:tc>
                  <a:txBody>
                    <a:bodyPr/>
                    <a:lstStyle/>
                    <a:p>
                      <a:r>
                        <a:rPr sz="1100">
                          <a:solidFill>
                            <a:srgbClr val="111111"/>
                          </a:solidFill>
                          <a:latin typeface="Calibri"/>
                        </a:rPr>
                        <a:t>45.0%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Sustained F&amp;O headwinds, fintech share loss.</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Score 72/100 — Investment Quality Assessment</a:t>
            </a:r>
          </a:p>
        </p:txBody>
      </p:sp>
      <p:graphicFrame>
        <p:nvGraphicFramePr>
          <p:cNvPr id="11" name="Table 10"/>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Assessment</a:t>
                      </a:r>
                    </a:p>
                  </a:txBody>
                  <a:tcPr>
                    <a:solidFill>
                      <a:srgbClr val="1F4690"/>
                    </a:solidFill>
                  </a:tcPr>
                </a:tc>
                <a:tc>
                  <a:txBody>
                    <a:bodyPr/>
                    <a:lstStyle/>
                    <a:p>
                      <a:r>
                        <a:rPr b="1" sz="1100">
                          <a:solidFill>
                            <a:srgbClr val="FFFFFF"/>
                          </a:solidFill>
                          <a:latin typeface="Calibri"/>
                        </a:rPr>
                        <a:t>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MCap INR 49,079 Cr (+24.8% YoY); P/E 24.2; P/B 3.82. Strong RoCE; disciplined allocation into high-return fee businesses. Reinvestment in tech, talent, distribution, research generates sustainable advantage.</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Q2FY25 PAT INR 1,242 Cr (+123% YoY), 46% revenue growth, 48% RoE — recovery and execution. Q2FY26 PAT -67.6% YoY, revenue -34.9% YoY shows residual cyclicality from F&amp;O regulation. Continuity across cycles maintained.</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
        <p:nvSpPr>
          <p:cNvPr id="12" name="TextBox 11"/>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MOFSL scores 72/100 on the SAARTHI framework, reflecting strong reinvestment quality (13/15), above-average franchise durability, and a balanced risk profile. The primary drag is residual cyclicality in broking revenues and active SEBI monitoring, both acknowledged in the risk framework.</a:t>
            </a:r>
          </a:p>
        </p:txBody>
      </p:sp>
      <p:sp>
        <p:nvSpPr>
          <p:cNvPr id="13" name="TextBox 12"/>
          <p:cNvSpPr txBox="1"/>
          <p:nvPr/>
        </p:nvSpPr>
        <p:spPr>
          <a:xfrm>
            <a:off x="457200" y="2194560"/>
            <a:ext cx="5592927" cy="822960"/>
          </a:xfrm>
          <a:prstGeom prst="rect">
            <a:avLst/>
          </a:prstGeom>
          <a:noFill/>
        </p:spPr>
        <p:txBody>
          <a:bodyPr wrap="square">
            <a:spAutoFit/>
          </a:bodyPr>
          <a:lstStyle/>
          <a:p>
            <a:pPr algn="ctr"/>
            <a:r>
              <a:rPr sz="1400" b="1">
                <a:solidFill>
                  <a:srgbClr val="1F4690"/>
                </a:solidFill>
                <a:latin typeface="Calibri"/>
              </a:rPr>
              <a:t>ARR % of Revenue 65.0</a:t>
            </a:r>
          </a:p>
        </p:txBody>
      </p:sp>
      <p:sp>
        <p:nvSpPr>
          <p:cNvPr id="14" name="TextBox 13"/>
          <p:cNvSpPr txBox="1"/>
          <p:nvPr/>
        </p:nvSpPr>
        <p:spPr>
          <a:xfrm>
            <a:off x="6095847" y="2194560"/>
            <a:ext cx="5592927" cy="822960"/>
          </a:xfrm>
          <a:prstGeom prst="rect">
            <a:avLst/>
          </a:prstGeom>
          <a:noFill/>
        </p:spPr>
        <p:txBody>
          <a:bodyPr wrap="square">
            <a:spAutoFit/>
          </a:bodyPr>
          <a:lstStyle/>
          <a:p>
            <a:pPr algn="ctr"/>
            <a:r>
              <a:rPr sz="1400" b="1">
                <a:solidFill>
                  <a:srgbClr val="1F4690"/>
                </a:solidFill>
                <a:latin typeface="Calibri"/>
              </a:rPr>
              <a:t>Fee-Based % of Revenue 45.0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Profile — Leadership and Governance</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
        <p:nvSpPr>
          <p:cNvPr id="12" name="TextBox 11"/>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MOFSL was co-founded by Motilal Oswal and Raamdeo Agrawal in 1987. Both founders remain actively involved in strategy and capital allocation. The firm's enduring research culture and long-tenured senior leadership have been key differentiators in building franchise equity across market cycles.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Assessment — Monitor Closely</a:t>
            </a:r>
          </a:p>
        </p:txBody>
      </p:sp>
      <p:graphicFrame>
        <p:nvGraphicFramePr>
          <p:cNvPr id="11" name="Table 10"/>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
        <p:nvSpPr>
          <p:cNvPr id="12" name="TextBox 11"/>
          <p:cNvSpPr txBox="1"/>
          <p:nvPr/>
        </p:nvSpPr>
        <p:spPr>
          <a:xfrm>
            <a:off x="457200" y="1417320"/>
            <a:ext cx="11277295" cy="822960"/>
          </a:xfrm>
          <a:prstGeom prst="rect">
            <a:avLst/>
          </a:prstGeom>
          <a:noFill/>
        </p:spPr>
        <p:txBody>
          <a:bodyPr wrap="square">
            <a:spAutoFit/>
          </a:bodyPr>
          <a:lstStyle/>
          <a:p>
            <a:r>
              <a:rPr sz="1100" b="0">
                <a:solidFill>
                  <a:srgbClr val="111111"/>
                </a:solidFill>
                <a:latin typeface="Calibri"/>
              </a:rPr>
              <a:t>MOFSL carries a Monitor Closely classification on governance grounds, reflecting recurring SEBI matters identified through our forensic screen. These matters are tracked rather than viewed as structurally impairment-level concerns. Investors should monitor regulatory disclosures and management commentary each quarter for any material escalation.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 and Catalysts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SEBI regulatory tightening on F&amp;O trading norms could structurally compress broking revenue beyond current estimates.</a:t>
            </a:r>
          </a:p>
          <a:p>
            <a:pPr/>
            <a:r>
              <a:rPr sz="1100" b="0">
                <a:solidFill>
                  <a:srgbClr val="111111"/>
                </a:solidFill>
                <a:latin typeface="Calibri"/>
              </a:rPr>
              <a:t>- Q2FY26 demonstrated residual earnings cyclicality — further regulatory events may repeat the revenue impact pattern.</a:t>
            </a:r>
          </a:p>
          <a:p>
            <a:pPr/>
            <a:r>
              <a:rPr sz="1100" b="0">
                <a:solidFill>
                  <a:srgbClr val="111111"/>
                </a:solidFill>
                <a:latin typeface="Calibri"/>
              </a:rPr>
              <a:t>- Competitive intensity from discount brokers and fintech platforms risks compressing broking yields over time.</a:t>
            </a:r>
          </a:p>
          <a:p>
            <a:pPr/>
            <a:r>
              <a:rPr sz="1100" b="0">
                <a:solidFill>
                  <a:srgbClr val="111111"/>
                </a:solidFill>
                <a:latin typeface="Calibri"/>
              </a:rPr>
              <a:t>- Mark-to-market volatility on the proprietary investment book can distort reported earnings in volatile quarters.</a:t>
            </a:r>
          </a:p>
          <a:p>
            <a:pPr/>
            <a:r>
              <a:rPr sz="1100" b="0">
                <a:solidFill>
                  <a:srgbClr val="111111"/>
                </a:solidFill>
                <a:latin typeface="Calibri"/>
              </a:rPr>
              <a:t>- Housing finance asset-quality slippage in a stressed credit cycle could pressure NBFC-segment earnings.</a:t>
            </a:r>
          </a:p>
          <a:p>
            <a:pPr/>
            <a:r>
              <a:rPr sz="1100" b="0">
                <a:solidFill>
                  <a:srgbClr val="111111"/>
                </a:solidFill>
                <a:latin typeface="Calibri"/>
              </a:rPr>
              <a:t>- Failure of ARR mix to cross 70% would delay the re-rating catalyst central to the investment thesis.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 Entry, Review, and Exit Parameters</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The current market price provides an entry opportunity at a material discount to both the analyst target and the probability-weighted scenario. Position sizing should account for residual regulatory uncertainty in broking revenues. We recommend reviewing the thesis at each quarterly result, focusing on ARR mix trajectory and AUM net flows.</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Accumulate at current market price given the discount to probability-weighted target.</a:t>
            </a:r>
          </a:p>
          <a:p>
            <a:pPr/>
            <a:r>
              <a:rPr sz="1100" b="0">
                <a:solidFill>
                  <a:srgbClr val="111111"/>
                </a:solidFill>
                <a:latin typeface="Calibri"/>
              </a:rPr>
              <a:t>- Add on weakness: Increase position on regulatory-driven dips provided the ARR mix trend remains intact.</a:t>
            </a:r>
          </a:p>
          <a:p>
            <a:pPr/>
            <a:r>
              <a:rPr sz="1100" b="0">
                <a:solidFill>
                  <a:srgbClr val="111111"/>
                </a:solidFill>
                <a:latin typeface="Calibri"/>
              </a:rPr>
              <a:t>- Review trigger: ARR contribution failing to expand toward 70% within four quarters.</a:t>
            </a:r>
          </a:p>
          <a:p>
            <a:pPr/>
            <a:r>
              <a:rPr sz="1100" b="0">
                <a:solidFill>
                  <a:srgbClr val="111111"/>
                </a:solidFill>
                <a:latin typeface="Calibri"/>
              </a:rPr>
              <a:t>- Review trigger: AMC AUM net flows turning negative for two consecutive quarters.</a:t>
            </a:r>
          </a:p>
          <a:p>
            <a:pPr/>
            <a:r>
              <a:rPr sz="1100" b="0">
                <a:solidFill>
                  <a:srgbClr val="111111"/>
                </a:solidFill>
                <a:latin typeface="Calibri"/>
              </a:rPr>
              <a:t>- Exit trigger: SEBI action materially impairing the broking or AMC franchise on a structural basis.</a:t>
            </a:r>
          </a:p>
          <a:p>
            <a:pPr/>
            <a:r>
              <a:rPr sz="1100" b="0">
                <a:solidFill>
                  <a:srgbClr val="111111"/>
                </a:solidFill>
                <a:latin typeface="Calibri"/>
              </a:rPr>
              <a:t>- Exit trigger: Forensic matters escalating to enforcement proceedings with balance-sheet implications.</a:t>
            </a:r>
          </a:p>
        </p:txBody>
      </p:sp>
      <p:sp>
        <p:nvSpPr>
          <p:cNvPr id="13" name="TextBox 12"/>
          <p:cNvSpPr txBox="1"/>
          <p:nvPr/>
        </p:nvSpPr>
        <p:spPr>
          <a:xfrm>
            <a:off x="457200" y="1417320"/>
            <a:ext cx="3713378" cy="868680"/>
          </a:xfrm>
          <a:prstGeom prst="rect">
            <a:avLst/>
          </a:prstGeom>
          <a:noFill/>
        </p:spPr>
        <p:txBody>
          <a:bodyPr wrap="square">
            <a:spAutoFit/>
          </a:bodyPr>
          <a:lstStyle/>
          <a:p>
            <a:pPr algn="ctr"/>
            <a:r>
              <a:rPr sz="1400" b="1">
                <a:solidFill>
                  <a:srgbClr val="1F4690"/>
                </a:solidFill>
                <a:latin typeface="Calibri"/>
              </a:rPr>
              <a:t>CMP (INR) INR 822.9</a:t>
            </a:r>
          </a:p>
        </p:txBody>
      </p:sp>
      <p:sp>
        <p:nvSpPr>
          <p:cNvPr id="14" name="TextBox 13"/>
          <p:cNvSpPr txBox="1"/>
          <p:nvPr/>
        </p:nvSpPr>
        <p:spPr>
          <a:xfrm>
            <a:off x="4216298" y="1417320"/>
            <a:ext cx="3713378" cy="868680"/>
          </a:xfrm>
          <a:prstGeom prst="rect">
            <a:avLst/>
          </a:prstGeom>
          <a:noFill/>
        </p:spPr>
        <p:txBody>
          <a:bodyPr wrap="square">
            <a:spAutoFit/>
          </a:bodyPr>
          <a:lstStyle/>
          <a:p>
            <a:pPr algn="ctr"/>
            <a:r>
              <a:rPr sz="1400" b="1">
                <a:solidFill>
                  <a:srgbClr val="1F4690"/>
                </a:solidFill>
                <a:latin typeface="Calibri"/>
              </a:rPr>
              <a:t>Target Price (INR) INR 1127.0</a:t>
            </a:r>
          </a:p>
        </p:txBody>
      </p:sp>
      <p:sp>
        <p:nvSpPr>
          <p:cNvPr id="15" name="TextBox 14"/>
          <p:cNvSpPr txBox="1"/>
          <p:nvPr/>
        </p:nvSpPr>
        <p:spPr>
          <a:xfrm>
            <a:off x="7975396" y="1417320"/>
            <a:ext cx="3713378" cy="868680"/>
          </a:xfrm>
          <a:prstGeom prst="rect">
            <a:avLst/>
          </a:prstGeom>
          <a:noFill/>
        </p:spPr>
        <p:txBody>
          <a:bodyPr wrap="square">
            <a:spAutoFit/>
          </a:bodyPr>
          <a:lstStyle/>
          <a:p>
            <a:pPr algn="ctr"/>
            <a:r>
              <a:rPr sz="1400" b="1">
                <a:solidFill>
                  <a:srgbClr val="1F4690"/>
                </a:solidFill>
                <a:latin typeface="Calibri"/>
              </a:rPr>
              <a:t>Upside (%) 37.0%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21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EPS Growth Trajectory — FY22A to FY28E</a:t>
            </a:r>
          </a:p>
        </p:txBody>
      </p:sp>
      <p:pic>
        <p:nvPicPr>
          <p:cNvPr id="11" name="Picture 10" descr="image.png"/>
          <p:cNvPicPr>
            <a:picLocks noChangeAspect="1"/>
          </p:cNvPicPr>
          <p:nvPr/>
        </p:nvPicPr>
        <p:blipFill>
          <a:blip r:embed="rId3"/>
          <a:stretch>
            <a:fillRect/>
          </a:stretch>
        </p:blipFill>
        <p:spPr>
          <a:xfrm>
            <a:off x="457200" y="1417320"/>
            <a:ext cx="11277295" cy="50292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22 of 22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report has been prepared by Tikona Capital, a SEBI-registered research analyst. The information contained herein is for informational purposes only and does not constitute an offer, solicitation, or recommendation to buy or sell any security. Investors should independently evaluate the merits and risks of any investment. Past performance is not indicative of future results. The analyst or firm may hold positions in securities mentioned. This document is subject to SEBI (Research Analysts) Regulations, 2014. The renderer will substitute approved SEBI-compliant boilerplate disclosures on the final output.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