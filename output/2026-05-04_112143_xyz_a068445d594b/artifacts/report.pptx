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XYZ Finance Ltd Update Note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XYZ Finance Ltd | BUY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a:t>
            </a:r>
          </a:p>
          <a:p>
            <a:pPr algn="ctr"/>
            <a:r>
              <a:rPr sz="2000" b="1">
                <a:solidFill>
                  <a:srgbClr val="1F4690"/>
                </a:solidFill>
                <a:latin typeface="Calibri"/>
              </a:rPr>
              <a:t>₹178.0</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TP</a:t>
            </a:r>
          </a:p>
          <a:p>
            <a:pPr algn="ctr"/>
            <a:r>
              <a:rPr sz="2000" b="1">
                <a:solidFill>
                  <a:srgbClr val="1F4690"/>
                </a:solidFill>
                <a:latin typeface="Calibri"/>
              </a:rPr>
              <a:t>₹225.0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8</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nchor="t" lIns="45720" rIns="45720" tIns="18288" bIns="18288">
            <a:spAutoFit/>
          </a:bodyPr>
          <a:lstStyle/>
          <a:p>
            <a:r>
              <a:rPr sz="1200" b="0">
                <a:solidFill>
                  <a:srgbClr val="111111"/>
                </a:solidFill>
                <a:latin typeface="Calibri"/>
              </a:rPr>
              <a:t>XYZ Finance is delivering consistent secured-loan growth while preserving balance-sheet discipline and improving profitability.</a:t>
            </a:r>
          </a:p>
        </p:txBody>
      </p:sp>
      <p:sp>
        <p:nvSpPr>
          <p:cNvPr id="12" name="TextBox 11"/>
          <p:cNvSpPr txBox="1"/>
          <p:nvPr/>
        </p:nvSpPr>
        <p:spPr>
          <a:xfrm>
            <a:off x="5852160" y="1417320"/>
            <a:ext cx="588233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XYZ Finance is delivering consistent secured-loan growth while preserving balance-sheet discipline and improving profitab...</a:t>
            </a:r>
          </a:p>
          <a:p>
            <a:pPr>
              <a:spcAft>
                <a:spcPts val="400"/>
              </a:spcAft>
            </a:pPr>
            <a:r>
              <a:rPr sz="1200" b="0">
                <a:solidFill>
                  <a:srgbClr val="111111"/>
                </a:solidFill>
                <a:latin typeface="Calibri"/>
              </a:rPr>
              <a:t>•  Branch productivity is improving across newer cohorts.</a:t>
            </a:r>
          </a:p>
          <a:p>
            <a:pPr>
              <a:spcAft>
                <a:spcPts val="400"/>
              </a:spcAft>
            </a:pPr>
            <a:r>
              <a:rPr sz="1200" b="0">
                <a:solidFill>
                  <a:srgbClr val="111111"/>
                </a:solidFill>
                <a:latin typeface="Calibri"/>
              </a:rPr>
              <a:t>•  The secured mix is supporting credit-cost stability.</a:t>
            </a:r>
          </a:p>
          <a:p>
            <a:pPr>
              <a:spcAft>
                <a:spcPts val="400"/>
              </a:spcAft>
            </a:pPr>
            <a:r>
              <a:rPr sz="1200" b="0">
                <a:solidFill>
                  <a:srgbClr val="111111"/>
                </a:solidFill>
                <a:latin typeface="Calibri"/>
              </a:rPr>
              <a:t>•  Funding access remains adequate for the next growth phase.</a:t>
            </a:r>
          </a:p>
          <a:p>
            <a:pPr>
              <a:spcAft>
                <a:spcPts val="400"/>
              </a:spcAft>
            </a:pPr>
            <a:r>
              <a:rPr sz="1200" b="0">
                <a:solidFill>
                  <a:srgbClr val="111111"/>
                </a:solidFill>
                <a:latin typeface="Calibri"/>
              </a:rPr>
              <a:t>•  Competitive intensity could pressure spreads.</a:t>
            </a:r>
          </a:p>
          <a:p>
            <a:pPr>
              <a:spcAft>
                <a:spcPts val="400"/>
              </a:spcAft>
            </a:pPr>
            <a:r>
              <a:rPr sz="1200" b="0">
                <a:solidFill>
                  <a:srgbClr val="111111"/>
                </a:solidFill>
                <a:latin typeface="Calibri"/>
              </a:rPr>
              <a:t>•  Asset-quality normalization may take longer than expected.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8</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XYZ Finance Ltd At A Glance</a:t>
            </a:r>
          </a:p>
        </p:txBody>
      </p:sp>
      <p:sp>
        <p:nvSpPr>
          <p:cNvPr id="11" name="TextBox 10"/>
          <p:cNvSpPr txBox="1"/>
          <p:nvPr/>
        </p:nvSpPr>
        <p:spPr>
          <a:xfrm>
            <a:off x="457200" y="1417320"/>
            <a:ext cx="5943600" cy="5029200"/>
          </a:xfrm>
          <a:prstGeom prst="rect">
            <a:avLst/>
          </a:prstGeom>
          <a:noFill/>
        </p:spPr>
        <p:txBody>
          <a:bodyPr wrap="square" anchor="t" lIns="45720" rIns="45720" tIns="18288" bIns="18288">
            <a:spAutoFit/>
          </a:bodyPr>
          <a:lstStyle/>
          <a:p>
            <a:r>
              <a:rPr sz="1200" b="0">
                <a:solidFill>
                  <a:srgbClr val="111111"/>
                </a:solidFill>
                <a:latin typeface="Calibri"/>
              </a:rPr>
              <a:t>XYZ Finance Ltd is a diversified NBFC with a growing secured retail loan franchise and improving return ratios.</a:t>
            </a:r>
          </a:p>
        </p:txBody>
      </p:sp>
      <p:sp>
        <p:nvSpPr>
          <p:cNvPr id="12" name="TextBox 11"/>
          <p:cNvSpPr txBox="1"/>
          <p:nvPr/>
        </p:nvSpPr>
        <p:spPr>
          <a:xfrm>
            <a:off x="6675120" y="1417320"/>
            <a:ext cx="1640738" cy="5029200"/>
          </a:xfrm>
          <a:prstGeom prst="rect">
            <a:avLst/>
          </a:prstGeom>
          <a:noFill/>
        </p:spPr>
        <p:txBody>
          <a:bodyPr wrap="square" anchor="t" lIns="45720" rIns="45720" tIns="18288" bIns="18288">
            <a:spAutoFit/>
          </a:bodyPr>
          <a:lstStyle/>
          <a:p>
            <a:pPr algn="ctr"/>
            <a:r>
              <a:rPr sz="1400" b="1">
                <a:solidFill>
                  <a:srgbClr val="1F4690"/>
                </a:solidFill>
                <a:latin typeface="Calibri"/>
              </a:rPr>
              <a:t>CMP ₹178.0</a:t>
            </a:r>
          </a:p>
        </p:txBody>
      </p:sp>
      <p:sp>
        <p:nvSpPr>
          <p:cNvPr id="13" name="TextBox 12"/>
          <p:cNvSpPr txBox="1"/>
          <p:nvPr/>
        </p:nvSpPr>
        <p:spPr>
          <a:xfrm>
            <a:off x="8361578" y="1417320"/>
            <a:ext cx="1640738" cy="5029200"/>
          </a:xfrm>
          <a:prstGeom prst="rect">
            <a:avLst/>
          </a:prstGeom>
          <a:noFill/>
        </p:spPr>
        <p:txBody>
          <a:bodyPr wrap="square" anchor="t" lIns="45720" rIns="45720" tIns="18288" bIns="18288">
            <a:spAutoFit/>
          </a:bodyPr>
          <a:lstStyle/>
          <a:p>
            <a:pPr algn="ctr"/>
            <a:r>
              <a:rPr sz="1400" b="1">
                <a:solidFill>
                  <a:srgbClr val="1F4690"/>
                </a:solidFill>
                <a:latin typeface="Calibri"/>
              </a:rPr>
              <a:t>TP ₹225.0</a:t>
            </a:r>
          </a:p>
        </p:txBody>
      </p:sp>
      <p:sp>
        <p:nvSpPr>
          <p:cNvPr id="14" name="TextBox 13"/>
          <p:cNvSpPr txBox="1"/>
          <p:nvPr/>
        </p:nvSpPr>
        <p:spPr>
          <a:xfrm>
            <a:off x="10048036" y="1417320"/>
            <a:ext cx="1640738" cy="5029200"/>
          </a:xfrm>
          <a:prstGeom prst="rect">
            <a:avLst/>
          </a:prstGeom>
          <a:noFill/>
        </p:spPr>
        <p:txBody>
          <a:bodyPr wrap="square" anchor="t" lIns="45720" rIns="45720" tIns="18288" bIns="18288">
            <a:spAutoFit/>
          </a:bodyPr>
          <a:lstStyle/>
          <a:p>
            <a:pPr algn="ctr"/>
            <a:r>
              <a:rPr sz="1400" b="1">
                <a:solidFill>
                  <a:srgbClr val="1F4690"/>
                </a:solidFill>
                <a:latin typeface="Calibri"/>
              </a:rPr>
              <a:t>Upside 26.4%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8</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Revenue Trend</a:t>
            </a:r>
          </a:p>
        </p:txBody>
      </p:sp>
      <p:sp>
        <p:nvSpPr>
          <p:cNvPr id="11" name="TextBox 10"/>
          <p:cNvSpPr txBox="1"/>
          <p:nvPr/>
        </p:nvSpPr>
        <p:spPr>
          <a:xfrm>
            <a:off x="457200" y="1417320"/>
            <a:ext cx="4389120" cy="5029200"/>
          </a:xfrm>
          <a:prstGeom prst="rect">
            <a:avLst/>
          </a:prstGeom>
          <a:noFill/>
        </p:spPr>
        <p:txBody>
          <a:bodyPr wrap="square" anchor="t" lIns="45720" rIns="45720" tIns="18288" bIns="18288">
            <a:spAutoFit/>
          </a:bodyPr>
          <a:lstStyle/>
          <a:p>
            <a:r>
              <a:rPr sz="1200" b="0">
                <a:solidFill>
                  <a:srgbClr val="111111"/>
                </a:solidFill>
                <a:latin typeface="Calibri"/>
              </a:rPr>
              <a:t>Revenue trajectory across the forecast period reflects mix shift and AUM scale-up.</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8</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Annual Financial Summary</a:t>
            </a:r>
          </a:p>
        </p:txBody>
      </p:sp>
      <p:graphicFrame>
        <p:nvGraphicFramePr>
          <p:cNvPr id="11" name="Table 10"/>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5638647"/>
                <a:gridCol w="5638647"/>
              </a:tblGrid>
              <a:tr h="1005840">
                <a:tc>
                  <a:txBody>
                    <a:bodyPr/>
                    <a:lstStyle/>
                    <a:p>
                      <a:r>
                        <a:rPr b="1" sz="1200">
                          <a:solidFill>
                            <a:srgbClr val="FFFFFF"/>
                          </a:solidFill>
                          <a:latin typeface="Calibri"/>
                        </a:rPr>
                        <a:t>Period</a:t>
                      </a:r>
                    </a:p>
                  </a:txBody>
                  <a:tcPr marL="36576" marR="36576" marT="18288" marB="18288">
                    <a:solidFill>
                      <a:srgbClr val="1F4690"/>
                    </a:solidFill>
                  </a:tcPr>
                </a:tc>
                <a:tc>
                  <a:txBody>
                    <a:bodyPr/>
                    <a:lstStyle/>
                    <a:p>
                      <a:r>
                        <a:rPr b="1" sz="1200">
                          <a:solidFill>
                            <a:srgbClr val="FFFFFF"/>
                          </a:solidFill>
                          <a:latin typeface="Calibri"/>
                        </a:rPr>
                        <a:t>Revenue</a:t>
                      </a:r>
                    </a:p>
                  </a:txBody>
                  <a:tcPr marL="36576" marR="36576" marT="18288" marB="18288">
                    <a:solidFill>
                      <a:srgbClr val="1F4690"/>
                    </a:solidFill>
                  </a:tcPr>
                </a:tc>
              </a:tr>
              <a:tr h="1005840">
                <a:tc>
                  <a:txBody>
                    <a:bodyPr/>
                    <a:lstStyle/>
                    <a:p>
                      <a:r>
                        <a:rPr sz="1200">
                          <a:solidFill>
                            <a:srgbClr val="111111"/>
                          </a:solidFill>
                          <a:latin typeface="Calibri"/>
                        </a:rPr>
                        <a:t>FY24</a:t>
                      </a:r>
                    </a:p>
                  </a:txBody>
                  <a:tcPr marL="36576" marR="36576" marT="18288" marB="18288"/>
                </a:tc>
                <a:tc>
                  <a:txBody>
                    <a:bodyPr/>
                    <a:lstStyle/>
                    <a:p>
                      <a:r>
                        <a:rPr sz="1200">
                          <a:solidFill>
                            <a:srgbClr val="111111"/>
                          </a:solidFill>
                          <a:latin typeface="Calibri"/>
                        </a:rPr>
                        <a:t>₹31,200.0 Cr</a:t>
                      </a:r>
                    </a:p>
                  </a:txBody>
                  <a:tcPr marL="36576" marR="36576" marT="18288" marB="18288"/>
                </a:tc>
              </a:tr>
              <a:tr h="1005840">
                <a:tc>
                  <a:txBody>
                    <a:bodyPr/>
                    <a:lstStyle/>
                    <a:p>
                      <a:r>
                        <a:rPr sz="1200">
                          <a:solidFill>
                            <a:srgbClr val="111111"/>
                          </a:solidFill>
                          <a:latin typeface="Calibri"/>
                        </a:rPr>
                        <a:t>FY25</a:t>
                      </a:r>
                    </a:p>
                  </a:txBody>
                  <a:tcPr marL="36576" marR="36576" marT="18288" marB="18288">
                    <a:solidFill>
                      <a:srgbClr val="FFFFFF"/>
                    </a:solidFill>
                  </a:tcPr>
                </a:tc>
                <a:tc>
                  <a:txBody>
                    <a:bodyPr/>
                    <a:lstStyle/>
                    <a:p>
                      <a:r>
                        <a:rPr sz="1200">
                          <a:solidFill>
                            <a:srgbClr val="111111"/>
                          </a:solidFill>
                          <a:latin typeface="Calibri"/>
                        </a:rPr>
                        <a:t>₹39,250.0 Cr</a:t>
                      </a:r>
                    </a:p>
                  </a:txBody>
                  <a:tcPr marL="36576" marR="36576" marT="18288" marB="18288">
                    <a:solidFill>
                      <a:srgbClr val="FFFFFF"/>
                    </a:solidFill>
                  </a:tcPr>
                </a:tc>
              </a:tr>
              <a:tr h="1005840">
                <a:tc>
                  <a:txBody>
                    <a:bodyPr/>
                    <a:lstStyle/>
                    <a:p>
                      <a:r>
                        <a:rPr sz="1200">
                          <a:solidFill>
                            <a:srgbClr val="111111"/>
                          </a:solidFill>
                          <a:latin typeface="Calibri"/>
                        </a:rPr>
                        <a:t>FY26</a:t>
                      </a:r>
                    </a:p>
                  </a:txBody>
                  <a:tcPr marL="36576" marR="36576" marT="18288" marB="18288"/>
                </a:tc>
                <a:tc>
                  <a:txBody>
                    <a:bodyPr/>
                    <a:lstStyle/>
                    <a:p>
                      <a:r>
                        <a:rPr sz="1200">
                          <a:solidFill>
                            <a:srgbClr val="111111"/>
                          </a:solidFill>
                          <a:latin typeface="Calibri"/>
                        </a:rPr>
                        <a:t>₹48,500.0 Cr</a:t>
                      </a:r>
                    </a:p>
                  </a:txBody>
                  <a:tcPr marL="36576" marR="36576" marT="18288" marB="18288"/>
                </a:tc>
              </a:tr>
              <a:tr h="1005840">
                <a:tc>
                  <a:txBody>
                    <a:bodyPr/>
                    <a:lstStyle/>
                    <a:p>
                      <a:r>
                        <a:rPr sz="1200">
                          <a:solidFill>
                            <a:srgbClr val="111111"/>
                          </a:solidFill>
                          <a:latin typeface="Calibri"/>
                        </a:rPr>
                        <a:t>FY27</a:t>
                      </a:r>
                    </a:p>
                  </a:txBody>
                  <a:tcPr marL="36576" marR="36576" marT="18288" marB="18288">
                    <a:solidFill>
                      <a:srgbClr val="FFFFFF"/>
                    </a:solidFill>
                  </a:tcPr>
                </a:tc>
                <a:tc>
                  <a:txBody>
                    <a:bodyPr/>
                    <a:lstStyle/>
                    <a:p>
                      <a:r>
                        <a:rPr sz="1200">
                          <a:solidFill>
                            <a:srgbClr val="111111"/>
                          </a:solidFill>
                          <a:latin typeface="Calibri"/>
                        </a:rPr>
                        <a:t>₹58,100.0 Cr</a:t>
                      </a:r>
                    </a:p>
                  </a:txBody>
                  <a:tcPr marL="36576" marR="36576" marT="18288" marB="18288">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8</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Key Risks</a:t>
            </a:r>
          </a:p>
        </p:txBody>
      </p:sp>
      <p:sp>
        <p:nvSpPr>
          <p:cNvPr id="11" name="TextBox 10"/>
          <p:cNvSpPr txBox="1"/>
          <p:nvPr/>
        </p:nvSpPr>
        <p:spPr>
          <a:xfrm>
            <a:off x="457200" y="1417320"/>
            <a:ext cx="1127729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Competitive intensity could pressure spreads.</a:t>
            </a:r>
          </a:p>
          <a:p>
            <a:pPr>
              <a:spcAft>
                <a:spcPts val="400"/>
              </a:spcAft>
            </a:pPr>
            <a:r>
              <a:rPr sz="1200" b="0">
                <a:solidFill>
                  <a:srgbClr val="111111"/>
                </a:solidFill>
                <a:latin typeface="Calibri"/>
              </a:rPr>
              <a:t>•  Asset-quality normalization may take longer than expected.</a:t>
            </a:r>
          </a:p>
          <a:p>
            <a:pPr>
              <a:spcAft>
                <a:spcPts val="400"/>
              </a:spcAft>
            </a:pPr>
            <a:r>
              <a:rPr sz="1200" b="0">
                <a:solidFill>
                  <a:srgbClr val="111111"/>
                </a:solidFill>
                <a:latin typeface="Calibri"/>
              </a:rPr>
              <a:t>•  Execution slippage in new geographies may slow disbursement momentum.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8</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Analyst Certification &amp; Disclosures</a:t>
            </a:r>
          </a:p>
        </p:txBody>
      </p:sp>
      <p:sp>
        <p:nvSpPr>
          <p:cNvPr id="11" name="TextBox 10"/>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Analyst Certification I, the research analyst whose name appears on this report, certify that: 1. The views expressed in this report accurately reflect my personal views about the subject company and its securities. 2. No part of my compensation was, is, or will be directly or indirectly related to the specific recommendations or views expressed herein. 3. I have not received any compensation from the subject company in the past twelve months. 4. I, my relatives, or Tikona Capital do not have any actual or potential conflict of interest with the subject company at the time of publication of this report, except as may be disclosed below. ## Disclosures - Ownership in subject company: None unless otherwise disclosed. - Material conflicts of interest: None at the time of publication. - Investment banking or merchant banking relationship in the past twelve months: None. This certification is made in accordance with SEBI (Research Analysts) Regulations, 2014.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8</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Disclaimer This research report is prepared by Tikona Capital (SEBI Research Analyst Registration No. INH000069807) for the exclusive use of its clients. It is intended solely for informational purposes and does not constitute an offer, solicitation, or recommendation to buy, sell, or hold any security. The views expressed are those of the analyst as of the date of publication and are based on information believed to be reliable but are not guaranteed as to accuracy or completeness. Past performance is not indicative of future results. Investments in securities are subject to market risks. Investors should consult their own financial, legal, and tax advisors before making any investment decision. Tikona Capital, its affiliates, directors, employees, or research analysts may, from time to time, hold positions in the securities mentioned, or in instruments related to such securities, and may transact in them in a manner inconsistent with the views expressed herein. This document is the intellectual property of Tikona Capital. No part of it may be reproduced, distributed, or transmitted without prior written consent. Unauthorized use is prohibited. For grievances, contact: research@tikonacapital.in.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