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Motilal Oswal Financial Services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TP</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BUY with SAARTHI Score of 72/100. Motilal Oswal Financial Services represents a compelling investment opportunity driven by its acc...</a:t>
            </a:r>
          </a:p>
          <a:p>
            <a:pPr/>
            <a:r>
              <a:rPr sz="1100" b="0">
                <a:solidFill>
                  <a:srgbClr val="111111"/>
                </a:solidFill>
                <a:latin typeface="Calibri"/>
              </a:rPr>
              <a:t>- ARR contribution at the relevant figure of total net revenues, reducing cyclical broking volatility</a:t>
            </a:r>
          </a:p>
          <a:p>
            <a:pPr/>
            <a:r>
              <a:rPr sz="1100" b="0">
                <a:solidFill>
                  <a:srgbClr val="111111"/>
                </a:solidFill>
                <a:latin typeface="Calibri"/>
              </a:rPr>
              <a:t>- Q2FY25 profits up the relevant figure YoY with the relevant figure revenue growth and the relevant figure ROE</a:t>
            </a:r>
          </a:p>
          <a:p>
            <a:pPr/>
            <a:r>
              <a:rPr sz="1100" b="0">
                <a:solidFill>
                  <a:srgbClr val="111111"/>
                </a:solidFill>
                <a:latin typeface="Calibri"/>
              </a:rPr>
              <a:t>- Total AUM at the relevant figure lakh crore (+the relevant figure YoY); the relevant figure of AUM outperforming benchmarks over 3...</a:t>
            </a:r>
          </a:p>
          <a:p>
            <a:pPr/>
            <a:r>
              <a:rPr sz="1100" b="0">
                <a:solidFill>
                  <a:srgbClr val="111111"/>
                </a:solidFill>
                <a:latin typeface="Calibri"/>
              </a:rPr>
              <a:t>- Private Wealth AUM at the relevant figure lakh crore (+the relevant figure YoY); family count up the relevant figure YoY</a:t>
            </a:r>
          </a:p>
          <a:p>
            <a:pPr/>
            <a:r>
              <a:rPr sz="11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Investment Quality Score — 72/100</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Proprietary 7-dimension framework. Overall score 72/100 (BUY (70-84 range)).</a:t>
            </a:r>
          </a:p>
        </p:txBody>
      </p:sp>
      <p:graphicFrame>
        <p:nvGraphicFramePr>
          <p:cNvPr id="12" name="Table 11"/>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819323"/>
                <a:gridCol w="2819323"/>
                <a:gridCol w="2819323"/>
                <a:gridCol w="2819326"/>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Key 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Motilal Oswal Financial Services Ltd At A Glance</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₹822.9</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TP ₹1,127.0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Mutual fund penetration at 5-the relevant figure — massive latent opportunity</a:t>
            </a:r>
          </a:p>
          <a:p>
            <a:pPr/>
            <a:r>
              <a:rPr sz="1100" b="0">
                <a:solidFill>
                  <a:srgbClr val="111111"/>
                </a:solidFill>
                <a:latin typeface="Calibri"/>
              </a:rPr>
              <a:t>- Financial savings shifting from gold/real estate to financial assets</a:t>
            </a:r>
          </a:p>
          <a:p>
            <a:pPr/>
            <a:r>
              <a:rPr sz="1100" b="0">
                <a:solidFill>
                  <a:srgbClr val="111111"/>
                </a:solidFill>
                <a:latin typeface="Calibri"/>
              </a:rPr>
              <a:t>- BSE-listed companies grew from 135 (1995) to 5,328 (Feb 2025)</a:t>
            </a:r>
          </a:p>
          <a:p>
            <a:pPr/>
            <a:r>
              <a:rPr sz="1100" b="0">
                <a:solidFill>
                  <a:srgbClr val="111111"/>
                </a:solidFill>
                <a:latin typeface="Calibri"/>
              </a:rPr>
              <a:t>- Private wealth set to be 4th-largest globally by 2028</a:t>
            </a:r>
          </a:p>
          <a:p>
            <a:pPr/>
            <a:r>
              <a:rPr sz="1100" b="0">
                <a:solidFill>
                  <a:srgbClr val="111111"/>
                </a:solidFill>
                <a:latin typeface="Calibri"/>
              </a:rPr>
              <a:t>- NBFCs growing at the relevant figure annually with improving asset quality</a:t>
            </a:r>
          </a:p>
          <a:p>
            <a:pPr/>
            <a:r>
              <a:rPr sz="11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1417320"/>
            <a:ext cx="11277295" cy="548640"/>
          </a:xfrm>
          <a:prstGeom prst="rect">
            <a:avLst/>
          </a:prstGeom>
          <a:noFill/>
        </p:spPr>
        <p:txBody>
          <a:bodyPr wrap="square">
            <a:spAutoFit/>
          </a:bodyPr>
          <a:lstStyle/>
          <a:p>
            <a:r>
              <a:rPr sz="1100" b="0">
                <a:solidFill>
                  <a:srgbClr val="111111"/>
                </a:solidFill>
                <a:latin typeface="Calibri"/>
              </a:rPr>
              <a:t>Six themes underpinning the investment view.</a:t>
            </a:r>
          </a:p>
        </p:txBody>
      </p:sp>
      <p:sp>
        <p:nvSpPr>
          <p:cNvPr id="12" name="TextBox 11"/>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Transformation: ARR at the relevant figure of net revenues (up from the relevant figure); fee-based at the relevant figure. Annuity income reduces transaction-cycle volatility.</a:t>
            </a:r>
          </a:p>
          <a:p>
            <a:pPr/>
            <a:r>
              <a:rPr sz="11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r>
              <a:rPr sz="11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r>
              <a:rPr sz="11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r>
              <a:rPr sz="1100" b="0">
                <a:solidFill>
                  <a:srgbClr val="111111"/>
                </a:solidFill>
                <a:latin typeface="Calibri"/>
              </a:rPr>
              <a:t>- Valuation Opportunity: CMP the relevant figure vs consensus TP the relevant figure (max the relevant figure) — the relevant figure upside. Probability-weighted target the relevant figure.</a:t>
            </a:r>
          </a:p>
          <a:p>
            <a:pPr/>
            <a:r>
              <a:rPr sz="11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Trend</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Revenue trajectory across the forecast period reflects mix shift and AUM scale-up.</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Annual Financial Summary</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5638647"/>
                <a:gridCol w="5638648"/>
              </a:tblGrid>
              <a:tr h="628650">
                <a:tc>
                  <a:txBody>
                    <a:bodyPr/>
                    <a:lstStyle/>
                    <a:p>
                      <a:r>
                        <a:rPr b="1" sz="1100">
                          <a:solidFill>
                            <a:srgbClr val="FFFFFF"/>
                          </a:solidFill>
                          <a:latin typeface="Calibri"/>
                        </a:rPr>
                        <a:t>Period</a:t>
                      </a:r>
                    </a:p>
                  </a:txBody>
                  <a:tcPr>
                    <a:solidFill>
                      <a:srgbClr val="1F4690"/>
                    </a:solidFill>
                  </a:tcPr>
                </a:tc>
                <a:tc>
                  <a:txBody>
                    <a:bodyPr/>
                    <a:lstStyle/>
                    <a:p>
                      <a:r>
                        <a:rPr b="1" sz="1100">
                          <a:solidFill>
                            <a:srgbClr val="FFFFFF"/>
                          </a:solidFill>
                          <a:latin typeface="Calibri"/>
                        </a:rPr>
                        <a:t>Revenue</a:t>
                      </a:r>
                    </a:p>
                  </a:txBody>
                  <a:tcPr>
                    <a:solidFill>
                      <a:srgbClr val="1F4690"/>
                    </a:solidFill>
                  </a:tcPr>
                </a:tc>
              </a:tr>
              <a:tr h="628650">
                <a:tc>
                  <a:txBody>
                    <a:bodyPr/>
                    <a:lstStyle/>
                    <a:p>
                      <a:r>
                        <a:rPr sz="1100">
                          <a:solidFill>
                            <a:srgbClr val="111111"/>
                          </a:solidFill>
                          <a:latin typeface="Calibri"/>
                        </a:rPr>
                        <a:t>FY22A</a:t>
                      </a:r>
                    </a:p>
                  </a:txBody>
                  <a:tcPr/>
                </a:tc>
                <a:tc>
                  <a:txBody>
                    <a:bodyPr/>
                    <a:lstStyle/>
                    <a:p>
                      <a:r>
                        <a:rPr sz="1100">
                          <a:solidFill>
                            <a:srgbClr val="111111"/>
                          </a:solidFill>
                          <a:latin typeface="Calibri"/>
                        </a:rPr>
                        <a:t>₹4,298.0 Cr</a:t>
                      </a:r>
                    </a:p>
                  </a:txBody>
                  <a:tcPr/>
                </a:tc>
              </a:tr>
              <a:tr h="628650">
                <a:tc>
                  <a:txBody>
                    <a:bodyPr/>
                    <a:lstStyle/>
                    <a:p>
                      <a:r>
                        <a:rPr sz="1100">
                          <a:solidFill>
                            <a:srgbClr val="111111"/>
                          </a:solidFill>
                          <a:latin typeface="Calibri"/>
                        </a:rPr>
                        <a:t>FY23A</a:t>
                      </a:r>
                    </a:p>
                  </a:txBody>
                  <a:tcPr>
                    <a:solidFill>
                      <a:srgbClr val="FFFFFF"/>
                    </a:solidFill>
                  </a:tcPr>
                </a:tc>
                <a:tc>
                  <a:txBody>
                    <a:bodyPr/>
                    <a:lstStyle/>
                    <a:p>
                      <a:r>
                        <a:rPr sz="1100">
                          <a:solidFill>
                            <a:srgbClr val="111111"/>
                          </a:solidFill>
                          <a:latin typeface="Calibri"/>
                        </a:rPr>
                        <a:t>₹4,178.0 Cr</a:t>
                      </a:r>
                    </a:p>
                  </a:txBody>
                  <a:tcPr>
                    <a:solidFill>
                      <a:srgbClr val="FFFFFF"/>
                    </a:solidFill>
                  </a:tcPr>
                </a:tc>
              </a:tr>
              <a:tr h="628650">
                <a:tc>
                  <a:txBody>
                    <a:bodyPr/>
                    <a:lstStyle/>
                    <a:p>
                      <a:r>
                        <a:rPr sz="1100">
                          <a:solidFill>
                            <a:srgbClr val="111111"/>
                          </a:solidFill>
                          <a:latin typeface="Calibri"/>
                        </a:rPr>
                        <a:t>FY24A</a:t>
                      </a:r>
                    </a:p>
                  </a:txBody>
                  <a:tcPr/>
                </a:tc>
                <a:tc>
                  <a:txBody>
                    <a:bodyPr/>
                    <a:lstStyle/>
                    <a:p>
                      <a:r>
                        <a:rPr sz="1100">
                          <a:solidFill>
                            <a:srgbClr val="111111"/>
                          </a:solidFill>
                          <a:latin typeface="Calibri"/>
                        </a:rPr>
                        <a:t>₹7,106.0 Cr</a:t>
                      </a:r>
                    </a:p>
                  </a:txBody>
                  <a:tcPr/>
                </a:tc>
              </a:tr>
              <a:tr h="628650">
                <a:tc>
                  <a:txBody>
                    <a:bodyPr/>
                    <a:lstStyle/>
                    <a:p>
                      <a:r>
                        <a:rPr sz="1100">
                          <a:solidFill>
                            <a:srgbClr val="111111"/>
                          </a:solidFill>
                          <a:latin typeface="Calibri"/>
                        </a:rPr>
                        <a:t>FY25A</a:t>
                      </a:r>
                    </a:p>
                  </a:txBody>
                  <a:tcPr>
                    <a:solidFill>
                      <a:srgbClr val="FFFFFF"/>
                    </a:solidFill>
                  </a:tcPr>
                </a:tc>
                <a:tc>
                  <a:txBody>
                    <a:bodyPr/>
                    <a:lstStyle/>
                    <a:p>
                      <a:r>
                        <a:rPr sz="1100">
                          <a:solidFill>
                            <a:srgbClr val="111111"/>
                          </a:solidFill>
                          <a:latin typeface="Calibri"/>
                        </a:rPr>
                        <a:t>₹8,340.0 Cr</a:t>
                      </a:r>
                    </a:p>
                  </a:txBody>
                  <a:tcPr>
                    <a:solidFill>
                      <a:srgbClr val="FFFFFF"/>
                    </a:solidFill>
                  </a:tcPr>
                </a:tc>
              </a:tr>
              <a:tr h="628650">
                <a:tc>
                  <a:txBody>
                    <a:bodyPr/>
                    <a:lstStyle/>
                    <a:p>
                      <a:r>
                        <a:rPr sz="1100">
                          <a:solidFill>
                            <a:srgbClr val="111111"/>
                          </a:solidFill>
                          <a:latin typeface="Calibri"/>
                        </a:rPr>
                        <a:t>FY26E</a:t>
                      </a:r>
                    </a:p>
                  </a:txBody>
                  <a:tcPr/>
                </a:tc>
                <a:tc>
                  <a:txBody>
                    <a:bodyPr/>
                    <a:lstStyle/>
                    <a:p>
                      <a:r>
                        <a:rPr sz="1100">
                          <a:solidFill>
                            <a:srgbClr val="111111"/>
                          </a:solidFill>
                          <a:latin typeface="Calibri"/>
                        </a:rPr>
                        <a:t>₹10,402.0 Cr</a:t>
                      </a:r>
                    </a:p>
                  </a:txBody>
                  <a:tcPr/>
                </a:tc>
              </a:tr>
              <a:tr h="628650">
                <a:tc>
                  <a:txBody>
                    <a:bodyPr/>
                    <a:lstStyle/>
                    <a:p>
                      <a:r>
                        <a:rPr sz="1100">
                          <a:solidFill>
                            <a:srgbClr val="111111"/>
                          </a:solidFill>
                          <a:latin typeface="Calibri"/>
                        </a:rPr>
                        <a:t>FY27E</a:t>
                      </a:r>
                    </a:p>
                  </a:txBody>
                  <a:tcPr>
                    <a:solidFill>
                      <a:srgbClr val="FFFFFF"/>
                    </a:solidFill>
                  </a:tcPr>
                </a:tc>
                <a:tc>
                  <a:txBody>
                    <a:bodyPr/>
                    <a:lstStyle/>
                    <a:p>
                      <a:r>
                        <a:rPr sz="1100">
                          <a:solidFill>
                            <a:srgbClr val="111111"/>
                          </a:solidFill>
                          <a:latin typeface="Calibri"/>
                        </a:rPr>
                        <a:t>₹12,973.0 Cr</a:t>
                      </a:r>
                    </a:p>
                  </a:txBody>
                  <a:tcPr>
                    <a:solidFill>
                      <a:srgbClr val="FFFFFF"/>
                    </a:solidFill>
                  </a:tcPr>
                </a:tc>
              </a:tr>
              <a:tr h="628650">
                <a:tc>
                  <a:txBody>
                    <a:bodyPr/>
                    <a:lstStyle/>
                    <a:p>
                      <a:r>
                        <a:rPr sz="1100">
                          <a:solidFill>
                            <a:srgbClr val="111111"/>
                          </a:solidFill>
                          <a:latin typeface="Calibri"/>
                        </a:rPr>
                        <a:t>FY28E</a:t>
                      </a:r>
                    </a:p>
                  </a:txBody>
                  <a:tcPr/>
                </a:tc>
                <a:tc>
                  <a:txBody>
                    <a:bodyPr/>
                    <a:lstStyle/>
                    <a:p>
                      <a:r>
                        <a:rPr sz="1100">
                          <a:solidFill>
                            <a:srgbClr val="111111"/>
                          </a:solidFill>
                          <a:latin typeface="Calibri"/>
                        </a:rPr>
                        <a:t>₹16,181.0 Cr</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Performance</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Recent quarterly trajectory showing the variability inherent to the cyclical revenue base.</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 Cr</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 Cr</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 Cr</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 Cr</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 Cr</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Mix</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2819323"/>
                <a:gridCol w="2819323"/>
                <a:gridCol w="2819323"/>
                <a:gridCol w="2819326"/>
              </a:tblGrid>
              <a:tr h="83820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Scale Metric</a:t>
                      </a:r>
                    </a:p>
                  </a:txBody>
                  <a:tcPr>
                    <a:solidFill>
                      <a:srgbClr val="1F4690"/>
                    </a:solidFill>
                  </a:tcPr>
                </a:tc>
                <a:tc>
                  <a:txBody>
                    <a:bodyPr/>
                    <a:lstStyle/>
                    <a:p>
                      <a:r>
                        <a:rPr b="1" sz="1100">
                          <a:solidFill>
                            <a:srgbClr val="FFFFFF"/>
                          </a:solidFill>
                          <a:latin typeface="Calibri"/>
                        </a:rPr>
                        <a:t>Latest</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83820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83820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83820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83820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83820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Ratios</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Margin and return profile across the forecast period.</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8"/>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37.5x</a:t>
                      </a:r>
                    </a:p>
                  </a:txBody>
                  <a:tcPr>
                    <a:solidFill>
                      <a:srgbClr val="FFFFFF"/>
                    </a:solidFill>
                  </a:tcPr>
                </a:tc>
                <a:tc>
                  <a:txBody>
                    <a:bodyPr/>
                    <a:lstStyle/>
                    <a:p>
                      <a:r>
                        <a:rPr sz="1100">
                          <a:solidFill>
                            <a:srgbClr val="111111"/>
                          </a:solidFill>
                          <a:latin typeface="Calibri"/>
                        </a:rPr>
                        <a:t>52.3x</a:t>
                      </a:r>
                    </a:p>
                  </a:txBody>
                  <a:tcPr>
                    <a:solidFill>
                      <a:srgbClr val="FFFFFF"/>
                    </a:solidFill>
                  </a:tcPr>
                </a:tc>
                <a:tc>
                  <a:txBody>
                    <a:bodyPr/>
                    <a:lstStyle/>
                    <a:p>
                      <a:r>
                        <a:rPr sz="1100">
                          <a:solidFill>
                            <a:srgbClr val="111111"/>
                          </a:solidFill>
                          <a:latin typeface="Calibri"/>
                        </a:rPr>
                        <a:t>20.1x</a:t>
                      </a:r>
                    </a:p>
                  </a:txBody>
                  <a:tcPr>
                    <a:solidFill>
                      <a:srgbClr val="FFFFFF"/>
                    </a:solidFill>
                  </a:tcPr>
                </a:tc>
                <a:tc>
                  <a:txBody>
                    <a:bodyPr/>
                    <a:lstStyle/>
                    <a:p>
                      <a:r>
                        <a:rPr sz="1100">
                          <a:solidFill>
                            <a:srgbClr val="111111"/>
                          </a:solidFill>
                          <a:latin typeface="Calibri"/>
                        </a:rPr>
                        <a:t>19.7x</a:t>
                      </a:r>
                    </a:p>
                  </a:txBody>
                  <a:tcPr>
                    <a:solidFill>
                      <a:srgbClr val="FFFFFF"/>
                    </a:solidFill>
                  </a:tcPr>
                </a:tc>
                <a:tc>
                  <a:txBody>
                    <a:bodyPr/>
                    <a:lstStyle/>
                    <a:p>
                      <a:r>
                        <a:rPr sz="1100">
                          <a:solidFill>
                            <a:srgbClr val="111111"/>
                          </a:solidFill>
                          <a:latin typeface="Calibri"/>
                        </a:rPr>
                        <a:t>16.1x</a:t>
                      </a:r>
                    </a:p>
                  </a:txBody>
                  <a:tcPr>
                    <a:solidFill>
                      <a:srgbClr val="FFFFFF"/>
                    </a:solidFill>
                  </a:tcPr>
                </a:tc>
                <a:tc>
                  <a:txBody>
                    <a:bodyPr/>
                    <a:lstStyle/>
                    <a:p>
                      <a:r>
                        <a:rPr sz="1100">
                          <a:solidFill>
                            <a:srgbClr val="111111"/>
                          </a:solidFill>
                          <a:latin typeface="Calibri"/>
                        </a:rPr>
                        <a:t>12.4x</a:t>
                      </a:r>
                    </a:p>
                  </a:txBody>
                  <a:tcPr>
                    <a:solidFill>
                      <a:srgbClr val="FFFFFF"/>
                    </a:solidFill>
                  </a:tcPr>
                </a:tc>
                <a:tc>
                  <a:txBody>
                    <a:bodyPr/>
                    <a:lstStyle/>
                    <a:p>
                      <a:r>
                        <a:rPr sz="1100">
                          <a:solidFill>
                            <a:srgbClr val="111111"/>
                          </a:solidFill>
                          <a:latin typeface="Calibri"/>
                        </a:rPr>
                        <a:t>9.6x</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8.7x</a:t>
                      </a:r>
                    </a:p>
                  </a:txBody>
                  <a:tcPr/>
                </a:tc>
                <a:tc>
                  <a:txBody>
                    <a:bodyPr/>
                    <a:lstStyle/>
                    <a:p>
                      <a:r>
                        <a:rPr sz="1100">
                          <a:solidFill>
                            <a:srgbClr val="111111"/>
                          </a:solidFill>
                          <a:latin typeface="Calibri"/>
                        </a:rPr>
                        <a:t>7.8x</a:t>
                      </a:r>
                    </a:p>
                  </a:txBody>
                  <a:tcPr/>
                </a:tc>
                <a:tc>
                  <a:txBody>
                    <a:bodyPr/>
                    <a:lstStyle/>
                    <a:p>
                      <a:r>
                        <a:rPr sz="1100">
                          <a:solidFill>
                            <a:srgbClr val="111111"/>
                          </a:solidFill>
                          <a:latin typeface="Calibri"/>
                        </a:rPr>
                        <a:t>5.6x</a:t>
                      </a:r>
                    </a:p>
                  </a:txBody>
                  <a:tcPr/>
                </a:tc>
                <a:tc>
                  <a:txBody>
                    <a:bodyPr/>
                    <a:lstStyle/>
                    <a:p>
                      <a:r>
                        <a:rPr sz="1100">
                          <a:solidFill>
                            <a:srgbClr val="111111"/>
                          </a:solidFill>
                          <a:latin typeface="Calibri"/>
                        </a:rPr>
                        <a:t>4.5x</a:t>
                      </a:r>
                    </a:p>
                  </a:txBody>
                  <a:tcPr/>
                </a:tc>
                <a:tc>
                  <a:txBody>
                    <a:bodyPr/>
                    <a:lstStyle/>
                    <a:p>
                      <a:r>
                        <a:rPr sz="1100">
                          <a:solidFill>
                            <a:srgbClr val="111111"/>
                          </a:solidFill>
                          <a:latin typeface="Calibri"/>
                        </a:rPr>
                        <a:t>3.6x</a:t>
                      </a:r>
                    </a:p>
                  </a:txBody>
                  <a:tcPr/>
                </a:tc>
                <a:tc>
                  <a:txBody>
                    <a:bodyPr/>
                    <a:lstStyle/>
                    <a:p>
                      <a:r>
                        <a:rPr sz="1100">
                          <a:solidFill>
                            <a:srgbClr val="111111"/>
                          </a:solidFill>
                          <a:latin typeface="Calibri"/>
                        </a:rPr>
                        <a:t>2.9x</a:t>
                      </a:r>
                    </a:p>
                  </a:txBody>
                  <a:tcPr/>
                </a:tc>
                <a:tc>
                  <a:txBody>
                    <a:bodyPr/>
                    <a:lstStyle/>
                    <a:p>
                      <a:r>
                        <a:rPr sz="1100">
                          <a:solidFill>
                            <a:srgbClr val="111111"/>
                          </a:solidFill>
                          <a:latin typeface="Calibri"/>
                        </a:rPr>
                        <a:t>2.3x</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9.0x</a:t>
                      </a:r>
                    </a:p>
                  </a:txBody>
                  <a:tcPr>
                    <a:solidFill>
                      <a:srgbClr val="FFFFFF"/>
                    </a:solidFill>
                  </a:tcPr>
                </a:tc>
                <a:tc>
                  <a:txBody>
                    <a:bodyPr/>
                    <a:lstStyle/>
                    <a:p>
                      <a:r>
                        <a:rPr sz="1100">
                          <a:solidFill>
                            <a:srgbClr val="111111"/>
                          </a:solidFill>
                          <a:latin typeface="Calibri"/>
                        </a:rPr>
                        <a:t>10.3x</a:t>
                      </a:r>
                    </a:p>
                  </a:txBody>
                  <a:tcPr>
                    <a:solidFill>
                      <a:srgbClr val="FFFFFF"/>
                    </a:solidFill>
                  </a:tcPr>
                </a:tc>
                <a:tc>
                  <a:txBody>
                    <a:bodyPr/>
                    <a:lstStyle/>
                    <a:p>
                      <a:r>
                        <a:rPr sz="1100">
                          <a:solidFill>
                            <a:srgbClr val="111111"/>
                          </a:solidFill>
                          <a:latin typeface="Calibri"/>
                        </a:rPr>
                        <a:t>9.5x</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12.7x</a:t>
                      </a:r>
                    </a:p>
                  </a:txBody>
                  <a:tcPr>
                    <a:solidFill>
                      <a:srgbClr val="FFFFFF"/>
                    </a:solidFill>
                  </a:tcPr>
                </a:tc>
                <a:tc>
                  <a:txBody>
                    <a:bodyPr/>
                    <a:lstStyle/>
                    <a:p>
                      <a:r>
                        <a:rPr sz="1100">
                          <a:solidFill>
                            <a:srgbClr val="111111"/>
                          </a:solidFill>
                          <a:latin typeface="Calibri"/>
                        </a:rPr>
                        <a:t>10.5x</a:t>
                      </a:r>
                    </a:p>
                  </a:txBody>
                  <a:tcPr>
                    <a:solidFill>
                      <a:srgbClr val="FFFFFF"/>
                    </a:solidFill>
                  </a:tcPr>
                </a:tc>
                <a:tc>
                  <a:txBody>
                    <a:bodyPr/>
                    <a:lstStyle/>
                    <a:p>
                      <a:r>
                        <a:rPr sz="1100">
                          <a:solidFill>
                            <a:srgbClr val="111111"/>
                          </a:solidFill>
                          <a:latin typeface="Calibri"/>
                        </a:rPr>
                        <a:t>8.8x</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 Methods Summary</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Probability-weighted target price reconciles bull, base, and bear cases.</a:t>
            </a:r>
          </a:p>
        </p:txBody>
      </p:sp>
      <p:graphicFrame>
        <p:nvGraphicFramePr>
          <p:cNvPr id="12" name="Table 11"/>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2819323"/>
                <a:gridCol w="2819323"/>
                <a:gridCol w="2819323"/>
                <a:gridCol w="2819326"/>
              </a:tblGrid>
              <a:tr h="777240">
                <a:tc>
                  <a:txBody>
                    <a:bodyPr/>
                    <a:lstStyle/>
                    <a:p>
                      <a:r>
                        <a:rPr b="1" sz="1100">
                          <a:solidFill>
                            <a:srgbClr val="FFFFFF"/>
                          </a:solidFill>
                          <a:latin typeface="Calibri"/>
                        </a:rPr>
                        <a:t>Case</a:t>
                      </a:r>
                    </a:p>
                  </a:txBody>
                  <a:tcPr>
                    <a:solidFill>
                      <a:srgbClr val="1F4690"/>
                    </a:solidFill>
                  </a:tcPr>
                </a:tc>
                <a:tc>
                  <a:txBody>
                    <a:bodyPr/>
                    <a:lstStyle/>
                    <a:p>
                      <a:r>
                        <a:rPr b="1" sz="1100">
                          <a:solidFill>
                            <a:srgbClr val="FFFFFF"/>
                          </a:solidFill>
                          <a:latin typeface="Calibri"/>
                        </a:rPr>
                        <a:t>Target</a:t>
                      </a:r>
                    </a:p>
                  </a:txBody>
                  <a:tcPr>
                    <a:solidFill>
                      <a:srgbClr val="1F4690"/>
                    </a:solidFill>
                  </a:tcPr>
                </a:tc>
                <a:tc>
                  <a:txBody>
                    <a:bodyPr/>
                    <a:lstStyle/>
                    <a:p>
                      <a:r>
                        <a:rPr b="1" sz="1100">
                          <a:solidFill>
                            <a:srgbClr val="FFFFFF"/>
                          </a:solidFill>
                          <a:latin typeface="Calibri"/>
                        </a:rPr>
                        <a:t>Weight</a:t>
                      </a:r>
                    </a:p>
                  </a:txBody>
                  <a:tcPr>
                    <a:solidFill>
                      <a:srgbClr val="1F4690"/>
                    </a:solidFill>
                  </a:tcPr>
                </a:tc>
                <a:tc>
                  <a:txBody>
                    <a:bodyPr/>
                    <a:lstStyle/>
                    <a:p>
                      <a:r>
                        <a:rPr b="1" sz="1100">
                          <a:solidFill>
                            <a:srgbClr val="FFFFFF"/>
                          </a:solidFill>
                          <a:latin typeface="Calibri"/>
                        </a:rPr>
                        <a:t>Basis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Case</a:t>
                      </a:r>
                    </a:p>
                  </a:txBody>
                  <a:tcPr>
                    <a:solidFill>
                      <a:srgbClr val="1F4690"/>
                    </a:solidFill>
                  </a:tcPr>
                </a:tc>
                <a:tc>
                  <a:txBody>
                    <a:bodyPr/>
                    <a:lstStyle/>
                    <a:p>
                      <a:r>
                        <a:rPr b="1" sz="1100">
                          <a:solidFill>
                            <a:srgbClr val="FFFFFF"/>
                          </a:solidFill>
                          <a:latin typeface="Calibri"/>
                        </a:rPr>
                        <a:t>Rev CAGR</a:t>
                      </a:r>
                    </a:p>
                  </a:txBody>
                  <a:tcPr>
                    <a:solidFill>
                      <a:srgbClr val="1F4690"/>
                    </a:solidFill>
                  </a:tcPr>
                </a:tc>
                <a:tc>
                  <a:txBody>
                    <a:bodyPr/>
                    <a:lstStyle/>
                    <a:p>
                      <a:r>
                        <a:rPr b="1" sz="1100">
                          <a:solidFill>
                            <a:srgbClr val="FFFFFF"/>
                          </a:solidFill>
                          <a:latin typeface="Calibri"/>
                        </a:rPr>
                        <a:t>EBITDA Mgn</a:t>
                      </a:r>
                    </a:p>
                  </a:txBody>
                  <a:tcPr>
                    <a:solidFill>
                      <a:srgbClr val="1F4690"/>
                    </a:solidFill>
                  </a:tcPr>
                </a:tc>
                <a:tc>
                  <a:txBody>
                    <a:bodyPr/>
                    <a:lstStyle/>
                    <a:p>
                      <a:r>
                        <a:rPr b="1" sz="1100">
                          <a:solidFill>
                            <a:srgbClr val="FFFFFF"/>
                          </a:solidFill>
                          <a:latin typeface="Calibri"/>
                        </a:rPr>
                        <a:t>Target Price</a:t>
                      </a:r>
                    </a:p>
                  </a:txBody>
                  <a:tcPr>
                    <a:solidFill>
                      <a:srgbClr val="1F4690"/>
                    </a:solidFill>
                  </a:tcPr>
                </a:tc>
                <a:tc>
                  <a:txBody>
                    <a:bodyPr/>
                    <a:lstStyle/>
                    <a:p>
                      <a:r>
                        <a:rPr b="1" sz="1100">
                          <a:solidFill>
                            <a:srgbClr val="FFFFFF"/>
                          </a:solidFill>
                          <a:latin typeface="Calibri"/>
                        </a:rPr>
                        <a:t>Probability</a:t>
                      </a:r>
                    </a:p>
                  </a:txBody>
                  <a:tcPr>
                    <a:solidFill>
                      <a:srgbClr val="1F4690"/>
                    </a:solidFill>
                  </a:tcPr>
                </a:tc>
                <a:tc>
                  <a:txBody>
                    <a:bodyPr/>
                    <a:lstStyle/>
                    <a:p>
                      <a:r>
                        <a:rPr b="1" sz="1100">
                          <a:solidFill>
                            <a:srgbClr val="FFFFFF"/>
                          </a:solidFill>
                          <a:latin typeface="Calibri"/>
                        </a:rPr>
                        <a:t>Drivers</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Catalysts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contribution crossing the relevant figure of revenues, triggering valuation re-rating from broking to asset management...</a:t>
            </a:r>
          </a:p>
          <a:p>
            <a:pPr/>
            <a:r>
              <a:rPr sz="1100" b="0">
                <a:solidFill>
                  <a:srgbClr val="111111"/>
                </a:solidFill>
                <a:latin typeface="Calibri"/>
              </a:rPr>
              <a:t>- Sustained AMC AUM growth above the relevant figure YoY with net flows exceeding the relevant figure crore annually</a:t>
            </a:r>
          </a:p>
          <a:p>
            <a:pPr/>
            <a:r>
              <a:rPr sz="1100" b="0">
                <a:solidFill>
                  <a:srgbClr val="111111"/>
                </a:solidFill>
                <a:latin typeface="Calibri"/>
              </a:rPr>
              <a:t>- Private wealth AUM growth above the relevant figure YoY with family count expansion</a:t>
            </a:r>
          </a:p>
          <a:p>
            <a:pPr/>
            <a:r>
              <a:rPr sz="1100" b="0">
                <a:solidFill>
                  <a:srgbClr val="111111"/>
                </a:solidFill>
                <a:latin typeface="Calibri"/>
              </a:rPr>
              <a:t>- Operating leverage improvement with cost-to-income ratio declining</a:t>
            </a:r>
          </a:p>
          <a:p>
            <a:pPr/>
            <a:r>
              <a:rPr sz="11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Founder-led leadership with deep institutional DNA.</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 Governance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contribution above the relevant figure of net revenues</a:t>
            </a:r>
          </a:p>
          <a:p>
            <a:pPr/>
            <a:r>
              <a:rPr sz="1100" b="0">
                <a:solidFill>
                  <a:srgbClr val="111111"/>
                </a:solidFill>
                <a:latin typeface="Calibri"/>
              </a:rPr>
              <a:t>- AMC AUM growth above the relevant figure YoY with net flows &gt; the relevant figure Cr</a:t>
            </a:r>
          </a:p>
          <a:p>
            <a:pPr/>
            <a:r>
              <a:rPr sz="1100" b="0">
                <a:solidFill>
                  <a:srgbClr val="111111"/>
                </a:solidFill>
                <a:latin typeface="Calibri"/>
              </a:rPr>
              <a:t>- PWM AUM growth above the relevant figure YoY with family count expansion</a:t>
            </a:r>
          </a:p>
          <a:p>
            <a:pPr/>
            <a:r>
              <a:rPr sz="1100" b="0">
                <a:solidFill>
                  <a:srgbClr val="111111"/>
                </a:solidFill>
                <a:latin typeface="Calibri"/>
              </a:rPr>
              <a:t>- Cost-to-income ratio declining</a:t>
            </a:r>
          </a:p>
          <a:p>
            <a:pPr/>
            <a:r>
              <a:rPr sz="11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regulatory headwinds on F&amp;O trading norms compressing cyclical broking revenues</a:t>
            </a:r>
          </a:p>
          <a:p>
            <a:pPr/>
            <a:r>
              <a:rPr sz="1100" b="0">
                <a:solidFill>
                  <a:srgbClr val="111111"/>
                </a:solidFill>
                <a:latin typeface="Calibri"/>
              </a:rPr>
              <a:t>- Q2FY26 profit declined the relevant figure YoY and revenue the relevant figure YoY due to regulatory changes — residual cyclicality</a:t>
            </a:r>
          </a:p>
          <a:p>
            <a:pPr/>
            <a:r>
              <a:rPr sz="1100" b="0">
                <a:solidFill>
                  <a:srgbClr val="111111"/>
                </a:solidFill>
                <a:latin typeface="Calibri"/>
              </a:rPr>
              <a:t>- Competitive intensity from discount brokers and fintech platforms compressing yields</a:t>
            </a:r>
          </a:p>
          <a:p>
            <a:pPr/>
            <a:r>
              <a:rPr sz="1100" b="0">
                <a:solidFill>
                  <a:srgbClr val="111111"/>
                </a:solidFill>
                <a:latin typeface="Calibri"/>
              </a:rPr>
              <a:t>- Forensic / governance: recurring SEBI matters require monitoring (Monitor Closely category)</a:t>
            </a:r>
          </a:p>
          <a:p>
            <a:pPr/>
            <a:r>
              <a:rPr sz="1100" b="0">
                <a:solidFill>
                  <a:srgbClr val="111111"/>
                </a:solidFill>
                <a:latin typeface="Calibri"/>
              </a:rPr>
              <a:t>- Mark-to-market volatility on the proprietary book</a:t>
            </a:r>
          </a:p>
          <a:p>
            <a:pPr/>
            <a:r>
              <a:rPr sz="11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Analyst Certification &amp; Disclosures</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