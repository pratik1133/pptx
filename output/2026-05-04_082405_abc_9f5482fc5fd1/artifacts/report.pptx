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ABC Ltd with a BUY rating. The company is emerging as a scaled specialty chemicals platform, benefiting from a structural migration in product mix toward higher-value formulations and a deliberate push into export markets that broadens the addressable revenue base. Backward integration initiatives are progressively reducing input cost exposure, while disciplined capacity additions signal management's confidence in sustained demand visibility. The combination of improving margin quality, earnings visibility, and an undemanding valuation relative to peers creates a compelling entry point at current levels.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Specialty mix shift is the primary earnings-quality driver, reducing dependence on commodity-linked volumes and widening blended ma...</a:t>
            </a:r>
          </a:p>
          <a:p>
            <a:pPr/>
            <a:r>
              <a:rPr sz="1100" b="0">
                <a:solidFill>
                  <a:srgbClr val="111111"/>
                </a:solidFill>
                <a:latin typeface="Calibri"/>
              </a:rPr>
              <a:t>- Export penetration is deepening across key end markets, diversifying revenue away from India-centric demand cycles.</a:t>
            </a:r>
          </a:p>
          <a:p>
            <a:pPr/>
            <a:r>
              <a:rPr sz="1100" b="0">
                <a:solidFill>
                  <a:srgbClr val="111111"/>
                </a:solidFill>
                <a:latin typeface="Calibri"/>
              </a:rPr>
              <a:t>- Backward integration is structurally reducing sensitivity to key raw material price swings, supporting gross margin stability.</a:t>
            </a:r>
          </a:p>
          <a:p>
            <a:pPr/>
            <a:r>
              <a:rPr sz="1100" b="0">
                <a:solidFill>
                  <a:srgbClr val="111111"/>
                </a:solidFill>
                <a:latin typeface="Calibri"/>
              </a:rPr>
              <a:t>- Management has demonstrated execution consistency across prior capex cycles, building credibility for the next phase of capacity ex...</a:t>
            </a:r>
          </a:p>
          <a:p>
            <a:pPr/>
            <a:r>
              <a:rPr sz="1100" b="0">
                <a:solidFill>
                  <a:srgbClr val="111111"/>
                </a:solidFill>
                <a:latin typeface="Calibri"/>
              </a:rPr>
              <a:t>- Demand visibility across end markets remains healthy, underpinning conviction in near-to-medium-term revenue ramp-up.</a:t>
            </a:r>
          </a:p>
          <a:p>
            <a:pPr/>
            <a:r>
              <a:rPr sz="1100" b="0">
                <a:solidFill>
                  <a:srgbClr val="111111"/>
                </a:solidFill>
                <a:latin typeface="Calibri"/>
              </a:rPr>
              <a:t>- Valuation offers a meaningful upside to our target price, with room for further re-rating as margin expansion is delivered.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 specialty chemicals manufacturer headquartered in India, with a business model centred on export-led growth and progressive margin expansion through product mix improvement. The company derives revenues across multiple specialty chemistry segments, with end-market exposure spanning agrochemicals, performance materials, and industrial applications. Revenue growth is driven by capacity additions, utilisation ramp-up, and increasing share of higher-realisation specialty products. The company's cost structure is sensitive to key petrochemical and agrochemical intermediary inputs, a risk that management is mitigating through backward integration and long-term procurement contracts.</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(INR) ₹420.0</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(INR) ₹515.0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 22.6%</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FY26E Revenue (INR Cr) 28,500.0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India's specialty chemicals industry is at an inflection point, driven by global supply-chain diversification away from China and rising domestic demand from end-user industries such as agrochemicals, pharmaceuticals, and performance materials. The industry is characterised by high barriers to entry in complex synthesis and stringent regulatory compliance requirements, rewarding incumbents with superior scale and process capabilities. Export penetration from India has been accelerating as global chemical majors seek reliable, cost-competitive, and ESG-compliant sourcing partners outside China. Domestically, import substitution continues to open addressable market opportunities for manufacturers with the technical capability to serve import-heavy niches. Capacity expansion across the industry is proceeding in a measured manner, limiting the risk of near-term oversupply in specialty segments.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China-plus-one sourcing strategies among global chemical buyers are creating durable demand tailwinds for Indian specialty...</a:t>
            </a:r>
          </a:p>
          <a:p>
            <a:pPr/>
            <a:r>
              <a:rPr sz="1100" b="0">
                <a:solidFill>
                  <a:srgbClr val="111111"/>
                </a:solidFill>
                <a:latin typeface="Calibri"/>
              </a:rPr>
              <a:t>- Domestic agrochemical, pharma, and polymer end-markets are growing steadily, providing a resilient base load for specialty...</a:t>
            </a:r>
          </a:p>
          <a:p>
            <a:pPr/>
            <a:r>
              <a:rPr sz="1100" b="0">
                <a:solidFill>
                  <a:srgbClr val="111111"/>
                </a:solidFill>
                <a:latin typeface="Calibri"/>
              </a:rPr>
              <a:t>- Import substitution across complex chemistries represents an underpenetrated opportunity for manufacturers with advanced sy...</a:t>
            </a:r>
          </a:p>
          <a:p>
            <a:pPr/>
            <a:r>
              <a:rPr sz="1100" b="0">
                <a:solidFill>
                  <a:srgbClr val="111111"/>
                </a:solidFill>
                <a:latin typeface="Calibri"/>
              </a:rPr>
              <a:t>- Government policy support through PLI schemes and environmental compliance enforcement is favouring organised, scaled playe...</a:t>
            </a:r>
          </a:p>
          <a:p>
            <a:pPr/>
            <a:r>
              <a:rPr sz="1100" b="0">
                <a:solidFill>
                  <a:srgbClr val="111111"/>
                </a:solidFill>
                <a:latin typeface="Calibri"/>
              </a:rPr>
              <a:t>- Rising ESG scrutiny from multinational customers is accelerating vendor qualification of compliant Indian suppliers, a mult...</a:t>
            </a:r>
          </a:p>
          <a:p>
            <a:pPr/>
            <a:r>
              <a:rPr sz="1100" b="0">
                <a:solidFill>
                  <a:srgbClr val="111111"/>
                </a:solidFill>
                <a:latin typeface="Calibri"/>
              </a:rPr>
              <a:t>- Capacity utilisation across leading Indian specialty chemical players remains healthy, signalling disciplined supply-side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Investment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Mix Shift: Product portfolio migration toward specialty and export-grade formulations is the primary driver of margin expansion and earnings-quality improvement.</a:t>
            </a:r>
          </a:p>
          <a:p>
            <a:pPr/>
            <a:r>
              <a:rPr sz="1100" b="0">
                <a:solidFill>
                  <a:srgbClr val="111111"/>
                </a:solidFill>
                <a:latin typeface="Calibri"/>
              </a:rPr>
              <a:t>- Export Engine: Growing international customer base across regulated and semi-regulated markets diversifies revenue and insulates against domestic demand volatility.</a:t>
            </a:r>
          </a:p>
          <a:p>
            <a:pPr/>
            <a:r>
              <a:rPr sz="1100" b="0">
                <a:solidFill>
                  <a:srgbClr val="111111"/>
                </a:solidFill>
                <a:latin typeface="Calibri"/>
              </a:rPr>
              <a:t>- Backward Integration: Progressive in-sourcing of key raw material steps is reducing gross margin sensitivity to commodity input price cycles.</a:t>
            </a:r>
          </a:p>
          <a:p>
            <a:pPr/>
            <a:r>
              <a:rPr sz="1100" b="0">
                <a:solidFill>
                  <a:srgbClr val="111111"/>
                </a:solidFill>
                <a:latin typeface="Calibri"/>
              </a:rPr>
              <a:t>- Capacity Discipline: Phased capex additions aligned with demand visibility reduce balance-sheet risk while ensuring growth optionality is preserved.</a:t>
            </a:r>
          </a:p>
          <a:p>
            <a:pPr/>
            <a:r>
              <a:rPr sz="1100" b="0">
                <a:solidFill>
                  <a:srgbClr val="111111"/>
                </a:solidFill>
                <a:latin typeface="Calibri"/>
              </a:rPr>
              <a:t>- Management Track Record: Consistent execution through prior investment cycles and expansion phases builds confidence in the current capex programme delivering on plan.</a:t>
            </a:r>
          </a:p>
          <a:p>
            <a:pPr/>
            <a:r>
              <a:rPr sz="1100" b="0">
                <a:solidFill>
                  <a:srgbClr val="111111"/>
                </a:solidFill>
                <a:latin typeface="Calibri"/>
              </a:rPr>
              <a:t>- Valuation Opportunity: Current market pricing does not fully reflect the margin trajectory and earnings growth embedded in the FY26–FY27 delivery pipeline.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Trajectory — Growth in Motion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Ltd's revenue trajectory reflects the compounding effect of capacity additions, improving utilisation, and a deliberate shift toward higher-realisation specialty products. Growth has been supported by export market development across key geographies, where ABC is progressively qualifying as an approved supplier to global chemical companies seeking India-based alternatives to Chinese supply chains. The forecast horizon captures the earnings conversion from current capacity investments, with meaningful step-ups anticipated as new lines reach commercial production. Volume discipline is expected to be maintained — management has historically avoided chasing low-margin volume, a practice that supports the quality of revenue growth in our model.</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 — The Core Re-Rating Driver</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Margin expansion is the central value-creation theme at ABC Ltd, and our forecast reflects a credible pathway toward structurally higher profitability. The key drivers are threefold: first, product mix enrichment as specialty and export-grade formulations grow as a proportion of total revenue; second, backward integration reducing the cost of key raw material inputs; and third, operating leverage as fixed overheads are spread across a growing revenue base following capacity additions. Raw material exposure — particularly to key petrochemical and agrochemical intermediary feedstocks — remains the principal near-term headwind, but ABC's hedging practices and integration steps provide meaningful mitigation. The margin trajectory in our model is conservative relative to management guidance, reflecting our prudent assumption on utilisation ramp pace.</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Financial Ratios — Margins, Returns, and Leverage</a:t>
            </a:r>
          </a:p>
        </p:txBody>
      </p:sp>
      <p:sp>
        <p:nvSpPr>
          <p:cNvPr id="11" name="TextBox 10"/>
          <p:cNvSpPr txBox="1"/>
          <p:nvPr/>
        </p:nvSpPr>
        <p:spPr>
          <a:xfrm>
            <a:off x="457200" y="1417320"/>
            <a:ext cx="4572000" cy="1645920"/>
          </a:xfrm>
          <a:prstGeom prst="rect">
            <a:avLst/>
          </a:prstGeom>
          <a:noFill/>
        </p:spPr>
        <p:txBody>
          <a:bodyPr wrap="square">
            <a:spAutoFit/>
          </a:bodyPr>
          <a:lstStyle/>
          <a:p>
            <a:r>
              <a:rPr sz="900" b="0">
                <a:solidFill>
                  <a:srgbClr val="111111"/>
                </a:solidFill>
                <a:latin typeface="Calibri"/>
              </a:rPr>
              <a:t>ABC Ltd's financial profile across the forecast period reflects a company transitioning from an investment phase into a returns-accretive delivery phase. EBITDA generation is expected to grow materially as new capacity reaches commercial utilisation, translating into improved return on equity and a progressively deleveraging balance sheet. The net debt position, while elevated during peak capex, is expected to normalise as free cash flow generation accelerates beyond FY26. Return on equity is forecasted to improve in line with earnings growth and disciplined capital...</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FY26E EBITDA (INR Cr) 5,900.0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Net Debt / EBITDA (FY26E) 0.8</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FY26E ROE (%) 18.4</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FY26E PAT (INR Cr) 3,450.0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 Upside to Our Target Price</a:t>
            </a:r>
          </a:p>
        </p:txBody>
      </p:sp>
      <p:sp>
        <p:nvSpPr>
          <p:cNvPr id="11" name="TextBox 10"/>
          <p:cNvSpPr txBox="1"/>
          <p:nvPr/>
        </p:nvSpPr>
        <p:spPr>
          <a:xfrm>
            <a:off x="457200" y="1417320"/>
            <a:ext cx="4572000" cy="1645920"/>
          </a:xfrm>
          <a:prstGeom prst="rect">
            <a:avLst/>
          </a:prstGeom>
          <a:noFill/>
        </p:spPr>
        <p:txBody>
          <a:bodyPr wrap="square">
            <a:spAutoFit/>
          </a:bodyPr>
          <a:lstStyle/>
          <a:p>
            <a:r>
              <a:rPr sz="900" b="0">
                <a:solidFill>
                  <a:srgbClr val="111111"/>
                </a:solidFill>
                <a:latin typeface="Calibri"/>
              </a:rPr>
              <a:t>Our valuation of ABC Ltd is anchored on a combination of earnings-based multiples and discounted cash flow analysis, consistent with standard practice for growth-oriented specialty chemicals companies. The base case reflects a measured view on margin expansion and revenue ramp-up, with no credit given to upside scenarios until execution is demonstrated. On FY26 estimates, the stock is trading at a meaningful discount to comparable specialty chemical peers, which we view as unjustified given ABC's improving return profile and export momentum. We set our target price b...</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Target Price (INR) ₹515.0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Upside (%) 22.6%</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FY26E PAT (INR Cr) 3,450.0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FY26E EBITDA (INR Cr) 5,900.0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Summary — Intrinsic Value Cross-Check</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Our discounted cash flow model for ABC Ltd is built on conservative assumptions to stress-test the base case valuation. Free cash flow projections incorporate the capex cycle for new capacity additions through FY27, with normalised maintenance capex assumed beyond the investment phase. Working capital intensity is modelled consistent with the company's recent operational track record, including appropriate assumptions for inventory days and debtor days in a specialty chemical manufacturing context. The terminal value captures steady-state growth consistent with a mid-cycle specialty chemicals compounder, and our WACC reflects ABC's current capital structure, credit profile, and the equity risk premium applicable to mid-cap Indian industrials. The DCF output corroborates our multiple-based target price, providing two-way validation of our fair value estimate.</a:t>
            </a:r>
          </a:p>
        </p:txBody>
      </p:sp>
      <p:sp>
        <p:nvSpPr>
          <p:cNvPr id="12" name="TextBox 11"/>
          <p:cNvSpPr txBox="1"/>
          <p:nvPr/>
        </p:nvSpPr>
        <p:spPr>
          <a:xfrm>
            <a:off x="5760720" y="1417320"/>
            <a:ext cx="1945538" cy="1554480"/>
          </a:xfrm>
          <a:prstGeom prst="rect">
            <a:avLst/>
          </a:prstGeom>
          <a:noFill/>
        </p:spPr>
        <p:txBody>
          <a:bodyPr wrap="square">
            <a:spAutoFit/>
          </a:bodyPr>
          <a:lstStyle/>
          <a:p>
            <a:pPr algn="ctr"/>
            <a:r>
              <a:rPr sz="1400" b="1">
                <a:solidFill>
                  <a:srgbClr val="1F4690"/>
                </a:solidFill>
                <a:latin typeface="Calibri"/>
              </a:rPr>
              <a:t>FY26E EBITDA (INR Cr) 5,900.0</a:t>
            </a:r>
          </a:p>
        </p:txBody>
      </p:sp>
      <p:sp>
        <p:nvSpPr>
          <p:cNvPr id="13" name="TextBox 12"/>
          <p:cNvSpPr txBox="1"/>
          <p:nvPr/>
        </p:nvSpPr>
        <p:spPr>
          <a:xfrm>
            <a:off x="7751978" y="1417320"/>
            <a:ext cx="1945538" cy="1554480"/>
          </a:xfrm>
          <a:prstGeom prst="rect">
            <a:avLst/>
          </a:prstGeom>
          <a:noFill/>
        </p:spPr>
        <p:txBody>
          <a:bodyPr wrap="square">
            <a:spAutoFit/>
          </a:bodyPr>
          <a:lstStyle/>
          <a:p>
            <a:pPr algn="ctr"/>
            <a:r>
              <a:rPr sz="1400" b="1">
                <a:solidFill>
                  <a:srgbClr val="1F4690"/>
                </a:solidFill>
                <a:latin typeface="Calibri"/>
              </a:rPr>
              <a:t>Net Debt / EBITDA (FY26E) 0.8</a:t>
            </a:r>
          </a:p>
        </p:txBody>
      </p:sp>
      <p:sp>
        <p:nvSpPr>
          <p:cNvPr id="14" name="TextBox 13"/>
          <p:cNvSpPr txBox="1"/>
          <p:nvPr/>
        </p:nvSpPr>
        <p:spPr>
          <a:xfrm>
            <a:off x="9743236" y="1417320"/>
            <a:ext cx="1945538" cy="1554480"/>
          </a:xfrm>
          <a:prstGeom prst="rect">
            <a:avLst/>
          </a:prstGeom>
          <a:noFill/>
        </p:spPr>
        <p:txBody>
          <a:bodyPr wrap="square">
            <a:spAutoFit/>
          </a:bodyPr>
          <a:lstStyle/>
          <a:p>
            <a:pPr algn="ctr"/>
            <a:r>
              <a:rPr sz="1400" b="1">
                <a:solidFill>
                  <a:srgbClr val="1F4690"/>
                </a:solidFill>
                <a:latin typeface="Calibri"/>
              </a:rPr>
              <a:t>FY26E ROE (%) 18.4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and Monitoring Points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price volatility — a sustained spike in key petrochemical or agrochemical feedstock costs could compress gross margins materially and delay EBITDA margin expansion.</a:t>
            </a:r>
          </a:p>
          <a:p>
            <a:pPr/>
            <a:r>
              <a:rPr sz="1100" b="0">
                <a:solidFill>
                  <a:srgbClr val="111111"/>
                </a:solidFill>
                <a:latin typeface="Calibri"/>
              </a:rPr>
              <a:t>- Utilisation ramp delays — slower-than-anticipated ramp-up of new capacity additions would push out earnings conversion and extend the payback period on current capex investments.</a:t>
            </a:r>
          </a:p>
          <a:p>
            <a:pPr/>
            <a:r>
              <a:rPr sz="1100" b="0">
                <a:solidFill>
                  <a:srgbClr val="111111"/>
                </a:solidFill>
                <a:latin typeface="Calibri"/>
              </a:rPr>
              <a:t>- Export demand softness — any deterioration in global specialty chemical demand, particularly from key export geographies, could reduce revenue visibility and pressurise realisations.</a:t>
            </a:r>
          </a:p>
          <a:p>
            <a:pPr/>
            <a:r>
              <a:rPr sz="1100" b="0">
                <a:solidFill>
                  <a:srgbClr val="111111"/>
                </a:solidFill>
                <a:latin typeface="Calibri"/>
              </a:rPr>
              <a:t>- China import competition — renewed aggressive pricing from Chinese chemical producers could undermine ABC's pricing power in both domestic and international markets.</a:t>
            </a:r>
          </a:p>
          <a:p>
            <a:pPr/>
            <a:r>
              <a:rPr sz="1100" b="0">
                <a:solidFill>
                  <a:srgbClr val="111111"/>
                </a:solidFill>
                <a:latin typeface="Calibri"/>
              </a:rPr>
              <a:t>- Regulatory and compliance risk — tightening environmental norms or customer qualification delays in regulated export markets could disrupt timelines and impose additional compliance costs.</a:t>
            </a:r>
          </a:p>
          <a:p>
            <a:pPr/>
            <a:r>
              <a:rPr sz="1100" b="0">
                <a:solidFill>
                  <a:srgbClr val="111111"/>
                </a:solidFill>
                <a:latin typeface="Calibri"/>
              </a:rPr>
              <a:t>- Foreign exchange exposure — a significant appreciation of the Indian rupee relative to export-invoiced currencies could reduce the INR realisation on export revenues without commensurate cost offsets.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 Entry, Review, and Exit</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trading strategy for ABC Ltd is premised on a medium-term hold with clearly defined entry, review, and exit conditions. The current price level offers an attractive entry relative to our target price, and we recommend building a position at current market levels with scope to accumulate on any material weakness attributable to sector-wide or market-driven selling rather than company-specific deterioration. The key re-rating catalysts — margin expansion delivery, export order visibility, and capacity utilisation updates — are expected to surface through quarterly earnings announcements over the next four to six quarters. We would revisit our thesis if FY26E EBITDA or revenue delivery falls materially below our base case forecasts, or if management signals a significant change in capital allocation priorities.</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Initiate or accumulate at current market price; price pullbacks on market-wide weakness, rather than fundamentals, r...</a:t>
            </a:r>
          </a:p>
          <a:p>
            <a:pPr/>
            <a:r>
              <a:rPr sz="1100" b="0">
                <a:solidFill>
                  <a:srgbClr val="111111"/>
                </a:solidFill>
                <a:latin typeface="Calibri"/>
              </a:rPr>
              <a:t>- Review trigger: Quarterly EBITDA margin and revenue versus our FY26 and FY27 model forecasts are the primary performance in...</a:t>
            </a:r>
          </a:p>
          <a:p>
            <a:pPr/>
            <a:r>
              <a:rPr sz="1100" b="0">
                <a:solidFill>
                  <a:srgbClr val="111111"/>
                </a:solidFill>
                <a:latin typeface="Calibri"/>
              </a:rPr>
              <a:t>- Upside catalyst: Evidence of faster-than-modelled utilisation ramp-up, new export customer wins, or raw material cost tailw...</a:t>
            </a:r>
          </a:p>
          <a:p>
            <a:pPr/>
            <a:r>
              <a:rPr sz="1100" b="0">
                <a:solidFill>
                  <a:srgbClr val="111111"/>
                </a:solidFill>
                <a:latin typeface="Calibri"/>
              </a:rPr>
              <a:t>- Downside flag: Two consecutive quarters of EBITDA margin decline or a material downgrade in management's own capacity utili...</a:t>
            </a:r>
          </a:p>
          <a:p>
            <a:pPr/>
            <a:r>
              <a:rPr sz="1100" b="0">
                <a:solidFill>
                  <a:srgbClr val="111111"/>
                </a:solidFill>
                <a:latin typeface="Calibri"/>
              </a:rPr>
              <a:t>- Exit condition: A sustained re-rating to levels that fully price in our bull-case earnings scenario, or a fundamental deter...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Analyst Certification</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I, Jane Doe, Research Analyst at Tikona Capital, hereby certify that the views expressed in this research report accurately reflect my personal views about the subject company, ABC Ltd (NSE: ABC), and its securities. I further certify that no part of my compensation was, is, or will be directly or indirectly related to the specific recommendations or views expressed in this report. This report has been prepared in compliance with the SEBI (Research Analysts) Regulations, 2014. Tikona Capital is registered with SEBI as a Research Analyst. The analyst and/or members of the analyst's household do not hold any financial interest or beneficial ownership in the securities of ABC Ltd that could reasonably be expected to impair the objectivity of this research report. This initiation note was approved for publication on 28 April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firm, for informational purposes only. It does not constitute an offer, solicitation, or recommendation to buy or sell any security. The information contained herein is based on sources believed to be reliable, but Tikona Capital makes no representation as to its accuracy or completeness. Past performance is not indicative of future results. Investments in securities markets are subject to market risks; readers are advised to read all scheme-related documents carefully before investing. This report is intended solely for the use of the recipient and may not be redistributed without the prior written consent of Tikona Capital. Tikona Capital and its affiliates may hold positions in, or trade in, the securities mentioned in this report. This report has been prepared in accordance with the SEBI (Research Analysts) Regulations, 2014. The views expressed in this document are those of the analyst and do not necessarily reflect the views of Tikona Capital as a firm. Tikona Capital accepts no liability for any loss arising from the use of this material. Registered Office: Tikona Capital, India. SEBI Registration No. as applicable. The renderer may substitute this text with the firm's approved regulatory boilerplate.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