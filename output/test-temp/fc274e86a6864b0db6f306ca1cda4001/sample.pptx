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ABC Ltd is emerging as a scaled specialty chemicals platform with improving mix, stronger export penetration, and disciplined capacity expansion.</a:t>
            </a:r>
          </a:p>
        </p:txBody>
      </p:sp>
      <p:sp>
        <p:nvSpPr>
          <p:cNvPr id="12" name="TextBox 11"/>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ABC Ltd is emerging as a scaled specialty chemicals platform with improving mix, stronger export penetration, and discipl...</a:t>
            </a:r>
          </a:p>
          <a:p>
            <a:pPr>
              <a:spcAft>
                <a:spcPts val="400"/>
              </a:spcAft>
            </a:pPr>
            <a:r>
              <a:rPr sz="1200" b="0">
                <a:solidFill>
                  <a:srgbClr val="111111"/>
                </a:solidFill>
                <a:latin typeface="Calibri"/>
              </a:rPr>
              <a:t>•  Demand visibility remains healthy across key end markets.</a:t>
            </a:r>
          </a:p>
          <a:p>
            <a:pPr>
              <a:spcAft>
                <a:spcPts val="400"/>
              </a:spcAft>
            </a:pPr>
            <a:r>
              <a:rPr sz="1200" b="0">
                <a:solidFill>
                  <a:srgbClr val="111111"/>
                </a:solidFill>
                <a:latin typeface="Calibri"/>
              </a:rPr>
              <a:t>•  Margin profile is improving due to mix and backward integration.</a:t>
            </a:r>
          </a:p>
          <a:p>
            <a:pPr>
              <a:spcAft>
                <a:spcPts val="400"/>
              </a:spcAft>
            </a:pPr>
            <a:r>
              <a:rPr sz="1200" b="0">
                <a:solidFill>
                  <a:srgbClr val="111111"/>
                </a:solidFill>
                <a:latin typeface="Calibri"/>
              </a:rPr>
              <a:t>•  Management execution has been steady across prior capex cycles.</a:t>
            </a:r>
          </a:p>
          <a:p>
            <a:pPr>
              <a:spcAft>
                <a:spcPts val="400"/>
              </a:spcAft>
            </a:pPr>
            <a:r>
              <a:rPr sz="1200" b="0">
                <a:solidFill>
                  <a:srgbClr val="111111"/>
                </a:solidFill>
                <a:latin typeface="Calibri"/>
              </a:rPr>
              <a:t>•  Raw material volatility could pressure gross margins.</a:t>
            </a:r>
          </a:p>
          <a:p>
            <a:pPr>
              <a:spcAft>
                <a:spcPts val="400"/>
              </a:spcAft>
            </a:pPr>
            <a:r>
              <a:rPr sz="1200" b="0">
                <a:solidFill>
                  <a:srgbClr val="111111"/>
                </a:solidFill>
                <a:latin typeface="Calibri"/>
              </a:rPr>
              <a:t>•  Delays in utilization ramp-up may push out earnings conversion.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ABC Ltd At A Glance</a:t>
            </a:r>
          </a:p>
        </p:txBody>
      </p:sp>
      <p:sp>
        <p:nvSpPr>
          <p:cNvPr id="11" name="TextBox 10"/>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ABC Ltd is a specialty chemicals manufacturer focused on export-led growth and margin expansion.</a:t>
            </a:r>
          </a:p>
        </p:txBody>
      </p:sp>
      <p:sp>
        <p:nvSpPr>
          <p:cNvPr id="12" name="TextBox 11"/>
          <p:cNvSpPr txBox="1"/>
          <p:nvPr/>
        </p:nvSpPr>
        <p:spPr>
          <a:xfrm>
            <a:off x="6675120"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TP ₹515.0</a:t>
            </a:r>
          </a:p>
        </p:txBody>
      </p:sp>
      <p:sp>
        <p:nvSpPr>
          <p:cNvPr id="14" name="TextBox 13"/>
          <p:cNvSpPr txBox="1"/>
          <p:nvPr/>
        </p:nvSpPr>
        <p:spPr>
          <a:xfrm>
            <a:off x="10048036"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1005840">
                <a:tc>
                  <a:txBody>
                    <a:bodyPr/>
                    <a:lstStyle/>
                    <a:p>
                      <a:r>
                        <a:rPr b="1" sz="1200">
                          <a:solidFill>
                            <a:srgbClr val="FFFFFF"/>
                          </a:solidFill>
                          <a:latin typeface="Calibri"/>
                        </a:rPr>
                        <a:t>Period</a:t>
                      </a:r>
                    </a:p>
                  </a:txBody>
                  <a:tcPr marL="36576" marR="36576" marT="18288" marB="18288">
                    <a:solidFill>
                      <a:srgbClr val="1F4690"/>
                    </a:solidFill>
                  </a:tcPr>
                </a:tc>
                <a:tc>
                  <a:txBody>
                    <a:bodyPr/>
                    <a:lstStyle/>
                    <a:p>
                      <a:r>
                        <a:rPr b="1" sz="1200">
                          <a:solidFill>
                            <a:srgbClr val="FFFFFF"/>
                          </a:solidFill>
                          <a:latin typeface="Calibri"/>
                        </a:rPr>
                        <a:t>Revenue</a:t>
                      </a:r>
                    </a:p>
                  </a:txBody>
                  <a:tcPr marL="36576" marR="36576" marT="18288" marB="18288">
                    <a:solidFill>
                      <a:srgbClr val="1F4690"/>
                    </a:solidFill>
                  </a:tcPr>
                </a:tc>
              </a:tr>
              <a:tr h="1005840">
                <a:tc>
                  <a:txBody>
                    <a:bodyPr/>
                    <a:lstStyle/>
                    <a:p>
                      <a:r>
                        <a:rPr sz="1200">
                          <a:solidFill>
                            <a:srgbClr val="111111"/>
                          </a:solidFill>
                          <a:latin typeface="Calibri"/>
                        </a:rPr>
                        <a:t>FY24</a:t>
                      </a:r>
                    </a:p>
                  </a:txBody>
                  <a:tcPr marL="36576" marR="36576" marT="18288" marB="18288"/>
                </a:tc>
                <a:tc>
                  <a:txBody>
                    <a:bodyPr/>
                    <a:lstStyle/>
                    <a:p>
                      <a:r>
                        <a:rPr sz="1200">
                          <a:solidFill>
                            <a:srgbClr val="111111"/>
                          </a:solidFill>
                          <a:latin typeface="Calibri"/>
                        </a:rPr>
                        <a:t>₹19,800.0 Cr</a:t>
                      </a:r>
                    </a:p>
                  </a:txBody>
                  <a:tcPr marL="36576" marR="36576" marT="18288" marB="18288"/>
                </a:tc>
              </a:tr>
              <a:tr h="1005840">
                <a:tc>
                  <a:txBody>
                    <a:bodyPr/>
                    <a:lstStyle/>
                    <a:p>
                      <a:r>
                        <a:rPr sz="1200">
                          <a:solidFill>
                            <a:srgbClr val="111111"/>
                          </a:solidFill>
                          <a:latin typeface="Calibri"/>
                        </a:rPr>
                        <a:t>FY25</a:t>
                      </a:r>
                    </a:p>
                  </a:txBody>
                  <a:tcPr marL="36576" marR="36576" marT="18288" marB="18288">
                    <a:solidFill>
                      <a:srgbClr val="FFFFFF"/>
                    </a:solidFill>
                  </a:tcPr>
                </a:tc>
                <a:tc>
                  <a:txBody>
                    <a:bodyPr/>
                    <a:lstStyle/>
                    <a:p>
                      <a:r>
                        <a:rPr sz="1200">
                          <a:solidFill>
                            <a:srgbClr val="111111"/>
                          </a:solidFill>
                          <a:latin typeface="Calibri"/>
                        </a:rPr>
                        <a:t>₹23,500.0 Cr</a:t>
                      </a:r>
                    </a:p>
                  </a:txBody>
                  <a:tcPr marL="36576" marR="36576" marT="18288" marB="18288">
                    <a:solidFill>
                      <a:srgbClr val="FFFFFF"/>
                    </a:solidFill>
                  </a:tcPr>
                </a:tc>
              </a:tr>
              <a:tr h="1005840">
                <a:tc>
                  <a:txBody>
                    <a:bodyPr/>
                    <a:lstStyle/>
                    <a:p>
                      <a:r>
                        <a:rPr sz="1200">
                          <a:solidFill>
                            <a:srgbClr val="111111"/>
                          </a:solidFill>
                          <a:latin typeface="Calibri"/>
                        </a:rPr>
                        <a:t>FY26</a:t>
                      </a:r>
                    </a:p>
                  </a:txBody>
                  <a:tcPr marL="36576" marR="36576" marT="18288" marB="18288"/>
                </a:tc>
                <a:tc>
                  <a:txBody>
                    <a:bodyPr/>
                    <a:lstStyle/>
                    <a:p>
                      <a:r>
                        <a:rPr sz="1200">
                          <a:solidFill>
                            <a:srgbClr val="111111"/>
                          </a:solidFill>
                          <a:latin typeface="Calibri"/>
                        </a:rPr>
                        <a:t>₹28,500.0 Cr</a:t>
                      </a:r>
                    </a:p>
                  </a:txBody>
                  <a:tcPr marL="36576" marR="36576" marT="18288" marB="18288"/>
                </a:tc>
              </a:tr>
              <a:tr h="1005840">
                <a:tc>
                  <a:txBody>
                    <a:bodyPr/>
                    <a:lstStyle/>
                    <a:p>
                      <a:r>
                        <a:rPr sz="1200">
                          <a:solidFill>
                            <a:srgbClr val="111111"/>
                          </a:solidFill>
                          <a:latin typeface="Calibri"/>
                        </a:rPr>
                        <a:t>FY27</a:t>
                      </a:r>
                    </a:p>
                  </a:txBody>
                  <a:tcPr marL="36576" marR="36576" marT="18288" marB="18288">
                    <a:solidFill>
                      <a:srgbClr val="FFFFFF"/>
                    </a:solidFill>
                  </a:tcPr>
                </a:tc>
                <a:tc>
                  <a:txBody>
                    <a:bodyPr/>
                    <a:lstStyle/>
                    <a:p>
                      <a:r>
                        <a:rPr sz="1200">
                          <a:solidFill>
                            <a:srgbClr val="111111"/>
                          </a:solidFill>
                          <a:latin typeface="Calibri"/>
                        </a:rPr>
                        <a:t>₹33,450.0 Cr</a:t>
                      </a:r>
                    </a:p>
                  </a:txBody>
                  <a:tcPr marL="36576" marR="36576" marT="18288" marB="1828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Raw material volatility could pressure gross margins.</a:t>
            </a:r>
          </a:p>
          <a:p>
            <a:pPr>
              <a:spcAft>
                <a:spcPts val="400"/>
              </a:spcAft>
            </a:pPr>
            <a:r>
              <a:rPr sz="1200" b="0">
                <a:solidFill>
                  <a:srgbClr val="111111"/>
                </a:solidFill>
                <a:latin typeface="Calibri"/>
              </a:rPr>
              <a:t>•  Delays in utilization ramp-up may push out earnings conversion.</a:t>
            </a:r>
          </a:p>
          <a:p>
            <a:pPr>
              <a:spcAft>
                <a:spcPts val="400"/>
              </a:spcAft>
            </a:pPr>
            <a:r>
              <a:rPr sz="1200" b="0">
                <a:solidFill>
                  <a:srgbClr val="111111"/>
                </a:solidFill>
                <a:latin typeface="Calibri"/>
              </a:rPr>
              <a:t>•  Export demand softness could affect near-term growth.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