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Annuity-Driven Re-Rating in Progress</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 (INR)</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 (INR)</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 From Broking House to Annuity Pla...</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Motilal Oswal Financial Services with a BUY rating. The franchise has executed a deliberate migration from cyclical equity-broking revenue toward a high-quality, fee-based annuity model. Annual Recurring Revenue now constitutes a structurally dominant share of total net revenues, with management guiding for further expansion — a shift that de-risks the earnings base across market cycles and justifies a meaningful re-rating from broking to asset-management multiples. At the current market price, the stock trades at a significant discount to our probability-weighted target, presenting an attractive risk-adjusted entry point for long-term investors. The combination of AUM compounding, operating leverage on a largely fixed cost base, and an AA+ credit upgrade makes this one of the more compelling transformation stories in the Indian capital markets universe.</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now constitutes the majority of net revenues, reducing dependence on volatile F&amp;O and cash-market broking volumes and anchoring...</a:t>
            </a:r>
          </a:p>
          <a:p>
            <a:pPr/>
            <a:r>
              <a:rPr sz="1100" b="0">
                <a:solidFill>
                  <a:srgbClr val="111111"/>
                </a:solidFill>
                <a:latin typeface="Calibri"/>
              </a:rPr>
              <a:t>- Total AUM is compounding at a rapid pace year-on-year, with the overwhelming majority of AMC AUM outperforming benchmarks over thre...</a:t>
            </a:r>
          </a:p>
          <a:p>
            <a:pPr/>
            <a:r>
              <a:rPr sz="1100" b="0">
                <a:solidFill>
                  <a:srgbClr val="111111"/>
                </a:solidFill>
                <a:latin typeface="Calibri"/>
              </a:rPr>
              <a:t>- Private Wealth AUM is growing strongly alongside accelerating family-count expansion, signalling a deepening annuity engine beyond...</a:t>
            </a:r>
          </a:p>
          <a:p>
            <a:pPr/>
            <a:r>
              <a:rPr sz="1100" b="0">
                <a:solidFill>
                  <a:srgbClr val="111111"/>
                </a:solidFill>
                <a:latin typeface="Calibri"/>
              </a:rPr>
              <a:t>- AA+ (Stable) long-term credit rating upgrade by ICRA validates balance-sheet strength and lowers the effective cost of capital for...</a:t>
            </a:r>
          </a:p>
          <a:p>
            <a:pPr/>
            <a:r>
              <a:rPr sz="1100" b="0">
                <a:solidFill>
                  <a:srgbClr val="111111"/>
                </a:solidFill>
                <a:latin typeface="Calibri"/>
              </a:rPr>
              <a:t>- Operating leverage on a largely fixed cost base supports margin expansion as ARR revenues scale, independent of market-volume cycli...</a:t>
            </a:r>
          </a:p>
          <a:p>
            <a:pPr/>
            <a:r>
              <a:rPr sz="1100" b="0">
                <a:solidFill>
                  <a:srgbClr val="111111"/>
                </a:solidFill>
                <a:latin typeface="Calibri"/>
              </a:rPr>
              <a:t>- Probability-weighted target price accounts for regulatory scenario dispersion, offering a disciplined valuation framework rather 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 A Comprehensive Financial Services...</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co-founded by Motilal Oswal and Raamdeo Agrawal in 1987, has evolved from a research-driven equity broking house into one of India's most diversified financial services platforms. The company spans Capital Markets (broking, investment banking), Asset Management, Private Wealth Management, Housing Finance, and Alternative Investments, serving over 1,600,000 customers across 550+ cities through 2,500+ business locations. Revenue is generated through a combination of broking commissions, asset-management fees, wealth-advisory retainers, distribution income, and net interest income from the housing-finance subsidiary. The enduring competitive moat is the firm's research franchise covering 300+ companies, which drives superior fund performance, client acquisition, and retention across all business lines.</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(INR)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 lakh cr)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Backdrop: Structural Wealth Creation Cycle...</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India's financial services sector is entering a prolonged structural growth phase underpinned by rising affluence, improving financial literacy, and deepening capital market participation. India is projected to become the fourth-largest private wealth market globally by 2028, with UHNWI and HNWI populations both set for substantial expansion over the coming years. Mutual fund penetration as a share of GDP remains a fraction of developed-market levels, implying a multi-decade growth runway for asset managers. The financial services sector is forecast to nearly double aggregate profits by FY30, with NBFCs expected to grow at a double-digit annual rate. Private credit markets are also expanding rapidly, with record issuance volumes recorded in H1 2025, reflecting growing institutional appetite for alternative fixed-income products. These dynamics create a structurally favourable environment for integrated platforms like MOFSL that can cross-sell across broking, AMC, wealth, and credit verticals.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 is on track to become the 4th-largest private wealth market by 2028, with both UHNWI and HNWI populations set for str...</a:t>
            </a:r>
          </a:p>
          <a:p>
            <a:pPr/>
            <a:r>
              <a:rPr sz="1100" b="0">
                <a:solidFill>
                  <a:srgbClr val="111111"/>
                </a:solidFill>
                <a:latin typeface="Calibri"/>
              </a:rPr>
              <a:t>- Mutual fund penetration as a share of GDP remains far below developed-market levels, implying substantial headroom for AUM...</a:t>
            </a:r>
          </a:p>
          <a:p>
            <a:pPr/>
            <a:r>
              <a:rPr sz="1100" b="0">
                <a:solidFill>
                  <a:srgbClr val="111111"/>
                </a:solidFill>
                <a:latin typeface="Calibri"/>
              </a:rPr>
              <a:t>- SIP inflows have reached record monthly levels, providing a durable, market-cycle-resilient demand base for AMC fee income...</a:t>
            </a:r>
          </a:p>
          <a:p>
            <a:pPr/>
            <a:r>
              <a:rPr sz="1100" b="0">
                <a:solidFill>
                  <a:srgbClr val="111111"/>
                </a:solidFill>
                <a:latin typeface="Calibri"/>
              </a:rPr>
              <a:t>- Private credit markets recorded a historic high in H1 2025, with rapid year-on-year growth reflecting robust institutional...</a:t>
            </a:r>
          </a:p>
          <a:p>
            <a:pPr/>
            <a:r>
              <a:rPr sz="1100" b="0">
                <a:solidFill>
                  <a:srgbClr val="111111"/>
                </a:solidFill>
                <a:latin typeface="Calibri"/>
              </a:rPr>
              <a:t>- Regulatory frameworks under SEBI and RBI continue to formalise and deepen market participation, supporting the broker-to-pl...</a:t>
            </a:r>
          </a:p>
          <a:p>
            <a:pPr/>
            <a:r>
              <a:rPr sz="1100" b="0">
                <a:solidFill>
                  <a:srgbClr val="111111"/>
                </a:solidFill>
                <a:latin typeface="Calibri"/>
              </a:rPr>
              <a:t>- Financialisation of household savings is accelerating as real estate and gold cede share to equities and mutual funds, with...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Investment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Mix Re-Rating: Annual Recurring Revenue constitutes the majority of net revenues, with management guiding further increase — the primary catalyst for a re-rating from broking to AMC multiples.</a:t>
            </a:r>
          </a:p>
          <a:p>
            <a:pPr/>
            <a:r>
              <a:rPr sz="1100" b="0">
                <a:solidFill>
                  <a:srgbClr val="111111"/>
                </a:solidFill>
                <a:latin typeface="Calibri"/>
              </a:rPr>
              <a:t>- AUM Compounding Engine: Total AUM is growing rapidly year-on-year with the vast majority of AMC AUM outperforming benchmarks over three years, supporting fee retention and net-flow momentum.</a:t>
            </a:r>
          </a:p>
          <a:p>
            <a:pPr/>
            <a:r>
              <a:rPr sz="1100" b="0">
                <a:solidFill>
                  <a:srgbClr val="111111"/>
                </a:solidFill>
                <a:latin typeface="Calibri"/>
              </a:rPr>
              <a:t>- Private Wealth Flywheel: Private Wealth AUM is expanding strongly alongside accelerating family-count growth — the fastest-growing annuity segment and a high-ARPU, sticky revenue source.</a:t>
            </a:r>
          </a:p>
          <a:p>
            <a:pPr/>
            <a:r>
              <a:rPr sz="1100" b="0">
                <a:solidFill>
                  <a:srgbClr val="111111"/>
                </a:solidFill>
                <a:latin typeface="Calibri"/>
              </a:rPr>
              <a:t>- Balance-Sheet Quality: AA+ (Stable) credit rating from ICRA reflects financial discipline; Reinvestment Quality scored 13/15 in SAARTHI assessment, indicating rigorous capital allocation into fee-based businesses.</a:t>
            </a:r>
          </a:p>
          <a:p>
            <a:pPr/>
            <a:r>
              <a:rPr sz="1100" b="0">
                <a:solidFill>
                  <a:srgbClr val="111111"/>
                </a:solidFill>
                <a:latin typeface="Calibri"/>
              </a:rPr>
              <a:t>- Profit Cyclicality Acknowledged: A significant profit decline in Q2FY26 on regulatory headwinds demonstrates residual earnings volatility — the thesis is premised on the annuity base absorbing such shocks over time.</a:t>
            </a:r>
          </a:p>
          <a:p>
            <a:pPr/>
            <a:r>
              <a:rPr sz="1100" b="0">
                <a:solidFill>
                  <a:srgbClr val="111111"/>
                </a:solidFill>
                <a:latin typeface="Calibri"/>
              </a:rPr>
              <a:t>- Valuation Discount: Current market price offers a meaningful discount to the probability-weighted target, with upside derived from multi-method reconciliation across low, base, and high scenarios.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Architecture: Revenue and EBITDA Composition</a:t>
            </a:r>
          </a:p>
        </p:txBody>
      </p:sp>
      <p:sp>
        <p:nvSpPr>
          <p:cNvPr id="11" name="TextBox 10"/>
          <p:cNvSpPr txBox="1"/>
          <p:nvPr/>
        </p:nvSpPr>
        <p:spPr>
          <a:xfrm>
            <a:off x="457200" y="1417320"/>
            <a:ext cx="4389120" cy="2194560"/>
          </a:xfrm>
          <a:prstGeom prst="rect">
            <a:avLst/>
          </a:prstGeom>
          <a:noFill/>
        </p:spPr>
        <p:txBody>
          <a:bodyPr wrap="square">
            <a:spAutoFit/>
          </a:bodyPr>
          <a:lstStyle/>
          <a:p>
            <a:r>
              <a:rPr sz="1100" b="0">
                <a:solidFill>
                  <a:srgbClr val="111111"/>
                </a:solidFill>
                <a:latin typeface="Calibri"/>
              </a:rPr>
              <a:t>MOFSL operates across 6 distinct business segments, each with a different revenue model, margin profile, and growth trajectory. Capital Markets (broking and IB) remains the largest revenue contributor but is the most cyclical, with revenues driven by equity volumes, F&amp;O activity, and deal flow. Asset Management and Private Wealth Management are the key annuity engines — together accounting for the bulk of the ARR base — and carry superior margin characteristics due to their capital-light, fee...</a:t>
            </a:r>
          </a:p>
        </p:txBody>
      </p:sp>
      <p:pic>
        <p:nvPicPr>
          <p:cNvPr id="12" name="Picture 11"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13" name="Table 12"/>
          <p:cNvGraphicFramePr>
            <a:graphicFrameLocks noGrp="1"/>
          </p:cNvGraphicFramePr>
          <p:nvPr/>
        </p:nvGraphicFramePr>
        <p:xfrm>
          <a:off x="457200" y="3749039"/>
          <a:ext cx="11277295" cy="269748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44958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Revenue Share</a:t>
                      </a:r>
                    </a:p>
                  </a:txBody>
                  <a:tcPr>
                    <a:solidFill>
                      <a:srgbClr val="1F4690"/>
                    </a:solidFill>
                  </a:tcPr>
                </a:tc>
                <a:tc>
                  <a:txBody>
                    <a:bodyPr/>
                    <a:lstStyle/>
                    <a:p>
                      <a:r>
                        <a:rPr b="1" sz="1100">
                          <a:solidFill>
                            <a:srgbClr val="FFFFFF"/>
                          </a:solidFill>
                          <a:latin typeface="Calibri"/>
                        </a:rPr>
                        <a:t>EBITDA Share</a:t>
                      </a:r>
                    </a:p>
                  </a:txBody>
                  <a:tcPr>
                    <a:solidFill>
                      <a:srgbClr val="1F4690"/>
                    </a:solidFill>
                  </a:tcPr>
                </a:tc>
                <a:tc>
                  <a:txBody>
                    <a:bodyPr/>
                    <a:lstStyle/>
                    <a:p>
                      <a:r>
                        <a:rPr b="1" sz="1100">
                          <a:solidFill>
                            <a:srgbClr val="FFFFFF"/>
                          </a:solidFill>
                          <a:latin typeface="Calibri"/>
                        </a:rPr>
                        <a:t>YoY Growth</a:t>
                      </a:r>
                    </a:p>
                  </a:txBody>
                  <a:tcPr>
                    <a:solidFill>
                      <a:srgbClr val="1F4690"/>
                    </a:solidFill>
                  </a:tcPr>
                </a:tc>
                <a:tc>
                  <a:txBody>
                    <a:bodyPr/>
                    <a:lstStyle/>
                    <a:p>
                      <a:r>
                        <a:rPr b="1" sz="1100">
                          <a:solidFill>
                            <a:srgbClr val="FFFFFF"/>
                          </a:solidFill>
                          <a:latin typeface="Calibri"/>
                        </a:rPr>
                        <a:t>AUM Metric</a:t>
                      </a:r>
                    </a:p>
                  </a:txBody>
                  <a:tcPr>
                    <a:solidFill>
                      <a:srgbClr val="1F4690"/>
                    </a:solidFill>
                  </a:tcPr>
                </a:tc>
                <a:tc>
                  <a:txBody>
                    <a:bodyPr/>
                    <a:lstStyle/>
                    <a:p>
                      <a:r>
                        <a:rPr b="1" sz="1100">
                          <a:solidFill>
                            <a:srgbClr val="FFFFFF"/>
                          </a:solidFill>
                          <a:latin typeface="Calibri"/>
                        </a:rPr>
                        <a:t>AUM Value</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r>
              <a:tr h="44958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44958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44958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44958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44958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Trajectory: Scaling the Annuity Base</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revenue trajectory over FY22–FY28E reflects the dual dynamics of cyclical broking variability and secular annuity growth. The Capital Markets segment introduces quarter-to-quarter noise driven by equity volumes, F&amp;O activity, and IB deal flow. However, the AMC and PWM segments provide a durable, compounding revenue base that grows with AUM irrespective of market-direction volatility. The revenue model is increasingly self-reinforcing: strong fund performance attracts net inflows, which grow AUM, which in turn compounds fee income. Management's stated ambition to push ARR toward an even higher share of revenues — if achieved — would represent a structural step-change in earnings predictability and the appropriate valuation multiple. The FY26E–FY28E period is expected to benefit from operating leverage on the fixed cost base, with incremental ARR flowing through at significantly higher margins than the blended reported figure.</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PAT Growth and Earnings Power</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PAT trajectory reflects both the strength of the annuity engine and the residual cyclicality of the Capital Markets segment. The Q2FY25 period demonstrated the upside — profits grew dramatically on strong revenue growth — while Q2FY26 highlighted the downside risk, with profits declining sharply on regulatory-driven compression of F&amp;O volumes. We do not view this cyclicality as a thesis-breaker; rather, it is precisely the risk that the ARR-mix-shift strategy is designed to mitigate over time. On a full-year basis, the earnings trajectory from FY22A to FY28E reflects consistent compounding, supported by AUM growth, wealth-management scaling, and operating leverage. EPS expansion is expected to be further supported by capital-efficient business models in the asset-light AMC and PWM segments, which require minimal incremental capital to grow revenues.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PAT Trend: Navigating Regulatory Volatility</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The quarterly PAT trend is the most transparent lens on MOFSL's residual earnings cyclicality. Q2FY25 represented a peak earnings quarter with PAT growing dramatically year-on-year, driven by strong equity market activity and AMC net flows. Q2FY26 marked a sharp trough as SEBI's revised F&amp;O margin and expiry-day norms materially reduced broking revenues, producing a steep decline in r...</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 (INR Cr)</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 Cr</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 Cr</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 Cr</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 Cr</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 Cr</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Ratios: Margins, Returns, and Multiples</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37.5x</a:t>
                      </a:r>
                    </a:p>
                  </a:txBody>
                  <a:tcPr>
                    <a:solidFill>
                      <a:srgbClr val="FFFFFF"/>
                    </a:solidFill>
                  </a:tcPr>
                </a:tc>
                <a:tc>
                  <a:txBody>
                    <a:bodyPr/>
                    <a:lstStyle/>
                    <a:p>
                      <a:r>
                        <a:rPr sz="1100">
                          <a:solidFill>
                            <a:srgbClr val="111111"/>
                          </a:solidFill>
                          <a:latin typeface="Calibri"/>
                        </a:rPr>
                        <a:t>52.3x</a:t>
                      </a:r>
                    </a:p>
                  </a:txBody>
                  <a:tcPr>
                    <a:solidFill>
                      <a:srgbClr val="FFFFFF"/>
                    </a:solidFill>
                  </a:tcPr>
                </a:tc>
                <a:tc>
                  <a:txBody>
                    <a:bodyPr/>
                    <a:lstStyle/>
                    <a:p>
                      <a:r>
                        <a:rPr sz="1100">
                          <a:solidFill>
                            <a:srgbClr val="111111"/>
                          </a:solidFill>
                          <a:latin typeface="Calibri"/>
                        </a:rPr>
                        <a:t>20.1x</a:t>
                      </a:r>
                    </a:p>
                  </a:txBody>
                  <a:tcPr>
                    <a:solidFill>
                      <a:srgbClr val="FFFFFF"/>
                    </a:solidFill>
                  </a:tcPr>
                </a:tc>
                <a:tc>
                  <a:txBody>
                    <a:bodyPr/>
                    <a:lstStyle/>
                    <a:p>
                      <a:r>
                        <a:rPr sz="1100">
                          <a:solidFill>
                            <a:srgbClr val="111111"/>
                          </a:solidFill>
                          <a:latin typeface="Calibri"/>
                        </a:rPr>
                        <a:t>19.7x</a:t>
                      </a:r>
                    </a:p>
                  </a:txBody>
                  <a:tcPr>
                    <a:solidFill>
                      <a:srgbClr val="FFFFFF"/>
                    </a:solidFill>
                  </a:tcPr>
                </a:tc>
                <a:tc>
                  <a:txBody>
                    <a:bodyPr/>
                    <a:lstStyle/>
                    <a:p>
                      <a:r>
                        <a:rPr sz="1100">
                          <a:solidFill>
                            <a:srgbClr val="111111"/>
                          </a:solidFill>
                          <a:latin typeface="Calibri"/>
                        </a:rPr>
                        <a:t>16.1x</a:t>
                      </a:r>
                    </a:p>
                  </a:txBody>
                  <a:tcPr>
                    <a:solidFill>
                      <a:srgbClr val="FFFFFF"/>
                    </a:solidFill>
                  </a:tcPr>
                </a:tc>
                <a:tc>
                  <a:txBody>
                    <a:bodyPr/>
                    <a:lstStyle/>
                    <a:p>
                      <a:r>
                        <a:rPr sz="1100">
                          <a:solidFill>
                            <a:srgbClr val="111111"/>
                          </a:solidFill>
                          <a:latin typeface="Calibri"/>
                        </a:rPr>
                        <a:t>12.4x</a:t>
                      </a:r>
                    </a:p>
                  </a:txBody>
                  <a:tcPr>
                    <a:solidFill>
                      <a:srgbClr val="FFFFFF"/>
                    </a:solidFill>
                  </a:tcPr>
                </a:tc>
                <a:tc>
                  <a:txBody>
                    <a:bodyPr/>
                    <a:lstStyle/>
                    <a:p>
                      <a:r>
                        <a:rPr sz="1100">
                          <a:solidFill>
                            <a:srgbClr val="111111"/>
                          </a:solidFill>
                          <a:latin typeface="Calibri"/>
                        </a:rPr>
                        <a:t>9.6x</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8.7x</a:t>
                      </a:r>
                    </a:p>
                  </a:txBody>
                  <a:tcPr/>
                </a:tc>
                <a:tc>
                  <a:txBody>
                    <a:bodyPr/>
                    <a:lstStyle/>
                    <a:p>
                      <a:r>
                        <a:rPr sz="1100">
                          <a:solidFill>
                            <a:srgbClr val="111111"/>
                          </a:solidFill>
                          <a:latin typeface="Calibri"/>
                        </a:rPr>
                        <a:t>7.8x</a:t>
                      </a:r>
                    </a:p>
                  </a:txBody>
                  <a:tcPr/>
                </a:tc>
                <a:tc>
                  <a:txBody>
                    <a:bodyPr/>
                    <a:lstStyle/>
                    <a:p>
                      <a:r>
                        <a:rPr sz="1100">
                          <a:solidFill>
                            <a:srgbClr val="111111"/>
                          </a:solidFill>
                          <a:latin typeface="Calibri"/>
                        </a:rPr>
                        <a:t>5.6x</a:t>
                      </a:r>
                    </a:p>
                  </a:txBody>
                  <a:tcPr/>
                </a:tc>
                <a:tc>
                  <a:txBody>
                    <a:bodyPr/>
                    <a:lstStyle/>
                    <a:p>
                      <a:r>
                        <a:rPr sz="1100">
                          <a:solidFill>
                            <a:srgbClr val="111111"/>
                          </a:solidFill>
                          <a:latin typeface="Calibri"/>
                        </a:rPr>
                        <a:t>4.5x</a:t>
                      </a:r>
                    </a:p>
                  </a:txBody>
                  <a:tcPr/>
                </a:tc>
                <a:tc>
                  <a:txBody>
                    <a:bodyPr/>
                    <a:lstStyle/>
                    <a:p>
                      <a:r>
                        <a:rPr sz="1100">
                          <a:solidFill>
                            <a:srgbClr val="111111"/>
                          </a:solidFill>
                          <a:latin typeface="Calibri"/>
                        </a:rPr>
                        <a:t>3.6x</a:t>
                      </a:r>
                    </a:p>
                  </a:txBody>
                  <a:tcPr/>
                </a:tc>
                <a:tc>
                  <a:txBody>
                    <a:bodyPr/>
                    <a:lstStyle/>
                    <a:p>
                      <a:r>
                        <a:rPr sz="1100">
                          <a:solidFill>
                            <a:srgbClr val="111111"/>
                          </a:solidFill>
                          <a:latin typeface="Calibri"/>
                        </a:rPr>
                        <a:t>2.9x</a:t>
                      </a:r>
                    </a:p>
                  </a:txBody>
                  <a:tcPr/>
                </a:tc>
                <a:tc>
                  <a:txBody>
                    <a:bodyPr/>
                    <a:lstStyle/>
                    <a:p>
                      <a:r>
                        <a:rPr sz="1100">
                          <a:solidFill>
                            <a:srgbClr val="111111"/>
                          </a:solidFill>
                          <a:latin typeface="Calibri"/>
                        </a:rPr>
                        <a:t>2.3x</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9.0x</a:t>
                      </a:r>
                    </a:p>
                  </a:txBody>
                  <a:tcPr>
                    <a:solidFill>
                      <a:srgbClr val="FFFFFF"/>
                    </a:solidFill>
                  </a:tcPr>
                </a:tc>
                <a:tc>
                  <a:txBody>
                    <a:bodyPr/>
                    <a:lstStyle/>
                    <a:p>
                      <a:r>
                        <a:rPr sz="1100">
                          <a:solidFill>
                            <a:srgbClr val="111111"/>
                          </a:solidFill>
                          <a:latin typeface="Calibri"/>
                        </a:rPr>
                        <a:t>10.3x</a:t>
                      </a:r>
                    </a:p>
                  </a:txBody>
                  <a:tcPr>
                    <a:solidFill>
                      <a:srgbClr val="FFFFFF"/>
                    </a:solidFill>
                  </a:tcPr>
                </a:tc>
                <a:tc>
                  <a:txBody>
                    <a:bodyPr/>
                    <a:lstStyle/>
                    <a:p>
                      <a:r>
                        <a:rPr sz="1100">
                          <a:solidFill>
                            <a:srgbClr val="111111"/>
                          </a:solidFill>
                          <a:latin typeface="Calibri"/>
                        </a:rPr>
                        <a:t>9.5x</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12.7x</a:t>
                      </a:r>
                    </a:p>
                  </a:txBody>
                  <a:tcPr>
                    <a:solidFill>
                      <a:srgbClr val="FFFFFF"/>
                    </a:solidFill>
                  </a:tcPr>
                </a:tc>
                <a:tc>
                  <a:txBody>
                    <a:bodyPr/>
                    <a:lstStyle/>
                    <a:p>
                      <a:r>
                        <a:rPr sz="1100">
                          <a:solidFill>
                            <a:srgbClr val="111111"/>
                          </a:solidFill>
                          <a:latin typeface="Calibri"/>
                        </a:rPr>
                        <a:t>10.5x</a:t>
                      </a:r>
                    </a:p>
                  </a:txBody>
                  <a:tcPr>
                    <a:solidFill>
                      <a:srgbClr val="FFFFFF"/>
                    </a:solidFill>
                  </a:tcPr>
                </a:tc>
                <a:tc>
                  <a:txBody>
                    <a:bodyPr/>
                    <a:lstStyle/>
                    <a:p>
                      <a:r>
                        <a:rPr sz="1100">
                          <a:solidFill>
                            <a:srgbClr val="111111"/>
                          </a:solidFill>
                          <a:latin typeface="Calibri"/>
                        </a:rPr>
                        <a:t>8.8x</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Multi-Method Framework Supports BUY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We value MOFSL using a multi-method framework that triangulates P/E, P/B, and EV/EBITDA approaches, with the base case anchored by our probability-weighted target. The blended methodology reflects the hybrid nature of MOFSL's business — asset-light AMC and wealth segments warrant AMC-style valuation multiples, while the Capital Markets and Housing Finance seg...</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CMP (INR) ₹822.9</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Target Price (INR) ₹1,127.0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Upside (%) 37.0%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Prob.-Weighted TP (INR) 1,109.0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Bands: Low / Base / High Scenario Reconcil...</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Method</a:t>
                      </a:r>
                    </a:p>
                  </a:txBody>
                  <a:tcPr>
                    <a:solidFill>
                      <a:srgbClr val="1F4690"/>
                    </a:solidFill>
                  </a:tcPr>
                </a:tc>
                <a:tc>
                  <a:txBody>
                    <a:bodyPr/>
                    <a:lstStyle/>
                    <a:p>
                      <a:r>
                        <a:rPr b="1" sz="1100">
                          <a:solidFill>
                            <a:srgbClr val="FFFFFF"/>
                          </a:solidFill>
                          <a:latin typeface="Calibri"/>
                        </a:rPr>
                        <a:t>Low (INR)</a:t>
                      </a:r>
                    </a:p>
                  </a:txBody>
                  <a:tcPr>
                    <a:solidFill>
                      <a:srgbClr val="1F4690"/>
                    </a:solidFill>
                  </a:tcPr>
                </a:tc>
                <a:tc>
                  <a:txBody>
                    <a:bodyPr/>
                    <a:lstStyle/>
                    <a:p>
                      <a:r>
                        <a:rPr b="1" sz="1100">
                          <a:solidFill>
                            <a:srgbClr val="FFFFFF"/>
                          </a:solidFill>
                          <a:latin typeface="Calibri"/>
                        </a:rPr>
                        <a:t>Base (INR)</a:t>
                      </a:r>
                    </a:p>
                  </a:txBody>
                  <a:tcPr>
                    <a:solidFill>
                      <a:srgbClr val="1F4690"/>
                    </a:solidFill>
                  </a:tcPr>
                </a:tc>
                <a:tc>
                  <a:txBody>
                    <a:bodyPr/>
                    <a:lstStyle/>
                    <a:p>
                      <a:r>
                        <a:rPr b="1" sz="1100">
                          <a:solidFill>
                            <a:srgbClr val="FFFFFF"/>
                          </a:solidFill>
                          <a:latin typeface="Calibri"/>
                        </a:rPr>
                        <a:t>High (INR)</a:t>
                      </a:r>
                    </a:p>
                  </a:txBody>
                  <a:tcPr>
                    <a:solidFill>
                      <a:srgbClr val="1F4690"/>
                    </a:solidFill>
                  </a:tcPr>
                </a:tc>
                <a:tc>
                  <a:txBody>
                    <a:bodyPr/>
                    <a:lstStyle/>
                    <a:p>
                      <a:r>
                        <a:rPr b="1" sz="1100">
                          <a:solidFill>
                            <a:srgbClr val="FFFFFF"/>
                          </a:solidFill>
                          <a:latin typeface="Calibri"/>
                        </a:rPr>
                        <a:t>Weight (%)</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Cross-Check: Intrinsic Value Assumptions</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Our DCF analysis serves as a cross-check on the primary multi-method valuation, using free cash flow to equity derived from PAT estimates for FY26E–FY28E and a terminal growth assumption that reflects the long-run nominal GDP growth rate of India's financial services sector. The WACC reflects MOFSL's equity-heavy balance sheet, the AA+ credit rating, and the prevailing risk-free rate. Key sensitivity drivers in the DCF include: the pace of ARR mix shift (which determines the appropriate terminal multiple), the trajectory of AUM growth (which flows into fee income), and the regulatory outcome for F&amp;O (which affects the cyclical revenue floor). The DCF output is broadly consistent with the P/E and P/B-based estimates, providing confidence that the base-case target is not an outlier driven by multiple expansion assumptions alone. Capital-light business models in AMC and PWM generate free cash flow with low reinvestment requirements, structurally supporting FCF conversion above reported PAT margins.</a:t>
            </a:r>
          </a:p>
        </p:txBody>
      </p:sp>
      <p:sp>
        <p:nvSpPr>
          <p:cNvPr id="12" name="TextBox 11"/>
          <p:cNvSpPr txBox="1"/>
          <p:nvPr/>
        </p:nvSpPr>
        <p:spPr>
          <a:xfrm>
            <a:off x="5760720" y="1417320"/>
            <a:ext cx="1447723" cy="1554480"/>
          </a:xfrm>
          <a:prstGeom prst="rect">
            <a:avLst/>
          </a:prstGeom>
          <a:noFill/>
        </p:spPr>
        <p:txBody>
          <a:bodyPr wrap="square">
            <a:spAutoFit/>
          </a:bodyPr>
          <a:lstStyle/>
          <a:p>
            <a:pPr algn="ctr"/>
            <a:r>
              <a:rPr sz="1400" b="1">
                <a:solidFill>
                  <a:srgbClr val="1F4690"/>
                </a:solidFill>
                <a:latin typeface="Calibri"/>
              </a:rPr>
              <a:t>P/E FY26E (x) 16.1</a:t>
            </a:r>
          </a:p>
        </p:txBody>
      </p:sp>
      <p:sp>
        <p:nvSpPr>
          <p:cNvPr id="13" name="TextBox 12"/>
          <p:cNvSpPr txBox="1"/>
          <p:nvPr/>
        </p:nvSpPr>
        <p:spPr>
          <a:xfrm>
            <a:off x="7254163" y="1417320"/>
            <a:ext cx="1447723" cy="1554480"/>
          </a:xfrm>
          <a:prstGeom prst="rect">
            <a:avLst/>
          </a:prstGeom>
          <a:noFill/>
        </p:spPr>
        <p:txBody>
          <a:bodyPr wrap="square">
            <a:spAutoFit/>
          </a:bodyPr>
          <a:lstStyle/>
          <a:p>
            <a:pPr algn="ctr"/>
            <a:r>
              <a:rPr sz="1400" b="1">
                <a:solidFill>
                  <a:srgbClr val="1F4690"/>
                </a:solidFill>
                <a:latin typeface="Calibri"/>
              </a:rPr>
              <a:t>P/B FY26E (x) 3.6</a:t>
            </a:r>
          </a:p>
        </p:txBody>
      </p:sp>
      <p:sp>
        <p:nvSpPr>
          <p:cNvPr id="14" name="TextBox 13"/>
          <p:cNvSpPr txBox="1"/>
          <p:nvPr/>
        </p:nvSpPr>
        <p:spPr>
          <a:xfrm>
            <a:off x="8747607" y="1417320"/>
            <a:ext cx="1447723" cy="1554480"/>
          </a:xfrm>
          <a:prstGeom prst="rect">
            <a:avLst/>
          </a:prstGeom>
          <a:noFill/>
        </p:spPr>
        <p:txBody>
          <a:bodyPr wrap="square">
            <a:spAutoFit/>
          </a:bodyPr>
          <a:lstStyle/>
          <a:p>
            <a:pPr algn="ctr"/>
            <a:r>
              <a:rPr sz="1400" b="1">
                <a:solidFill>
                  <a:srgbClr val="1F4690"/>
                </a:solidFill>
                <a:latin typeface="Calibri"/>
              </a:rPr>
              <a:t>RoE FY26E (%) 22.0</a:t>
            </a:r>
          </a:p>
        </p:txBody>
      </p:sp>
      <p:sp>
        <p:nvSpPr>
          <p:cNvPr id="15" name="TextBox 14"/>
          <p:cNvSpPr txBox="1"/>
          <p:nvPr/>
        </p:nvSpPr>
        <p:spPr>
          <a:xfrm>
            <a:off x="10241051" y="1417320"/>
            <a:ext cx="1447723" cy="1554480"/>
          </a:xfrm>
          <a:prstGeom prst="rect">
            <a:avLst/>
          </a:prstGeom>
          <a:noFill/>
        </p:spPr>
        <p:txBody>
          <a:bodyPr wrap="square">
            <a:spAutoFit/>
          </a:bodyPr>
          <a:lstStyle/>
          <a:p>
            <a:pPr algn="ctr"/>
            <a:r>
              <a:rPr sz="1400" b="1">
                <a:solidFill>
                  <a:srgbClr val="1F4690"/>
                </a:solidFill>
                <a:latin typeface="Calibri"/>
              </a:rPr>
              <a:t>RoCE FY26E (%) 18.0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 Investment Quality Assessment</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achieves a SAARTHI score of 72/100, placing it in the high-quality investment tier within the capital markets universe. The 7-dimension framework evaluates Strategy and Management Quality, Asset Quality, Annuity Revenue Reliability, Return on Capital, Tail-risk and Governance, Historical Earnings Consistency, and Investibility. The standout dimension is Reinvestment Quality, sco...</a:t>
            </a:r>
          </a:p>
        </p:txBody>
      </p:sp>
      <p:graphicFrame>
        <p:nvGraphicFramePr>
          <p:cNvPr id="12" name="Table 11"/>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
        <p:nvSpPr>
          <p:cNvPr id="13" name="TextBox 12"/>
          <p:cNvSpPr txBox="1"/>
          <p:nvPr/>
        </p:nvSpPr>
        <p:spPr>
          <a:xfrm>
            <a:off x="457200" y="2194560"/>
            <a:ext cx="11231575" cy="822960"/>
          </a:xfrm>
          <a:prstGeom prst="rect">
            <a:avLst/>
          </a:prstGeom>
          <a:noFill/>
        </p:spPr>
        <p:txBody>
          <a:bodyPr wrap="square">
            <a:spAutoFit/>
          </a:bodyPr>
          <a:lstStyle/>
          <a:p>
            <a:pPr algn="ctr"/>
            <a:r>
              <a:rPr sz="1400" b="1">
                <a:solidFill>
                  <a:srgbClr val="1F4690"/>
                </a:solidFill>
                <a:latin typeface="Calibri"/>
              </a:rPr>
              <a:t>RoE FY26E (%) 22.0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Profile: Founders at the Helm</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MOFSL was co-founded in 1987 by Motilal Oswal and Raamdeo Agrawal, both of whom remain actively involved in the firm's strategic direction. The promoter-led governance structure is a distinguishing feature relative to institutionally owned peers — it aligns long-term capital allocation incentives with shareholder value creation. The senior leadership team spans all major business vert...</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MOFSL's forensic assessment places it in the 'Monitor Closely' category, reflecting a pattern of recurring SEBI-related regulatory matters that, while not individually material to the overall thesis, collectively signal the need for investor vigilance. The capital markets industry in India has seen heightened regulatory scrutiny, and MOFSL's history of SEBI engagements is not atypical...</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 What Could Break the Thesis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F&amp;O Regulatory Headwinds: Further tightening of F&amp;O margin norms or product restrictions could materially compress Capital Markets revenue beyond impacts already observed, delaying the ARR-mix-shift timeline.</a:t>
            </a:r>
          </a:p>
          <a:p>
            <a:pPr/>
            <a:r>
              <a:rPr sz="1100" b="0">
                <a:solidFill>
                  <a:srgbClr val="111111"/>
                </a:solidFill>
                <a:latin typeface="Calibri"/>
              </a:rPr>
              <a:t>- Residual Earnings Cyclicality: Q2FY26 demonstrated that the annuity base has not yet fully insulated reported PAT from market-volume shocks — a sharp profit and revenue decline in a single quarter illustrates the pace of execution needed.</a:t>
            </a:r>
          </a:p>
          <a:p>
            <a:pPr/>
            <a:r>
              <a:rPr sz="1100" b="0">
                <a:solidFill>
                  <a:srgbClr val="111111"/>
                </a:solidFill>
                <a:latin typeface="Calibri"/>
              </a:rPr>
              <a:t>- Competitive Pressure from Discount Brokers and Fintechs: Sustained pricing compression in retail broking and digital-native platforms capturing new-to-market investors could erode MOFSL's market-share economics in Capital Markets.</a:t>
            </a:r>
          </a:p>
          <a:p>
            <a:pPr/>
            <a:r>
              <a:rPr sz="1100" b="0">
                <a:solidFill>
                  <a:srgbClr val="111111"/>
                </a:solidFill>
                <a:latin typeface="Calibri"/>
              </a:rPr>
              <a:t>- Forensic and Governance Risk: Recurring SEBI regulatory matters in the 'Monitor Closely' category introduce tail risk of financial penalties, operational restrictions, or reputational damage that could disrupt client acquisition and retention.</a:t>
            </a:r>
          </a:p>
          <a:p>
            <a:pPr/>
            <a:r>
              <a:rPr sz="1100" b="0">
                <a:solidFill>
                  <a:srgbClr val="111111"/>
                </a:solidFill>
                <a:latin typeface="Calibri"/>
              </a:rPr>
              <a:t>- Mark-to-Market Volatility on Proprietary Book: Large swings in MOFSL's proprietary investment portfolio during adverse market conditions can introduce non-recurring losses that obscure the underlying operating earnings trend.</a:t>
            </a:r>
          </a:p>
          <a:p>
            <a:pPr/>
            <a:r>
              <a:rPr sz="1100" b="0">
                <a:solidFill>
                  <a:srgbClr val="111111"/>
                </a:solidFill>
                <a:latin typeface="Calibri"/>
              </a:rPr>
              <a:t>- Housing Finance Asset-Quality Risk: A deterioration in the stressed credit cycle could trigger NPA escalation in Motilal Oswal Home Finance, requiring additional provisioning that dilutes consolidated PAT and book value.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Entry, Review, and Exit Framework</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The recommended trading strategy is premised on a 12–18 month horizon, aligned with the expected ARR mix-shift inflection and the resolution of near-term F&amp;O regulatory uncertainty. The base case assumes gradual normalisation of Capital Markets revenues from the Q2FY26 trough, compounding AMC and PWM annuity growth, and progressive re-rating as the fee-based earnings share expands. Entry at or near the current market price offers a meaningful discount to both the base-case and probability-weighted targets. Investors should size positions to reflect the residual cyclicality and governance monitoring requirement — this is a quality capital markets franchise undergoing a structural transformation, not a pure annuity play, and position sizing should acknowledge both the opportunity and the ongoing execution risk.</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Zone: Current market price offers a meaningful discount to the probability-weighted target; phased accumulation is pr...</a:t>
            </a:r>
          </a:p>
          <a:p>
            <a:pPr/>
            <a:r>
              <a:rPr sz="1100" b="0">
                <a:solidFill>
                  <a:srgbClr val="111111"/>
                </a:solidFill>
                <a:latin typeface="Calibri"/>
              </a:rPr>
              <a:t>- Positive Review Trigger: ARR contribution reaching a structurally higher threshold of quarterly revenues in any reported pe...</a:t>
            </a:r>
          </a:p>
          <a:p>
            <a:pPr/>
            <a:r>
              <a:rPr sz="1100" b="0">
                <a:solidFill>
                  <a:srgbClr val="111111"/>
                </a:solidFill>
                <a:latin typeface="Calibri"/>
              </a:rPr>
              <a:t>- Positive Review Trigger: Quarterly PAT recovery toward pre-trough levels driven by Capital Markets volume normalisation and...</a:t>
            </a:r>
          </a:p>
          <a:p>
            <a:pPr/>
            <a:r>
              <a:rPr sz="1100" b="0">
                <a:solidFill>
                  <a:srgbClr val="111111"/>
                </a:solidFill>
                <a:latin typeface="Calibri"/>
              </a:rPr>
              <a:t>- Exit Trigger: Sustained SEBI enforcement action resulting in operational restrictions, or evidence of AUM outflows from the...</a:t>
            </a:r>
          </a:p>
          <a:p>
            <a:pPr/>
            <a:r>
              <a:rPr sz="1100" b="0">
                <a:solidFill>
                  <a:srgbClr val="111111"/>
                </a:solidFill>
                <a:latin typeface="Calibri"/>
              </a:rPr>
              <a:t>- Exit Trigger: ARR share declining materially for two consecutive quarters would signal structural regression rather than a...</a:t>
            </a:r>
          </a:p>
          <a:p>
            <a:pPr/>
            <a:r>
              <a:rPr sz="1100" b="0">
                <a:solidFill>
                  <a:srgbClr val="111111"/>
                </a:solidFill>
                <a:latin typeface="Calibri"/>
              </a:rPr>
              <a:t>- Review at 12 Months: Reassess target price and position size in light of FY27E earnings delivery, regulatory landscape evol...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Trend: Operating Leverage Visualised</a:t>
            </a:r>
          </a:p>
        </p:txBody>
      </p:sp>
      <p:pic>
        <p:nvPicPr>
          <p:cNvPr id="11" name="Picture 10" descr="image.png"/>
          <p:cNvPicPr>
            <a:picLocks noChangeAspect="1"/>
          </p:cNvPicPr>
          <p:nvPr/>
        </p:nvPicPr>
        <p:blipFill>
          <a:blip r:embed="rId3"/>
          <a:stretch>
            <a:fillRect/>
          </a:stretch>
        </p:blipFill>
        <p:spPr>
          <a:xfrm>
            <a:off x="457200" y="1417320"/>
            <a:ext cx="11277295" cy="50292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 Regulatory and Execution Outcomes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Scenario</a:t>
                      </a:r>
                    </a:p>
                  </a:txBody>
                  <a:tcPr>
                    <a:solidFill>
                      <a:srgbClr val="1F4690"/>
                    </a:solidFill>
                  </a:tcPr>
                </a:tc>
                <a:tc>
                  <a:txBody>
                    <a:bodyPr/>
                    <a:lstStyle/>
                    <a:p>
                      <a:r>
                        <a:rPr b="1" sz="1100">
                          <a:solidFill>
                            <a:srgbClr val="FFFFFF"/>
                          </a:solidFill>
                          <a:latin typeface="Calibri"/>
                        </a:rPr>
                        <a:t>Revenue CAGR</a:t>
                      </a:r>
                    </a:p>
                  </a:txBody>
                  <a:tcPr>
                    <a:solidFill>
                      <a:srgbClr val="1F4690"/>
                    </a:solidFill>
                  </a:tcPr>
                </a:tc>
                <a:tc>
                  <a:txBody>
                    <a:bodyPr/>
                    <a:lstStyle/>
                    <a:p>
                      <a:r>
                        <a:rPr b="1" sz="1100">
                          <a:solidFill>
                            <a:srgbClr val="FFFFFF"/>
                          </a:solidFill>
                          <a:latin typeface="Calibri"/>
                        </a:rPr>
                        <a:t>EBITDA Margin</a:t>
                      </a:r>
                    </a:p>
                  </a:txBody>
                  <a:tcPr>
                    <a:solidFill>
                      <a:srgbClr val="1F4690"/>
                    </a:solidFill>
                  </a:tcPr>
                </a:tc>
                <a:tc>
                  <a:txBody>
                    <a:bodyPr/>
                    <a:lstStyle/>
                    <a:p>
                      <a:r>
                        <a:rPr b="1" sz="1100">
                          <a:solidFill>
                            <a:srgbClr val="FFFFFF"/>
                          </a:solidFill>
                          <a:latin typeface="Calibri"/>
                        </a:rPr>
                        <a:t>Target Price (INR)</a:t>
                      </a:r>
                    </a:p>
                  </a:txBody>
                  <a:tcPr>
                    <a:solidFill>
                      <a:srgbClr val="1F4690"/>
                    </a:solidFill>
                  </a:tcPr>
                </a:tc>
                <a:tc>
                  <a:txBody>
                    <a:bodyPr/>
                    <a:lstStyle/>
                    <a:p>
                      <a:r>
                        <a:rPr b="1" sz="1100">
                          <a:solidFill>
                            <a:srgbClr val="FFFFFF"/>
                          </a:solidFill>
                          <a:latin typeface="Calibri"/>
                        </a:rPr>
                        <a:t>Probability (%)</a:t>
                      </a:r>
                    </a:p>
                  </a:txBody>
                  <a:tcPr>
                    <a:solidFill>
                      <a:srgbClr val="1F4690"/>
                    </a:solidFill>
                  </a:tcPr>
                </a:tc>
                <a:tc>
                  <a:txBody>
                    <a:bodyPr/>
                    <a:lstStyle/>
                    <a:p>
                      <a:r>
                        <a:rPr b="1" sz="1100">
                          <a:solidFill>
                            <a:srgbClr val="FFFFFF"/>
                          </a:solidFill>
                          <a:latin typeface="Calibri"/>
                        </a:rPr>
                        <a:t>Key Assumption</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21 of 21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(Registration No. to be inserted). This report is for informational purposes only and does not constitute an offer, solicitation, or recommendation to buy or sell any security. The information contained herein has been obtained from sources believed to be reliable, but Tikona Capital makes no representation as to its accuracy or completeness. Past performance is not indicative of future results. Investments in securities markets are subject to market risks. Please read all related documents carefully before investing. The analyst(s) responsible for the preparation of this report certify that the views expressed herein accurately reflect their personal views about the subject company and its securities, and that no part of their compensation was, is, or will be directly or indirectly related to the specific recommendations or views expressed in this report. Tikona Capital and/or its affiliates may hold positions in the securities discussed in this report. This report is intended solely for the use of the recipient and may not be redistributed, reproduced, or passed on to any other person or published in whole or in part for any purpose without the prior written consent of Tikona Capital. SEBI Research Analyst Regulations, 2014 require disclosure of financial interests and conflicts of interest. All required disclosures are available on request. This report is not directed at or intended for distribution to retail investors as defined under applicable regulations. Tikona Capital is not responsible for any loss arising from the use of this report. The renderer will replace this text with the firm's approved legal boilerplate prior to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