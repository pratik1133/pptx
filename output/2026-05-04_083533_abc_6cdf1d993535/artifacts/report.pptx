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ABC Ltd Initiation Note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ABC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₹420.0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TP</a:t>
            </a:r>
          </a:p>
          <a:p>
            <a:pPr algn="ctr"/>
            <a:r>
              <a:rPr sz="2000" b="1">
                <a:solidFill>
                  <a:srgbClr val="1F4690"/>
                </a:solidFill>
                <a:latin typeface="Calibri"/>
              </a:rPr>
              <a:t>₹515.0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8</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ABC Ltd is emerging as a scaled specialty chemicals platform with improving mix, stronger export penetration, and disciplined capacity expansion.</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ABC Ltd is emerging as a scaled specialty chemicals platform with improving mix, stronger export penetration, and disciplined capac...</a:t>
            </a:r>
          </a:p>
          <a:p>
            <a:pPr/>
            <a:r>
              <a:rPr sz="1100" b="0">
                <a:solidFill>
                  <a:srgbClr val="111111"/>
                </a:solidFill>
                <a:latin typeface="Calibri"/>
              </a:rPr>
              <a:t>- Demand visibility remains healthy across key end markets.</a:t>
            </a:r>
          </a:p>
          <a:p>
            <a:pPr/>
            <a:r>
              <a:rPr sz="1100" b="0">
                <a:solidFill>
                  <a:srgbClr val="111111"/>
                </a:solidFill>
                <a:latin typeface="Calibri"/>
              </a:rPr>
              <a:t>- Margin profile is improving due to mix and backward integration.</a:t>
            </a:r>
          </a:p>
          <a:p>
            <a:pPr/>
            <a:r>
              <a:rPr sz="1100" b="0">
                <a:solidFill>
                  <a:srgbClr val="111111"/>
                </a:solidFill>
                <a:latin typeface="Calibri"/>
              </a:rPr>
              <a:t>- Management execution has been steady across prior capex cycles.</a:t>
            </a:r>
          </a:p>
          <a:p>
            <a:pPr/>
            <a:r>
              <a:rPr sz="1100" b="0">
                <a:solidFill>
                  <a:srgbClr val="111111"/>
                </a:solidFill>
                <a:latin typeface="Calibri"/>
              </a:rPr>
              <a:t>- Raw material volatility could pressure gross margins.</a:t>
            </a:r>
          </a:p>
          <a:p>
            <a:pPr/>
            <a:r>
              <a:rPr sz="1100" b="0">
                <a:solidFill>
                  <a:srgbClr val="111111"/>
                </a:solidFill>
                <a:latin typeface="Calibri"/>
              </a:rPr>
              <a:t>- Delays in utilization ramp-up may push out earnings conversion.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8</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ABC Ltd At A Glance</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ABC Ltd is a specialty chemicals manufacturer focused on export-led growth and margin expansion.</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₹420.0</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TP ₹515.0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22.6%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8</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Trend</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Revenue trajectory across the forecast period reflects mix shift and AUM scale-up.</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8</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Annual Financial Summary</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5638647"/>
                <a:gridCol w="5638648"/>
              </a:tblGrid>
              <a:tr h="1005840">
                <a:tc>
                  <a:txBody>
                    <a:bodyPr/>
                    <a:lstStyle/>
                    <a:p>
                      <a:r>
                        <a:rPr b="1" sz="1100">
                          <a:solidFill>
                            <a:srgbClr val="FFFFFF"/>
                          </a:solidFill>
                          <a:latin typeface="Calibri"/>
                        </a:rPr>
                        <a:t>Period</a:t>
                      </a:r>
                    </a:p>
                  </a:txBody>
                  <a:tcPr>
                    <a:solidFill>
                      <a:srgbClr val="1F4690"/>
                    </a:solidFill>
                  </a:tcPr>
                </a:tc>
                <a:tc>
                  <a:txBody>
                    <a:bodyPr/>
                    <a:lstStyle/>
                    <a:p>
                      <a:r>
                        <a:rPr b="1" sz="1100">
                          <a:solidFill>
                            <a:srgbClr val="FFFFFF"/>
                          </a:solidFill>
                          <a:latin typeface="Calibri"/>
                        </a:rPr>
                        <a:t>Revenue</a:t>
                      </a:r>
                    </a:p>
                  </a:txBody>
                  <a:tcPr>
                    <a:solidFill>
                      <a:srgbClr val="1F4690"/>
                    </a:solidFill>
                  </a:tcPr>
                </a:tc>
              </a:tr>
              <a:tr h="1005840">
                <a:tc>
                  <a:txBody>
                    <a:bodyPr/>
                    <a:lstStyle/>
                    <a:p>
                      <a:r>
                        <a:rPr sz="1100">
                          <a:solidFill>
                            <a:srgbClr val="111111"/>
                          </a:solidFill>
                          <a:latin typeface="Calibri"/>
                        </a:rPr>
                        <a:t>FY24</a:t>
                      </a:r>
                    </a:p>
                  </a:txBody>
                  <a:tcPr/>
                </a:tc>
                <a:tc>
                  <a:txBody>
                    <a:bodyPr/>
                    <a:lstStyle/>
                    <a:p>
                      <a:r>
                        <a:rPr sz="1100">
                          <a:solidFill>
                            <a:srgbClr val="111111"/>
                          </a:solidFill>
                          <a:latin typeface="Calibri"/>
                        </a:rPr>
                        <a:t>₹19,800.0 Cr</a:t>
                      </a:r>
                    </a:p>
                  </a:txBody>
                  <a:tcPr/>
                </a:tc>
              </a:tr>
              <a:tr h="1005840">
                <a:tc>
                  <a:txBody>
                    <a:bodyPr/>
                    <a:lstStyle/>
                    <a:p>
                      <a:r>
                        <a:rPr sz="1100">
                          <a:solidFill>
                            <a:srgbClr val="111111"/>
                          </a:solidFill>
                          <a:latin typeface="Calibri"/>
                        </a:rPr>
                        <a:t>FY25</a:t>
                      </a:r>
                    </a:p>
                  </a:txBody>
                  <a:tcPr>
                    <a:solidFill>
                      <a:srgbClr val="FFFFFF"/>
                    </a:solidFill>
                  </a:tcPr>
                </a:tc>
                <a:tc>
                  <a:txBody>
                    <a:bodyPr/>
                    <a:lstStyle/>
                    <a:p>
                      <a:r>
                        <a:rPr sz="1100">
                          <a:solidFill>
                            <a:srgbClr val="111111"/>
                          </a:solidFill>
                          <a:latin typeface="Calibri"/>
                        </a:rPr>
                        <a:t>₹23,500.0 Cr</a:t>
                      </a:r>
                    </a:p>
                  </a:txBody>
                  <a:tcPr>
                    <a:solidFill>
                      <a:srgbClr val="FFFFFF"/>
                    </a:solidFill>
                  </a:tcPr>
                </a:tc>
              </a:tr>
              <a:tr h="1005840">
                <a:tc>
                  <a:txBody>
                    <a:bodyPr/>
                    <a:lstStyle/>
                    <a:p>
                      <a:r>
                        <a:rPr sz="1100">
                          <a:solidFill>
                            <a:srgbClr val="111111"/>
                          </a:solidFill>
                          <a:latin typeface="Calibri"/>
                        </a:rPr>
                        <a:t>FY26</a:t>
                      </a:r>
                    </a:p>
                  </a:txBody>
                  <a:tcPr/>
                </a:tc>
                <a:tc>
                  <a:txBody>
                    <a:bodyPr/>
                    <a:lstStyle/>
                    <a:p>
                      <a:r>
                        <a:rPr sz="1100">
                          <a:solidFill>
                            <a:srgbClr val="111111"/>
                          </a:solidFill>
                          <a:latin typeface="Calibri"/>
                        </a:rPr>
                        <a:t>₹28,500.0 Cr</a:t>
                      </a:r>
                    </a:p>
                  </a:txBody>
                  <a:tcPr/>
                </a:tc>
              </a:tr>
              <a:tr h="1005840">
                <a:tc>
                  <a:txBody>
                    <a:bodyPr/>
                    <a:lstStyle/>
                    <a:p>
                      <a:r>
                        <a:rPr sz="1100">
                          <a:solidFill>
                            <a:srgbClr val="111111"/>
                          </a:solidFill>
                          <a:latin typeface="Calibri"/>
                        </a:rPr>
                        <a:t>FY27</a:t>
                      </a:r>
                    </a:p>
                  </a:txBody>
                  <a:tcPr>
                    <a:solidFill>
                      <a:srgbClr val="FFFFFF"/>
                    </a:solidFill>
                  </a:tcPr>
                </a:tc>
                <a:tc>
                  <a:txBody>
                    <a:bodyPr/>
                    <a:lstStyle/>
                    <a:p>
                      <a:r>
                        <a:rPr sz="1100">
                          <a:solidFill>
                            <a:srgbClr val="111111"/>
                          </a:solidFill>
                          <a:latin typeface="Calibri"/>
                        </a:rPr>
                        <a:t>₹33,450.0 Cr</a:t>
                      </a:r>
                    </a:p>
                  </a:txBody>
                  <a:tcP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8</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Raw material volatility could pressure gross margins.</a:t>
            </a:r>
          </a:p>
          <a:p>
            <a:pPr/>
            <a:r>
              <a:rPr sz="1100" b="0">
                <a:solidFill>
                  <a:srgbClr val="111111"/>
                </a:solidFill>
                <a:latin typeface="Calibri"/>
              </a:rPr>
              <a:t>- Delays in utilization ramp-up may push out earnings conversion.</a:t>
            </a:r>
          </a:p>
          <a:p>
            <a:pPr/>
            <a:r>
              <a:rPr sz="1100" b="0">
                <a:solidFill>
                  <a:srgbClr val="111111"/>
                </a:solidFill>
                <a:latin typeface="Calibri"/>
              </a:rPr>
              <a:t>- Export demand softness could affect near-term growth.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8</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Analyst Certification &amp; Disclosures</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 Analyst Certification I, the research analyst whose name appears on this report, certify that: 1. The views expressed in this report accurately reflect my personal views about the subject company and its securities. 2. No part of my compensation was, is, or will be directly or indirectly related to the specific recommendations or views expressed herein. 3. I have not received any compensation from the subject company in the past twelve months. 4. I, my relatives, or Tikona Capital do not have any actual or potential conflict of interest with the subject company at the time of publication of this report, except as may be disclosed below. ## Disclosures - Ownership in subject company: None unless otherwise disclosed. - Material conflicts of interest: None at the time of publication. - Investment banking or merchant banking relationship in the past twelve months: None. This certification is made in accordance with SEBI (Research Analysts) Regulations, 2014.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8</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