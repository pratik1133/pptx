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3317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905695" y="0"/>
            <a:ext cx="2286000" cy="2331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28600"/>
            <a:ext cx="23774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274320"/>
            <a:ext cx="1869743" cy="457200"/>
          </a:xfrm>
          <a:prstGeom prst="rect">
            <a:avLst/>
          </a:prstGeom>
        </p:spPr>
      </p:pic>
      <p:sp>
        <p:nvSpPr>
          <p:cNvPr id="6" name="TextBox 5"/>
          <p:cNvSpPr txBox="1"/>
          <p:nvPr/>
        </p:nvSpPr>
        <p:spPr>
          <a:xfrm>
            <a:off x="1188720" y="274320"/>
            <a:ext cx="2743200" cy="320040"/>
          </a:xfrm>
          <a:prstGeom prst="rect">
            <a:avLst/>
          </a:prstGeom>
          <a:noFill/>
        </p:spPr>
        <p:txBody>
          <a:bodyPr wrap="none" lIns="45720" rIns="45720" tIns="18288" bIns="18288">
            <a:spAutoFit/>
          </a:bodyPr>
          <a:lstStyle/>
          <a:p>
            <a:pPr algn="l"/>
            <a:r>
              <a:rPr sz="1600" b="1">
                <a:solidFill>
                  <a:srgbClr val="FFFFFF"/>
                </a:solidFill>
                <a:latin typeface="Calibri"/>
              </a:rPr>
              <a:t>Tikona Capital</a:t>
            </a:r>
          </a:p>
        </p:txBody>
      </p:sp>
      <p:sp>
        <p:nvSpPr>
          <p:cNvPr id="7" name="TextBox 6"/>
          <p:cNvSpPr txBox="1"/>
          <p:nvPr/>
        </p:nvSpPr>
        <p:spPr>
          <a:xfrm>
            <a:off x="1188720" y="594360"/>
            <a:ext cx="2743200" cy="182880"/>
          </a:xfrm>
          <a:prstGeom prst="rect">
            <a:avLst/>
          </a:prstGeom>
          <a:noFill/>
        </p:spPr>
        <p:txBody>
          <a:bodyPr wrap="none" lIns="45720" rIns="45720" tIns="18288" bIns="18288">
            <a:spAutoFit/>
          </a:bodyPr>
          <a:lstStyle/>
          <a:p>
            <a:pPr algn="l"/>
            <a:r>
              <a:rPr sz="800" b="0">
                <a:solidFill>
                  <a:srgbClr val="A0B0C8"/>
                </a:solidFill>
                <a:latin typeface="Calibri"/>
              </a:rPr>
              <a:t>INSTITUTIONAL EQUITY RESEARCH</a:t>
            </a:r>
          </a:p>
        </p:txBody>
      </p:sp>
      <p:sp>
        <p:nvSpPr>
          <p:cNvPr id="8" name="Rounded Rectangle 7"/>
          <p:cNvSpPr/>
          <p:nvPr/>
        </p:nvSpPr>
        <p:spPr>
          <a:xfrm>
            <a:off x="8351215" y="274320"/>
            <a:ext cx="3200400" cy="274320"/>
          </a:xfrm>
          <a:prstGeom prst="roundRect">
            <a:avLst/>
          </a:prstGeom>
          <a:solidFill>
            <a:srgbClr val="FFFFFF">
              <a:lumMod val="15000"/>
              <a:lumOff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lIns="45720" tIns="18288"/>
          <a:lstStyle/>
          <a:p>
            <a:pPr algn="ctr"/>
            <a:r>
              <a:rPr sz="900" b="0">
                <a:solidFill>
                  <a:srgbClr val="FFFFFF"/>
                </a:solidFill>
                <a:latin typeface="Calibri"/>
              </a:rPr>
              <a:t>INITIATION</a:t>
            </a:r>
          </a:p>
        </p:txBody>
      </p:sp>
      <p:sp>
        <p:nvSpPr>
          <p:cNvPr id="9" name="TextBox 8"/>
          <p:cNvSpPr txBox="1"/>
          <p:nvPr/>
        </p:nvSpPr>
        <p:spPr>
          <a:xfrm>
            <a:off x="457200" y="914400"/>
            <a:ext cx="7315017" cy="548640"/>
          </a:xfrm>
          <a:prstGeom prst="rect">
            <a:avLst/>
          </a:prstGeom>
          <a:noFill/>
        </p:spPr>
        <p:txBody>
          <a:bodyPr wrap="none" lIns="45720" rIns="45720" tIns="18288" bIns="18288">
            <a:spAutoFit/>
          </a:bodyPr>
          <a:lstStyle/>
          <a:p>
            <a:pPr algn="l"/>
            <a:r>
              <a:rPr sz="3000" b="1">
                <a:solidFill>
                  <a:srgbClr val="FFFFFF"/>
                </a:solidFill>
                <a:latin typeface="Calibri"/>
              </a:rPr>
              <a:t>Motilal Oswal Financial Services Ltd</a:t>
            </a:r>
          </a:p>
        </p:txBody>
      </p:sp>
      <p:sp>
        <p:nvSpPr>
          <p:cNvPr id="10" name="Rounded Rectangle 9"/>
          <p:cNvSpPr/>
          <p:nvPr/>
        </p:nvSpPr>
        <p:spPr>
          <a:xfrm>
            <a:off x="6382512" y="1051560"/>
            <a:ext cx="914400" cy="32004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TextBox 10"/>
          <p:cNvSpPr txBox="1"/>
          <p:nvPr/>
        </p:nvSpPr>
        <p:spPr>
          <a:xfrm>
            <a:off x="457200" y="1463040"/>
            <a:ext cx="11277295" cy="182880"/>
          </a:xfrm>
          <a:prstGeom prst="rect">
            <a:avLst/>
          </a:prstGeom>
          <a:noFill/>
        </p:spPr>
        <p:txBody>
          <a:bodyPr wrap="none" lIns="45720" rIns="45720" tIns="18288" bIns="18288">
            <a:spAutoFit/>
          </a:bodyPr>
          <a:lstStyle/>
          <a:p>
            <a:pPr algn="l"/>
            <a:r>
              <a:rPr sz="900" b="0">
                <a:solidFill>
                  <a:srgbClr val="8899AA"/>
                </a:solidFill>
                <a:latin typeface="Calibri"/>
              </a:rPr>
              <a:t>NSE: MOFSL  |  Financial Services</a:t>
            </a:r>
          </a:p>
        </p:txBody>
      </p:sp>
      <p:sp>
        <p:nvSpPr>
          <p:cNvPr id="12" name="Rectangle 11"/>
          <p:cNvSpPr/>
          <p:nvPr/>
        </p:nvSpPr>
        <p:spPr>
          <a:xfrm>
            <a:off x="457200" y="1764792"/>
            <a:ext cx="11277295" cy="13716"/>
          </a:xfrm>
          <a:prstGeom prst="rect">
            <a:avLst/>
          </a:prstGeom>
          <a:solidFill>
            <a:srgbClr val="4A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783080"/>
            <a:ext cx="2636443" cy="137160"/>
          </a:xfrm>
          <a:prstGeom prst="rect">
            <a:avLst/>
          </a:prstGeom>
          <a:noFill/>
        </p:spPr>
        <p:txBody>
          <a:bodyPr wrap="none" lIns="45720" rIns="45720" tIns="18288" bIns="18288">
            <a:spAutoFit/>
          </a:bodyPr>
          <a:lstStyle/>
          <a:p>
            <a:pPr algn="l"/>
            <a:r>
              <a:rPr sz="700" b="0">
                <a:solidFill>
                  <a:srgbClr val="8899AA"/>
                </a:solidFill>
                <a:latin typeface="Calibri"/>
              </a:rPr>
              <a:t>CMP</a:t>
            </a:r>
          </a:p>
        </p:txBody>
      </p:sp>
      <p:sp>
        <p:nvSpPr>
          <p:cNvPr id="14" name="TextBox 13"/>
          <p:cNvSpPr txBox="1"/>
          <p:nvPr/>
        </p:nvSpPr>
        <p:spPr>
          <a:xfrm>
            <a:off x="457200" y="1920240"/>
            <a:ext cx="2636443" cy="274320"/>
          </a:xfrm>
          <a:prstGeom prst="rect">
            <a:avLst/>
          </a:prstGeom>
          <a:noFill/>
        </p:spPr>
        <p:txBody>
          <a:bodyPr wrap="none" lIns="45720" rIns="45720" tIns="18288" bIns="18288">
            <a:spAutoFit/>
          </a:bodyPr>
          <a:lstStyle/>
          <a:p>
            <a:pPr algn="l"/>
            <a:r>
              <a:rPr sz="1600" b="1">
                <a:solidFill>
                  <a:srgbClr val="FFA500"/>
                </a:solidFill>
                <a:latin typeface="Calibri"/>
              </a:rPr>
              <a:t>₹822.90</a:t>
            </a:r>
          </a:p>
        </p:txBody>
      </p:sp>
      <p:sp>
        <p:nvSpPr>
          <p:cNvPr id="15" name="TextBox 14"/>
          <p:cNvSpPr txBox="1"/>
          <p:nvPr/>
        </p:nvSpPr>
        <p:spPr>
          <a:xfrm>
            <a:off x="457200" y="2194560"/>
            <a:ext cx="2636443" cy="137160"/>
          </a:xfrm>
          <a:prstGeom prst="rect">
            <a:avLst/>
          </a:prstGeom>
          <a:noFill/>
        </p:spPr>
        <p:txBody>
          <a:bodyPr wrap="none" lIns="45720" rIns="45720" tIns="18288" bIns="18288">
            <a:spAutoFit/>
          </a:bodyPr>
          <a:lstStyle/>
          <a:p>
            <a:pPr algn="l"/>
            <a:r>
              <a:rPr sz="700" b="0">
                <a:solidFill>
                  <a:srgbClr val="7788AA"/>
                </a:solidFill>
                <a:latin typeface="Calibri"/>
              </a:rPr>
              <a:t>As of 28/04/2026</a:t>
            </a:r>
          </a:p>
        </p:txBody>
      </p:sp>
      <p:sp>
        <p:nvSpPr>
          <p:cNvPr id="16" name="Rectangle 15"/>
          <p:cNvSpPr/>
          <p:nvPr/>
        </p:nvSpPr>
        <p:spPr>
          <a:xfrm>
            <a:off x="3139363" y="1828800"/>
            <a:ext cx="9144" cy="45720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76523" y="1783080"/>
            <a:ext cx="2636443" cy="137160"/>
          </a:xfrm>
          <a:prstGeom prst="rect">
            <a:avLst/>
          </a:prstGeom>
          <a:noFill/>
        </p:spPr>
        <p:txBody>
          <a:bodyPr wrap="none" lIns="45720" rIns="45720" tIns="18288" bIns="18288">
            <a:spAutoFit/>
          </a:bodyPr>
          <a:lstStyle/>
          <a:p>
            <a:pPr algn="l"/>
            <a:r>
              <a:rPr sz="700" b="0">
                <a:solidFill>
                  <a:srgbClr val="8899AA"/>
                </a:solidFill>
                <a:latin typeface="Calibri"/>
              </a:rPr>
              <a:t>TARGET PRICE</a:t>
            </a:r>
          </a:p>
        </p:txBody>
      </p:sp>
      <p:sp>
        <p:nvSpPr>
          <p:cNvPr id="18" name="TextBox 17"/>
          <p:cNvSpPr txBox="1"/>
          <p:nvPr/>
        </p:nvSpPr>
        <p:spPr>
          <a:xfrm>
            <a:off x="3276523" y="1920240"/>
            <a:ext cx="2636443" cy="274320"/>
          </a:xfrm>
          <a:prstGeom prst="rect">
            <a:avLst/>
          </a:prstGeom>
          <a:noFill/>
        </p:spPr>
        <p:txBody>
          <a:bodyPr wrap="none" lIns="45720" rIns="45720" tIns="18288" bIns="18288">
            <a:spAutoFit/>
          </a:bodyPr>
          <a:lstStyle/>
          <a:p>
            <a:pPr algn="l"/>
            <a:r>
              <a:rPr sz="1600" b="1">
                <a:solidFill>
                  <a:srgbClr val="FFFFFF"/>
                </a:solidFill>
                <a:latin typeface="Calibri"/>
              </a:rPr>
              <a:t>₹1,127</a:t>
            </a:r>
          </a:p>
        </p:txBody>
      </p:sp>
      <p:sp>
        <p:nvSpPr>
          <p:cNvPr id="19" name="Rectangle 18"/>
          <p:cNvSpPr/>
          <p:nvPr/>
        </p:nvSpPr>
        <p:spPr>
          <a:xfrm>
            <a:off x="5958687" y="1828800"/>
            <a:ext cx="9144" cy="45720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5847" y="1783080"/>
            <a:ext cx="2636443" cy="137160"/>
          </a:xfrm>
          <a:prstGeom prst="rect">
            <a:avLst/>
          </a:prstGeom>
          <a:noFill/>
        </p:spPr>
        <p:txBody>
          <a:bodyPr wrap="none" lIns="45720" rIns="45720" tIns="18288" bIns="18288">
            <a:spAutoFit/>
          </a:bodyPr>
          <a:lstStyle/>
          <a:p>
            <a:pPr algn="l"/>
            <a:r>
              <a:rPr sz="700" b="0">
                <a:solidFill>
                  <a:srgbClr val="8899AA"/>
                </a:solidFill>
                <a:latin typeface="Calibri"/>
              </a:rPr>
              <a:t>MARKET CAP</a:t>
            </a:r>
          </a:p>
        </p:txBody>
      </p:sp>
      <p:sp>
        <p:nvSpPr>
          <p:cNvPr id="21" name="TextBox 20"/>
          <p:cNvSpPr txBox="1"/>
          <p:nvPr/>
        </p:nvSpPr>
        <p:spPr>
          <a:xfrm>
            <a:off x="6095847" y="1920240"/>
            <a:ext cx="2636443" cy="274320"/>
          </a:xfrm>
          <a:prstGeom prst="rect">
            <a:avLst/>
          </a:prstGeom>
          <a:noFill/>
        </p:spPr>
        <p:txBody>
          <a:bodyPr wrap="none" lIns="45720" rIns="45720" tIns="18288" bIns="18288">
            <a:spAutoFit/>
          </a:bodyPr>
          <a:lstStyle/>
          <a:p>
            <a:pPr algn="l"/>
            <a:r>
              <a:rPr sz="1600" b="1">
                <a:solidFill>
                  <a:srgbClr val="FFFFFF"/>
                </a:solidFill>
                <a:latin typeface="Calibri"/>
              </a:rPr>
              <a:t>₹490,790,000,000 Cr</a:t>
            </a:r>
          </a:p>
        </p:txBody>
      </p:sp>
      <p:sp>
        <p:nvSpPr>
          <p:cNvPr id="22" name="Rectangle 21"/>
          <p:cNvSpPr/>
          <p:nvPr/>
        </p:nvSpPr>
        <p:spPr>
          <a:xfrm>
            <a:off x="8778011" y="1828800"/>
            <a:ext cx="9144" cy="45720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171" y="1783080"/>
            <a:ext cx="2636443" cy="137160"/>
          </a:xfrm>
          <a:prstGeom prst="rect">
            <a:avLst/>
          </a:prstGeom>
          <a:noFill/>
        </p:spPr>
        <p:txBody>
          <a:bodyPr wrap="none" lIns="45720" rIns="45720" tIns="18288" bIns="18288">
            <a:spAutoFit/>
          </a:bodyPr>
          <a:lstStyle/>
          <a:p>
            <a:pPr algn="l"/>
            <a:r>
              <a:rPr sz="700" b="0">
                <a:solidFill>
                  <a:srgbClr val="8899AA"/>
                </a:solidFill>
                <a:latin typeface="Calibri"/>
              </a:rPr>
              <a:t>UPSIDE</a:t>
            </a:r>
          </a:p>
        </p:txBody>
      </p:sp>
      <p:sp>
        <p:nvSpPr>
          <p:cNvPr id="24" name="TextBox 23"/>
          <p:cNvSpPr txBox="1"/>
          <p:nvPr/>
        </p:nvSpPr>
        <p:spPr>
          <a:xfrm>
            <a:off x="8915171" y="1920240"/>
            <a:ext cx="2636443" cy="274320"/>
          </a:xfrm>
          <a:prstGeom prst="rect">
            <a:avLst/>
          </a:prstGeom>
          <a:noFill/>
        </p:spPr>
        <p:txBody>
          <a:bodyPr wrap="none" lIns="45720" rIns="45720" tIns="18288" bIns="18288">
            <a:spAutoFit/>
          </a:bodyPr>
          <a:lstStyle/>
          <a:p>
            <a:pPr algn="l"/>
            <a:r>
              <a:rPr sz="1600" b="1">
                <a:solidFill>
                  <a:srgbClr val="FFFFFF"/>
                </a:solidFill>
                <a:latin typeface="Calibri"/>
              </a:rPr>
              <a:t>+37%</a:t>
            </a:r>
          </a:p>
        </p:txBody>
      </p:sp>
      <p:sp>
        <p:nvSpPr>
          <p:cNvPr id="25" name="TextBox 24"/>
          <p:cNvSpPr txBox="1"/>
          <p:nvPr/>
        </p:nvSpPr>
        <p:spPr>
          <a:xfrm>
            <a:off x="8991295" y="2103120"/>
            <a:ext cx="2743200" cy="182880"/>
          </a:xfrm>
          <a:prstGeom prst="rect">
            <a:avLst/>
          </a:prstGeom>
          <a:noFill/>
        </p:spPr>
        <p:txBody>
          <a:bodyPr wrap="none" lIns="45720" rIns="45720" tIns="18288" bIns="18288">
            <a:spAutoFit/>
          </a:bodyPr>
          <a:lstStyle/>
          <a:p>
            <a:pPr algn="r"/>
            <a:r>
              <a:rPr sz="800" b="0">
                <a:solidFill>
                  <a:srgbClr val="8899AA"/>
                </a:solidFill>
                <a:latin typeface="Calibri"/>
              </a:rPr>
              <a:t>Report: 28/04/2026</a:t>
            </a:r>
          </a:p>
        </p:txBody>
      </p:sp>
      <p:sp>
        <p:nvSpPr>
          <p:cNvPr id="26" name="Rectangle 25"/>
          <p:cNvSpPr/>
          <p:nvPr/>
        </p:nvSpPr>
        <p:spPr>
          <a:xfrm>
            <a:off x="0" y="2331720"/>
            <a:ext cx="12191695" cy="3657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331720"/>
            <a:ext cx="11277295" cy="365760"/>
          </a:xfrm>
          <a:prstGeom prst="rect">
            <a:avLst/>
          </a:prstGeom>
          <a:noFill/>
        </p:spPr>
        <p:txBody>
          <a:bodyPr wrap="none" lIns="45720" rIns="45720" tIns="18288" bIns="18288">
            <a:spAutoFit/>
          </a:bodyPr>
          <a:lstStyle/>
          <a:p>
            <a:pPr algn="l"/>
            <a:r>
              <a:rPr sz="1200" b="1">
                <a:solidFill>
                  <a:srgbClr val="1F4690"/>
                </a:solidFill>
                <a:latin typeface="Calibri"/>
              </a:rPr>
              <a:t>"Initiation of Coverage: BUY"</a:t>
            </a:r>
          </a:p>
        </p:txBody>
      </p:sp>
      <p:sp>
        <p:nvSpPr>
          <p:cNvPr id="28" name="Rounded Rectangle 27"/>
          <p:cNvSpPr/>
          <p:nvPr/>
        </p:nvSpPr>
        <p:spPr>
          <a:xfrm>
            <a:off x="457200" y="2880360"/>
            <a:ext cx="3637178" cy="91440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73152"/>
          <a:lstStyle/>
          <a:p>
            <a:pPr algn="ctr"/>
            <a:r>
              <a:rPr sz="800" b="0">
                <a:solidFill>
                  <a:srgbClr val="C0C8D4"/>
                </a:solidFill>
                <a:latin typeface="Calibri"/>
              </a:rPr>
              <a:t>RATING</a:t>
            </a:r>
          </a:p>
          <a:p>
            <a:pPr algn="ctr"/>
            <a:r>
              <a:rPr sz="1800" b="1">
                <a:solidFill>
                  <a:srgbClr val="FFFFFF"/>
                </a:solidFill>
                <a:latin typeface="Calibri"/>
              </a:rPr>
              <a:t>BUY</a:t>
            </a:r>
          </a:p>
        </p:txBody>
      </p:sp>
      <p:sp>
        <p:nvSpPr>
          <p:cNvPr id="29" name="Rounded Rectangle 28"/>
          <p:cNvSpPr/>
          <p:nvPr/>
        </p:nvSpPr>
        <p:spPr>
          <a:xfrm>
            <a:off x="4277258" y="2880360"/>
            <a:ext cx="3637178" cy="91440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73152"/>
          <a:lstStyle/>
          <a:p>
            <a:pPr algn="ctr"/>
            <a:r>
              <a:rPr sz="800" b="0">
                <a:solidFill>
                  <a:srgbClr val="1F4690"/>
                </a:solidFill>
                <a:latin typeface="Calibri"/>
              </a:rPr>
              <a:t>CURRENT PRICE</a:t>
            </a:r>
          </a:p>
          <a:p>
            <a:pPr algn="ctr"/>
            <a:r>
              <a:rPr sz="1800" b="1">
                <a:solidFill>
                  <a:srgbClr val="1F4690"/>
                </a:solidFill>
                <a:latin typeface="Calibri"/>
              </a:rPr>
              <a:t>₹822.9</a:t>
            </a:r>
          </a:p>
        </p:txBody>
      </p:sp>
      <p:sp>
        <p:nvSpPr>
          <p:cNvPr id="30" name="Rounded Rectangle 29"/>
          <p:cNvSpPr/>
          <p:nvPr/>
        </p:nvSpPr>
        <p:spPr>
          <a:xfrm>
            <a:off x="8097316" y="2880360"/>
            <a:ext cx="3637178" cy="91440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73152"/>
          <a:lstStyle/>
          <a:p>
            <a:pPr algn="ctr"/>
            <a:r>
              <a:rPr sz="800" b="0">
                <a:solidFill>
                  <a:srgbClr val="C0C8D4"/>
                </a:solidFill>
                <a:latin typeface="Calibri"/>
              </a:rPr>
              <a:t>TARGET PRICE</a:t>
            </a:r>
          </a:p>
          <a:p>
            <a:pPr algn="ctr"/>
            <a:r>
              <a:rPr sz="1800" b="1">
                <a:solidFill>
                  <a:srgbClr val="FFFFFF"/>
                </a:solidFill>
                <a:latin typeface="Calibri"/>
              </a:rPr>
              <a:t>₹1,127.0</a:t>
            </a:r>
          </a:p>
        </p:txBody>
      </p:sp>
      <p:sp>
        <p:nvSpPr>
          <p:cNvPr id="31" name="Rectangle 3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537960"/>
            <a:ext cx="3200400"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33" name="TextBox 3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34" name="TextBox 3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Investment Thesis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Motilal Oswal represents a compelling investment opportunity driven by its accelerating transformation from a cyclical broking firm into a high-quality, annuity-driven financial services platform. The increasing contribution of Annual Recurring Revenue fundamentally re-rates the earnings quality, while the market has yet to fully price in this strategic pivot. Our BUY rating reflects the significant upside potential as the company continues its successful diversification strategy.</a:t>
            </a:r>
          </a:p>
        </p:txBody>
      </p:sp>
      <p:sp>
        <p:nvSpPr>
          <p:cNvPr id="19" name="TextBox 18"/>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Transformation to annuity-driven model reduces earnings volatility and enhances business quality</a:t>
            </a:r>
          </a:p>
          <a:p>
            <a:pPr>
              <a:spcAft>
                <a:spcPts val="400"/>
              </a:spcAft>
            </a:pPr>
            <a:r>
              <a:rPr sz="1200" b="0">
                <a:solidFill>
                  <a:srgbClr val="111111"/>
                </a:solidFill>
                <a:latin typeface="Calibri"/>
              </a:rPr>
              <a:t>•  Sustained AUM growth across asset management and private wealth segments with strong performance metrics</a:t>
            </a:r>
          </a:p>
          <a:p>
            <a:pPr>
              <a:spcAft>
                <a:spcPts val="400"/>
              </a:spcAft>
            </a:pPr>
            <a:r>
              <a:rPr sz="1200" b="0">
                <a:solidFill>
                  <a:srgbClr val="111111"/>
                </a:solidFill>
                <a:latin typeface="Calibri"/>
              </a:rPr>
              <a:t>•  Upgraded credit rating to AA+ (Stable) validates financial strength and disciplined capital allocation</a:t>
            </a:r>
          </a:p>
          <a:p>
            <a:pPr>
              <a:spcAft>
                <a:spcPts val="400"/>
              </a:spcAft>
            </a:pPr>
            <a:r>
              <a:rPr sz="1200" b="0">
                <a:solidFill>
                  <a:srgbClr val="111111"/>
                </a:solidFill>
                <a:latin typeface="Calibri"/>
              </a:rPr>
              <a:t>•  Operating leverage driving margin expansion as fee-based businesses scale</a:t>
            </a:r>
          </a:p>
          <a:p>
            <a:pPr>
              <a:spcAft>
                <a:spcPts val="400"/>
              </a:spcAft>
            </a:pPr>
            <a:r>
              <a:rPr sz="1200" b="0">
                <a:solidFill>
                  <a:srgbClr val="111111"/>
                </a:solidFill>
                <a:latin typeface="Calibri"/>
              </a:rPr>
              <a:t>•  Superior reinvestment quality score reflects strategic capital deployment into high-growth segments</a:t>
            </a:r>
          </a:p>
          <a:p>
            <a:pPr>
              <a:spcAft>
                <a:spcPts val="400"/>
              </a:spcAft>
            </a:pPr>
            <a:r>
              <a:rPr sz="1200" b="0">
                <a:solidFill>
                  <a:srgbClr val="111111"/>
                </a:solidFill>
                <a:latin typeface="Calibri"/>
              </a:rPr>
              <a:t>•  Strong fund performance metrics, with majority of AUM outperforming benchmarks, supports premium fee retention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Company Overview</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Founded in 1987, Motilal Oswal has evolved from a research-driven equity broking house into one of India's most comprehensive financial services platforms. The company spans Capital Markets, Asset &amp; Wealth Management, Housing Finance, and Alternative Investments, serving over 1.6 million customers across 550+ cities through 2,500+ business locations. Research DNA remains the firm's enduring competitive moat, with coverage of 300+ companies. The business model has strategically pivoted toward annuity-based revenue streams, reducing dependence on cyclical broking income while maintaining strong growth momentum across all verticals.</a:t>
            </a:r>
          </a:p>
        </p:txBody>
      </p:sp>
      <p:sp>
        <p:nvSpPr>
          <p:cNvPr id="19" name="Rounded Rectangle 18"/>
          <p:cNvSpPr/>
          <p:nvPr/>
        </p:nvSpPr>
        <p:spPr>
          <a:xfrm>
            <a:off x="6675120" y="1417320"/>
            <a:ext cx="1182547"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CURRENT PRICE</a:t>
            </a:r>
          </a:p>
          <a:p>
            <a:pPr algn="ctr"/>
            <a:r>
              <a:rPr sz="1600" b="1">
                <a:solidFill>
                  <a:srgbClr val="FFFFFF"/>
                </a:solidFill>
                <a:latin typeface="Calibri"/>
              </a:rPr>
              <a:t>₹822.9</a:t>
            </a:r>
          </a:p>
        </p:txBody>
      </p:sp>
      <p:sp>
        <p:nvSpPr>
          <p:cNvPr id="20" name="Rounded Rectangle 19"/>
          <p:cNvSpPr/>
          <p:nvPr/>
        </p:nvSpPr>
        <p:spPr>
          <a:xfrm>
            <a:off x="7967395" y="1417320"/>
            <a:ext cx="1182547"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TARGET PRICE</a:t>
            </a:r>
          </a:p>
          <a:p>
            <a:pPr algn="ctr"/>
            <a:r>
              <a:rPr sz="1600" b="1">
                <a:solidFill>
                  <a:srgbClr val="1F4690"/>
                </a:solidFill>
                <a:latin typeface="Calibri"/>
              </a:rPr>
              <a:t>₹1,127.0</a:t>
            </a:r>
          </a:p>
        </p:txBody>
      </p:sp>
      <p:sp>
        <p:nvSpPr>
          <p:cNvPr id="21" name="Rounded Rectangle 20"/>
          <p:cNvSpPr/>
          <p:nvPr/>
        </p:nvSpPr>
        <p:spPr>
          <a:xfrm>
            <a:off x="9259671" y="1417320"/>
            <a:ext cx="1182547"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
        <p:nvSpPr>
          <p:cNvPr id="22" name="Rounded Rectangle 21"/>
          <p:cNvSpPr/>
          <p:nvPr/>
        </p:nvSpPr>
        <p:spPr>
          <a:xfrm>
            <a:off x="10551947" y="1417320"/>
            <a:ext cx="1182547" cy="100584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TOTAL AUM</a:t>
            </a:r>
          </a:p>
          <a:p>
            <a:pPr algn="ctr"/>
            <a:r>
              <a:rPr sz="1600" b="1">
                <a:solidFill>
                  <a:srgbClr val="FFFFFF"/>
                </a:solidFill>
                <a:latin typeface="Calibri"/>
              </a:rPr>
              <a:t>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Key Investment Highlights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Highlights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Motilal Oswal offers a compelling mix of business transformation, financial momentum, and valuation upside.</a:t>
            </a:r>
          </a:p>
        </p:txBody>
      </p:sp>
      <p:sp>
        <p:nvSpPr>
          <p:cNvPr id="19" name="TextBox 18"/>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Annual Recurring Revenue: ARR contribution forms a significant majority of total net revenues, reducing cyclical volatility</a:t>
            </a:r>
          </a:p>
          <a:p>
            <a:pPr>
              <a:spcAft>
                <a:spcPts val="400"/>
              </a:spcAft>
            </a:pPr>
            <a:r>
              <a:rPr sz="1200" b="0">
                <a:solidFill>
                  <a:srgbClr val="111111"/>
                </a:solidFill>
                <a:latin typeface="Calibri"/>
              </a:rPr>
              <a:t>•  Profit Growth: Recent quarterly profits showed remarkable year-on-year growth with exceptional return metrics</a:t>
            </a:r>
          </a:p>
          <a:p>
            <a:pPr>
              <a:spcAft>
                <a:spcPts val="400"/>
              </a:spcAft>
            </a:pPr>
            <a:r>
              <a:rPr sz="1200" b="0">
                <a:solidFill>
                  <a:srgbClr val="111111"/>
                </a:solidFill>
                <a:latin typeface="Calibri"/>
              </a:rPr>
              <a:t>•  AUM Growth: Total assets under management expanding rapidly with majority of funds outperforming benchmarks</a:t>
            </a:r>
          </a:p>
          <a:p>
            <a:pPr>
              <a:spcAft>
                <a:spcPts val="400"/>
              </a:spcAft>
            </a:pPr>
            <a:r>
              <a:rPr sz="1200" b="0">
                <a:solidFill>
                  <a:srgbClr val="111111"/>
                </a:solidFill>
                <a:latin typeface="Calibri"/>
              </a:rPr>
              <a:t>•  Private Wealth Expansion: PWM assets growing at an accelerated pace with strong client acquisition momentum</a:t>
            </a:r>
          </a:p>
          <a:p>
            <a:pPr>
              <a:spcAft>
                <a:spcPts val="400"/>
              </a:spcAft>
            </a:pPr>
            <a:r>
              <a:rPr sz="1200" b="0">
                <a:solidFill>
                  <a:srgbClr val="111111"/>
                </a:solidFill>
                <a:latin typeface="Calibri"/>
              </a:rPr>
              <a:t>•  Credit Strength: Long-term rating upgrade validates balance sheet quality and funding access</a:t>
            </a:r>
          </a:p>
          <a:p>
            <a:pPr>
              <a:spcAft>
                <a:spcPts val="400"/>
              </a:spcAft>
            </a:pPr>
            <a:r>
              <a:rPr sz="1200" b="0">
                <a:solidFill>
                  <a:srgbClr val="111111"/>
                </a:solidFill>
                <a:latin typeface="Calibri"/>
              </a:rPr>
              <a:t>•  Valuation Upside: Current market price represents a significant discount to consensus target</a:t>
            </a:r>
          </a:p>
          <a:p>
            <a:pPr>
              <a:spcAft>
                <a:spcPts val="400"/>
              </a:spcAft>
            </a:pPr>
            <a:r>
              <a:rPr sz="1200" b="0">
                <a:solidFill>
                  <a:srgbClr val="111111"/>
                </a:solidFill>
                <a:latin typeface="Calibri"/>
              </a:rPr>
              <a:t>•  Capital Allocation: Disciplined reinvestment into fee-based businesses enhances long-term earnings quality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Business Transformation</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Transformation</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Motilal Oswal has executed a strategic pivot from its traditional broking roots toward a fee-based annuity model. Annual Recurring Revenue now constitutes a substantial portion of total net revenues, fundamentally altering the business profile. This transformation reduces earnings volatility across market cycles while maintaining growth momentum. Management continues to guide for further increases in ARR contribution, suggesting additional upside in valuation multiples as the market recognizes this quality improvement. The company's long-term strategy prioritizes expanding asset management and wealth management segments over cyclical capital markets business.</a:t>
            </a:r>
          </a:p>
        </p:txBody>
      </p:sp>
      <p:pic>
        <p:nvPicPr>
          <p:cNvPr id="19" name="Picture 18"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Business Segment Analysis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Segment Analysis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4389120" cy="2194560"/>
          </a:xfrm>
          <a:prstGeom prst="rect">
            <a:avLst/>
          </a:prstGeom>
          <a:noFill/>
        </p:spPr>
        <p:txBody>
          <a:bodyPr wrap="square" anchor="t" lIns="45720" rIns="45720" tIns="18288" bIns="18288">
            <a:spAutoFit/>
          </a:bodyPr>
          <a:lstStyle/>
          <a:p>
            <a:r>
              <a:rPr sz="1200" b="0">
                <a:solidFill>
                  <a:srgbClr val="111111"/>
                </a:solidFill>
                <a:latin typeface="Calibri"/>
              </a:rPr>
              <a:t>Motilal Oswal operates across multiple complementary segments, with increasing contribution from asset and wealth management.</a:t>
            </a:r>
          </a:p>
        </p:txBody>
      </p:sp>
      <p:pic>
        <p:nvPicPr>
          <p:cNvPr id="19" name="Picture 18" descr="image.png"/>
          <p:cNvPicPr>
            <a:picLocks noChangeAspect="1"/>
          </p:cNvPicPr>
          <p:nvPr/>
        </p:nvPicPr>
        <p:blipFill>
          <a:blip r:embed="rId3"/>
          <a:stretch>
            <a:fillRect/>
          </a:stretch>
        </p:blipFill>
        <p:spPr>
          <a:xfrm>
            <a:off x="5120640" y="1417320"/>
            <a:ext cx="6613855" cy="2194560"/>
          </a:xfrm>
          <a:prstGeom prst="rect">
            <a:avLst/>
          </a:prstGeom>
        </p:spPr>
      </p:pic>
      <p:graphicFrame>
        <p:nvGraphicFramePr>
          <p:cNvPr id="20" name="Table 19"/>
          <p:cNvGraphicFramePr>
            <a:graphicFrameLocks noGrp="1"/>
          </p:cNvGraphicFramePr>
          <p:nvPr/>
        </p:nvGraphicFramePr>
        <p:xfrm>
          <a:off x="457200" y="3749039"/>
          <a:ext cx="11277292" cy="2697480"/>
        </p:xfrm>
        <a:graphic>
          <a:graphicData uri="http://schemas.openxmlformats.org/drawingml/2006/table">
            <a:tbl>
              <a:tblPr firstRow="1" bandRow="1">
                <a:tableStyleId>{5C22544A-7EE6-4342-B048-85BDC9FD1C3A}</a:tableStyleId>
              </a:tblPr>
              <a:tblGrid>
                <a:gridCol w="2819323"/>
                <a:gridCol w="2819323"/>
                <a:gridCol w="2819323"/>
                <a:gridCol w="2819323"/>
              </a:tblGrid>
              <a:tr h="449580">
                <a:tc>
                  <a:txBody>
                    <a:bodyPr/>
                    <a:lstStyle/>
                    <a:p>
                      <a:r>
                        <a:rPr b="1" sz="1200">
                          <a:solidFill>
                            <a:srgbClr val="FFFFFF"/>
                          </a:solidFill>
                          <a:latin typeface="Calibri"/>
                        </a:rPr>
                        <a:t>Segment</a:t>
                      </a:r>
                    </a:p>
                  </a:txBody>
                  <a:tcPr marL="36576" marR="36576" marT="18288" marB="18288">
                    <a:solidFill>
                      <a:srgbClr val="1F4690"/>
                    </a:solidFill>
                  </a:tcPr>
                </a:tc>
                <a:tc>
                  <a:txBody>
                    <a:bodyPr/>
                    <a:lstStyle/>
                    <a:p>
                      <a:pPr algn="r"/>
                      <a:r>
                        <a:rPr b="1" sz="1200">
                          <a:solidFill>
                            <a:srgbClr val="FFFFFF"/>
                          </a:solidFill>
                          <a:latin typeface="Calibri"/>
                        </a:rPr>
                        <a:t>Revenue %</a:t>
                      </a:r>
                    </a:p>
                  </a:txBody>
                  <a:tcPr marL="36576" marR="36576" marT="18288" marB="18288">
                    <a:solidFill>
                      <a:srgbClr val="1F4690"/>
                    </a:solidFill>
                  </a:tcPr>
                </a:tc>
                <a:tc>
                  <a:txBody>
                    <a:bodyPr/>
                    <a:lstStyle/>
                    <a:p>
                      <a:pPr algn="r"/>
                      <a:r>
                        <a:rPr b="1" sz="1200">
                          <a:solidFill>
                            <a:srgbClr val="FFFFFF"/>
                          </a:solidFill>
                          <a:latin typeface="Calibri"/>
                        </a:rPr>
                        <a:t>Growth</a:t>
                      </a:r>
                    </a:p>
                  </a:txBody>
                  <a:tcPr marL="36576" marR="36576" marT="18288" marB="18288">
                    <a:solidFill>
                      <a:srgbClr val="1F4690"/>
                    </a:solidFill>
                  </a:tcPr>
                </a:tc>
                <a:tc>
                  <a:txBody>
                    <a:bodyPr/>
                    <a:lstStyle/>
                    <a:p>
                      <a:pPr algn="r"/>
                      <a:r>
                        <a:rPr b="1" sz="1200">
                          <a:solidFill>
                            <a:srgbClr val="FFFFFF"/>
                          </a:solidFill>
                          <a:latin typeface="Calibri"/>
                        </a:rPr>
                        <a:t>Description</a:t>
                      </a:r>
                    </a:p>
                  </a:txBody>
                  <a:tcPr marL="36576" marR="36576" marT="18288" marB="18288">
                    <a:solidFill>
                      <a:srgbClr val="1F4690"/>
                    </a:solidFill>
                  </a:tcPr>
                </a:tc>
              </a:tr>
              <a:tr h="449580">
                <a:tc>
                  <a:txBody>
                    <a:bodyPr/>
                    <a:lstStyle/>
                    <a:p>
                      <a:r>
                        <a:rPr sz="1200" b="1">
                          <a:solidFill>
                            <a:srgbClr val="5A6573"/>
                          </a:solidFill>
                          <a:latin typeface="Calibri"/>
                        </a:rPr>
                        <a:t>Capital Markets (Broking + IB)</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c>
                  <a:txBody>
                    <a:bodyPr/>
                    <a:lstStyle/>
                    <a:p>
                      <a:pPr algn="r"/>
                      <a:r>
                        <a:rPr sz="1200">
                          <a:solidFill>
                            <a:srgbClr val="111111"/>
                          </a:solidFill>
                          <a:latin typeface="Calibri"/>
                        </a:rPr>
                        <a:t>Equity, derivatives, commodity, currency trading + institutional services and investment banking. Brokerage now contributes only 30% of total revenue, down from historical highs.</a:t>
                      </a:r>
                    </a:p>
                  </a:txBody>
                  <a:tcPr marL="36576" marR="36576" marT="18288" marB="18288">
                    <a:solidFill>
                      <a:srgbClr val="F4F6F9"/>
                    </a:solidFill>
                  </a:tcPr>
                </a:tc>
              </a:tr>
              <a:tr h="449580">
                <a:tc>
                  <a:txBody>
                    <a:bodyPr/>
                    <a:lstStyle/>
                    <a:p>
                      <a:r>
                        <a:rPr sz="1200" b="1">
                          <a:solidFill>
                            <a:srgbClr val="5A6573"/>
                          </a:solidFill>
                          <a:latin typeface="Calibri"/>
                        </a:rPr>
                        <a:t>Asset Management</a:t>
                      </a:r>
                    </a:p>
                  </a:txBody>
                  <a:tcPr marL="36576" marR="36576" marT="18288" marB="18288">
                    <a:solidFill>
                      <a:srgbClr val="FFFFFF"/>
                    </a:solidFill>
                  </a:tcPr>
                </a:tc>
                <a:tc>
                  <a:txBody>
                    <a:bodyPr/>
                    <a:lstStyle/>
                    <a:p>
                      <a:pPr algn="r"/>
                      <a:r>
                        <a:rPr sz="1200">
                          <a:solidFill>
                            <a:srgbClr val="111111"/>
                          </a:solidFill>
                          <a:latin typeface="Calibri"/>
                        </a:rPr>
                        <a:t>—</a:t>
                      </a:r>
                    </a:p>
                  </a:txBody>
                  <a:tcPr marL="36576" marR="36576" marT="18288" marB="18288">
                    <a:solidFill>
                      <a:srgbClr val="FFFFFF"/>
                    </a:solidFill>
                  </a:tcPr>
                </a:tc>
                <a:tc>
                  <a:txBody>
                    <a:bodyPr/>
                    <a:lstStyle/>
                    <a:p>
                      <a:pPr algn="r"/>
                      <a:r>
                        <a:rPr sz="1200">
                          <a:solidFill>
                            <a:srgbClr val="111111"/>
                          </a:solidFill>
                          <a:latin typeface="Calibri"/>
                        </a:rPr>
                        <a:t>—</a:t>
                      </a:r>
                    </a:p>
                  </a:txBody>
                  <a:tcPr marL="36576" marR="36576" marT="18288" marB="18288">
                    <a:solidFill>
                      <a:srgbClr val="FFFFFF"/>
                    </a:solidFill>
                  </a:tcPr>
                </a:tc>
                <a:tc>
                  <a:txBody>
                    <a:bodyPr/>
                    <a:lstStyle/>
                    <a:p>
                      <a:pPr algn="r"/>
                      <a:r>
                        <a:rPr sz="1200">
                          <a:solidFill>
                            <a:srgbClr val="111111"/>
                          </a:solidFill>
                          <a:latin typeface="Calibri"/>
                        </a:rPr>
                        <a:t>Mutual funds and PMS. 91% of AUM outperforming benchmarks over 3 years.</a:t>
                      </a:r>
                    </a:p>
                  </a:txBody>
                  <a:tcPr marL="36576" marR="36576" marT="18288" marB="18288">
                    <a:solidFill>
                      <a:srgbClr val="FFFFFF"/>
                    </a:solidFill>
                  </a:tcPr>
                </a:tc>
              </a:tr>
              <a:tr h="449580">
                <a:tc>
                  <a:txBody>
                    <a:bodyPr/>
                    <a:lstStyle/>
                    <a:p>
                      <a:r>
                        <a:rPr sz="1200" b="1">
                          <a:solidFill>
                            <a:srgbClr val="5A6573"/>
                          </a:solidFill>
                          <a:latin typeface="Calibri"/>
                        </a:rPr>
                        <a:t>Private Wealth Management</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c>
                  <a:txBody>
                    <a:bodyPr/>
                    <a:lstStyle/>
                    <a:p>
                      <a:pPr algn="r"/>
                      <a:r>
                        <a:rPr sz="1200">
                          <a:solidFill>
                            <a:srgbClr val="111111"/>
                          </a:solidFill>
                          <a:latin typeface="Calibri"/>
                        </a:rPr>
                        <a:t>HNI/UHNI advisory. Family count up 41% YoY.</a:t>
                      </a:r>
                    </a:p>
                  </a:txBody>
                  <a:tcPr marL="36576" marR="36576" marT="18288" marB="18288">
                    <a:solidFill>
                      <a:srgbClr val="F4F6F9"/>
                    </a:solidFill>
                  </a:tcPr>
                </a:tc>
              </a:tr>
              <a:tr h="449580">
                <a:tc>
                  <a:txBody>
                    <a:bodyPr/>
                    <a:lstStyle/>
                    <a:p>
                      <a:r>
                        <a:rPr sz="1200" b="1">
                          <a:solidFill>
                            <a:srgbClr val="5A6573"/>
                          </a:solidFill>
                          <a:latin typeface="Calibri"/>
                        </a:rPr>
                        <a:t>Housing Finance</a:t>
                      </a:r>
                    </a:p>
                  </a:txBody>
                  <a:tcPr marL="36576" marR="36576" marT="18288" marB="18288">
                    <a:solidFill>
                      <a:srgbClr val="FFFFFF"/>
                    </a:solidFill>
                  </a:tcPr>
                </a:tc>
                <a:tc>
                  <a:txBody>
                    <a:bodyPr/>
                    <a:lstStyle/>
                    <a:p>
                      <a:pPr algn="r"/>
                      <a:r>
                        <a:rPr sz="1200">
                          <a:solidFill>
                            <a:srgbClr val="111111"/>
                          </a:solidFill>
                          <a:latin typeface="Calibri"/>
                        </a:rPr>
                        <a:t>—</a:t>
                      </a:r>
                    </a:p>
                  </a:txBody>
                  <a:tcPr marL="36576" marR="36576" marT="18288" marB="18288">
                    <a:solidFill>
                      <a:srgbClr val="FFFFFF"/>
                    </a:solidFill>
                  </a:tcPr>
                </a:tc>
                <a:tc>
                  <a:txBody>
                    <a:bodyPr/>
                    <a:lstStyle/>
                    <a:p>
                      <a:pPr algn="r"/>
                      <a:r>
                        <a:rPr sz="1200">
                          <a:solidFill>
                            <a:srgbClr val="111111"/>
                          </a:solidFill>
                          <a:latin typeface="Calibri"/>
                        </a:rPr>
                        <a:t>—</a:t>
                      </a:r>
                    </a:p>
                  </a:txBody>
                  <a:tcPr marL="36576" marR="36576" marT="18288" marB="18288">
                    <a:solidFill>
                      <a:srgbClr val="FFFFFF"/>
                    </a:solidFill>
                  </a:tcPr>
                </a:tc>
                <a:tc>
                  <a:txBody>
                    <a:bodyPr/>
                    <a:lstStyle/>
                    <a:p>
                      <a:pPr algn="r"/>
                      <a:r>
                        <a:rPr sz="1200">
                          <a:solidFill>
                            <a:srgbClr val="111111"/>
                          </a:solidFill>
                          <a:latin typeface="Calibri"/>
                        </a:rPr>
                        <a:t>Retail mortgage lending — affordable and mid-segment.</a:t>
                      </a:r>
                    </a:p>
                  </a:txBody>
                  <a:tcPr marL="36576" marR="36576" marT="18288" marB="18288">
                    <a:solidFill>
                      <a:srgbClr val="FFFFFF"/>
                    </a:solidFill>
                  </a:tcPr>
                </a:tc>
              </a:tr>
              <a:tr h="449580">
                <a:tc>
                  <a:txBody>
                    <a:bodyPr/>
                    <a:lstStyle/>
                    <a:p>
                      <a:r>
                        <a:rPr sz="1200" b="1">
                          <a:solidFill>
                            <a:srgbClr val="5A6573"/>
                          </a:solidFill>
                          <a:latin typeface="Calibri"/>
                        </a:rPr>
                        <a:t>Alternative Investments</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c>
                  <a:txBody>
                    <a:bodyPr/>
                    <a:lstStyle/>
                    <a:p>
                      <a:pPr algn="r"/>
                      <a:r>
                        <a:rPr sz="1200">
                          <a:solidFill>
                            <a:srgbClr val="111111"/>
                          </a:solidFill>
                          <a:latin typeface="Calibri"/>
                        </a:rPr>
                        <a:t>Private credit, real estate, alternatives.</a:t>
                      </a:r>
                    </a:p>
                  </a:txBody>
                  <a:tcPr marL="36576" marR="36576" marT="18288" marB="18288">
                    <a:solidFill>
                      <a:srgbClr val="F4F6F9"/>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Industry Landscape</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Landscape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India's financial services sector stands as a strategic shock absorber for the broader economic growth story. The wealth management opportunity is particularly compelling, with India projected to become one of the largest private wealth markets globally in the coming years. The mutual fund industry remains significantly underpenetrated, suggesting substantial runway for growth. These structural tailwinds support Motilal Oswal's strategic pivot toward asset and wealth management, where scale benefits and operating leverage can drive sustained margin expansion as the industry matures.</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HNWI population in India expected to expand rapidly, creating substantial new wealth management opportunities</a:t>
            </a:r>
          </a:p>
          <a:p>
            <a:pPr>
              <a:spcAft>
                <a:spcPts val="400"/>
              </a:spcAft>
            </a:pPr>
            <a:r>
              <a:rPr sz="1200" b="0">
                <a:solidFill>
                  <a:srgbClr val="111111"/>
                </a:solidFill>
                <a:latin typeface="Calibri"/>
              </a:rPr>
              <a:t>•  India projected to become one of the largest private wealth markets globally in the coming years</a:t>
            </a:r>
          </a:p>
          <a:p>
            <a:pPr>
              <a:spcAft>
                <a:spcPts val="400"/>
              </a:spcAft>
            </a:pPr>
            <a:r>
              <a:rPr sz="1200" b="0">
                <a:solidFill>
                  <a:srgbClr val="111111"/>
                </a:solidFill>
                <a:latin typeface="Calibri"/>
              </a:rPr>
              <a:t>•  Financial services sector forecast to nearly double profits by FY30, led by NBFCs growing at double-digit rates a...</a:t>
            </a:r>
          </a:p>
          <a:p>
            <a:pPr>
              <a:spcAft>
                <a:spcPts val="400"/>
              </a:spcAft>
            </a:pPr>
            <a:r>
              <a:rPr sz="1200" b="0">
                <a:solidFill>
                  <a:srgbClr val="111111"/>
                </a:solidFill>
                <a:latin typeface="Calibri"/>
              </a:rPr>
              <a:t>•  Mutual fund penetration remains significantly below developed market levels, reflecting substantial latent growth...</a:t>
            </a:r>
          </a:p>
          <a:p>
            <a:pPr>
              <a:spcAft>
                <a:spcPts val="400"/>
              </a:spcAft>
            </a:pPr>
            <a:r>
              <a:rPr sz="1200" b="0">
                <a:solidFill>
                  <a:srgbClr val="111111"/>
                </a:solidFill>
                <a:latin typeface="Calibri"/>
              </a:rPr>
              <a:t>•  Private credit market experiencing robust growth, hitting record levels with significant year-on-year expansion</a:t>
            </a:r>
          </a:p>
          <a:p>
            <a:pPr>
              <a:spcAft>
                <a:spcPts val="400"/>
              </a:spcAft>
            </a:pPr>
            <a:r>
              <a:rPr sz="1200" b="0">
                <a:solidFill>
                  <a:srgbClr val="111111"/>
                </a:solidFill>
                <a:latin typeface="Calibri"/>
              </a:rPr>
              <a:t>•  Digital transformation lowering customer acquisition costs and expanding addressable market</a:t>
            </a:r>
          </a:p>
          <a:p>
            <a:pPr>
              <a:spcAft>
                <a:spcPts val="400"/>
              </a:spcAft>
            </a:pPr>
            <a:r>
              <a:rPr sz="1200" b="0">
                <a:solidFill>
                  <a:srgbClr val="111111"/>
                </a:solidFill>
                <a:latin typeface="Calibri"/>
              </a:rPr>
              <a:t>•  Regulatory framework increasingly supportive of professional financial advice and wealth management</a:t>
            </a:r>
          </a:p>
          <a:p>
            <a:pPr>
              <a:spcAft>
                <a:spcPts val="400"/>
              </a:spcAft>
            </a:pPr>
            <a:r>
              <a:rPr sz="1200" b="0">
                <a:solidFill>
                  <a:srgbClr val="111111"/>
                </a:solidFill>
                <a:latin typeface="Calibri"/>
              </a:rPr>
              <a:t>•  Rising financial literacy and shifting savings patterns from physical to financial assets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Financial Performance</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 Performance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Motilal Oswal has demonstrated robust financial performance, with revenue and profit growth accelerating as the business mix shifts toward higher-margin fee businesses. Recent quarterly results highlight the earnings power of the platform, though some cyclicality remains. The margin profile continues to improve as the asset and wealth management segments gain scale, delivering operating leverage from the largely fixed cost structure. Management's focus on increasing the annuity revenue contribution supports further margin expansion potential.</a:t>
            </a:r>
          </a:p>
        </p:txBody>
      </p:sp>
      <p:pic>
        <p:nvPicPr>
          <p:cNvPr id="19" name="Picture 18"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Quarterly Performance</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Quarterly Performance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Quarterly performance shows the business transformation impact, though some cyclicality persists.</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708660">
                <a:tc>
                  <a:txBody>
                    <a:bodyPr/>
                    <a:lstStyle/>
                    <a:p>
                      <a:r>
                        <a:rPr b="1" sz="1200">
                          <a:solidFill>
                            <a:srgbClr val="FFFFFF"/>
                          </a:solidFill>
                          <a:latin typeface="Calibri"/>
                        </a:rPr>
                        <a:t>Quarter</a:t>
                      </a:r>
                    </a:p>
                  </a:txBody>
                  <a:tcPr marL="36576" marR="36576" marT="18288" marB="18288">
                    <a:solidFill>
                      <a:srgbClr val="1F4690"/>
                    </a:solidFill>
                  </a:tcPr>
                </a:tc>
                <a:tc>
                  <a:txBody>
                    <a:bodyPr/>
                    <a:lstStyle/>
                    <a:p>
                      <a:pPr algn="r"/>
                      <a:r>
                        <a:rPr b="1" sz="1200">
                          <a:solidFill>
                            <a:srgbClr val="FFFFFF"/>
                          </a:solidFill>
                          <a:latin typeface="Calibri"/>
                        </a:rPr>
                        <a:t>PAT (₹ Cr)</a:t>
                      </a:r>
                    </a:p>
                  </a:txBody>
                  <a:tcPr marL="36576" marR="36576" marT="18288" marB="18288">
                    <a:solidFill>
                      <a:srgbClr val="1F4690"/>
                    </a:solidFill>
                  </a:tcPr>
                </a:tc>
                <a:tc>
                  <a:txBody>
                    <a:bodyPr/>
                    <a:lstStyle/>
                    <a:p>
                      <a:pPr algn="r"/>
                      <a:r>
                        <a:rPr b="1" sz="1200">
                          <a:solidFill>
                            <a:srgbClr val="FFFFFF"/>
                          </a:solidFill>
                          <a:latin typeface="Calibri"/>
                        </a:rPr>
                        <a:t>YoY Growth</a:t>
                      </a:r>
                    </a:p>
                  </a:txBody>
                  <a:tcPr marL="36576" marR="36576" marT="18288" marB="18288">
                    <a:solidFill>
                      <a:srgbClr val="1F4690"/>
                    </a:solidFill>
                  </a:tcPr>
                </a:tc>
              </a:tr>
              <a:tr h="708660">
                <a:tc>
                  <a:txBody>
                    <a:bodyPr/>
                    <a:lstStyle/>
                    <a:p>
                      <a:r>
                        <a:rPr sz="1200" b="1">
                          <a:solidFill>
                            <a:srgbClr val="5A6573"/>
                          </a:solidFill>
                          <a:latin typeface="Calibri"/>
                        </a:rPr>
                        <a:t>Q2FY25</a:t>
                      </a:r>
                    </a:p>
                  </a:txBody>
                  <a:tcPr marL="36576" marR="36576" marT="18288" marB="18288">
                    <a:solidFill>
                      <a:srgbClr val="F4F6F9"/>
                    </a:solidFill>
                  </a:tcPr>
                </a:tc>
                <a:tc>
                  <a:txBody>
                    <a:bodyPr/>
                    <a:lstStyle/>
                    <a:p>
                      <a:pPr algn="r"/>
                      <a:r>
                        <a:rPr sz="1200">
                          <a:solidFill>
                            <a:srgbClr val="111111"/>
                          </a:solidFill>
                          <a:latin typeface="Calibri"/>
                        </a:rPr>
                        <a:t>₹1,242.0 Cr</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r>
              <a:tr h="708660">
                <a:tc>
                  <a:txBody>
                    <a:bodyPr/>
                    <a:lstStyle/>
                    <a:p>
                      <a:r>
                        <a:rPr sz="1200" b="1">
                          <a:solidFill>
                            <a:srgbClr val="5A6573"/>
                          </a:solidFill>
                          <a:latin typeface="Calibri"/>
                        </a:rPr>
                        <a:t>Q3FY25</a:t>
                      </a:r>
                    </a:p>
                  </a:txBody>
                  <a:tcPr marL="36576" marR="36576" marT="18288" marB="18288">
                    <a:solidFill>
                      <a:srgbClr val="FFFFFF"/>
                    </a:solidFill>
                  </a:tcPr>
                </a:tc>
                <a:tc>
                  <a:txBody>
                    <a:bodyPr/>
                    <a:lstStyle/>
                    <a:p>
                      <a:pPr algn="r"/>
                      <a:r>
                        <a:rPr sz="1200">
                          <a:solidFill>
                            <a:srgbClr val="111111"/>
                          </a:solidFill>
                          <a:latin typeface="Calibri"/>
                        </a:rPr>
                        <a:t>₹715.0 Cr</a:t>
                      </a:r>
                    </a:p>
                  </a:txBody>
                  <a:tcPr marL="36576" marR="36576" marT="18288" marB="18288">
                    <a:solidFill>
                      <a:srgbClr val="FFFFFF"/>
                    </a:solidFill>
                  </a:tcPr>
                </a:tc>
                <a:tc>
                  <a:txBody>
                    <a:bodyPr/>
                    <a:lstStyle/>
                    <a:p>
                      <a:pPr algn="r"/>
                      <a:r>
                        <a:rPr sz="1200">
                          <a:solidFill>
                            <a:srgbClr val="111111"/>
                          </a:solidFill>
                          <a:latin typeface="Calibri"/>
                        </a:rPr>
                        <a:t>—</a:t>
                      </a:r>
                    </a:p>
                  </a:txBody>
                  <a:tcPr marL="36576" marR="36576" marT="18288" marB="18288">
                    <a:solidFill>
                      <a:srgbClr val="FFFFFF"/>
                    </a:solidFill>
                  </a:tcPr>
                </a:tc>
              </a:tr>
              <a:tr h="708660">
                <a:tc>
                  <a:txBody>
                    <a:bodyPr/>
                    <a:lstStyle/>
                    <a:p>
                      <a:r>
                        <a:rPr sz="1200" b="1">
                          <a:solidFill>
                            <a:srgbClr val="5A6573"/>
                          </a:solidFill>
                          <a:latin typeface="Calibri"/>
                        </a:rPr>
                        <a:t>Q4FY25</a:t>
                      </a:r>
                    </a:p>
                  </a:txBody>
                  <a:tcPr marL="36576" marR="36576" marT="18288" marB="18288">
                    <a:solidFill>
                      <a:srgbClr val="F4F6F9"/>
                    </a:solidFill>
                  </a:tcPr>
                </a:tc>
                <a:tc>
                  <a:txBody>
                    <a:bodyPr/>
                    <a:lstStyle/>
                    <a:p>
                      <a:pPr algn="r"/>
                      <a:r>
                        <a:rPr sz="1200">
                          <a:solidFill>
                            <a:srgbClr val="111111"/>
                          </a:solidFill>
                          <a:latin typeface="Calibri"/>
                        </a:rPr>
                        <a:t>₹545.0 Cr</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r>
              <a:tr h="708660">
                <a:tc>
                  <a:txBody>
                    <a:bodyPr/>
                    <a:lstStyle/>
                    <a:p>
                      <a:r>
                        <a:rPr sz="1200" b="1">
                          <a:solidFill>
                            <a:srgbClr val="5A6573"/>
                          </a:solidFill>
                          <a:latin typeface="Calibri"/>
                        </a:rPr>
                        <a:t>Q1FY26</a:t>
                      </a:r>
                    </a:p>
                  </a:txBody>
                  <a:tcPr marL="36576" marR="36576" marT="18288" marB="18288">
                    <a:solidFill>
                      <a:srgbClr val="FFFFFF"/>
                    </a:solidFill>
                  </a:tcPr>
                </a:tc>
                <a:tc>
                  <a:txBody>
                    <a:bodyPr/>
                    <a:lstStyle/>
                    <a:p>
                      <a:pPr algn="r"/>
                      <a:r>
                        <a:rPr sz="1200">
                          <a:solidFill>
                            <a:srgbClr val="111111"/>
                          </a:solidFill>
                          <a:latin typeface="Calibri"/>
                        </a:rPr>
                        <a:t>₹425.0 Cr</a:t>
                      </a:r>
                    </a:p>
                  </a:txBody>
                  <a:tcPr marL="36576" marR="36576" marT="18288" marB="18288">
                    <a:solidFill>
                      <a:srgbClr val="FFFFFF"/>
                    </a:solidFill>
                  </a:tcPr>
                </a:tc>
                <a:tc>
                  <a:txBody>
                    <a:bodyPr/>
                    <a:lstStyle/>
                    <a:p>
                      <a:pPr algn="r"/>
                      <a:r>
                        <a:rPr sz="1200">
                          <a:solidFill>
                            <a:srgbClr val="111111"/>
                          </a:solidFill>
                          <a:latin typeface="Calibri"/>
                        </a:rPr>
                        <a:t>—</a:t>
                      </a:r>
                    </a:p>
                  </a:txBody>
                  <a:tcPr marL="36576" marR="36576" marT="18288" marB="18288">
                    <a:solidFill>
                      <a:srgbClr val="FFFFFF"/>
                    </a:solidFill>
                  </a:tcPr>
                </a:tc>
              </a:tr>
              <a:tr h="708660">
                <a:tc>
                  <a:txBody>
                    <a:bodyPr/>
                    <a:lstStyle/>
                    <a:p>
                      <a:r>
                        <a:rPr sz="1200" b="1">
                          <a:solidFill>
                            <a:srgbClr val="5A6573"/>
                          </a:solidFill>
                          <a:latin typeface="Calibri"/>
                        </a:rPr>
                        <a:t>Q2FY26</a:t>
                      </a:r>
                    </a:p>
                  </a:txBody>
                  <a:tcPr marL="36576" marR="36576" marT="18288" marB="18288">
                    <a:solidFill>
                      <a:srgbClr val="F4F6F9"/>
                    </a:solidFill>
                  </a:tcPr>
                </a:tc>
                <a:tc>
                  <a:txBody>
                    <a:bodyPr/>
                    <a:lstStyle/>
                    <a:p>
                      <a:pPr algn="r"/>
                      <a:r>
                        <a:rPr sz="1200">
                          <a:solidFill>
                            <a:srgbClr val="111111"/>
                          </a:solidFill>
                          <a:latin typeface="Calibri"/>
                        </a:rPr>
                        <a:t>₹401.0 Cr</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Key Financial Ratios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Financial Ratios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Financial ratios reflect the improving business mix and operating leverage benefits.</a:t>
            </a:r>
          </a:p>
        </p:txBody>
      </p:sp>
      <p:graphicFrame>
        <p:nvGraphicFramePr>
          <p:cNvPr id="19" name="Table 18"/>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472440">
                <a:tc>
                  <a:txBody>
                    <a:bodyPr/>
                    <a:lstStyle/>
                    <a:p>
                      <a:r>
                        <a:rPr b="1" sz="1200">
                          <a:solidFill>
                            <a:srgbClr val="FFFFFF"/>
                          </a:solidFill>
                          <a:latin typeface="Calibri"/>
                        </a:rPr>
                        <a:t>Ratio</a:t>
                      </a:r>
                    </a:p>
                  </a:txBody>
                  <a:tcPr marL="36576" marR="36576" marT="18288" marB="18288">
                    <a:solidFill>
                      <a:srgbClr val="1F4690"/>
                    </a:solidFill>
                  </a:tcPr>
                </a:tc>
                <a:tc>
                  <a:txBody>
                    <a:bodyPr/>
                    <a:lstStyle/>
                    <a:p>
                      <a:pPr algn="r"/>
                      <a:r>
                        <a:rPr b="1" sz="1200">
                          <a:solidFill>
                            <a:srgbClr val="FFFFFF"/>
                          </a:solidFill>
                          <a:latin typeface="Calibri"/>
                        </a:rPr>
                        <a:t>Unit</a:t>
                      </a:r>
                    </a:p>
                  </a:txBody>
                  <a:tcPr marL="36576" marR="36576" marT="18288" marB="18288">
                    <a:solidFill>
                      <a:srgbClr val="1F4690"/>
                    </a:solidFill>
                  </a:tcPr>
                </a:tc>
                <a:tc>
                  <a:txBody>
                    <a:bodyPr/>
                    <a:lstStyle/>
                    <a:p>
                      <a:pPr algn="r"/>
                      <a:r>
                        <a:rPr b="1" sz="1200">
                          <a:solidFill>
                            <a:srgbClr val="FFFFFF"/>
                          </a:solidFill>
                          <a:latin typeface="Calibri"/>
                        </a:rPr>
                        <a:t>FY24A</a:t>
                      </a:r>
                    </a:p>
                  </a:txBody>
                  <a:tcPr marL="36576" marR="36576" marT="18288" marB="18288">
                    <a:solidFill>
                      <a:srgbClr val="1F4690"/>
                    </a:solidFill>
                  </a:tcPr>
                </a:tc>
                <a:tc>
                  <a:txBody>
                    <a:bodyPr/>
                    <a:lstStyle/>
                    <a:p>
                      <a:pPr algn="r"/>
                      <a:r>
                        <a:rPr b="1" sz="1200">
                          <a:solidFill>
                            <a:srgbClr val="FFFFFF"/>
                          </a:solidFill>
                          <a:latin typeface="Calibri"/>
                        </a:rPr>
                        <a:t>FY25A</a:t>
                      </a:r>
                    </a:p>
                  </a:txBody>
                  <a:tcPr marL="36576" marR="36576" marT="18288" marB="18288">
                    <a:solidFill>
                      <a:srgbClr val="1F4690"/>
                    </a:solidFill>
                  </a:tcPr>
                </a:tc>
                <a:tc>
                  <a:txBody>
                    <a:bodyPr/>
                    <a:lstStyle/>
                    <a:p>
                      <a:pPr algn="r"/>
                      <a:r>
                        <a:rPr b="1" sz="1200">
                          <a:solidFill>
                            <a:srgbClr val="FFFFFF"/>
                          </a:solidFill>
                          <a:latin typeface="Calibri"/>
                        </a:rPr>
                        <a:t>FY26E</a:t>
                      </a:r>
                    </a:p>
                  </a:txBody>
                  <a:tcPr marL="36576" marR="36576" marT="18288" marB="18288">
                    <a:solidFill>
                      <a:srgbClr val="1F4690"/>
                    </a:solidFill>
                  </a:tcPr>
                </a:tc>
              </a:tr>
              <a:tr h="472440">
                <a:tc>
                  <a:txBody>
                    <a:bodyPr/>
                    <a:lstStyle/>
                    <a:p>
                      <a:r>
                        <a:rPr sz="1200" b="1">
                          <a:solidFill>
                            <a:srgbClr val="1F4690"/>
                          </a:solidFill>
                          <a:latin typeface="Calibri"/>
                        </a:rPr>
                        <a:t>EBITDA Margin</a:t>
                      </a:r>
                    </a:p>
                  </a:txBody>
                  <a:tcPr marL="36576" marR="36576" marT="18288" marB="18288">
                    <a:solidFill>
                      <a:srgbClr val="FFF3E0"/>
                    </a:solidFill>
                  </a:tcPr>
                </a:tc>
                <a:tc>
                  <a:txBody>
                    <a:bodyPr/>
                    <a:lstStyle/>
                    <a:p>
                      <a:pPr algn="r"/>
                      <a:r>
                        <a:rPr sz="1200" b="1">
                          <a:solidFill>
                            <a:srgbClr val="1F4690"/>
                          </a:solidFill>
                          <a:latin typeface="Calibri"/>
                        </a:rPr>
                        <a:t>%</a:t>
                      </a:r>
                    </a:p>
                  </a:txBody>
                  <a:tcPr marL="36576" marR="36576" marT="18288" marB="18288">
                    <a:solidFill>
                      <a:srgbClr val="FFF3E0"/>
                    </a:solidFill>
                  </a:tcPr>
                </a:tc>
                <a:tc>
                  <a:txBody>
                    <a:bodyPr/>
                    <a:lstStyle/>
                    <a:p>
                      <a:pPr algn="r"/>
                      <a:r>
                        <a:rPr sz="1200" b="1">
                          <a:solidFill>
                            <a:srgbClr val="1F4690"/>
                          </a:solidFill>
                          <a:latin typeface="Calibri"/>
                        </a:rPr>
                        <a:t>—</a:t>
                      </a:r>
                    </a:p>
                  </a:txBody>
                  <a:tcPr marL="36576" marR="36576" marT="18288" marB="18288">
                    <a:solidFill>
                      <a:srgbClr val="FFF3E0"/>
                    </a:solidFill>
                  </a:tcPr>
                </a:tc>
                <a:tc>
                  <a:txBody>
                    <a:bodyPr/>
                    <a:lstStyle/>
                    <a:p>
                      <a:pPr algn="r"/>
                      <a:r>
                        <a:rPr sz="1200" b="1">
                          <a:solidFill>
                            <a:srgbClr val="1F4690"/>
                          </a:solidFill>
                          <a:latin typeface="Calibri"/>
                        </a:rPr>
                        <a:t>—</a:t>
                      </a:r>
                    </a:p>
                  </a:txBody>
                  <a:tcPr marL="36576" marR="36576" marT="18288" marB="18288">
                    <a:solidFill>
                      <a:srgbClr val="FFF3E0"/>
                    </a:solidFill>
                  </a:tcPr>
                </a:tc>
                <a:tc>
                  <a:txBody>
                    <a:bodyPr/>
                    <a:lstStyle/>
                    <a:p>
                      <a:pPr algn="r"/>
                      <a:r>
                        <a:rPr sz="1200" b="1">
                          <a:solidFill>
                            <a:srgbClr val="1F4690"/>
                          </a:solidFill>
                          <a:latin typeface="Calibri"/>
                        </a:rPr>
                        <a:t>—</a:t>
                      </a:r>
                    </a:p>
                  </a:txBody>
                  <a:tcPr marL="36576" marR="36576" marT="18288" marB="18288">
                    <a:solidFill>
                      <a:srgbClr val="FFF3E0"/>
                    </a:solidFill>
                  </a:tcPr>
                </a:tc>
              </a:tr>
              <a:tr h="472440">
                <a:tc>
                  <a:txBody>
                    <a:bodyPr/>
                    <a:lstStyle/>
                    <a:p>
                      <a:r>
                        <a:rPr sz="1200" b="1">
                          <a:solidFill>
                            <a:srgbClr val="1F4690"/>
                          </a:solidFill>
                          <a:latin typeface="Calibri"/>
                        </a:rPr>
                        <a:t>PAT Margin</a:t>
                      </a:r>
                    </a:p>
                  </a:txBody>
                  <a:tcPr marL="36576" marR="36576" marT="18288" marB="18288">
                    <a:solidFill>
                      <a:srgbClr val="FFF3E0"/>
                    </a:solidFill>
                  </a:tcPr>
                </a:tc>
                <a:tc>
                  <a:txBody>
                    <a:bodyPr/>
                    <a:lstStyle/>
                    <a:p>
                      <a:pPr algn="r"/>
                      <a:r>
                        <a:rPr sz="1200" b="1">
                          <a:solidFill>
                            <a:srgbClr val="1F4690"/>
                          </a:solidFill>
                          <a:latin typeface="Calibri"/>
                        </a:rPr>
                        <a:t>%</a:t>
                      </a:r>
                    </a:p>
                  </a:txBody>
                  <a:tcPr marL="36576" marR="36576" marT="18288" marB="18288">
                    <a:solidFill>
                      <a:srgbClr val="FFF3E0"/>
                    </a:solidFill>
                  </a:tcPr>
                </a:tc>
                <a:tc>
                  <a:txBody>
                    <a:bodyPr/>
                    <a:lstStyle/>
                    <a:p>
                      <a:pPr algn="r"/>
                      <a:r>
                        <a:rPr sz="1200" b="1">
                          <a:solidFill>
                            <a:srgbClr val="1F4690"/>
                          </a:solidFill>
                          <a:latin typeface="Calibri"/>
                        </a:rPr>
                        <a:t>—</a:t>
                      </a:r>
                    </a:p>
                  </a:txBody>
                  <a:tcPr marL="36576" marR="36576" marT="18288" marB="18288">
                    <a:solidFill>
                      <a:srgbClr val="FFF3E0"/>
                    </a:solidFill>
                  </a:tcPr>
                </a:tc>
                <a:tc>
                  <a:txBody>
                    <a:bodyPr/>
                    <a:lstStyle/>
                    <a:p>
                      <a:pPr algn="r"/>
                      <a:r>
                        <a:rPr sz="1200" b="1">
                          <a:solidFill>
                            <a:srgbClr val="1F4690"/>
                          </a:solidFill>
                          <a:latin typeface="Calibri"/>
                        </a:rPr>
                        <a:t>—</a:t>
                      </a:r>
                    </a:p>
                  </a:txBody>
                  <a:tcPr marL="36576" marR="36576" marT="18288" marB="18288">
                    <a:solidFill>
                      <a:srgbClr val="FFF3E0"/>
                    </a:solidFill>
                  </a:tcPr>
                </a:tc>
                <a:tc>
                  <a:txBody>
                    <a:bodyPr/>
                    <a:lstStyle/>
                    <a:p>
                      <a:pPr algn="r"/>
                      <a:r>
                        <a:rPr sz="1200" b="1">
                          <a:solidFill>
                            <a:srgbClr val="1F4690"/>
                          </a:solidFill>
                          <a:latin typeface="Calibri"/>
                        </a:rPr>
                        <a:t>—</a:t>
                      </a:r>
                    </a:p>
                  </a:txBody>
                  <a:tcPr marL="36576" marR="36576" marT="18288" marB="18288">
                    <a:solidFill>
                      <a:srgbClr val="FFF3E0"/>
                    </a:solidFill>
                  </a:tcPr>
                </a:tc>
              </a:tr>
              <a:tr h="472440">
                <a:tc>
                  <a:txBody>
                    <a:bodyPr/>
                    <a:lstStyle/>
                    <a:p>
                      <a:r>
                        <a:rPr sz="1200" b="1">
                          <a:solidFill>
                            <a:srgbClr val="5A6573"/>
                          </a:solidFill>
                          <a:latin typeface="Calibri"/>
                        </a:rPr>
                        <a:t>RoE</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r>
              <a:tr h="472440">
                <a:tc>
                  <a:txBody>
                    <a:bodyPr/>
                    <a:lstStyle/>
                    <a:p>
                      <a:r>
                        <a:rPr sz="1200" b="1">
                          <a:solidFill>
                            <a:srgbClr val="5A6573"/>
                          </a:solidFill>
                          <a:latin typeface="Calibri"/>
                        </a:rPr>
                        <a:t>RoCE</a:t>
                      </a:r>
                    </a:p>
                  </a:txBody>
                  <a:tcPr marL="36576" marR="36576" marT="18288" marB="18288">
                    <a:solidFill>
                      <a:srgbClr val="FFFFFF"/>
                    </a:solidFill>
                  </a:tcPr>
                </a:tc>
                <a:tc>
                  <a:txBody>
                    <a:bodyPr/>
                    <a:lstStyle/>
                    <a:p>
                      <a:pPr algn="r"/>
                      <a:r>
                        <a:rPr sz="1200">
                          <a:solidFill>
                            <a:srgbClr val="111111"/>
                          </a:solidFill>
                          <a:latin typeface="Calibri"/>
                        </a:rPr>
                        <a:t>%</a:t>
                      </a:r>
                    </a:p>
                  </a:txBody>
                  <a:tcPr marL="36576" marR="36576" marT="18288" marB="18288">
                    <a:solidFill>
                      <a:srgbClr val="FFFFFF"/>
                    </a:solidFill>
                  </a:tcPr>
                </a:tc>
                <a:tc>
                  <a:txBody>
                    <a:bodyPr/>
                    <a:lstStyle/>
                    <a:p>
                      <a:pPr algn="r"/>
                      <a:r>
                        <a:rPr sz="1200">
                          <a:solidFill>
                            <a:srgbClr val="111111"/>
                          </a:solidFill>
                          <a:latin typeface="Calibri"/>
                        </a:rPr>
                        <a:t>—</a:t>
                      </a:r>
                    </a:p>
                  </a:txBody>
                  <a:tcPr marL="36576" marR="36576" marT="18288" marB="18288">
                    <a:solidFill>
                      <a:srgbClr val="FFFFFF"/>
                    </a:solidFill>
                  </a:tcPr>
                </a:tc>
                <a:tc>
                  <a:txBody>
                    <a:bodyPr/>
                    <a:lstStyle/>
                    <a:p>
                      <a:pPr algn="r"/>
                      <a:r>
                        <a:rPr sz="1200">
                          <a:solidFill>
                            <a:srgbClr val="111111"/>
                          </a:solidFill>
                          <a:latin typeface="Calibri"/>
                        </a:rPr>
                        <a:t>—</a:t>
                      </a:r>
                    </a:p>
                  </a:txBody>
                  <a:tcPr marL="36576" marR="36576" marT="18288" marB="18288">
                    <a:solidFill>
                      <a:srgbClr val="FFFFFF"/>
                    </a:solidFill>
                  </a:tcPr>
                </a:tc>
                <a:tc>
                  <a:txBody>
                    <a:bodyPr/>
                    <a:lstStyle/>
                    <a:p>
                      <a:pPr algn="r"/>
                      <a:r>
                        <a:rPr sz="1200">
                          <a:solidFill>
                            <a:srgbClr val="111111"/>
                          </a:solidFill>
                          <a:latin typeface="Calibri"/>
                        </a:rPr>
                        <a:t>—</a:t>
                      </a:r>
                    </a:p>
                  </a:txBody>
                  <a:tcPr marL="36576" marR="36576" marT="18288" marB="18288">
                    <a:solidFill>
                      <a:srgbClr val="FFFFFF"/>
                    </a:solidFill>
                  </a:tcPr>
                </a:tc>
              </a:tr>
              <a:tr h="472440">
                <a:tc>
                  <a:txBody>
                    <a:bodyPr/>
                    <a:lstStyle/>
                    <a:p>
                      <a:r>
                        <a:rPr sz="1200" b="1">
                          <a:solidFill>
                            <a:srgbClr val="5A6573"/>
                          </a:solidFill>
                          <a:latin typeface="Calibri"/>
                        </a:rPr>
                        <a:t>RoIC</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r>
              <a:tr h="472440">
                <a:tc>
                  <a:txBody>
                    <a:bodyPr/>
                    <a:lstStyle/>
                    <a:p>
                      <a:r>
                        <a:rPr sz="1200" b="1">
                          <a:solidFill>
                            <a:srgbClr val="5A6573"/>
                          </a:solidFill>
                          <a:latin typeface="Calibri"/>
                        </a:rPr>
                        <a:t>P/E</a:t>
                      </a:r>
                    </a:p>
                  </a:txBody>
                  <a:tcPr marL="36576" marR="36576" marT="18288" marB="18288">
                    <a:solidFill>
                      <a:srgbClr val="FFFFFF"/>
                    </a:solidFill>
                  </a:tcPr>
                </a:tc>
                <a:tc>
                  <a:txBody>
                    <a:bodyPr/>
                    <a:lstStyle/>
                    <a:p>
                      <a:pPr algn="r"/>
                      <a:r>
                        <a:rPr sz="1200">
                          <a:solidFill>
                            <a:srgbClr val="111111"/>
                          </a:solidFill>
                          <a:latin typeface="Calibri"/>
                        </a:rPr>
                        <a:t>x</a:t>
                      </a:r>
                    </a:p>
                  </a:txBody>
                  <a:tcPr marL="36576" marR="36576" marT="18288" marB="18288">
                    <a:solidFill>
                      <a:srgbClr val="FFFFFF"/>
                    </a:solidFill>
                  </a:tcPr>
                </a:tc>
                <a:tc>
                  <a:txBody>
                    <a:bodyPr/>
                    <a:lstStyle/>
                    <a:p>
                      <a:pPr algn="r"/>
                      <a:r>
                        <a:rPr sz="1200">
                          <a:solidFill>
                            <a:srgbClr val="111111"/>
                          </a:solidFill>
                          <a:latin typeface="Calibri"/>
                        </a:rPr>
                        <a:t>—</a:t>
                      </a:r>
                    </a:p>
                  </a:txBody>
                  <a:tcPr marL="36576" marR="36576" marT="18288" marB="18288">
                    <a:solidFill>
                      <a:srgbClr val="FFFFFF"/>
                    </a:solidFill>
                  </a:tcPr>
                </a:tc>
                <a:tc>
                  <a:txBody>
                    <a:bodyPr/>
                    <a:lstStyle/>
                    <a:p>
                      <a:pPr algn="r"/>
                      <a:r>
                        <a:rPr sz="1200">
                          <a:solidFill>
                            <a:srgbClr val="111111"/>
                          </a:solidFill>
                          <a:latin typeface="Calibri"/>
                        </a:rPr>
                        <a:t>—</a:t>
                      </a:r>
                    </a:p>
                  </a:txBody>
                  <a:tcPr marL="36576" marR="36576" marT="18288" marB="18288">
                    <a:solidFill>
                      <a:srgbClr val="FFFFFF"/>
                    </a:solidFill>
                  </a:tcPr>
                </a:tc>
                <a:tc>
                  <a:txBody>
                    <a:bodyPr/>
                    <a:lstStyle/>
                    <a:p>
                      <a:pPr algn="r"/>
                      <a:r>
                        <a:rPr sz="1200">
                          <a:solidFill>
                            <a:srgbClr val="111111"/>
                          </a:solidFill>
                          <a:latin typeface="Calibri"/>
                        </a:rPr>
                        <a:t>—</a:t>
                      </a:r>
                    </a:p>
                  </a:txBody>
                  <a:tcPr marL="36576" marR="36576" marT="18288" marB="18288">
                    <a:solidFill>
                      <a:srgbClr val="FFFFFF"/>
                    </a:solidFill>
                  </a:tcPr>
                </a:tc>
              </a:tr>
              <a:tr h="472440">
                <a:tc>
                  <a:txBody>
                    <a:bodyPr/>
                    <a:lstStyle/>
                    <a:p>
                      <a:r>
                        <a:rPr sz="1200" b="1">
                          <a:solidFill>
                            <a:srgbClr val="5A6573"/>
                          </a:solidFill>
                          <a:latin typeface="Calibri"/>
                        </a:rPr>
                        <a:t>P/B</a:t>
                      </a:r>
                    </a:p>
                  </a:txBody>
                  <a:tcPr marL="36576" marR="36576" marT="18288" marB="18288">
                    <a:solidFill>
                      <a:srgbClr val="F4F6F9"/>
                    </a:solidFill>
                  </a:tcPr>
                </a:tc>
                <a:tc>
                  <a:txBody>
                    <a:bodyPr/>
                    <a:lstStyle/>
                    <a:p>
                      <a:pPr algn="r"/>
                      <a:r>
                        <a:rPr sz="1200">
                          <a:solidFill>
                            <a:srgbClr val="111111"/>
                          </a:solidFill>
                          <a:latin typeface="Calibri"/>
                        </a:rPr>
                        <a:t>x</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c>
                  <a:txBody>
                    <a:bodyPr/>
                    <a:lstStyle/>
                    <a:p>
                      <a:pPr algn="r"/>
                      <a:r>
                        <a:rPr sz="1200">
                          <a:solidFill>
                            <a:srgbClr val="111111"/>
                          </a:solidFill>
                          <a:latin typeface="Calibri"/>
                        </a:rPr>
                        <a:t>—</a:t>
                      </a:r>
                    </a:p>
                  </a:txBody>
                  <a:tcPr marL="36576" marR="36576" marT="18288" marB="18288">
                    <a:solidFill>
                      <a:srgbClr val="F4F6F9"/>
                    </a:solidFill>
                  </a:tcPr>
                </a:tc>
              </a:tr>
              <a:tr h="472440">
                <a:tc>
                  <a:txBody>
                    <a:bodyPr/>
                    <a:lstStyle/>
                    <a:p>
                      <a:r>
                        <a:rPr sz="1200" b="1">
                          <a:solidFill>
                            <a:srgbClr val="1F4690"/>
                          </a:solidFill>
                          <a:latin typeface="Calibri"/>
                        </a:rPr>
                        <a:t>EV/EBITDA</a:t>
                      </a:r>
                    </a:p>
                  </a:txBody>
                  <a:tcPr marL="36576" marR="36576" marT="18288" marB="18288">
                    <a:solidFill>
                      <a:srgbClr val="FFF3E0"/>
                    </a:solidFill>
                  </a:tcPr>
                </a:tc>
                <a:tc>
                  <a:txBody>
                    <a:bodyPr/>
                    <a:lstStyle/>
                    <a:p>
                      <a:pPr algn="r"/>
                      <a:r>
                        <a:rPr sz="1200" b="1">
                          <a:solidFill>
                            <a:srgbClr val="1F4690"/>
                          </a:solidFill>
                          <a:latin typeface="Calibri"/>
                        </a:rPr>
                        <a:t>x</a:t>
                      </a:r>
                    </a:p>
                  </a:txBody>
                  <a:tcPr marL="36576" marR="36576" marT="18288" marB="18288">
                    <a:solidFill>
                      <a:srgbClr val="FFF3E0"/>
                    </a:solidFill>
                  </a:tcPr>
                </a:tc>
                <a:tc>
                  <a:txBody>
                    <a:bodyPr/>
                    <a:lstStyle/>
                    <a:p>
                      <a:pPr algn="r"/>
                      <a:r>
                        <a:rPr sz="1200" b="1">
                          <a:solidFill>
                            <a:srgbClr val="1F4690"/>
                          </a:solidFill>
                          <a:latin typeface="Calibri"/>
                        </a:rPr>
                        <a:t>—</a:t>
                      </a:r>
                    </a:p>
                  </a:txBody>
                  <a:tcPr marL="36576" marR="36576" marT="18288" marB="18288">
                    <a:solidFill>
                      <a:srgbClr val="FFF3E0"/>
                    </a:solidFill>
                  </a:tcPr>
                </a:tc>
                <a:tc>
                  <a:txBody>
                    <a:bodyPr/>
                    <a:lstStyle/>
                    <a:p>
                      <a:pPr algn="r"/>
                      <a:r>
                        <a:rPr sz="1200" b="1">
                          <a:solidFill>
                            <a:srgbClr val="1F4690"/>
                          </a:solidFill>
                          <a:latin typeface="Calibri"/>
                        </a:rPr>
                        <a:t>—</a:t>
                      </a:r>
                    </a:p>
                  </a:txBody>
                  <a:tcPr marL="36576" marR="36576" marT="18288" marB="18288">
                    <a:solidFill>
                      <a:srgbClr val="FFF3E0"/>
                    </a:solidFill>
                  </a:tcPr>
                </a:tc>
                <a:tc>
                  <a:txBody>
                    <a:bodyPr/>
                    <a:lstStyle/>
                    <a:p>
                      <a:pPr algn="r"/>
                      <a:r>
                        <a:rPr sz="1200" b="1">
                          <a:solidFill>
                            <a:srgbClr val="1F4690"/>
                          </a:solidFill>
                          <a:latin typeface="Calibri"/>
                        </a:rPr>
                        <a:t>—</a:t>
                      </a:r>
                    </a:p>
                  </a:txBody>
                  <a:tcPr marL="36576" marR="36576" marT="18288" marB="18288">
                    <a:solidFill>
                      <a:srgbClr val="FFF3E0"/>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SAARTHI Score: 72/100</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11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SAARTHI Score: 72/100</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Our proprietary SAARTHI framework evaluates investment quality across seven critical dimensions.</a:t>
            </a:r>
          </a:p>
        </p:txBody>
      </p:sp>
      <p:sp>
        <p:nvSpPr>
          <p:cNvPr id="19" name="Rounded Rectangle 18"/>
          <p:cNvSpPr/>
          <p:nvPr/>
        </p:nvSpPr>
        <p:spPr>
          <a:xfrm>
            <a:off x="457200" y="2194560"/>
            <a:ext cx="3685946" cy="82296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OVERALL SCORE</a:t>
            </a:r>
          </a:p>
          <a:p>
            <a:pPr algn="ctr"/>
            <a:r>
              <a:rPr sz="1600" b="1">
                <a:solidFill>
                  <a:srgbClr val="FFFFFF"/>
                </a:solidFill>
                <a:latin typeface="Calibri"/>
              </a:rPr>
              <a:t>18.0</a:t>
            </a:r>
          </a:p>
        </p:txBody>
      </p:sp>
      <p:sp>
        <p:nvSpPr>
          <p:cNvPr id="20" name="Rounded Rectangle 19"/>
          <p:cNvSpPr/>
          <p:nvPr/>
        </p:nvSpPr>
        <p:spPr>
          <a:xfrm>
            <a:off x="4252874" y="2194560"/>
            <a:ext cx="3685946" cy="82296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REINVESTMENT QUALITY</a:t>
            </a:r>
          </a:p>
          <a:p>
            <a:pPr algn="ctr"/>
            <a:r>
              <a:rPr sz="1600" b="1">
                <a:solidFill>
                  <a:srgbClr val="1F4690"/>
                </a:solidFill>
                <a:latin typeface="Calibri"/>
              </a:rPr>
              <a:t>22.0</a:t>
            </a:r>
          </a:p>
        </p:txBody>
      </p:sp>
      <p:sp>
        <p:nvSpPr>
          <p:cNvPr id="21" name="Rounded Rectangle 20"/>
          <p:cNvSpPr/>
          <p:nvPr/>
        </p:nvSpPr>
        <p:spPr>
          <a:xfrm>
            <a:off x="8048548" y="2194560"/>
            <a:ext cx="3685946" cy="82296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MANAGEMENT QUALITY</a:t>
            </a:r>
          </a:p>
          <a:p>
            <a:pPr algn="ctr"/>
            <a:r>
              <a:rPr sz="1600" b="1">
                <a:solidFill>
                  <a:srgbClr val="FFFFFF"/>
                </a:solidFill>
                <a:latin typeface="Calibri"/>
              </a:rPr>
              <a:t>3,066.0</a:t>
            </a:r>
          </a:p>
        </p:txBody>
      </p:sp>
      <p:graphicFrame>
        <p:nvGraphicFramePr>
          <p:cNvPr id="22" name="Table 21"/>
          <p:cNvGraphicFramePr>
            <a:graphicFrameLocks noGrp="1"/>
          </p:cNvGraphicFramePr>
          <p:nvPr/>
        </p:nvGraphicFramePr>
        <p:xfrm>
          <a:off x="457200" y="3108960"/>
          <a:ext cx="11277294" cy="3337560"/>
        </p:xfrm>
        <a:graphic>
          <a:graphicData uri="http://schemas.openxmlformats.org/drawingml/2006/table">
            <a:tbl>
              <a:tblPr firstRow="1" bandRow="1">
                <a:tableStyleId>{5C22544A-7EE6-4342-B048-85BDC9FD1C3A}</a:tableStyleId>
              </a:tblPr>
              <a:tblGrid>
                <a:gridCol w="3759098"/>
                <a:gridCol w="3759098"/>
                <a:gridCol w="3759098"/>
              </a:tblGrid>
              <a:tr h="417195">
                <a:tc>
                  <a:txBody>
                    <a:bodyPr/>
                    <a:lstStyle/>
                    <a:p>
                      <a:r>
                        <a:rPr b="1" sz="1200">
                          <a:solidFill>
                            <a:srgbClr val="FFFFFF"/>
                          </a:solidFill>
                          <a:latin typeface="Calibri"/>
                        </a:rPr>
                        <a:t>Dimension</a:t>
                      </a:r>
                    </a:p>
                  </a:txBody>
                  <a:tcPr marL="36576" marR="36576" marT="18288" marB="18288">
                    <a:solidFill>
                      <a:srgbClr val="1F4690"/>
                    </a:solidFill>
                  </a:tcPr>
                </a:tc>
                <a:tc>
                  <a:txBody>
                    <a:bodyPr/>
                    <a:lstStyle/>
                    <a:p>
                      <a:pPr algn="r"/>
                      <a:r>
                        <a:rPr b="1" sz="1200">
                          <a:solidFill>
                            <a:srgbClr val="FFFFFF"/>
                          </a:solidFill>
                          <a:latin typeface="Calibri"/>
                        </a:rPr>
                        <a:t>Score</a:t>
                      </a:r>
                    </a:p>
                  </a:txBody>
                  <a:tcPr marL="36576" marR="36576" marT="18288" marB="18288">
                    <a:solidFill>
                      <a:srgbClr val="1F4690"/>
                    </a:solidFill>
                  </a:tcPr>
                </a:tc>
                <a:tc>
                  <a:txBody>
                    <a:bodyPr/>
                    <a:lstStyle/>
                    <a:p>
                      <a:pPr algn="r"/>
                      <a:r>
                        <a:rPr b="1" sz="1200">
                          <a:solidFill>
                            <a:srgbClr val="FFFFFF"/>
                          </a:solidFill>
                          <a:latin typeface="Calibri"/>
                        </a:rPr>
                        <a:t>Assessment</a:t>
                      </a:r>
                    </a:p>
                  </a:txBody>
                  <a:tcPr marL="36576" marR="36576" marT="18288" marB="18288">
                    <a:solidFill>
                      <a:srgbClr val="1F4690"/>
                    </a:solidFill>
                  </a:tcPr>
                </a:tc>
              </a:tr>
              <a:tr h="417195">
                <a:tc>
                  <a:txBody>
                    <a:bodyPr/>
                    <a:lstStyle/>
                    <a:p>
                      <a:r>
                        <a:rPr sz="1200" b="1">
                          <a:solidFill>
                            <a:srgbClr val="5A6573"/>
                          </a:solidFill>
                          <a:latin typeface="Calibri"/>
                        </a:rPr>
                        <a:t>Scalability of Core Engine</a:t>
                      </a:r>
                    </a:p>
                  </a:txBody>
                  <a:tcPr marL="36576" marR="36576" marT="18288" marB="18288">
                    <a:solidFill>
                      <a:srgbClr val="F4F6F9"/>
                    </a:solidFill>
                  </a:tcPr>
                </a:tc>
                <a:tc>
                  <a:txBody>
                    <a:bodyPr/>
                    <a:lstStyle/>
                    <a:p>
                      <a:pPr algn="r"/>
                      <a:r>
                        <a:rPr sz="1200">
                          <a:solidFill>
                            <a:srgbClr val="111111"/>
                          </a:solidFill>
                          <a:latin typeface="Calibri"/>
                        </a:rPr>
                        <a:t>12/15</a:t>
                      </a:r>
                    </a:p>
                  </a:txBody>
                  <a:tcPr marL="36576" marR="36576" marT="18288" marB="18288">
                    <a:solidFill>
                      <a:srgbClr val="F4F6F9"/>
                    </a:solidFill>
                  </a:tcPr>
                </a:tc>
                <a:tc>
                  <a:txBody>
                    <a:bodyPr/>
                    <a:lstStyle/>
                    <a:p>
                      <a:pPr algn="r"/>
                      <a:r>
                        <a:rPr sz="120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a:t>
                      </a:r>
                    </a:p>
                  </a:txBody>
                  <a:tcPr marL="36576" marR="36576" marT="18288" marB="18288">
                    <a:solidFill>
                      <a:srgbClr val="F4F6F9"/>
                    </a:solidFill>
                  </a:tcPr>
                </a:tc>
              </a:tr>
              <a:tr h="417195">
                <a:tc>
                  <a:txBody>
                    <a:bodyPr/>
                    <a:lstStyle/>
                    <a:p>
                      <a:r>
                        <a:rPr sz="1200" b="1">
                          <a:solidFill>
                            <a:srgbClr val="5A6573"/>
                          </a:solidFill>
                          <a:latin typeface="Calibri"/>
                        </a:rPr>
                        <a:t>Addressable Market &amp; Adjacency</a:t>
                      </a:r>
                    </a:p>
                  </a:txBody>
                  <a:tcPr marL="36576" marR="36576" marT="18288" marB="18288">
                    <a:solidFill>
                      <a:srgbClr val="FFFFFF"/>
                    </a:solidFill>
                  </a:tcPr>
                </a:tc>
                <a:tc>
                  <a:txBody>
                    <a:bodyPr/>
                    <a:lstStyle/>
                    <a:p>
                      <a:pPr algn="r"/>
                      <a:r>
                        <a:rPr sz="1200">
                          <a:solidFill>
                            <a:srgbClr val="111111"/>
                          </a:solidFill>
                          <a:latin typeface="Calibri"/>
                        </a:rPr>
                        <a:t>9/10</a:t>
                      </a:r>
                    </a:p>
                  </a:txBody>
                  <a:tcPr marL="36576" marR="36576" marT="18288" marB="18288">
                    <a:solidFill>
                      <a:srgbClr val="FFFFFF"/>
                    </a:solidFill>
                  </a:tcPr>
                </a:tc>
                <a:tc>
                  <a:txBody>
                    <a:bodyPr/>
                    <a:lstStyle/>
                    <a:p>
                      <a:pPr algn="r"/>
                      <a:r>
                        <a:rPr sz="1200" b="1">
                          <a:solidFill>
                            <a:srgbClr val="1A7A4A"/>
                          </a:solidFill>
                          <a:latin typeface="Calibri"/>
                        </a:rPr>
                        <a:t>16.57L HNWIs by 2027; India 4th-largest private wealth market by 2028 (+58.4% UHNWIs). Sector profits to nearly double by FY30. MF penetration at 5–6%. Massive TAM with adjacency expansion across capital markets, wealth, housing, alternatives.</a:t>
                      </a:r>
                    </a:p>
                  </a:txBody>
                  <a:tcPr marL="36576" marR="36576" marT="18288" marB="18288">
                    <a:solidFill>
                      <a:srgbClr val="FFFFFF"/>
                    </a:solidFill>
                  </a:tcPr>
                </a:tc>
              </a:tr>
              <a:tr h="417195">
                <a:tc>
                  <a:txBody>
                    <a:bodyPr/>
                    <a:lstStyle/>
                    <a:p>
                      <a:r>
                        <a:rPr sz="1200" b="1">
                          <a:solidFill>
                            <a:srgbClr val="5A6573"/>
                          </a:solidFill>
                          <a:latin typeface="Calibri"/>
                        </a:rPr>
                        <a:t>Asymmetric Pricing Power</a:t>
                      </a:r>
                    </a:p>
                  </a:txBody>
                  <a:tcPr marL="36576" marR="36576" marT="18288" marB="18288">
                    <a:solidFill>
                      <a:srgbClr val="F4F6F9"/>
                    </a:solidFill>
                  </a:tcPr>
                </a:tc>
                <a:tc>
                  <a:txBody>
                    <a:bodyPr/>
                    <a:lstStyle/>
                    <a:p>
                      <a:pPr algn="r"/>
                      <a:r>
                        <a:rPr sz="1200">
                          <a:solidFill>
                            <a:srgbClr val="111111"/>
                          </a:solidFill>
                          <a:latin typeface="Calibri"/>
                        </a:rPr>
                        <a:t>10/15</a:t>
                      </a:r>
                    </a:p>
                  </a:txBody>
                  <a:tcPr marL="36576" marR="36576" marT="18288" marB="18288">
                    <a:solidFill>
                      <a:srgbClr val="F4F6F9"/>
                    </a:solidFill>
                  </a:tcPr>
                </a:tc>
                <a:tc>
                  <a:txBody>
                    <a:bodyPr/>
                    <a:lstStyle/>
                    <a:p>
                      <a:pPr algn="r"/>
                      <a:r>
                        <a:rPr sz="1200" b="1">
                          <a:solidFill>
                            <a:srgbClr val="1A7A4A"/>
                          </a:solidFill>
                          <a:latin typeface="Calibri"/>
                        </a:rPr>
                        <a:t>91% of AUM outperforming benchmarks over 3 years gives pricing power in PMS/wealth. Brokerage revenue down 24% from regulatory changes — fee compression in cyclical segment. Discount brokers and fintech limit pricing in commoditized broking.</a:t>
                      </a:r>
                    </a:p>
                  </a:txBody>
                  <a:tcPr marL="36576" marR="36576" marT="18288" marB="18288">
                    <a:solidFill>
                      <a:srgbClr val="F4F6F9"/>
                    </a:solidFill>
                  </a:tcPr>
                </a:tc>
              </a:tr>
              <a:tr h="417195">
                <a:tc>
                  <a:txBody>
                    <a:bodyPr/>
                    <a:lstStyle/>
                    <a:p>
                      <a:r>
                        <a:rPr sz="1200" b="1">
                          <a:solidFill>
                            <a:srgbClr val="5A6573"/>
                          </a:solidFill>
                          <a:latin typeface="Calibri"/>
                        </a:rPr>
                        <a:t>Reinvestment Quality</a:t>
                      </a:r>
                    </a:p>
                  </a:txBody>
                  <a:tcPr marL="36576" marR="36576" marT="18288" marB="18288">
                    <a:solidFill>
                      <a:srgbClr val="FFFFFF"/>
                    </a:solidFill>
                  </a:tcPr>
                </a:tc>
                <a:tc>
                  <a:txBody>
                    <a:bodyPr/>
                    <a:lstStyle/>
                    <a:p>
                      <a:pPr algn="r"/>
                      <a:r>
                        <a:rPr sz="1200">
                          <a:solidFill>
                            <a:srgbClr val="111111"/>
                          </a:solidFill>
                          <a:latin typeface="Calibri"/>
                        </a:rPr>
                        <a:t>13/15</a:t>
                      </a:r>
                    </a:p>
                  </a:txBody>
                  <a:tcPr marL="36576" marR="36576" marT="18288" marB="18288">
                    <a:solidFill>
                      <a:srgbClr val="FFFFFF"/>
                    </a:solidFill>
                  </a:tcPr>
                </a:tc>
                <a:tc>
                  <a:txBody>
                    <a:bodyPr/>
                    <a:lstStyle/>
                    <a:p>
                      <a:pPr algn="r"/>
                      <a:r>
                        <a:rPr sz="1200">
                          <a:solidFill>
                            <a:srgbClr val="111111"/>
                          </a:solidFill>
                          <a:latin typeface="Calibri"/>
                        </a:rPr>
                        <a:t>MCap INR 49,079 Cr (+24.8% YoY); P/E 24.2; P/B 3.82. Strong RoCE; disciplined allocation into high-return fee businesses. Reinvestment in tech, talent, distribution, research generates sustainable advantage.</a:t>
                      </a:r>
                    </a:p>
                  </a:txBody>
                  <a:tcPr marL="36576" marR="36576" marT="18288" marB="18288">
                    <a:solidFill>
                      <a:srgbClr val="FFFFFF"/>
                    </a:solidFill>
                  </a:tcPr>
                </a:tc>
              </a:tr>
              <a:tr h="417195">
                <a:tc>
                  <a:txBody>
                    <a:bodyPr/>
                    <a:lstStyle/>
                    <a:p>
                      <a:r>
                        <a:rPr sz="1200" b="1">
                          <a:solidFill>
                            <a:srgbClr val="5A6573"/>
                          </a:solidFill>
                          <a:latin typeface="Calibri"/>
                        </a:rPr>
                        <a:t>Track Record Through Adversity</a:t>
                      </a:r>
                    </a:p>
                  </a:txBody>
                  <a:tcPr marL="36576" marR="36576" marT="18288" marB="18288">
                    <a:solidFill>
                      <a:srgbClr val="F4F6F9"/>
                    </a:solidFill>
                  </a:tcPr>
                </a:tc>
                <a:tc>
                  <a:txBody>
                    <a:bodyPr/>
                    <a:lstStyle/>
                    <a:p>
                      <a:pPr algn="r"/>
                      <a:r>
                        <a:rPr sz="1200">
                          <a:solidFill>
                            <a:srgbClr val="111111"/>
                          </a:solidFill>
                          <a:latin typeface="Calibri"/>
                        </a:rPr>
                        <a:t>8/10</a:t>
                      </a:r>
                    </a:p>
                  </a:txBody>
                  <a:tcPr marL="36576" marR="36576" marT="18288" marB="18288">
                    <a:solidFill>
                      <a:srgbClr val="F4F6F9"/>
                    </a:solidFill>
                  </a:tcPr>
                </a:tc>
                <a:tc>
                  <a:txBody>
                    <a:bodyPr/>
                    <a:lstStyle/>
                    <a:p>
                      <a:pPr algn="r"/>
                      <a:r>
                        <a:rPr sz="1200">
                          <a:solidFill>
                            <a:srgbClr val="111111"/>
                          </a:solidFill>
                          <a:latin typeface="Calibri"/>
                        </a:rPr>
                        <a:t>Q2FY25 PAT INR 1,242 Cr (+123% YoY), 46% revenue growth, 48% RoE — recovery and execution. Q2FY26 PAT -67.6% YoY, revenue -34.9% YoY shows residual cyclicality from F&amp;O regulation. Continuity across cycles maintained.</a:t>
                      </a:r>
                    </a:p>
                  </a:txBody>
                  <a:tcPr marL="36576" marR="36576" marT="18288" marB="18288">
                    <a:solidFill>
                      <a:srgbClr val="F4F6F9"/>
                    </a:solidFill>
                  </a:tcPr>
                </a:tc>
              </a:tr>
              <a:tr h="417195">
                <a:tc>
                  <a:txBody>
                    <a:bodyPr/>
                    <a:lstStyle/>
                    <a:p>
                      <a:r>
                        <a:rPr sz="1200" b="1">
                          <a:solidFill>
                            <a:srgbClr val="5A6573"/>
                          </a:solidFill>
                          <a:latin typeface="Calibri"/>
                        </a:rPr>
                        <a:t>Human Capital &amp; Institutional DNA</a:t>
                      </a:r>
                    </a:p>
                  </a:txBody>
                  <a:tcPr marL="36576" marR="36576" marT="18288" marB="18288">
                    <a:solidFill>
                      <a:srgbClr val="FFFFFF"/>
                    </a:solidFill>
                  </a:tcPr>
                </a:tc>
                <a:tc>
                  <a:txBody>
                    <a:bodyPr/>
                    <a:lstStyle/>
                    <a:p>
                      <a:pPr algn="r"/>
                      <a:r>
                        <a:rPr sz="1200">
                          <a:solidFill>
                            <a:srgbClr val="111111"/>
                          </a:solidFill>
                          <a:latin typeface="Calibri"/>
                        </a:rPr>
                        <a:t>9/10</a:t>
                      </a:r>
                    </a:p>
                  </a:txBody>
                  <a:tcPr marL="36576" marR="36576" marT="18288" marB="18288">
                    <a:solidFill>
                      <a:srgbClr val="FFFFFF"/>
                    </a:solidFill>
                  </a:tcPr>
                </a:tc>
                <a:tc>
                  <a:txBody>
                    <a:bodyPr/>
                    <a:lstStyle/>
                    <a:p>
                      <a:pPr algn="r"/>
                      <a:r>
                        <a:rPr sz="120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a:t>
                      </a:r>
                    </a:p>
                  </a:txBody>
                  <a:tcPr marL="36576" marR="36576" marT="18288" marB="18288">
                    <a:solidFill>
                      <a:srgbClr val="FFFFFF"/>
                    </a:solidFill>
                  </a:tcPr>
                </a:tc>
              </a:tr>
              <a:tr h="417195">
                <a:tc>
                  <a:txBody>
                    <a:bodyPr/>
                    <a:lstStyle/>
                    <a:p>
                      <a:r>
                        <a:rPr sz="1200" b="1">
                          <a:solidFill>
                            <a:srgbClr val="5A6573"/>
                          </a:solidFill>
                          <a:latin typeface="Calibri"/>
                        </a:rPr>
                        <a:t>Inflection Point Identification</a:t>
                      </a:r>
                    </a:p>
                  </a:txBody>
                  <a:tcPr marL="36576" marR="36576" marT="18288" marB="18288">
                    <a:solidFill>
                      <a:srgbClr val="F4F6F9"/>
                    </a:solidFill>
                  </a:tcPr>
                </a:tc>
                <a:tc>
                  <a:txBody>
                    <a:bodyPr/>
                    <a:lstStyle/>
                    <a:p>
                      <a:pPr algn="r"/>
                      <a:r>
                        <a:rPr sz="1200">
                          <a:solidFill>
                            <a:srgbClr val="111111"/>
                          </a:solidFill>
                          <a:latin typeface="Calibri"/>
                        </a:rPr>
                        <a:t>11/15</a:t>
                      </a:r>
                    </a:p>
                  </a:txBody>
                  <a:tcPr marL="36576" marR="36576" marT="18288" marB="18288">
                    <a:solidFill>
                      <a:srgbClr val="F4F6F9"/>
                    </a:solidFill>
                  </a:tcPr>
                </a:tc>
                <a:tc>
                  <a:txBody>
                    <a:bodyPr/>
                    <a:lstStyle/>
                    <a:p>
                      <a:pPr algn="r"/>
                      <a:r>
                        <a:rPr sz="120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a:t>
                      </a:r>
                    </a:p>
                  </a:txBody>
                  <a:tcPr marL="36576" marR="36576"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Leadership Team</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Leadership Team</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Motilal Oswal's leadership combines deep industry expertise with strategic vision.</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200">
                          <a:solidFill>
                            <a:srgbClr val="FFFFFF"/>
                          </a:solidFill>
                          <a:latin typeface="Calibri"/>
                        </a:rPr>
                        <a:t>Name</a:t>
                      </a:r>
                    </a:p>
                  </a:txBody>
                  <a:tcPr marL="36576" marR="36576" marT="18288" marB="18288">
                    <a:solidFill>
                      <a:srgbClr val="1F4690"/>
                    </a:solidFill>
                  </a:tcPr>
                </a:tc>
                <a:tc>
                  <a:txBody>
                    <a:bodyPr/>
                    <a:lstStyle/>
                    <a:p>
                      <a:pPr algn="r"/>
                      <a:r>
                        <a:rPr b="1" sz="1200">
                          <a:solidFill>
                            <a:srgbClr val="FFFFFF"/>
                          </a:solidFill>
                          <a:latin typeface="Calibri"/>
                        </a:rPr>
                        <a:t>Designation</a:t>
                      </a:r>
                    </a:p>
                  </a:txBody>
                  <a:tcPr marL="36576" marR="36576" marT="18288" marB="18288">
                    <a:solidFill>
                      <a:srgbClr val="1F4690"/>
                    </a:solidFill>
                  </a:tcPr>
                </a:tc>
                <a:tc>
                  <a:txBody>
                    <a:bodyPr/>
                    <a:lstStyle/>
                    <a:p>
                      <a:pPr algn="r"/>
                      <a:r>
                        <a:rPr b="1" sz="1200">
                          <a:solidFill>
                            <a:srgbClr val="FFFFFF"/>
                          </a:solidFill>
                          <a:latin typeface="Calibri"/>
                        </a:rPr>
                        <a:t>Background</a:t>
                      </a:r>
                    </a:p>
                  </a:txBody>
                  <a:tcPr marL="36576" marR="36576" marT="18288" marB="18288">
                    <a:solidFill>
                      <a:srgbClr val="1F4690"/>
                    </a:solidFill>
                  </a:tcPr>
                </a:tc>
              </a:tr>
              <a:tr h="850392">
                <a:tc>
                  <a:txBody>
                    <a:bodyPr/>
                    <a:lstStyle/>
                    <a:p>
                      <a:r>
                        <a:rPr sz="1200" b="1">
                          <a:solidFill>
                            <a:srgbClr val="5A6573"/>
                          </a:solidFill>
                          <a:latin typeface="Calibri"/>
                        </a:rPr>
                        <a:t>Raamdeo Agrawal</a:t>
                      </a:r>
                    </a:p>
                  </a:txBody>
                  <a:tcPr marL="36576" marR="36576" marT="18288" marB="18288">
                    <a:solidFill>
                      <a:srgbClr val="F4F6F9"/>
                    </a:solidFill>
                  </a:tcPr>
                </a:tc>
                <a:tc>
                  <a:txBody>
                    <a:bodyPr/>
                    <a:lstStyle/>
                    <a:p>
                      <a:pPr algn="r"/>
                      <a:r>
                        <a:rPr sz="1200">
                          <a:solidFill>
                            <a:srgbClr val="111111"/>
                          </a:solidFill>
                          <a:latin typeface="Calibri"/>
                        </a:rPr>
                        <a:t>Chairman, MOFSL &amp; Chairman, AMC</a:t>
                      </a:r>
                    </a:p>
                  </a:txBody>
                  <a:tcPr marL="36576" marR="36576" marT="18288" marB="18288">
                    <a:solidFill>
                      <a:srgbClr val="F4F6F9"/>
                    </a:solidFill>
                  </a:tcPr>
                </a:tc>
                <a:tc>
                  <a:txBody>
                    <a:bodyPr/>
                    <a:lstStyle/>
                    <a:p>
                      <a:pPr algn="r"/>
                      <a:r>
                        <a:rPr sz="12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36576" marR="36576" marT="18288" marB="18288">
                    <a:solidFill>
                      <a:srgbClr val="F4F6F9"/>
                    </a:solidFill>
                  </a:tcPr>
                </a:tc>
              </a:tr>
              <a:tr h="850392">
                <a:tc>
                  <a:txBody>
                    <a:bodyPr/>
                    <a:lstStyle/>
                    <a:p>
                      <a:r>
                        <a:rPr sz="1200" b="1">
                          <a:solidFill>
                            <a:srgbClr val="5A6573"/>
                          </a:solidFill>
                          <a:latin typeface="Calibri"/>
                        </a:rPr>
                        <a:t>Motilal Oswal</a:t>
                      </a:r>
                    </a:p>
                  </a:txBody>
                  <a:tcPr marL="36576" marR="36576" marT="18288" marB="18288">
                    <a:solidFill>
                      <a:srgbClr val="FFFFFF"/>
                    </a:solidFill>
                  </a:tcPr>
                </a:tc>
                <a:tc>
                  <a:txBody>
                    <a:bodyPr/>
                    <a:lstStyle/>
                    <a:p>
                      <a:pPr algn="r"/>
                      <a:r>
                        <a:rPr sz="1200">
                          <a:solidFill>
                            <a:srgbClr val="111111"/>
                          </a:solidFill>
                          <a:latin typeface="Calibri"/>
                        </a:rPr>
                        <a:t>Founder, Chairman &amp; MD</a:t>
                      </a:r>
                    </a:p>
                  </a:txBody>
                  <a:tcPr marL="36576" marR="36576" marT="18288" marB="18288">
                    <a:solidFill>
                      <a:srgbClr val="FFFFFF"/>
                    </a:solidFill>
                  </a:tcPr>
                </a:tc>
                <a:tc>
                  <a:txBody>
                    <a:bodyPr/>
                    <a:lstStyle/>
                    <a:p>
                      <a:pPr algn="r"/>
                      <a:r>
                        <a:rPr sz="12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36576" marR="36576" marT="18288" marB="18288">
                    <a:solidFill>
                      <a:srgbClr val="FFFFFF"/>
                    </a:solidFill>
                  </a:tcPr>
                </a:tc>
              </a:tr>
              <a:tr h="850392">
                <a:tc>
                  <a:txBody>
                    <a:bodyPr/>
                    <a:lstStyle/>
                    <a:p>
                      <a:r>
                        <a:rPr sz="1200" b="1">
                          <a:solidFill>
                            <a:srgbClr val="5A6573"/>
                          </a:solidFill>
                          <a:latin typeface="Calibri"/>
                        </a:rPr>
                        <a:t>Navin Agarwal</a:t>
                      </a:r>
                    </a:p>
                  </a:txBody>
                  <a:tcPr marL="36576" marR="36576" marT="18288" marB="18288">
                    <a:solidFill>
                      <a:srgbClr val="F4F6F9"/>
                    </a:solidFill>
                  </a:tcPr>
                </a:tc>
                <a:tc>
                  <a:txBody>
                    <a:bodyPr/>
                    <a:lstStyle/>
                    <a:p>
                      <a:pPr algn="r"/>
                      <a:r>
                        <a:rPr sz="1200">
                          <a:solidFill>
                            <a:srgbClr val="111111"/>
                          </a:solidFill>
                          <a:latin typeface="Calibri"/>
                        </a:rPr>
                        <a:t>Executive Board — Strategy &amp; Capital Allocation</a:t>
                      </a:r>
                    </a:p>
                  </a:txBody>
                  <a:tcPr marL="36576" marR="36576" marT="18288" marB="18288">
                    <a:solidFill>
                      <a:srgbClr val="F4F6F9"/>
                    </a:solidFill>
                  </a:tcPr>
                </a:tc>
                <a:tc>
                  <a:txBody>
                    <a:bodyPr/>
                    <a:lstStyle/>
                    <a:p>
                      <a:pPr algn="r"/>
                      <a:r>
                        <a:rPr sz="1200">
                          <a:solidFill>
                            <a:srgbClr val="111111"/>
                          </a:solidFill>
                          <a:latin typeface="Calibri"/>
                        </a:rPr>
                        <a:t>Joined 2000. Drives business strategy and capital allocation across the Group, building market-leading positions through disciplined deployment.</a:t>
                      </a:r>
                    </a:p>
                  </a:txBody>
                  <a:tcPr marL="36576" marR="36576" marT="18288" marB="18288">
                    <a:solidFill>
                      <a:srgbClr val="F4F6F9"/>
                    </a:solidFill>
                  </a:tcPr>
                </a:tc>
              </a:tr>
              <a:tr h="850392">
                <a:tc>
                  <a:txBody>
                    <a:bodyPr/>
                    <a:lstStyle/>
                    <a:p>
                      <a:r>
                        <a:rPr sz="1200" b="1">
                          <a:solidFill>
                            <a:srgbClr val="5A6573"/>
                          </a:solidFill>
                          <a:latin typeface="Calibri"/>
                        </a:rPr>
                        <a:t>Ajay Menon</a:t>
                      </a:r>
                    </a:p>
                  </a:txBody>
                  <a:tcPr marL="36576" marR="36576" marT="18288" marB="18288">
                    <a:solidFill>
                      <a:srgbClr val="FFFFFF"/>
                    </a:solidFill>
                  </a:tcPr>
                </a:tc>
                <a:tc>
                  <a:txBody>
                    <a:bodyPr/>
                    <a:lstStyle/>
                    <a:p>
                      <a:pPr algn="r"/>
                      <a:r>
                        <a:rPr sz="1200">
                          <a:solidFill>
                            <a:srgbClr val="111111"/>
                          </a:solidFill>
                          <a:latin typeface="Calibri"/>
                        </a:rPr>
                        <a:t>Executive — Operations, Compliance, Risk &amp; Technology</a:t>
                      </a:r>
                    </a:p>
                  </a:txBody>
                  <a:tcPr marL="36576" marR="36576" marT="18288" marB="18288">
                    <a:solidFill>
                      <a:srgbClr val="FFFFFF"/>
                    </a:solidFill>
                  </a:tcPr>
                </a:tc>
                <a:tc>
                  <a:txBody>
                    <a:bodyPr/>
                    <a:lstStyle/>
                    <a:p>
                      <a:pPr algn="r"/>
                      <a:r>
                        <a:rPr sz="1200">
                          <a:solidFill>
                            <a:srgbClr val="111111"/>
                          </a:solidFill>
                          <a:latin typeface="Calibri"/>
                        </a:rPr>
                        <a:t>Joined 1998. 27+ years in Indian capital markets. Cornerstone of operational excellence and technology initiatives across the Group.</a:t>
                      </a:r>
                    </a:p>
                  </a:txBody>
                  <a:tcPr marL="36576" marR="36576" marT="18288" marB="18288">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Forensic Assessment — Monitor Closely</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Forensic Assessment — Monitor Closely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Our forensic assessment highlights regulatory matters requiring monitoring within the capital markets business.</a:t>
            </a:r>
          </a:p>
        </p:txBody>
      </p:sp>
      <p:graphicFrame>
        <p:nvGraphicFramePr>
          <p:cNvPr id="19" name="Table 18"/>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200">
                          <a:solidFill>
                            <a:srgbClr val="FFFFFF"/>
                          </a:solidFill>
                          <a:latin typeface="Calibri"/>
                        </a:rPr>
                        <a:t>Issue</a:t>
                      </a:r>
                    </a:p>
                  </a:txBody>
                  <a:tcPr marL="36576" marR="36576" marT="18288" marB="18288">
                    <a:solidFill>
                      <a:srgbClr val="1F4690"/>
                    </a:solidFill>
                  </a:tcPr>
                </a:tc>
                <a:tc>
                  <a:txBody>
                    <a:bodyPr/>
                    <a:lstStyle/>
                    <a:p>
                      <a:pPr algn="r"/>
                      <a:r>
                        <a:rPr b="1" sz="1200">
                          <a:solidFill>
                            <a:srgbClr val="FFFFFF"/>
                          </a:solidFill>
                          <a:latin typeface="Calibri"/>
                        </a:rPr>
                        <a:t>Description</a:t>
                      </a:r>
                    </a:p>
                  </a:txBody>
                  <a:tcPr marL="36576" marR="36576" marT="18288" marB="18288">
                    <a:solidFill>
                      <a:srgbClr val="1F4690"/>
                    </a:solidFill>
                  </a:tcPr>
                </a:tc>
                <a:tc>
                  <a:txBody>
                    <a:bodyPr/>
                    <a:lstStyle/>
                    <a:p>
                      <a:pPr algn="r"/>
                      <a:r>
                        <a:rPr b="1" sz="1200">
                          <a:solidFill>
                            <a:srgbClr val="FFFFFF"/>
                          </a:solidFill>
                          <a:latin typeface="Calibri"/>
                        </a:rPr>
                        <a:t>Severity</a:t>
                      </a:r>
                    </a:p>
                  </a:txBody>
                  <a:tcPr marL="36576" marR="36576" marT="18288" marB="18288">
                    <a:solidFill>
                      <a:srgbClr val="1F4690"/>
                    </a:solidFill>
                  </a:tcPr>
                </a:tc>
              </a:tr>
              <a:tr h="678180">
                <a:tc>
                  <a:txBody>
                    <a:bodyPr/>
                    <a:lstStyle/>
                    <a:p>
                      <a:r>
                        <a:rPr sz="1200" b="1">
                          <a:solidFill>
                            <a:srgbClr val="5A6573"/>
                          </a:solidFill>
                          <a:latin typeface="Calibri"/>
                        </a:rPr>
                        <a:t>SEBI — Margin Reporting Violations</a:t>
                      </a:r>
                    </a:p>
                  </a:txBody>
                  <a:tcPr marL="36576" marR="36576" marT="18288" marB="18288">
                    <a:solidFill>
                      <a:srgbClr val="F4F6F9"/>
                    </a:solidFill>
                  </a:tcPr>
                </a:tc>
                <a:tc>
                  <a:txBody>
                    <a:bodyPr/>
                    <a:lstStyle/>
                    <a:p>
                      <a:pPr algn="r"/>
                      <a:r>
                        <a:rPr sz="1200">
                          <a:solidFill>
                            <a:srgbClr val="111111"/>
                          </a:solidFill>
                          <a:latin typeface="Calibri"/>
                        </a:rPr>
                        <a:t>INR 7 lakh penalty for margin reporting, collection violations, and other regulatory lapses found during inspection.</a:t>
                      </a:r>
                    </a:p>
                  </a:txBody>
                  <a:tcPr marL="36576" marR="36576" marT="18288" marB="18288">
                    <a:solidFill>
                      <a:srgbClr val="F4F6F9"/>
                    </a:solidFill>
                  </a:tcPr>
                </a:tc>
                <a:tc>
                  <a:txBody>
                    <a:bodyPr/>
                    <a:lstStyle/>
                    <a:p>
                      <a:pPr algn="r"/>
                      <a:r>
                        <a:rPr sz="1200">
                          <a:solidFill>
                            <a:srgbClr val="111111"/>
                          </a:solidFill>
                          <a:latin typeface="Calibri"/>
                        </a:rPr>
                        <a:t>Low</a:t>
                      </a:r>
                    </a:p>
                  </a:txBody>
                  <a:tcPr marL="36576" marR="36576" marT="18288" marB="18288">
                    <a:solidFill>
                      <a:srgbClr val="F4F6F9"/>
                    </a:solidFill>
                  </a:tcPr>
                </a:tc>
              </a:tr>
              <a:tr h="678180">
                <a:tc>
                  <a:txBody>
                    <a:bodyPr/>
                    <a:lstStyle/>
                    <a:p>
                      <a:r>
                        <a:rPr sz="1200" b="1">
                          <a:solidFill>
                            <a:srgbClr val="5A6573"/>
                          </a:solidFill>
                          <a:latin typeface="Calibri"/>
                        </a:rPr>
                        <a:t>SEBI — Client Fund Misutilization (2022)</a:t>
                      </a:r>
                    </a:p>
                  </a:txBody>
                  <a:tcPr marL="36576" marR="36576" marT="18288" marB="18288">
                    <a:solidFill>
                      <a:srgbClr val="FFFFFF"/>
                    </a:solidFill>
                  </a:tcPr>
                </a:tc>
                <a:tc>
                  <a:txBody>
                    <a:bodyPr/>
                    <a:lstStyle/>
                    <a:p>
                      <a:pPr algn="r"/>
                      <a:r>
                        <a:rPr sz="1200">
                          <a:solidFill>
                            <a:srgbClr val="111111"/>
                          </a:solidFill>
                          <a:latin typeface="Calibri"/>
                        </a:rPr>
                        <a:t>INR 25 lakh fine for misutilization of client funds and inaccurate margin reporting.</a:t>
                      </a:r>
                    </a:p>
                  </a:txBody>
                  <a:tcPr marL="36576" marR="36576" marT="18288" marB="18288">
                    <a:solidFill>
                      <a:srgbClr val="FFFFFF"/>
                    </a:solidFill>
                  </a:tcPr>
                </a:tc>
                <a:tc>
                  <a:txBody>
                    <a:bodyPr/>
                    <a:lstStyle/>
                    <a:p>
                      <a:pPr algn="r"/>
                      <a:r>
                        <a:rPr sz="1200">
                          <a:solidFill>
                            <a:srgbClr val="111111"/>
                          </a:solidFill>
                          <a:latin typeface="Calibri"/>
                        </a:rPr>
                        <a:t>Medium</a:t>
                      </a:r>
                    </a:p>
                  </a:txBody>
                  <a:tcPr marL="36576" marR="36576" marT="18288" marB="18288">
                    <a:solidFill>
                      <a:srgbClr val="FFFFFF"/>
                    </a:solidFill>
                  </a:tcPr>
                </a:tc>
              </a:tr>
              <a:tr h="678180">
                <a:tc>
                  <a:txBody>
                    <a:bodyPr/>
                    <a:lstStyle/>
                    <a:p>
                      <a:r>
                        <a:rPr sz="1200" b="1">
                          <a:solidFill>
                            <a:srgbClr val="5A6573"/>
                          </a:solidFill>
                          <a:latin typeface="Calibri"/>
                        </a:rPr>
                        <a:t>NSEL — Misselling Accusations</a:t>
                      </a:r>
                    </a:p>
                  </a:txBody>
                  <a:tcPr marL="36576" marR="36576" marT="18288" marB="18288">
                    <a:solidFill>
                      <a:srgbClr val="F4F6F9"/>
                    </a:solidFill>
                  </a:tcPr>
                </a:tc>
                <a:tc>
                  <a:txBody>
                    <a:bodyPr/>
                    <a:lstStyle/>
                    <a:p>
                      <a:pPr algn="r"/>
                      <a:r>
                        <a:rPr sz="1200">
                          <a:solidFill>
                            <a:srgbClr val="111111"/>
                          </a:solidFill>
                          <a:latin typeface="Calibri"/>
                        </a:rPr>
                        <a:t>Accused alongside other top brokers of misselling NSEL contracts, KYC manipulation, client code modification, and illegal transactions per SFIO/EOW findings.</a:t>
                      </a:r>
                    </a:p>
                  </a:txBody>
                  <a:tcPr marL="36576" marR="36576" marT="18288" marB="18288">
                    <a:solidFill>
                      <a:srgbClr val="F4F6F9"/>
                    </a:solidFill>
                  </a:tcPr>
                </a:tc>
                <a:tc>
                  <a:txBody>
                    <a:bodyPr/>
                    <a:lstStyle/>
                    <a:p>
                      <a:pPr algn="r"/>
                      <a:r>
                        <a:rPr sz="1200">
                          <a:solidFill>
                            <a:srgbClr val="111111"/>
                          </a:solidFill>
                          <a:latin typeface="Calibri"/>
                        </a:rPr>
                        <a:t>High (Historical)</a:t>
                      </a:r>
                    </a:p>
                  </a:txBody>
                  <a:tcPr marL="36576" marR="36576" marT="18288" marB="18288">
                    <a:solidFill>
                      <a:srgbClr val="F4F6F9"/>
                    </a:solidFill>
                  </a:tcPr>
                </a:tc>
              </a:tr>
              <a:tr h="678180">
                <a:tc>
                  <a:txBody>
                    <a:bodyPr/>
                    <a:lstStyle/>
                    <a:p>
                      <a:r>
                        <a:rPr sz="1200" b="1">
                          <a:solidFill>
                            <a:srgbClr val="5A6573"/>
                          </a:solidFill>
                          <a:latin typeface="Calibri"/>
                        </a:rPr>
                        <a:t>SEBI — Not Fit and Proper (Commodities)</a:t>
                      </a:r>
                    </a:p>
                  </a:txBody>
                  <a:tcPr marL="36576" marR="36576" marT="18288" marB="18288">
                    <a:solidFill>
                      <a:srgbClr val="FFFFFF"/>
                    </a:solidFill>
                  </a:tcPr>
                </a:tc>
                <a:tc>
                  <a:txBody>
                    <a:bodyPr/>
                    <a:lstStyle/>
                    <a:p>
                      <a:pPr algn="r"/>
                      <a:r>
                        <a:rPr sz="1200">
                          <a:solidFill>
                            <a:srgbClr val="111111"/>
                          </a:solidFill>
                          <a:latin typeface="Calibri"/>
                        </a:rPr>
                        <a:t>Declared 'not fit and proper' as commodity derivative broker in Feb 2019 based on SFIO/EOW recommendations.</a:t>
                      </a:r>
                    </a:p>
                  </a:txBody>
                  <a:tcPr marL="36576" marR="36576" marT="18288" marB="18288">
                    <a:solidFill>
                      <a:srgbClr val="FFFFFF"/>
                    </a:solidFill>
                  </a:tcPr>
                </a:tc>
                <a:tc>
                  <a:txBody>
                    <a:bodyPr/>
                    <a:lstStyle/>
                    <a:p>
                      <a:pPr algn="r"/>
                      <a:r>
                        <a:rPr sz="1200">
                          <a:solidFill>
                            <a:srgbClr val="111111"/>
                          </a:solidFill>
                          <a:latin typeface="Calibri"/>
                        </a:rPr>
                        <a:t>High (Historical)</a:t>
                      </a:r>
                    </a:p>
                  </a:txBody>
                  <a:tcPr marL="36576" marR="36576" marT="18288" marB="18288">
                    <a:solidFill>
                      <a:srgbClr val="FFFFFF"/>
                    </a:solidFill>
                  </a:tcPr>
                </a:tc>
              </a:tr>
              <a:tr h="678180">
                <a:tc>
                  <a:txBody>
                    <a:bodyPr/>
                    <a:lstStyle/>
                    <a:p>
                      <a:r>
                        <a:rPr sz="1200" b="1">
                          <a:solidFill>
                            <a:srgbClr val="5A6573"/>
                          </a:solidFill>
                          <a:latin typeface="Calibri"/>
                        </a:rPr>
                        <a:t>Unauthorized Terminal Operations</a:t>
                      </a:r>
                    </a:p>
                  </a:txBody>
                  <a:tcPr marL="36576" marR="36576" marT="18288" marB="18288">
                    <a:solidFill>
                      <a:srgbClr val="F4F6F9"/>
                    </a:solidFill>
                  </a:tcPr>
                </a:tc>
                <a:tc>
                  <a:txBody>
                    <a:bodyPr/>
                    <a:lstStyle/>
                    <a:p>
                      <a:pPr algn="r"/>
                      <a:r>
                        <a:rPr sz="1200">
                          <a:solidFill>
                            <a:srgbClr val="111111"/>
                          </a:solidFill>
                          <a:latin typeface="Calibri"/>
                        </a:rPr>
                        <a:t>13 NSE and 9 BSE terminals operating from undeclared locations including an unreported branch in Delhi.</a:t>
                      </a:r>
                    </a:p>
                  </a:txBody>
                  <a:tcPr marL="36576" marR="36576" marT="18288" marB="18288">
                    <a:solidFill>
                      <a:srgbClr val="F4F6F9"/>
                    </a:solidFill>
                  </a:tcPr>
                </a:tc>
                <a:tc>
                  <a:txBody>
                    <a:bodyPr/>
                    <a:lstStyle/>
                    <a:p>
                      <a:pPr algn="r"/>
                      <a:r>
                        <a:rPr sz="1200">
                          <a:solidFill>
                            <a:srgbClr val="111111"/>
                          </a:solidFill>
                          <a:latin typeface="Calibri"/>
                        </a:rPr>
                        <a:t>Medium</a:t>
                      </a:r>
                    </a:p>
                  </a:txBody>
                  <a:tcPr marL="36576" marR="36576"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Valuation Perspective</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 Perspective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7200" y="1417320"/>
            <a:ext cx="2737027"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19" name="Rounded Rectangle 18"/>
          <p:cNvSpPr/>
          <p:nvPr/>
        </p:nvSpPr>
        <p:spPr>
          <a:xfrm>
            <a:off x="3303955" y="1417320"/>
            <a:ext cx="2737027"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TARGET</a:t>
            </a:r>
          </a:p>
          <a:p>
            <a:pPr algn="ctr"/>
            <a:r>
              <a:rPr sz="1600" b="1">
                <a:solidFill>
                  <a:srgbClr val="1F4690"/>
                </a:solidFill>
                <a:latin typeface="Calibri"/>
              </a:rPr>
              <a:t>₹1,127.0</a:t>
            </a:r>
          </a:p>
        </p:txBody>
      </p:sp>
      <p:sp>
        <p:nvSpPr>
          <p:cNvPr id="20" name="Rounded Rectangle 19"/>
          <p:cNvSpPr/>
          <p:nvPr/>
        </p:nvSpPr>
        <p:spPr>
          <a:xfrm>
            <a:off x="6150711" y="1417320"/>
            <a:ext cx="2737027"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
        <p:nvSpPr>
          <p:cNvPr id="21" name="Rounded Rectangle 20"/>
          <p:cNvSpPr/>
          <p:nvPr/>
        </p:nvSpPr>
        <p:spPr>
          <a:xfrm>
            <a:off x="8997467" y="1417320"/>
            <a:ext cx="2737027" cy="100584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P/E FY26E</a:t>
            </a:r>
          </a:p>
          <a:p>
            <a:pPr algn="ctr"/>
            <a:r>
              <a:rPr sz="1600" b="1">
                <a:solidFill>
                  <a:srgbClr val="FFFFFF"/>
                </a:solidFill>
                <a:latin typeface="Calibri"/>
              </a:rPr>
              <a:t>16.1</a:t>
            </a:r>
          </a:p>
        </p:txBody>
      </p:sp>
      <p:sp>
        <p:nvSpPr>
          <p:cNvPr id="22" name="TextBox 21"/>
          <p:cNvSpPr txBox="1"/>
          <p:nvPr/>
        </p:nvSpPr>
        <p:spPr>
          <a:xfrm>
            <a:off x="457200" y="2834640"/>
            <a:ext cx="11277295" cy="3611880"/>
          </a:xfrm>
          <a:prstGeom prst="rect">
            <a:avLst/>
          </a:prstGeom>
          <a:noFill/>
        </p:spPr>
        <p:txBody>
          <a:bodyPr wrap="square" anchor="t" lIns="45720" rIns="45720" tIns="18288" bIns="18288">
            <a:spAutoFit/>
          </a:bodyPr>
          <a:lstStyle/>
          <a:p>
            <a:r>
              <a:rPr sz="1200" b="0">
                <a:solidFill>
                  <a:srgbClr val="111111"/>
                </a:solidFill>
                <a:latin typeface="Calibri"/>
              </a:rPr>
              <a:t>Motilal Oswal currently trades at a significant discount to our target price, which is derived through a probability-weighted valuation approach. The company's ongoing transformation from a cyclical broking business to an annuity-driven model warrants a higher multiple than its historical average. As Annual Recurring Revenue continues to increase as a percentage of total revenues, we expect a sustained multiple re-rating. Our valuation incorporates both the near-term earnings growth potential and the structural improvement in business quality. The company's strong return metrics, with ROE and ROCE significantly above industry averages, further support our premium valuation case. The probability-weighted target reflects a balanced view across potential regulatory scenarios.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Valuation Methods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 Methods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Our valuation employs multiple methods to arrive at a probability-weighted target.</a:t>
            </a:r>
          </a:p>
        </p:txBody>
      </p:sp>
      <p:graphicFrame>
        <p:nvGraphicFramePr>
          <p:cNvPr id="19" name="Table 18"/>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777240">
                <a:tc>
                  <a:txBody>
                    <a:bodyPr/>
                    <a:lstStyle/>
                    <a:p>
                      <a:r>
                        <a:rPr b="1" sz="1200">
                          <a:solidFill>
                            <a:srgbClr val="FFFFFF"/>
                          </a:solidFill>
                          <a:latin typeface="Calibri"/>
                        </a:rPr>
                        <a:t>Method</a:t>
                      </a:r>
                    </a:p>
                  </a:txBody>
                  <a:tcPr marL="36576" marR="36576" marT="18288" marB="18288">
                    <a:solidFill>
                      <a:srgbClr val="1F4690"/>
                    </a:solidFill>
                  </a:tcPr>
                </a:tc>
                <a:tc>
                  <a:txBody>
                    <a:bodyPr/>
                    <a:lstStyle/>
                    <a:p>
                      <a:pPr algn="r"/>
                      <a:r>
                        <a:rPr b="1" sz="1200">
                          <a:solidFill>
                            <a:srgbClr val="FFFFFF"/>
                          </a:solidFill>
                          <a:latin typeface="Calibri"/>
                        </a:rPr>
                        <a:t>Low Case</a:t>
                      </a:r>
                    </a:p>
                  </a:txBody>
                  <a:tcPr marL="36576" marR="36576" marT="18288" marB="18288">
                    <a:solidFill>
                      <a:srgbClr val="1F4690"/>
                    </a:solidFill>
                  </a:tcPr>
                </a:tc>
                <a:tc>
                  <a:txBody>
                    <a:bodyPr/>
                    <a:lstStyle/>
                    <a:p>
                      <a:pPr algn="r"/>
                      <a:r>
                        <a:rPr b="1" sz="1200">
                          <a:solidFill>
                            <a:srgbClr val="FFFFFF"/>
                          </a:solidFill>
                          <a:latin typeface="Calibri"/>
                        </a:rPr>
                        <a:t>Base Case</a:t>
                      </a:r>
                    </a:p>
                  </a:txBody>
                  <a:tcPr marL="36576" marR="36576" marT="18288" marB="18288">
                    <a:solidFill>
                      <a:srgbClr val="1F4690"/>
                    </a:solidFill>
                  </a:tcPr>
                </a:tc>
                <a:tc>
                  <a:txBody>
                    <a:bodyPr/>
                    <a:lstStyle/>
                    <a:p>
                      <a:pPr algn="r"/>
                      <a:r>
                        <a:rPr b="1" sz="1200">
                          <a:solidFill>
                            <a:srgbClr val="FFFFFF"/>
                          </a:solidFill>
                          <a:latin typeface="Calibri"/>
                        </a:rPr>
                        <a:t>Bull Case</a:t>
                      </a:r>
                    </a:p>
                  </a:txBody>
                  <a:tcPr marL="36576" marR="36576" marT="18288" marB="18288">
                    <a:solidFill>
                      <a:srgbClr val="1F4690"/>
                    </a:solidFill>
                  </a:tcPr>
                </a:tc>
                <a:tc>
                  <a:txBody>
                    <a:bodyPr/>
                    <a:lstStyle/>
                    <a:p>
                      <a:pPr algn="r"/>
                      <a:r>
                        <a:rPr b="1" sz="1200">
                          <a:solidFill>
                            <a:srgbClr val="FFFFFF"/>
                          </a:solidFill>
                          <a:latin typeface="Calibri"/>
                        </a:rPr>
                        <a:t>Weight</a:t>
                      </a:r>
                    </a:p>
                  </a:txBody>
                  <a:tcPr marL="36576" marR="36576" marT="18288" marB="18288">
                    <a:solidFill>
                      <a:srgbClr val="1F4690"/>
                    </a:solidFill>
                  </a:tcPr>
                </a:tc>
              </a:tr>
              <a:tr h="777240">
                <a:tc>
                  <a:txBody>
                    <a:bodyPr/>
                    <a:lstStyle/>
                    <a:p>
                      <a:r>
                        <a:rPr sz="1200" b="1">
                          <a:solidFill>
                            <a:srgbClr val="5A6573"/>
                          </a:solidFill>
                          <a:latin typeface="Calibri"/>
                        </a:rPr>
                        <a:t>Bull Case</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r>
              <a:tr h="777240">
                <a:tc>
                  <a:txBody>
                    <a:bodyPr/>
                    <a:lstStyle/>
                    <a:p>
                      <a:r>
                        <a:rPr sz="1200" b="1">
                          <a:solidFill>
                            <a:srgbClr val="5A6573"/>
                          </a:solidFill>
                          <a:latin typeface="Calibri"/>
                        </a:rPr>
                        <a:t>Base Case</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r>
              <a:tr h="777240">
                <a:tc>
                  <a:txBody>
                    <a:bodyPr/>
                    <a:lstStyle/>
                    <a:p>
                      <a:r>
                        <a:rPr sz="1200" b="1">
                          <a:solidFill>
                            <a:srgbClr val="5A6573"/>
                          </a:solidFill>
                          <a:latin typeface="Calibri"/>
                        </a:rPr>
                        <a:t>Bear Case</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r>
            </a:tbl>
          </a:graphicData>
        </a:graphic>
      </p:graphicFrame>
      <p:sp>
        <p:nvSpPr>
          <p:cNvPr id="20" name="Rounded Rectangle 19"/>
          <p:cNvSpPr/>
          <p:nvPr/>
        </p:nvSpPr>
        <p:spPr>
          <a:xfrm>
            <a:off x="457200" y="5440680"/>
            <a:ext cx="3685946" cy="1005839"/>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PROBABILITY-WEIGHTED TARGET</a:t>
            </a:r>
          </a:p>
          <a:p>
            <a:pPr algn="ctr"/>
            <a:r>
              <a:rPr sz="1600" b="1">
                <a:solidFill>
                  <a:srgbClr val="FFFFFF"/>
                </a:solidFill>
                <a:latin typeface="Calibri"/>
              </a:rPr>
              <a:t>1,109.0</a:t>
            </a:r>
          </a:p>
        </p:txBody>
      </p:sp>
      <p:sp>
        <p:nvSpPr>
          <p:cNvPr id="21" name="Rounded Rectangle 20"/>
          <p:cNvSpPr/>
          <p:nvPr/>
        </p:nvSpPr>
        <p:spPr>
          <a:xfrm>
            <a:off x="4252874" y="5440680"/>
            <a:ext cx="3685946" cy="1005839"/>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CURRENT PRICE</a:t>
            </a:r>
          </a:p>
          <a:p>
            <a:pPr algn="ctr"/>
            <a:r>
              <a:rPr sz="1600" b="1">
                <a:solidFill>
                  <a:srgbClr val="1F4690"/>
                </a:solidFill>
                <a:latin typeface="Calibri"/>
              </a:rPr>
              <a:t>₹822.9</a:t>
            </a:r>
          </a:p>
        </p:txBody>
      </p:sp>
      <p:sp>
        <p:nvSpPr>
          <p:cNvPr id="22" name="Rounded Rectangle 21"/>
          <p:cNvSpPr/>
          <p:nvPr/>
        </p:nvSpPr>
        <p:spPr>
          <a:xfrm>
            <a:off x="8048548" y="5440680"/>
            <a:ext cx="3685946" cy="1005839"/>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 POTENTIAL</a:t>
            </a:r>
          </a:p>
          <a:p>
            <a:pPr algn="ctr"/>
            <a:r>
              <a:rPr sz="1600" b="1">
                <a:solidFill>
                  <a:srgbClr val="FFFFFF"/>
                </a:solidFill>
                <a:latin typeface="Calibri"/>
              </a:rPr>
              <a:t>37.0%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Price Performance</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Price Performance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Historical price action shows relative performance against broader market indices.</a:t>
            </a:r>
          </a:p>
        </p:txBody>
      </p:sp>
      <p:pic>
        <p:nvPicPr>
          <p:cNvPr id="19" name="Picture 18" descr="image.png"/>
          <p:cNvPicPr>
            <a:picLocks noChangeAspect="1"/>
          </p:cNvPicPr>
          <p:nvPr/>
        </p:nvPicPr>
        <p:blipFill>
          <a:blip r:embed="rId3"/>
          <a:stretch>
            <a:fillRect/>
          </a:stretch>
        </p:blipFill>
        <p:spPr>
          <a:xfrm>
            <a:off x="457200" y="2194560"/>
            <a:ext cx="11277295" cy="42519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Key Risks and Catalysts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and Catalysts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Regulatory changes in F&amp;O trading norms could compress cyclical broking revenues and impact near-term profitability</a:t>
            </a:r>
          </a:p>
          <a:p>
            <a:pPr>
              <a:spcAft>
                <a:spcPts val="400"/>
              </a:spcAft>
            </a:pPr>
            <a:r>
              <a:rPr sz="1200" b="0">
                <a:solidFill>
                  <a:srgbClr val="111111"/>
                </a:solidFill>
                <a:latin typeface="Calibri"/>
              </a:rPr>
              <a:t>•  Recent quarterly volatility demonstrates residual cyclicality despite business transformation</a:t>
            </a:r>
          </a:p>
          <a:p>
            <a:pPr>
              <a:spcAft>
                <a:spcPts val="400"/>
              </a:spcAft>
            </a:pPr>
            <a:r>
              <a:rPr sz="1200" b="0">
                <a:solidFill>
                  <a:srgbClr val="111111"/>
                </a:solidFill>
                <a:latin typeface="Calibri"/>
              </a:rPr>
              <a:t>•  Intensifying competition from discount brokers and fintech platforms may pressure transaction yields and client retention</a:t>
            </a:r>
          </a:p>
          <a:p>
            <a:pPr>
              <a:spcAft>
                <a:spcPts val="400"/>
              </a:spcAft>
            </a:pPr>
            <a:r>
              <a:rPr sz="1200" b="0">
                <a:solidFill>
                  <a:srgbClr val="111111"/>
                </a:solidFill>
                <a:latin typeface="Calibri"/>
              </a:rPr>
              <a:t>•  Recurring regulatory matters require ongoing monitoring and could impact corporate reputation</a:t>
            </a:r>
          </a:p>
          <a:p>
            <a:pPr>
              <a:spcAft>
                <a:spcPts val="400"/>
              </a:spcAft>
            </a:pPr>
            <a:r>
              <a:rPr sz="1200" b="0">
                <a:solidFill>
                  <a:srgbClr val="111111"/>
                </a:solidFill>
                <a:latin typeface="Calibri"/>
              </a:rPr>
              <a:t>•  Mark-to-market volatility on proprietary investment book can introduce earnings surprises in stressed market conditions</a:t>
            </a:r>
          </a:p>
          <a:p>
            <a:pPr>
              <a:spcAft>
                <a:spcPts val="400"/>
              </a:spcAft>
            </a:pPr>
            <a:r>
              <a:rPr sz="1200" b="0">
                <a:solidFill>
                  <a:srgbClr val="111111"/>
                </a:solidFill>
                <a:latin typeface="Calibri"/>
              </a:rPr>
              <a:t>•  Housing finance segment vulnerable to asset quality deterioration during credit stress cycles</a:t>
            </a:r>
          </a:p>
          <a:p>
            <a:pPr>
              <a:spcAft>
                <a:spcPts val="400"/>
              </a:spcAft>
            </a:pPr>
            <a:r>
              <a:rPr sz="1200" b="0">
                <a:solidFill>
                  <a:srgbClr val="111111"/>
                </a:solidFill>
                <a:latin typeface="Calibri"/>
              </a:rPr>
              <a:t>•  Fee compression risks in asset management if fund performance deteriorates relative to benchmarks</a:t>
            </a:r>
          </a:p>
          <a:p>
            <a:pPr>
              <a:spcAft>
                <a:spcPts val="400"/>
              </a:spcAft>
            </a:pPr>
            <a:r>
              <a:rPr sz="1200" b="0">
                <a:solidFill>
                  <a:srgbClr val="111111"/>
                </a:solidFill>
                <a:latin typeface="Calibri"/>
              </a:rPr>
              <a:t>•  Scale-related operational challenges could emerge as AUM growth accelerates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Trading Strategy</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Trading Strategy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7200" y="1417320"/>
            <a:ext cx="3685946" cy="8686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RATING</a:t>
            </a:r>
          </a:p>
          <a:p>
            <a:pPr algn="ctr"/>
            <a:r>
              <a:rPr sz="1600" b="1">
                <a:solidFill>
                  <a:srgbClr val="FFFFFF"/>
                </a:solidFill>
                <a:latin typeface="Calibri"/>
              </a:rPr>
              <a:t>BUY</a:t>
            </a:r>
          </a:p>
        </p:txBody>
      </p:sp>
      <p:sp>
        <p:nvSpPr>
          <p:cNvPr id="19" name="Rounded Rectangle 18"/>
          <p:cNvSpPr/>
          <p:nvPr/>
        </p:nvSpPr>
        <p:spPr>
          <a:xfrm>
            <a:off x="4252874" y="1417320"/>
            <a:ext cx="3685946" cy="86868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CMP</a:t>
            </a:r>
          </a:p>
          <a:p>
            <a:pPr algn="ctr"/>
            <a:r>
              <a:rPr sz="1600" b="1">
                <a:solidFill>
                  <a:srgbClr val="1F4690"/>
                </a:solidFill>
                <a:latin typeface="Calibri"/>
              </a:rPr>
              <a:t>₹822.9</a:t>
            </a:r>
          </a:p>
        </p:txBody>
      </p:sp>
      <p:sp>
        <p:nvSpPr>
          <p:cNvPr id="20" name="Rounded Rectangle 19"/>
          <p:cNvSpPr/>
          <p:nvPr/>
        </p:nvSpPr>
        <p:spPr>
          <a:xfrm>
            <a:off x="8048548" y="1417320"/>
            <a:ext cx="3685946" cy="86868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TARGET PRICE</a:t>
            </a:r>
          </a:p>
          <a:p>
            <a:pPr algn="ctr"/>
            <a:r>
              <a:rPr sz="1600" b="1">
                <a:solidFill>
                  <a:srgbClr val="FFFFFF"/>
                </a:solidFill>
                <a:latin typeface="Calibri"/>
              </a:rPr>
              <a:t>₹1,127.0</a:t>
            </a:r>
          </a:p>
        </p:txBody>
      </p:sp>
      <p:sp>
        <p:nvSpPr>
          <p:cNvPr id="21" name="TextBox 20"/>
          <p:cNvSpPr txBox="1"/>
          <p:nvPr/>
        </p:nvSpPr>
        <p:spPr>
          <a:xfrm>
            <a:off x="457200" y="2423160"/>
            <a:ext cx="5486400" cy="4023360"/>
          </a:xfrm>
          <a:prstGeom prst="rect">
            <a:avLst/>
          </a:prstGeom>
          <a:noFill/>
        </p:spPr>
        <p:txBody>
          <a:bodyPr wrap="square" anchor="t" lIns="45720" rIns="45720" tIns="18288" bIns="18288">
            <a:spAutoFit/>
          </a:bodyPr>
          <a:lstStyle/>
          <a:p>
            <a:r>
              <a:rPr sz="1200" b="0">
                <a:solidFill>
                  <a:srgbClr val="111111"/>
                </a:solidFill>
                <a:latin typeface="Calibri"/>
              </a:rPr>
              <a:t>Our BUY rating is predicated on the structural transformation toward annuity revenue and the consequent re-rating potential. The current valuation offers an asymmetric risk-reward profile given the improving business mix and strong operating metrics. Investors should consider accumulating positions during market weakness, as the company's transition to fee-based revenue streams provides increasing downside protection. The cyclical broking segment still introduces quarterly volatility, but the long-term trend toward higher-quality earnings remains intact.</a:t>
            </a:r>
          </a:p>
        </p:txBody>
      </p:sp>
      <p:sp>
        <p:nvSpPr>
          <p:cNvPr id="22" name="TextBox 21"/>
          <p:cNvSpPr txBox="1"/>
          <p:nvPr/>
        </p:nvSpPr>
        <p:spPr>
          <a:xfrm>
            <a:off x="6217920" y="2423160"/>
            <a:ext cx="5516575" cy="402336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Entry Strategy: Accumulate on market weakness, particularly after quarterly results showing transient broking wea...</a:t>
            </a:r>
          </a:p>
          <a:p>
            <a:pPr>
              <a:spcAft>
                <a:spcPts val="400"/>
              </a:spcAft>
            </a:pPr>
            <a:r>
              <a:rPr sz="1200" b="0">
                <a:solidFill>
                  <a:srgbClr val="111111"/>
                </a:solidFill>
                <a:latin typeface="Calibri"/>
              </a:rPr>
              <a:t>•  Position Sizing: Core holding in financial services basket with appropriate sector allocation</a:t>
            </a:r>
          </a:p>
          <a:p>
            <a:pPr>
              <a:spcAft>
                <a:spcPts val="400"/>
              </a:spcAft>
            </a:pPr>
            <a:r>
              <a:rPr sz="1200" b="0">
                <a:solidFill>
                  <a:srgbClr val="111111"/>
                </a:solidFill>
                <a:latin typeface="Calibri"/>
              </a:rPr>
              <a:t>•  Time Horizon: 12-18 months for full thesis realization as ARR contribution continues to increase</a:t>
            </a:r>
          </a:p>
          <a:p>
            <a:pPr>
              <a:spcAft>
                <a:spcPts val="400"/>
              </a:spcAft>
            </a:pPr>
            <a:r>
              <a:rPr sz="1200" b="0">
                <a:solidFill>
                  <a:srgbClr val="111111"/>
                </a:solidFill>
                <a:latin typeface="Calibri"/>
              </a:rPr>
              <a:t>•  Catalyst Timeline: Monitor quarterly disclosures for ARR contribution progression and AUM growth trends</a:t>
            </a:r>
          </a:p>
          <a:p>
            <a:pPr>
              <a:spcAft>
                <a:spcPts val="400"/>
              </a:spcAft>
            </a:pPr>
            <a:r>
              <a:rPr sz="1200" b="0">
                <a:solidFill>
                  <a:srgbClr val="111111"/>
                </a:solidFill>
                <a:latin typeface="Calibri"/>
              </a:rPr>
              <a:t>•  Hedging Consideration: Pair with pure-play broking shorts if seeking exposure primarily to asset management growth</a:t>
            </a:r>
          </a:p>
          <a:p>
            <a:pPr>
              <a:spcAft>
                <a:spcPts val="400"/>
              </a:spcAft>
            </a:pPr>
            <a:r>
              <a:rPr sz="1200" b="0">
                <a:solidFill>
                  <a:srgbClr val="111111"/>
                </a:solidFill>
                <a:latin typeface="Calibri"/>
              </a:rPr>
              <a:t>•  Monitoring Triggers: Reassess if ARR contribution declines for two consecutive quarters or regulatory headwinds i...</a:t>
            </a:r>
          </a:p>
          <a:p>
            <a:pPr>
              <a:spcAft>
                <a:spcPts val="400"/>
              </a:spcAft>
            </a:pPr>
            <a:r>
              <a:rPr sz="1200" b="0">
                <a:solidFill>
                  <a:srgbClr val="111111"/>
                </a:solidFill>
                <a:latin typeface="Calibri"/>
              </a:rPr>
              <a:t>•  Exit Considerations: Review holding upon reaching target price or if housing finance segment shows material asset...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Analyst Certification</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Analyst Certification</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I, Pratik Gupta, hereby certify that the views expressed in this research report accurately reflect my personal views about the subject securities and issuers. I also certify that no part of my compensation was, is, or will be, directly or indirectly, related to the specific recommendations or views expressed in this research report. This report has been prepared for institutional investors and is not intended for retail investors. Recipients who are not institutional investors should seek advice of their independent financial advisor prior to taking any investment decision based on this report. This report has been prepared on the basis of information that is already available in publicly accessible media or developed through analysis of Tikona Capital. Tikona Capital does not accept any liability for loss arising from the use of this report.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Disclaimer</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20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This document has been prepared by Tikona Capital (TC) and is meant for sole use by the recipient and not for circulation. This document is not to be reported or copied or made available to others. It should not be considered to be taken as an offer to sell or a solicitation to buy any security. The information contained herein is from sources believed reliable. We do not represent that it is accurate or complete and it should not be relied upon as such. TC, its directors, officers and employees may from time to time have positions in the securities mentioned and may sell or buy such securities. TC or its affiliates may from time to time solicit from, or perform investment banking, or other services for, any company mentioned in this document. This report is not directed to, or intended for distribution to or use by, any person or entity who is a citizen or resident of or located in any locality, state, country or other jurisdiction where such distribution, publication, availability or use would be contrary to law, regulation or which would subject TC and affiliates to any registration or licensing requirement within such jurisdiction. The securities described herein may or may not be eligible for sale in all jurisdictions or to certain category of investors. Persons in whose possession this document may come are required to inform themselves of and to observe such restriction. TC accepts no liability whatsoever for any direct or consequential loss arising from any use of this document or its contents. This report is subject to the Securities and Exchange Board of India (Research Analysts) Regulations, 2014.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