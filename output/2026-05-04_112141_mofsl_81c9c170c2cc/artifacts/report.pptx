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Motilal Oswal Financial Services Initiation Note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Motilal Oswal Financial Services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₹822.9</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TP</a:t>
            </a:r>
          </a:p>
          <a:p>
            <a:pPr algn="ctr"/>
            <a:r>
              <a:rPr sz="2000" b="1">
                <a:solidFill>
                  <a:srgbClr val="1F4690"/>
                </a:solidFill>
                <a:latin typeface="Calibri"/>
              </a:rPr>
              <a:t>₹1,127.0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2" name="TextBox 11"/>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SAARTHI Investment Quality Score — 72/100</a:t>
            </a:r>
          </a:p>
        </p:txBody>
      </p:sp>
      <p:sp>
        <p:nvSpPr>
          <p:cNvPr id="11" name="TextBox 10"/>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Proprietary 7-dimension framework. Overall score 72/100 (BUY (70-84 range)).</a:t>
            </a:r>
          </a:p>
        </p:txBody>
      </p:sp>
      <p:graphicFrame>
        <p:nvGraphicFramePr>
          <p:cNvPr id="12" name="Table 11"/>
          <p:cNvGraphicFramePr>
            <a:graphicFrameLocks noGrp="1"/>
          </p:cNvGraphicFramePr>
          <p:nvPr/>
        </p:nvGraphicFramePr>
        <p:xfrm>
          <a:off x="457200" y="3108960"/>
          <a:ext cx="11277292" cy="3337560"/>
        </p:xfrm>
        <a:graphic>
          <a:graphicData uri="http://schemas.openxmlformats.org/drawingml/2006/table">
            <a:tbl>
              <a:tblPr firstRow="1" bandRow="1">
                <a:tableStyleId>{5C22544A-7EE6-4342-B048-85BDC9FD1C3A}</a:tableStyleId>
              </a:tblPr>
              <a:tblGrid>
                <a:gridCol w="2819323"/>
                <a:gridCol w="2819323"/>
                <a:gridCol w="2819323"/>
                <a:gridCol w="2819323"/>
              </a:tblGrid>
              <a:tr h="417195">
                <a:tc>
                  <a:txBody>
                    <a:bodyPr/>
                    <a:lstStyle/>
                    <a:p>
                      <a:r>
                        <a:rPr b="1" sz="1200">
                          <a:solidFill>
                            <a:srgbClr val="FFFFFF"/>
                          </a:solidFill>
                          <a:latin typeface="Calibri"/>
                        </a:rPr>
                        <a:t>Code</a:t>
                      </a:r>
                    </a:p>
                  </a:txBody>
                  <a:tcPr marL="36576" marR="36576" marT="18288" marB="18288">
                    <a:solidFill>
                      <a:srgbClr val="1F4690"/>
                    </a:solidFill>
                  </a:tcPr>
                </a:tc>
                <a:tc>
                  <a:txBody>
                    <a:bodyPr/>
                    <a:lstStyle/>
                    <a:p>
                      <a:r>
                        <a:rPr b="1" sz="1200">
                          <a:solidFill>
                            <a:srgbClr val="FFFFFF"/>
                          </a:solidFill>
                          <a:latin typeface="Calibri"/>
                        </a:rPr>
                        <a:t>Dimension</a:t>
                      </a:r>
                    </a:p>
                  </a:txBody>
                  <a:tcPr marL="36576" marR="36576" marT="18288" marB="18288">
                    <a:solidFill>
                      <a:srgbClr val="1F4690"/>
                    </a:solidFill>
                  </a:tcPr>
                </a:tc>
                <a:tc>
                  <a:txBody>
                    <a:bodyPr/>
                    <a:lstStyle/>
                    <a:p>
                      <a:r>
                        <a:rPr b="1" sz="1200">
                          <a:solidFill>
                            <a:srgbClr val="FFFFFF"/>
                          </a:solidFill>
                          <a:latin typeface="Calibri"/>
                        </a:rPr>
                        <a:t>Score</a:t>
                      </a:r>
                    </a:p>
                  </a:txBody>
                  <a:tcPr marL="36576" marR="36576" marT="18288" marB="18288">
                    <a:solidFill>
                      <a:srgbClr val="1F4690"/>
                    </a:solidFill>
                  </a:tcPr>
                </a:tc>
                <a:tc>
                  <a:txBody>
                    <a:bodyPr/>
                    <a:lstStyle/>
                    <a:p>
                      <a:r>
                        <a:rPr b="1" sz="1200">
                          <a:solidFill>
                            <a:srgbClr val="FFFFFF"/>
                          </a:solidFill>
                          <a:latin typeface="Calibri"/>
                        </a:rPr>
                        <a:t>Key Evidence</a:t>
                      </a:r>
                    </a:p>
                  </a:txBody>
                  <a:tcPr marL="36576" marR="36576" marT="18288" marB="18288">
                    <a:solidFill>
                      <a:srgbClr val="1F4690"/>
                    </a:solidFill>
                  </a:tcPr>
                </a:tc>
              </a:tr>
              <a:tr h="417195">
                <a:tc>
                  <a:txBody>
                    <a:bodyPr/>
                    <a:lstStyle/>
                    <a:p>
                      <a:r>
                        <a:rPr sz="1200">
                          <a:solidFill>
                            <a:srgbClr val="111111"/>
                          </a:solidFill>
                          <a:latin typeface="Calibri"/>
                        </a:rPr>
                        <a:t>S</a:t>
                      </a:r>
                    </a:p>
                  </a:txBody>
                  <a:tcPr marL="36576" marR="36576" marT="18288" marB="18288"/>
                </a:tc>
                <a:tc>
                  <a:txBody>
                    <a:bodyPr/>
                    <a:lstStyle/>
                    <a:p>
                      <a:r>
                        <a:rPr sz="1200">
                          <a:solidFill>
                            <a:srgbClr val="111111"/>
                          </a:solidFill>
                          <a:latin typeface="Calibri"/>
                        </a:rPr>
                        <a:t>Scalability of Core Engine</a:t>
                      </a:r>
                    </a:p>
                  </a:txBody>
                  <a:tcPr marL="36576" marR="36576" marT="18288" marB="18288"/>
                </a:tc>
                <a:tc>
                  <a:txBody>
                    <a:bodyPr/>
                    <a:lstStyle/>
                    <a:p>
                      <a:r>
                        <a:rPr sz="1200">
                          <a:solidFill>
                            <a:srgbClr val="111111"/>
                          </a:solidFill>
                          <a:latin typeface="Calibri"/>
                        </a:rPr>
                        <a:t>12/15</a:t>
                      </a:r>
                    </a:p>
                  </a:txBody>
                  <a:tcPr marL="36576" marR="36576" marT="18288" marB="18288"/>
                </a:tc>
                <a:tc>
                  <a:txBody>
                    <a:bodyPr/>
                    <a:lstStyle/>
                    <a:p>
                      <a:r>
                        <a:rPr sz="1200">
                          <a:solidFill>
                            <a:srgbClr val="111111"/>
                          </a:solidFill>
                          <a:latin typeface="Calibri"/>
                        </a:rPr>
                        <a:t>AMC AUM +33% YoY to INR 1.89L Cr with INR 11,610 Cr net flows.</a:t>
                      </a:r>
                    </a:p>
                  </a:txBody>
                  <a:tcPr marL="36576" marR="36576" marT="18288" marB="18288"/>
                </a:tc>
              </a:tr>
              <a:tr h="417195">
                <a:tc>
                  <a:txBody>
                    <a:bodyPr/>
                    <a:lstStyle/>
                    <a:p>
                      <a:r>
                        <a:rPr sz="1200">
                          <a:solidFill>
                            <a:srgbClr val="111111"/>
                          </a:solidFill>
                          <a:latin typeface="Calibri"/>
                        </a:rPr>
                        <a:t>A1</a:t>
                      </a:r>
                    </a:p>
                  </a:txBody>
                  <a:tcPr marL="36576" marR="36576" marT="18288" marB="18288">
                    <a:solidFill>
                      <a:srgbClr val="FFFFFF"/>
                    </a:solidFill>
                  </a:tcPr>
                </a:tc>
                <a:tc>
                  <a:txBody>
                    <a:bodyPr/>
                    <a:lstStyle/>
                    <a:p>
                      <a:r>
                        <a:rPr sz="1200">
                          <a:solidFill>
                            <a:srgbClr val="111111"/>
                          </a:solidFill>
                          <a:latin typeface="Calibri"/>
                        </a:rPr>
                        <a:t>Addressable Market &amp; Adjacency</a:t>
                      </a:r>
                    </a:p>
                  </a:txBody>
                  <a:tcPr marL="36576" marR="36576" marT="18288" marB="18288">
                    <a:solidFill>
                      <a:srgbClr val="FFFFFF"/>
                    </a:solidFill>
                  </a:tcPr>
                </a:tc>
                <a:tc>
                  <a:txBody>
                    <a:bodyPr/>
                    <a:lstStyle/>
                    <a:p>
                      <a:r>
                        <a:rPr sz="1200">
                          <a:solidFill>
                            <a:srgbClr val="111111"/>
                          </a:solidFill>
                          <a:latin typeface="Calibri"/>
                        </a:rPr>
                        <a:t>9/10</a:t>
                      </a:r>
                    </a:p>
                  </a:txBody>
                  <a:tcPr marL="36576" marR="36576" marT="18288" marB="18288">
                    <a:solidFill>
                      <a:srgbClr val="FFFFFF"/>
                    </a:solidFill>
                  </a:tcPr>
                </a:tc>
                <a:tc>
                  <a:txBody>
                    <a:bodyPr/>
                    <a:lstStyle/>
                    <a:p>
                      <a:r>
                        <a:rPr sz="1200">
                          <a:solidFill>
                            <a:srgbClr val="111111"/>
                          </a:solidFill>
                          <a:latin typeface="Calibri"/>
                        </a:rPr>
                        <a:t>India private credit hit USD 9.0 Bn in H1 2025 (+53% YoY).</a:t>
                      </a:r>
                    </a:p>
                  </a:txBody>
                  <a:tcPr marL="36576" marR="36576" marT="18288" marB="18288">
                    <a:solidFill>
                      <a:srgbClr val="FFFFFF"/>
                    </a:solidFill>
                  </a:tcPr>
                </a:tc>
              </a:tr>
              <a:tr h="417195">
                <a:tc>
                  <a:txBody>
                    <a:bodyPr/>
                    <a:lstStyle/>
                    <a:p>
                      <a:r>
                        <a:rPr sz="1200">
                          <a:solidFill>
                            <a:srgbClr val="111111"/>
                          </a:solidFill>
                          <a:latin typeface="Calibri"/>
                        </a:rPr>
                        <a:t>A2</a:t>
                      </a:r>
                    </a:p>
                  </a:txBody>
                  <a:tcPr marL="36576" marR="36576" marT="18288" marB="18288"/>
                </a:tc>
                <a:tc>
                  <a:txBody>
                    <a:bodyPr/>
                    <a:lstStyle/>
                    <a:p>
                      <a:r>
                        <a:rPr sz="1200">
                          <a:solidFill>
                            <a:srgbClr val="111111"/>
                          </a:solidFill>
                          <a:latin typeface="Calibri"/>
                        </a:rPr>
                        <a:t>Asymmetric Pricing Power</a:t>
                      </a:r>
                    </a:p>
                  </a:txBody>
                  <a:tcPr marL="36576" marR="36576" marT="18288" marB="18288"/>
                </a:tc>
                <a:tc>
                  <a:txBody>
                    <a:bodyPr/>
                    <a:lstStyle/>
                    <a:p>
                      <a:r>
                        <a:rPr sz="1200">
                          <a:solidFill>
                            <a:srgbClr val="111111"/>
                          </a:solidFill>
                          <a:latin typeface="Calibri"/>
                        </a:rPr>
                        <a:t>10/15</a:t>
                      </a:r>
                    </a:p>
                  </a:txBody>
                  <a:tcPr marL="36576" marR="36576" marT="18288" marB="18288"/>
                </a:tc>
                <a:tc>
                  <a:txBody>
                    <a:bodyPr/>
                    <a:lstStyle/>
                    <a:p>
                      <a:r>
                        <a:rPr sz="1200">
                          <a:solidFill>
                            <a:srgbClr val="111111"/>
                          </a:solidFill>
                          <a:latin typeface="Calibri"/>
                        </a:rPr>
                        <a:t>Diversified mix offset 24% brokerage decline, validating partial pricing-power hedge.</a:t>
                      </a:r>
                    </a:p>
                  </a:txBody>
                  <a:tcPr marL="36576" marR="36576" marT="18288" marB="18288"/>
                </a:tc>
              </a:tr>
              <a:tr h="417195">
                <a:tc>
                  <a:txBody>
                    <a:bodyPr/>
                    <a:lstStyle/>
                    <a:p>
                      <a:r>
                        <a:rPr sz="1200">
                          <a:solidFill>
                            <a:srgbClr val="111111"/>
                          </a:solidFill>
                          <a:latin typeface="Calibri"/>
                        </a:rPr>
                        <a:t>R</a:t>
                      </a:r>
                    </a:p>
                  </a:txBody>
                  <a:tcPr marL="36576" marR="36576" marT="18288" marB="18288">
                    <a:solidFill>
                      <a:srgbClr val="FFFFFF"/>
                    </a:solidFill>
                  </a:tcPr>
                </a:tc>
                <a:tc>
                  <a:txBody>
                    <a:bodyPr/>
                    <a:lstStyle/>
                    <a:p>
                      <a:r>
                        <a:rPr sz="1200">
                          <a:solidFill>
                            <a:srgbClr val="111111"/>
                          </a:solidFill>
                          <a:latin typeface="Calibri"/>
                        </a:rPr>
                        <a:t>Reinvestment Quality</a:t>
                      </a:r>
                    </a:p>
                  </a:txBody>
                  <a:tcPr marL="36576" marR="36576" marT="18288" marB="18288">
                    <a:solidFill>
                      <a:srgbClr val="FFFFFF"/>
                    </a:solidFill>
                  </a:tcPr>
                </a:tc>
                <a:tc>
                  <a:txBody>
                    <a:bodyPr/>
                    <a:lstStyle/>
                    <a:p>
                      <a:r>
                        <a:rPr sz="1200">
                          <a:solidFill>
                            <a:srgbClr val="111111"/>
                          </a:solidFill>
                          <a:latin typeface="Calibri"/>
                        </a:rPr>
                        <a:t>13/15</a:t>
                      </a:r>
                    </a:p>
                  </a:txBody>
                  <a:tcPr marL="36576" marR="36576" marT="18288" marB="18288">
                    <a:solidFill>
                      <a:srgbClr val="FFFFFF"/>
                    </a:solidFill>
                  </a:tcPr>
                </a:tc>
                <a:tc>
                  <a:txBody>
                    <a:bodyPr/>
                    <a:lstStyle/>
                    <a:p>
                      <a:r>
                        <a:rPr sz="1200">
                          <a:solidFill>
                            <a:srgbClr val="111111"/>
                          </a:solidFill>
                          <a:latin typeface="Calibri"/>
                        </a:rPr>
                        <a:t>PWM AUM +31% YoY to INR 1.96L Cr; family count +41%; PAT +14% (9M).</a:t>
                      </a:r>
                    </a:p>
                  </a:txBody>
                  <a:tcPr marL="36576" marR="36576" marT="18288" marB="18288">
                    <a:solidFill>
                      <a:srgbClr val="FFFFFF"/>
                    </a:solidFill>
                  </a:tcPr>
                </a:tc>
              </a:tr>
              <a:tr h="417195">
                <a:tc>
                  <a:txBody>
                    <a:bodyPr/>
                    <a:lstStyle/>
                    <a:p>
                      <a:r>
                        <a:rPr sz="1200">
                          <a:solidFill>
                            <a:srgbClr val="111111"/>
                          </a:solidFill>
                          <a:latin typeface="Calibri"/>
                        </a:rPr>
                        <a:t>T</a:t>
                      </a:r>
                    </a:p>
                  </a:txBody>
                  <a:tcPr marL="36576" marR="36576" marT="18288" marB="18288"/>
                </a:tc>
                <a:tc>
                  <a:txBody>
                    <a:bodyPr/>
                    <a:lstStyle/>
                    <a:p>
                      <a:r>
                        <a:rPr sz="1200">
                          <a:solidFill>
                            <a:srgbClr val="111111"/>
                          </a:solidFill>
                          <a:latin typeface="Calibri"/>
                        </a:rPr>
                        <a:t>Track Record Through Adversity</a:t>
                      </a:r>
                    </a:p>
                  </a:txBody>
                  <a:tcPr marL="36576" marR="36576" marT="18288" marB="18288"/>
                </a:tc>
                <a:tc>
                  <a:txBody>
                    <a:bodyPr/>
                    <a:lstStyle/>
                    <a:p>
                      <a:r>
                        <a:rPr sz="1200">
                          <a:solidFill>
                            <a:srgbClr val="111111"/>
                          </a:solidFill>
                          <a:latin typeface="Calibri"/>
                        </a:rPr>
                        <a:t>8/10</a:t>
                      </a:r>
                    </a:p>
                  </a:txBody>
                  <a:tcPr marL="36576" marR="36576" marT="18288" marB="18288"/>
                </a:tc>
                <a:tc>
                  <a:txBody>
                    <a:bodyPr/>
                    <a:lstStyle/>
                    <a:p>
                      <a:r>
                        <a:rPr sz="1200">
                          <a:solidFill>
                            <a:srgbClr val="111111"/>
                          </a:solidFill>
                          <a:latin typeface="Calibri"/>
                        </a:rPr>
                        <a:t>Despite repeated SEBI interventions, AUM and ARR base continue to compound — institutional resilience.</a:t>
                      </a:r>
                    </a:p>
                  </a:txBody>
                  <a:tcPr marL="36576" marR="36576" marT="18288" marB="18288"/>
                </a:tc>
              </a:tr>
              <a:tr h="417195">
                <a:tc>
                  <a:txBody>
                    <a:bodyPr/>
                    <a:lstStyle/>
                    <a:p>
                      <a:r>
                        <a:rPr sz="1200">
                          <a:solidFill>
                            <a:srgbClr val="111111"/>
                          </a:solidFill>
                          <a:latin typeface="Calibri"/>
                        </a:rPr>
                        <a:t>H</a:t>
                      </a:r>
                    </a:p>
                  </a:txBody>
                  <a:tcPr marL="36576" marR="36576" marT="18288" marB="18288">
                    <a:solidFill>
                      <a:srgbClr val="FFFFFF"/>
                    </a:solidFill>
                  </a:tcPr>
                </a:tc>
                <a:tc>
                  <a:txBody>
                    <a:bodyPr/>
                    <a:lstStyle/>
                    <a:p>
                      <a:r>
                        <a:rPr sz="1200">
                          <a:solidFill>
                            <a:srgbClr val="111111"/>
                          </a:solidFill>
                          <a:latin typeface="Calibri"/>
                        </a:rPr>
                        <a:t>Human Capital &amp; Institutional DNA</a:t>
                      </a:r>
                    </a:p>
                  </a:txBody>
                  <a:tcPr marL="36576" marR="36576" marT="18288" marB="18288">
                    <a:solidFill>
                      <a:srgbClr val="FFFFFF"/>
                    </a:solidFill>
                  </a:tcPr>
                </a:tc>
                <a:tc>
                  <a:txBody>
                    <a:bodyPr/>
                    <a:lstStyle/>
                    <a:p>
                      <a:r>
                        <a:rPr sz="1200">
                          <a:solidFill>
                            <a:srgbClr val="111111"/>
                          </a:solidFill>
                          <a:latin typeface="Calibri"/>
                        </a:rPr>
                        <a:t>9/10</a:t>
                      </a:r>
                    </a:p>
                  </a:txBody>
                  <a:tcPr marL="36576" marR="36576" marT="18288" marB="18288">
                    <a:solidFill>
                      <a:srgbClr val="FFFFFF"/>
                    </a:solidFill>
                  </a:tcPr>
                </a:tc>
                <a:tc>
                  <a:txBody>
                    <a:bodyPr/>
                    <a:lstStyle/>
                    <a:p>
                      <a:r>
                        <a:rPr sz="1200">
                          <a:solidFill>
                            <a:srgbClr val="111111"/>
                          </a:solidFill>
                          <a:latin typeface="Calibri"/>
                        </a:rPr>
                        <a:t>Rashtriya Samman Patra recipient (top tax-payer FY95–FY99) signals early ethical commercial success.</a:t>
                      </a:r>
                    </a:p>
                  </a:txBody>
                  <a:tcPr marL="36576" marR="36576" marT="18288" marB="18288">
                    <a:solidFill>
                      <a:srgbClr val="FFFFFF"/>
                    </a:solidFill>
                  </a:tcPr>
                </a:tc>
              </a:tr>
              <a:tr h="417195">
                <a:tc>
                  <a:txBody>
                    <a:bodyPr/>
                    <a:lstStyle/>
                    <a:p>
                      <a:r>
                        <a:rPr sz="1200">
                          <a:solidFill>
                            <a:srgbClr val="111111"/>
                          </a:solidFill>
                          <a:latin typeface="Calibri"/>
                        </a:rPr>
                        <a:t>I</a:t>
                      </a:r>
                    </a:p>
                  </a:txBody>
                  <a:tcPr marL="36576" marR="36576" marT="18288" marB="18288"/>
                </a:tc>
                <a:tc>
                  <a:txBody>
                    <a:bodyPr/>
                    <a:lstStyle/>
                    <a:p>
                      <a:r>
                        <a:rPr sz="1200">
                          <a:solidFill>
                            <a:srgbClr val="111111"/>
                          </a:solidFill>
                          <a:latin typeface="Calibri"/>
                        </a:rPr>
                        <a:t>Inflection Point Identification</a:t>
                      </a:r>
                    </a:p>
                  </a:txBody>
                  <a:tcPr marL="36576" marR="36576" marT="18288" marB="18288"/>
                </a:tc>
                <a:tc>
                  <a:txBody>
                    <a:bodyPr/>
                    <a:lstStyle/>
                    <a:p>
                      <a:r>
                        <a:rPr sz="1200">
                          <a:solidFill>
                            <a:srgbClr val="111111"/>
                          </a:solidFill>
                          <a:latin typeface="Calibri"/>
                        </a:rPr>
                        <a:t>11/15</a:t>
                      </a:r>
                    </a:p>
                  </a:txBody>
                  <a:tcPr marL="36576" marR="36576" marT="18288" marB="18288"/>
                </a:tc>
                <a:tc>
                  <a:txBody>
                    <a:bodyPr/>
                    <a:lstStyle/>
                    <a:p>
                      <a:r>
                        <a:rPr sz="1200">
                          <a:solidFill>
                            <a:srgbClr val="111111"/>
                          </a:solidFill>
                          <a:latin typeface="Calibri"/>
                        </a:rPr>
                        <a:t>ARR at 65% of net revenues (up from 61%); management guiding higher — measurable inflection.</a:t>
                      </a:r>
                    </a:p>
                  </a:txBody>
                  <a:tcPr marL="36576" marR="36576" marT="18288" marB="18288"/>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Motilal Oswal Financial Services Ltd At A Glance</a:t>
            </a:r>
          </a:p>
        </p:txBody>
      </p:sp>
      <p:sp>
        <p:nvSpPr>
          <p:cNvPr id="11" name="TextBox 10"/>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2" name="TextBox 11"/>
          <p:cNvSpPr txBox="1"/>
          <p:nvPr/>
        </p:nvSpPr>
        <p:spPr>
          <a:xfrm>
            <a:off x="6675120" y="1417320"/>
            <a:ext cx="1640738" cy="5029200"/>
          </a:xfrm>
          <a:prstGeom prst="rect">
            <a:avLst/>
          </a:prstGeom>
          <a:noFill/>
        </p:spPr>
        <p:txBody>
          <a:bodyPr wrap="square" anchor="t" lIns="45720" rIns="45720" tIns="18288" bIns="18288">
            <a:spAutoFit/>
          </a:bodyPr>
          <a:lstStyle/>
          <a:p>
            <a:pPr algn="ctr"/>
            <a:r>
              <a:rPr sz="1400" b="1">
                <a:solidFill>
                  <a:srgbClr val="1F4690"/>
                </a:solidFill>
                <a:latin typeface="Calibri"/>
              </a:rPr>
              <a:t>CMP ₹822.9</a:t>
            </a:r>
          </a:p>
        </p:txBody>
      </p:sp>
      <p:sp>
        <p:nvSpPr>
          <p:cNvPr id="13" name="TextBox 12"/>
          <p:cNvSpPr txBox="1"/>
          <p:nvPr/>
        </p:nvSpPr>
        <p:spPr>
          <a:xfrm>
            <a:off x="8361578" y="1417320"/>
            <a:ext cx="1640738" cy="5029200"/>
          </a:xfrm>
          <a:prstGeom prst="rect">
            <a:avLst/>
          </a:prstGeom>
          <a:noFill/>
        </p:spPr>
        <p:txBody>
          <a:bodyPr wrap="square" anchor="t" lIns="45720" rIns="45720" tIns="18288" bIns="18288">
            <a:spAutoFit/>
          </a:bodyPr>
          <a:lstStyle/>
          <a:p>
            <a:pPr algn="ctr"/>
            <a:r>
              <a:rPr sz="1400" b="1">
                <a:solidFill>
                  <a:srgbClr val="1F4690"/>
                </a:solidFill>
                <a:latin typeface="Calibri"/>
              </a:rPr>
              <a:t>TP ₹1,127.0</a:t>
            </a:r>
          </a:p>
        </p:txBody>
      </p:sp>
      <p:sp>
        <p:nvSpPr>
          <p:cNvPr id="14" name="TextBox 13"/>
          <p:cNvSpPr txBox="1"/>
          <p:nvPr/>
        </p:nvSpPr>
        <p:spPr>
          <a:xfrm>
            <a:off x="10048036" y="1417320"/>
            <a:ext cx="1640738" cy="5029200"/>
          </a:xfrm>
          <a:prstGeom prst="rect">
            <a:avLst/>
          </a:prstGeom>
          <a:noFill/>
        </p:spPr>
        <p:txBody>
          <a:bodyPr wrap="square" anchor="t" lIns="45720" rIns="45720" tIns="18288" bIns="18288">
            <a:spAutoFit/>
          </a:bodyPr>
          <a:lstStyle/>
          <a:p>
            <a:pPr algn="ctr"/>
            <a:r>
              <a:rPr sz="1400" b="1">
                <a:solidFill>
                  <a:srgbClr val="1F4690"/>
                </a:solidFill>
                <a:latin typeface="Calibri"/>
              </a:rPr>
              <a:t>Upside 37.0%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Industry Overview</a:t>
            </a:r>
          </a:p>
        </p:txBody>
      </p:sp>
      <p:sp>
        <p:nvSpPr>
          <p:cNvPr id="11" name="TextBox 10"/>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2" name="TextBox 11"/>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Key Highlights</a:t>
            </a:r>
          </a:p>
        </p:txBody>
      </p:sp>
      <p:sp>
        <p:nvSpPr>
          <p:cNvPr id="11" name="TextBox 10"/>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2" name="TextBox 11"/>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Revenue Trend</a:t>
            </a:r>
          </a:p>
        </p:txBody>
      </p:sp>
      <p:sp>
        <p:nvSpPr>
          <p:cNvPr id="11" name="TextBox 10"/>
          <p:cNvSpPr txBox="1"/>
          <p:nvPr/>
        </p:nvSpPr>
        <p:spPr>
          <a:xfrm>
            <a:off x="457200" y="1417320"/>
            <a:ext cx="4389120" cy="5029200"/>
          </a:xfrm>
          <a:prstGeom prst="rect">
            <a:avLst/>
          </a:prstGeom>
          <a:noFill/>
        </p:spPr>
        <p:txBody>
          <a:bodyPr wrap="square" anchor="t" lIns="45720" rIns="45720" tIns="18288" bIns="18288">
            <a:spAutoFit/>
          </a:bodyPr>
          <a:lstStyle/>
          <a:p>
            <a:r>
              <a:rPr sz="1200" b="0">
                <a:solidFill>
                  <a:srgbClr val="111111"/>
                </a:solidFill>
                <a:latin typeface="Calibri"/>
              </a:rPr>
              <a:t>Revenue trajectory across the forecast period reflects mix shift and AUM scale-up.</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Annual Financial Summary</a:t>
            </a:r>
          </a:p>
        </p:txBody>
      </p:sp>
      <p:graphicFrame>
        <p:nvGraphicFramePr>
          <p:cNvPr id="11" name="Table 10"/>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200">
                          <a:solidFill>
                            <a:srgbClr val="FFFFFF"/>
                          </a:solidFill>
                          <a:latin typeface="Calibri"/>
                        </a:rPr>
                        <a:t>Period</a:t>
                      </a:r>
                    </a:p>
                  </a:txBody>
                  <a:tcPr marL="36576" marR="36576" marT="18288" marB="18288">
                    <a:solidFill>
                      <a:srgbClr val="1F4690"/>
                    </a:solidFill>
                  </a:tcPr>
                </a:tc>
                <a:tc>
                  <a:txBody>
                    <a:bodyPr/>
                    <a:lstStyle/>
                    <a:p>
                      <a:r>
                        <a:rPr b="1" sz="1200">
                          <a:solidFill>
                            <a:srgbClr val="FFFFFF"/>
                          </a:solidFill>
                          <a:latin typeface="Calibri"/>
                        </a:rPr>
                        <a:t>Revenue</a:t>
                      </a:r>
                    </a:p>
                  </a:txBody>
                  <a:tcPr marL="36576" marR="36576" marT="18288" marB="18288">
                    <a:solidFill>
                      <a:srgbClr val="1F4690"/>
                    </a:solidFill>
                  </a:tcPr>
                </a:tc>
              </a:tr>
              <a:tr h="628650">
                <a:tc>
                  <a:txBody>
                    <a:bodyPr/>
                    <a:lstStyle/>
                    <a:p>
                      <a:r>
                        <a:rPr sz="1200">
                          <a:solidFill>
                            <a:srgbClr val="111111"/>
                          </a:solidFill>
                          <a:latin typeface="Calibri"/>
                        </a:rPr>
                        <a:t>FY22A</a:t>
                      </a:r>
                    </a:p>
                  </a:txBody>
                  <a:tcPr marL="36576" marR="36576" marT="18288" marB="18288"/>
                </a:tc>
                <a:tc>
                  <a:txBody>
                    <a:bodyPr/>
                    <a:lstStyle/>
                    <a:p>
                      <a:r>
                        <a:rPr sz="1200">
                          <a:solidFill>
                            <a:srgbClr val="111111"/>
                          </a:solidFill>
                          <a:latin typeface="Calibri"/>
                        </a:rPr>
                        <a:t>₹4,298.0 Cr</a:t>
                      </a:r>
                    </a:p>
                  </a:txBody>
                  <a:tcPr marL="36576" marR="36576" marT="18288" marB="18288"/>
                </a:tc>
              </a:tr>
              <a:tr h="628650">
                <a:tc>
                  <a:txBody>
                    <a:bodyPr/>
                    <a:lstStyle/>
                    <a:p>
                      <a:r>
                        <a:rPr sz="1200">
                          <a:solidFill>
                            <a:srgbClr val="111111"/>
                          </a:solidFill>
                          <a:latin typeface="Calibri"/>
                        </a:rPr>
                        <a:t>FY23A</a:t>
                      </a:r>
                    </a:p>
                  </a:txBody>
                  <a:tcPr marL="36576" marR="36576" marT="18288" marB="18288">
                    <a:solidFill>
                      <a:srgbClr val="FFFFFF"/>
                    </a:solidFill>
                  </a:tcPr>
                </a:tc>
                <a:tc>
                  <a:txBody>
                    <a:bodyPr/>
                    <a:lstStyle/>
                    <a:p>
                      <a:r>
                        <a:rPr sz="1200">
                          <a:solidFill>
                            <a:srgbClr val="111111"/>
                          </a:solidFill>
                          <a:latin typeface="Calibri"/>
                        </a:rPr>
                        <a:t>₹4,178.0 Cr</a:t>
                      </a:r>
                    </a:p>
                  </a:txBody>
                  <a:tcPr marL="36576" marR="36576" marT="18288" marB="18288">
                    <a:solidFill>
                      <a:srgbClr val="FFFFFF"/>
                    </a:solidFill>
                  </a:tcPr>
                </a:tc>
              </a:tr>
              <a:tr h="628650">
                <a:tc>
                  <a:txBody>
                    <a:bodyPr/>
                    <a:lstStyle/>
                    <a:p>
                      <a:r>
                        <a:rPr sz="1200">
                          <a:solidFill>
                            <a:srgbClr val="111111"/>
                          </a:solidFill>
                          <a:latin typeface="Calibri"/>
                        </a:rPr>
                        <a:t>FY24A</a:t>
                      </a:r>
                    </a:p>
                  </a:txBody>
                  <a:tcPr marL="36576" marR="36576" marT="18288" marB="18288"/>
                </a:tc>
                <a:tc>
                  <a:txBody>
                    <a:bodyPr/>
                    <a:lstStyle/>
                    <a:p>
                      <a:r>
                        <a:rPr sz="1200">
                          <a:solidFill>
                            <a:srgbClr val="111111"/>
                          </a:solidFill>
                          <a:latin typeface="Calibri"/>
                        </a:rPr>
                        <a:t>₹7,106.0 Cr</a:t>
                      </a:r>
                    </a:p>
                  </a:txBody>
                  <a:tcPr marL="36576" marR="36576" marT="18288" marB="18288"/>
                </a:tc>
              </a:tr>
              <a:tr h="628650">
                <a:tc>
                  <a:txBody>
                    <a:bodyPr/>
                    <a:lstStyle/>
                    <a:p>
                      <a:r>
                        <a:rPr sz="1200">
                          <a:solidFill>
                            <a:srgbClr val="111111"/>
                          </a:solidFill>
                          <a:latin typeface="Calibri"/>
                        </a:rPr>
                        <a:t>FY25A</a:t>
                      </a:r>
                    </a:p>
                  </a:txBody>
                  <a:tcPr marL="36576" marR="36576" marT="18288" marB="18288">
                    <a:solidFill>
                      <a:srgbClr val="FFFFFF"/>
                    </a:solidFill>
                  </a:tcPr>
                </a:tc>
                <a:tc>
                  <a:txBody>
                    <a:bodyPr/>
                    <a:lstStyle/>
                    <a:p>
                      <a:r>
                        <a:rPr sz="1200">
                          <a:solidFill>
                            <a:srgbClr val="111111"/>
                          </a:solidFill>
                          <a:latin typeface="Calibri"/>
                        </a:rPr>
                        <a:t>₹8,340.0 Cr</a:t>
                      </a:r>
                    </a:p>
                  </a:txBody>
                  <a:tcPr marL="36576" marR="36576" marT="18288" marB="18288">
                    <a:solidFill>
                      <a:srgbClr val="FFFFFF"/>
                    </a:solidFill>
                  </a:tcPr>
                </a:tc>
              </a:tr>
              <a:tr h="628650">
                <a:tc>
                  <a:txBody>
                    <a:bodyPr/>
                    <a:lstStyle/>
                    <a:p>
                      <a:r>
                        <a:rPr sz="1200">
                          <a:solidFill>
                            <a:srgbClr val="111111"/>
                          </a:solidFill>
                          <a:latin typeface="Calibri"/>
                        </a:rPr>
                        <a:t>FY26E</a:t>
                      </a:r>
                    </a:p>
                  </a:txBody>
                  <a:tcPr marL="36576" marR="36576" marT="18288" marB="18288"/>
                </a:tc>
                <a:tc>
                  <a:txBody>
                    <a:bodyPr/>
                    <a:lstStyle/>
                    <a:p>
                      <a:r>
                        <a:rPr sz="1200">
                          <a:solidFill>
                            <a:srgbClr val="111111"/>
                          </a:solidFill>
                          <a:latin typeface="Calibri"/>
                        </a:rPr>
                        <a:t>₹10,402.0 Cr</a:t>
                      </a:r>
                    </a:p>
                  </a:txBody>
                  <a:tcPr marL="36576" marR="36576" marT="18288" marB="18288"/>
                </a:tc>
              </a:tr>
              <a:tr h="628650">
                <a:tc>
                  <a:txBody>
                    <a:bodyPr/>
                    <a:lstStyle/>
                    <a:p>
                      <a:r>
                        <a:rPr sz="1200">
                          <a:solidFill>
                            <a:srgbClr val="111111"/>
                          </a:solidFill>
                          <a:latin typeface="Calibri"/>
                        </a:rPr>
                        <a:t>FY27E</a:t>
                      </a:r>
                    </a:p>
                  </a:txBody>
                  <a:tcPr marL="36576" marR="36576" marT="18288" marB="18288">
                    <a:solidFill>
                      <a:srgbClr val="FFFFFF"/>
                    </a:solidFill>
                  </a:tcPr>
                </a:tc>
                <a:tc>
                  <a:txBody>
                    <a:bodyPr/>
                    <a:lstStyle/>
                    <a:p>
                      <a:r>
                        <a:rPr sz="1200">
                          <a:solidFill>
                            <a:srgbClr val="111111"/>
                          </a:solidFill>
                          <a:latin typeface="Calibri"/>
                        </a:rPr>
                        <a:t>₹12,973.0 Cr</a:t>
                      </a:r>
                    </a:p>
                  </a:txBody>
                  <a:tcPr marL="36576" marR="36576" marT="18288" marB="18288">
                    <a:solidFill>
                      <a:srgbClr val="FFFFFF"/>
                    </a:solidFill>
                  </a:tcPr>
                </a:tc>
              </a:tr>
              <a:tr h="628650">
                <a:tc>
                  <a:txBody>
                    <a:bodyPr/>
                    <a:lstStyle/>
                    <a:p>
                      <a:r>
                        <a:rPr sz="1200">
                          <a:solidFill>
                            <a:srgbClr val="111111"/>
                          </a:solidFill>
                          <a:latin typeface="Calibri"/>
                        </a:rPr>
                        <a:t>FY28E</a:t>
                      </a:r>
                    </a:p>
                  </a:txBody>
                  <a:tcPr marL="36576" marR="36576" marT="18288" marB="18288"/>
                </a:tc>
                <a:tc>
                  <a:txBody>
                    <a:bodyPr/>
                    <a:lstStyle/>
                    <a:p>
                      <a:r>
                        <a:rPr sz="1200">
                          <a:solidFill>
                            <a:srgbClr val="111111"/>
                          </a:solidFill>
                          <a:latin typeface="Calibri"/>
                        </a:rPr>
                        <a:t>₹16,181.0 Cr</a:t>
                      </a:r>
                    </a:p>
                  </a:txBody>
                  <a:tcPr marL="36576" marR="36576" marT="18288" marB="18288"/>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Quarterly Performance</a:t>
            </a:r>
          </a:p>
        </p:txBody>
      </p:sp>
      <p:sp>
        <p:nvSpPr>
          <p:cNvPr id="11" name="TextBox 10"/>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2" name="Table 11"/>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200">
                          <a:solidFill>
                            <a:srgbClr val="FFFFFF"/>
                          </a:solidFill>
                          <a:latin typeface="Calibri"/>
                        </a:rPr>
                        <a:t>Quarter</a:t>
                      </a:r>
                    </a:p>
                  </a:txBody>
                  <a:tcPr marL="36576" marR="36576" marT="18288" marB="18288">
                    <a:solidFill>
                      <a:srgbClr val="1F4690"/>
                    </a:solidFill>
                  </a:tcPr>
                </a:tc>
                <a:tc>
                  <a:txBody>
                    <a:bodyPr/>
                    <a:lstStyle/>
                    <a:p>
                      <a:r>
                        <a:rPr b="1" sz="1200">
                          <a:solidFill>
                            <a:srgbClr val="FFFFFF"/>
                          </a:solidFill>
                          <a:latin typeface="Calibri"/>
                        </a:rPr>
                        <a:t>PAT</a:t>
                      </a:r>
                    </a:p>
                  </a:txBody>
                  <a:tcPr marL="36576" marR="36576" marT="18288" marB="18288">
                    <a:solidFill>
                      <a:srgbClr val="1F4690"/>
                    </a:solidFill>
                  </a:tcPr>
                </a:tc>
              </a:tr>
              <a:tr h="708660">
                <a:tc>
                  <a:txBody>
                    <a:bodyPr/>
                    <a:lstStyle/>
                    <a:p>
                      <a:r>
                        <a:rPr sz="1200">
                          <a:solidFill>
                            <a:srgbClr val="111111"/>
                          </a:solidFill>
                          <a:latin typeface="Calibri"/>
                        </a:rPr>
                        <a:t>Q2FY25</a:t>
                      </a:r>
                    </a:p>
                  </a:txBody>
                  <a:tcPr marL="36576" marR="36576" marT="18288" marB="18288"/>
                </a:tc>
                <a:tc>
                  <a:txBody>
                    <a:bodyPr/>
                    <a:lstStyle/>
                    <a:p>
                      <a:r>
                        <a:rPr sz="1200">
                          <a:solidFill>
                            <a:srgbClr val="111111"/>
                          </a:solidFill>
                          <a:latin typeface="Calibri"/>
                        </a:rPr>
                        <a:t>₹1,242.0 Cr</a:t>
                      </a:r>
                    </a:p>
                  </a:txBody>
                  <a:tcPr marL="36576" marR="36576" marT="18288" marB="18288"/>
                </a:tc>
              </a:tr>
              <a:tr h="708660">
                <a:tc>
                  <a:txBody>
                    <a:bodyPr/>
                    <a:lstStyle/>
                    <a:p>
                      <a:r>
                        <a:rPr sz="1200">
                          <a:solidFill>
                            <a:srgbClr val="111111"/>
                          </a:solidFill>
                          <a:latin typeface="Calibri"/>
                        </a:rPr>
                        <a:t>Q3FY25</a:t>
                      </a:r>
                    </a:p>
                  </a:txBody>
                  <a:tcPr marL="36576" marR="36576" marT="18288" marB="18288">
                    <a:solidFill>
                      <a:srgbClr val="FFFFFF"/>
                    </a:solidFill>
                  </a:tcPr>
                </a:tc>
                <a:tc>
                  <a:txBody>
                    <a:bodyPr/>
                    <a:lstStyle/>
                    <a:p>
                      <a:r>
                        <a:rPr sz="1200">
                          <a:solidFill>
                            <a:srgbClr val="111111"/>
                          </a:solidFill>
                          <a:latin typeface="Calibri"/>
                        </a:rPr>
                        <a:t>₹715.0 Cr</a:t>
                      </a:r>
                    </a:p>
                  </a:txBody>
                  <a:tcPr marL="36576" marR="36576" marT="18288" marB="18288">
                    <a:solidFill>
                      <a:srgbClr val="FFFFFF"/>
                    </a:solidFill>
                  </a:tcPr>
                </a:tc>
              </a:tr>
              <a:tr h="708660">
                <a:tc>
                  <a:txBody>
                    <a:bodyPr/>
                    <a:lstStyle/>
                    <a:p>
                      <a:r>
                        <a:rPr sz="1200">
                          <a:solidFill>
                            <a:srgbClr val="111111"/>
                          </a:solidFill>
                          <a:latin typeface="Calibri"/>
                        </a:rPr>
                        <a:t>Q4FY25</a:t>
                      </a:r>
                    </a:p>
                  </a:txBody>
                  <a:tcPr marL="36576" marR="36576" marT="18288" marB="18288"/>
                </a:tc>
                <a:tc>
                  <a:txBody>
                    <a:bodyPr/>
                    <a:lstStyle/>
                    <a:p>
                      <a:r>
                        <a:rPr sz="1200">
                          <a:solidFill>
                            <a:srgbClr val="111111"/>
                          </a:solidFill>
                          <a:latin typeface="Calibri"/>
                        </a:rPr>
                        <a:t>₹545.0 Cr</a:t>
                      </a:r>
                    </a:p>
                  </a:txBody>
                  <a:tcPr marL="36576" marR="36576" marT="18288" marB="18288"/>
                </a:tc>
              </a:tr>
              <a:tr h="708660">
                <a:tc>
                  <a:txBody>
                    <a:bodyPr/>
                    <a:lstStyle/>
                    <a:p>
                      <a:r>
                        <a:rPr sz="1200">
                          <a:solidFill>
                            <a:srgbClr val="111111"/>
                          </a:solidFill>
                          <a:latin typeface="Calibri"/>
                        </a:rPr>
                        <a:t>Q1FY26</a:t>
                      </a:r>
                    </a:p>
                  </a:txBody>
                  <a:tcPr marL="36576" marR="36576" marT="18288" marB="18288">
                    <a:solidFill>
                      <a:srgbClr val="FFFFFF"/>
                    </a:solidFill>
                  </a:tcPr>
                </a:tc>
                <a:tc>
                  <a:txBody>
                    <a:bodyPr/>
                    <a:lstStyle/>
                    <a:p>
                      <a:r>
                        <a:rPr sz="1200">
                          <a:solidFill>
                            <a:srgbClr val="111111"/>
                          </a:solidFill>
                          <a:latin typeface="Calibri"/>
                        </a:rPr>
                        <a:t>₹425.0 Cr</a:t>
                      </a:r>
                    </a:p>
                  </a:txBody>
                  <a:tcPr marL="36576" marR="36576" marT="18288" marB="18288">
                    <a:solidFill>
                      <a:srgbClr val="FFFFFF"/>
                    </a:solidFill>
                  </a:tcPr>
                </a:tc>
              </a:tr>
              <a:tr h="708660">
                <a:tc>
                  <a:txBody>
                    <a:bodyPr/>
                    <a:lstStyle/>
                    <a:p>
                      <a:r>
                        <a:rPr sz="1200">
                          <a:solidFill>
                            <a:srgbClr val="111111"/>
                          </a:solidFill>
                          <a:latin typeface="Calibri"/>
                        </a:rPr>
                        <a:t>Q2FY26</a:t>
                      </a:r>
                    </a:p>
                  </a:txBody>
                  <a:tcPr marL="36576" marR="36576" marT="18288" marB="18288"/>
                </a:tc>
                <a:tc>
                  <a:txBody>
                    <a:bodyPr/>
                    <a:lstStyle/>
                    <a:p>
                      <a:r>
                        <a:rPr sz="1200">
                          <a:solidFill>
                            <a:srgbClr val="111111"/>
                          </a:solidFill>
                          <a:latin typeface="Calibri"/>
                        </a:rPr>
                        <a:t>₹401.0 Cr</a:t>
                      </a:r>
                    </a:p>
                  </a:txBody>
                  <a:tcPr marL="36576" marR="36576" marT="18288" marB="18288"/>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Segment Mix</a:t>
            </a:r>
          </a:p>
        </p:txBody>
      </p:sp>
      <p:graphicFrame>
        <p:nvGraphicFramePr>
          <p:cNvPr id="11" name="Table 10"/>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200">
                          <a:solidFill>
                            <a:srgbClr val="FFFFFF"/>
                          </a:solidFill>
                          <a:latin typeface="Calibri"/>
                        </a:rPr>
                        <a:t>Segment</a:t>
                      </a:r>
                    </a:p>
                  </a:txBody>
                  <a:tcPr marL="36576" marR="36576" marT="18288" marB="18288">
                    <a:solidFill>
                      <a:srgbClr val="1F4690"/>
                    </a:solidFill>
                  </a:tcPr>
                </a:tc>
                <a:tc>
                  <a:txBody>
                    <a:bodyPr/>
                    <a:lstStyle/>
                    <a:p>
                      <a:r>
                        <a:rPr b="1" sz="1200">
                          <a:solidFill>
                            <a:srgbClr val="FFFFFF"/>
                          </a:solidFill>
                          <a:latin typeface="Calibri"/>
                        </a:rPr>
                        <a:t>Scale Metric</a:t>
                      </a:r>
                    </a:p>
                  </a:txBody>
                  <a:tcPr marL="36576" marR="36576" marT="18288" marB="18288">
                    <a:solidFill>
                      <a:srgbClr val="1F4690"/>
                    </a:solidFill>
                  </a:tcPr>
                </a:tc>
                <a:tc>
                  <a:txBody>
                    <a:bodyPr/>
                    <a:lstStyle/>
                    <a:p>
                      <a:r>
                        <a:rPr b="1" sz="1200">
                          <a:solidFill>
                            <a:srgbClr val="FFFFFF"/>
                          </a:solidFill>
                          <a:latin typeface="Calibri"/>
                        </a:rPr>
                        <a:t>Latest</a:t>
                      </a:r>
                    </a:p>
                  </a:txBody>
                  <a:tcPr marL="36576" marR="36576" marT="18288" marB="18288">
                    <a:solidFill>
                      <a:srgbClr val="1F4690"/>
                    </a:solidFill>
                  </a:tcPr>
                </a:tc>
                <a:tc>
                  <a:txBody>
                    <a:bodyPr/>
                    <a:lstStyle/>
                    <a:p>
                      <a:r>
                        <a:rPr b="1" sz="1200">
                          <a:solidFill>
                            <a:srgbClr val="FFFFFF"/>
                          </a:solidFill>
                          <a:latin typeface="Calibri"/>
                        </a:rPr>
                        <a:t>Notes</a:t>
                      </a:r>
                    </a:p>
                  </a:txBody>
                  <a:tcPr marL="36576" marR="36576" marT="18288" marB="18288">
                    <a:solidFill>
                      <a:srgbClr val="1F4690"/>
                    </a:solidFill>
                  </a:tcPr>
                </a:tc>
              </a:tr>
              <a:tr h="838200">
                <a:tc>
                  <a:txBody>
                    <a:bodyPr/>
                    <a:lstStyle/>
                    <a:p>
                      <a:r>
                        <a:rPr sz="1200">
                          <a:solidFill>
                            <a:srgbClr val="111111"/>
                          </a:solidFill>
                          <a:latin typeface="Calibri"/>
                        </a:rPr>
                        <a:t>Capital Markets (Broking + IB)</a:t>
                      </a:r>
                    </a:p>
                  </a:txBody>
                  <a:tcPr marL="36576" marR="36576" marT="18288" marB="18288"/>
                </a:tc>
                <a:tc>
                  <a:txBody>
                    <a:bodyPr/>
                    <a:lstStyle/>
                    <a:p>
                      <a:r>
                        <a:rPr sz="1200">
                          <a:solidFill>
                            <a:srgbClr val="111111"/>
                          </a:solidFill>
                          <a:latin typeface="Calibri"/>
                        </a:rPr>
                        <a:t>Brokerage Rev YoY</a:t>
                      </a:r>
                    </a:p>
                  </a:txBody>
                  <a:tcPr marL="36576" marR="36576" marT="18288" marB="18288"/>
                </a:tc>
                <a:tc>
                  <a:txBody>
                    <a:bodyPr/>
                    <a:lstStyle/>
                    <a:p>
                      <a:r>
                        <a:rPr sz="1200">
                          <a:solidFill>
                            <a:srgbClr val="111111"/>
                          </a:solidFill>
                          <a:latin typeface="Calibri"/>
                        </a:rPr>
                        <a:t>-24%</a:t>
                      </a:r>
                    </a:p>
                  </a:txBody>
                  <a:tcPr marL="36576" marR="36576" marT="18288" marB="18288"/>
                </a:tc>
                <a:tc>
                  <a:txBody>
                    <a:bodyPr/>
                    <a:lstStyle/>
                    <a:p>
                      <a:r>
                        <a:rPr sz="1200">
                          <a:solidFill>
                            <a:srgbClr val="111111"/>
                          </a:solidFill>
                          <a:latin typeface="Calibri"/>
                        </a:rPr>
                        <a:t>Equity, derivatives, commodity, currency trading + institutional services and investment banking. Brokerage now contributes only 30% of total revenue, down from historical highs.</a:t>
                      </a:r>
                    </a:p>
                  </a:txBody>
                  <a:tcPr marL="36576" marR="36576" marT="18288" marB="18288"/>
                </a:tc>
              </a:tr>
              <a:tr h="838200">
                <a:tc>
                  <a:txBody>
                    <a:bodyPr/>
                    <a:lstStyle/>
                    <a:p>
                      <a:r>
                        <a:rPr sz="1200">
                          <a:solidFill>
                            <a:srgbClr val="111111"/>
                          </a:solidFill>
                          <a:latin typeface="Calibri"/>
                        </a:rPr>
                        <a:t>Asset Management</a:t>
                      </a:r>
                    </a:p>
                  </a:txBody>
                  <a:tcPr marL="36576" marR="36576" marT="18288" marB="18288">
                    <a:solidFill>
                      <a:srgbClr val="FFFFFF"/>
                    </a:solidFill>
                  </a:tcPr>
                </a:tc>
                <a:tc>
                  <a:txBody>
                    <a:bodyPr/>
                    <a:lstStyle/>
                    <a:p>
                      <a:r>
                        <a:rPr sz="1200">
                          <a:solidFill>
                            <a:srgbClr val="111111"/>
                          </a:solidFill>
                          <a:latin typeface="Calibri"/>
                        </a:rPr>
                        <a:t>AMC AUM</a:t>
                      </a:r>
                    </a:p>
                  </a:txBody>
                  <a:tcPr marL="36576" marR="36576" marT="18288" marB="18288">
                    <a:solidFill>
                      <a:srgbClr val="FFFFFF"/>
                    </a:solidFill>
                  </a:tcPr>
                </a:tc>
                <a:tc>
                  <a:txBody>
                    <a:bodyPr/>
                    <a:lstStyle/>
                    <a:p>
                      <a:r>
                        <a:rPr sz="1200">
                          <a:solidFill>
                            <a:srgbClr val="111111"/>
                          </a:solidFill>
                          <a:latin typeface="Calibri"/>
                        </a:rPr>
                        <a:t>INR 1.89L Cr (+33% YoY)</a:t>
                      </a:r>
                    </a:p>
                  </a:txBody>
                  <a:tcPr marL="36576" marR="36576" marT="18288" marB="18288">
                    <a:solidFill>
                      <a:srgbClr val="FFFFFF"/>
                    </a:solidFill>
                  </a:tcPr>
                </a:tc>
                <a:tc>
                  <a:txBody>
                    <a:bodyPr/>
                    <a:lstStyle/>
                    <a:p>
                      <a:r>
                        <a:rPr sz="1200">
                          <a:solidFill>
                            <a:srgbClr val="111111"/>
                          </a:solidFill>
                          <a:latin typeface="Calibri"/>
                        </a:rPr>
                        <a:t>Mutual funds and PMS. 91% of AUM outperforming benchmarks over 3 years.</a:t>
                      </a:r>
                    </a:p>
                  </a:txBody>
                  <a:tcPr marL="36576" marR="36576" marT="18288" marB="18288">
                    <a:solidFill>
                      <a:srgbClr val="FFFFFF"/>
                    </a:solidFill>
                  </a:tcPr>
                </a:tc>
              </a:tr>
              <a:tr h="838200">
                <a:tc>
                  <a:txBody>
                    <a:bodyPr/>
                    <a:lstStyle/>
                    <a:p>
                      <a:r>
                        <a:rPr sz="1200">
                          <a:solidFill>
                            <a:srgbClr val="111111"/>
                          </a:solidFill>
                          <a:latin typeface="Calibri"/>
                        </a:rPr>
                        <a:t>Private Wealth Management</a:t>
                      </a:r>
                    </a:p>
                  </a:txBody>
                  <a:tcPr marL="36576" marR="36576" marT="18288" marB="18288"/>
                </a:tc>
                <a:tc>
                  <a:txBody>
                    <a:bodyPr/>
                    <a:lstStyle/>
                    <a:p>
                      <a:r>
                        <a:rPr sz="1200">
                          <a:solidFill>
                            <a:srgbClr val="111111"/>
                          </a:solidFill>
                          <a:latin typeface="Calibri"/>
                        </a:rPr>
                        <a:t>PWM AUM</a:t>
                      </a:r>
                    </a:p>
                  </a:txBody>
                  <a:tcPr marL="36576" marR="36576" marT="18288" marB="18288"/>
                </a:tc>
                <a:tc>
                  <a:txBody>
                    <a:bodyPr/>
                    <a:lstStyle/>
                    <a:p>
                      <a:r>
                        <a:rPr sz="1200">
                          <a:solidFill>
                            <a:srgbClr val="111111"/>
                          </a:solidFill>
                          <a:latin typeface="Calibri"/>
                        </a:rPr>
                        <a:t>INR 1.96L Cr (+31% YoY)</a:t>
                      </a:r>
                    </a:p>
                  </a:txBody>
                  <a:tcPr marL="36576" marR="36576" marT="18288" marB="18288"/>
                </a:tc>
                <a:tc>
                  <a:txBody>
                    <a:bodyPr/>
                    <a:lstStyle/>
                    <a:p>
                      <a:r>
                        <a:rPr sz="1200">
                          <a:solidFill>
                            <a:srgbClr val="111111"/>
                          </a:solidFill>
                          <a:latin typeface="Calibri"/>
                        </a:rPr>
                        <a:t>HNI/UHNI advisory. Family count up 41% YoY.</a:t>
                      </a:r>
                    </a:p>
                  </a:txBody>
                  <a:tcPr marL="36576" marR="36576" marT="18288" marB="18288"/>
                </a:tc>
              </a:tr>
              <a:tr h="838200">
                <a:tc>
                  <a:txBody>
                    <a:bodyPr/>
                    <a:lstStyle/>
                    <a:p>
                      <a:r>
                        <a:rPr sz="1200">
                          <a:solidFill>
                            <a:srgbClr val="111111"/>
                          </a:solidFill>
                          <a:latin typeface="Calibri"/>
                        </a:rPr>
                        <a:t>Housing Finance</a:t>
                      </a:r>
                    </a:p>
                  </a:txBody>
                  <a:tcPr marL="36576" marR="36576" marT="18288" marB="18288">
                    <a:solidFill>
                      <a:srgbClr val="FFFFFF"/>
                    </a:solidFill>
                  </a:tcPr>
                </a:tc>
                <a:tc>
                  <a:txBody>
                    <a:bodyPr/>
                    <a:lstStyle/>
                    <a:p>
                      <a:r>
                        <a:rPr sz="1200">
                          <a:solidFill>
                            <a:srgbClr val="111111"/>
                          </a:solidFill>
                          <a:latin typeface="Calibri"/>
                        </a:rPr>
                        <a:t>Loan Book</a:t>
                      </a:r>
                    </a:p>
                  </a:txBody>
                  <a:tcPr marL="36576" marR="36576" marT="18288" marB="18288">
                    <a:solidFill>
                      <a:srgbClr val="FFFFFF"/>
                    </a:solidFill>
                  </a:tcPr>
                </a:tc>
                <a:tc>
                  <a:txBody>
                    <a:bodyPr/>
                    <a:lstStyle/>
                    <a:p>
                      <a:r>
                        <a:rPr sz="1200">
                          <a:solidFill>
                            <a:srgbClr val="111111"/>
                          </a:solidFill>
                          <a:latin typeface="Calibri"/>
                        </a:rPr>
                        <a:t>INR 6,630 Cr (+25% YoY)</a:t>
                      </a:r>
                    </a:p>
                  </a:txBody>
                  <a:tcPr marL="36576" marR="36576" marT="18288" marB="18288">
                    <a:solidFill>
                      <a:srgbClr val="FFFFFF"/>
                    </a:solidFill>
                  </a:tcPr>
                </a:tc>
                <a:tc>
                  <a:txBody>
                    <a:bodyPr/>
                    <a:lstStyle/>
                    <a:p>
                      <a:r>
                        <a:rPr sz="1200">
                          <a:solidFill>
                            <a:srgbClr val="111111"/>
                          </a:solidFill>
                          <a:latin typeface="Calibri"/>
                        </a:rPr>
                        <a:t>Retail mortgage lending — affordable and mid-segment.</a:t>
                      </a:r>
                    </a:p>
                  </a:txBody>
                  <a:tcPr marL="36576" marR="36576" marT="18288" marB="18288">
                    <a:solidFill>
                      <a:srgbClr val="FFFFFF"/>
                    </a:solidFill>
                  </a:tcPr>
                </a:tc>
              </a:tr>
              <a:tr h="838200">
                <a:tc>
                  <a:txBody>
                    <a:bodyPr/>
                    <a:lstStyle/>
                    <a:p>
                      <a:r>
                        <a:rPr sz="1200">
                          <a:solidFill>
                            <a:srgbClr val="111111"/>
                          </a:solidFill>
                          <a:latin typeface="Calibri"/>
                        </a:rPr>
                        <a:t>Alternative Investments</a:t>
                      </a:r>
                    </a:p>
                  </a:txBody>
                  <a:tcPr marL="36576" marR="36576" marT="18288" marB="18288"/>
                </a:tc>
                <a:tc>
                  <a:txBody>
                    <a:bodyPr/>
                    <a:lstStyle/>
                    <a:p>
                      <a:r>
                        <a:rPr sz="1200">
                          <a:solidFill>
                            <a:srgbClr val="111111"/>
                          </a:solidFill>
                          <a:latin typeface="Calibri"/>
                        </a:rPr>
                        <a:t>Carry Income</a:t>
                      </a:r>
                    </a:p>
                  </a:txBody>
                  <a:tcPr marL="36576" marR="36576" marT="18288" marB="18288"/>
                </a:tc>
                <a:tc>
                  <a:txBody>
                    <a:bodyPr/>
                    <a:lstStyle/>
                    <a:p>
                      <a:r>
                        <a:rPr sz="1200">
                          <a:solidFill>
                            <a:srgbClr val="111111"/>
                          </a:solidFill>
                          <a:latin typeface="Calibri"/>
                        </a:rPr>
                        <a:t>INR 58 Cr recurring</a:t>
                      </a:r>
                    </a:p>
                  </a:txBody>
                  <a:tcPr marL="36576" marR="36576" marT="18288" marB="18288"/>
                </a:tc>
                <a:tc>
                  <a:txBody>
                    <a:bodyPr/>
                    <a:lstStyle/>
                    <a:p>
                      <a:r>
                        <a:rPr sz="1200">
                          <a:solidFill>
                            <a:srgbClr val="111111"/>
                          </a:solidFill>
                          <a:latin typeface="Calibri"/>
                        </a:rPr>
                        <a:t>Private credit, real estate, alternatives.</a:t>
                      </a:r>
                    </a:p>
                  </a:txBody>
                  <a:tcPr marL="36576" marR="36576" marT="18288" marB="18288"/>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Key Ratios</a:t>
            </a:r>
          </a:p>
        </p:txBody>
      </p:sp>
      <p:sp>
        <p:nvSpPr>
          <p:cNvPr id="11" name="TextBox 10"/>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2" name="Table 11"/>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000">
                          <a:solidFill>
                            <a:srgbClr val="FFFFFF"/>
                          </a:solidFill>
                          <a:latin typeface="Calibri"/>
                        </a:rPr>
                        <a:t>Ratio</a:t>
                      </a:r>
                    </a:p>
                  </a:txBody>
                  <a:tcPr marL="36576" marR="36576" marT="18288" marB="18288">
                    <a:solidFill>
                      <a:srgbClr val="1F4690"/>
                    </a:solidFill>
                  </a:tcPr>
                </a:tc>
                <a:tc>
                  <a:txBody>
                    <a:bodyPr/>
                    <a:lstStyle/>
                    <a:p>
                      <a:r>
                        <a:rPr b="1" sz="1000">
                          <a:solidFill>
                            <a:srgbClr val="FFFFFF"/>
                          </a:solidFill>
                          <a:latin typeface="Calibri"/>
                        </a:rPr>
                        <a:t>FY22A</a:t>
                      </a:r>
                    </a:p>
                  </a:txBody>
                  <a:tcPr marL="36576" marR="36576" marT="18288" marB="18288">
                    <a:solidFill>
                      <a:srgbClr val="1F4690"/>
                    </a:solidFill>
                  </a:tcPr>
                </a:tc>
                <a:tc>
                  <a:txBody>
                    <a:bodyPr/>
                    <a:lstStyle/>
                    <a:p>
                      <a:r>
                        <a:rPr b="1" sz="1000">
                          <a:solidFill>
                            <a:srgbClr val="FFFFFF"/>
                          </a:solidFill>
                          <a:latin typeface="Calibri"/>
                        </a:rPr>
                        <a:t>FY23A</a:t>
                      </a:r>
                    </a:p>
                  </a:txBody>
                  <a:tcPr marL="36576" marR="36576" marT="18288" marB="18288">
                    <a:solidFill>
                      <a:srgbClr val="1F4690"/>
                    </a:solidFill>
                  </a:tcPr>
                </a:tc>
                <a:tc>
                  <a:txBody>
                    <a:bodyPr/>
                    <a:lstStyle/>
                    <a:p>
                      <a:r>
                        <a:rPr b="1" sz="1000">
                          <a:solidFill>
                            <a:srgbClr val="FFFFFF"/>
                          </a:solidFill>
                          <a:latin typeface="Calibri"/>
                        </a:rPr>
                        <a:t>FY24A</a:t>
                      </a:r>
                    </a:p>
                  </a:txBody>
                  <a:tcPr marL="36576" marR="36576" marT="18288" marB="18288">
                    <a:solidFill>
                      <a:srgbClr val="1F4690"/>
                    </a:solidFill>
                  </a:tcPr>
                </a:tc>
                <a:tc>
                  <a:txBody>
                    <a:bodyPr/>
                    <a:lstStyle/>
                    <a:p>
                      <a:r>
                        <a:rPr b="1" sz="1000">
                          <a:solidFill>
                            <a:srgbClr val="FFFFFF"/>
                          </a:solidFill>
                          <a:latin typeface="Calibri"/>
                        </a:rPr>
                        <a:t>FY25A</a:t>
                      </a:r>
                    </a:p>
                  </a:txBody>
                  <a:tcPr marL="36576" marR="36576" marT="18288" marB="18288">
                    <a:solidFill>
                      <a:srgbClr val="1F4690"/>
                    </a:solidFill>
                  </a:tcPr>
                </a:tc>
                <a:tc>
                  <a:txBody>
                    <a:bodyPr/>
                    <a:lstStyle/>
                    <a:p>
                      <a:r>
                        <a:rPr b="1" sz="1000">
                          <a:solidFill>
                            <a:srgbClr val="FFFFFF"/>
                          </a:solidFill>
                          <a:latin typeface="Calibri"/>
                        </a:rPr>
                        <a:t>FY26E</a:t>
                      </a:r>
                    </a:p>
                  </a:txBody>
                  <a:tcPr marL="36576" marR="36576" marT="18288" marB="18288">
                    <a:solidFill>
                      <a:srgbClr val="1F4690"/>
                    </a:solidFill>
                  </a:tcPr>
                </a:tc>
                <a:tc>
                  <a:txBody>
                    <a:bodyPr/>
                    <a:lstStyle/>
                    <a:p>
                      <a:r>
                        <a:rPr b="1" sz="1000">
                          <a:solidFill>
                            <a:srgbClr val="FFFFFF"/>
                          </a:solidFill>
                          <a:latin typeface="Calibri"/>
                        </a:rPr>
                        <a:t>FY27E</a:t>
                      </a:r>
                    </a:p>
                  </a:txBody>
                  <a:tcPr marL="36576" marR="36576" marT="18288" marB="18288">
                    <a:solidFill>
                      <a:srgbClr val="1F4690"/>
                    </a:solidFill>
                  </a:tcPr>
                </a:tc>
                <a:tc>
                  <a:txBody>
                    <a:bodyPr/>
                    <a:lstStyle/>
                    <a:p>
                      <a:r>
                        <a:rPr b="1" sz="1000">
                          <a:solidFill>
                            <a:srgbClr val="FFFFFF"/>
                          </a:solidFill>
                          <a:latin typeface="Calibri"/>
                        </a:rPr>
                        <a:t>FY28E</a:t>
                      </a:r>
                    </a:p>
                  </a:txBody>
                  <a:tcPr marL="36576" marR="36576" marT="18288" marB="18288">
                    <a:solidFill>
                      <a:srgbClr val="1F4690"/>
                    </a:solidFill>
                  </a:tcPr>
                </a:tc>
              </a:tr>
              <a:tr h="472440">
                <a:tc>
                  <a:txBody>
                    <a:bodyPr/>
                    <a:lstStyle/>
                    <a:p>
                      <a:r>
                        <a:rPr sz="1000">
                          <a:solidFill>
                            <a:srgbClr val="111111"/>
                          </a:solidFill>
                          <a:latin typeface="Calibri"/>
                        </a:rPr>
                        <a:t>EBITDA Margin</a:t>
                      </a:r>
                    </a:p>
                  </a:txBody>
                  <a:tcPr marL="36576" marR="36576" marT="18288" marB="18288"/>
                </a:tc>
                <a:tc>
                  <a:txBody>
                    <a:bodyPr/>
                    <a:lstStyle/>
                    <a:p>
                      <a:r>
                        <a:rPr sz="1000">
                          <a:solidFill>
                            <a:srgbClr val="111111"/>
                          </a:solidFill>
                          <a:latin typeface="Calibri"/>
                        </a:rPr>
                        <a:t>49.3%</a:t>
                      </a:r>
                    </a:p>
                  </a:txBody>
                  <a:tcPr marL="36576" marR="36576" marT="18288" marB="18288"/>
                </a:tc>
                <a:tc>
                  <a:txBody>
                    <a:bodyPr/>
                    <a:lstStyle/>
                    <a:p>
                      <a:r>
                        <a:rPr sz="1000">
                          <a:solidFill>
                            <a:srgbClr val="111111"/>
                          </a:solidFill>
                          <a:latin typeface="Calibri"/>
                        </a:rPr>
                        <a:t>44.9%</a:t>
                      </a:r>
                    </a:p>
                  </a:txBody>
                  <a:tcPr marL="36576" marR="36576" marT="18288" marB="18288"/>
                </a:tc>
                <a:tc>
                  <a:txBody>
                    <a:bodyPr/>
                    <a:lstStyle/>
                    <a:p>
                      <a:r>
                        <a:rPr sz="1000">
                          <a:solidFill>
                            <a:srgbClr val="111111"/>
                          </a:solidFill>
                          <a:latin typeface="Calibri"/>
                        </a:rPr>
                        <a:t>57.4%</a:t>
                      </a:r>
                    </a:p>
                  </a:txBody>
                  <a:tcPr marL="36576" marR="36576" marT="18288" marB="18288"/>
                </a:tc>
                <a:tc>
                  <a:txBody>
                    <a:bodyPr/>
                    <a:lstStyle/>
                    <a:p>
                      <a:r>
                        <a:rPr sz="1000">
                          <a:solidFill>
                            <a:srgbClr val="111111"/>
                          </a:solidFill>
                          <a:latin typeface="Calibri"/>
                        </a:rPr>
                        <a:t>54.5%</a:t>
                      </a:r>
                    </a:p>
                  </a:txBody>
                  <a:tcPr marL="36576" marR="36576" marT="18288" marB="18288"/>
                </a:tc>
                <a:tc>
                  <a:txBody>
                    <a:bodyPr/>
                    <a:lstStyle/>
                    <a:p>
                      <a:r>
                        <a:rPr sz="1000">
                          <a:solidFill>
                            <a:srgbClr val="111111"/>
                          </a:solidFill>
                          <a:latin typeface="Calibri"/>
                        </a:rPr>
                        <a:t>52.3%</a:t>
                      </a:r>
                    </a:p>
                  </a:txBody>
                  <a:tcPr marL="36576" marR="36576" marT="18288" marB="18288"/>
                </a:tc>
                <a:tc>
                  <a:txBody>
                    <a:bodyPr/>
                    <a:lstStyle/>
                    <a:p>
                      <a:r>
                        <a:rPr sz="1000">
                          <a:solidFill>
                            <a:srgbClr val="111111"/>
                          </a:solidFill>
                          <a:latin typeface="Calibri"/>
                        </a:rPr>
                        <a:t>52.3%</a:t>
                      </a:r>
                    </a:p>
                  </a:txBody>
                  <a:tcPr marL="36576" marR="36576" marT="18288" marB="18288"/>
                </a:tc>
                <a:tc>
                  <a:txBody>
                    <a:bodyPr/>
                    <a:lstStyle/>
                    <a:p>
                      <a:r>
                        <a:rPr sz="1000">
                          <a:solidFill>
                            <a:srgbClr val="111111"/>
                          </a:solidFill>
                          <a:latin typeface="Calibri"/>
                        </a:rPr>
                        <a:t>52.3%</a:t>
                      </a:r>
                    </a:p>
                  </a:txBody>
                  <a:tcPr marL="36576" marR="36576" marT="18288" marB="18288"/>
                </a:tc>
              </a:tr>
              <a:tr h="472440">
                <a:tc>
                  <a:txBody>
                    <a:bodyPr/>
                    <a:lstStyle/>
                    <a:p>
                      <a:r>
                        <a:rPr sz="1000">
                          <a:solidFill>
                            <a:srgbClr val="111111"/>
                          </a:solidFill>
                          <a:latin typeface="Calibri"/>
                        </a:rPr>
                        <a:t>PAT Margin</a:t>
                      </a:r>
                    </a:p>
                  </a:txBody>
                  <a:tcPr marL="36576" marR="36576" marT="18288" marB="18288">
                    <a:solidFill>
                      <a:srgbClr val="FFFFFF"/>
                    </a:solidFill>
                  </a:tcPr>
                </a:tc>
                <a:tc>
                  <a:txBody>
                    <a:bodyPr/>
                    <a:lstStyle/>
                    <a:p>
                      <a:r>
                        <a:rPr sz="1000">
                          <a:solidFill>
                            <a:srgbClr val="111111"/>
                          </a:solidFill>
                          <a:latin typeface="Calibri"/>
                        </a:rPr>
                        <a:t>30.5%</a:t>
                      </a:r>
                    </a:p>
                  </a:txBody>
                  <a:tcPr marL="36576" marR="36576" marT="18288" marB="18288">
                    <a:solidFill>
                      <a:srgbClr val="FFFFFF"/>
                    </a:solidFill>
                  </a:tcPr>
                </a:tc>
                <a:tc>
                  <a:txBody>
                    <a:bodyPr/>
                    <a:lstStyle/>
                    <a:p>
                      <a:r>
                        <a:rPr sz="1000">
                          <a:solidFill>
                            <a:srgbClr val="111111"/>
                          </a:solidFill>
                          <a:latin typeface="Calibri"/>
                        </a:rPr>
                        <a:t>22.3%</a:t>
                      </a:r>
                    </a:p>
                  </a:txBody>
                  <a:tcPr marL="36576" marR="36576" marT="18288" marB="18288">
                    <a:solidFill>
                      <a:srgbClr val="FFFFFF"/>
                    </a:solidFill>
                  </a:tcPr>
                </a:tc>
                <a:tc>
                  <a:txBody>
                    <a:bodyPr/>
                    <a:lstStyle/>
                    <a:p>
                      <a:r>
                        <a:rPr sz="1000">
                          <a:solidFill>
                            <a:srgbClr val="111111"/>
                          </a:solidFill>
                          <a:latin typeface="Calibri"/>
                        </a:rPr>
                        <a:t>34.4%</a:t>
                      </a:r>
                    </a:p>
                  </a:txBody>
                  <a:tcPr marL="36576" marR="36576" marT="18288" marB="18288">
                    <a:solidFill>
                      <a:srgbClr val="FFFFFF"/>
                    </a:solidFill>
                  </a:tcPr>
                </a:tc>
                <a:tc>
                  <a:txBody>
                    <a:bodyPr/>
                    <a:lstStyle/>
                    <a:p>
                      <a:r>
                        <a:rPr sz="1000">
                          <a:solidFill>
                            <a:srgbClr val="111111"/>
                          </a:solidFill>
                          <a:latin typeface="Calibri"/>
                        </a:rPr>
                        <a:t>30.0%</a:t>
                      </a:r>
                    </a:p>
                  </a:txBody>
                  <a:tcPr marL="36576" marR="36576" marT="18288" marB="18288">
                    <a:solidFill>
                      <a:srgbClr val="FFFFFF"/>
                    </a:solidFill>
                  </a:tcPr>
                </a:tc>
                <a:tc>
                  <a:txBody>
                    <a:bodyPr/>
                    <a:lstStyle/>
                    <a:p>
                      <a:r>
                        <a:rPr sz="1000">
                          <a:solidFill>
                            <a:srgbClr val="111111"/>
                          </a:solidFill>
                          <a:latin typeface="Calibri"/>
                        </a:rPr>
                        <a:t>29.5%</a:t>
                      </a:r>
                    </a:p>
                  </a:txBody>
                  <a:tcPr marL="36576" marR="36576" marT="18288" marB="18288">
                    <a:solidFill>
                      <a:srgbClr val="FFFFFF"/>
                    </a:solidFill>
                  </a:tcPr>
                </a:tc>
                <a:tc>
                  <a:txBody>
                    <a:bodyPr/>
                    <a:lstStyle/>
                    <a:p>
                      <a:r>
                        <a:rPr sz="1000">
                          <a:solidFill>
                            <a:srgbClr val="111111"/>
                          </a:solidFill>
                          <a:latin typeface="Calibri"/>
                        </a:rPr>
                        <a:t>30.7%</a:t>
                      </a:r>
                    </a:p>
                  </a:txBody>
                  <a:tcPr marL="36576" marR="36576" marT="18288" marB="18288">
                    <a:solidFill>
                      <a:srgbClr val="FFFFFF"/>
                    </a:solidFill>
                  </a:tcPr>
                </a:tc>
                <a:tc>
                  <a:txBody>
                    <a:bodyPr/>
                    <a:lstStyle/>
                    <a:p>
                      <a:r>
                        <a:rPr sz="1000">
                          <a:solidFill>
                            <a:srgbClr val="111111"/>
                          </a:solidFill>
                          <a:latin typeface="Calibri"/>
                        </a:rPr>
                        <a:t>31.7%</a:t>
                      </a:r>
                    </a:p>
                  </a:txBody>
                  <a:tcPr marL="36576" marR="36576" marT="18288" marB="18288">
                    <a:solidFill>
                      <a:srgbClr val="FFFFFF"/>
                    </a:solidFill>
                  </a:tcPr>
                </a:tc>
              </a:tr>
              <a:tr h="472440">
                <a:tc>
                  <a:txBody>
                    <a:bodyPr/>
                    <a:lstStyle/>
                    <a:p>
                      <a:r>
                        <a:rPr sz="1000">
                          <a:solidFill>
                            <a:srgbClr val="111111"/>
                          </a:solidFill>
                          <a:latin typeface="Calibri"/>
                        </a:rPr>
                        <a:t>RoE</a:t>
                      </a:r>
                    </a:p>
                  </a:txBody>
                  <a:tcPr marL="36576" marR="36576" marT="18288" marB="18288"/>
                </a:tc>
                <a:tc>
                  <a:txBody>
                    <a:bodyPr/>
                    <a:lstStyle/>
                    <a:p>
                      <a:r>
                        <a:rPr sz="1000">
                          <a:solidFill>
                            <a:srgbClr val="111111"/>
                          </a:solidFill>
                          <a:latin typeface="Calibri"/>
                        </a:rPr>
                        <a:t>23.0%</a:t>
                      </a:r>
                    </a:p>
                  </a:txBody>
                  <a:tcPr marL="36576" marR="36576" marT="18288" marB="18288"/>
                </a:tc>
                <a:tc>
                  <a:txBody>
                    <a:bodyPr/>
                    <a:lstStyle/>
                    <a:p>
                      <a:r>
                        <a:rPr sz="1000">
                          <a:solidFill>
                            <a:srgbClr val="111111"/>
                          </a:solidFill>
                          <a:latin typeface="Calibri"/>
                        </a:rPr>
                        <a:t>15.0%</a:t>
                      </a:r>
                    </a:p>
                  </a:txBody>
                  <a:tcPr marL="36576" marR="36576" marT="18288" marB="18288"/>
                </a:tc>
                <a:tc>
                  <a:txBody>
                    <a:bodyPr/>
                    <a:lstStyle/>
                    <a:p>
                      <a:r>
                        <a:rPr sz="1000">
                          <a:solidFill>
                            <a:srgbClr val="111111"/>
                          </a:solidFill>
                          <a:latin typeface="Calibri"/>
                        </a:rPr>
                        <a:t>28.0%</a:t>
                      </a:r>
                    </a:p>
                  </a:txBody>
                  <a:tcPr marL="36576" marR="36576" marT="18288" marB="18288"/>
                </a:tc>
                <a:tc>
                  <a:txBody>
                    <a:bodyPr/>
                    <a:lstStyle/>
                    <a:p>
                      <a:r>
                        <a:rPr sz="1000">
                          <a:solidFill>
                            <a:srgbClr val="111111"/>
                          </a:solidFill>
                          <a:latin typeface="Calibri"/>
                        </a:rPr>
                        <a:t>23.0%</a:t>
                      </a:r>
                    </a:p>
                  </a:txBody>
                  <a:tcPr marL="36576" marR="36576" marT="18288" marB="18288"/>
                </a:tc>
                <a:tc>
                  <a:txBody>
                    <a:bodyPr/>
                    <a:lstStyle/>
                    <a:p>
                      <a:r>
                        <a:rPr sz="1000">
                          <a:solidFill>
                            <a:srgbClr val="111111"/>
                          </a:solidFill>
                          <a:latin typeface="Calibri"/>
                        </a:rPr>
                        <a:t>22.0%</a:t>
                      </a:r>
                    </a:p>
                  </a:txBody>
                  <a:tcPr marL="36576" marR="36576" marT="18288" marB="18288"/>
                </a:tc>
                <a:tc>
                  <a:txBody>
                    <a:bodyPr/>
                    <a:lstStyle/>
                    <a:p>
                      <a:r>
                        <a:rPr sz="1000">
                          <a:solidFill>
                            <a:srgbClr val="111111"/>
                          </a:solidFill>
                          <a:latin typeface="Calibri"/>
                        </a:rPr>
                        <a:t>23.0%</a:t>
                      </a:r>
                    </a:p>
                  </a:txBody>
                  <a:tcPr marL="36576" marR="36576" marT="18288" marB="18288"/>
                </a:tc>
                <a:tc>
                  <a:txBody>
                    <a:bodyPr/>
                    <a:lstStyle/>
                    <a:p>
                      <a:r>
                        <a:rPr sz="1000">
                          <a:solidFill>
                            <a:srgbClr val="111111"/>
                          </a:solidFill>
                          <a:latin typeface="Calibri"/>
                        </a:rPr>
                        <a:t>24.0%</a:t>
                      </a:r>
                    </a:p>
                  </a:txBody>
                  <a:tcPr marL="36576" marR="36576" marT="18288" marB="18288"/>
                </a:tc>
              </a:tr>
              <a:tr h="472440">
                <a:tc>
                  <a:txBody>
                    <a:bodyPr/>
                    <a:lstStyle/>
                    <a:p>
                      <a:r>
                        <a:rPr sz="1000">
                          <a:solidFill>
                            <a:srgbClr val="111111"/>
                          </a:solidFill>
                          <a:latin typeface="Calibri"/>
                        </a:rPr>
                        <a:t>RoCE</a:t>
                      </a:r>
                    </a:p>
                  </a:txBody>
                  <a:tcPr marL="36576" marR="36576" marT="18288" marB="18288">
                    <a:solidFill>
                      <a:srgbClr val="FFFFFF"/>
                    </a:solidFill>
                  </a:tcPr>
                </a:tc>
                <a:tc>
                  <a:txBody>
                    <a:bodyPr/>
                    <a:lstStyle/>
                    <a:p>
                      <a:r>
                        <a:rPr sz="1000">
                          <a:solidFill>
                            <a:srgbClr val="111111"/>
                          </a:solidFill>
                          <a:latin typeface="Calibri"/>
                        </a:rPr>
                        <a:t>19.0%</a:t>
                      </a:r>
                    </a:p>
                  </a:txBody>
                  <a:tcPr marL="36576" marR="36576" marT="18288" marB="18288">
                    <a:solidFill>
                      <a:srgbClr val="FFFFFF"/>
                    </a:solidFill>
                  </a:tcPr>
                </a:tc>
                <a:tc>
                  <a:txBody>
                    <a:bodyPr/>
                    <a:lstStyle/>
                    <a:p>
                      <a:r>
                        <a:rPr sz="1000">
                          <a:solidFill>
                            <a:srgbClr val="111111"/>
                          </a:solidFill>
                          <a:latin typeface="Calibri"/>
                        </a:rPr>
                        <a:t>13.0%</a:t>
                      </a:r>
                    </a:p>
                  </a:txBody>
                  <a:tcPr marL="36576" marR="36576" marT="18288" marB="18288">
                    <a:solidFill>
                      <a:srgbClr val="FFFFFF"/>
                    </a:solidFill>
                  </a:tcPr>
                </a:tc>
                <a:tc>
                  <a:txBody>
                    <a:bodyPr/>
                    <a:lstStyle/>
                    <a:p>
                      <a:r>
                        <a:rPr sz="1000">
                          <a:solidFill>
                            <a:srgbClr val="111111"/>
                          </a:solidFill>
                          <a:latin typeface="Calibri"/>
                        </a:rPr>
                        <a:t>21.0%</a:t>
                      </a:r>
                    </a:p>
                  </a:txBody>
                  <a:tcPr marL="36576" marR="36576" marT="18288" marB="18288">
                    <a:solidFill>
                      <a:srgbClr val="FFFFFF"/>
                    </a:solidFill>
                  </a:tcPr>
                </a:tc>
                <a:tc>
                  <a:txBody>
                    <a:bodyPr/>
                    <a:lstStyle/>
                    <a:p>
                      <a:r>
                        <a:rPr sz="1000">
                          <a:solidFill>
                            <a:srgbClr val="111111"/>
                          </a:solidFill>
                          <a:latin typeface="Calibri"/>
                        </a:rPr>
                        <a:t>19.0%</a:t>
                      </a:r>
                    </a:p>
                  </a:txBody>
                  <a:tcPr marL="36576" marR="36576" marT="18288" marB="18288">
                    <a:solidFill>
                      <a:srgbClr val="FFFFFF"/>
                    </a:solidFill>
                  </a:tcPr>
                </a:tc>
                <a:tc>
                  <a:txBody>
                    <a:bodyPr/>
                    <a:lstStyle/>
                    <a:p>
                      <a:r>
                        <a:rPr sz="1000">
                          <a:solidFill>
                            <a:srgbClr val="111111"/>
                          </a:solidFill>
                          <a:latin typeface="Calibri"/>
                        </a:rPr>
                        <a:t>18.0%</a:t>
                      </a:r>
                    </a:p>
                  </a:txBody>
                  <a:tcPr marL="36576" marR="36576" marT="18288" marB="18288">
                    <a:solidFill>
                      <a:srgbClr val="FFFFFF"/>
                    </a:solidFill>
                  </a:tcPr>
                </a:tc>
                <a:tc>
                  <a:txBody>
                    <a:bodyPr/>
                    <a:lstStyle/>
                    <a:p>
                      <a:r>
                        <a:rPr sz="1000">
                          <a:solidFill>
                            <a:srgbClr val="111111"/>
                          </a:solidFill>
                          <a:latin typeface="Calibri"/>
                        </a:rPr>
                        <a:t>18.0%</a:t>
                      </a:r>
                    </a:p>
                  </a:txBody>
                  <a:tcPr marL="36576" marR="36576" marT="18288" marB="18288">
                    <a:solidFill>
                      <a:srgbClr val="FFFFFF"/>
                    </a:solidFill>
                  </a:tcPr>
                </a:tc>
                <a:tc>
                  <a:txBody>
                    <a:bodyPr/>
                    <a:lstStyle/>
                    <a:p>
                      <a:r>
                        <a:rPr sz="1000">
                          <a:solidFill>
                            <a:srgbClr val="111111"/>
                          </a:solidFill>
                          <a:latin typeface="Calibri"/>
                        </a:rPr>
                        <a:t>19.0%</a:t>
                      </a:r>
                    </a:p>
                  </a:txBody>
                  <a:tcPr marL="36576" marR="36576" marT="18288" marB="18288">
                    <a:solidFill>
                      <a:srgbClr val="FFFFFF"/>
                    </a:solidFill>
                  </a:tcPr>
                </a:tc>
              </a:tr>
              <a:tr h="472440">
                <a:tc>
                  <a:txBody>
                    <a:bodyPr/>
                    <a:lstStyle/>
                    <a:p>
                      <a:r>
                        <a:rPr sz="1000">
                          <a:solidFill>
                            <a:srgbClr val="111111"/>
                          </a:solidFill>
                          <a:latin typeface="Calibri"/>
                        </a:rPr>
                        <a:t>RoIC</a:t>
                      </a:r>
                    </a:p>
                  </a:txBody>
                  <a:tcPr marL="36576" marR="36576" marT="18288" marB="18288"/>
                </a:tc>
                <a:tc>
                  <a:txBody>
                    <a:bodyPr/>
                    <a:lstStyle/>
                    <a:p>
                      <a:r>
                        <a:rPr sz="1000">
                          <a:solidFill>
                            <a:srgbClr val="111111"/>
                          </a:solidFill>
                          <a:latin typeface="Calibri"/>
                        </a:rPr>
                        <a:t>92.0%</a:t>
                      </a:r>
                    </a:p>
                  </a:txBody>
                  <a:tcPr marL="36576" marR="36576" marT="18288" marB="18288"/>
                </a:tc>
                <a:tc>
                  <a:txBody>
                    <a:bodyPr/>
                    <a:lstStyle/>
                    <a:p>
                      <a:r>
                        <a:rPr sz="1000">
                          <a:solidFill>
                            <a:srgbClr val="111111"/>
                          </a:solidFill>
                          <a:latin typeface="Calibri"/>
                        </a:rPr>
                        <a:t>78.0%</a:t>
                      </a:r>
                    </a:p>
                  </a:txBody>
                  <a:tcPr marL="36576" marR="36576" marT="18288" marB="18288"/>
                </a:tc>
                <a:tc>
                  <a:txBody>
                    <a:bodyPr/>
                    <a:lstStyle/>
                    <a:p>
                      <a:r>
                        <a:rPr sz="1000">
                          <a:solidFill>
                            <a:srgbClr val="111111"/>
                          </a:solidFill>
                          <a:latin typeface="Calibri"/>
                        </a:rPr>
                        <a:t>119.0%</a:t>
                      </a:r>
                    </a:p>
                  </a:txBody>
                  <a:tcPr marL="36576" marR="36576" marT="18288" marB="18288"/>
                </a:tc>
                <a:tc>
                  <a:txBody>
                    <a:bodyPr/>
                    <a:lstStyle/>
                    <a:p>
                      <a:r>
                        <a:rPr sz="1000">
                          <a:solidFill>
                            <a:srgbClr val="111111"/>
                          </a:solidFill>
                          <a:latin typeface="Calibri"/>
                        </a:rPr>
                        <a:t>87.0%</a:t>
                      </a:r>
                    </a:p>
                  </a:txBody>
                  <a:tcPr marL="36576" marR="36576" marT="18288" marB="18288"/>
                </a:tc>
                <a:tc>
                  <a:txBody>
                    <a:bodyPr/>
                    <a:lstStyle/>
                    <a:p>
                      <a:r>
                        <a:rPr sz="1000">
                          <a:solidFill>
                            <a:srgbClr val="111111"/>
                          </a:solidFill>
                          <a:latin typeface="Calibri"/>
                        </a:rPr>
                        <a:t>35.0%</a:t>
                      </a:r>
                    </a:p>
                  </a:txBody>
                  <a:tcPr marL="36576" marR="36576" marT="18288" marB="18288"/>
                </a:tc>
                <a:tc>
                  <a:txBody>
                    <a:bodyPr/>
                    <a:lstStyle/>
                    <a:p>
                      <a:r>
                        <a:rPr sz="1000">
                          <a:solidFill>
                            <a:srgbClr val="111111"/>
                          </a:solidFill>
                          <a:latin typeface="Calibri"/>
                        </a:rPr>
                        <a:t>24.0%</a:t>
                      </a:r>
                    </a:p>
                  </a:txBody>
                  <a:tcPr marL="36576" marR="36576" marT="18288" marB="18288"/>
                </a:tc>
                <a:tc>
                  <a:txBody>
                    <a:bodyPr/>
                    <a:lstStyle/>
                    <a:p>
                      <a:r>
                        <a:rPr sz="1000">
                          <a:solidFill>
                            <a:srgbClr val="111111"/>
                          </a:solidFill>
                          <a:latin typeface="Calibri"/>
                        </a:rPr>
                        <a:t>24.0%</a:t>
                      </a:r>
                    </a:p>
                  </a:txBody>
                  <a:tcPr marL="36576" marR="36576" marT="18288" marB="18288"/>
                </a:tc>
              </a:tr>
              <a:tr h="472440">
                <a:tc>
                  <a:txBody>
                    <a:bodyPr/>
                    <a:lstStyle/>
                    <a:p>
                      <a:r>
                        <a:rPr sz="1000">
                          <a:solidFill>
                            <a:srgbClr val="111111"/>
                          </a:solidFill>
                          <a:latin typeface="Calibri"/>
                        </a:rPr>
                        <a:t>P/E</a:t>
                      </a:r>
                    </a:p>
                  </a:txBody>
                  <a:tcPr marL="36576" marR="36576" marT="18288" marB="18288">
                    <a:solidFill>
                      <a:srgbClr val="FFFFFF"/>
                    </a:solidFill>
                  </a:tcPr>
                </a:tc>
                <a:tc>
                  <a:txBody>
                    <a:bodyPr/>
                    <a:lstStyle/>
                    <a:p>
                      <a:r>
                        <a:rPr sz="1000">
                          <a:solidFill>
                            <a:srgbClr val="111111"/>
                          </a:solidFill>
                          <a:latin typeface="Calibri"/>
                        </a:rPr>
                        <a:t>37.5x</a:t>
                      </a:r>
                    </a:p>
                  </a:txBody>
                  <a:tcPr marL="36576" marR="36576" marT="18288" marB="18288">
                    <a:solidFill>
                      <a:srgbClr val="FFFFFF"/>
                    </a:solidFill>
                  </a:tcPr>
                </a:tc>
                <a:tc>
                  <a:txBody>
                    <a:bodyPr/>
                    <a:lstStyle/>
                    <a:p>
                      <a:r>
                        <a:rPr sz="1000">
                          <a:solidFill>
                            <a:srgbClr val="111111"/>
                          </a:solidFill>
                          <a:latin typeface="Calibri"/>
                        </a:rPr>
                        <a:t>52.3x</a:t>
                      </a:r>
                    </a:p>
                  </a:txBody>
                  <a:tcPr marL="36576" marR="36576" marT="18288" marB="18288">
                    <a:solidFill>
                      <a:srgbClr val="FFFFFF"/>
                    </a:solidFill>
                  </a:tcPr>
                </a:tc>
                <a:tc>
                  <a:txBody>
                    <a:bodyPr/>
                    <a:lstStyle/>
                    <a:p>
                      <a:r>
                        <a:rPr sz="1000">
                          <a:solidFill>
                            <a:srgbClr val="111111"/>
                          </a:solidFill>
                          <a:latin typeface="Calibri"/>
                        </a:rPr>
                        <a:t>20.1x</a:t>
                      </a:r>
                    </a:p>
                  </a:txBody>
                  <a:tcPr marL="36576" marR="36576" marT="18288" marB="18288">
                    <a:solidFill>
                      <a:srgbClr val="FFFFFF"/>
                    </a:solidFill>
                  </a:tcPr>
                </a:tc>
                <a:tc>
                  <a:txBody>
                    <a:bodyPr/>
                    <a:lstStyle/>
                    <a:p>
                      <a:r>
                        <a:rPr sz="1000">
                          <a:solidFill>
                            <a:srgbClr val="111111"/>
                          </a:solidFill>
                          <a:latin typeface="Calibri"/>
                        </a:rPr>
                        <a:t>19.7x</a:t>
                      </a:r>
                    </a:p>
                  </a:txBody>
                  <a:tcPr marL="36576" marR="36576" marT="18288" marB="18288">
                    <a:solidFill>
                      <a:srgbClr val="FFFFFF"/>
                    </a:solidFill>
                  </a:tcPr>
                </a:tc>
                <a:tc>
                  <a:txBody>
                    <a:bodyPr/>
                    <a:lstStyle/>
                    <a:p>
                      <a:r>
                        <a:rPr sz="1000">
                          <a:solidFill>
                            <a:srgbClr val="111111"/>
                          </a:solidFill>
                          <a:latin typeface="Calibri"/>
                        </a:rPr>
                        <a:t>16.1x</a:t>
                      </a:r>
                    </a:p>
                  </a:txBody>
                  <a:tcPr marL="36576" marR="36576" marT="18288" marB="18288">
                    <a:solidFill>
                      <a:srgbClr val="FFFFFF"/>
                    </a:solidFill>
                  </a:tcPr>
                </a:tc>
                <a:tc>
                  <a:txBody>
                    <a:bodyPr/>
                    <a:lstStyle/>
                    <a:p>
                      <a:r>
                        <a:rPr sz="1000">
                          <a:solidFill>
                            <a:srgbClr val="111111"/>
                          </a:solidFill>
                          <a:latin typeface="Calibri"/>
                        </a:rPr>
                        <a:t>12.4x</a:t>
                      </a:r>
                    </a:p>
                  </a:txBody>
                  <a:tcPr marL="36576" marR="36576" marT="18288" marB="18288">
                    <a:solidFill>
                      <a:srgbClr val="FFFFFF"/>
                    </a:solidFill>
                  </a:tcPr>
                </a:tc>
                <a:tc>
                  <a:txBody>
                    <a:bodyPr/>
                    <a:lstStyle/>
                    <a:p>
                      <a:r>
                        <a:rPr sz="1000">
                          <a:solidFill>
                            <a:srgbClr val="111111"/>
                          </a:solidFill>
                          <a:latin typeface="Calibri"/>
                        </a:rPr>
                        <a:t>9.6x</a:t>
                      </a:r>
                    </a:p>
                  </a:txBody>
                  <a:tcPr marL="36576" marR="36576" marT="18288" marB="18288">
                    <a:solidFill>
                      <a:srgbClr val="FFFFFF"/>
                    </a:solidFill>
                  </a:tcPr>
                </a:tc>
              </a:tr>
              <a:tr h="472440">
                <a:tc>
                  <a:txBody>
                    <a:bodyPr/>
                    <a:lstStyle/>
                    <a:p>
                      <a:r>
                        <a:rPr sz="1000">
                          <a:solidFill>
                            <a:srgbClr val="111111"/>
                          </a:solidFill>
                          <a:latin typeface="Calibri"/>
                        </a:rPr>
                        <a:t>P/B</a:t>
                      </a:r>
                    </a:p>
                  </a:txBody>
                  <a:tcPr marL="36576" marR="36576" marT="18288" marB="18288"/>
                </a:tc>
                <a:tc>
                  <a:txBody>
                    <a:bodyPr/>
                    <a:lstStyle/>
                    <a:p>
                      <a:r>
                        <a:rPr sz="1000">
                          <a:solidFill>
                            <a:srgbClr val="111111"/>
                          </a:solidFill>
                          <a:latin typeface="Calibri"/>
                        </a:rPr>
                        <a:t>8.7x</a:t>
                      </a:r>
                    </a:p>
                  </a:txBody>
                  <a:tcPr marL="36576" marR="36576" marT="18288" marB="18288"/>
                </a:tc>
                <a:tc>
                  <a:txBody>
                    <a:bodyPr/>
                    <a:lstStyle/>
                    <a:p>
                      <a:r>
                        <a:rPr sz="1000">
                          <a:solidFill>
                            <a:srgbClr val="111111"/>
                          </a:solidFill>
                          <a:latin typeface="Calibri"/>
                        </a:rPr>
                        <a:t>7.8x</a:t>
                      </a:r>
                    </a:p>
                  </a:txBody>
                  <a:tcPr marL="36576" marR="36576" marT="18288" marB="18288"/>
                </a:tc>
                <a:tc>
                  <a:txBody>
                    <a:bodyPr/>
                    <a:lstStyle/>
                    <a:p>
                      <a:r>
                        <a:rPr sz="1000">
                          <a:solidFill>
                            <a:srgbClr val="111111"/>
                          </a:solidFill>
                          <a:latin typeface="Calibri"/>
                        </a:rPr>
                        <a:t>5.6x</a:t>
                      </a:r>
                    </a:p>
                  </a:txBody>
                  <a:tcPr marL="36576" marR="36576" marT="18288" marB="18288"/>
                </a:tc>
                <a:tc>
                  <a:txBody>
                    <a:bodyPr/>
                    <a:lstStyle/>
                    <a:p>
                      <a:r>
                        <a:rPr sz="1000">
                          <a:solidFill>
                            <a:srgbClr val="111111"/>
                          </a:solidFill>
                          <a:latin typeface="Calibri"/>
                        </a:rPr>
                        <a:t>4.5x</a:t>
                      </a:r>
                    </a:p>
                  </a:txBody>
                  <a:tcPr marL="36576" marR="36576" marT="18288" marB="18288"/>
                </a:tc>
                <a:tc>
                  <a:txBody>
                    <a:bodyPr/>
                    <a:lstStyle/>
                    <a:p>
                      <a:r>
                        <a:rPr sz="1000">
                          <a:solidFill>
                            <a:srgbClr val="111111"/>
                          </a:solidFill>
                          <a:latin typeface="Calibri"/>
                        </a:rPr>
                        <a:t>3.6x</a:t>
                      </a:r>
                    </a:p>
                  </a:txBody>
                  <a:tcPr marL="36576" marR="36576" marT="18288" marB="18288"/>
                </a:tc>
                <a:tc>
                  <a:txBody>
                    <a:bodyPr/>
                    <a:lstStyle/>
                    <a:p>
                      <a:r>
                        <a:rPr sz="1000">
                          <a:solidFill>
                            <a:srgbClr val="111111"/>
                          </a:solidFill>
                          <a:latin typeface="Calibri"/>
                        </a:rPr>
                        <a:t>2.9x</a:t>
                      </a:r>
                    </a:p>
                  </a:txBody>
                  <a:tcPr marL="36576" marR="36576" marT="18288" marB="18288"/>
                </a:tc>
                <a:tc>
                  <a:txBody>
                    <a:bodyPr/>
                    <a:lstStyle/>
                    <a:p>
                      <a:r>
                        <a:rPr sz="1000">
                          <a:solidFill>
                            <a:srgbClr val="111111"/>
                          </a:solidFill>
                          <a:latin typeface="Calibri"/>
                        </a:rPr>
                        <a:t>2.3x</a:t>
                      </a:r>
                    </a:p>
                  </a:txBody>
                  <a:tcPr marL="36576" marR="36576" marT="18288" marB="18288"/>
                </a:tc>
              </a:tr>
              <a:tr h="472440">
                <a:tc>
                  <a:txBody>
                    <a:bodyPr/>
                    <a:lstStyle/>
                    <a:p>
                      <a:r>
                        <a:rPr sz="1000">
                          <a:solidFill>
                            <a:srgbClr val="111111"/>
                          </a:solidFill>
                          <a:latin typeface="Calibri"/>
                        </a:rPr>
                        <a:t>EV/EBITDA</a:t>
                      </a:r>
                    </a:p>
                  </a:txBody>
                  <a:tcPr marL="36576" marR="36576" marT="18288" marB="18288">
                    <a:solidFill>
                      <a:srgbClr val="FFFFFF"/>
                    </a:solidFill>
                  </a:tcPr>
                </a:tc>
                <a:tc>
                  <a:txBody>
                    <a:bodyPr/>
                    <a:lstStyle/>
                    <a:p>
                      <a:r>
                        <a:rPr sz="1000">
                          <a:solidFill>
                            <a:srgbClr val="111111"/>
                          </a:solidFill>
                          <a:latin typeface="Calibri"/>
                        </a:rPr>
                        <a:t>9.0x</a:t>
                      </a:r>
                    </a:p>
                  </a:txBody>
                  <a:tcPr marL="36576" marR="36576" marT="18288" marB="18288">
                    <a:solidFill>
                      <a:srgbClr val="FFFFFF"/>
                    </a:solidFill>
                  </a:tcPr>
                </a:tc>
                <a:tc>
                  <a:txBody>
                    <a:bodyPr/>
                    <a:lstStyle/>
                    <a:p>
                      <a:r>
                        <a:rPr sz="1000">
                          <a:solidFill>
                            <a:srgbClr val="111111"/>
                          </a:solidFill>
                          <a:latin typeface="Calibri"/>
                        </a:rPr>
                        <a:t>10.3x</a:t>
                      </a:r>
                    </a:p>
                  </a:txBody>
                  <a:tcPr marL="36576" marR="36576" marT="18288" marB="18288">
                    <a:solidFill>
                      <a:srgbClr val="FFFFFF"/>
                    </a:solidFill>
                  </a:tcPr>
                </a:tc>
                <a:tc>
                  <a:txBody>
                    <a:bodyPr/>
                    <a:lstStyle/>
                    <a:p>
                      <a:r>
                        <a:rPr sz="1000">
                          <a:solidFill>
                            <a:srgbClr val="111111"/>
                          </a:solidFill>
                          <a:latin typeface="Calibri"/>
                        </a:rPr>
                        <a:t>9.5x</a:t>
                      </a:r>
                    </a:p>
                  </a:txBody>
                  <a:tcPr marL="36576" marR="36576" marT="18288" marB="18288">
                    <a:solidFill>
                      <a:srgbClr val="FFFFFF"/>
                    </a:solidFill>
                  </a:tcPr>
                </a:tc>
                <a:tc>
                  <a:txBody>
                    <a:bodyPr/>
                    <a:lstStyle/>
                    <a:p>
                      <a:r>
                        <a:rPr sz="1000">
                          <a:solidFill>
                            <a:srgbClr val="111111"/>
                          </a:solidFill>
                          <a:latin typeface="Calibri"/>
                        </a:rPr>
                        <a:t>11.4x</a:t>
                      </a:r>
                    </a:p>
                  </a:txBody>
                  <a:tcPr marL="36576" marR="36576" marT="18288" marB="18288">
                    <a:solidFill>
                      <a:srgbClr val="FFFFFF"/>
                    </a:solidFill>
                  </a:tcPr>
                </a:tc>
                <a:tc>
                  <a:txBody>
                    <a:bodyPr/>
                    <a:lstStyle/>
                    <a:p>
                      <a:r>
                        <a:rPr sz="1000">
                          <a:solidFill>
                            <a:srgbClr val="111111"/>
                          </a:solidFill>
                          <a:latin typeface="Calibri"/>
                        </a:rPr>
                        <a:t>12.7x</a:t>
                      </a:r>
                    </a:p>
                  </a:txBody>
                  <a:tcPr marL="36576" marR="36576" marT="18288" marB="18288">
                    <a:solidFill>
                      <a:srgbClr val="FFFFFF"/>
                    </a:solidFill>
                  </a:tcPr>
                </a:tc>
                <a:tc>
                  <a:txBody>
                    <a:bodyPr/>
                    <a:lstStyle/>
                    <a:p>
                      <a:r>
                        <a:rPr sz="1000">
                          <a:solidFill>
                            <a:srgbClr val="111111"/>
                          </a:solidFill>
                          <a:latin typeface="Calibri"/>
                        </a:rPr>
                        <a:t>10.5x</a:t>
                      </a:r>
                    </a:p>
                  </a:txBody>
                  <a:tcPr marL="36576" marR="36576" marT="18288" marB="18288">
                    <a:solidFill>
                      <a:srgbClr val="FFFFFF"/>
                    </a:solidFill>
                  </a:tcPr>
                </a:tc>
                <a:tc>
                  <a:txBody>
                    <a:bodyPr/>
                    <a:lstStyle/>
                    <a:p>
                      <a:r>
                        <a:rPr sz="1000">
                          <a:solidFill>
                            <a:srgbClr val="111111"/>
                          </a:solidFill>
                          <a:latin typeface="Calibri"/>
                        </a:rPr>
                        <a:t>8.8x</a:t>
                      </a:r>
                    </a:p>
                  </a:txBody>
                  <a:tcPr marL="36576" marR="36576" marT="18288" marB="18288">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Valuation — Methods Summary</a:t>
            </a:r>
          </a:p>
        </p:txBody>
      </p:sp>
      <p:sp>
        <p:nvSpPr>
          <p:cNvPr id="11" name="TextBox 10"/>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Probability-weighted target price reconciles bull, base, and bear cases.</a:t>
            </a:r>
          </a:p>
        </p:txBody>
      </p:sp>
      <p:graphicFrame>
        <p:nvGraphicFramePr>
          <p:cNvPr id="12" name="Table 11"/>
          <p:cNvGraphicFramePr>
            <a:graphicFrameLocks noGrp="1"/>
          </p:cNvGraphicFramePr>
          <p:nvPr/>
        </p:nvGraphicFramePr>
        <p:xfrm>
          <a:off x="457200" y="2194560"/>
          <a:ext cx="11277292" cy="3108960"/>
        </p:xfrm>
        <a:graphic>
          <a:graphicData uri="http://schemas.openxmlformats.org/drawingml/2006/table">
            <a:tbl>
              <a:tblPr firstRow="1" bandRow="1">
                <a:tableStyleId>{5C22544A-7EE6-4342-B048-85BDC9FD1C3A}</a:tableStyleId>
              </a:tblPr>
              <a:tblGrid>
                <a:gridCol w="2819323"/>
                <a:gridCol w="2819323"/>
                <a:gridCol w="2819323"/>
                <a:gridCol w="2819323"/>
              </a:tblGrid>
              <a:tr h="777240">
                <a:tc>
                  <a:txBody>
                    <a:bodyPr/>
                    <a:lstStyle/>
                    <a:p>
                      <a:r>
                        <a:rPr b="1" sz="1200">
                          <a:solidFill>
                            <a:srgbClr val="FFFFFF"/>
                          </a:solidFill>
                          <a:latin typeface="Calibri"/>
                        </a:rPr>
                        <a:t>Case</a:t>
                      </a:r>
                    </a:p>
                  </a:txBody>
                  <a:tcPr marL="36576" marR="36576" marT="18288" marB="18288">
                    <a:solidFill>
                      <a:srgbClr val="1F4690"/>
                    </a:solidFill>
                  </a:tcPr>
                </a:tc>
                <a:tc>
                  <a:txBody>
                    <a:bodyPr/>
                    <a:lstStyle/>
                    <a:p>
                      <a:r>
                        <a:rPr b="1" sz="1200">
                          <a:solidFill>
                            <a:srgbClr val="FFFFFF"/>
                          </a:solidFill>
                          <a:latin typeface="Calibri"/>
                        </a:rPr>
                        <a:t>Target</a:t>
                      </a:r>
                    </a:p>
                  </a:txBody>
                  <a:tcPr marL="36576" marR="36576" marT="18288" marB="18288">
                    <a:solidFill>
                      <a:srgbClr val="1F4690"/>
                    </a:solidFill>
                  </a:tcPr>
                </a:tc>
                <a:tc>
                  <a:txBody>
                    <a:bodyPr/>
                    <a:lstStyle/>
                    <a:p>
                      <a:r>
                        <a:rPr b="1" sz="1200">
                          <a:solidFill>
                            <a:srgbClr val="FFFFFF"/>
                          </a:solidFill>
                          <a:latin typeface="Calibri"/>
                        </a:rPr>
                        <a:t>Weight</a:t>
                      </a:r>
                    </a:p>
                  </a:txBody>
                  <a:tcPr marL="36576" marR="36576" marT="18288" marB="18288">
                    <a:solidFill>
                      <a:srgbClr val="1F4690"/>
                    </a:solidFill>
                  </a:tcPr>
                </a:tc>
                <a:tc>
                  <a:txBody>
                    <a:bodyPr/>
                    <a:lstStyle/>
                    <a:p>
                      <a:r>
                        <a:rPr b="1" sz="1200">
                          <a:solidFill>
                            <a:srgbClr val="FFFFFF"/>
                          </a:solidFill>
                          <a:latin typeface="Calibri"/>
                        </a:rPr>
                        <a:t>Basis</a:t>
                      </a:r>
                    </a:p>
                  </a:txBody>
                  <a:tcPr marL="36576" marR="36576" marT="18288" marB="18288">
                    <a:solidFill>
                      <a:srgbClr val="1F4690"/>
                    </a:solidFill>
                  </a:tcPr>
                </a:tc>
              </a:tr>
              <a:tr h="777240">
                <a:tc>
                  <a:txBody>
                    <a:bodyPr/>
                    <a:lstStyle/>
                    <a:p>
                      <a:r>
                        <a:rPr sz="1200">
                          <a:solidFill>
                            <a:srgbClr val="111111"/>
                          </a:solidFill>
                          <a:latin typeface="Calibri"/>
                        </a:rPr>
                        <a:t>Bull Case</a:t>
                      </a:r>
                    </a:p>
                  </a:txBody>
                  <a:tcPr marL="36576" marR="36576" marT="18288" marB="18288"/>
                </a:tc>
                <a:tc>
                  <a:txBody>
                    <a:bodyPr/>
                    <a:lstStyle/>
                    <a:p>
                      <a:r>
                        <a:rPr sz="1200">
                          <a:solidFill>
                            <a:srgbClr val="111111"/>
                          </a:solidFill>
                          <a:latin typeface="Calibri"/>
                        </a:rPr>
                        <a:t>1,400.0</a:t>
                      </a:r>
                    </a:p>
                  </a:txBody>
                  <a:tcPr marL="36576" marR="36576" marT="18288" marB="18288"/>
                </a:tc>
                <a:tc>
                  <a:txBody>
                    <a:bodyPr/>
                    <a:lstStyle/>
                    <a:p>
                      <a:r>
                        <a:rPr sz="1200">
                          <a:solidFill>
                            <a:srgbClr val="111111"/>
                          </a:solidFill>
                          <a:latin typeface="Calibri"/>
                        </a:rPr>
                        <a:t>30.0%</a:t>
                      </a:r>
                    </a:p>
                  </a:txBody>
                  <a:tcPr marL="36576" marR="36576" marT="18288" marB="18288"/>
                </a:tc>
                <a:tc>
                  <a:txBody>
                    <a:bodyPr/>
                    <a:lstStyle/>
                    <a:p>
                      <a:r>
                        <a:rPr sz="1200">
                          <a:solidFill>
                            <a:srgbClr val="111111"/>
                          </a:solidFill>
                          <a:latin typeface="Calibri"/>
                        </a:rPr>
                        <a:t>28x P/E on FY27E EPS of INR 50; ARR &gt; 70%, AMC +40% YoY.</a:t>
                      </a:r>
                    </a:p>
                  </a:txBody>
                  <a:tcPr marL="36576" marR="36576" marT="18288" marB="18288"/>
                </a:tc>
              </a:tr>
              <a:tr h="777240">
                <a:tc>
                  <a:txBody>
                    <a:bodyPr/>
                    <a:lstStyle/>
                    <a:p>
                      <a:r>
                        <a:rPr sz="1200">
                          <a:solidFill>
                            <a:srgbClr val="111111"/>
                          </a:solidFill>
                          <a:latin typeface="Calibri"/>
                        </a:rPr>
                        <a:t>Base Case</a:t>
                      </a:r>
                    </a:p>
                  </a:txBody>
                  <a:tcPr marL="36576" marR="36576" marT="18288" marB="18288">
                    <a:solidFill>
                      <a:srgbClr val="FFFFFF"/>
                    </a:solidFill>
                  </a:tcPr>
                </a:tc>
                <a:tc>
                  <a:txBody>
                    <a:bodyPr/>
                    <a:lstStyle/>
                    <a:p>
                      <a:r>
                        <a:rPr sz="1200">
                          <a:solidFill>
                            <a:srgbClr val="111111"/>
                          </a:solidFill>
                          <a:latin typeface="Calibri"/>
                        </a:rPr>
                        <a:t>1,127.0</a:t>
                      </a:r>
                    </a:p>
                  </a:txBody>
                  <a:tcPr marL="36576" marR="36576" marT="18288" marB="18288">
                    <a:solidFill>
                      <a:srgbClr val="FFFFFF"/>
                    </a:solidFill>
                  </a:tcPr>
                </a:tc>
                <a:tc>
                  <a:txBody>
                    <a:bodyPr/>
                    <a:lstStyle/>
                    <a:p>
                      <a:r>
                        <a:rPr sz="1200">
                          <a:solidFill>
                            <a:srgbClr val="111111"/>
                          </a:solidFill>
                          <a:latin typeface="Calibri"/>
                        </a:rPr>
                        <a:t>50.0%</a:t>
                      </a:r>
                    </a:p>
                  </a:txBody>
                  <a:tcPr marL="36576" marR="36576" marT="18288" marB="18288">
                    <a:solidFill>
                      <a:srgbClr val="FFFFFF"/>
                    </a:solidFill>
                  </a:tcPr>
                </a:tc>
                <a:tc>
                  <a:txBody>
                    <a:bodyPr/>
                    <a:lstStyle/>
                    <a:p>
                      <a:r>
                        <a:rPr sz="1200">
                          <a:solidFill>
                            <a:srgbClr val="111111"/>
                          </a:solidFill>
                          <a:latin typeface="Calibri"/>
                        </a:rPr>
                        <a:t>24x P/E on FY27E EPS of INR 47; ARR stable at 65%, steady AUM.</a:t>
                      </a:r>
                    </a:p>
                  </a:txBody>
                  <a:tcPr marL="36576" marR="36576" marT="18288" marB="18288">
                    <a:solidFill>
                      <a:srgbClr val="FFFFFF"/>
                    </a:solidFill>
                  </a:tcPr>
                </a:tc>
              </a:tr>
              <a:tr h="777240">
                <a:tc>
                  <a:txBody>
                    <a:bodyPr/>
                    <a:lstStyle/>
                    <a:p>
                      <a:r>
                        <a:rPr sz="1200">
                          <a:solidFill>
                            <a:srgbClr val="111111"/>
                          </a:solidFill>
                          <a:latin typeface="Calibri"/>
                        </a:rPr>
                        <a:t>Bear Case</a:t>
                      </a:r>
                    </a:p>
                  </a:txBody>
                  <a:tcPr marL="36576" marR="36576" marT="18288" marB="18288"/>
                </a:tc>
                <a:tc>
                  <a:txBody>
                    <a:bodyPr/>
                    <a:lstStyle/>
                    <a:p>
                      <a:r>
                        <a:rPr sz="1200">
                          <a:solidFill>
                            <a:srgbClr val="111111"/>
                          </a:solidFill>
                          <a:latin typeface="Calibri"/>
                        </a:rPr>
                        <a:t>630.0</a:t>
                      </a:r>
                    </a:p>
                  </a:txBody>
                  <a:tcPr marL="36576" marR="36576" marT="18288" marB="18288"/>
                </a:tc>
                <a:tc>
                  <a:txBody>
                    <a:bodyPr/>
                    <a:lstStyle/>
                    <a:p>
                      <a:r>
                        <a:rPr sz="1200">
                          <a:solidFill>
                            <a:srgbClr val="111111"/>
                          </a:solidFill>
                          <a:latin typeface="Calibri"/>
                        </a:rPr>
                        <a:t>20.0%</a:t>
                      </a:r>
                    </a:p>
                  </a:txBody>
                  <a:tcPr marL="36576" marR="36576" marT="18288" marB="18288"/>
                </a:tc>
                <a:tc>
                  <a:txBody>
                    <a:bodyPr/>
                    <a:lstStyle/>
                    <a:p>
                      <a:r>
                        <a:rPr sz="1200">
                          <a:solidFill>
                            <a:srgbClr val="111111"/>
                          </a:solidFill>
                          <a:latin typeface="Calibri"/>
                        </a:rPr>
                        <a:t>18x P/E on depressed FY27E EPS of INR 35; sustained regulatory headwinds.</a:t>
                      </a:r>
                    </a:p>
                  </a:txBody>
                  <a:tcPr marL="36576" marR="36576" marT="18288" marB="18288"/>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Scenario Analysis</a:t>
            </a:r>
          </a:p>
        </p:txBody>
      </p:sp>
      <p:graphicFrame>
        <p:nvGraphicFramePr>
          <p:cNvPr id="11" name="Table 10"/>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49"/>
              </a:tblGrid>
              <a:tr h="1257300">
                <a:tc>
                  <a:txBody>
                    <a:bodyPr/>
                    <a:lstStyle/>
                    <a:p>
                      <a:r>
                        <a:rPr b="1" sz="1200">
                          <a:solidFill>
                            <a:srgbClr val="FFFFFF"/>
                          </a:solidFill>
                          <a:latin typeface="Calibri"/>
                        </a:rPr>
                        <a:t>Case</a:t>
                      </a:r>
                    </a:p>
                  </a:txBody>
                  <a:tcPr marL="36576" marR="36576" marT="18288" marB="18288">
                    <a:solidFill>
                      <a:srgbClr val="1F4690"/>
                    </a:solidFill>
                  </a:tcPr>
                </a:tc>
                <a:tc>
                  <a:txBody>
                    <a:bodyPr/>
                    <a:lstStyle/>
                    <a:p>
                      <a:r>
                        <a:rPr b="1" sz="1200">
                          <a:solidFill>
                            <a:srgbClr val="FFFFFF"/>
                          </a:solidFill>
                          <a:latin typeface="Calibri"/>
                        </a:rPr>
                        <a:t>Rev CAGR</a:t>
                      </a:r>
                    </a:p>
                  </a:txBody>
                  <a:tcPr marL="36576" marR="36576" marT="18288" marB="18288">
                    <a:solidFill>
                      <a:srgbClr val="1F4690"/>
                    </a:solidFill>
                  </a:tcPr>
                </a:tc>
                <a:tc>
                  <a:txBody>
                    <a:bodyPr/>
                    <a:lstStyle/>
                    <a:p>
                      <a:r>
                        <a:rPr b="1" sz="1200">
                          <a:solidFill>
                            <a:srgbClr val="FFFFFF"/>
                          </a:solidFill>
                          <a:latin typeface="Calibri"/>
                        </a:rPr>
                        <a:t>EBITDA Mgn</a:t>
                      </a:r>
                    </a:p>
                  </a:txBody>
                  <a:tcPr marL="36576" marR="36576" marT="18288" marB="18288">
                    <a:solidFill>
                      <a:srgbClr val="1F4690"/>
                    </a:solidFill>
                  </a:tcPr>
                </a:tc>
                <a:tc>
                  <a:txBody>
                    <a:bodyPr/>
                    <a:lstStyle/>
                    <a:p>
                      <a:r>
                        <a:rPr b="1" sz="1200">
                          <a:solidFill>
                            <a:srgbClr val="FFFFFF"/>
                          </a:solidFill>
                          <a:latin typeface="Calibri"/>
                        </a:rPr>
                        <a:t>Target Price</a:t>
                      </a:r>
                    </a:p>
                  </a:txBody>
                  <a:tcPr marL="36576" marR="36576" marT="18288" marB="18288">
                    <a:solidFill>
                      <a:srgbClr val="1F4690"/>
                    </a:solidFill>
                  </a:tcPr>
                </a:tc>
                <a:tc>
                  <a:txBody>
                    <a:bodyPr/>
                    <a:lstStyle/>
                    <a:p>
                      <a:r>
                        <a:rPr b="1" sz="1200">
                          <a:solidFill>
                            <a:srgbClr val="FFFFFF"/>
                          </a:solidFill>
                          <a:latin typeface="Calibri"/>
                        </a:rPr>
                        <a:t>Probability</a:t>
                      </a:r>
                    </a:p>
                  </a:txBody>
                  <a:tcPr marL="36576" marR="36576" marT="18288" marB="18288">
                    <a:solidFill>
                      <a:srgbClr val="1F4690"/>
                    </a:solidFill>
                  </a:tcPr>
                </a:tc>
                <a:tc>
                  <a:txBody>
                    <a:bodyPr/>
                    <a:lstStyle/>
                    <a:p>
                      <a:r>
                        <a:rPr b="1" sz="1200">
                          <a:solidFill>
                            <a:srgbClr val="FFFFFF"/>
                          </a:solidFill>
                          <a:latin typeface="Calibri"/>
                        </a:rPr>
                        <a:t>Drivers</a:t>
                      </a:r>
                    </a:p>
                  </a:txBody>
                  <a:tcPr marL="36576" marR="36576" marT="18288" marB="18288">
                    <a:solidFill>
                      <a:srgbClr val="1F4690"/>
                    </a:solidFill>
                  </a:tcPr>
                </a:tc>
              </a:tr>
              <a:tr h="1257300">
                <a:tc>
                  <a:txBody>
                    <a:bodyPr/>
                    <a:lstStyle/>
                    <a:p>
                      <a:r>
                        <a:rPr sz="1200">
                          <a:solidFill>
                            <a:srgbClr val="111111"/>
                          </a:solidFill>
                          <a:latin typeface="Calibri"/>
                        </a:rPr>
                        <a:t>Bull</a:t>
                      </a:r>
                    </a:p>
                  </a:txBody>
                  <a:tcPr marL="36576" marR="36576" marT="18288" marB="18288"/>
                </a:tc>
                <a:tc>
                  <a:txBody>
                    <a:bodyPr/>
                    <a:lstStyle/>
                    <a:p>
                      <a:r>
                        <a:rPr sz="1200">
                          <a:solidFill>
                            <a:srgbClr val="111111"/>
                          </a:solidFill>
                          <a:latin typeface="Calibri"/>
                        </a:rPr>
                        <a:t>27.5%</a:t>
                      </a:r>
                    </a:p>
                  </a:txBody>
                  <a:tcPr marL="36576" marR="36576" marT="18288" marB="18288"/>
                </a:tc>
                <a:tc>
                  <a:txBody>
                    <a:bodyPr/>
                    <a:lstStyle/>
                    <a:p>
                      <a:r>
                        <a:rPr sz="1200">
                          <a:solidFill>
                            <a:srgbClr val="111111"/>
                          </a:solidFill>
                          <a:latin typeface="Calibri"/>
                        </a:rPr>
                        <a:t>55.0%</a:t>
                      </a:r>
                    </a:p>
                  </a:txBody>
                  <a:tcPr marL="36576" marR="36576" marT="18288" marB="18288"/>
                </a:tc>
                <a:tc>
                  <a:txBody>
                    <a:bodyPr/>
                    <a:lstStyle/>
                    <a:p>
                      <a:r>
                        <a:rPr sz="1200">
                          <a:solidFill>
                            <a:srgbClr val="111111"/>
                          </a:solidFill>
                          <a:latin typeface="Calibri"/>
                        </a:rPr>
                        <a:t>1,400.0</a:t>
                      </a:r>
                    </a:p>
                  </a:txBody>
                  <a:tcPr marL="36576" marR="36576" marT="18288" marB="18288"/>
                </a:tc>
                <a:tc>
                  <a:txBody>
                    <a:bodyPr/>
                    <a:lstStyle/>
                    <a:p>
                      <a:r>
                        <a:rPr sz="1200">
                          <a:solidFill>
                            <a:srgbClr val="111111"/>
                          </a:solidFill>
                          <a:latin typeface="Calibri"/>
                        </a:rPr>
                        <a:t>30.0%</a:t>
                      </a:r>
                    </a:p>
                  </a:txBody>
                  <a:tcPr marL="36576" marR="36576" marT="18288" marB="18288"/>
                </a:tc>
                <a:tc>
                  <a:txBody>
                    <a:bodyPr/>
                    <a:lstStyle/>
                    <a:p>
                      <a:r>
                        <a:rPr sz="1200">
                          <a:solidFill>
                            <a:srgbClr val="111111"/>
                          </a:solidFill>
                          <a:latin typeface="Calibri"/>
                        </a:rPr>
                        <a:t>ARR &gt; 70%, AMC AUM +40% YoY, regulatory clarity.</a:t>
                      </a:r>
                    </a:p>
                  </a:txBody>
                  <a:tcPr marL="36576" marR="36576" marT="18288" marB="18288"/>
                </a:tc>
              </a:tr>
              <a:tr h="1257300">
                <a:tc>
                  <a:txBody>
                    <a:bodyPr/>
                    <a:lstStyle/>
                    <a:p>
                      <a:r>
                        <a:rPr sz="1200">
                          <a:solidFill>
                            <a:srgbClr val="111111"/>
                          </a:solidFill>
                          <a:latin typeface="Calibri"/>
                        </a:rPr>
                        <a:t>Base</a:t>
                      </a:r>
                    </a:p>
                  </a:txBody>
                  <a:tcPr marL="36576" marR="36576" marT="18288" marB="18288">
                    <a:solidFill>
                      <a:srgbClr val="FFFFFF"/>
                    </a:solidFill>
                  </a:tcPr>
                </a:tc>
                <a:tc>
                  <a:txBody>
                    <a:bodyPr/>
                    <a:lstStyle/>
                    <a:p>
                      <a:r>
                        <a:rPr sz="1200">
                          <a:solidFill>
                            <a:srgbClr val="111111"/>
                          </a:solidFill>
                          <a:latin typeface="Calibri"/>
                        </a:rPr>
                        <a:t>16.0%</a:t>
                      </a:r>
                    </a:p>
                  </a:txBody>
                  <a:tcPr marL="36576" marR="36576" marT="18288" marB="18288">
                    <a:solidFill>
                      <a:srgbClr val="FFFFFF"/>
                    </a:solidFill>
                  </a:tcPr>
                </a:tc>
                <a:tc>
                  <a:txBody>
                    <a:bodyPr/>
                    <a:lstStyle/>
                    <a:p>
                      <a:r>
                        <a:rPr sz="1200">
                          <a:solidFill>
                            <a:srgbClr val="111111"/>
                          </a:solidFill>
                          <a:latin typeface="Calibri"/>
                        </a:rPr>
                        <a:t>51.0%</a:t>
                      </a:r>
                    </a:p>
                  </a:txBody>
                  <a:tcPr marL="36576" marR="36576" marT="18288" marB="18288">
                    <a:solidFill>
                      <a:srgbClr val="FFFFFF"/>
                    </a:solidFill>
                  </a:tcPr>
                </a:tc>
                <a:tc>
                  <a:txBody>
                    <a:bodyPr/>
                    <a:lstStyle/>
                    <a:p>
                      <a:r>
                        <a:rPr sz="1200">
                          <a:solidFill>
                            <a:srgbClr val="111111"/>
                          </a:solidFill>
                          <a:latin typeface="Calibri"/>
                        </a:rPr>
                        <a:t>1,127.0</a:t>
                      </a:r>
                    </a:p>
                  </a:txBody>
                  <a:tcPr marL="36576" marR="36576" marT="18288" marB="18288">
                    <a:solidFill>
                      <a:srgbClr val="FFFFFF"/>
                    </a:solidFill>
                  </a:tcPr>
                </a:tc>
                <a:tc>
                  <a:txBody>
                    <a:bodyPr/>
                    <a:lstStyle/>
                    <a:p>
                      <a:r>
                        <a:rPr sz="1200">
                          <a:solidFill>
                            <a:srgbClr val="111111"/>
                          </a:solidFill>
                          <a:latin typeface="Calibri"/>
                        </a:rPr>
                        <a:t>50.0%</a:t>
                      </a:r>
                    </a:p>
                  </a:txBody>
                  <a:tcPr marL="36576" marR="36576" marT="18288" marB="18288">
                    <a:solidFill>
                      <a:srgbClr val="FFFFFF"/>
                    </a:solidFill>
                  </a:tcPr>
                </a:tc>
                <a:tc>
                  <a:txBody>
                    <a:bodyPr/>
                    <a:lstStyle/>
                    <a:p>
                      <a:r>
                        <a:rPr sz="1200">
                          <a:solidFill>
                            <a:srgbClr val="111111"/>
                          </a:solidFill>
                          <a:latin typeface="Calibri"/>
                        </a:rPr>
                        <a:t>ARR steady at 65%, AUM compounding, stable regulation.</a:t>
                      </a:r>
                    </a:p>
                  </a:txBody>
                  <a:tcPr marL="36576" marR="36576" marT="18288" marB="18288">
                    <a:solidFill>
                      <a:srgbClr val="FFFFFF"/>
                    </a:solidFill>
                  </a:tcPr>
                </a:tc>
              </a:tr>
              <a:tr h="1257300">
                <a:tc>
                  <a:txBody>
                    <a:bodyPr/>
                    <a:lstStyle/>
                    <a:p>
                      <a:r>
                        <a:rPr sz="1200">
                          <a:solidFill>
                            <a:srgbClr val="111111"/>
                          </a:solidFill>
                          <a:latin typeface="Calibri"/>
                        </a:rPr>
                        <a:t>Bear</a:t>
                      </a:r>
                    </a:p>
                  </a:txBody>
                  <a:tcPr marL="36576" marR="36576" marT="18288" marB="18288"/>
                </a:tc>
                <a:tc>
                  <a:txBody>
                    <a:bodyPr/>
                    <a:lstStyle/>
                    <a:p>
                      <a:r>
                        <a:rPr sz="1200">
                          <a:solidFill>
                            <a:srgbClr val="111111"/>
                          </a:solidFill>
                          <a:latin typeface="Calibri"/>
                        </a:rPr>
                        <a:t>6.0%</a:t>
                      </a:r>
                    </a:p>
                  </a:txBody>
                  <a:tcPr marL="36576" marR="36576" marT="18288" marB="18288"/>
                </a:tc>
                <a:tc>
                  <a:txBody>
                    <a:bodyPr/>
                    <a:lstStyle/>
                    <a:p>
                      <a:r>
                        <a:rPr sz="1200">
                          <a:solidFill>
                            <a:srgbClr val="111111"/>
                          </a:solidFill>
                          <a:latin typeface="Calibri"/>
                        </a:rPr>
                        <a:t>45.0%</a:t>
                      </a:r>
                    </a:p>
                  </a:txBody>
                  <a:tcPr marL="36576" marR="36576" marT="18288" marB="18288"/>
                </a:tc>
                <a:tc>
                  <a:txBody>
                    <a:bodyPr/>
                    <a:lstStyle/>
                    <a:p>
                      <a:r>
                        <a:rPr sz="1200">
                          <a:solidFill>
                            <a:srgbClr val="111111"/>
                          </a:solidFill>
                          <a:latin typeface="Calibri"/>
                        </a:rPr>
                        <a:t>630.0</a:t>
                      </a:r>
                    </a:p>
                  </a:txBody>
                  <a:tcPr marL="36576" marR="36576" marT="18288" marB="18288"/>
                </a:tc>
                <a:tc>
                  <a:txBody>
                    <a:bodyPr/>
                    <a:lstStyle/>
                    <a:p>
                      <a:r>
                        <a:rPr sz="1200">
                          <a:solidFill>
                            <a:srgbClr val="111111"/>
                          </a:solidFill>
                          <a:latin typeface="Calibri"/>
                        </a:rPr>
                        <a:t>20.0%</a:t>
                      </a:r>
                    </a:p>
                  </a:txBody>
                  <a:tcPr marL="36576" marR="36576" marT="18288" marB="18288"/>
                </a:tc>
                <a:tc>
                  <a:txBody>
                    <a:bodyPr/>
                    <a:lstStyle/>
                    <a:p>
                      <a:r>
                        <a:rPr sz="1200">
                          <a:solidFill>
                            <a:srgbClr val="111111"/>
                          </a:solidFill>
                          <a:latin typeface="Calibri"/>
                        </a:rPr>
                        <a:t>Sustained F&amp;O headwinds, fintech share loss.</a:t>
                      </a:r>
                    </a:p>
                  </a:txBody>
                  <a:tcPr marL="36576" marR="36576" marT="18288" marB="18288"/>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Key Catalysts</a:t>
            </a:r>
          </a:p>
        </p:txBody>
      </p:sp>
      <p:sp>
        <p:nvSpPr>
          <p:cNvPr id="11" name="TextBox 10"/>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2" name="TextBox 11"/>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Management Team</a:t>
            </a:r>
          </a:p>
        </p:txBody>
      </p:sp>
      <p:sp>
        <p:nvSpPr>
          <p:cNvPr id="11" name="TextBox 10"/>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2" name="Table 11"/>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200">
                          <a:solidFill>
                            <a:srgbClr val="FFFFFF"/>
                          </a:solidFill>
                          <a:latin typeface="Calibri"/>
                        </a:rPr>
                        <a:t>Name</a:t>
                      </a:r>
                    </a:p>
                  </a:txBody>
                  <a:tcPr marL="36576" marR="36576" marT="18288" marB="18288">
                    <a:solidFill>
                      <a:srgbClr val="1F4690"/>
                    </a:solidFill>
                  </a:tcPr>
                </a:tc>
                <a:tc>
                  <a:txBody>
                    <a:bodyPr/>
                    <a:lstStyle/>
                    <a:p>
                      <a:r>
                        <a:rPr b="1" sz="1200">
                          <a:solidFill>
                            <a:srgbClr val="FFFFFF"/>
                          </a:solidFill>
                          <a:latin typeface="Calibri"/>
                        </a:rPr>
                        <a:t>Role</a:t>
                      </a:r>
                    </a:p>
                  </a:txBody>
                  <a:tcPr marL="36576" marR="36576" marT="18288" marB="18288">
                    <a:solidFill>
                      <a:srgbClr val="1F4690"/>
                    </a:solidFill>
                  </a:tcPr>
                </a:tc>
                <a:tc>
                  <a:txBody>
                    <a:bodyPr/>
                    <a:lstStyle/>
                    <a:p>
                      <a:r>
                        <a:rPr b="1" sz="1200">
                          <a:solidFill>
                            <a:srgbClr val="FFFFFF"/>
                          </a:solidFill>
                          <a:latin typeface="Calibri"/>
                        </a:rPr>
                        <a:t>Background</a:t>
                      </a:r>
                    </a:p>
                  </a:txBody>
                  <a:tcPr marL="36576" marR="36576" marT="18288" marB="18288">
                    <a:solidFill>
                      <a:srgbClr val="1F4690"/>
                    </a:solidFill>
                  </a:tcPr>
                </a:tc>
              </a:tr>
              <a:tr h="850392">
                <a:tc>
                  <a:txBody>
                    <a:bodyPr/>
                    <a:lstStyle/>
                    <a:p>
                      <a:r>
                        <a:rPr sz="1200">
                          <a:solidFill>
                            <a:srgbClr val="111111"/>
                          </a:solidFill>
                          <a:latin typeface="Calibri"/>
                        </a:rPr>
                        <a:t>Raamdeo Agrawal</a:t>
                      </a:r>
                    </a:p>
                  </a:txBody>
                  <a:tcPr marL="36576" marR="36576" marT="18288" marB="18288"/>
                </a:tc>
                <a:tc>
                  <a:txBody>
                    <a:bodyPr/>
                    <a:lstStyle/>
                    <a:p>
                      <a:r>
                        <a:rPr sz="1200">
                          <a:solidFill>
                            <a:srgbClr val="111111"/>
                          </a:solidFill>
                          <a:latin typeface="Calibri"/>
                        </a:rPr>
                        <a:t>Chairman, MOFSL &amp; Chairman, AMC</a:t>
                      </a:r>
                    </a:p>
                  </a:txBody>
                  <a:tcPr marL="36576" marR="36576" marT="18288" marB="18288"/>
                </a:tc>
                <a:tc>
                  <a:txBody>
                    <a:bodyPr/>
                    <a:lstStyle/>
                    <a:p>
                      <a:r>
                        <a:rPr sz="12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36576" marR="36576" marT="18288" marB="18288"/>
                </a:tc>
              </a:tr>
              <a:tr h="850392">
                <a:tc>
                  <a:txBody>
                    <a:bodyPr/>
                    <a:lstStyle/>
                    <a:p>
                      <a:r>
                        <a:rPr sz="1200">
                          <a:solidFill>
                            <a:srgbClr val="111111"/>
                          </a:solidFill>
                          <a:latin typeface="Calibri"/>
                        </a:rPr>
                        <a:t>Motilal Oswal</a:t>
                      </a:r>
                    </a:p>
                  </a:txBody>
                  <a:tcPr marL="36576" marR="36576" marT="18288" marB="18288">
                    <a:solidFill>
                      <a:srgbClr val="FFFFFF"/>
                    </a:solidFill>
                  </a:tcPr>
                </a:tc>
                <a:tc>
                  <a:txBody>
                    <a:bodyPr/>
                    <a:lstStyle/>
                    <a:p>
                      <a:r>
                        <a:rPr sz="1200">
                          <a:solidFill>
                            <a:srgbClr val="111111"/>
                          </a:solidFill>
                          <a:latin typeface="Calibri"/>
                        </a:rPr>
                        <a:t>Founder, Chairman &amp; MD</a:t>
                      </a:r>
                    </a:p>
                  </a:txBody>
                  <a:tcPr marL="36576" marR="36576" marT="18288" marB="18288">
                    <a:solidFill>
                      <a:srgbClr val="FFFFFF"/>
                    </a:solidFill>
                  </a:tcPr>
                </a:tc>
                <a:tc>
                  <a:txBody>
                    <a:bodyPr/>
                    <a:lstStyle/>
                    <a:p>
                      <a:r>
                        <a:rPr sz="12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36576" marR="36576" marT="18288" marB="18288">
                    <a:solidFill>
                      <a:srgbClr val="FFFFFF"/>
                    </a:solidFill>
                  </a:tcPr>
                </a:tc>
              </a:tr>
              <a:tr h="850392">
                <a:tc>
                  <a:txBody>
                    <a:bodyPr/>
                    <a:lstStyle/>
                    <a:p>
                      <a:r>
                        <a:rPr sz="1200">
                          <a:solidFill>
                            <a:srgbClr val="111111"/>
                          </a:solidFill>
                          <a:latin typeface="Calibri"/>
                        </a:rPr>
                        <a:t>Navin Agarwal</a:t>
                      </a:r>
                    </a:p>
                  </a:txBody>
                  <a:tcPr marL="36576" marR="36576" marT="18288" marB="18288"/>
                </a:tc>
                <a:tc>
                  <a:txBody>
                    <a:bodyPr/>
                    <a:lstStyle/>
                    <a:p>
                      <a:r>
                        <a:rPr sz="1200">
                          <a:solidFill>
                            <a:srgbClr val="111111"/>
                          </a:solidFill>
                          <a:latin typeface="Calibri"/>
                        </a:rPr>
                        <a:t>Executive Board — Strategy &amp; Capital Allocation</a:t>
                      </a:r>
                    </a:p>
                  </a:txBody>
                  <a:tcPr marL="36576" marR="36576" marT="18288" marB="18288"/>
                </a:tc>
                <a:tc>
                  <a:txBody>
                    <a:bodyPr/>
                    <a:lstStyle/>
                    <a:p>
                      <a:r>
                        <a:rPr sz="1200">
                          <a:solidFill>
                            <a:srgbClr val="111111"/>
                          </a:solidFill>
                          <a:latin typeface="Calibri"/>
                        </a:rPr>
                        <a:t>Joined 2000. Drives business strategy and capital allocation across the Group, building market-leading positions through disciplined deployment.</a:t>
                      </a:r>
                    </a:p>
                  </a:txBody>
                  <a:tcPr marL="36576" marR="36576" marT="18288" marB="18288"/>
                </a:tc>
              </a:tr>
              <a:tr h="850392">
                <a:tc>
                  <a:txBody>
                    <a:bodyPr/>
                    <a:lstStyle/>
                    <a:p>
                      <a:r>
                        <a:rPr sz="1200">
                          <a:solidFill>
                            <a:srgbClr val="111111"/>
                          </a:solidFill>
                          <a:latin typeface="Calibri"/>
                        </a:rPr>
                        <a:t>Ajay Menon</a:t>
                      </a:r>
                    </a:p>
                  </a:txBody>
                  <a:tcPr marL="36576" marR="36576" marT="18288" marB="18288">
                    <a:solidFill>
                      <a:srgbClr val="FFFFFF"/>
                    </a:solidFill>
                  </a:tcPr>
                </a:tc>
                <a:tc>
                  <a:txBody>
                    <a:bodyPr/>
                    <a:lstStyle/>
                    <a:p>
                      <a:r>
                        <a:rPr sz="1200">
                          <a:solidFill>
                            <a:srgbClr val="111111"/>
                          </a:solidFill>
                          <a:latin typeface="Calibri"/>
                        </a:rPr>
                        <a:t>Executive — Operations, Compliance, Risk &amp; Technology</a:t>
                      </a:r>
                    </a:p>
                  </a:txBody>
                  <a:tcPr marL="36576" marR="36576" marT="18288" marB="18288">
                    <a:solidFill>
                      <a:srgbClr val="FFFFFF"/>
                    </a:solidFill>
                  </a:tcPr>
                </a:tc>
                <a:tc>
                  <a:txBody>
                    <a:bodyPr/>
                    <a:lstStyle/>
                    <a:p>
                      <a:r>
                        <a:rPr sz="1200">
                          <a:solidFill>
                            <a:srgbClr val="111111"/>
                          </a:solidFill>
                          <a:latin typeface="Calibri"/>
                        </a:rPr>
                        <a:t>Joined 1998. 27+ years in Indian capital markets. Cornerstone of operational excellence and technology initiatives across the Group.</a:t>
                      </a:r>
                    </a:p>
                  </a:txBody>
                  <a:tcPr marL="36576" marR="36576" marT="18288" marB="1828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Forensic / Governance — Monitor Closely</a:t>
            </a:r>
          </a:p>
        </p:txBody>
      </p:sp>
      <p:sp>
        <p:nvSpPr>
          <p:cNvPr id="11" name="TextBox 10"/>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2" name="Table 11"/>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200">
                          <a:solidFill>
                            <a:srgbClr val="FFFFFF"/>
                          </a:solidFill>
                          <a:latin typeface="Calibri"/>
                        </a:rPr>
                        <a:t>Matter</a:t>
                      </a:r>
                    </a:p>
                  </a:txBody>
                  <a:tcPr marL="36576" marR="36576" marT="18288" marB="18288">
                    <a:solidFill>
                      <a:srgbClr val="1F4690"/>
                    </a:solidFill>
                  </a:tcPr>
                </a:tc>
                <a:tc>
                  <a:txBody>
                    <a:bodyPr/>
                    <a:lstStyle/>
                    <a:p>
                      <a:r>
                        <a:rPr b="1" sz="1200">
                          <a:solidFill>
                            <a:srgbClr val="FFFFFF"/>
                          </a:solidFill>
                          <a:latin typeface="Calibri"/>
                        </a:rPr>
                        <a:t>Description</a:t>
                      </a:r>
                    </a:p>
                  </a:txBody>
                  <a:tcPr marL="36576" marR="36576" marT="18288" marB="18288">
                    <a:solidFill>
                      <a:srgbClr val="1F4690"/>
                    </a:solidFill>
                  </a:tcPr>
                </a:tc>
                <a:tc>
                  <a:txBody>
                    <a:bodyPr/>
                    <a:lstStyle/>
                    <a:p>
                      <a:r>
                        <a:rPr b="1" sz="1200">
                          <a:solidFill>
                            <a:srgbClr val="FFFFFF"/>
                          </a:solidFill>
                          <a:latin typeface="Calibri"/>
                        </a:rPr>
                        <a:t>Severity</a:t>
                      </a:r>
                    </a:p>
                  </a:txBody>
                  <a:tcPr marL="36576" marR="36576" marT="18288" marB="18288">
                    <a:solidFill>
                      <a:srgbClr val="1F4690"/>
                    </a:solidFill>
                  </a:tcPr>
                </a:tc>
              </a:tr>
              <a:tr h="678180">
                <a:tc>
                  <a:txBody>
                    <a:bodyPr/>
                    <a:lstStyle/>
                    <a:p>
                      <a:r>
                        <a:rPr sz="1200">
                          <a:solidFill>
                            <a:srgbClr val="111111"/>
                          </a:solidFill>
                          <a:latin typeface="Calibri"/>
                        </a:rPr>
                        <a:t>SEBI — Margin Reporting Violations</a:t>
                      </a:r>
                    </a:p>
                  </a:txBody>
                  <a:tcPr marL="36576" marR="36576" marT="18288" marB="18288"/>
                </a:tc>
                <a:tc>
                  <a:txBody>
                    <a:bodyPr/>
                    <a:lstStyle/>
                    <a:p>
                      <a:r>
                        <a:rPr sz="1200">
                          <a:solidFill>
                            <a:srgbClr val="111111"/>
                          </a:solidFill>
                          <a:latin typeface="Calibri"/>
                        </a:rPr>
                        <a:t>INR 7 lakh penalty for margin reporting, collection violations, and other regulatory lapses found during inspection.</a:t>
                      </a:r>
                    </a:p>
                  </a:txBody>
                  <a:tcPr marL="36576" marR="36576" marT="18288" marB="18288"/>
                </a:tc>
                <a:tc>
                  <a:txBody>
                    <a:bodyPr/>
                    <a:lstStyle/>
                    <a:p>
                      <a:r>
                        <a:rPr sz="1200">
                          <a:solidFill>
                            <a:srgbClr val="111111"/>
                          </a:solidFill>
                          <a:latin typeface="Calibri"/>
                        </a:rPr>
                        <a:t>Low</a:t>
                      </a:r>
                    </a:p>
                  </a:txBody>
                  <a:tcPr marL="36576" marR="36576" marT="18288" marB="18288"/>
                </a:tc>
              </a:tr>
              <a:tr h="678180">
                <a:tc>
                  <a:txBody>
                    <a:bodyPr/>
                    <a:lstStyle/>
                    <a:p>
                      <a:r>
                        <a:rPr sz="1200">
                          <a:solidFill>
                            <a:srgbClr val="111111"/>
                          </a:solidFill>
                          <a:latin typeface="Calibri"/>
                        </a:rPr>
                        <a:t>SEBI — Client Fund Misutilization (2022)</a:t>
                      </a:r>
                    </a:p>
                  </a:txBody>
                  <a:tcPr marL="36576" marR="36576" marT="18288" marB="18288">
                    <a:solidFill>
                      <a:srgbClr val="FFFFFF"/>
                    </a:solidFill>
                  </a:tcPr>
                </a:tc>
                <a:tc>
                  <a:txBody>
                    <a:bodyPr/>
                    <a:lstStyle/>
                    <a:p>
                      <a:r>
                        <a:rPr sz="1200">
                          <a:solidFill>
                            <a:srgbClr val="111111"/>
                          </a:solidFill>
                          <a:latin typeface="Calibri"/>
                        </a:rPr>
                        <a:t>INR 25 lakh fine for misutilization of client funds and inaccurate margin reporting.</a:t>
                      </a:r>
                    </a:p>
                  </a:txBody>
                  <a:tcPr marL="36576" marR="36576" marT="18288" marB="18288">
                    <a:solidFill>
                      <a:srgbClr val="FFFFFF"/>
                    </a:solidFill>
                  </a:tcPr>
                </a:tc>
                <a:tc>
                  <a:txBody>
                    <a:bodyPr/>
                    <a:lstStyle/>
                    <a:p>
                      <a:r>
                        <a:rPr sz="1200">
                          <a:solidFill>
                            <a:srgbClr val="111111"/>
                          </a:solidFill>
                          <a:latin typeface="Calibri"/>
                        </a:rPr>
                        <a:t>Medium</a:t>
                      </a:r>
                    </a:p>
                  </a:txBody>
                  <a:tcPr marL="36576" marR="36576" marT="18288" marB="18288">
                    <a:solidFill>
                      <a:srgbClr val="FFFFFF"/>
                    </a:solidFill>
                  </a:tcPr>
                </a:tc>
              </a:tr>
              <a:tr h="678180">
                <a:tc>
                  <a:txBody>
                    <a:bodyPr/>
                    <a:lstStyle/>
                    <a:p>
                      <a:r>
                        <a:rPr sz="1200">
                          <a:solidFill>
                            <a:srgbClr val="111111"/>
                          </a:solidFill>
                          <a:latin typeface="Calibri"/>
                        </a:rPr>
                        <a:t>NSEL — Misselling Accusations</a:t>
                      </a:r>
                    </a:p>
                  </a:txBody>
                  <a:tcPr marL="36576" marR="36576" marT="18288" marB="18288"/>
                </a:tc>
                <a:tc>
                  <a:txBody>
                    <a:bodyPr/>
                    <a:lstStyle/>
                    <a:p>
                      <a:r>
                        <a:rPr sz="1200">
                          <a:solidFill>
                            <a:srgbClr val="111111"/>
                          </a:solidFill>
                          <a:latin typeface="Calibri"/>
                        </a:rPr>
                        <a:t>Accused alongside other top brokers of misselling NSEL contracts, KYC manipulation, client code modification, and illegal transactions per SFIO/EOW findings.</a:t>
                      </a:r>
                    </a:p>
                  </a:txBody>
                  <a:tcPr marL="36576" marR="36576" marT="18288" marB="18288"/>
                </a:tc>
                <a:tc>
                  <a:txBody>
                    <a:bodyPr/>
                    <a:lstStyle/>
                    <a:p>
                      <a:r>
                        <a:rPr sz="1200">
                          <a:solidFill>
                            <a:srgbClr val="111111"/>
                          </a:solidFill>
                          <a:latin typeface="Calibri"/>
                        </a:rPr>
                        <a:t>High (Historical)</a:t>
                      </a:r>
                    </a:p>
                  </a:txBody>
                  <a:tcPr marL="36576" marR="36576" marT="18288" marB="18288"/>
                </a:tc>
              </a:tr>
              <a:tr h="678180">
                <a:tc>
                  <a:txBody>
                    <a:bodyPr/>
                    <a:lstStyle/>
                    <a:p>
                      <a:r>
                        <a:rPr sz="1200">
                          <a:solidFill>
                            <a:srgbClr val="111111"/>
                          </a:solidFill>
                          <a:latin typeface="Calibri"/>
                        </a:rPr>
                        <a:t>SEBI — Not Fit and Proper (Commodities)</a:t>
                      </a:r>
                    </a:p>
                  </a:txBody>
                  <a:tcPr marL="36576" marR="36576" marT="18288" marB="18288">
                    <a:solidFill>
                      <a:srgbClr val="FFFFFF"/>
                    </a:solidFill>
                  </a:tcPr>
                </a:tc>
                <a:tc>
                  <a:txBody>
                    <a:bodyPr/>
                    <a:lstStyle/>
                    <a:p>
                      <a:r>
                        <a:rPr sz="1200">
                          <a:solidFill>
                            <a:srgbClr val="111111"/>
                          </a:solidFill>
                          <a:latin typeface="Calibri"/>
                        </a:rPr>
                        <a:t>Declared 'not fit and proper' as commodity derivative broker in Feb 2019 based on SFIO/EOW recommendations.</a:t>
                      </a:r>
                    </a:p>
                  </a:txBody>
                  <a:tcPr marL="36576" marR="36576" marT="18288" marB="18288">
                    <a:solidFill>
                      <a:srgbClr val="FFFFFF"/>
                    </a:solidFill>
                  </a:tcPr>
                </a:tc>
                <a:tc>
                  <a:txBody>
                    <a:bodyPr/>
                    <a:lstStyle/>
                    <a:p>
                      <a:r>
                        <a:rPr sz="1200">
                          <a:solidFill>
                            <a:srgbClr val="111111"/>
                          </a:solidFill>
                          <a:latin typeface="Calibri"/>
                        </a:rPr>
                        <a:t>High (Historical)</a:t>
                      </a:r>
                    </a:p>
                  </a:txBody>
                  <a:tcPr marL="36576" marR="36576" marT="18288" marB="18288">
                    <a:solidFill>
                      <a:srgbClr val="FFFFFF"/>
                    </a:solidFill>
                  </a:tcPr>
                </a:tc>
              </a:tr>
              <a:tr h="678180">
                <a:tc>
                  <a:txBody>
                    <a:bodyPr/>
                    <a:lstStyle/>
                    <a:p>
                      <a:r>
                        <a:rPr sz="1200">
                          <a:solidFill>
                            <a:srgbClr val="111111"/>
                          </a:solidFill>
                          <a:latin typeface="Calibri"/>
                        </a:rPr>
                        <a:t>Unauthorized Terminal Operations</a:t>
                      </a:r>
                    </a:p>
                  </a:txBody>
                  <a:tcPr marL="36576" marR="36576" marT="18288" marB="18288"/>
                </a:tc>
                <a:tc>
                  <a:txBody>
                    <a:bodyPr/>
                    <a:lstStyle/>
                    <a:p>
                      <a:r>
                        <a:rPr sz="1200">
                          <a:solidFill>
                            <a:srgbClr val="111111"/>
                          </a:solidFill>
                          <a:latin typeface="Calibri"/>
                        </a:rPr>
                        <a:t>13 NSE and 9 BSE terminals operating from undeclared locations including an unreported branch in Delhi.</a:t>
                      </a:r>
                    </a:p>
                  </a:txBody>
                  <a:tcPr marL="36576" marR="36576" marT="18288" marB="18288"/>
                </a:tc>
                <a:tc>
                  <a:txBody>
                    <a:bodyPr/>
                    <a:lstStyle/>
                    <a:p>
                      <a:r>
                        <a:rPr sz="1200">
                          <a:solidFill>
                            <a:srgbClr val="111111"/>
                          </a:solidFill>
                          <a:latin typeface="Calibri"/>
                        </a:rPr>
                        <a:t>Medium</a:t>
                      </a:r>
                    </a:p>
                  </a:txBody>
                  <a:tcPr marL="36576" marR="36576" marT="18288" marB="18288"/>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17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Trading Strategy</a:t>
            </a:r>
          </a:p>
        </p:txBody>
      </p:sp>
      <p:sp>
        <p:nvSpPr>
          <p:cNvPr id="11" name="TextBox 10"/>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Entry: the relevant figure-850. 15-the relevant figure discount to analyst consensus target — margin of safety. Position size: 3-the relevant figure of portfolio (institutional). Review: Quarterly. Downside exit: Stop-loss at the relevant figure (-the relevant figure from CMP) on technical break with high volume. Upside exit: Sell the relevant figure at the relevant figure-1,150 (30-the relevant figure gains) / Sell remaining at the relevant figure+ if multiples expand beyond the relevant figure P/E.</a:t>
            </a:r>
          </a:p>
        </p:txBody>
      </p:sp>
      <p:sp>
        <p:nvSpPr>
          <p:cNvPr id="12" name="TextBox 11"/>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above the relevant figure of net revenues</a:t>
            </a:r>
          </a:p>
          <a:p>
            <a:pPr>
              <a:spcAft>
                <a:spcPts val="400"/>
              </a:spcAft>
            </a:pPr>
            <a:r>
              <a:rPr sz="1200" b="0">
                <a:solidFill>
                  <a:srgbClr val="111111"/>
                </a:solidFill>
                <a:latin typeface="Calibri"/>
              </a:rPr>
              <a:t>•  AMC AUM growth above the relevant figure YoY with net flows &gt; the relevant figure Cr</a:t>
            </a:r>
          </a:p>
          <a:p>
            <a:pPr>
              <a:spcAft>
                <a:spcPts val="400"/>
              </a:spcAft>
            </a:pPr>
            <a:r>
              <a:rPr sz="1200" b="0">
                <a:solidFill>
                  <a:srgbClr val="111111"/>
                </a:solidFill>
                <a:latin typeface="Calibri"/>
              </a:rPr>
              <a:t>•  PWM AUM growth above the relevant figure YoY with family count expansion</a:t>
            </a:r>
          </a:p>
          <a:p>
            <a:pPr>
              <a:spcAft>
                <a:spcPts val="400"/>
              </a:spcAft>
            </a:pPr>
            <a:r>
              <a:rPr sz="1200" b="0">
                <a:solidFill>
                  <a:srgbClr val="111111"/>
                </a:solidFill>
                <a:latin typeface="Calibri"/>
              </a:rPr>
              <a:t>•  Cost-to-income ratio declining</a:t>
            </a:r>
          </a:p>
          <a:p>
            <a:pPr>
              <a:spcAft>
                <a:spcPts val="400"/>
              </a:spcAft>
            </a:pPr>
            <a:r>
              <a:rPr sz="1200" b="0">
                <a:solidFill>
                  <a:srgbClr val="111111"/>
                </a:solidFill>
                <a:latin typeface="Calibri"/>
              </a:rPr>
              <a:t>•  SEBI compliance with no major enforcement actions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18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Key Risks</a:t>
            </a:r>
          </a:p>
        </p:txBody>
      </p:sp>
      <p:sp>
        <p:nvSpPr>
          <p:cNvPr id="11" name="TextBox 10"/>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19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Analyst Certification &amp; Disclosures</a:t>
            </a:r>
          </a:p>
        </p:txBody>
      </p:sp>
      <p:sp>
        <p:nvSpPr>
          <p:cNvPr id="11" name="TextBox 10"/>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Analyst Certification I, the research analyst whose name appears on this report, certify that: 1. The views expressed in this report accurately reflect my personal views about the subject company and its securities. 2. No part of my compensation was, is, or will be directly or indirectly related to the specific recommendations or views expressed herein. 3. I have not received any compensation from the subject company in the past twelve months. 4. I, my relatives, or Tikona Capital do not have any actual or potential conflict of interest with the subject company at the time of publication of this report, except as may be disclosed below. ## Disclosures - Ownership in subject company: None unless otherwise disclosed. - Material conflicts of interest: None at the time of publication. - Investment banking or merchant banking relationship in the past twelve months: None. This certification is made in accordance with SEBI (Research Analysts) Regulations, 2014.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20 of 20</a:t>
            </a:r>
          </a:p>
        </p:txBody>
      </p:sp>
      <p:sp>
        <p:nvSpPr>
          <p:cNvPr id="10" name="TextBox 9"/>
          <p:cNvSpPr txBox="1"/>
          <p:nvPr/>
        </p:nvSpPr>
        <p:spPr>
          <a:xfrm>
            <a:off x="457200" y="548640"/>
            <a:ext cx="11277295" cy="502920"/>
          </a:xfrm>
          <a:prstGeom prst="rect">
            <a:avLst/>
          </a:prstGeom>
          <a:noFill/>
        </p:spPr>
        <p:txBody>
          <a:bodyPr wrap="square" anchor="t" lIns="45720" rIns="45720" tIns="18288" bIns="18288">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