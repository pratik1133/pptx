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7276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408615" y="0"/>
            <a:ext cx="1783080" cy="15727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566928" y="82296"/>
            <a:ext cx="1920240" cy="182880"/>
          </a:xfrm>
          <a:prstGeom prst="rect">
            <a:avLst/>
          </a:prstGeom>
          <a:noFill/>
        </p:spPr>
        <p:txBody>
          <a:bodyPr wrap="square" lIns="36576" rIns="36576" tIns="9144" bIns="9144">
            <a:spAutoFit/>
          </a:bodyPr>
          <a:lstStyle/>
          <a:p>
            <a:r>
              <a:rPr sz="1200" b="1">
                <a:solidFill>
                  <a:srgbClr val="FFFFFF"/>
                </a:solidFill>
                <a:latin typeface="Calibri"/>
              </a:rPr>
              <a:t>Tikona Capital</a:t>
            </a:r>
          </a:p>
        </p:txBody>
      </p:sp>
      <p:sp>
        <p:nvSpPr>
          <p:cNvPr id="6" name="TextBox 5"/>
          <p:cNvSpPr txBox="1"/>
          <p:nvPr/>
        </p:nvSpPr>
        <p:spPr>
          <a:xfrm>
            <a:off x="566928" y="283464"/>
            <a:ext cx="2377440" cy="118872"/>
          </a:xfrm>
          <a:prstGeom prst="rect">
            <a:avLst/>
          </a:prstGeom>
          <a:noFill/>
        </p:spPr>
        <p:txBody>
          <a:bodyPr wrap="square" lIns="36576" rIns="36576" tIns="9144" bIns="9144">
            <a:spAutoFit/>
          </a:bodyPr>
          <a:lstStyle/>
          <a:p>
            <a:r>
              <a:rPr sz="490" b="0">
                <a:solidFill>
                  <a:srgbClr val="C8D2E3"/>
                </a:solidFill>
                <a:latin typeface="Calibri"/>
              </a:rPr>
              <a:t>INSTITUTIONAL EQUITY RESEARCH</a:t>
            </a:r>
          </a:p>
        </p:txBody>
      </p:sp>
      <p:sp>
        <p:nvSpPr>
          <p:cNvPr id="7" name="TextBox 6"/>
          <p:cNvSpPr txBox="1"/>
          <p:nvPr/>
        </p:nvSpPr>
        <p:spPr>
          <a:xfrm>
            <a:off x="9585655" y="91440"/>
            <a:ext cx="2331720" cy="201168"/>
          </a:xfrm>
          <a:prstGeom prst="rect">
            <a:avLst/>
          </a:prstGeom>
          <a:noFill/>
        </p:spPr>
        <p:txBody>
          <a:bodyPr wrap="square" lIns="36576" rIns="36576" tIns="9144" bIns="9144">
            <a:spAutoFit/>
          </a:bodyPr>
          <a:lstStyle/>
          <a:p>
            <a:pPr algn="ctr"/>
            <a:r>
              <a:rPr sz="560" b="1">
                <a:solidFill>
                  <a:srgbClr val="FFFFFF"/>
                </a:solidFill>
                <a:latin typeface="Calibri"/>
              </a:rPr>
              <a:t>INITIATION COVERAGE - Q2 FY25-26</a:t>
            </a:r>
          </a:p>
        </p:txBody>
      </p:sp>
      <p:sp>
        <p:nvSpPr>
          <p:cNvPr id="8" name="TextBox 7"/>
          <p:cNvSpPr txBox="1"/>
          <p:nvPr/>
        </p:nvSpPr>
        <p:spPr>
          <a:xfrm>
            <a:off x="201168" y="530352"/>
            <a:ext cx="4709160" cy="329184"/>
          </a:xfrm>
          <a:prstGeom prst="rect">
            <a:avLst/>
          </a:prstGeom>
          <a:noFill/>
        </p:spPr>
        <p:txBody>
          <a:bodyPr wrap="square" lIns="36576" rIns="36576" tIns="9144" bIns="9144">
            <a:spAutoFit/>
          </a:bodyPr>
          <a:lstStyle/>
          <a:p>
            <a:r>
              <a:rPr sz="1700" b="1">
                <a:solidFill>
                  <a:srgbClr val="FFFFFF"/>
                </a:solidFill>
                <a:latin typeface="Calibri"/>
              </a:rPr>
              <a:t>Motilal Oswal Financial Services Ltd</a:t>
            </a:r>
          </a:p>
        </p:txBody>
      </p:sp>
      <p:sp>
        <p:nvSpPr>
          <p:cNvPr id="9" name="Rounded Rectangle 8"/>
          <p:cNvSpPr/>
          <p:nvPr/>
        </p:nvSpPr>
        <p:spPr>
          <a:xfrm>
            <a:off x="4718304" y="603504"/>
            <a:ext cx="457200" cy="19202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630936"/>
            <a:ext cx="420624" cy="109728"/>
          </a:xfrm>
          <a:prstGeom prst="rect">
            <a:avLst/>
          </a:prstGeom>
          <a:noFill/>
        </p:spPr>
        <p:txBody>
          <a:bodyPr wrap="square" lIns="36576" rIns="36576" tIns="9144" bIns="9144">
            <a:spAutoFit/>
          </a:bodyPr>
          <a:lstStyle/>
          <a:p>
            <a:pPr algn="ctr"/>
            <a:r>
              <a:rPr sz="560" b="1">
                <a:solidFill>
                  <a:srgbClr val="1F4690"/>
                </a:solidFill>
                <a:latin typeface="Calibri"/>
              </a:rPr>
              <a:t>BUY</a:t>
            </a:r>
          </a:p>
        </p:txBody>
      </p:sp>
      <p:sp>
        <p:nvSpPr>
          <p:cNvPr id="11" name="TextBox 10"/>
          <p:cNvSpPr txBox="1"/>
          <p:nvPr/>
        </p:nvSpPr>
        <p:spPr>
          <a:xfrm>
            <a:off x="5230368" y="658368"/>
            <a:ext cx="4434840" cy="109728"/>
          </a:xfrm>
          <a:prstGeom prst="rect">
            <a:avLst/>
          </a:prstGeom>
          <a:noFill/>
        </p:spPr>
        <p:txBody>
          <a:bodyPr wrap="square" lIns="36576" rIns="36576" tIns="9144" bIns="9144">
            <a:spAutoFit/>
          </a:bodyPr>
          <a:lstStyle/>
          <a:p>
            <a:r>
              <a:rPr sz="509" b="0">
                <a:solidFill>
                  <a:srgbClr val="D9E2F2"/>
                </a:solidFill>
                <a:latin typeface="Calibri"/>
              </a:rPr>
              <a:t>NSE: MOFSL  |  Financial Services / Capital Markets</a:t>
            </a:r>
          </a:p>
        </p:txBody>
      </p:sp>
      <p:sp>
        <p:nvSpPr>
          <p:cNvPr id="12" name="Rectangle 11"/>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1005840"/>
            <a:ext cx="1919173" cy="91440"/>
          </a:xfrm>
          <a:prstGeom prst="rect">
            <a:avLst/>
          </a:prstGeom>
          <a:noFill/>
        </p:spPr>
        <p:txBody>
          <a:bodyPr wrap="square" lIns="36576" rIns="36576" tIns="9144" bIns="9144">
            <a:spAutoFit/>
          </a:bodyPr>
          <a:lstStyle/>
          <a:p>
            <a:r>
              <a:rPr sz="480" b="1">
                <a:solidFill>
                  <a:srgbClr val="BFD0EA"/>
                </a:solidFill>
                <a:latin typeface="Calibri"/>
              </a:rPr>
              <a:t>CMP</a:t>
            </a:r>
          </a:p>
        </p:txBody>
      </p:sp>
      <p:sp>
        <p:nvSpPr>
          <p:cNvPr id="14" name="TextBox 13"/>
          <p:cNvSpPr txBox="1"/>
          <p:nvPr/>
        </p:nvSpPr>
        <p:spPr>
          <a:xfrm>
            <a:off x="201168" y="1115568"/>
            <a:ext cx="1919173" cy="164592"/>
          </a:xfrm>
          <a:prstGeom prst="rect">
            <a:avLst/>
          </a:prstGeom>
          <a:noFill/>
        </p:spPr>
        <p:txBody>
          <a:bodyPr wrap="square" lIns="36576" rIns="36576" tIns="9144" bIns="9144">
            <a:spAutoFit/>
          </a:bodyPr>
          <a:lstStyle/>
          <a:p>
            <a:r>
              <a:rPr sz="900" b="1">
                <a:solidFill>
                  <a:srgbClr val="FFA500"/>
                </a:solidFill>
                <a:latin typeface="Calibri"/>
              </a:rPr>
              <a:t>₹822.90</a:t>
            </a:r>
          </a:p>
        </p:txBody>
      </p:sp>
      <p:sp>
        <p:nvSpPr>
          <p:cNvPr id="15" name="TextBox 14"/>
          <p:cNvSpPr txBox="1"/>
          <p:nvPr/>
        </p:nvSpPr>
        <p:spPr>
          <a:xfrm>
            <a:off x="201168" y="1298448"/>
            <a:ext cx="1919173" cy="100584"/>
          </a:xfrm>
          <a:prstGeom prst="rect">
            <a:avLst/>
          </a:prstGeom>
          <a:noFill/>
        </p:spPr>
        <p:txBody>
          <a:bodyPr wrap="square" lIns="36576" rIns="36576" tIns="9144" bIns="9144">
            <a:spAutoFit/>
          </a:bodyPr>
          <a:lstStyle/>
          <a:p>
            <a:r>
              <a:rPr sz="430" b="0">
                <a:solidFill>
                  <a:srgbClr val="C8D2E3"/>
                </a:solidFill>
                <a:latin typeface="Calibri"/>
              </a:rPr>
              <a:t>As of 28/04/2026</a:t>
            </a:r>
          </a:p>
        </p:txBody>
      </p:sp>
      <p:sp>
        <p:nvSpPr>
          <p:cNvPr id="16" name="Rectangle 15"/>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6061" y="1005840"/>
            <a:ext cx="1919173" cy="91440"/>
          </a:xfrm>
          <a:prstGeom prst="rect">
            <a:avLst/>
          </a:prstGeom>
          <a:noFill/>
        </p:spPr>
        <p:txBody>
          <a:bodyPr wrap="square" lIns="36576" rIns="36576" tIns="9144" bIns="9144">
            <a:spAutoFit/>
          </a:bodyPr>
          <a:lstStyle/>
          <a:p>
            <a:r>
              <a:rPr sz="480" b="1">
                <a:solidFill>
                  <a:srgbClr val="BFD0EA"/>
                </a:solidFill>
                <a:latin typeface="Calibri"/>
              </a:rPr>
              <a:t>TARGET PRICE</a:t>
            </a:r>
          </a:p>
        </p:txBody>
      </p:sp>
      <p:sp>
        <p:nvSpPr>
          <p:cNvPr id="18" name="TextBox 17"/>
          <p:cNvSpPr txBox="1"/>
          <p:nvPr/>
        </p:nvSpPr>
        <p:spPr>
          <a:xfrm>
            <a:off x="2166061" y="1115568"/>
            <a:ext cx="1919173" cy="164592"/>
          </a:xfrm>
          <a:prstGeom prst="rect">
            <a:avLst/>
          </a:prstGeom>
          <a:noFill/>
        </p:spPr>
        <p:txBody>
          <a:bodyPr wrap="square" lIns="36576" rIns="36576" tIns="9144" bIns="9144">
            <a:spAutoFit/>
          </a:bodyPr>
          <a:lstStyle/>
          <a:p>
            <a:r>
              <a:rPr sz="900" b="1">
                <a:solidFill>
                  <a:srgbClr val="FFA500"/>
                </a:solidFill>
                <a:latin typeface="Calibri"/>
              </a:rPr>
              <a:t>₹1,127</a:t>
            </a:r>
          </a:p>
        </p:txBody>
      </p:sp>
      <p:sp>
        <p:nvSpPr>
          <p:cNvPr id="19" name="TextBox 18"/>
          <p:cNvSpPr txBox="1"/>
          <p:nvPr/>
        </p:nvSpPr>
        <p:spPr>
          <a:xfrm>
            <a:off x="2166061" y="1298448"/>
            <a:ext cx="1919173" cy="100584"/>
          </a:xfrm>
          <a:prstGeom prst="rect">
            <a:avLst/>
          </a:prstGeom>
          <a:noFill/>
        </p:spPr>
        <p:txBody>
          <a:bodyPr wrap="square" lIns="36576" rIns="36576" tIns="9144" bIns="9144">
            <a:spAutoFit/>
          </a:bodyPr>
          <a:lstStyle/>
          <a:p>
            <a:r>
              <a:rPr sz="430" b="0">
                <a:solidFill>
                  <a:srgbClr val="C8D2E3"/>
                </a:solidFill>
                <a:latin typeface="Calibri"/>
              </a:rPr>
              <a:t>12M upside case</a:t>
            </a:r>
          </a:p>
        </p:txBody>
      </p:sp>
      <p:sp>
        <p:nvSpPr>
          <p:cNvPr id="20" name="Rectangle 19"/>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30954"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a:t>
            </a:r>
          </a:p>
        </p:txBody>
      </p:sp>
      <p:sp>
        <p:nvSpPr>
          <p:cNvPr id="22" name="TextBox 21"/>
          <p:cNvSpPr txBox="1"/>
          <p:nvPr/>
        </p:nvSpPr>
        <p:spPr>
          <a:xfrm>
            <a:off x="4130954" y="1115568"/>
            <a:ext cx="1919173" cy="164592"/>
          </a:xfrm>
          <a:prstGeom prst="rect">
            <a:avLst/>
          </a:prstGeom>
          <a:noFill/>
        </p:spPr>
        <p:txBody>
          <a:bodyPr wrap="square" lIns="36576" rIns="36576" tIns="9144" bIns="9144">
            <a:spAutoFit/>
          </a:bodyPr>
          <a:lstStyle/>
          <a:p>
            <a:r>
              <a:rPr sz="900" b="1">
                <a:solidFill>
                  <a:srgbClr val="FFFFFF"/>
                </a:solidFill>
                <a:latin typeface="Calibri"/>
              </a:rPr>
              <a:t>₹49,079 Cr</a:t>
            </a:r>
          </a:p>
        </p:txBody>
      </p:sp>
      <p:sp>
        <p:nvSpPr>
          <p:cNvPr id="23" name="Rectangle 22"/>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5847"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 CATEGORY</a:t>
            </a:r>
          </a:p>
        </p:txBody>
      </p:sp>
      <p:sp>
        <p:nvSpPr>
          <p:cNvPr id="25" name="TextBox 24"/>
          <p:cNvSpPr txBox="1"/>
          <p:nvPr/>
        </p:nvSpPr>
        <p:spPr>
          <a:xfrm>
            <a:off x="6095847" y="1115568"/>
            <a:ext cx="1919173" cy="164592"/>
          </a:xfrm>
          <a:prstGeom prst="rect">
            <a:avLst/>
          </a:prstGeom>
          <a:noFill/>
        </p:spPr>
        <p:txBody>
          <a:bodyPr wrap="square" lIns="36576" rIns="36576" tIns="9144" bIns="9144">
            <a:spAutoFit/>
          </a:bodyPr>
          <a:lstStyle/>
          <a:p>
            <a:r>
              <a:rPr sz="900" b="1">
                <a:solidFill>
                  <a:srgbClr val="FFFFFF"/>
                </a:solidFill>
                <a:latin typeface="Calibri"/>
              </a:rPr>
              <a:t>Mid Cap</a:t>
            </a:r>
          </a:p>
        </p:txBody>
      </p:sp>
      <p:sp>
        <p:nvSpPr>
          <p:cNvPr id="26" name="TextBox 25"/>
          <p:cNvSpPr txBox="1"/>
          <p:nvPr/>
        </p:nvSpPr>
        <p:spPr>
          <a:xfrm>
            <a:off x="6095847" y="1298448"/>
            <a:ext cx="1919173" cy="100584"/>
          </a:xfrm>
          <a:prstGeom prst="rect">
            <a:avLst/>
          </a:prstGeom>
          <a:noFill/>
        </p:spPr>
        <p:txBody>
          <a:bodyPr wrap="square" lIns="36576" rIns="36576" tIns="9144" bIns="9144">
            <a:spAutoFit/>
          </a:bodyPr>
          <a:lstStyle/>
          <a:p>
            <a:r>
              <a:rPr sz="430" b="0">
                <a:solidFill>
                  <a:srgbClr val="C8D2E3"/>
                </a:solidFill>
                <a:latin typeface="Calibri"/>
              </a:rPr>
              <a:t>Financial Services leader</a:t>
            </a:r>
          </a:p>
        </p:txBody>
      </p:sp>
      <p:sp>
        <p:nvSpPr>
          <p:cNvPr id="27" name="Rectangle 26"/>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0740" y="1005840"/>
            <a:ext cx="1919173" cy="91440"/>
          </a:xfrm>
          <a:prstGeom prst="rect">
            <a:avLst/>
          </a:prstGeom>
          <a:noFill/>
        </p:spPr>
        <p:txBody>
          <a:bodyPr wrap="square" lIns="36576" rIns="36576" tIns="9144" bIns="9144">
            <a:spAutoFit/>
          </a:bodyPr>
          <a:lstStyle/>
          <a:p>
            <a:r>
              <a:rPr sz="480" b="1">
                <a:solidFill>
                  <a:srgbClr val="BFD0EA"/>
                </a:solidFill>
                <a:latin typeface="Calibri"/>
              </a:rPr>
              <a:t>SAARTHI SCORE</a:t>
            </a:r>
          </a:p>
        </p:txBody>
      </p:sp>
      <p:sp>
        <p:nvSpPr>
          <p:cNvPr id="29" name="TextBox 28"/>
          <p:cNvSpPr txBox="1"/>
          <p:nvPr/>
        </p:nvSpPr>
        <p:spPr>
          <a:xfrm>
            <a:off x="8060740" y="1115568"/>
            <a:ext cx="1919173" cy="164592"/>
          </a:xfrm>
          <a:prstGeom prst="rect">
            <a:avLst/>
          </a:prstGeom>
          <a:noFill/>
        </p:spPr>
        <p:txBody>
          <a:bodyPr wrap="square" lIns="36576" rIns="36576" tIns="9144" bIns="9144">
            <a:spAutoFit/>
          </a:bodyPr>
          <a:lstStyle/>
          <a:p>
            <a:r>
              <a:rPr sz="900" b="1">
                <a:solidFill>
                  <a:srgbClr val="FFA500"/>
                </a:solidFill>
                <a:latin typeface="Calibri"/>
              </a:rPr>
              <a:t>72/100</a:t>
            </a:r>
          </a:p>
        </p:txBody>
      </p:sp>
      <p:sp>
        <p:nvSpPr>
          <p:cNvPr id="30" name="TextBox 29"/>
          <p:cNvSpPr txBox="1"/>
          <p:nvPr/>
        </p:nvSpPr>
        <p:spPr>
          <a:xfrm>
            <a:off x="8060740" y="1298448"/>
            <a:ext cx="1919173" cy="100584"/>
          </a:xfrm>
          <a:prstGeom prst="rect">
            <a:avLst/>
          </a:prstGeom>
          <a:noFill/>
        </p:spPr>
        <p:txBody>
          <a:bodyPr wrap="square" lIns="36576" rIns="36576" tIns="9144" bIns="9144">
            <a:spAutoFit/>
          </a:bodyPr>
          <a:lstStyle/>
          <a:p>
            <a:r>
              <a:rPr sz="430" b="0">
                <a:solidFill>
                  <a:srgbClr val="C8D2E3"/>
                </a:solidFill>
                <a:latin typeface="Calibri"/>
              </a:rPr>
              <a:t>BUY (70-84 range)</a:t>
            </a:r>
          </a:p>
        </p:txBody>
      </p:sp>
      <p:sp>
        <p:nvSpPr>
          <p:cNvPr id="31" name="Rectangle 30"/>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25634" y="1005840"/>
            <a:ext cx="1919173" cy="91440"/>
          </a:xfrm>
          <a:prstGeom prst="rect">
            <a:avLst/>
          </a:prstGeom>
          <a:noFill/>
        </p:spPr>
        <p:txBody>
          <a:bodyPr wrap="square" lIns="36576" rIns="36576" tIns="9144" bIns="9144">
            <a:spAutoFit/>
          </a:bodyPr>
          <a:lstStyle/>
          <a:p>
            <a:r>
              <a:rPr sz="480" b="1">
                <a:solidFill>
                  <a:srgbClr val="BFD0EA"/>
                </a:solidFill>
                <a:latin typeface="Calibri"/>
              </a:rPr>
              <a:t>PROB. WEIGHTED TP</a:t>
            </a:r>
          </a:p>
        </p:txBody>
      </p:sp>
      <p:sp>
        <p:nvSpPr>
          <p:cNvPr id="33" name="TextBox 32"/>
          <p:cNvSpPr txBox="1"/>
          <p:nvPr/>
        </p:nvSpPr>
        <p:spPr>
          <a:xfrm>
            <a:off x="10025634" y="1115568"/>
            <a:ext cx="1919173" cy="164592"/>
          </a:xfrm>
          <a:prstGeom prst="rect">
            <a:avLst/>
          </a:prstGeom>
          <a:noFill/>
        </p:spPr>
        <p:txBody>
          <a:bodyPr wrap="square" lIns="36576" rIns="36576" tIns="9144" bIns="9144">
            <a:spAutoFit/>
          </a:bodyPr>
          <a:lstStyle/>
          <a:p>
            <a:r>
              <a:rPr sz="900" b="1">
                <a:solidFill>
                  <a:srgbClr val="FFFFFF"/>
                </a:solidFill>
                <a:latin typeface="Calibri"/>
              </a:rPr>
              <a:t>₹1,109</a:t>
            </a:r>
          </a:p>
        </p:txBody>
      </p:sp>
      <p:sp>
        <p:nvSpPr>
          <p:cNvPr id="34" name="TextBox 33"/>
          <p:cNvSpPr txBox="1"/>
          <p:nvPr/>
        </p:nvSpPr>
        <p:spPr>
          <a:xfrm>
            <a:off x="9539935" y="1399032"/>
            <a:ext cx="2423160" cy="109728"/>
          </a:xfrm>
          <a:prstGeom prst="rect">
            <a:avLst/>
          </a:prstGeom>
          <a:noFill/>
        </p:spPr>
        <p:txBody>
          <a:bodyPr wrap="square" lIns="36576" rIns="36576" tIns="9144" bIns="9144">
            <a:spAutoFit/>
          </a:bodyPr>
          <a:lstStyle/>
          <a:p>
            <a:pPr algn="r"/>
            <a:r>
              <a:rPr sz="470" b="0">
                <a:solidFill>
                  <a:srgbClr val="E8EEF8"/>
                </a:solidFill>
                <a:latin typeface="Calibri"/>
              </a:rPr>
              <a:t>Report Reference: Q2 FY2025-26 | 28/04/2026</a:t>
            </a:r>
          </a:p>
        </p:txBody>
      </p:sp>
      <p:sp>
        <p:nvSpPr>
          <p:cNvPr id="35" name="Rectangle 34"/>
          <p:cNvSpPr/>
          <p:nvPr/>
        </p:nvSpPr>
        <p:spPr>
          <a:xfrm>
            <a:off x="0" y="1572768"/>
            <a:ext cx="12191695" cy="4389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 y="1645920"/>
            <a:ext cx="11789359" cy="228600"/>
          </a:xfrm>
          <a:prstGeom prst="rect">
            <a:avLst/>
          </a:prstGeom>
          <a:noFill/>
        </p:spPr>
        <p:txBody>
          <a:bodyPr wrap="square" lIns="36576" rIns="36576" tIns="9144" bIns="9144">
            <a:spAutoFit/>
          </a:bodyPr>
          <a:lstStyle/>
          <a:p>
            <a:r>
              <a:rPr sz="930" b="1">
                <a:solidFill>
                  <a:srgbClr val="1F4690"/>
                </a:solidFill>
                <a:latin typeface="Calibri"/>
              </a:rPr>
              <a:t>"BUY with SAARTHI Score of 72/100"</a:t>
            </a:r>
          </a:p>
        </p:txBody>
      </p:sp>
      <p:sp>
        <p:nvSpPr>
          <p:cNvPr id="37" name="Rounded Rectangle 36"/>
          <p:cNvSpPr/>
          <p:nvPr/>
        </p:nvSpPr>
        <p:spPr>
          <a:xfrm>
            <a:off x="201168" y="2139696"/>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1168" y="2139696"/>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2212848"/>
            <a:ext cx="6053328" cy="146304"/>
          </a:xfrm>
          <a:prstGeom prst="rect">
            <a:avLst/>
          </a:prstGeom>
          <a:noFill/>
        </p:spPr>
        <p:txBody>
          <a:bodyPr wrap="square" lIns="36576" rIns="36576" tIns="9144" bIns="9144">
            <a:spAutoFit/>
          </a:bodyPr>
          <a:lstStyle/>
          <a:p>
            <a:r>
              <a:rPr sz="630" b="1">
                <a:solidFill>
                  <a:srgbClr val="1F4690"/>
                </a:solidFill>
                <a:latin typeface="Calibri"/>
              </a:rPr>
              <a:t>Investment Thesis</a:t>
            </a:r>
          </a:p>
        </p:txBody>
      </p:sp>
      <p:sp>
        <p:nvSpPr>
          <p:cNvPr id="40" name="TextBox 39"/>
          <p:cNvSpPr txBox="1"/>
          <p:nvPr/>
        </p:nvSpPr>
        <p:spPr>
          <a:xfrm>
            <a:off x="310896" y="2395728"/>
            <a:ext cx="6053328" cy="914400"/>
          </a:xfrm>
          <a:prstGeom prst="rect">
            <a:avLst/>
          </a:prstGeom>
          <a:noFill/>
        </p:spPr>
        <p:txBody>
          <a:bodyPr wrap="square" lIns="36576" rIns="36576" tIns="9144" bIns="9144">
            <a:spAutoFit/>
          </a:bodyPr>
          <a:lstStyle/>
          <a:p>
            <a:r>
              <a:rPr sz="57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41" name="Rounded Rectangle 40"/>
          <p:cNvSpPr/>
          <p:nvPr/>
        </p:nvSpPr>
        <p:spPr>
          <a:xfrm>
            <a:off x="2011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01168" y="3493008"/>
            <a:ext cx="32004" cy="7498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547872"/>
            <a:ext cx="2907792" cy="146304"/>
          </a:xfrm>
          <a:prstGeom prst="rect">
            <a:avLst/>
          </a:prstGeom>
          <a:noFill/>
        </p:spPr>
        <p:txBody>
          <a:bodyPr wrap="square" lIns="36576" rIns="36576" tIns="9144" bIns="9144">
            <a:spAutoFit/>
          </a:bodyPr>
          <a:lstStyle/>
          <a:p>
            <a:r>
              <a:rPr sz="610" b="1">
                <a:solidFill>
                  <a:srgbClr val="1F4690"/>
                </a:solidFill>
                <a:latin typeface="Calibri"/>
              </a:rPr>
              <a:t>ARR Transformation</a:t>
            </a:r>
          </a:p>
        </p:txBody>
      </p:sp>
      <p:sp>
        <p:nvSpPr>
          <p:cNvPr id="44" name="TextBox 43"/>
          <p:cNvSpPr txBox="1"/>
          <p:nvPr/>
        </p:nvSpPr>
        <p:spPr>
          <a:xfrm>
            <a:off x="292608" y="3721608"/>
            <a:ext cx="2907792" cy="475488"/>
          </a:xfrm>
          <a:prstGeom prst="rect">
            <a:avLst/>
          </a:prstGeom>
          <a:noFill/>
        </p:spPr>
        <p:txBody>
          <a:bodyPr wrap="square" lIns="36576" rIns="36576" tIns="9144" bIns="9144">
            <a:spAutoFit/>
          </a:bodyPr>
          <a:lstStyle/>
          <a:p>
            <a:r>
              <a:rPr sz="540" b="0">
                <a:solidFill>
                  <a:srgbClr val="111111"/>
                </a:solidFill>
                <a:latin typeface="Calibri"/>
              </a:rPr>
              <a:t>ARR at 65% of net revenues (up from 61%); fee-based at 45%. Annuity income reduces transaction-cycle volatility.</a:t>
            </a:r>
          </a:p>
        </p:txBody>
      </p:sp>
      <p:sp>
        <p:nvSpPr>
          <p:cNvPr id="45" name="Rounded Rectangle 44"/>
          <p:cNvSpPr/>
          <p:nvPr/>
        </p:nvSpPr>
        <p:spPr>
          <a:xfrm>
            <a:off x="34015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01568" y="3493008"/>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93008" y="3547872"/>
            <a:ext cx="2907792" cy="146304"/>
          </a:xfrm>
          <a:prstGeom prst="rect">
            <a:avLst/>
          </a:prstGeom>
          <a:noFill/>
        </p:spPr>
        <p:txBody>
          <a:bodyPr wrap="square" lIns="36576" rIns="36576" tIns="9144" bIns="9144">
            <a:spAutoFit/>
          </a:bodyPr>
          <a:lstStyle/>
          <a:p>
            <a:r>
              <a:rPr sz="610" b="1">
                <a:solidFill>
                  <a:srgbClr val="1F4690"/>
                </a:solidFill>
                <a:latin typeface="Calibri"/>
              </a:rPr>
              <a:t>Profitability Momentum</a:t>
            </a:r>
          </a:p>
        </p:txBody>
      </p:sp>
      <p:sp>
        <p:nvSpPr>
          <p:cNvPr id="48" name="TextBox 47"/>
          <p:cNvSpPr txBox="1"/>
          <p:nvPr/>
        </p:nvSpPr>
        <p:spPr>
          <a:xfrm>
            <a:off x="3493008" y="3721608"/>
            <a:ext cx="2907792" cy="475488"/>
          </a:xfrm>
          <a:prstGeom prst="rect">
            <a:avLst/>
          </a:prstGeom>
          <a:noFill/>
        </p:spPr>
        <p:txBody>
          <a:bodyPr wrap="square" lIns="36576" rIns="36576" tIns="9144" bIns="9144">
            <a:spAutoFit/>
          </a:bodyPr>
          <a:lstStyle/>
          <a:p>
            <a:r>
              <a:rPr sz="540" b="0">
                <a:solidFill>
                  <a:srgbClr val="111111"/>
                </a:solidFill>
                <a:latin typeface="Calibri"/>
              </a:rPr>
              <a:t>Q2FY25 PAT INR 1,242 Cr (+123% YoY); H1FY26 operating PAT INR 1,088 Cr (+11% YoY); Asset &amp; PWM businesses leading at +32% PAT growth.</a:t>
            </a:r>
          </a:p>
        </p:txBody>
      </p:sp>
      <p:sp>
        <p:nvSpPr>
          <p:cNvPr id="49" name="Rounded Rectangle 48"/>
          <p:cNvSpPr/>
          <p:nvPr/>
        </p:nvSpPr>
        <p:spPr>
          <a:xfrm>
            <a:off x="2011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168" y="4334256"/>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8" y="4389120"/>
            <a:ext cx="2907792" cy="146304"/>
          </a:xfrm>
          <a:prstGeom prst="rect">
            <a:avLst/>
          </a:prstGeom>
          <a:noFill/>
        </p:spPr>
        <p:txBody>
          <a:bodyPr wrap="square" lIns="36576" rIns="36576" tIns="9144" bIns="9144">
            <a:spAutoFit/>
          </a:bodyPr>
          <a:lstStyle/>
          <a:p>
            <a:r>
              <a:rPr sz="610" b="1">
                <a:solidFill>
                  <a:srgbClr val="1F4690"/>
                </a:solidFill>
                <a:latin typeface="Calibri"/>
              </a:rPr>
              <a:t>AUM Scale and Outperformance</a:t>
            </a:r>
          </a:p>
        </p:txBody>
      </p:sp>
      <p:sp>
        <p:nvSpPr>
          <p:cNvPr id="52" name="TextBox 51"/>
          <p:cNvSpPr txBox="1"/>
          <p:nvPr/>
        </p:nvSpPr>
        <p:spPr>
          <a:xfrm>
            <a:off x="292608" y="4562856"/>
            <a:ext cx="2907792" cy="475488"/>
          </a:xfrm>
          <a:prstGeom prst="rect">
            <a:avLst/>
          </a:prstGeom>
          <a:noFill/>
        </p:spPr>
        <p:txBody>
          <a:bodyPr wrap="square" lIns="36576" rIns="36576" tIns="9144" bIns="9144">
            <a:spAutoFit/>
          </a:bodyPr>
          <a:lstStyle/>
          <a:p>
            <a:r>
              <a:rPr sz="540" b="0">
                <a:solidFill>
                  <a:srgbClr val="111111"/>
                </a:solidFill>
                <a:latin typeface="Calibri"/>
              </a:rPr>
              <a:t>Total AUM INR 1.77L Cr (+46% YoY). AMC AUM INR 1.89L Cr (+33%) with INR 11,610 Cr net flows. 91% of AUM outperforming benchmarks over 3 years.</a:t>
            </a:r>
          </a:p>
        </p:txBody>
      </p:sp>
      <p:sp>
        <p:nvSpPr>
          <p:cNvPr id="53" name="Rounded Rectangle 52"/>
          <p:cNvSpPr/>
          <p:nvPr/>
        </p:nvSpPr>
        <p:spPr>
          <a:xfrm>
            <a:off x="34015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401568" y="4334256"/>
            <a:ext cx="32004" cy="74980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93008" y="4389120"/>
            <a:ext cx="2907792" cy="146304"/>
          </a:xfrm>
          <a:prstGeom prst="rect">
            <a:avLst/>
          </a:prstGeom>
          <a:noFill/>
        </p:spPr>
        <p:txBody>
          <a:bodyPr wrap="square" lIns="36576" rIns="36576" tIns="9144" bIns="9144">
            <a:spAutoFit/>
          </a:bodyPr>
          <a:lstStyle/>
          <a:p>
            <a:r>
              <a:rPr sz="610" b="1">
                <a:solidFill>
                  <a:srgbClr val="1F4690"/>
                </a:solidFill>
                <a:latin typeface="Calibri"/>
              </a:rPr>
              <a:t>Private Wealth Expansion</a:t>
            </a:r>
          </a:p>
        </p:txBody>
      </p:sp>
      <p:sp>
        <p:nvSpPr>
          <p:cNvPr id="56" name="TextBox 55"/>
          <p:cNvSpPr txBox="1"/>
          <p:nvPr/>
        </p:nvSpPr>
        <p:spPr>
          <a:xfrm>
            <a:off x="3493008" y="4562856"/>
            <a:ext cx="2907792" cy="475488"/>
          </a:xfrm>
          <a:prstGeom prst="rect">
            <a:avLst/>
          </a:prstGeom>
          <a:noFill/>
        </p:spPr>
        <p:txBody>
          <a:bodyPr wrap="square" lIns="36576" rIns="36576" tIns="9144" bIns="9144">
            <a:spAutoFit/>
          </a:bodyPr>
          <a:lstStyle/>
          <a:p>
            <a:r>
              <a:rPr sz="540" b="0">
                <a:solidFill>
                  <a:srgbClr val="111111"/>
                </a:solidFill>
                <a:latin typeface="Calibri"/>
              </a:rPr>
              <a:t>PWM AUM INR 1.96L Cr (+31% YoY); family count +41% YoY; PAT +14% (9M). Distribution book +34% YoY to INR 42,775 Cr.</a:t>
            </a:r>
          </a:p>
        </p:txBody>
      </p:sp>
      <p:sp>
        <p:nvSpPr>
          <p:cNvPr id="57" name="Rounded Rectangle 56"/>
          <p:cNvSpPr/>
          <p:nvPr/>
        </p:nvSpPr>
        <p:spPr>
          <a:xfrm>
            <a:off x="2011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1168" y="5175504"/>
            <a:ext cx="32004" cy="74980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5230368"/>
            <a:ext cx="2907792" cy="146304"/>
          </a:xfrm>
          <a:prstGeom prst="rect">
            <a:avLst/>
          </a:prstGeom>
          <a:noFill/>
        </p:spPr>
        <p:txBody>
          <a:bodyPr wrap="square" lIns="36576" rIns="36576" tIns="9144" bIns="9144">
            <a:spAutoFit/>
          </a:bodyPr>
          <a:lstStyle/>
          <a:p>
            <a:r>
              <a:rPr sz="610" b="1">
                <a:solidFill>
                  <a:srgbClr val="1F4690"/>
                </a:solidFill>
                <a:latin typeface="Calibri"/>
              </a:rPr>
              <a:t>Valuation Opportunity</a:t>
            </a:r>
          </a:p>
        </p:txBody>
      </p:sp>
      <p:sp>
        <p:nvSpPr>
          <p:cNvPr id="60" name="TextBox 59"/>
          <p:cNvSpPr txBox="1"/>
          <p:nvPr/>
        </p:nvSpPr>
        <p:spPr>
          <a:xfrm>
            <a:off x="292608" y="5404104"/>
            <a:ext cx="2907792" cy="475488"/>
          </a:xfrm>
          <a:prstGeom prst="rect">
            <a:avLst/>
          </a:prstGeom>
          <a:noFill/>
        </p:spPr>
        <p:txBody>
          <a:bodyPr wrap="square" lIns="36576" rIns="36576" tIns="9144" bIns="9144">
            <a:spAutoFit/>
          </a:bodyPr>
          <a:lstStyle/>
          <a:p>
            <a:r>
              <a:rPr sz="540" b="0">
                <a:solidFill>
                  <a:srgbClr val="111111"/>
                </a:solidFill>
                <a:latin typeface="Calibri"/>
              </a:rPr>
              <a:t>CMP INR 822.90 vs consensus TP INR 1,126.67 (max INR 1,200) — 37% upside. Probability-weighted target INR 1,109.</a:t>
            </a:r>
          </a:p>
        </p:txBody>
      </p:sp>
      <p:sp>
        <p:nvSpPr>
          <p:cNvPr id="61" name="Rounded Rectangle 60"/>
          <p:cNvSpPr/>
          <p:nvPr/>
        </p:nvSpPr>
        <p:spPr>
          <a:xfrm>
            <a:off x="34015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401568" y="5175504"/>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93008" y="5230368"/>
            <a:ext cx="2907792" cy="146304"/>
          </a:xfrm>
          <a:prstGeom prst="rect">
            <a:avLst/>
          </a:prstGeom>
          <a:noFill/>
        </p:spPr>
        <p:txBody>
          <a:bodyPr wrap="square" lIns="36576" rIns="36576" tIns="9144" bIns="9144">
            <a:spAutoFit/>
          </a:bodyPr>
          <a:lstStyle/>
          <a:p>
            <a:r>
              <a:rPr sz="610" b="1">
                <a:solidFill>
                  <a:srgbClr val="1F4690"/>
                </a:solidFill>
                <a:latin typeface="Calibri"/>
              </a:rPr>
              <a:t>Credit Upgrade</a:t>
            </a:r>
          </a:p>
        </p:txBody>
      </p:sp>
      <p:sp>
        <p:nvSpPr>
          <p:cNvPr id="64" name="TextBox 63"/>
          <p:cNvSpPr txBox="1"/>
          <p:nvPr/>
        </p:nvSpPr>
        <p:spPr>
          <a:xfrm>
            <a:off x="3493008" y="5404104"/>
            <a:ext cx="2907792" cy="475488"/>
          </a:xfrm>
          <a:prstGeom prst="rect">
            <a:avLst/>
          </a:prstGeom>
          <a:noFill/>
        </p:spPr>
        <p:txBody>
          <a:bodyPr wrap="square" lIns="36576" rIns="36576" tIns="9144" bIns="9144">
            <a:spAutoFit/>
          </a:bodyPr>
          <a:lstStyle/>
          <a:p>
            <a:r>
              <a:rPr sz="540" b="0">
                <a:solidFill>
                  <a:srgbClr val="111111"/>
                </a:solidFill>
                <a:latin typeface="Calibri"/>
              </a:rPr>
              <a:t>Long-term credit rating upgraded to AA+ (Stable) by ICRA. Net worth INR 12,871 Cr (+16% YoY).</a:t>
            </a:r>
          </a:p>
        </p:txBody>
      </p:sp>
      <p:sp>
        <p:nvSpPr>
          <p:cNvPr id="65" name="TextBox 64"/>
          <p:cNvSpPr txBox="1"/>
          <p:nvPr/>
        </p:nvSpPr>
        <p:spPr>
          <a:xfrm>
            <a:off x="6601968" y="2139696"/>
            <a:ext cx="3182112" cy="128016"/>
          </a:xfrm>
          <a:prstGeom prst="rect">
            <a:avLst/>
          </a:prstGeom>
          <a:noFill/>
        </p:spPr>
        <p:txBody>
          <a:bodyPr wrap="square" lIns="36576" rIns="36576" tIns="9144" bIns="9144">
            <a:spAutoFit/>
          </a:bodyPr>
          <a:lstStyle/>
          <a:p>
            <a:r>
              <a:rPr sz="560" b="1">
                <a:solidFill>
                  <a:srgbClr val="1F4690"/>
                </a:solidFill>
                <a:latin typeface="Calibri"/>
              </a:rPr>
              <a:t>FINANCIAL SUMMARY (INR CRORE)</a:t>
            </a:r>
          </a:p>
        </p:txBody>
      </p:sp>
      <p:graphicFrame>
        <p:nvGraphicFramePr>
          <p:cNvPr id="66" name="Table 65"/>
          <p:cNvGraphicFramePr>
            <a:graphicFrameLocks noGrp="1"/>
          </p:cNvGraphicFramePr>
          <p:nvPr/>
        </p:nvGraphicFramePr>
        <p:xfrm>
          <a:off x="6601968" y="2350008"/>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480" b="1">
                          <a:solidFill>
                            <a:srgbClr val="FFFFFF"/>
                          </a:solidFill>
                          <a:latin typeface="Calibri"/>
                        </a:rPr>
                        <a:t>Metric</a:t>
                      </a:r>
                    </a:p>
                  </a:txBody>
                  <a:tcPr marL="22860" marR="22860" marT="5486" marB="5486">
                    <a:solidFill>
                      <a:srgbClr val="1F4690"/>
                    </a:solidFill>
                  </a:tcPr>
                </a:tc>
                <a:tc>
                  <a:txBody>
                    <a:bodyPr/>
                    <a:lstStyle/>
                    <a:p>
                      <a:pPr algn="r"/>
                      <a:r>
                        <a:rPr sz="480" b="1">
                          <a:solidFill>
                            <a:srgbClr val="FFFFFF"/>
                          </a:solidFill>
                          <a:latin typeface="Calibri"/>
                        </a:rPr>
                        <a:t>FY24A</a:t>
                      </a:r>
                    </a:p>
                  </a:txBody>
                  <a:tcPr marL="22860" marR="22860" marT="5486" marB="5486">
                    <a:solidFill>
                      <a:srgbClr val="1F4690"/>
                    </a:solidFill>
                  </a:tcPr>
                </a:tc>
                <a:tc>
                  <a:txBody>
                    <a:bodyPr/>
                    <a:lstStyle/>
                    <a:p>
                      <a:pPr algn="r"/>
                      <a:r>
                        <a:rPr sz="480" b="1">
                          <a:solidFill>
                            <a:srgbClr val="FFFFFF"/>
                          </a:solidFill>
                          <a:latin typeface="Calibri"/>
                        </a:rPr>
                        <a:t>FY25A</a:t>
                      </a:r>
                    </a:p>
                  </a:txBody>
                  <a:tcPr marL="22860" marR="22860" marT="5486" marB="5486">
                    <a:solidFill>
                      <a:srgbClr val="1F4690"/>
                    </a:solidFill>
                  </a:tcPr>
                </a:tc>
                <a:tc>
                  <a:txBody>
                    <a:bodyPr/>
                    <a:lstStyle/>
                    <a:p>
                      <a:pPr algn="r"/>
                      <a:r>
                        <a:rPr sz="480" b="1">
                          <a:solidFill>
                            <a:srgbClr val="FFFFFF"/>
                          </a:solidFill>
                          <a:latin typeface="Calibri"/>
                        </a:rPr>
                        <a:t>FY26E</a:t>
                      </a:r>
                    </a:p>
                  </a:txBody>
                  <a:tcPr marL="22860" marR="22860" marT="5486" marB="5486">
                    <a:solidFill>
                      <a:srgbClr val="1F4690"/>
                    </a:solidFill>
                  </a:tcPr>
                </a:tc>
                <a:tc>
                  <a:txBody>
                    <a:bodyPr/>
                    <a:lstStyle/>
                    <a:p>
                      <a:pPr algn="r"/>
                      <a:r>
                        <a:rPr sz="480" b="1">
                          <a:solidFill>
                            <a:srgbClr val="FFFFFF"/>
                          </a:solidFill>
                          <a:latin typeface="Calibri"/>
                        </a:rPr>
                        <a:t>FY27E</a:t>
                      </a:r>
                    </a:p>
                  </a:txBody>
                  <a:tcPr marL="22860" marR="22860" marT="5486" marB="5486">
                    <a:solidFill>
                      <a:srgbClr val="1F4690"/>
                    </a:solidFill>
                  </a:tcPr>
                </a:tc>
              </a:tr>
              <a:tr h="233172">
                <a:tc>
                  <a:txBody>
                    <a:bodyPr/>
                    <a:lstStyle/>
                    <a:p>
                      <a:r>
                        <a:rPr sz="470" b="1">
                          <a:solidFill>
                            <a:srgbClr val="111111"/>
                          </a:solidFill>
                          <a:latin typeface="Calibri"/>
                        </a:rPr>
                        <a:t>Revenue</a:t>
                      </a:r>
                    </a:p>
                  </a:txBody>
                  <a:tcPr marL="22860" marR="22860" marT="5486" marB="5486">
                    <a:solidFill>
                      <a:srgbClr val="F4F6F9"/>
                    </a:solidFill>
                  </a:tcPr>
                </a:tc>
                <a:tc>
                  <a:txBody>
                    <a:bodyPr/>
                    <a:lstStyle/>
                    <a:p>
                      <a:pPr algn="r"/>
                      <a:r>
                        <a:rPr sz="459" b="0">
                          <a:solidFill>
                            <a:srgbClr val="111111"/>
                          </a:solidFill>
                          <a:latin typeface="Calibri"/>
                        </a:rPr>
                        <a:t>₹7,106.0</a:t>
                      </a:r>
                    </a:p>
                  </a:txBody>
                  <a:tcPr marL="22860" marR="22860" marT="5486" marB="5486">
                    <a:solidFill>
                      <a:srgbClr val="F4F6F9"/>
                    </a:solidFill>
                  </a:tcPr>
                </a:tc>
                <a:tc>
                  <a:txBody>
                    <a:bodyPr/>
                    <a:lstStyle/>
                    <a:p>
                      <a:pPr algn="r"/>
                      <a:r>
                        <a:rPr sz="459" b="0">
                          <a:solidFill>
                            <a:srgbClr val="111111"/>
                          </a:solidFill>
                          <a:latin typeface="Calibri"/>
                        </a:rPr>
                        <a:t>₹8,340.0</a:t>
                      </a:r>
                    </a:p>
                  </a:txBody>
                  <a:tcPr marL="22860" marR="22860" marT="5486" marB="5486">
                    <a:solidFill>
                      <a:srgbClr val="F4F6F9"/>
                    </a:solidFill>
                  </a:tcPr>
                </a:tc>
                <a:tc>
                  <a:txBody>
                    <a:bodyPr/>
                    <a:lstStyle/>
                    <a:p>
                      <a:pPr algn="r"/>
                      <a:r>
                        <a:rPr sz="459" b="1">
                          <a:solidFill>
                            <a:srgbClr val="111111"/>
                          </a:solidFill>
                          <a:latin typeface="Calibri"/>
                        </a:rPr>
                        <a:t>₹10,402.0</a:t>
                      </a:r>
                    </a:p>
                  </a:txBody>
                  <a:tcPr marL="22860" marR="22860" marT="5486" marB="5486">
                    <a:solidFill>
                      <a:srgbClr val="F4F6F9"/>
                    </a:solidFill>
                  </a:tcPr>
                </a:tc>
                <a:tc>
                  <a:txBody>
                    <a:bodyPr/>
                    <a:lstStyle/>
                    <a:p>
                      <a:pPr algn="r"/>
                      <a:r>
                        <a:rPr sz="459" b="1">
                          <a:solidFill>
                            <a:srgbClr val="111111"/>
                          </a:solidFill>
                          <a:latin typeface="Calibri"/>
                        </a:rPr>
                        <a:t>₹12,973.0</a:t>
                      </a:r>
                    </a:p>
                  </a:txBody>
                  <a:tcPr marL="22860" marR="22860" marT="5486" marB="5486">
                    <a:solidFill>
                      <a:srgbClr val="F4F6F9"/>
                    </a:solidFill>
                  </a:tcPr>
                </a:tc>
              </a:tr>
              <a:tr h="233172">
                <a:tc>
                  <a:txBody>
                    <a:bodyPr/>
                    <a:lstStyle/>
                    <a:p>
                      <a:r>
                        <a:rPr sz="470" b="1">
                          <a:solidFill>
                            <a:srgbClr val="111111"/>
                          </a:solidFill>
                          <a:latin typeface="Calibri"/>
                        </a:rPr>
                        <a:t>EBITDA</a:t>
                      </a:r>
                    </a:p>
                  </a:txBody>
                  <a:tcPr marL="22860" marR="22860" marT="5486" marB="5486">
                    <a:solidFill>
                      <a:srgbClr val="FFFFFF"/>
                    </a:solidFill>
                  </a:tcPr>
                </a:tc>
                <a:tc>
                  <a:txBody>
                    <a:bodyPr/>
                    <a:lstStyle/>
                    <a:p>
                      <a:pPr algn="r"/>
                      <a:r>
                        <a:rPr sz="459" b="0">
                          <a:solidFill>
                            <a:srgbClr val="111111"/>
                          </a:solidFill>
                          <a:latin typeface="Calibri"/>
                        </a:rPr>
                        <a:t>₹4,082.0</a:t>
                      </a:r>
                    </a:p>
                  </a:txBody>
                  <a:tcPr marL="22860" marR="22860" marT="5486" marB="5486">
                    <a:solidFill>
                      <a:srgbClr val="FFFFFF"/>
                    </a:solidFill>
                  </a:tcPr>
                </a:tc>
                <a:tc>
                  <a:txBody>
                    <a:bodyPr/>
                    <a:lstStyle/>
                    <a:p>
                      <a:pPr algn="r"/>
                      <a:r>
                        <a:rPr sz="459" b="0">
                          <a:solidFill>
                            <a:srgbClr val="111111"/>
                          </a:solidFill>
                          <a:latin typeface="Calibri"/>
                        </a:rPr>
                        <a:t>₹4,546.0</a:t>
                      </a:r>
                    </a:p>
                  </a:txBody>
                  <a:tcPr marL="22860" marR="22860" marT="5486" marB="5486">
                    <a:solidFill>
                      <a:srgbClr val="FFFFFF"/>
                    </a:solidFill>
                  </a:tcPr>
                </a:tc>
                <a:tc>
                  <a:txBody>
                    <a:bodyPr/>
                    <a:lstStyle/>
                    <a:p>
                      <a:pPr algn="r"/>
                      <a:r>
                        <a:rPr sz="459" b="1">
                          <a:solidFill>
                            <a:srgbClr val="111111"/>
                          </a:solidFill>
                          <a:latin typeface="Calibri"/>
                        </a:rPr>
                        <a:t>₹5,439.0</a:t>
                      </a:r>
                    </a:p>
                  </a:txBody>
                  <a:tcPr marL="22860" marR="22860" marT="5486" marB="5486">
                    <a:solidFill>
                      <a:srgbClr val="FFFFFF"/>
                    </a:solidFill>
                  </a:tcPr>
                </a:tc>
                <a:tc>
                  <a:txBody>
                    <a:bodyPr/>
                    <a:lstStyle/>
                    <a:p>
                      <a:pPr algn="r"/>
                      <a:r>
                        <a:rPr sz="459" b="1">
                          <a:solidFill>
                            <a:srgbClr val="111111"/>
                          </a:solidFill>
                          <a:latin typeface="Calibri"/>
                        </a:rPr>
                        <a:t>₹6,784.0</a:t>
                      </a:r>
                    </a:p>
                  </a:txBody>
                  <a:tcPr marL="22860" marR="22860" marT="5486" marB="5486">
                    <a:solidFill>
                      <a:srgbClr val="FFFFFF"/>
                    </a:solidFill>
                  </a:tcPr>
                </a:tc>
              </a:tr>
              <a:tr h="233172">
                <a:tc>
                  <a:txBody>
                    <a:bodyPr/>
                    <a:lstStyle/>
                    <a:p>
                      <a:r>
                        <a:rPr sz="470" b="1">
                          <a:solidFill>
                            <a:srgbClr val="111111"/>
                          </a:solidFill>
                          <a:latin typeface="Calibri"/>
                        </a:rPr>
                        <a:t>EBITDA Mgn</a:t>
                      </a:r>
                    </a:p>
                  </a:txBody>
                  <a:tcPr marL="22860" marR="22860" marT="5486" marB="5486">
                    <a:solidFill>
                      <a:srgbClr val="F4F6F9"/>
                    </a:solidFill>
                  </a:tcPr>
                </a:tc>
                <a:tc>
                  <a:txBody>
                    <a:bodyPr/>
                    <a:lstStyle/>
                    <a:p>
                      <a:pPr algn="r"/>
                      <a:r>
                        <a:rPr sz="459" b="0">
                          <a:solidFill>
                            <a:srgbClr val="111111"/>
                          </a:solidFill>
                          <a:latin typeface="Calibri"/>
                        </a:rPr>
                        <a:t>57.4%</a:t>
                      </a:r>
                    </a:p>
                  </a:txBody>
                  <a:tcPr marL="22860" marR="22860" marT="5486" marB="5486">
                    <a:solidFill>
                      <a:srgbClr val="F4F6F9"/>
                    </a:solidFill>
                  </a:tcPr>
                </a:tc>
                <a:tc>
                  <a:txBody>
                    <a:bodyPr/>
                    <a:lstStyle/>
                    <a:p>
                      <a:pPr algn="r"/>
                      <a:r>
                        <a:rPr sz="459" b="0">
                          <a:solidFill>
                            <a:srgbClr val="111111"/>
                          </a:solidFill>
                          <a:latin typeface="Calibri"/>
                        </a:rPr>
                        <a:t>54.5%</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r>
              <a:tr h="233172">
                <a:tc>
                  <a:txBody>
                    <a:bodyPr/>
                    <a:lstStyle/>
                    <a:p>
                      <a:r>
                        <a:rPr sz="470" b="1">
                          <a:solidFill>
                            <a:srgbClr val="111111"/>
                          </a:solidFill>
                          <a:latin typeface="Calibri"/>
                        </a:rPr>
                        <a:t>PAT</a:t>
                      </a:r>
                    </a:p>
                  </a:txBody>
                  <a:tcPr marL="22860" marR="22860" marT="5486" marB="5486">
                    <a:solidFill>
                      <a:srgbClr val="FFFFFF"/>
                    </a:solidFill>
                  </a:tcPr>
                </a:tc>
                <a:tc>
                  <a:txBody>
                    <a:bodyPr/>
                    <a:lstStyle/>
                    <a:p>
                      <a:pPr algn="r"/>
                      <a:r>
                        <a:rPr sz="459" b="0">
                          <a:solidFill>
                            <a:srgbClr val="111111"/>
                          </a:solidFill>
                          <a:latin typeface="Calibri"/>
                        </a:rPr>
                        <a:t>₹2,441.0</a:t>
                      </a:r>
                    </a:p>
                  </a:txBody>
                  <a:tcPr marL="22860" marR="22860" marT="5486" marB="5486">
                    <a:solidFill>
                      <a:srgbClr val="FFFFFF"/>
                    </a:solidFill>
                  </a:tcPr>
                </a:tc>
                <a:tc>
                  <a:txBody>
                    <a:bodyPr/>
                    <a:lstStyle/>
                    <a:p>
                      <a:pPr algn="r"/>
                      <a:r>
                        <a:rPr sz="459" b="0">
                          <a:solidFill>
                            <a:srgbClr val="111111"/>
                          </a:solidFill>
                          <a:latin typeface="Calibri"/>
                        </a:rPr>
                        <a:t>₹2,502.0</a:t>
                      </a:r>
                    </a:p>
                  </a:txBody>
                  <a:tcPr marL="22860" marR="22860" marT="5486" marB="5486">
                    <a:solidFill>
                      <a:srgbClr val="FFFFFF"/>
                    </a:solidFill>
                  </a:tcPr>
                </a:tc>
                <a:tc>
                  <a:txBody>
                    <a:bodyPr/>
                    <a:lstStyle/>
                    <a:p>
                      <a:pPr algn="r"/>
                      <a:r>
                        <a:rPr sz="459" b="1">
                          <a:solidFill>
                            <a:srgbClr val="111111"/>
                          </a:solidFill>
                          <a:latin typeface="Calibri"/>
                        </a:rPr>
                        <a:t>₹3,066.0</a:t>
                      </a:r>
                    </a:p>
                  </a:txBody>
                  <a:tcPr marL="22860" marR="22860" marT="5486" marB="5486">
                    <a:solidFill>
                      <a:srgbClr val="FFFFFF"/>
                    </a:solidFill>
                  </a:tcPr>
                </a:tc>
                <a:tc>
                  <a:txBody>
                    <a:bodyPr/>
                    <a:lstStyle/>
                    <a:p>
                      <a:pPr algn="r"/>
                      <a:r>
                        <a:rPr sz="459" b="1">
                          <a:solidFill>
                            <a:srgbClr val="111111"/>
                          </a:solidFill>
                          <a:latin typeface="Calibri"/>
                        </a:rPr>
                        <a:t>₹3,983.0</a:t>
                      </a:r>
                    </a:p>
                  </a:txBody>
                  <a:tcPr marL="22860" marR="22860" marT="5486" marB="5486">
                    <a:solidFill>
                      <a:srgbClr val="FFFFFF"/>
                    </a:solidFill>
                  </a:tcPr>
                </a:tc>
              </a:tr>
              <a:tr h="233172">
                <a:tc>
                  <a:txBody>
                    <a:bodyPr/>
                    <a:lstStyle/>
                    <a:p>
                      <a:r>
                        <a:rPr sz="470" b="1">
                          <a:solidFill>
                            <a:srgbClr val="111111"/>
                          </a:solidFill>
                          <a:latin typeface="Calibri"/>
                        </a:rPr>
                        <a:t>PAT Mgn</a:t>
                      </a:r>
                    </a:p>
                  </a:txBody>
                  <a:tcPr marL="22860" marR="22860" marT="5486" marB="5486">
                    <a:solidFill>
                      <a:srgbClr val="F4F6F9"/>
                    </a:solidFill>
                  </a:tcPr>
                </a:tc>
                <a:tc>
                  <a:txBody>
                    <a:bodyPr/>
                    <a:lstStyle/>
                    <a:p>
                      <a:pPr algn="r"/>
                      <a:r>
                        <a:rPr sz="459" b="0">
                          <a:solidFill>
                            <a:srgbClr val="111111"/>
                          </a:solidFill>
                          <a:latin typeface="Calibri"/>
                        </a:rPr>
                        <a:t>34.4%</a:t>
                      </a:r>
                    </a:p>
                  </a:txBody>
                  <a:tcPr marL="22860" marR="22860" marT="5486" marB="5486">
                    <a:solidFill>
                      <a:srgbClr val="F4F6F9"/>
                    </a:solidFill>
                  </a:tcPr>
                </a:tc>
                <a:tc>
                  <a:txBody>
                    <a:bodyPr/>
                    <a:lstStyle/>
                    <a:p>
                      <a:pPr algn="r"/>
                      <a:r>
                        <a:rPr sz="459" b="0">
                          <a:solidFill>
                            <a:srgbClr val="111111"/>
                          </a:solidFill>
                          <a:latin typeface="Calibri"/>
                        </a:rPr>
                        <a:t>30.0%</a:t>
                      </a:r>
                    </a:p>
                  </a:txBody>
                  <a:tcPr marL="22860" marR="22860" marT="5486" marB="5486">
                    <a:solidFill>
                      <a:srgbClr val="F4F6F9"/>
                    </a:solidFill>
                  </a:tcPr>
                </a:tc>
                <a:tc>
                  <a:txBody>
                    <a:bodyPr/>
                    <a:lstStyle/>
                    <a:p>
                      <a:pPr algn="r"/>
                      <a:r>
                        <a:rPr sz="459" b="1">
                          <a:solidFill>
                            <a:srgbClr val="111111"/>
                          </a:solidFill>
                          <a:latin typeface="Calibri"/>
                        </a:rPr>
                        <a:t>29.5%</a:t>
                      </a:r>
                    </a:p>
                  </a:txBody>
                  <a:tcPr marL="22860" marR="22860" marT="5486" marB="5486">
                    <a:solidFill>
                      <a:srgbClr val="F4F6F9"/>
                    </a:solidFill>
                  </a:tcPr>
                </a:tc>
                <a:tc>
                  <a:txBody>
                    <a:bodyPr/>
                    <a:lstStyle/>
                    <a:p>
                      <a:pPr algn="r"/>
                      <a:r>
                        <a:rPr sz="459" b="1">
                          <a:solidFill>
                            <a:srgbClr val="111111"/>
                          </a:solidFill>
                          <a:latin typeface="Calibri"/>
                        </a:rPr>
                        <a:t>30.7%</a:t>
                      </a:r>
                    </a:p>
                  </a:txBody>
                  <a:tcPr marL="22860" marR="22860" marT="5486" marB="5486">
                    <a:solidFill>
                      <a:srgbClr val="F4F6F9"/>
                    </a:solidFill>
                  </a:tcPr>
                </a:tc>
              </a:tr>
              <a:tr h="233172">
                <a:tc>
                  <a:txBody>
                    <a:bodyPr/>
                    <a:lstStyle/>
                    <a:p>
                      <a:r>
                        <a:rPr sz="470" b="1">
                          <a:solidFill>
                            <a:srgbClr val="111111"/>
                          </a:solidFill>
                          <a:latin typeface="Calibri"/>
                        </a:rPr>
                        <a:t>EPS</a:t>
                      </a:r>
                    </a:p>
                  </a:txBody>
                  <a:tcPr marL="22860" marR="22860" marT="5486" marB="5486">
                    <a:solidFill>
                      <a:srgbClr val="FFFFFF"/>
                    </a:solidFill>
                  </a:tcPr>
                </a:tc>
                <a:tc>
                  <a:txBody>
                    <a:bodyPr/>
                    <a:lstStyle/>
                    <a:p>
                      <a:pPr algn="r"/>
                      <a:r>
                        <a:rPr sz="459" b="0">
                          <a:solidFill>
                            <a:srgbClr val="111111"/>
                          </a:solidFill>
                          <a:latin typeface="Calibri"/>
                        </a:rPr>
                        <a:t>₹41.0</a:t>
                      </a:r>
                    </a:p>
                  </a:txBody>
                  <a:tcPr marL="22860" marR="22860" marT="5486" marB="5486">
                    <a:solidFill>
                      <a:srgbClr val="FFFFFF"/>
                    </a:solidFill>
                  </a:tcPr>
                </a:tc>
                <a:tc>
                  <a:txBody>
                    <a:bodyPr/>
                    <a:lstStyle/>
                    <a:p>
                      <a:pPr algn="r"/>
                      <a:r>
                        <a:rPr sz="459" b="0">
                          <a:solidFill>
                            <a:srgbClr val="111111"/>
                          </a:solidFill>
                          <a:latin typeface="Calibri"/>
                        </a:rPr>
                        <a:t>₹41.7</a:t>
                      </a:r>
                    </a:p>
                  </a:txBody>
                  <a:tcPr marL="22860" marR="22860" marT="5486" marB="5486">
                    <a:solidFill>
                      <a:srgbClr val="FFFFFF"/>
                    </a:solidFill>
                  </a:tcPr>
                </a:tc>
                <a:tc>
                  <a:txBody>
                    <a:bodyPr/>
                    <a:lstStyle/>
                    <a:p>
                      <a:pPr algn="r"/>
                      <a:r>
                        <a:rPr sz="459" b="1">
                          <a:solidFill>
                            <a:srgbClr val="1A7A4A"/>
                          </a:solidFill>
                          <a:latin typeface="Calibri"/>
                        </a:rPr>
                        <a:t>₹51.2</a:t>
                      </a:r>
                    </a:p>
                  </a:txBody>
                  <a:tcPr marL="22860" marR="22860" marT="5486" marB="5486">
                    <a:solidFill>
                      <a:srgbClr val="FFFFFF"/>
                    </a:solidFill>
                  </a:tcPr>
                </a:tc>
                <a:tc>
                  <a:txBody>
                    <a:bodyPr/>
                    <a:lstStyle/>
                    <a:p>
                      <a:pPr algn="r"/>
                      <a:r>
                        <a:rPr sz="459" b="1">
                          <a:solidFill>
                            <a:srgbClr val="1A7A4A"/>
                          </a:solidFill>
                          <a:latin typeface="Calibri"/>
                        </a:rPr>
                        <a:t>₹66.5</a:t>
                      </a:r>
                    </a:p>
                  </a:txBody>
                  <a:tcPr marL="22860" marR="22860" marT="5486" marB="5486">
                    <a:solidFill>
                      <a:srgbClr val="FFFFFF"/>
                    </a:solidFill>
                  </a:tcPr>
                </a:tc>
              </a:tr>
              <a:tr h="233172">
                <a:tc>
                  <a:txBody>
                    <a:bodyPr/>
                    <a:lstStyle/>
                    <a:p>
                      <a:r>
                        <a:rPr sz="470" b="1">
                          <a:solidFill>
                            <a:srgbClr val="111111"/>
                          </a:solidFill>
                          <a:latin typeface="Calibri"/>
                        </a:rPr>
                        <a:t>P/E</a:t>
                      </a:r>
                    </a:p>
                  </a:txBody>
                  <a:tcPr marL="22860" marR="22860" marT="5486" marB="5486">
                    <a:solidFill>
                      <a:srgbClr val="F4F6F9"/>
                    </a:solidFill>
                  </a:tcPr>
                </a:tc>
                <a:tc>
                  <a:txBody>
                    <a:bodyPr/>
                    <a:lstStyle/>
                    <a:p>
                      <a:pPr algn="r"/>
                      <a:r>
                        <a:rPr sz="459" b="0">
                          <a:solidFill>
                            <a:srgbClr val="111111"/>
                          </a:solidFill>
                          <a:latin typeface="Calibri"/>
                        </a:rPr>
                        <a:t>20.1x</a:t>
                      </a:r>
                    </a:p>
                  </a:txBody>
                  <a:tcPr marL="22860" marR="22860" marT="5486" marB="5486">
                    <a:solidFill>
                      <a:srgbClr val="F4F6F9"/>
                    </a:solidFill>
                  </a:tcPr>
                </a:tc>
                <a:tc>
                  <a:txBody>
                    <a:bodyPr/>
                    <a:lstStyle/>
                    <a:p>
                      <a:pPr algn="r"/>
                      <a:r>
                        <a:rPr sz="459" b="0">
                          <a:solidFill>
                            <a:srgbClr val="111111"/>
                          </a:solidFill>
                          <a:latin typeface="Calibri"/>
                        </a:rPr>
                        <a:t>19.7x</a:t>
                      </a:r>
                    </a:p>
                  </a:txBody>
                  <a:tcPr marL="22860" marR="22860" marT="5486" marB="5486">
                    <a:solidFill>
                      <a:srgbClr val="F4F6F9"/>
                    </a:solidFill>
                  </a:tcPr>
                </a:tc>
                <a:tc>
                  <a:txBody>
                    <a:bodyPr/>
                    <a:lstStyle/>
                    <a:p>
                      <a:pPr algn="r"/>
                      <a:r>
                        <a:rPr sz="459" b="1">
                          <a:solidFill>
                            <a:srgbClr val="1A7A4A"/>
                          </a:solidFill>
                          <a:latin typeface="Calibri"/>
                        </a:rPr>
                        <a:t>16.1x</a:t>
                      </a:r>
                    </a:p>
                  </a:txBody>
                  <a:tcPr marL="22860" marR="22860" marT="5486" marB="5486">
                    <a:solidFill>
                      <a:srgbClr val="F4F6F9"/>
                    </a:solidFill>
                  </a:tcPr>
                </a:tc>
                <a:tc>
                  <a:txBody>
                    <a:bodyPr/>
                    <a:lstStyle/>
                    <a:p>
                      <a:pPr algn="r"/>
                      <a:r>
                        <a:rPr sz="459" b="1">
                          <a:solidFill>
                            <a:srgbClr val="1A7A4A"/>
                          </a:solidFill>
                          <a:latin typeface="Calibri"/>
                        </a:rPr>
                        <a:t>12.4x</a:t>
                      </a:r>
                    </a:p>
                  </a:txBody>
                  <a:tcPr marL="22860" marR="22860" marT="5486" marB="5486">
                    <a:solidFill>
                      <a:srgbClr val="F4F6F9"/>
                    </a:solidFill>
                  </a:tcPr>
                </a:tc>
              </a:tr>
              <a:tr h="233172">
                <a:tc>
                  <a:txBody>
                    <a:bodyPr/>
                    <a:lstStyle/>
                    <a:p>
                      <a:r>
                        <a:rPr sz="470" b="1">
                          <a:solidFill>
                            <a:srgbClr val="111111"/>
                          </a:solidFill>
                          <a:latin typeface="Calibri"/>
                        </a:rPr>
                        <a:t>P/B</a:t>
                      </a:r>
                    </a:p>
                  </a:txBody>
                  <a:tcPr marL="22860" marR="22860" marT="5486" marB="5486">
                    <a:solidFill>
                      <a:srgbClr val="FFFFFF"/>
                    </a:solidFill>
                  </a:tcPr>
                </a:tc>
                <a:tc>
                  <a:txBody>
                    <a:bodyPr/>
                    <a:lstStyle/>
                    <a:p>
                      <a:pPr algn="r"/>
                      <a:r>
                        <a:rPr sz="459" b="0">
                          <a:solidFill>
                            <a:srgbClr val="111111"/>
                          </a:solidFill>
                          <a:latin typeface="Calibri"/>
                        </a:rPr>
                        <a:t>5.6x</a:t>
                      </a:r>
                    </a:p>
                  </a:txBody>
                  <a:tcPr marL="22860" marR="22860" marT="5486" marB="5486">
                    <a:solidFill>
                      <a:srgbClr val="FFFFFF"/>
                    </a:solidFill>
                  </a:tcPr>
                </a:tc>
                <a:tc>
                  <a:txBody>
                    <a:bodyPr/>
                    <a:lstStyle/>
                    <a:p>
                      <a:pPr algn="r"/>
                      <a:r>
                        <a:rPr sz="459" b="0">
                          <a:solidFill>
                            <a:srgbClr val="111111"/>
                          </a:solidFill>
                          <a:latin typeface="Calibri"/>
                        </a:rPr>
                        <a:t>4.5x</a:t>
                      </a:r>
                    </a:p>
                  </a:txBody>
                  <a:tcPr marL="22860" marR="22860" marT="5486" marB="5486">
                    <a:solidFill>
                      <a:srgbClr val="FFFFFF"/>
                    </a:solidFill>
                  </a:tcPr>
                </a:tc>
                <a:tc>
                  <a:txBody>
                    <a:bodyPr/>
                    <a:lstStyle/>
                    <a:p>
                      <a:pPr algn="r"/>
                      <a:r>
                        <a:rPr sz="459" b="1">
                          <a:solidFill>
                            <a:srgbClr val="1A7A4A"/>
                          </a:solidFill>
                          <a:latin typeface="Calibri"/>
                        </a:rPr>
                        <a:t>3.6x</a:t>
                      </a:r>
                    </a:p>
                  </a:txBody>
                  <a:tcPr marL="22860" marR="22860" marT="5486" marB="5486">
                    <a:solidFill>
                      <a:srgbClr val="FFFFFF"/>
                    </a:solidFill>
                  </a:tcPr>
                </a:tc>
                <a:tc>
                  <a:txBody>
                    <a:bodyPr/>
                    <a:lstStyle/>
                    <a:p>
                      <a:pPr algn="r"/>
                      <a:r>
                        <a:rPr sz="459" b="1">
                          <a:solidFill>
                            <a:srgbClr val="1A7A4A"/>
                          </a:solidFill>
                          <a:latin typeface="Calibri"/>
                        </a:rPr>
                        <a:t>2.9x</a:t>
                      </a:r>
                    </a:p>
                  </a:txBody>
                  <a:tcPr marL="22860" marR="22860" marT="5486" marB="5486">
                    <a:solidFill>
                      <a:srgbClr val="FFFFFF"/>
                    </a:solidFill>
                  </a:tcPr>
                </a:tc>
              </a:tr>
              <a:tr h="233172">
                <a:tc>
                  <a:txBody>
                    <a:bodyPr/>
                    <a:lstStyle/>
                    <a:p>
                      <a:r>
                        <a:rPr sz="470" b="1">
                          <a:solidFill>
                            <a:srgbClr val="111111"/>
                          </a:solidFill>
                          <a:latin typeface="Calibri"/>
                        </a:rPr>
                        <a:t>EV/EBITDA</a:t>
                      </a:r>
                    </a:p>
                  </a:txBody>
                  <a:tcPr marL="22860" marR="22860" marT="5486" marB="5486">
                    <a:solidFill>
                      <a:srgbClr val="F4F6F9"/>
                    </a:solidFill>
                  </a:tcPr>
                </a:tc>
                <a:tc>
                  <a:txBody>
                    <a:bodyPr/>
                    <a:lstStyle/>
                    <a:p>
                      <a:pPr algn="r"/>
                      <a:r>
                        <a:rPr sz="459" b="0">
                          <a:solidFill>
                            <a:srgbClr val="111111"/>
                          </a:solidFill>
                          <a:latin typeface="Calibri"/>
                        </a:rPr>
                        <a:t>9.5x</a:t>
                      </a:r>
                    </a:p>
                  </a:txBody>
                  <a:tcPr marL="22860" marR="22860" marT="5486" marB="5486">
                    <a:solidFill>
                      <a:srgbClr val="F4F6F9"/>
                    </a:solidFill>
                  </a:tcPr>
                </a:tc>
                <a:tc>
                  <a:txBody>
                    <a:bodyPr/>
                    <a:lstStyle/>
                    <a:p>
                      <a:pPr algn="r"/>
                      <a:r>
                        <a:rPr sz="459" b="0">
                          <a:solidFill>
                            <a:srgbClr val="111111"/>
                          </a:solidFill>
                          <a:latin typeface="Calibri"/>
                        </a:rPr>
                        <a:t>11.4x</a:t>
                      </a:r>
                    </a:p>
                  </a:txBody>
                  <a:tcPr marL="22860" marR="22860" marT="5486" marB="5486">
                    <a:solidFill>
                      <a:srgbClr val="F4F6F9"/>
                    </a:solidFill>
                  </a:tcPr>
                </a:tc>
                <a:tc>
                  <a:txBody>
                    <a:bodyPr/>
                    <a:lstStyle/>
                    <a:p>
                      <a:pPr algn="r"/>
                      <a:r>
                        <a:rPr sz="459" b="1">
                          <a:solidFill>
                            <a:srgbClr val="1A7A4A"/>
                          </a:solidFill>
                          <a:latin typeface="Calibri"/>
                        </a:rPr>
                        <a:t>12.7x</a:t>
                      </a:r>
                    </a:p>
                  </a:txBody>
                  <a:tcPr marL="22860" marR="22860" marT="5486" marB="5486">
                    <a:solidFill>
                      <a:srgbClr val="F4F6F9"/>
                    </a:solidFill>
                  </a:tcPr>
                </a:tc>
                <a:tc>
                  <a:txBody>
                    <a:bodyPr/>
                    <a:lstStyle/>
                    <a:p>
                      <a:pPr algn="r"/>
                      <a:r>
                        <a:rPr sz="459" b="1">
                          <a:solidFill>
                            <a:srgbClr val="1A7A4A"/>
                          </a:solidFill>
                          <a:latin typeface="Calibri"/>
                        </a:rPr>
                        <a:t>10.5x</a:t>
                      </a:r>
                    </a:p>
                  </a:txBody>
                  <a:tcPr marL="22860" marR="22860" marT="5486" marB="5486">
                    <a:solidFill>
                      <a:srgbClr val="F4F6F9"/>
                    </a:solidFill>
                  </a:tcPr>
                </a:tc>
              </a:tr>
            </a:tbl>
          </a:graphicData>
        </a:graphic>
      </p:graphicFrame>
      <p:sp>
        <p:nvSpPr>
          <p:cNvPr id="67" name="TextBox 66"/>
          <p:cNvSpPr txBox="1"/>
          <p:nvPr/>
        </p:nvSpPr>
        <p:spPr>
          <a:xfrm>
            <a:off x="6601968" y="4837176"/>
            <a:ext cx="3182112" cy="128016"/>
          </a:xfrm>
          <a:prstGeom prst="rect">
            <a:avLst/>
          </a:prstGeom>
          <a:noFill/>
        </p:spPr>
        <p:txBody>
          <a:bodyPr wrap="square" lIns="36576" rIns="36576" tIns="9144" bIns="9144">
            <a:spAutoFit/>
          </a:bodyPr>
          <a:lstStyle/>
          <a:p>
            <a:r>
              <a:rPr sz="550" b="1">
                <a:solidFill>
                  <a:srgbClr val="1F4690"/>
                </a:solidFill>
                <a:latin typeface="Calibri"/>
              </a:rPr>
              <a:t>H1 FY26 SNAPSHOT</a:t>
            </a:r>
          </a:p>
        </p:txBody>
      </p:sp>
      <p:graphicFrame>
        <p:nvGraphicFramePr>
          <p:cNvPr id="68" name="Table 67"/>
          <p:cNvGraphicFramePr>
            <a:graphicFrameLocks noGrp="1"/>
          </p:cNvGraphicFramePr>
          <p:nvPr/>
        </p:nvGraphicFramePr>
        <p:xfrm>
          <a:off x="6601968" y="5029200"/>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490" b="0">
                          <a:solidFill>
                            <a:srgbClr val="111111"/>
                          </a:solidFill>
                          <a:latin typeface="Calibri"/>
                        </a:rPr>
                        <a:t>Consol. Net Revenue</a:t>
                      </a:r>
                    </a:p>
                  </a:txBody>
                  <a:tcPr marL="22860" marR="22860" marT="5486" marB="5486">
                    <a:solidFill>
                      <a:srgbClr val="F4F6F9"/>
                    </a:solidFill>
                  </a:tcPr>
                </a:tc>
                <a:tc>
                  <a:txBody>
                    <a:bodyPr/>
                    <a:lstStyle/>
                    <a:p>
                      <a:pPr algn="r"/>
                      <a:r>
                        <a:rPr sz="490" b="1">
                          <a:solidFill>
                            <a:srgbClr val="1F4690"/>
                          </a:solidFill>
                          <a:latin typeface="Calibri"/>
                        </a:rPr>
                        <a:t>₹2,888 Cr</a:t>
                      </a:r>
                    </a:p>
                  </a:txBody>
                  <a:tcPr marL="22860" marR="22860" marT="5486" marB="5486">
                    <a:solidFill>
                      <a:srgbClr val="F4F6F9"/>
                    </a:solidFill>
                  </a:tcPr>
                </a:tc>
              </a:tr>
              <a:tr h="186537">
                <a:tc>
                  <a:txBody>
                    <a:bodyPr/>
                    <a:lstStyle/>
                    <a:p>
                      <a:r>
                        <a:rPr sz="490" b="0">
                          <a:solidFill>
                            <a:srgbClr val="111111"/>
                          </a:solidFill>
                          <a:latin typeface="Calibri"/>
                        </a:rPr>
                        <a:t>Operating PAT</a:t>
                      </a:r>
                    </a:p>
                  </a:txBody>
                  <a:tcPr marL="22860" marR="22860" marT="5486" marB="5486">
                    <a:solidFill>
                      <a:srgbClr val="FFFFFF"/>
                    </a:solidFill>
                  </a:tcPr>
                </a:tc>
                <a:tc>
                  <a:txBody>
                    <a:bodyPr/>
                    <a:lstStyle/>
                    <a:p>
                      <a:pPr algn="r"/>
                      <a:r>
                        <a:rPr sz="490" b="1">
                          <a:solidFill>
                            <a:srgbClr val="1F4690"/>
                          </a:solidFill>
                          <a:latin typeface="Calibri"/>
                        </a:rPr>
                        <a:t>₹1,088 Cr (+11% YoY)</a:t>
                      </a:r>
                    </a:p>
                  </a:txBody>
                  <a:tcPr marL="22860" marR="22860" marT="5486" marB="5486">
                    <a:solidFill>
                      <a:srgbClr val="FFFFFF"/>
                    </a:solidFill>
                  </a:tcPr>
                </a:tc>
              </a:tr>
              <a:tr h="186537">
                <a:tc>
                  <a:txBody>
                    <a:bodyPr/>
                    <a:lstStyle/>
                    <a:p>
                      <a:r>
                        <a:rPr sz="490" b="0">
                          <a:solidFill>
                            <a:srgbClr val="111111"/>
                          </a:solidFill>
                          <a:latin typeface="Calibri"/>
                        </a:rPr>
                        <a:t>ARR % of Net Revenue</a:t>
                      </a:r>
                    </a:p>
                  </a:txBody>
                  <a:tcPr marL="22860" marR="22860" marT="5486" marB="5486">
                    <a:solidFill>
                      <a:srgbClr val="F4F6F9"/>
                    </a:solidFill>
                  </a:tcPr>
                </a:tc>
                <a:tc>
                  <a:txBody>
                    <a:bodyPr/>
                    <a:lstStyle/>
                    <a:p>
                      <a:pPr algn="r"/>
                      <a:r>
                        <a:rPr sz="490" b="1">
                          <a:solidFill>
                            <a:srgbClr val="1F4690"/>
                          </a:solidFill>
                          <a:latin typeface="Calibri"/>
                        </a:rPr>
                        <a:t>65%</a:t>
                      </a:r>
                    </a:p>
                  </a:txBody>
                  <a:tcPr marL="22860" marR="22860" marT="5486" marB="5486">
                    <a:solidFill>
                      <a:srgbClr val="F4F6F9"/>
                    </a:solidFill>
                  </a:tcPr>
                </a:tc>
              </a:tr>
              <a:tr h="186537">
                <a:tc>
                  <a:txBody>
                    <a:bodyPr/>
                    <a:lstStyle/>
                    <a:p>
                      <a:r>
                        <a:rPr sz="490" b="0">
                          <a:solidFill>
                            <a:srgbClr val="111111"/>
                          </a:solidFill>
                          <a:latin typeface="Calibri"/>
                        </a:rPr>
                        <a:t>Fee-Based % of Revenue</a:t>
                      </a:r>
                    </a:p>
                  </a:txBody>
                  <a:tcPr marL="22860" marR="22860" marT="5486" marB="5486">
                    <a:solidFill>
                      <a:srgbClr val="FFFFFF"/>
                    </a:solidFill>
                  </a:tcPr>
                </a:tc>
                <a:tc>
                  <a:txBody>
                    <a:bodyPr/>
                    <a:lstStyle/>
                    <a:p>
                      <a:pPr algn="r"/>
                      <a:r>
                        <a:rPr sz="490" b="1">
                          <a:solidFill>
                            <a:srgbClr val="1F4690"/>
                          </a:solidFill>
                          <a:latin typeface="Calibri"/>
                        </a:rPr>
                        <a:t>45%</a:t>
                      </a:r>
                    </a:p>
                  </a:txBody>
                  <a:tcPr marL="22860" marR="22860" marT="5486" marB="5486">
                    <a:solidFill>
                      <a:srgbClr val="FFFFFF"/>
                    </a:solidFill>
                  </a:tcPr>
                </a:tc>
              </a:tr>
              <a:tr h="186540">
                <a:tc>
                  <a:txBody>
                    <a:bodyPr/>
                    <a:lstStyle/>
                    <a:p>
                      <a:r>
                        <a:rPr sz="490" b="0">
                          <a:solidFill>
                            <a:srgbClr val="111111"/>
                          </a:solidFill>
                          <a:latin typeface="Calibri"/>
                        </a:rPr>
                        <a:t>EPS FY25 Annual</a:t>
                      </a:r>
                    </a:p>
                  </a:txBody>
                  <a:tcPr marL="22860" marR="22860" marT="5486" marB="5486">
                    <a:solidFill>
                      <a:srgbClr val="F4F6F9"/>
                    </a:solidFill>
                  </a:tcPr>
                </a:tc>
                <a:tc>
                  <a:txBody>
                    <a:bodyPr/>
                    <a:lstStyle/>
                    <a:p>
                      <a:pPr algn="r"/>
                      <a:r>
                        <a:rPr sz="490" b="1">
                          <a:solidFill>
                            <a:srgbClr val="1F4690"/>
                          </a:solidFill>
                          <a:latin typeface="Calibri"/>
                        </a:rPr>
                        <a:t>₹51.2</a:t>
                      </a:r>
                    </a:p>
                  </a:txBody>
                  <a:tcPr marL="22860" marR="22860" marT="5486" marB="5486">
                    <a:solidFill>
                      <a:srgbClr val="F4F6F9"/>
                    </a:solidFill>
                  </a:tcPr>
                </a:tc>
              </a:tr>
            </a:tbl>
          </a:graphicData>
        </a:graphic>
      </p:graphicFrame>
      <p:sp>
        <p:nvSpPr>
          <p:cNvPr id="69" name="Rounded Rectangle 68"/>
          <p:cNvSpPr/>
          <p:nvPr/>
        </p:nvSpPr>
        <p:spPr>
          <a:xfrm>
            <a:off x="9930384" y="2139696"/>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12680" y="2194560"/>
            <a:ext cx="1892807" cy="128016"/>
          </a:xfrm>
          <a:prstGeom prst="rect">
            <a:avLst/>
          </a:prstGeom>
          <a:noFill/>
        </p:spPr>
        <p:txBody>
          <a:bodyPr wrap="square" lIns="36576" rIns="36576" tIns="9144" bIns="9144">
            <a:spAutoFit/>
          </a:bodyPr>
          <a:lstStyle/>
          <a:p>
            <a:r>
              <a:rPr sz="530" b="1">
                <a:solidFill>
                  <a:srgbClr val="FFA500"/>
                </a:solidFill>
                <a:latin typeface="Calibri"/>
              </a:rPr>
              <a:t>KEY VALUATION METRICS</a:t>
            </a:r>
          </a:p>
        </p:txBody>
      </p:sp>
      <p:sp>
        <p:nvSpPr>
          <p:cNvPr id="71" name="TextBox 70"/>
          <p:cNvSpPr txBox="1"/>
          <p:nvPr/>
        </p:nvSpPr>
        <p:spPr>
          <a:xfrm>
            <a:off x="10021824" y="2386584"/>
            <a:ext cx="1131570" cy="109728"/>
          </a:xfrm>
          <a:prstGeom prst="rect">
            <a:avLst/>
          </a:prstGeom>
          <a:noFill/>
        </p:spPr>
        <p:txBody>
          <a:bodyPr wrap="square" lIns="36576" rIns="36576" tIns="9144" bIns="9144">
            <a:spAutoFit/>
          </a:bodyPr>
          <a:lstStyle/>
          <a:p>
            <a:r>
              <a:rPr sz="470" b="0">
                <a:solidFill>
                  <a:srgbClr val="E8EEF8"/>
                </a:solidFill>
                <a:latin typeface="Calibri"/>
              </a:rPr>
              <a:t>P/E (TTM)</a:t>
            </a:r>
          </a:p>
        </p:txBody>
      </p:sp>
      <p:sp>
        <p:nvSpPr>
          <p:cNvPr id="72" name="TextBox 71"/>
          <p:cNvSpPr txBox="1"/>
          <p:nvPr/>
        </p:nvSpPr>
        <p:spPr>
          <a:xfrm>
            <a:off x="11061954" y="2386584"/>
            <a:ext cx="822960" cy="109728"/>
          </a:xfrm>
          <a:prstGeom prst="rect">
            <a:avLst/>
          </a:prstGeom>
          <a:noFill/>
        </p:spPr>
        <p:txBody>
          <a:bodyPr wrap="square" lIns="36576" rIns="36576" tIns="9144" bIns="9144">
            <a:spAutoFit/>
          </a:bodyPr>
          <a:lstStyle/>
          <a:p>
            <a:pPr algn="r"/>
            <a:r>
              <a:rPr sz="490" b="1">
                <a:solidFill>
                  <a:srgbClr val="FFFFFF"/>
                </a:solidFill>
                <a:latin typeface="Calibri"/>
              </a:rPr>
              <a:t>24.20x</a:t>
            </a:r>
          </a:p>
        </p:txBody>
      </p:sp>
      <p:sp>
        <p:nvSpPr>
          <p:cNvPr id="73" name="TextBox 72"/>
          <p:cNvSpPr txBox="1"/>
          <p:nvPr/>
        </p:nvSpPr>
        <p:spPr>
          <a:xfrm>
            <a:off x="10021824" y="2569464"/>
            <a:ext cx="1131570" cy="109728"/>
          </a:xfrm>
          <a:prstGeom prst="rect">
            <a:avLst/>
          </a:prstGeom>
          <a:noFill/>
        </p:spPr>
        <p:txBody>
          <a:bodyPr wrap="square" lIns="36576" rIns="36576" tIns="9144" bIns="9144">
            <a:spAutoFit/>
          </a:bodyPr>
          <a:lstStyle/>
          <a:p>
            <a:r>
              <a:rPr sz="470" b="0">
                <a:solidFill>
                  <a:srgbClr val="E8EEF8"/>
                </a:solidFill>
                <a:latin typeface="Calibri"/>
              </a:rPr>
              <a:t>P/B Ratio</a:t>
            </a:r>
          </a:p>
        </p:txBody>
      </p:sp>
      <p:sp>
        <p:nvSpPr>
          <p:cNvPr id="74" name="TextBox 73"/>
          <p:cNvSpPr txBox="1"/>
          <p:nvPr/>
        </p:nvSpPr>
        <p:spPr>
          <a:xfrm>
            <a:off x="11061954" y="2569464"/>
            <a:ext cx="822960" cy="109728"/>
          </a:xfrm>
          <a:prstGeom prst="rect">
            <a:avLst/>
          </a:prstGeom>
          <a:noFill/>
        </p:spPr>
        <p:txBody>
          <a:bodyPr wrap="square" lIns="36576" rIns="36576" tIns="9144" bIns="9144">
            <a:spAutoFit/>
          </a:bodyPr>
          <a:lstStyle/>
          <a:p>
            <a:pPr algn="r"/>
            <a:r>
              <a:rPr sz="490" b="1">
                <a:solidFill>
                  <a:srgbClr val="FFFFFF"/>
                </a:solidFill>
                <a:latin typeface="Calibri"/>
              </a:rPr>
              <a:t>3.82x</a:t>
            </a:r>
          </a:p>
        </p:txBody>
      </p:sp>
      <p:sp>
        <p:nvSpPr>
          <p:cNvPr id="75" name="TextBox 74"/>
          <p:cNvSpPr txBox="1"/>
          <p:nvPr/>
        </p:nvSpPr>
        <p:spPr>
          <a:xfrm>
            <a:off x="10021824" y="2752344"/>
            <a:ext cx="1131570" cy="109728"/>
          </a:xfrm>
          <a:prstGeom prst="rect">
            <a:avLst/>
          </a:prstGeom>
          <a:noFill/>
        </p:spPr>
        <p:txBody>
          <a:bodyPr wrap="square" lIns="36576" rIns="36576" tIns="9144" bIns="9144">
            <a:spAutoFit/>
          </a:bodyPr>
          <a:lstStyle/>
          <a:p>
            <a:r>
              <a:rPr sz="470" b="0">
                <a:solidFill>
                  <a:srgbClr val="E8EEF8"/>
                </a:solidFill>
                <a:latin typeface="Calibri"/>
              </a:rPr>
              <a:t>EPS (FY25A)</a:t>
            </a:r>
          </a:p>
        </p:txBody>
      </p:sp>
      <p:sp>
        <p:nvSpPr>
          <p:cNvPr id="76" name="TextBox 75"/>
          <p:cNvSpPr txBox="1"/>
          <p:nvPr/>
        </p:nvSpPr>
        <p:spPr>
          <a:xfrm>
            <a:off x="11061954" y="2752344"/>
            <a:ext cx="822960" cy="109728"/>
          </a:xfrm>
          <a:prstGeom prst="rect">
            <a:avLst/>
          </a:prstGeom>
          <a:noFill/>
        </p:spPr>
        <p:txBody>
          <a:bodyPr wrap="square" lIns="36576" rIns="36576" tIns="9144" bIns="9144">
            <a:spAutoFit/>
          </a:bodyPr>
          <a:lstStyle/>
          <a:p>
            <a:pPr algn="r"/>
            <a:r>
              <a:rPr sz="490" b="1">
                <a:solidFill>
                  <a:srgbClr val="FFFFFF"/>
                </a:solidFill>
                <a:latin typeface="Calibri"/>
              </a:rPr>
              <a:t>₹41.7</a:t>
            </a:r>
          </a:p>
        </p:txBody>
      </p:sp>
      <p:sp>
        <p:nvSpPr>
          <p:cNvPr id="77" name="TextBox 76"/>
          <p:cNvSpPr txBox="1"/>
          <p:nvPr/>
        </p:nvSpPr>
        <p:spPr>
          <a:xfrm>
            <a:off x="10021824" y="2935224"/>
            <a:ext cx="1131570" cy="109728"/>
          </a:xfrm>
          <a:prstGeom prst="rect">
            <a:avLst/>
          </a:prstGeom>
          <a:noFill/>
        </p:spPr>
        <p:txBody>
          <a:bodyPr wrap="square" lIns="36576" rIns="36576" tIns="9144" bIns="9144">
            <a:spAutoFit/>
          </a:bodyPr>
          <a:lstStyle/>
          <a:p>
            <a:r>
              <a:rPr sz="470" b="0">
                <a:solidFill>
                  <a:srgbClr val="E8EEF8"/>
                </a:solidFill>
                <a:latin typeface="Calibri"/>
              </a:rPr>
              <a:t>EPS (FY27E)</a:t>
            </a:r>
          </a:p>
        </p:txBody>
      </p:sp>
      <p:sp>
        <p:nvSpPr>
          <p:cNvPr id="78" name="TextBox 77"/>
          <p:cNvSpPr txBox="1"/>
          <p:nvPr/>
        </p:nvSpPr>
        <p:spPr>
          <a:xfrm>
            <a:off x="11061954" y="2935224"/>
            <a:ext cx="822960" cy="109728"/>
          </a:xfrm>
          <a:prstGeom prst="rect">
            <a:avLst/>
          </a:prstGeom>
          <a:noFill/>
        </p:spPr>
        <p:txBody>
          <a:bodyPr wrap="square" lIns="36576" rIns="36576" tIns="9144" bIns="9144">
            <a:spAutoFit/>
          </a:bodyPr>
          <a:lstStyle/>
          <a:p>
            <a:pPr algn="r"/>
            <a:r>
              <a:rPr sz="490" b="1">
                <a:solidFill>
                  <a:srgbClr val="FFFFFF"/>
                </a:solidFill>
                <a:latin typeface="Calibri"/>
              </a:rPr>
              <a:t>₹66.5</a:t>
            </a:r>
          </a:p>
        </p:txBody>
      </p:sp>
      <p:sp>
        <p:nvSpPr>
          <p:cNvPr id="79" name="Rounded Rectangle 78"/>
          <p:cNvSpPr/>
          <p:nvPr/>
        </p:nvSpPr>
        <p:spPr>
          <a:xfrm>
            <a:off x="9930384" y="3145536"/>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12680" y="3200400"/>
            <a:ext cx="1892807" cy="128016"/>
          </a:xfrm>
          <a:prstGeom prst="rect">
            <a:avLst/>
          </a:prstGeom>
          <a:noFill/>
        </p:spPr>
        <p:txBody>
          <a:bodyPr wrap="square" lIns="36576" rIns="36576" tIns="9144" bIns="9144">
            <a:spAutoFit/>
          </a:bodyPr>
          <a:lstStyle/>
          <a:p>
            <a:r>
              <a:rPr sz="530" b="1">
                <a:solidFill>
                  <a:srgbClr val="FFA500"/>
                </a:solidFill>
                <a:latin typeface="Calibri"/>
              </a:rPr>
              <a:t>ANALYST CONSENSUS</a:t>
            </a:r>
          </a:p>
        </p:txBody>
      </p:sp>
      <p:sp>
        <p:nvSpPr>
          <p:cNvPr id="81" name="TextBox 80"/>
          <p:cNvSpPr txBox="1"/>
          <p:nvPr/>
        </p:nvSpPr>
        <p:spPr>
          <a:xfrm>
            <a:off x="10021824" y="3392424"/>
            <a:ext cx="1131570" cy="109728"/>
          </a:xfrm>
          <a:prstGeom prst="rect">
            <a:avLst/>
          </a:prstGeom>
          <a:noFill/>
        </p:spPr>
        <p:txBody>
          <a:bodyPr wrap="square" lIns="36576" rIns="36576" tIns="9144" bIns="9144">
            <a:spAutoFit/>
          </a:bodyPr>
          <a:lstStyle/>
          <a:p>
            <a:r>
              <a:rPr sz="470" b="0">
                <a:solidFill>
                  <a:srgbClr val="E8EEF8"/>
                </a:solidFill>
                <a:latin typeface="Calibri"/>
              </a:rPr>
              <a:t>Consensus TP</a:t>
            </a:r>
          </a:p>
        </p:txBody>
      </p:sp>
      <p:sp>
        <p:nvSpPr>
          <p:cNvPr id="82" name="TextBox 81"/>
          <p:cNvSpPr txBox="1"/>
          <p:nvPr/>
        </p:nvSpPr>
        <p:spPr>
          <a:xfrm>
            <a:off x="11061954" y="3392424"/>
            <a:ext cx="822960" cy="109728"/>
          </a:xfrm>
          <a:prstGeom prst="rect">
            <a:avLst/>
          </a:prstGeom>
          <a:noFill/>
        </p:spPr>
        <p:txBody>
          <a:bodyPr wrap="square" lIns="36576" rIns="36576" tIns="9144" bIns="9144">
            <a:spAutoFit/>
          </a:bodyPr>
          <a:lstStyle/>
          <a:p>
            <a:pPr algn="r"/>
            <a:r>
              <a:rPr sz="490" b="1">
                <a:solidFill>
                  <a:srgbClr val="FFFFFF"/>
                </a:solidFill>
                <a:latin typeface="Calibri"/>
              </a:rPr>
              <a:t>₹1,127</a:t>
            </a:r>
          </a:p>
        </p:txBody>
      </p:sp>
      <p:sp>
        <p:nvSpPr>
          <p:cNvPr id="83" name="TextBox 82"/>
          <p:cNvSpPr txBox="1"/>
          <p:nvPr/>
        </p:nvSpPr>
        <p:spPr>
          <a:xfrm>
            <a:off x="10021824" y="3575304"/>
            <a:ext cx="1131570" cy="109728"/>
          </a:xfrm>
          <a:prstGeom prst="rect">
            <a:avLst/>
          </a:prstGeom>
          <a:noFill/>
        </p:spPr>
        <p:txBody>
          <a:bodyPr wrap="square" lIns="36576" rIns="36576" tIns="9144" bIns="9144">
            <a:spAutoFit/>
          </a:bodyPr>
          <a:lstStyle/>
          <a:p>
            <a:r>
              <a:rPr sz="470" b="0">
                <a:solidFill>
                  <a:srgbClr val="E8EEF8"/>
                </a:solidFill>
                <a:latin typeface="Calibri"/>
              </a:rPr>
              <a:t>Max Target</a:t>
            </a:r>
          </a:p>
        </p:txBody>
      </p:sp>
      <p:sp>
        <p:nvSpPr>
          <p:cNvPr id="84" name="TextBox 83"/>
          <p:cNvSpPr txBox="1"/>
          <p:nvPr/>
        </p:nvSpPr>
        <p:spPr>
          <a:xfrm>
            <a:off x="11061954" y="3575304"/>
            <a:ext cx="822960" cy="109728"/>
          </a:xfrm>
          <a:prstGeom prst="rect">
            <a:avLst/>
          </a:prstGeom>
          <a:noFill/>
        </p:spPr>
        <p:txBody>
          <a:bodyPr wrap="square" lIns="36576" rIns="36576" tIns="9144" bIns="9144">
            <a:spAutoFit/>
          </a:bodyPr>
          <a:lstStyle/>
          <a:p>
            <a:pPr algn="r"/>
            <a:r>
              <a:rPr sz="490" b="1">
                <a:solidFill>
                  <a:srgbClr val="FFFFFF"/>
                </a:solidFill>
                <a:latin typeface="Calibri"/>
              </a:rPr>
              <a:t>₹1,200</a:t>
            </a:r>
          </a:p>
        </p:txBody>
      </p:sp>
      <p:sp>
        <p:nvSpPr>
          <p:cNvPr id="85" name="TextBox 84"/>
          <p:cNvSpPr txBox="1"/>
          <p:nvPr/>
        </p:nvSpPr>
        <p:spPr>
          <a:xfrm>
            <a:off x="10021824" y="3758184"/>
            <a:ext cx="1131570" cy="109728"/>
          </a:xfrm>
          <a:prstGeom prst="rect">
            <a:avLst/>
          </a:prstGeom>
          <a:noFill/>
        </p:spPr>
        <p:txBody>
          <a:bodyPr wrap="square" lIns="36576" rIns="36576" tIns="9144" bIns="9144">
            <a:spAutoFit/>
          </a:bodyPr>
          <a:lstStyle/>
          <a:p>
            <a:r>
              <a:rPr sz="470" b="0">
                <a:solidFill>
                  <a:srgbClr val="E8EEF8"/>
                </a:solidFill>
                <a:latin typeface="Calibri"/>
              </a:rPr>
              <a:t>Upside to Cons.</a:t>
            </a:r>
          </a:p>
        </p:txBody>
      </p:sp>
      <p:sp>
        <p:nvSpPr>
          <p:cNvPr id="86" name="TextBox 85"/>
          <p:cNvSpPr txBox="1"/>
          <p:nvPr/>
        </p:nvSpPr>
        <p:spPr>
          <a:xfrm>
            <a:off x="11061954" y="3758184"/>
            <a:ext cx="822960" cy="109728"/>
          </a:xfrm>
          <a:prstGeom prst="rect">
            <a:avLst/>
          </a:prstGeom>
          <a:noFill/>
        </p:spPr>
        <p:txBody>
          <a:bodyPr wrap="square" lIns="36576" rIns="36576" tIns="9144" bIns="9144">
            <a:spAutoFit/>
          </a:bodyPr>
          <a:lstStyle/>
          <a:p>
            <a:pPr algn="r"/>
            <a:r>
              <a:rPr sz="490" b="1">
                <a:solidFill>
                  <a:srgbClr val="FFFFFF"/>
                </a:solidFill>
                <a:latin typeface="Calibri"/>
              </a:rPr>
              <a:t>+37%</a:t>
            </a:r>
          </a:p>
        </p:txBody>
      </p:sp>
      <p:sp>
        <p:nvSpPr>
          <p:cNvPr id="87" name="Rounded Rectangle 86"/>
          <p:cNvSpPr/>
          <p:nvPr/>
        </p:nvSpPr>
        <p:spPr>
          <a:xfrm>
            <a:off x="9930384" y="3840480"/>
            <a:ext cx="2057400" cy="786384"/>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012680" y="3895344"/>
            <a:ext cx="1892807" cy="128016"/>
          </a:xfrm>
          <a:prstGeom prst="rect">
            <a:avLst/>
          </a:prstGeom>
          <a:noFill/>
        </p:spPr>
        <p:txBody>
          <a:bodyPr wrap="square" lIns="36576" rIns="36576" tIns="9144" bIns="9144">
            <a:spAutoFit/>
          </a:bodyPr>
          <a:lstStyle/>
          <a:p>
            <a:r>
              <a:rPr sz="530" b="1">
                <a:solidFill>
                  <a:srgbClr val="FFFFFF"/>
                </a:solidFill>
                <a:latin typeface="Calibri"/>
              </a:rPr>
              <a:t>KEY OPERATING STATS</a:t>
            </a:r>
          </a:p>
        </p:txBody>
      </p:sp>
      <p:sp>
        <p:nvSpPr>
          <p:cNvPr id="89" name="TextBox 88"/>
          <p:cNvSpPr txBox="1"/>
          <p:nvPr/>
        </p:nvSpPr>
        <p:spPr>
          <a:xfrm>
            <a:off x="10021824" y="4096512"/>
            <a:ext cx="1131570" cy="109728"/>
          </a:xfrm>
          <a:prstGeom prst="rect">
            <a:avLst/>
          </a:prstGeom>
          <a:noFill/>
        </p:spPr>
        <p:txBody>
          <a:bodyPr wrap="square" lIns="36576" rIns="36576" tIns="9144" bIns="9144">
            <a:spAutoFit/>
          </a:bodyPr>
          <a:lstStyle/>
          <a:p>
            <a:r>
              <a:rPr sz="470" b="0">
                <a:solidFill>
                  <a:srgbClr val="111111"/>
                </a:solidFill>
                <a:latin typeface="Calibri"/>
              </a:rPr>
              <a:t>Total AUM</a:t>
            </a:r>
          </a:p>
        </p:txBody>
      </p:sp>
      <p:sp>
        <p:nvSpPr>
          <p:cNvPr id="90" name="TextBox 89"/>
          <p:cNvSpPr txBox="1"/>
          <p:nvPr/>
        </p:nvSpPr>
        <p:spPr>
          <a:xfrm>
            <a:off x="11061954" y="4096512"/>
            <a:ext cx="822960" cy="109728"/>
          </a:xfrm>
          <a:prstGeom prst="rect">
            <a:avLst/>
          </a:prstGeom>
          <a:noFill/>
        </p:spPr>
        <p:txBody>
          <a:bodyPr wrap="square" lIns="36576" rIns="36576" tIns="9144" bIns="9144">
            <a:spAutoFit/>
          </a:bodyPr>
          <a:lstStyle/>
          <a:p>
            <a:pPr algn="r"/>
            <a:r>
              <a:rPr sz="490" b="1">
                <a:solidFill>
                  <a:srgbClr val="1F4690"/>
                </a:solidFill>
                <a:latin typeface="Calibri"/>
              </a:rPr>
              <a:t>₹1.77L Cr</a:t>
            </a:r>
          </a:p>
        </p:txBody>
      </p:sp>
      <p:sp>
        <p:nvSpPr>
          <p:cNvPr id="91" name="TextBox 90"/>
          <p:cNvSpPr txBox="1"/>
          <p:nvPr/>
        </p:nvSpPr>
        <p:spPr>
          <a:xfrm>
            <a:off x="10021824" y="4279392"/>
            <a:ext cx="1131570" cy="109728"/>
          </a:xfrm>
          <a:prstGeom prst="rect">
            <a:avLst/>
          </a:prstGeom>
          <a:noFill/>
        </p:spPr>
        <p:txBody>
          <a:bodyPr wrap="square" lIns="36576" rIns="36576" tIns="9144" bIns="9144">
            <a:spAutoFit/>
          </a:bodyPr>
          <a:lstStyle/>
          <a:p>
            <a:r>
              <a:rPr sz="470" b="0">
                <a:solidFill>
                  <a:srgbClr val="111111"/>
                </a:solidFill>
                <a:latin typeface="Calibri"/>
              </a:rPr>
              <a:t>AMC AUM</a:t>
            </a:r>
          </a:p>
        </p:txBody>
      </p:sp>
      <p:sp>
        <p:nvSpPr>
          <p:cNvPr id="92" name="TextBox 91"/>
          <p:cNvSpPr txBox="1"/>
          <p:nvPr/>
        </p:nvSpPr>
        <p:spPr>
          <a:xfrm>
            <a:off x="11061954" y="4279392"/>
            <a:ext cx="822960" cy="109728"/>
          </a:xfrm>
          <a:prstGeom prst="rect">
            <a:avLst/>
          </a:prstGeom>
          <a:noFill/>
        </p:spPr>
        <p:txBody>
          <a:bodyPr wrap="square" lIns="36576" rIns="36576" tIns="9144" bIns="9144">
            <a:spAutoFit/>
          </a:bodyPr>
          <a:lstStyle/>
          <a:p>
            <a:pPr algn="r"/>
            <a:r>
              <a:rPr sz="490" b="1">
                <a:solidFill>
                  <a:srgbClr val="1F4690"/>
                </a:solidFill>
                <a:latin typeface="Calibri"/>
              </a:rPr>
              <a:t>₹1.89L Cr</a:t>
            </a:r>
          </a:p>
        </p:txBody>
      </p:sp>
      <p:sp>
        <p:nvSpPr>
          <p:cNvPr id="93" name="TextBox 92"/>
          <p:cNvSpPr txBox="1"/>
          <p:nvPr/>
        </p:nvSpPr>
        <p:spPr>
          <a:xfrm>
            <a:off x="10021824" y="4462272"/>
            <a:ext cx="1131570" cy="109728"/>
          </a:xfrm>
          <a:prstGeom prst="rect">
            <a:avLst/>
          </a:prstGeom>
          <a:noFill/>
        </p:spPr>
        <p:txBody>
          <a:bodyPr wrap="square" lIns="36576" rIns="36576" tIns="9144" bIns="9144">
            <a:spAutoFit/>
          </a:bodyPr>
          <a:lstStyle/>
          <a:p>
            <a:r>
              <a:rPr sz="470" b="0">
                <a:solidFill>
                  <a:srgbClr val="111111"/>
                </a:solidFill>
                <a:latin typeface="Calibri"/>
              </a:rPr>
              <a:t>Pvt Wealth AUM</a:t>
            </a:r>
          </a:p>
        </p:txBody>
      </p:sp>
      <p:sp>
        <p:nvSpPr>
          <p:cNvPr id="94" name="TextBox 93"/>
          <p:cNvSpPr txBox="1"/>
          <p:nvPr/>
        </p:nvSpPr>
        <p:spPr>
          <a:xfrm>
            <a:off x="11061954" y="4462272"/>
            <a:ext cx="822960" cy="109728"/>
          </a:xfrm>
          <a:prstGeom prst="rect">
            <a:avLst/>
          </a:prstGeom>
          <a:noFill/>
        </p:spPr>
        <p:txBody>
          <a:bodyPr wrap="square" lIns="36576" rIns="36576" tIns="9144" bIns="9144">
            <a:spAutoFit/>
          </a:bodyPr>
          <a:lstStyle/>
          <a:p>
            <a:pPr algn="r"/>
            <a:r>
              <a:rPr sz="490" b="1">
                <a:solidFill>
                  <a:srgbClr val="1F4690"/>
                </a:solidFill>
                <a:latin typeface="Calibri"/>
              </a:rPr>
              <a:t>₹1.96L Cr</a:t>
            </a:r>
          </a:p>
        </p:txBody>
      </p:sp>
      <p:sp>
        <p:nvSpPr>
          <p:cNvPr id="95" name="Rounded Rectangle 94"/>
          <p:cNvSpPr/>
          <p:nvPr/>
        </p:nvSpPr>
        <p:spPr>
          <a:xfrm>
            <a:off x="9930384" y="4700016"/>
            <a:ext cx="2057400" cy="64008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12680" y="4754879"/>
            <a:ext cx="1892807" cy="128016"/>
          </a:xfrm>
          <a:prstGeom prst="rect">
            <a:avLst/>
          </a:prstGeom>
          <a:noFill/>
        </p:spPr>
        <p:txBody>
          <a:bodyPr wrap="square" lIns="36576" rIns="36576" tIns="9144" bIns="9144">
            <a:spAutoFit/>
          </a:bodyPr>
          <a:lstStyle/>
          <a:p>
            <a:r>
              <a:rPr sz="530" b="1">
                <a:solidFill>
                  <a:srgbClr val="FFFFFF"/>
                </a:solidFill>
                <a:latin typeface="Calibri"/>
              </a:rPr>
              <a:t>CREDIT RATING</a:t>
            </a:r>
          </a:p>
        </p:txBody>
      </p:sp>
      <p:sp>
        <p:nvSpPr>
          <p:cNvPr id="97" name="TextBox 96"/>
          <p:cNvSpPr txBox="1"/>
          <p:nvPr/>
        </p:nvSpPr>
        <p:spPr>
          <a:xfrm>
            <a:off x="10021824" y="4956048"/>
            <a:ext cx="1131570" cy="109728"/>
          </a:xfrm>
          <a:prstGeom prst="rect">
            <a:avLst/>
          </a:prstGeom>
          <a:noFill/>
        </p:spPr>
        <p:txBody>
          <a:bodyPr wrap="square" lIns="36576" rIns="36576" tIns="9144" bIns="9144">
            <a:spAutoFit/>
          </a:bodyPr>
          <a:lstStyle/>
          <a:p>
            <a:r>
              <a:rPr sz="470" b="0">
                <a:solidFill>
                  <a:srgbClr val="111111"/>
                </a:solidFill>
                <a:latin typeface="Calibri"/>
              </a:rPr>
              <a:t>ICRA Rating</a:t>
            </a:r>
          </a:p>
        </p:txBody>
      </p:sp>
      <p:sp>
        <p:nvSpPr>
          <p:cNvPr id="98" name="TextBox 97"/>
          <p:cNvSpPr txBox="1"/>
          <p:nvPr/>
        </p:nvSpPr>
        <p:spPr>
          <a:xfrm>
            <a:off x="11061954" y="4956048"/>
            <a:ext cx="822960" cy="109728"/>
          </a:xfrm>
          <a:prstGeom prst="rect">
            <a:avLst/>
          </a:prstGeom>
          <a:noFill/>
        </p:spPr>
        <p:txBody>
          <a:bodyPr wrap="square" lIns="36576" rIns="36576" tIns="9144" bIns="9144">
            <a:spAutoFit/>
          </a:bodyPr>
          <a:lstStyle/>
          <a:p>
            <a:pPr algn="r"/>
            <a:r>
              <a:rPr sz="490" b="1">
                <a:solidFill>
                  <a:srgbClr val="FFA500"/>
                </a:solidFill>
                <a:latin typeface="Calibri"/>
              </a:rPr>
              <a:t>AA+</a:t>
            </a:r>
          </a:p>
        </p:txBody>
      </p:sp>
      <p:sp>
        <p:nvSpPr>
          <p:cNvPr id="99" name="TextBox 98"/>
          <p:cNvSpPr txBox="1"/>
          <p:nvPr/>
        </p:nvSpPr>
        <p:spPr>
          <a:xfrm>
            <a:off x="10021824" y="5138928"/>
            <a:ext cx="1131570" cy="109728"/>
          </a:xfrm>
          <a:prstGeom prst="rect">
            <a:avLst/>
          </a:prstGeom>
          <a:noFill/>
        </p:spPr>
        <p:txBody>
          <a:bodyPr wrap="square" lIns="36576" rIns="36576" tIns="9144" bIns="9144">
            <a:spAutoFit/>
          </a:bodyPr>
          <a:lstStyle/>
          <a:p>
            <a:r>
              <a:rPr sz="470" b="0">
                <a:solidFill>
                  <a:srgbClr val="111111"/>
                </a:solidFill>
                <a:latin typeface="Calibri"/>
              </a:rPr>
              <a:t>Outlook</a:t>
            </a:r>
          </a:p>
        </p:txBody>
      </p:sp>
      <p:sp>
        <p:nvSpPr>
          <p:cNvPr id="100" name="TextBox 99"/>
          <p:cNvSpPr txBox="1"/>
          <p:nvPr/>
        </p:nvSpPr>
        <p:spPr>
          <a:xfrm>
            <a:off x="11061954" y="5138928"/>
            <a:ext cx="822960" cy="109728"/>
          </a:xfrm>
          <a:prstGeom prst="rect">
            <a:avLst/>
          </a:prstGeom>
          <a:noFill/>
        </p:spPr>
        <p:txBody>
          <a:bodyPr wrap="square" lIns="36576" rIns="36576" tIns="9144" bIns="9144">
            <a:spAutoFit/>
          </a:bodyPr>
          <a:lstStyle/>
          <a:p>
            <a:pPr algn="r"/>
            <a:r>
              <a:rPr sz="490" b="1">
                <a:solidFill>
                  <a:srgbClr val="FFA500"/>
                </a:solidFill>
                <a:latin typeface="Calibri"/>
              </a:rPr>
              <a:t>Stable</a:t>
            </a:r>
          </a:p>
        </p:txBody>
      </p:sp>
      <p:sp>
        <p:nvSpPr>
          <p:cNvPr id="101" name="TextBox 100"/>
          <p:cNvSpPr txBox="1"/>
          <p:nvPr/>
        </p:nvSpPr>
        <p:spPr>
          <a:xfrm>
            <a:off x="10021824" y="5321808"/>
            <a:ext cx="1131570" cy="109728"/>
          </a:xfrm>
          <a:prstGeom prst="rect">
            <a:avLst/>
          </a:prstGeom>
          <a:noFill/>
        </p:spPr>
        <p:txBody>
          <a:bodyPr wrap="square" lIns="36576" rIns="36576" tIns="9144" bIns="9144">
            <a:spAutoFit/>
          </a:bodyPr>
          <a:lstStyle/>
          <a:p>
            <a:r>
              <a:rPr sz="470" b="0">
                <a:solidFill>
                  <a:srgbClr val="111111"/>
                </a:solidFill>
                <a:latin typeface="Calibri"/>
              </a:rPr>
              <a:t>Net Worth</a:t>
            </a:r>
          </a:p>
        </p:txBody>
      </p:sp>
      <p:sp>
        <p:nvSpPr>
          <p:cNvPr id="102" name="TextBox 101"/>
          <p:cNvSpPr txBox="1"/>
          <p:nvPr/>
        </p:nvSpPr>
        <p:spPr>
          <a:xfrm>
            <a:off x="11061954" y="5321808"/>
            <a:ext cx="822960" cy="109728"/>
          </a:xfrm>
          <a:prstGeom prst="rect">
            <a:avLst/>
          </a:prstGeom>
          <a:noFill/>
        </p:spPr>
        <p:txBody>
          <a:bodyPr wrap="square" lIns="36576" rIns="36576" tIns="9144" bIns="9144">
            <a:spAutoFit/>
          </a:bodyPr>
          <a:lstStyle/>
          <a:p>
            <a:pPr algn="r"/>
            <a:r>
              <a:rPr sz="490" b="1">
                <a:solidFill>
                  <a:srgbClr val="FFA500"/>
                </a:solidFill>
                <a:latin typeface="Calibri"/>
              </a:rPr>
              <a:t>₹12871 Cr</a:t>
            </a:r>
          </a:p>
        </p:txBody>
      </p:sp>
      <p:sp>
        <p:nvSpPr>
          <p:cNvPr id="103" name="Rounded Rectangle 102"/>
          <p:cNvSpPr/>
          <p:nvPr/>
        </p:nvSpPr>
        <p:spPr>
          <a:xfrm>
            <a:off x="9930384" y="5413248"/>
            <a:ext cx="2057400" cy="768096"/>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021824" y="5486400"/>
            <a:ext cx="1874519" cy="128016"/>
          </a:xfrm>
          <a:prstGeom prst="rect">
            <a:avLst/>
          </a:prstGeom>
          <a:noFill/>
        </p:spPr>
        <p:txBody>
          <a:bodyPr wrap="square" lIns="36576" rIns="36576" tIns="9144" bIns="9144">
            <a:spAutoFit/>
          </a:bodyPr>
          <a:lstStyle/>
          <a:p>
            <a:r>
              <a:rPr sz="520" b="1">
                <a:solidFill>
                  <a:srgbClr val="FFA500"/>
                </a:solidFill>
                <a:latin typeface="Calibri"/>
              </a:rPr>
              <a:t>ARR INFLECTION WATCH</a:t>
            </a:r>
          </a:p>
        </p:txBody>
      </p:sp>
      <p:sp>
        <p:nvSpPr>
          <p:cNvPr id="105" name="TextBox 104"/>
          <p:cNvSpPr txBox="1"/>
          <p:nvPr/>
        </p:nvSpPr>
        <p:spPr>
          <a:xfrm>
            <a:off x="10021824" y="5687568"/>
            <a:ext cx="1874519" cy="256032"/>
          </a:xfrm>
          <a:prstGeom prst="rect">
            <a:avLst/>
          </a:prstGeom>
          <a:noFill/>
        </p:spPr>
        <p:txBody>
          <a:bodyPr wrap="square" lIns="36576" rIns="36576" tIns="9144" bIns="9144">
            <a:spAutoFit/>
          </a:bodyPr>
          <a:lstStyle/>
          <a:p>
            <a:r>
              <a:rPr sz="1700" b="1">
                <a:solidFill>
                  <a:srgbClr val="FFA500"/>
                </a:solidFill>
                <a:latin typeface="Calibri"/>
              </a:rPr>
              <a:t>65%</a:t>
            </a:r>
          </a:p>
        </p:txBody>
      </p:sp>
      <p:sp>
        <p:nvSpPr>
          <p:cNvPr id="106" name="TextBox 105"/>
          <p:cNvSpPr txBox="1"/>
          <p:nvPr/>
        </p:nvSpPr>
        <p:spPr>
          <a:xfrm>
            <a:off x="10021824" y="5961888"/>
            <a:ext cx="1874519" cy="164592"/>
          </a:xfrm>
          <a:prstGeom prst="rect">
            <a:avLst/>
          </a:prstGeom>
          <a:noFill/>
        </p:spPr>
        <p:txBody>
          <a:bodyPr wrap="square" lIns="36576" rIns="36576" tIns="9144" bIns="9144">
            <a:spAutoFit/>
          </a:bodyPr>
          <a:lstStyle/>
          <a:p>
            <a:r>
              <a:rPr sz="470" b="0">
                <a:solidFill>
                  <a:srgbClr val="FFFFFF"/>
                </a:solidFill>
                <a:latin typeface="Calibri"/>
              </a:rPr>
              <a:t>ARR of total net revenues. Re-rating trigger: 70%+ ARR.</a:t>
            </a:r>
          </a:p>
        </p:txBody>
      </p:sp>
      <p:sp>
        <p:nvSpPr>
          <p:cNvPr id="107" name="Rectangle 106"/>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1168" y="6720840"/>
            <a:ext cx="2743200" cy="73152"/>
          </a:xfrm>
          <a:prstGeom prst="rect">
            <a:avLst/>
          </a:prstGeom>
          <a:noFill/>
        </p:spPr>
        <p:txBody>
          <a:bodyPr wrap="square" lIns="36576" rIns="36576" tIns="9144" bIns="9144">
            <a:spAutoFit/>
          </a:bodyPr>
          <a:lstStyle/>
          <a:p>
            <a:r>
              <a:rPr sz="450" b="0">
                <a:solidFill>
                  <a:srgbClr val="5A6573"/>
                </a:solidFill>
                <a:latin typeface="Calibri"/>
              </a:rPr>
              <a:t>SEBI Reg. No.: INH000069807</a:t>
            </a:r>
          </a:p>
        </p:txBody>
      </p:sp>
      <p:sp>
        <p:nvSpPr>
          <p:cNvPr id="109" name="TextBox 108"/>
          <p:cNvSpPr txBox="1"/>
          <p:nvPr/>
        </p:nvSpPr>
        <p:spPr>
          <a:xfrm>
            <a:off x="3901342" y="6720840"/>
            <a:ext cx="4389010" cy="73152"/>
          </a:xfrm>
          <a:prstGeom prst="rect">
            <a:avLst/>
          </a:prstGeom>
          <a:noFill/>
        </p:spPr>
        <p:txBody>
          <a:bodyPr wrap="square" lIns="36576" rIns="36576" tIns="9144" bIns="9144">
            <a:spAutoFit/>
          </a:bodyPr>
          <a:lstStyle/>
          <a:p>
            <a:pPr algn="ctr"/>
            <a:r>
              <a:rPr sz="450" b="1">
                <a:solidFill>
                  <a:srgbClr val="1F4690"/>
                </a:solidFill>
                <a:latin typeface="Calibri"/>
              </a:rPr>
              <a:t>Motilal Oswal Financial Services Ltd - Equity Research</a:t>
            </a:r>
          </a:p>
        </p:txBody>
      </p:sp>
      <p:sp>
        <p:nvSpPr>
          <p:cNvPr id="110" name="TextBox 109"/>
          <p:cNvSpPr txBox="1"/>
          <p:nvPr/>
        </p:nvSpPr>
        <p:spPr>
          <a:xfrm>
            <a:off x="11231575" y="6720840"/>
            <a:ext cx="777240" cy="73152"/>
          </a:xfrm>
          <a:prstGeom prst="rect">
            <a:avLst/>
          </a:prstGeom>
          <a:noFill/>
        </p:spPr>
        <p:txBody>
          <a:bodyPr wrap="square" lIns="36576" rIns="36576" tIns="9144" bIns="9144">
            <a:spAutoFit/>
          </a:bodyPr>
          <a:lstStyle/>
          <a:p>
            <a:pPr algn="r"/>
            <a:r>
              <a:rPr sz="4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3"/>
          <a:stretch>
            <a:fillRect/>
          </a:stretch>
        </p:blipFill>
        <p:spPr>
          <a:xfrm>
            <a:off x="384048" y="1298448"/>
            <a:ext cx="3590543" cy="1828800"/>
          </a:xfrm>
          <a:prstGeom prst="rect">
            <a:avLst/>
          </a:prstGeom>
        </p:spPr>
      </p:pic>
      <p:sp>
        <p:nvSpPr>
          <p:cNvPr id="20" name="Rectangle 19"/>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4"/>
          <a:stretch>
            <a:fillRect/>
          </a:stretch>
        </p:blipFill>
        <p:spPr>
          <a:xfrm>
            <a:off x="4294632" y="1298448"/>
            <a:ext cx="3590543" cy="1828800"/>
          </a:xfrm>
          <a:prstGeom prst="rect">
            <a:avLst/>
          </a:prstGeom>
        </p:spPr>
      </p:pic>
      <p:sp>
        <p:nvSpPr>
          <p:cNvPr id="23" name="Rectangle 22"/>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8205215" y="1298448"/>
            <a:ext cx="3590543" cy="1828800"/>
          </a:xfrm>
          <a:prstGeom prst="rect">
            <a:avLst/>
          </a:prstGeom>
        </p:spPr>
      </p:pic>
      <p:sp>
        <p:nvSpPr>
          <p:cNvPr id="26" name="Rectangle 25"/>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384048" y="3438144"/>
            <a:ext cx="3590543" cy="1828800"/>
          </a:xfrm>
          <a:prstGeom prst="rect">
            <a:avLst/>
          </a:prstGeom>
        </p:spPr>
      </p:pic>
      <p:sp>
        <p:nvSpPr>
          <p:cNvPr id="29" name="Rectangle 28"/>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4294632" y="3438144"/>
            <a:ext cx="3590543" cy="1828800"/>
          </a:xfrm>
          <a:prstGeom prst="rect">
            <a:avLst/>
          </a:prstGeom>
        </p:spPr>
      </p:pic>
      <p:sp>
        <p:nvSpPr>
          <p:cNvPr id="32" name="Rectangle 31"/>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8"/>
          <a:stretch>
            <a:fillRect/>
          </a:stretch>
        </p:blipFill>
        <p:spPr>
          <a:xfrm>
            <a:off x="8205215" y="3438144"/>
            <a:ext cx="3590543" cy="1828800"/>
          </a:xfrm>
          <a:prstGeom prst="rect">
            <a:avLst/>
          </a:prstGeom>
        </p:spPr>
      </p:pic>
      <p:sp>
        <p:nvSpPr>
          <p:cNvPr id="35" name="Rectangle 34"/>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ectangle 14"/>
          <p:cNvSpPr/>
          <p:nvPr/>
        </p:nvSpPr>
        <p:spPr>
          <a:xfrm>
            <a:off x="457200" y="1234440"/>
            <a:ext cx="11277295"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 y="1252728"/>
            <a:ext cx="11240719" cy="512063"/>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234440"/>
            <a:ext cx="2286000" cy="548640"/>
          </a:xfrm>
          <a:prstGeom prst="rect">
            <a:avLst/>
          </a:prstGeom>
          <a:noFill/>
        </p:spPr>
        <p:txBody>
          <a:bodyPr wrap="square" lIns="45720" rIns="45720" tIns="18288" bIns="18288">
            <a:spAutoFit/>
          </a:bodyPr>
          <a:lstStyle/>
          <a:p>
            <a:pPr algn="l"/>
            <a:r>
              <a:rPr sz="1400" b="1">
                <a:solidFill>
                  <a:srgbClr val="1F4690"/>
                </a:solidFill>
                <a:latin typeface="Calibri"/>
              </a:rPr>
              <a:t>SAARTHI Total Score: </a:t>
            </a:r>
          </a:p>
        </p:txBody>
      </p:sp>
      <p:sp>
        <p:nvSpPr>
          <p:cNvPr id="18" name="Rectangle 17"/>
          <p:cNvSpPr/>
          <p:nvPr/>
        </p:nvSpPr>
        <p:spPr>
          <a:xfrm>
            <a:off x="3108960" y="1371600"/>
            <a:ext cx="164592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371600"/>
            <a:ext cx="1645920" cy="274320"/>
          </a:xfrm>
          <a:prstGeom prst="rect">
            <a:avLst/>
          </a:prstGeom>
          <a:noFill/>
        </p:spPr>
        <p:txBody>
          <a:bodyPr wrap="square" lIns="45720" rIns="45720" tIns="18288" bIns="18288">
            <a:spAutoFit/>
          </a:bodyPr>
          <a:lstStyle/>
          <a:p>
            <a:pPr algn="ctr"/>
            <a:r>
              <a:rPr sz="1000" b="1">
                <a:solidFill>
                  <a:srgbClr val="FFFFFF"/>
                </a:solidFill>
                <a:latin typeface="Calibri"/>
              </a:rPr>
              <a:t>BUY RANGE</a:t>
            </a:r>
          </a:p>
        </p:txBody>
      </p:sp>
      <p:graphicFrame>
        <p:nvGraphicFramePr>
          <p:cNvPr id="20" name="Table 19"/>
          <p:cNvGraphicFramePr>
            <a:graphicFrameLocks noGrp="1"/>
          </p:cNvGraphicFramePr>
          <p:nvPr/>
        </p:nvGraphicFramePr>
        <p:xfrm>
          <a:off x="457200" y="2057400"/>
          <a:ext cx="11277295" cy="3154680"/>
        </p:xfrm>
        <a:graphic>
          <a:graphicData uri="http://schemas.openxmlformats.org/drawingml/2006/table">
            <a:tbl>
              <a:tblPr firstRow="1" bandRow="1">
                <a:tableStyleId>{5C22544A-7EE6-4342-B048-85BDC9FD1C3A}</a:tableStyleId>
              </a:tblPr>
              <a:tblGrid>
                <a:gridCol w="731520"/>
                <a:gridCol w="2743200"/>
                <a:gridCol w="914400"/>
                <a:gridCol w="6888175"/>
              </a:tblGrid>
              <a:tr h="394335">
                <a:tc>
                  <a:txBody>
                    <a:bodyPr/>
                    <a:lstStyle/>
                    <a:p>
                      <a:pPr algn="l">
                        <a:defRPr sz="900" b="1">
                          <a:solidFill>
                            <a:srgbClr val="FFFFFF"/>
                          </a:solidFill>
                          <a:latin typeface="Calibri"/>
                        </a:defRPr>
                      </a:pPr>
                      <a:r>
                        <a:t>Code</a:t>
                      </a:r>
                    </a:p>
                  </a:txBody>
                  <a:tcPr marL="36576" marR="36576" marT="18288" marB="18288">
                    <a:solidFill>
                      <a:srgbClr val="1F4690"/>
                    </a:solidFill>
                  </a:tcPr>
                </a:tc>
                <a:tc>
                  <a:txBody>
                    <a:bodyPr/>
                    <a:lstStyle/>
                    <a:p>
                      <a:pPr algn="l">
                        <a:defRPr sz="900" b="1">
                          <a:solidFill>
                            <a:srgbClr val="FFFFFF"/>
                          </a:solidFill>
                          <a:latin typeface="Calibri"/>
                        </a:defRPr>
                      </a:pPr>
                      <a:r>
                        <a:t>Dimension</a:t>
                      </a:r>
                    </a:p>
                  </a:txBody>
                  <a:tcPr marL="36576" marR="36576" marT="18288" marB="18288">
                    <a:solidFill>
                      <a:srgbClr val="1F4690"/>
                    </a:solidFill>
                  </a:tcPr>
                </a:tc>
                <a:tc>
                  <a:txBody>
                    <a:bodyPr/>
                    <a:lstStyle/>
                    <a:p>
                      <a:pPr algn="r">
                        <a:defRPr sz="900" b="1">
                          <a:solidFill>
                            <a:srgbClr val="FFFFFF"/>
                          </a:solidFill>
                          <a:latin typeface="Calibri"/>
                        </a:defRPr>
                      </a:pPr>
                      <a:r>
                        <a:t>Score</a:t>
                      </a:r>
                    </a:p>
                  </a:txBody>
                  <a:tcPr marL="36576" marR="36576" marT="18288" marB="18288">
                    <a:solidFill>
                      <a:srgbClr val="1F4690"/>
                    </a:solidFill>
                  </a:tcPr>
                </a:tc>
                <a:tc>
                  <a:txBody>
                    <a:bodyPr/>
                    <a:lstStyle/>
                    <a:p>
                      <a:pPr algn="l">
                        <a:defRPr sz="900" b="1">
                          <a:solidFill>
                            <a:srgbClr val="FFFFFF"/>
                          </a:solidFill>
                          <a:latin typeface="Calibri"/>
                        </a:defRPr>
                      </a:pPr>
                      <a:r>
                        <a:t>Evidence</a:t>
                      </a:r>
                    </a:p>
                  </a:txBody>
                  <a:tcPr marL="36576" marR="36576" marT="18288" marB="18288">
                    <a:solidFill>
                      <a:srgbClr val="1F4690"/>
                    </a:solidFill>
                  </a:tcPr>
                </a:tc>
              </a:tr>
              <a:tr h="394335">
                <a:tc>
                  <a:txBody>
                    <a:bodyPr/>
                    <a:lstStyle/>
                    <a:p>
                      <a:pPr algn="l">
                        <a:defRPr sz="900" b="1">
                          <a:solidFill>
                            <a:srgbClr val="111111"/>
                          </a:solidFill>
                          <a:latin typeface="Calibri"/>
                        </a:defRPr>
                      </a:pPr>
                      <a:r>
                        <a:t>S</a:t>
                      </a:r>
                    </a:p>
                  </a:txBody>
                  <a:tcPr marL="36576" marR="36576" marT="18288" marB="18288">
                    <a:solidFill>
                      <a:srgbClr val="F4F6F9"/>
                    </a:solidFill>
                  </a:tcPr>
                </a:tc>
                <a:tc>
                  <a:txBody>
                    <a:bodyPr/>
                    <a:lstStyle/>
                    <a:p>
                      <a:pPr algn="l">
                        <a:defRPr sz="900" b="1">
                          <a:solidFill>
                            <a:srgbClr val="111111"/>
                          </a:solidFill>
                          <a:latin typeface="Calibri"/>
                        </a:defRPr>
                      </a:pPr>
                      <a:r>
                        <a:t>Scalability of Core Engine</a:t>
                      </a:r>
                    </a:p>
                  </a:txBody>
                  <a:tcPr marL="36576" marR="36576" marT="18288" marB="18288">
                    <a:solidFill>
                      <a:srgbClr val="F4F6F9"/>
                    </a:solidFill>
                  </a:tcPr>
                </a:tc>
                <a:tc>
                  <a:txBody>
                    <a:bodyPr/>
                    <a:lstStyle/>
                    <a:p>
                      <a:pPr algn="r">
                        <a:defRPr sz="900" b="1">
                          <a:solidFill>
                            <a:srgbClr val="1A7A4A"/>
                          </a:solidFill>
                          <a:latin typeface="Calibri"/>
                        </a:defRPr>
                      </a:pPr>
                      <a:r>
                        <a:t>12/15</a:t>
                      </a:r>
                    </a:p>
                  </a:txBody>
                  <a:tcPr marL="36576" marR="36576" marT="18288" marB="18288">
                    <a:solidFill>
                      <a:srgbClr val="F4F6F9"/>
                    </a:solidFill>
                  </a:tcPr>
                </a:tc>
                <a:tc>
                  <a:txBody>
                    <a:bodyPr/>
                    <a:lstStyle/>
                    <a:p>
                      <a:pPr algn="l">
                        <a:defRPr sz="800" b="0">
                          <a:solidFill>
                            <a:srgbClr val="111111"/>
                          </a:solidFill>
                          <a:latin typeface="Calibri"/>
                        </a:defRPr>
                      </a:pPr>
                      <a:r>
                        <a:t>AMC AUM +33% YoY to INR 1.89L Cr with INR 11,610 Cr net flows.</a:t>
                      </a:r>
                    </a:p>
                  </a:txBody>
                  <a:tcPr marL="36576" marR="36576" marT="18288" marB="18288">
                    <a:solidFill>
                      <a:srgbClr val="F4F6F9"/>
                    </a:solidFill>
                  </a:tcPr>
                </a:tc>
              </a:tr>
              <a:tr h="394335">
                <a:tc>
                  <a:txBody>
                    <a:bodyPr/>
                    <a:lstStyle/>
                    <a:p>
                      <a:pPr algn="l">
                        <a:defRPr sz="900" b="1">
                          <a:solidFill>
                            <a:srgbClr val="111111"/>
                          </a:solidFill>
                          <a:latin typeface="Calibri"/>
                        </a:defRPr>
                      </a:pPr>
                      <a:r>
                        <a:t>A1</a:t>
                      </a:r>
                    </a:p>
                  </a:txBody>
                  <a:tcPr marL="36576" marR="36576" marT="18288" marB="18288">
                    <a:solidFill>
                      <a:srgbClr val="FFFFFF"/>
                    </a:solidFill>
                  </a:tcPr>
                </a:tc>
                <a:tc>
                  <a:txBody>
                    <a:bodyPr/>
                    <a:lstStyle/>
                    <a:p>
                      <a:pPr algn="l">
                        <a:defRPr sz="900" b="1">
                          <a:solidFill>
                            <a:srgbClr val="111111"/>
                          </a:solidFill>
                          <a:latin typeface="Calibri"/>
                        </a:defRPr>
                      </a:pPr>
                      <a:r>
                        <a:t>Addressable Market &amp; Adjacency</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India private credit hit USD 9.0 Bn in H1 2025 (+53% YoY).</a:t>
                      </a:r>
                    </a:p>
                  </a:txBody>
                  <a:tcPr marL="36576" marR="36576" marT="18288" marB="18288">
                    <a:solidFill>
                      <a:srgbClr val="FFFFFF"/>
                    </a:solidFill>
                  </a:tcPr>
                </a:tc>
              </a:tr>
              <a:tr h="394335">
                <a:tc>
                  <a:txBody>
                    <a:bodyPr/>
                    <a:lstStyle/>
                    <a:p>
                      <a:pPr algn="l">
                        <a:defRPr sz="900" b="1">
                          <a:solidFill>
                            <a:srgbClr val="111111"/>
                          </a:solidFill>
                          <a:latin typeface="Calibri"/>
                        </a:defRPr>
                      </a:pPr>
                      <a:r>
                        <a:t>A2</a:t>
                      </a:r>
                    </a:p>
                  </a:txBody>
                  <a:tcPr marL="36576" marR="36576" marT="18288" marB="18288">
                    <a:solidFill>
                      <a:srgbClr val="F4F6F9"/>
                    </a:solidFill>
                  </a:tcPr>
                </a:tc>
                <a:tc>
                  <a:txBody>
                    <a:bodyPr/>
                    <a:lstStyle/>
                    <a:p>
                      <a:pPr algn="l">
                        <a:defRPr sz="900" b="1">
                          <a:solidFill>
                            <a:srgbClr val="111111"/>
                          </a:solidFill>
                          <a:latin typeface="Calibri"/>
                        </a:defRPr>
                      </a:pPr>
                      <a:r>
                        <a:t>Asymmetric Pricing Power</a:t>
                      </a:r>
                    </a:p>
                  </a:txBody>
                  <a:tcPr marL="36576" marR="36576" marT="18288" marB="18288">
                    <a:solidFill>
                      <a:srgbClr val="F4F6F9"/>
                    </a:solidFill>
                  </a:tcPr>
                </a:tc>
                <a:tc>
                  <a:txBody>
                    <a:bodyPr/>
                    <a:lstStyle/>
                    <a:p>
                      <a:pPr algn="r">
                        <a:defRPr sz="900" b="1">
                          <a:solidFill>
                            <a:srgbClr val="1F4690"/>
                          </a:solidFill>
                          <a:latin typeface="Calibri"/>
                        </a:defRPr>
                      </a:pPr>
                      <a:r>
                        <a:t>10/15</a:t>
                      </a:r>
                    </a:p>
                  </a:txBody>
                  <a:tcPr marL="36576" marR="36576" marT="18288" marB="18288">
                    <a:solidFill>
                      <a:srgbClr val="F4F6F9"/>
                    </a:solidFill>
                  </a:tcPr>
                </a:tc>
                <a:tc>
                  <a:txBody>
                    <a:bodyPr/>
                    <a:lstStyle/>
                    <a:p>
                      <a:pPr algn="l">
                        <a:defRPr sz="800" b="0">
                          <a:solidFill>
                            <a:srgbClr val="111111"/>
                          </a:solidFill>
                          <a:latin typeface="Calibri"/>
                        </a:defRPr>
                      </a:pPr>
                      <a:r>
                        <a:t>Diversified mix offset 24% brokerage decline, validating partial pricing-power hedge.</a:t>
                      </a:r>
                    </a:p>
                  </a:txBody>
                  <a:tcPr marL="36576" marR="36576" marT="18288" marB="18288">
                    <a:solidFill>
                      <a:srgbClr val="F4F6F9"/>
                    </a:solidFill>
                  </a:tcPr>
                </a:tc>
              </a:tr>
              <a:tr h="394335">
                <a:tc>
                  <a:txBody>
                    <a:bodyPr/>
                    <a:lstStyle/>
                    <a:p>
                      <a:pPr algn="l">
                        <a:defRPr sz="900" b="1">
                          <a:solidFill>
                            <a:srgbClr val="111111"/>
                          </a:solidFill>
                          <a:latin typeface="Calibri"/>
                        </a:defRPr>
                      </a:pPr>
                      <a:r>
                        <a:t>R</a:t>
                      </a:r>
                    </a:p>
                  </a:txBody>
                  <a:tcPr marL="36576" marR="36576" marT="18288" marB="18288">
                    <a:solidFill>
                      <a:srgbClr val="FFFFFF"/>
                    </a:solidFill>
                  </a:tcPr>
                </a:tc>
                <a:tc>
                  <a:txBody>
                    <a:bodyPr/>
                    <a:lstStyle/>
                    <a:p>
                      <a:pPr algn="l">
                        <a:defRPr sz="900" b="1">
                          <a:solidFill>
                            <a:srgbClr val="111111"/>
                          </a:solidFill>
                          <a:latin typeface="Calibri"/>
                        </a:defRPr>
                      </a:pPr>
                      <a:r>
                        <a:t>Reinvestment Quality</a:t>
                      </a:r>
                    </a:p>
                  </a:txBody>
                  <a:tcPr marL="36576" marR="36576" marT="18288" marB="18288">
                    <a:solidFill>
                      <a:srgbClr val="FFFFFF"/>
                    </a:solidFill>
                  </a:tcPr>
                </a:tc>
                <a:tc>
                  <a:txBody>
                    <a:bodyPr/>
                    <a:lstStyle/>
                    <a:p>
                      <a:pPr algn="r">
                        <a:defRPr sz="900" b="1">
                          <a:solidFill>
                            <a:srgbClr val="1A7A4A"/>
                          </a:solidFill>
                          <a:latin typeface="Calibri"/>
                        </a:defRPr>
                      </a:pPr>
                      <a:r>
                        <a:t>13/15</a:t>
                      </a:r>
                    </a:p>
                  </a:txBody>
                  <a:tcPr marL="36576" marR="36576" marT="18288" marB="18288">
                    <a:solidFill>
                      <a:srgbClr val="FFFFFF"/>
                    </a:solidFill>
                  </a:tcPr>
                </a:tc>
                <a:tc>
                  <a:txBody>
                    <a:bodyPr/>
                    <a:lstStyle/>
                    <a:p>
                      <a:pPr algn="l">
                        <a:defRPr sz="800" b="0">
                          <a:solidFill>
                            <a:srgbClr val="111111"/>
                          </a:solidFill>
                          <a:latin typeface="Calibri"/>
                        </a:defRPr>
                      </a:pPr>
                      <a:r>
                        <a:t>PWM AUM +31% YoY to INR 1.96L Cr; family count +41%; PAT +14% (9M).</a:t>
                      </a:r>
                    </a:p>
                  </a:txBody>
                  <a:tcPr marL="36576" marR="36576" marT="18288" marB="18288">
                    <a:solidFill>
                      <a:srgbClr val="FFFFFF"/>
                    </a:solidFill>
                  </a:tcPr>
                </a:tc>
              </a:tr>
              <a:tr h="394335">
                <a:tc>
                  <a:txBody>
                    <a:bodyPr/>
                    <a:lstStyle/>
                    <a:p>
                      <a:pPr algn="l">
                        <a:defRPr sz="900" b="1">
                          <a:solidFill>
                            <a:srgbClr val="111111"/>
                          </a:solidFill>
                          <a:latin typeface="Calibri"/>
                        </a:defRPr>
                      </a:pPr>
                      <a:r>
                        <a:t>T</a:t>
                      </a:r>
                    </a:p>
                  </a:txBody>
                  <a:tcPr marL="36576" marR="36576" marT="18288" marB="18288">
                    <a:solidFill>
                      <a:srgbClr val="F4F6F9"/>
                    </a:solidFill>
                  </a:tcPr>
                </a:tc>
                <a:tc>
                  <a:txBody>
                    <a:bodyPr/>
                    <a:lstStyle/>
                    <a:p>
                      <a:pPr algn="l">
                        <a:defRPr sz="900" b="1">
                          <a:solidFill>
                            <a:srgbClr val="111111"/>
                          </a:solidFill>
                          <a:latin typeface="Calibri"/>
                        </a:defRPr>
                      </a:pPr>
                      <a:r>
                        <a:t>Track Record Through Adversity</a:t>
                      </a:r>
                    </a:p>
                  </a:txBody>
                  <a:tcPr marL="36576" marR="36576" marT="18288" marB="18288">
                    <a:solidFill>
                      <a:srgbClr val="F4F6F9"/>
                    </a:solidFill>
                  </a:tcPr>
                </a:tc>
                <a:tc>
                  <a:txBody>
                    <a:bodyPr/>
                    <a:lstStyle/>
                    <a:p>
                      <a:pPr algn="r">
                        <a:defRPr sz="900" b="1">
                          <a:solidFill>
                            <a:srgbClr val="B91C1C"/>
                          </a:solidFill>
                          <a:latin typeface="Calibri"/>
                        </a:defRPr>
                      </a:pPr>
                      <a:r>
                        <a:t>8/10</a:t>
                      </a:r>
                    </a:p>
                  </a:txBody>
                  <a:tcPr marL="36576" marR="36576" marT="18288" marB="18288">
                    <a:solidFill>
                      <a:srgbClr val="F4F6F9"/>
                    </a:solidFill>
                  </a:tcPr>
                </a:tc>
                <a:tc>
                  <a:txBody>
                    <a:bodyPr/>
                    <a:lstStyle/>
                    <a:p>
                      <a:pPr algn="l">
                        <a:defRPr sz="800" b="0">
                          <a:solidFill>
                            <a:srgbClr val="111111"/>
                          </a:solidFill>
                          <a:latin typeface="Calibri"/>
                        </a:defRPr>
                      </a:pPr>
                      <a:r>
                        <a:t>Despite repeated SEBI interventions, AUM and ARR base continue to compound — institutional resilience.</a:t>
                      </a:r>
                    </a:p>
                  </a:txBody>
                  <a:tcPr marL="36576" marR="36576" marT="18288" marB="18288">
                    <a:solidFill>
                      <a:srgbClr val="F4F6F9"/>
                    </a:solidFill>
                  </a:tcPr>
                </a:tc>
              </a:tr>
              <a:tr h="394335">
                <a:tc>
                  <a:txBody>
                    <a:bodyPr/>
                    <a:lstStyle/>
                    <a:p>
                      <a:pPr algn="l">
                        <a:defRPr sz="900" b="1">
                          <a:solidFill>
                            <a:srgbClr val="111111"/>
                          </a:solidFill>
                          <a:latin typeface="Calibri"/>
                        </a:defRPr>
                      </a:pPr>
                      <a:r>
                        <a:t>H</a:t>
                      </a:r>
                    </a:p>
                  </a:txBody>
                  <a:tcPr marL="36576" marR="36576" marT="18288" marB="18288">
                    <a:solidFill>
                      <a:srgbClr val="FFFFFF"/>
                    </a:solidFill>
                  </a:tcPr>
                </a:tc>
                <a:tc>
                  <a:txBody>
                    <a:bodyPr/>
                    <a:lstStyle/>
                    <a:p>
                      <a:pPr algn="l">
                        <a:defRPr sz="900" b="1">
                          <a:solidFill>
                            <a:srgbClr val="111111"/>
                          </a:solidFill>
                          <a:latin typeface="Calibri"/>
                        </a:defRPr>
                      </a:pPr>
                      <a:r>
                        <a:t>Human Capital &amp; Institutional DNA</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Rashtriya Samman Patra recipient (top tax-payer FY95–FY99) signals early ethical commercial success.</a:t>
                      </a:r>
                    </a:p>
                  </a:txBody>
                  <a:tcPr marL="36576" marR="36576" marT="18288" marB="18288">
                    <a:solidFill>
                      <a:srgbClr val="FFFFFF"/>
                    </a:solidFill>
                  </a:tcPr>
                </a:tc>
              </a:tr>
              <a:tr h="394335">
                <a:tc>
                  <a:txBody>
                    <a:bodyPr/>
                    <a:lstStyle/>
                    <a:p>
                      <a:pPr algn="l">
                        <a:defRPr sz="900" b="1">
                          <a:solidFill>
                            <a:srgbClr val="111111"/>
                          </a:solidFill>
                          <a:latin typeface="Calibri"/>
                        </a:defRPr>
                      </a:pPr>
                      <a:r>
                        <a:t>I</a:t>
                      </a:r>
                    </a:p>
                  </a:txBody>
                  <a:tcPr marL="36576" marR="36576" marT="18288" marB="18288">
                    <a:solidFill>
                      <a:srgbClr val="F4F6F9"/>
                    </a:solidFill>
                  </a:tcPr>
                </a:tc>
                <a:tc>
                  <a:txBody>
                    <a:bodyPr/>
                    <a:lstStyle/>
                    <a:p>
                      <a:pPr algn="l">
                        <a:defRPr sz="900" b="1">
                          <a:solidFill>
                            <a:srgbClr val="111111"/>
                          </a:solidFill>
                          <a:latin typeface="Calibri"/>
                        </a:defRPr>
                      </a:pPr>
                      <a:r>
                        <a:t>Inflection Point Identification</a:t>
                      </a:r>
                    </a:p>
                  </a:txBody>
                  <a:tcPr marL="36576" marR="36576" marT="18288" marB="18288">
                    <a:solidFill>
                      <a:srgbClr val="F4F6F9"/>
                    </a:solidFill>
                  </a:tcPr>
                </a:tc>
                <a:tc>
                  <a:txBody>
                    <a:bodyPr/>
                    <a:lstStyle/>
                    <a:p>
                      <a:pPr algn="r">
                        <a:defRPr sz="900" b="1">
                          <a:solidFill>
                            <a:srgbClr val="1F4690"/>
                          </a:solidFill>
                          <a:latin typeface="Calibri"/>
                        </a:defRPr>
                      </a:pPr>
                      <a:r>
                        <a:t>11/15</a:t>
                      </a:r>
                    </a:p>
                  </a:txBody>
                  <a:tcPr marL="36576" marR="36576" marT="18288" marB="18288">
                    <a:solidFill>
                      <a:srgbClr val="F4F6F9"/>
                    </a:solidFill>
                  </a:tcPr>
                </a:tc>
                <a:tc>
                  <a:txBody>
                    <a:bodyPr/>
                    <a:lstStyle/>
                    <a:p>
                      <a:pPr algn="l">
                        <a:defRPr sz="800" b="0">
                          <a:solidFill>
                            <a:srgbClr val="111111"/>
                          </a:solidFill>
                          <a:latin typeface="Calibri"/>
                        </a:defRPr>
                      </a:pPr>
                      <a:r>
                        <a:t>ARR at 65% of net revenues (up from 61%); management guiding higher — measurable inflection.</a:t>
                      </a:r>
                    </a:p>
                  </a:txBody>
                  <a:tcPr marL="36576" marR="36576" marT="18288" marB="18288">
                    <a:solidFill>
                      <a:srgbClr val="F4F6F9"/>
                    </a:solidFill>
                  </a:tcPr>
                </a:tc>
              </a:tr>
            </a:tbl>
          </a:graphicData>
        </a:graphic>
      </p:graphicFrame>
      <p:sp>
        <p:nvSpPr>
          <p:cNvPr id="21" name="Rectangle 20"/>
          <p:cNvSpPr/>
          <p:nvPr/>
        </p:nvSpPr>
        <p:spPr>
          <a:xfrm>
            <a:off x="457200" y="5440680"/>
            <a:ext cx="11277295" cy="9144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5458968"/>
            <a:ext cx="11240719" cy="877824"/>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486400"/>
            <a:ext cx="11094415" cy="182880"/>
          </a:xfrm>
          <a:prstGeom prst="rect">
            <a:avLst/>
          </a:prstGeom>
          <a:noFill/>
        </p:spPr>
        <p:txBody>
          <a:bodyPr wrap="square" lIns="45720" rIns="45720" tIns="18288" bIns="18288">
            <a:spAutoFit/>
          </a:bodyPr>
          <a:lstStyle/>
          <a:p>
            <a:pPr algn="l"/>
            <a:r>
              <a:rPr sz="1000" b="1">
                <a:solidFill>
                  <a:srgbClr val="1F4690"/>
                </a:solidFill>
                <a:latin typeface="Calibri"/>
              </a:rPr>
              <a:t>SAARTHI Conviction Statement</a:t>
            </a:r>
          </a:p>
        </p:txBody>
      </p:sp>
      <p:sp>
        <p:nvSpPr>
          <p:cNvPr id="24" name="TextBox 23"/>
          <p:cNvSpPr txBox="1"/>
          <p:nvPr/>
        </p:nvSpPr>
        <p:spPr>
          <a:xfrm>
            <a:off x="548640" y="5669280"/>
            <a:ext cx="11094415" cy="640080"/>
          </a:xfrm>
          <a:prstGeom prst="rect">
            <a:avLst/>
          </a:prstGeom>
          <a:noFill/>
        </p:spPr>
        <p:txBody>
          <a:bodyPr wrap="square" lIns="45720" rIns="45720" tIns="18288" bIns="18288">
            <a:spAutoFit/>
          </a:bodyPr>
          <a:lstStyle/>
          <a:p>
            <a:pPr algn="l"/>
            <a:r>
              <a:rPr sz="800" b="0">
                <a:solidFill>
                  <a:srgbClr val="111111"/>
                </a:solidFill>
                <a:latin typeface="Calibri"/>
              </a:rPr>
              <a:t>Proprietary 7-dimension framework. Overall score 72/100 (BUY (70-84 range)).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20" name="Rectangle 19"/>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3" name="TextBox 22"/>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4" name="Rectangle 23"/>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7" name="TextBox 26"/>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8" name="Rectangle 27"/>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1" name="TextBox 30"/>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2" name="Table 31"/>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3" name="Rectangle 32"/>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5" name="Rectangle 34"/>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8" name="TextBox 37"/>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9" name="Rectangle 38"/>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2" name="TextBox 41"/>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3" name="Rectangle 42"/>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6" name="TextBox 45"/>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7" name="Table 46"/>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8" name="Rectangle 47"/>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50" name="Rectangle 49"/>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3" name="TextBox 52"/>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4" name="Rectangle 53"/>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7" name="TextBox 56"/>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8" name="Rectangle 57"/>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1" name="TextBox 60"/>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2" name="Table 61"/>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