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377190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771900"/>
            <a:ext cx="12191695" cy="5486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84048" y="347472"/>
            <a:ext cx="2468880" cy="65836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png"/>
          <p:cNvPicPr>
            <a:picLocks noChangeAspect="1"/>
          </p:cNvPicPr>
          <p:nvPr/>
        </p:nvPicPr>
        <p:blipFill>
          <a:blip r:embed="rId2"/>
          <a:stretch>
            <a:fillRect/>
          </a:stretch>
        </p:blipFill>
        <p:spPr>
          <a:xfrm>
            <a:off x="457200" y="411480"/>
            <a:ext cx="2056718" cy="502920"/>
          </a:xfrm>
          <a:prstGeom prst="rect">
            <a:avLst/>
          </a:prstGeom>
        </p:spPr>
      </p:pic>
      <p:sp>
        <p:nvSpPr>
          <p:cNvPr id="6" name="Rectangle 5"/>
          <p:cNvSpPr/>
          <p:nvPr/>
        </p:nvSpPr>
        <p:spPr>
          <a:xfrm>
            <a:off x="0" y="644652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11277295" cy="41148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8" name="TextBox 7"/>
          <p:cNvSpPr txBox="1"/>
          <p:nvPr/>
        </p:nvSpPr>
        <p:spPr>
          <a:xfrm>
            <a:off x="548640" y="1371600"/>
            <a:ext cx="11094415" cy="1280160"/>
          </a:xfrm>
          <a:prstGeom prst="rect">
            <a:avLst/>
          </a:prstGeom>
          <a:noFill/>
        </p:spPr>
        <p:txBody>
          <a:bodyPr wrap="square">
            <a:spAutoFit/>
          </a:bodyPr>
          <a:lstStyle/>
          <a:p>
            <a:r>
              <a:rPr sz="4000" b="1">
                <a:solidFill>
                  <a:srgbClr val="FFFFFF"/>
                </a:solidFill>
                <a:latin typeface="Calibri"/>
              </a:rPr>
              <a:t>ABC Ltd — Initiation of Coverage</a:t>
            </a:r>
          </a:p>
        </p:txBody>
      </p:sp>
      <p:sp>
        <p:nvSpPr>
          <p:cNvPr id="9" name="TextBox 8"/>
          <p:cNvSpPr txBox="1"/>
          <p:nvPr/>
        </p:nvSpPr>
        <p:spPr>
          <a:xfrm>
            <a:off x="548640" y="2697480"/>
            <a:ext cx="11094415" cy="548640"/>
          </a:xfrm>
          <a:prstGeom prst="rect">
            <a:avLst/>
          </a:prstGeom>
          <a:noFill/>
        </p:spPr>
        <p:txBody>
          <a:bodyPr wrap="none">
            <a:spAutoFit/>
          </a:bodyPr>
          <a:lstStyle/>
          <a:p>
            <a:r>
              <a:rPr sz="1800" b="0">
                <a:solidFill>
                  <a:srgbClr val="FFE5B4"/>
                </a:solidFill>
                <a:latin typeface="Calibri"/>
              </a:rPr>
              <a:t>ABC Ltd | BUY</a:t>
            </a:r>
          </a:p>
        </p:txBody>
      </p:sp>
      <p:sp>
        <p:nvSpPr>
          <p:cNvPr id="10" name="Rounded Rectangle 9"/>
          <p:cNvSpPr/>
          <p:nvPr/>
        </p:nvSpPr>
        <p:spPr>
          <a:xfrm>
            <a:off x="9997135" y="548640"/>
            <a:ext cx="1645920" cy="502920"/>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r>
              <a:rPr sz="1200" b="1">
                <a:solidFill>
                  <a:srgbClr val="FFFFFF"/>
                </a:solidFill>
                <a:latin typeface="Calibri"/>
              </a:rPr>
              <a:t>BUY</a:t>
            </a:r>
          </a:p>
        </p:txBody>
      </p:sp>
      <p:sp>
        <p:nvSpPr>
          <p:cNvPr id="11" name="Rounded Rectangle 10"/>
          <p:cNvSpPr/>
          <p:nvPr/>
        </p:nvSpPr>
        <p:spPr>
          <a:xfrm>
            <a:off x="548640" y="5074920"/>
            <a:ext cx="3515258" cy="1005840"/>
          </a:xfrm>
          <a:prstGeom prst="roundRect">
            <a:avLst/>
          </a:prstGeom>
          <a:solidFill>
            <a:srgbClr val="FFFFFF"/>
          </a:solidFill>
          <a:ln w="15875">
            <a:solidFill>
              <a:srgbClr val="FFA500"/>
            </a:solidFill>
          </a:ln>
        </p:spPr>
        <p:style>
          <a:lnRef idx="1">
            <a:schemeClr val="accent1"/>
          </a:lnRef>
          <a:fillRef idx="3">
            <a:schemeClr val="accent1"/>
          </a:fillRef>
          <a:effectRef idx="2">
            <a:schemeClr val="accent1"/>
          </a:effectRef>
          <a:fontRef idx="minor">
            <a:schemeClr val="lt1"/>
          </a:fontRef>
        </p:style>
        <p:txBody>
          <a:bodyPr rtlCol="0" anchor="ctr" tIns="73152" bIns="73152"/>
          <a:lstStyle/>
          <a:p>
            <a:pPr algn="ctr"/>
            <a:r>
              <a:rPr sz="1100" b="0">
                <a:solidFill>
                  <a:srgbClr val="5A6573"/>
                </a:solidFill>
                <a:latin typeface="Calibri"/>
              </a:rPr>
              <a:t>Rating</a:t>
            </a:r>
          </a:p>
          <a:p>
            <a:pPr algn="ctr"/>
            <a:r>
              <a:rPr sz="2000" b="1">
                <a:solidFill>
                  <a:srgbClr val="1F4690"/>
                </a:solidFill>
                <a:latin typeface="Calibri"/>
              </a:rPr>
              <a:t>BUY</a:t>
            </a:r>
          </a:p>
        </p:txBody>
      </p:sp>
      <p:sp>
        <p:nvSpPr>
          <p:cNvPr id="12" name="Rounded Rectangle 11"/>
          <p:cNvSpPr/>
          <p:nvPr/>
        </p:nvSpPr>
        <p:spPr>
          <a:xfrm>
            <a:off x="4338218" y="5074920"/>
            <a:ext cx="3515258" cy="1005840"/>
          </a:xfrm>
          <a:prstGeom prst="roundRect">
            <a:avLst/>
          </a:prstGeom>
          <a:solidFill>
            <a:srgbClr val="FFFFFF"/>
          </a:solidFill>
          <a:ln w="15875">
            <a:solidFill>
              <a:srgbClr val="FFA500"/>
            </a:solidFill>
          </a:ln>
        </p:spPr>
        <p:style>
          <a:lnRef idx="1">
            <a:schemeClr val="accent1"/>
          </a:lnRef>
          <a:fillRef idx="3">
            <a:schemeClr val="accent1"/>
          </a:fillRef>
          <a:effectRef idx="2">
            <a:schemeClr val="accent1"/>
          </a:effectRef>
          <a:fontRef idx="minor">
            <a:schemeClr val="lt1"/>
          </a:fontRef>
        </p:style>
        <p:txBody>
          <a:bodyPr rtlCol="0" anchor="ctr" tIns="73152" bIns="73152"/>
          <a:lstStyle/>
          <a:p>
            <a:pPr algn="ctr"/>
            <a:r>
              <a:rPr sz="1100" b="0">
                <a:solidFill>
                  <a:srgbClr val="5A6573"/>
                </a:solidFill>
                <a:latin typeface="Calibri"/>
              </a:rPr>
              <a:t>CMP</a:t>
            </a:r>
          </a:p>
          <a:p>
            <a:pPr algn="ctr"/>
            <a:r>
              <a:rPr sz="2000" b="1">
                <a:solidFill>
                  <a:srgbClr val="1F4690"/>
                </a:solidFill>
                <a:latin typeface="Calibri"/>
              </a:rPr>
              <a:t>₹420.0</a:t>
            </a:r>
          </a:p>
        </p:txBody>
      </p:sp>
      <p:sp>
        <p:nvSpPr>
          <p:cNvPr id="13" name="Rounded Rectangle 12"/>
          <p:cNvSpPr/>
          <p:nvPr/>
        </p:nvSpPr>
        <p:spPr>
          <a:xfrm>
            <a:off x="8127796" y="5074920"/>
            <a:ext cx="3515258" cy="1005840"/>
          </a:xfrm>
          <a:prstGeom prst="roundRect">
            <a:avLst/>
          </a:prstGeom>
          <a:solidFill>
            <a:srgbClr val="FFFFFF"/>
          </a:solidFill>
          <a:ln w="15875">
            <a:solidFill>
              <a:srgbClr val="FFA500"/>
            </a:solidFill>
          </a:ln>
        </p:spPr>
        <p:style>
          <a:lnRef idx="1">
            <a:schemeClr val="accent1"/>
          </a:lnRef>
          <a:fillRef idx="3">
            <a:schemeClr val="accent1"/>
          </a:fillRef>
          <a:effectRef idx="2">
            <a:schemeClr val="accent1"/>
          </a:effectRef>
          <a:fontRef idx="minor">
            <a:schemeClr val="lt1"/>
          </a:fontRef>
        </p:style>
        <p:txBody>
          <a:bodyPr rtlCol="0" anchor="ctr" tIns="73152" bIns="73152"/>
          <a:lstStyle/>
          <a:p>
            <a:pPr algn="ctr"/>
            <a:r>
              <a:rPr sz="1100" b="0">
                <a:solidFill>
                  <a:srgbClr val="5A6573"/>
                </a:solidFill>
                <a:latin typeface="Calibri"/>
              </a:rPr>
              <a:t>Target Price</a:t>
            </a:r>
          </a:p>
          <a:p>
            <a:pPr algn="ctr"/>
            <a:r>
              <a:rPr sz="2000" b="1">
                <a:solidFill>
                  <a:srgbClr val="1F4690"/>
                </a:solidFill>
                <a:latin typeface="Calibri"/>
              </a:rPr>
              <a:t>₹515.0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ABC  |  Jane Doe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2 of 10</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Company Snapshot</a:t>
            </a:r>
          </a:p>
        </p:txBody>
      </p:sp>
      <p:sp>
        <p:nvSpPr>
          <p:cNvPr id="11" name="TextBox 10"/>
          <p:cNvSpPr txBox="1"/>
          <p:nvPr/>
        </p:nvSpPr>
        <p:spPr>
          <a:xfrm>
            <a:off x="457200" y="1417320"/>
            <a:ext cx="5943600" cy="5029200"/>
          </a:xfrm>
          <a:prstGeom prst="rect">
            <a:avLst/>
          </a:prstGeom>
          <a:noFill/>
        </p:spPr>
        <p:txBody>
          <a:bodyPr wrap="square">
            <a:spAutoFit/>
          </a:bodyPr>
          <a:lstStyle/>
          <a:p>
            <a:r>
              <a:rPr sz="1100" b="0">
                <a:solidFill>
                  <a:srgbClr val="111111"/>
                </a:solidFill>
                <a:latin typeface="Calibri"/>
              </a:rPr>
              <a:t>ABC Ltd is a specialty chemicals manufacturer operating in the Chemicals sector on the NSE, with a strategic emphasis on export-led revenue growth and sustained margin expansion through product-mix improvement and backward integration. The company generates revenue across multiple specialty chemical segments, serving industrial, agrochemical, and performance-materials end markets. Its competitive moat rests on technical formulation capabilities, long-standing customer relationships with global off-takers, and a track record of executing multi-cycle capex programmes without balance-sheet strain. As mix continues to shift toward higher-value specialty products, the earnings quality and return metrics are expected to improve materially over the medium term.</a:t>
            </a:r>
          </a:p>
        </p:txBody>
      </p:sp>
      <p:sp>
        <p:nvSpPr>
          <p:cNvPr id="12" name="TextBox 11"/>
          <p:cNvSpPr txBox="1"/>
          <p:nvPr/>
        </p:nvSpPr>
        <p:spPr>
          <a:xfrm>
            <a:off x="6675120" y="1417320"/>
            <a:ext cx="1640738" cy="5029200"/>
          </a:xfrm>
          <a:prstGeom prst="rect">
            <a:avLst/>
          </a:prstGeom>
          <a:noFill/>
        </p:spPr>
        <p:txBody>
          <a:bodyPr wrap="square">
            <a:spAutoFit/>
          </a:bodyPr>
          <a:lstStyle/>
          <a:p>
            <a:pPr algn="ctr"/>
            <a:r>
              <a:rPr sz="1400" b="1">
                <a:solidFill>
                  <a:srgbClr val="1F4690"/>
                </a:solidFill>
                <a:latin typeface="Calibri"/>
              </a:rPr>
              <a:t>CMP ₹420.0</a:t>
            </a:r>
          </a:p>
        </p:txBody>
      </p:sp>
      <p:sp>
        <p:nvSpPr>
          <p:cNvPr id="13" name="TextBox 12"/>
          <p:cNvSpPr txBox="1"/>
          <p:nvPr/>
        </p:nvSpPr>
        <p:spPr>
          <a:xfrm>
            <a:off x="8361578" y="1417320"/>
            <a:ext cx="1640738" cy="5029200"/>
          </a:xfrm>
          <a:prstGeom prst="rect">
            <a:avLst/>
          </a:prstGeom>
          <a:noFill/>
        </p:spPr>
        <p:txBody>
          <a:bodyPr wrap="square">
            <a:spAutoFit/>
          </a:bodyPr>
          <a:lstStyle/>
          <a:p>
            <a:pPr algn="ctr"/>
            <a:r>
              <a:rPr sz="1400" b="1">
                <a:solidFill>
                  <a:srgbClr val="1F4690"/>
                </a:solidFill>
                <a:latin typeface="Calibri"/>
              </a:rPr>
              <a:t>Target Price ₹515.0</a:t>
            </a:r>
          </a:p>
        </p:txBody>
      </p:sp>
      <p:sp>
        <p:nvSpPr>
          <p:cNvPr id="14" name="TextBox 13"/>
          <p:cNvSpPr txBox="1"/>
          <p:nvPr/>
        </p:nvSpPr>
        <p:spPr>
          <a:xfrm>
            <a:off x="10048036" y="1417320"/>
            <a:ext cx="1640738" cy="5029200"/>
          </a:xfrm>
          <a:prstGeom prst="rect">
            <a:avLst/>
          </a:prstGeom>
          <a:noFill/>
        </p:spPr>
        <p:txBody>
          <a:bodyPr wrap="square">
            <a:spAutoFit/>
          </a:bodyPr>
          <a:lstStyle/>
          <a:p>
            <a:pPr algn="ctr"/>
            <a:r>
              <a:rPr sz="1400" b="1">
                <a:solidFill>
                  <a:srgbClr val="1F4690"/>
                </a:solidFill>
                <a:latin typeface="Calibri"/>
              </a:rPr>
              <a:t>Upside 22.6%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ABC  |  Jane Doe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3 of 10</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Investment Thesis</a:t>
            </a:r>
          </a:p>
        </p:txBody>
      </p:sp>
      <p:sp>
        <p:nvSpPr>
          <p:cNvPr id="11" name="TextBox 10"/>
          <p:cNvSpPr txBox="1"/>
          <p:nvPr/>
        </p:nvSpPr>
        <p:spPr>
          <a:xfrm>
            <a:off x="457200" y="1417320"/>
            <a:ext cx="5120640" cy="5029200"/>
          </a:xfrm>
          <a:prstGeom prst="rect">
            <a:avLst/>
          </a:prstGeom>
          <a:noFill/>
        </p:spPr>
        <p:txBody>
          <a:bodyPr wrap="square">
            <a:spAutoFit/>
          </a:bodyPr>
          <a:lstStyle/>
          <a:p>
            <a:r>
              <a:rPr sz="1100" b="0">
                <a:solidFill>
                  <a:srgbClr val="111111"/>
                </a:solidFill>
                <a:latin typeface="Calibri"/>
              </a:rPr>
              <a:t>We initiate coverage on ABC Ltd with a BUY rating, anchored on three compounding drivers: an accelerating mix shift toward specialty and export-oriented products, a capex cycle that is transitioning from investment to harvest phase, and an improving margin trajectory supported by backward integration and operating leverage. The company is a scaled specialty chemicals platform that has delivered consistent execution across prior expansion cycles, giving us confidence that the current capex programme will convert into earnings on schedule. We believe the market has not yet fully priced in the margin expansion potential and the structural improvement in return ratios that our model captures over FY25–FY27, creating a meaningful upside opportunity from current levels.</a:t>
            </a:r>
          </a:p>
        </p:txBody>
      </p:sp>
      <p:sp>
        <p:nvSpPr>
          <p:cNvPr id="12" name="TextBox 11"/>
          <p:cNvSpPr txBox="1"/>
          <p:nvPr/>
        </p:nvSpPr>
        <p:spPr>
          <a:xfrm>
            <a:off x="5852160" y="1417320"/>
            <a:ext cx="5882335" cy="5029200"/>
          </a:xfrm>
          <a:prstGeom prst="rect">
            <a:avLst/>
          </a:prstGeom>
          <a:noFill/>
        </p:spPr>
        <p:txBody>
          <a:bodyPr wrap="square">
            <a:spAutoFit/>
          </a:bodyPr>
          <a:lstStyle/>
          <a:p>
            <a:pPr/>
            <a:r>
              <a:rPr sz="1100" b="0">
                <a:solidFill>
                  <a:srgbClr val="111111"/>
                </a:solidFill>
                <a:latin typeface="Calibri"/>
              </a:rPr>
              <a:t>- Export penetration is rising as global customers diversify supply chains away from China, supporting multi-year volume visibility f...</a:t>
            </a:r>
          </a:p>
          <a:p>
            <a:pPr/>
            <a:r>
              <a:rPr sz="1100" b="0">
                <a:solidFill>
                  <a:srgbClr val="111111"/>
                </a:solidFill>
                <a:latin typeface="Calibri"/>
              </a:rPr>
              <a:t>- Product-mix improvement toward higher-margin specialty grades is the primary margin driver, with backward integration reinforcing g...</a:t>
            </a:r>
          </a:p>
          <a:p>
            <a:pPr/>
            <a:r>
              <a:rPr sz="1100" b="0">
                <a:solidFill>
                  <a:srgbClr val="111111"/>
                </a:solidFill>
                <a:latin typeface="Calibri"/>
              </a:rPr>
              <a:t>- Capex cycle is transitioning from peak spend to utilisation ramp-up, which historically correlates with the sharpest earnings conve...</a:t>
            </a:r>
          </a:p>
          <a:p>
            <a:pPr/>
            <a:r>
              <a:rPr sz="1100" b="0">
                <a:solidFill>
                  <a:srgbClr val="111111"/>
                </a:solidFill>
                <a:latin typeface="Calibri"/>
              </a:rPr>
              <a:t>- Management has demonstrated consistent execution across at least two prior capex cycles, reducing execution risk in the current exp...</a:t>
            </a:r>
          </a:p>
          <a:p>
            <a:pPr/>
            <a:r>
              <a:rPr sz="1100" b="0">
                <a:solidFill>
                  <a:srgbClr val="111111"/>
                </a:solidFill>
                <a:latin typeface="Calibri"/>
              </a:rPr>
              <a:t>- Demand visibility across key end markets — agrochemicals, performance materials, and industrial specialties — remains healthy based...</a:t>
            </a:r>
          </a:p>
          <a:p>
            <a:pPr/>
            <a:r>
              <a:rPr sz="1100" b="0">
                <a:solidFill>
                  <a:srgbClr val="111111"/>
                </a:solidFill>
                <a:latin typeface="Calibri"/>
              </a:rPr>
              <a:t>- Return metrics are set to improve as asset turns recover and operating leverage kicks in, creating a favourable re-rating catalyst...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ABC  |  Jane Doe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4 of 10</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Industry Overview — Specialty Chemicals</a:t>
            </a:r>
          </a:p>
        </p:txBody>
      </p:sp>
      <p:sp>
        <p:nvSpPr>
          <p:cNvPr id="11" name="TextBox 10"/>
          <p:cNvSpPr txBox="1"/>
          <p:nvPr/>
        </p:nvSpPr>
        <p:spPr>
          <a:xfrm>
            <a:off x="457200" y="1417320"/>
            <a:ext cx="5486400" cy="5029200"/>
          </a:xfrm>
          <a:prstGeom prst="rect">
            <a:avLst/>
          </a:prstGeom>
          <a:noFill/>
        </p:spPr>
        <p:txBody>
          <a:bodyPr wrap="square">
            <a:spAutoFit/>
          </a:bodyPr>
          <a:lstStyle/>
          <a:p>
            <a:r>
              <a:rPr sz="1100" b="0">
                <a:solidFill>
                  <a:srgbClr val="111111"/>
                </a:solidFill>
                <a:latin typeface="Calibri"/>
              </a:rPr>
              <a:t>The Indian specialty chemicals sector occupies a structurally advantaged position in the global supply chain, benefiting from cost-competitive manufacturing, a deep pool of chemical engineering talent, and proximity to key raw material sources. The industry is transitioning from a largely commodity-export base to a knowledge-intensive specialty platform, with increasing participation in global innovator supply chains across agrochemicals, pharma intermediates, dyes, and performance materials. China-plus-one supply-chain restructuring by global multinationals continues to generate incremental qualification pipelines for Indian manufacturers with the technical capabilities and regulatory compliance to serve regulated markets. Domestic demand is also a structural support, with downstream industries such as paints, adhesives, textiles, and agriculture creating a broad-based end-market buffer. The sector's medium-term outlook remains constructive, though it is not immune to raw material price cycles and global demand softness.</a:t>
            </a:r>
          </a:p>
        </p:txBody>
      </p:sp>
      <p:sp>
        <p:nvSpPr>
          <p:cNvPr id="12" name="TextBox 11"/>
          <p:cNvSpPr txBox="1"/>
          <p:nvPr/>
        </p:nvSpPr>
        <p:spPr>
          <a:xfrm>
            <a:off x="6217920" y="1417320"/>
            <a:ext cx="5516575" cy="5029200"/>
          </a:xfrm>
          <a:prstGeom prst="rect">
            <a:avLst/>
          </a:prstGeom>
          <a:noFill/>
        </p:spPr>
        <p:txBody>
          <a:bodyPr wrap="square">
            <a:spAutoFit/>
          </a:bodyPr>
          <a:lstStyle/>
          <a:p>
            <a:pPr/>
            <a:r>
              <a:rPr sz="1100" b="0">
                <a:solidFill>
                  <a:srgbClr val="111111"/>
                </a:solidFill>
                <a:latin typeface="Calibri"/>
              </a:rPr>
              <a:t>- China-plus-one sourcing shift is directing incremental specialty chemical volumes toward India, benefiting well-capitalised...</a:t>
            </a:r>
          </a:p>
          <a:p>
            <a:pPr/>
            <a:r>
              <a:rPr sz="1100" b="0">
                <a:solidFill>
                  <a:srgbClr val="111111"/>
                </a:solidFill>
                <a:latin typeface="Calibri"/>
              </a:rPr>
              <a:t>- Agrochemical and pharma intermediate demand provides relatively resilient, non-cyclical end-market exposure for diversified...</a:t>
            </a:r>
          </a:p>
          <a:p>
            <a:pPr/>
            <a:r>
              <a:rPr sz="1100" b="0">
                <a:solidFill>
                  <a:srgbClr val="111111"/>
                </a:solidFill>
                <a:latin typeface="Calibri"/>
              </a:rPr>
              <a:t>- Government production-linked incentive schemes and dedicated chemical zones are reducing logistics and compliance costs for...</a:t>
            </a:r>
          </a:p>
          <a:p>
            <a:pPr/>
            <a:r>
              <a:rPr sz="1100" b="0">
                <a:solidFill>
                  <a:srgbClr val="111111"/>
                </a:solidFill>
                <a:latin typeface="Calibri"/>
              </a:rPr>
              <a:t>- Increasing backward integration by Indian players is compressing landed-cost disadvantages versus Chinese competition on ke...</a:t>
            </a:r>
          </a:p>
          <a:p>
            <a:pPr/>
            <a:r>
              <a:rPr sz="1100" b="0">
                <a:solidFill>
                  <a:srgbClr val="111111"/>
                </a:solidFill>
                <a:latin typeface="Calibri"/>
              </a:rPr>
              <a:t>- Rising global ESG standards are nudging multinational buyers to prefer India-sourced specialty chemicals over China, where...</a:t>
            </a:r>
          </a:p>
          <a:p>
            <a:pPr/>
            <a:r>
              <a:rPr sz="1100" b="0">
                <a:solidFill>
                  <a:srgbClr val="111111"/>
                </a:solidFill>
                <a:latin typeface="Calibri"/>
              </a:rPr>
              <a:t>- Domestic consumption of specialty chemicals is growing as downstream industries modernise formulations and increase value-a...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ABC  |  Jane Doe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5 of 10</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Key Highlights</a:t>
            </a:r>
          </a:p>
        </p:txBody>
      </p:sp>
      <p:sp>
        <p:nvSpPr>
          <p:cNvPr id="11" name="TextBox 10"/>
          <p:cNvSpPr txBox="1"/>
          <p:nvPr/>
        </p:nvSpPr>
        <p:spPr>
          <a:xfrm>
            <a:off x="457200" y="2103120"/>
            <a:ext cx="11277295" cy="4343400"/>
          </a:xfrm>
          <a:prstGeom prst="rect">
            <a:avLst/>
          </a:prstGeom>
          <a:noFill/>
        </p:spPr>
        <p:txBody>
          <a:bodyPr wrap="square">
            <a:spAutoFit/>
          </a:bodyPr>
          <a:lstStyle/>
          <a:p>
            <a:pPr/>
            <a:r>
              <a:rPr sz="1100" b="0">
                <a:solidFill>
                  <a:srgbClr val="111111"/>
                </a:solidFill>
                <a:latin typeface="Calibri"/>
              </a:rPr>
              <a:t>- Export-led growth engine: Rising export penetration driven by China-plus-one tailwinds provides multi-year volume visibility across core specialty segments.</a:t>
            </a:r>
          </a:p>
          <a:p>
            <a:pPr/>
            <a:r>
              <a:rPr sz="1100" b="0">
                <a:solidFill>
                  <a:srgbClr val="111111"/>
                </a:solidFill>
                <a:latin typeface="Calibri"/>
              </a:rPr>
              <a:t>- Margin expansion in progress: Mix improvement toward specialty grades and backward integration are compressing input cost exposure and widening EBITDA margins.</a:t>
            </a:r>
          </a:p>
          <a:p>
            <a:pPr/>
            <a:r>
              <a:rPr sz="1100" b="0">
                <a:solidFill>
                  <a:srgbClr val="111111"/>
                </a:solidFill>
                <a:latin typeface="Calibri"/>
              </a:rPr>
              <a:t>- Capex to earnings conversion: The current investment cycle is maturing toward a utilisation ramp-up phase, with incremental revenue flowing at high incremental margins.</a:t>
            </a:r>
          </a:p>
          <a:p>
            <a:pPr/>
            <a:r>
              <a:rPr sz="1100" b="0">
                <a:solidFill>
                  <a:srgbClr val="111111"/>
                </a:solidFill>
                <a:latin typeface="Calibri"/>
              </a:rPr>
              <a:t>- Resilient end-market mix: Exposure to agrochemicals, performance materials, and industrial specialties diversifies revenue and dampens demand cyclicality.</a:t>
            </a:r>
          </a:p>
          <a:p>
            <a:pPr/>
            <a:r>
              <a:rPr sz="1100" b="0">
                <a:solidFill>
                  <a:srgbClr val="111111"/>
                </a:solidFill>
                <a:latin typeface="Calibri"/>
              </a:rPr>
              <a:t>- Solid management execution: A track record of delivering prior capex cycles on time and within budget underpins confidence in FY26–FY27 earnings estimates.</a:t>
            </a:r>
          </a:p>
          <a:p>
            <a:pPr/>
            <a:r>
              <a:rPr sz="1100" b="0">
                <a:solidFill>
                  <a:srgbClr val="111111"/>
                </a:solidFill>
                <a:latin typeface="Calibri"/>
              </a:rPr>
              <a:t>- Valuation upside: The stock offers an attractive upside to our target price, with improving return ratios likely to act as a re-rating catalyst.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ABC  |  Jane Doe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6 of 10</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Revenue Trajectory — Compounding Growth</a:t>
            </a:r>
          </a:p>
        </p:txBody>
      </p:sp>
      <p:sp>
        <p:nvSpPr>
          <p:cNvPr id="11" name="TextBox 10"/>
          <p:cNvSpPr txBox="1"/>
          <p:nvPr/>
        </p:nvSpPr>
        <p:spPr>
          <a:xfrm>
            <a:off x="457200" y="1417320"/>
            <a:ext cx="4389120" cy="5029200"/>
          </a:xfrm>
          <a:prstGeom prst="rect">
            <a:avLst/>
          </a:prstGeom>
          <a:noFill/>
        </p:spPr>
        <p:txBody>
          <a:bodyPr wrap="square">
            <a:spAutoFit/>
          </a:bodyPr>
          <a:lstStyle/>
          <a:p>
            <a:r>
              <a:rPr sz="1100" b="0">
                <a:solidFill>
                  <a:srgbClr val="111111"/>
                </a:solidFill>
                <a:latin typeface="Calibri"/>
              </a:rPr>
              <a:t>ABC Ltd's revenue trajectory reflects the dual engine of volume ramp-up from new capacity and mix-driven pricing power in specialty grades. Growth has been supported by expanding wallet share with global customers and the on-boarding of new accounts as supply-chain diversification accelerates. The FY24–FY27 period captures the company's transition from capex execution to capacity harvesting, with revenue growth expected to accelerate as utilisation improves and export commitments firm up. Domestic realisation trends have also remained supportive, with specialty product premiums holding firm despite intermittent raw material price movements. The model assumes conservative volume ramp-up schedules consistent with management guidance and sector benchmarks, providing a degree of downside cushion in the estimates. Revenue visibility is further underpinned by long-term supply agreements with anchor customers, which reduce the risk of sharp near-term revenue discontinuity even in a softening demand environment.</a:t>
            </a:r>
          </a:p>
        </p:txBody>
      </p:sp>
      <p:pic>
        <p:nvPicPr>
          <p:cNvPr id="12" name="Picture 11" descr="image.png"/>
          <p:cNvPicPr>
            <a:picLocks noChangeAspect="1"/>
          </p:cNvPicPr>
          <p:nvPr/>
        </p:nvPicPr>
        <p:blipFill>
          <a:blip r:embed="rId3"/>
          <a:stretch>
            <a:fillRect/>
          </a:stretch>
        </p:blipFill>
        <p:spPr>
          <a:xfrm>
            <a:off x="5120640" y="1417320"/>
            <a:ext cx="6613855" cy="50292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ABC  |  Jane Doe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7 of 10</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EBITDA Margin Expansion — The Margin Story</a:t>
            </a:r>
          </a:p>
        </p:txBody>
      </p:sp>
      <p:sp>
        <p:nvSpPr>
          <p:cNvPr id="11" name="TextBox 10"/>
          <p:cNvSpPr txBox="1"/>
          <p:nvPr/>
        </p:nvSpPr>
        <p:spPr>
          <a:xfrm>
            <a:off x="457200" y="1417320"/>
            <a:ext cx="4389120" cy="5029200"/>
          </a:xfrm>
          <a:prstGeom prst="rect">
            <a:avLst/>
          </a:prstGeom>
          <a:noFill/>
        </p:spPr>
        <p:txBody>
          <a:bodyPr wrap="square">
            <a:spAutoFit/>
          </a:bodyPr>
          <a:lstStyle/>
          <a:p>
            <a:r>
              <a:rPr sz="1100" b="0">
                <a:solidFill>
                  <a:srgbClr val="111111"/>
                </a:solidFill>
                <a:latin typeface="Calibri"/>
              </a:rPr>
              <a:t>EBITDA margin expansion is the central re-rating thesis for ABC Ltd. The company's margin trajectory is being driven by three concurrent forces: a shift in product mix toward higher-margin specialty grades, the progressive benefits of backward integration into key raw material intermediates, and operating leverage as fixed-cost absorption improves with rising utilisation. Raw material costs, particularly for key petrochemical and agrochemical feedstocks, represent the principal gross margin risk, but the combination of long-term procurement contracts and partial backward integration provides a meaningful structural buffer. The specialty segment typically commands a significant premium over commodity grades, and as the revenue mix tilts further toward specialty products over FY25–FY27, the blended margin is expected to expand materially. We note that similar mix-shift transitions in peer specialty chemical companies have historically resulted in sustained re-ratings, as the market ascribes higher multiples to more predictable, higher-quality earnings streams.</a:t>
            </a:r>
          </a:p>
        </p:txBody>
      </p:sp>
      <p:pic>
        <p:nvPicPr>
          <p:cNvPr id="12" name="Picture 11" descr="image.png"/>
          <p:cNvPicPr>
            <a:picLocks noChangeAspect="1"/>
          </p:cNvPicPr>
          <p:nvPr/>
        </p:nvPicPr>
        <p:blipFill>
          <a:blip r:embed="rId3"/>
          <a:stretch>
            <a:fillRect/>
          </a:stretch>
        </p:blipFill>
        <p:spPr>
          <a:xfrm>
            <a:off x="5120640" y="1417320"/>
            <a:ext cx="6613855" cy="50292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ABC  |  Jane Doe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8 of 10</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Valuation Summary</a:t>
            </a:r>
          </a:p>
        </p:txBody>
      </p:sp>
      <p:sp>
        <p:nvSpPr>
          <p:cNvPr id="11" name="TextBox 10"/>
          <p:cNvSpPr txBox="1"/>
          <p:nvPr/>
        </p:nvSpPr>
        <p:spPr>
          <a:xfrm>
            <a:off x="457200" y="1417320"/>
            <a:ext cx="4572000" cy="1645920"/>
          </a:xfrm>
          <a:prstGeom prst="rect">
            <a:avLst/>
          </a:prstGeom>
          <a:noFill/>
        </p:spPr>
        <p:txBody>
          <a:bodyPr wrap="square">
            <a:spAutoFit/>
          </a:bodyPr>
          <a:lstStyle/>
          <a:p>
            <a:r>
              <a:rPr sz="1100" b="0">
                <a:solidFill>
                  <a:srgbClr val="111111"/>
                </a:solidFill>
                <a:latin typeface="Calibri"/>
              </a:rPr>
              <a:t>Our target price is derived using a blended valuation approach that incorporates earnings-based multiples alongside a cross-check against discounted cash flow intrinsic value. In the specialty chemicals sector, EV/EBITDA is the primary market-observed valuation currency given the capital-intensity of the business and the importance of operating cash generatio...</a:t>
            </a:r>
          </a:p>
        </p:txBody>
      </p:sp>
      <p:sp>
        <p:nvSpPr>
          <p:cNvPr id="12" name="TextBox 11"/>
          <p:cNvSpPr txBox="1"/>
          <p:nvPr/>
        </p:nvSpPr>
        <p:spPr>
          <a:xfrm>
            <a:off x="5303520" y="1417320"/>
            <a:ext cx="1026109" cy="1645920"/>
          </a:xfrm>
          <a:prstGeom prst="rect">
            <a:avLst/>
          </a:prstGeom>
          <a:noFill/>
        </p:spPr>
        <p:txBody>
          <a:bodyPr wrap="square">
            <a:spAutoFit/>
          </a:bodyPr>
          <a:lstStyle/>
          <a:p>
            <a:pPr algn="ctr"/>
            <a:r>
              <a:rPr sz="1400" b="1">
                <a:solidFill>
                  <a:srgbClr val="1F4690"/>
                </a:solidFill>
                <a:latin typeface="Calibri"/>
              </a:rPr>
              <a:t>FY26E Revenue 28,500.0</a:t>
            </a:r>
          </a:p>
        </p:txBody>
      </p:sp>
      <p:sp>
        <p:nvSpPr>
          <p:cNvPr id="13" name="TextBox 12"/>
          <p:cNvSpPr txBox="1"/>
          <p:nvPr/>
        </p:nvSpPr>
        <p:spPr>
          <a:xfrm>
            <a:off x="6375349" y="1417320"/>
            <a:ext cx="1026109" cy="1645920"/>
          </a:xfrm>
          <a:prstGeom prst="rect">
            <a:avLst/>
          </a:prstGeom>
          <a:noFill/>
        </p:spPr>
        <p:txBody>
          <a:bodyPr wrap="square">
            <a:spAutoFit/>
          </a:bodyPr>
          <a:lstStyle/>
          <a:p>
            <a:pPr algn="ctr"/>
            <a:r>
              <a:rPr sz="1400" b="1">
                <a:solidFill>
                  <a:srgbClr val="1F4690"/>
                </a:solidFill>
                <a:latin typeface="Calibri"/>
              </a:rPr>
              <a:t>FY26E EBITDA 5,900.0</a:t>
            </a:r>
          </a:p>
        </p:txBody>
      </p:sp>
      <p:sp>
        <p:nvSpPr>
          <p:cNvPr id="14" name="TextBox 13"/>
          <p:cNvSpPr txBox="1"/>
          <p:nvPr/>
        </p:nvSpPr>
        <p:spPr>
          <a:xfrm>
            <a:off x="7447178" y="1417320"/>
            <a:ext cx="1026109" cy="1645920"/>
          </a:xfrm>
          <a:prstGeom prst="rect">
            <a:avLst/>
          </a:prstGeom>
          <a:noFill/>
        </p:spPr>
        <p:txBody>
          <a:bodyPr wrap="square">
            <a:spAutoFit/>
          </a:bodyPr>
          <a:lstStyle/>
          <a:p>
            <a:pPr algn="ctr"/>
            <a:r>
              <a:rPr sz="1400" b="1">
                <a:solidFill>
                  <a:srgbClr val="1F4690"/>
                </a:solidFill>
                <a:latin typeface="Calibri"/>
              </a:rPr>
              <a:t>FY26E PAT 3,450.0</a:t>
            </a:r>
          </a:p>
        </p:txBody>
      </p:sp>
      <p:sp>
        <p:nvSpPr>
          <p:cNvPr id="15" name="TextBox 14"/>
          <p:cNvSpPr txBox="1"/>
          <p:nvPr/>
        </p:nvSpPr>
        <p:spPr>
          <a:xfrm>
            <a:off x="8519007" y="1417320"/>
            <a:ext cx="1026109" cy="1645920"/>
          </a:xfrm>
          <a:prstGeom prst="rect">
            <a:avLst/>
          </a:prstGeom>
          <a:noFill/>
        </p:spPr>
        <p:txBody>
          <a:bodyPr wrap="square">
            <a:spAutoFit/>
          </a:bodyPr>
          <a:lstStyle/>
          <a:p>
            <a:pPr algn="ctr"/>
            <a:r>
              <a:rPr sz="1400" b="1">
                <a:solidFill>
                  <a:srgbClr val="1F4690"/>
                </a:solidFill>
                <a:latin typeface="Calibri"/>
              </a:rPr>
              <a:t>Net Debt / EBITDA (FY26E) 0.8</a:t>
            </a:r>
          </a:p>
        </p:txBody>
      </p:sp>
      <p:sp>
        <p:nvSpPr>
          <p:cNvPr id="16" name="TextBox 15"/>
          <p:cNvSpPr txBox="1"/>
          <p:nvPr/>
        </p:nvSpPr>
        <p:spPr>
          <a:xfrm>
            <a:off x="9590836" y="1417320"/>
            <a:ext cx="1026109" cy="1645920"/>
          </a:xfrm>
          <a:prstGeom prst="rect">
            <a:avLst/>
          </a:prstGeom>
          <a:noFill/>
        </p:spPr>
        <p:txBody>
          <a:bodyPr wrap="square">
            <a:spAutoFit/>
          </a:bodyPr>
          <a:lstStyle/>
          <a:p>
            <a:pPr algn="ctr"/>
            <a:r>
              <a:rPr sz="1400" b="1">
                <a:solidFill>
                  <a:srgbClr val="1F4690"/>
                </a:solidFill>
                <a:latin typeface="Calibri"/>
              </a:rPr>
              <a:t>ROE (FY26E) 18.4</a:t>
            </a:r>
          </a:p>
        </p:txBody>
      </p:sp>
      <p:sp>
        <p:nvSpPr>
          <p:cNvPr id="17" name="TextBox 16"/>
          <p:cNvSpPr txBox="1"/>
          <p:nvPr/>
        </p:nvSpPr>
        <p:spPr>
          <a:xfrm>
            <a:off x="10662666" y="1417320"/>
            <a:ext cx="1026109" cy="1645920"/>
          </a:xfrm>
          <a:prstGeom prst="rect">
            <a:avLst/>
          </a:prstGeom>
          <a:noFill/>
        </p:spPr>
        <p:txBody>
          <a:bodyPr wrap="square">
            <a:spAutoFit/>
          </a:bodyPr>
          <a:lstStyle/>
          <a:p>
            <a:pPr algn="ctr"/>
            <a:r>
              <a:rPr sz="1400" b="1">
                <a:solidFill>
                  <a:srgbClr val="1F4690"/>
                </a:solidFill>
                <a:latin typeface="Calibri"/>
              </a:rPr>
              <a:t>Target Price ₹515.0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ABC  |  Jane Doe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9 of 10</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Key Risks</a:t>
            </a:r>
          </a:p>
        </p:txBody>
      </p:sp>
      <p:sp>
        <p:nvSpPr>
          <p:cNvPr id="11" name="TextBox 10"/>
          <p:cNvSpPr txBox="1"/>
          <p:nvPr/>
        </p:nvSpPr>
        <p:spPr>
          <a:xfrm>
            <a:off x="457200" y="1417320"/>
            <a:ext cx="11277295" cy="5029200"/>
          </a:xfrm>
          <a:prstGeom prst="rect">
            <a:avLst/>
          </a:prstGeom>
          <a:noFill/>
        </p:spPr>
        <p:txBody>
          <a:bodyPr wrap="square">
            <a:spAutoFit/>
          </a:bodyPr>
          <a:lstStyle/>
          <a:p>
            <a:pPr/>
            <a:r>
              <a:rPr sz="1100" b="0">
                <a:solidFill>
                  <a:srgbClr val="111111"/>
                </a:solidFill>
                <a:latin typeface="Calibri"/>
              </a:rPr>
              <a:t>- Raw material volatility — sustained increases in key petrochemical and agrochemical feedstock prices could compress gross margins and delay the margin expansion thesis.</a:t>
            </a:r>
          </a:p>
          <a:p>
            <a:pPr/>
            <a:r>
              <a:rPr sz="1100" b="0">
                <a:solidFill>
                  <a:srgbClr val="111111"/>
                </a:solidFill>
                <a:latin typeface="Calibri"/>
              </a:rPr>
              <a:t>- Utilisation ramp-up delays — slower-than-expected capacity absorption would push out earnings conversion and reduce the near-term earnings visibility that supports the valuation.</a:t>
            </a:r>
          </a:p>
          <a:p>
            <a:pPr/>
            <a:r>
              <a:rPr sz="1100" b="0">
                <a:solidFill>
                  <a:srgbClr val="111111"/>
                </a:solidFill>
                <a:latin typeface="Calibri"/>
              </a:rPr>
              <a:t>- Export demand softness — a global economic slowdown or inventory destocking by key customer segments could weaken near-term export volumes and realisation.</a:t>
            </a:r>
          </a:p>
          <a:p>
            <a:pPr/>
            <a:r>
              <a:rPr sz="1100" b="0">
                <a:solidFill>
                  <a:srgbClr val="111111"/>
                </a:solidFill>
                <a:latin typeface="Calibri"/>
              </a:rPr>
              <a:t>- China competition — renewed export aggression by Chinese specialty chemical producers could pressure realisation and share, particularly in commodity-adjacent product lines.</a:t>
            </a:r>
          </a:p>
          <a:p>
            <a:pPr/>
            <a:r>
              <a:rPr sz="1100" b="0">
                <a:solidFill>
                  <a:srgbClr val="111111"/>
                </a:solidFill>
                <a:latin typeface="Calibri"/>
              </a:rPr>
              <a:t>- Regulatory and compliance risk — changes in environmental regulations in key export markets or domestically could increase compliance costs or temporarily disrupt operations.</a:t>
            </a:r>
          </a:p>
          <a:p>
            <a:pPr/>
            <a:r>
              <a:rPr sz="1100" b="0">
                <a:solidFill>
                  <a:srgbClr val="111111"/>
                </a:solidFill>
                <a:latin typeface="Calibri"/>
              </a:rPr>
              <a:t>- Working capital elongation — extended debtor days or inventory build-up in a demand slowdown could strain free cash flow and temporarily elevate leverage metrics.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ABC  |  Jane Doe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10 of 10</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Disclaimer</a:t>
            </a:r>
          </a:p>
        </p:txBody>
      </p:sp>
      <p:sp>
        <p:nvSpPr>
          <p:cNvPr id="11" name="TextBox 10"/>
          <p:cNvSpPr txBox="1"/>
          <p:nvPr/>
        </p:nvSpPr>
        <p:spPr>
          <a:xfrm>
            <a:off x="457200" y="1417320"/>
            <a:ext cx="11277295" cy="5029200"/>
          </a:xfrm>
          <a:prstGeom prst="rect">
            <a:avLst/>
          </a:prstGeom>
          <a:noFill/>
        </p:spPr>
        <p:txBody>
          <a:bodyPr wrap="square">
            <a:spAutoFit/>
          </a:bodyPr>
          <a:lstStyle/>
          <a:p>
            <a:r>
              <a:rPr sz="1100" b="0">
                <a:solidFill>
                  <a:srgbClr val="111111"/>
                </a:solidFill>
                <a:latin typeface="Calibri"/>
              </a:rPr>
              <a:t>This research report has been prepared by Tikona Capital, a SEBI-registered research analyst firm, for informational purposes only. This report does not constitute an offer, invitation, or solicitation to buy or sell any securities. The information contained herein has been obtained from sources believed to be reliable, but Tikona Capital makes no representation as to its accuracy or completeness. Past performance is not indicative of future results. Investing in securities involves risks, including the possible loss of principal. The opinions and estimates expressed in this report reflect the analyst's current judgment and are subject to change without notice. Tikona Capital and its affiliates, officers, directors, and employees may hold positions in the securities mentioned in this report and may buy or sell such securities from time to time. This report is intended solely for the use of the recipient and may not be redistributed, reproduced, or published without the prior written consent of Tikona Capital. Investors are advised to seek independent financial, legal, and tax advice before making any investment decision. SEBI Registration details and disclosures are available on the Tikona Capital website. The renderer may substitute this text with the firm's approved legal boilerplate.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