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606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0180015" y="0"/>
            <a:ext cx="2011680" cy="2606040"/>
          </a:xfrm>
          <a:prstGeom prst="rect">
            <a:avLst/>
          </a:prstGeom>
          <a:solidFill>
            <a:srgbClr val="FFA500">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65760" y="182880"/>
            <a:ext cx="2377440" cy="502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457200" y="228600"/>
            <a:ext cx="1570584" cy="384048"/>
          </a:xfrm>
          <a:prstGeom prst="rect">
            <a:avLst/>
          </a:prstGeom>
        </p:spPr>
      </p:pic>
      <p:sp>
        <p:nvSpPr>
          <p:cNvPr id="6" name="TextBox 5"/>
          <p:cNvSpPr txBox="1"/>
          <p:nvPr/>
        </p:nvSpPr>
        <p:spPr>
          <a:xfrm>
            <a:off x="1188720" y="201168"/>
            <a:ext cx="2743200" cy="256032"/>
          </a:xfrm>
          <a:prstGeom prst="rect">
            <a:avLst/>
          </a:prstGeom>
          <a:noFill/>
        </p:spPr>
        <p:txBody>
          <a:bodyPr wrap="none" lIns="45720" rIns="45720" tIns="18288" bIns="18288">
            <a:spAutoFit/>
          </a:bodyPr>
          <a:lstStyle/>
          <a:p>
            <a:pPr algn="l"/>
            <a:r>
              <a:rPr sz="1400" b="1">
                <a:solidFill>
                  <a:srgbClr val="FFFFFF"/>
                </a:solidFill>
                <a:latin typeface="Calibri"/>
              </a:rPr>
              <a:t>Tikona Capital</a:t>
            </a:r>
          </a:p>
        </p:txBody>
      </p:sp>
      <p:sp>
        <p:nvSpPr>
          <p:cNvPr id="7" name="TextBox 6"/>
          <p:cNvSpPr txBox="1"/>
          <p:nvPr/>
        </p:nvSpPr>
        <p:spPr>
          <a:xfrm>
            <a:off x="1188720" y="457200"/>
            <a:ext cx="2743200" cy="164592"/>
          </a:xfrm>
          <a:prstGeom prst="rect">
            <a:avLst/>
          </a:prstGeom>
          <a:noFill/>
        </p:spPr>
        <p:txBody>
          <a:bodyPr wrap="none" lIns="45720" rIns="45720" tIns="18288" bIns="18288">
            <a:spAutoFit/>
          </a:bodyPr>
          <a:lstStyle/>
          <a:p>
            <a:pPr algn="l"/>
            <a:r>
              <a:rPr sz="700" b="0">
                <a:solidFill>
                  <a:srgbClr val="8899BB"/>
                </a:solidFill>
                <a:latin typeface="Calibri"/>
              </a:rPr>
              <a:t>INSTITUTIONAL EQUITY RESEARCH</a:t>
            </a:r>
          </a:p>
        </p:txBody>
      </p:sp>
      <p:sp>
        <p:nvSpPr>
          <p:cNvPr id="8" name="Rounded Rectangle 7"/>
          <p:cNvSpPr/>
          <p:nvPr/>
        </p:nvSpPr>
        <p:spPr>
          <a:xfrm>
            <a:off x="8534095" y="228600"/>
            <a:ext cx="3017520" cy="228600"/>
          </a:xfrm>
          <a:prstGeom prst="roundRect">
            <a:avLst/>
          </a:prstGeom>
          <a:solidFill>
            <a:srgbClr val="FFFFFF">
              <a:lumMod val="15000"/>
              <a:lumOff val="85000"/>
            </a:srgbClr>
          </a:solidFill>
          <a:ln>
            <a:noFill/>
          </a:ln>
        </p:spPr>
        <p:style>
          <a:lnRef idx="1">
            <a:schemeClr val="accent1"/>
          </a:lnRef>
          <a:fillRef idx="3">
            <a:schemeClr val="accent1"/>
          </a:fillRef>
          <a:effectRef idx="2">
            <a:schemeClr val="accent1"/>
          </a:effectRef>
          <a:fontRef idx="minor">
            <a:schemeClr val="lt1"/>
          </a:fontRef>
        </p:style>
        <p:txBody>
          <a:bodyPr rtlCol="0" anchor="ctr" lIns="45720" tIns="9144"/>
          <a:lstStyle/>
          <a:p>
            <a:pPr algn="ctr"/>
            <a:r>
              <a:rPr sz="800" b="0">
                <a:solidFill>
                  <a:srgbClr val="FFFFFF"/>
                </a:solidFill>
                <a:latin typeface="Calibri"/>
              </a:rPr>
              <a:t>INITIATION</a:t>
            </a:r>
          </a:p>
        </p:txBody>
      </p:sp>
      <p:sp>
        <p:nvSpPr>
          <p:cNvPr id="9" name="TextBox 8"/>
          <p:cNvSpPr txBox="1"/>
          <p:nvPr/>
        </p:nvSpPr>
        <p:spPr>
          <a:xfrm>
            <a:off x="457200" y="777240"/>
            <a:ext cx="6705432" cy="457200"/>
          </a:xfrm>
          <a:prstGeom prst="rect">
            <a:avLst/>
          </a:prstGeom>
          <a:noFill/>
        </p:spPr>
        <p:txBody>
          <a:bodyPr wrap="none" lIns="45720" rIns="45720" tIns="18288" bIns="18288">
            <a:spAutoFit/>
          </a:bodyPr>
          <a:lstStyle/>
          <a:p>
            <a:pPr algn="l"/>
            <a:r>
              <a:rPr sz="2600" b="1">
                <a:solidFill>
                  <a:srgbClr val="FFFFFF"/>
                </a:solidFill>
                <a:latin typeface="Calibri"/>
              </a:rPr>
              <a:t>Motilal Oswal Financial Services Ltd</a:t>
            </a:r>
          </a:p>
        </p:txBody>
      </p:sp>
      <p:sp>
        <p:nvSpPr>
          <p:cNvPr id="10" name="Rounded Rectangle 9"/>
          <p:cNvSpPr/>
          <p:nvPr/>
        </p:nvSpPr>
        <p:spPr>
          <a:xfrm>
            <a:off x="5724144" y="868680"/>
            <a:ext cx="777240" cy="274320"/>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45720" rIns="45720" tIns="18288" bIns="18288"/>
          <a:lstStyle/>
          <a:p>
            <a:pPr algn="ctr"/>
            <a:r>
              <a:rPr sz="1200" b="1">
                <a:solidFill>
                  <a:srgbClr val="FFFFFF"/>
                </a:solidFill>
                <a:latin typeface="Calibri"/>
              </a:rPr>
              <a:t>BUY</a:t>
            </a:r>
          </a:p>
        </p:txBody>
      </p:sp>
      <p:sp>
        <p:nvSpPr>
          <p:cNvPr id="11" name="TextBox 10"/>
          <p:cNvSpPr txBox="1"/>
          <p:nvPr/>
        </p:nvSpPr>
        <p:spPr>
          <a:xfrm>
            <a:off x="457200" y="1234440"/>
            <a:ext cx="11277295" cy="164592"/>
          </a:xfrm>
          <a:prstGeom prst="rect">
            <a:avLst/>
          </a:prstGeom>
          <a:noFill/>
        </p:spPr>
        <p:txBody>
          <a:bodyPr wrap="none" lIns="45720" rIns="45720" tIns="18288" bIns="18288">
            <a:spAutoFit/>
          </a:bodyPr>
          <a:lstStyle/>
          <a:p>
            <a:pPr algn="l"/>
            <a:r>
              <a:rPr sz="800" b="0">
                <a:solidFill>
                  <a:srgbClr val="8899AA"/>
                </a:solidFill>
                <a:latin typeface="Calibri"/>
              </a:rPr>
              <a:t>NSE: MOFSL  |  Financial Services</a:t>
            </a:r>
          </a:p>
        </p:txBody>
      </p:sp>
      <p:sp>
        <p:nvSpPr>
          <p:cNvPr id="12" name="Rectangle 11"/>
          <p:cNvSpPr/>
          <p:nvPr/>
        </p:nvSpPr>
        <p:spPr>
          <a:xfrm>
            <a:off x="457200" y="1490472"/>
            <a:ext cx="11277295" cy="10972"/>
          </a:xfrm>
          <a:prstGeom prst="rect">
            <a:avLst/>
          </a:prstGeom>
          <a:solidFill>
            <a:srgbClr val="4A6A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1508760"/>
            <a:ext cx="2682163" cy="118872"/>
          </a:xfrm>
          <a:prstGeom prst="rect">
            <a:avLst/>
          </a:prstGeom>
          <a:noFill/>
        </p:spPr>
        <p:txBody>
          <a:bodyPr wrap="none" lIns="45720" rIns="45720" tIns="18288" bIns="18288">
            <a:spAutoFit/>
          </a:bodyPr>
          <a:lstStyle/>
          <a:p>
            <a:pPr algn="l"/>
            <a:r>
              <a:rPr sz="600" b="0">
                <a:solidFill>
                  <a:srgbClr val="8899AA"/>
                </a:solidFill>
                <a:latin typeface="Calibri"/>
              </a:rPr>
              <a:t>CMP</a:t>
            </a:r>
          </a:p>
        </p:txBody>
      </p:sp>
      <p:sp>
        <p:nvSpPr>
          <p:cNvPr id="14" name="TextBox 13"/>
          <p:cNvSpPr txBox="1"/>
          <p:nvPr/>
        </p:nvSpPr>
        <p:spPr>
          <a:xfrm>
            <a:off x="457200" y="1627631"/>
            <a:ext cx="2682163" cy="256032"/>
          </a:xfrm>
          <a:prstGeom prst="rect">
            <a:avLst/>
          </a:prstGeom>
          <a:noFill/>
        </p:spPr>
        <p:txBody>
          <a:bodyPr wrap="none" lIns="45720" rIns="45720" tIns="18288" bIns="18288">
            <a:spAutoFit/>
          </a:bodyPr>
          <a:lstStyle/>
          <a:p>
            <a:pPr algn="l"/>
            <a:r>
              <a:rPr sz="1500" b="1">
                <a:solidFill>
                  <a:srgbClr val="FFA500"/>
                </a:solidFill>
                <a:latin typeface="Calibri"/>
              </a:rPr>
              <a:t>₹822.90</a:t>
            </a:r>
          </a:p>
        </p:txBody>
      </p:sp>
      <p:sp>
        <p:nvSpPr>
          <p:cNvPr id="15" name="TextBox 14"/>
          <p:cNvSpPr txBox="1"/>
          <p:nvPr/>
        </p:nvSpPr>
        <p:spPr>
          <a:xfrm>
            <a:off x="457200" y="1883664"/>
            <a:ext cx="2682163" cy="109728"/>
          </a:xfrm>
          <a:prstGeom prst="rect">
            <a:avLst/>
          </a:prstGeom>
          <a:noFill/>
        </p:spPr>
        <p:txBody>
          <a:bodyPr wrap="none" lIns="45720" rIns="45720" tIns="18288" bIns="18288">
            <a:spAutoFit/>
          </a:bodyPr>
          <a:lstStyle/>
          <a:p>
            <a:pPr algn="l"/>
            <a:r>
              <a:rPr sz="600" b="0">
                <a:solidFill>
                  <a:srgbClr val="7788AA"/>
                </a:solidFill>
                <a:latin typeface="Calibri"/>
              </a:rPr>
              <a:t>As of 28/04/2026</a:t>
            </a:r>
          </a:p>
        </p:txBody>
      </p:sp>
      <p:sp>
        <p:nvSpPr>
          <p:cNvPr id="16" name="Rectangle 15"/>
          <p:cNvSpPr/>
          <p:nvPr/>
        </p:nvSpPr>
        <p:spPr>
          <a:xfrm>
            <a:off x="3185083"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76523" y="1508760"/>
            <a:ext cx="2682163" cy="118872"/>
          </a:xfrm>
          <a:prstGeom prst="rect">
            <a:avLst/>
          </a:prstGeom>
          <a:noFill/>
        </p:spPr>
        <p:txBody>
          <a:bodyPr wrap="none" lIns="45720" rIns="45720" tIns="18288" bIns="18288">
            <a:spAutoFit/>
          </a:bodyPr>
          <a:lstStyle/>
          <a:p>
            <a:pPr algn="l"/>
            <a:r>
              <a:rPr sz="600" b="0">
                <a:solidFill>
                  <a:srgbClr val="8899AA"/>
                </a:solidFill>
                <a:latin typeface="Calibri"/>
              </a:rPr>
              <a:t>TARGET PRICE</a:t>
            </a:r>
          </a:p>
        </p:txBody>
      </p:sp>
      <p:sp>
        <p:nvSpPr>
          <p:cNvPr id="18" name="TextBox 17"/>
          <p:cNvSpPr txBox="1"/>
          <p:nvPr/>
        </p:nvSpPr>
        <p:spPr>
          <a:xfrm>
            <a:off x="3276523" y="1627631"/>
            <a:ext cx="2682163" cy="256032"/>
          </a:xfrm>
          <a:prstGeom prst="rect">
            <a:avLst/>
          </a:prstGeom>
          <a:noFill/>
        </p:spPr>
        <p:txBody>
          <a:bodyPr wrap="none" lIns="45720" rIns="45720" tIns="18288" bIns="18288">
            <a:spAutoFit/>
          </a:bodyPr>
          <a:lstStyle/>
          <a:p>
            <a:pPr algn="l"/>
            <a:r>
              <a:rPr sz="1500" b="1">
                <a:solidFill>
                  <a:srgbClr val="FFFFFF"/>
                </a:solidFill>
                <a:latin typeface="Calibri"/>
              </a:rPr>
              <a:t>₹1,127</a:t>
            </a:r>
          </a:p>
        </p:txBody>
      </p:sp>
      <p:sp>
        <p:nvSpPr>
          <p:cNvPr id="19" name="Rectangle 18"/>
          <p:cNvSpPr/>
          <p:nvPr/>
        </p:nvSpPr>
        <p:spPr>
          <a:xfrm>
            <a:off x="6004407"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5847" y="1508760"/>
            <a:ext cx="2682163" cy="118872"/>
          </a:xfrm>
          <a:prstGeom prst="rect">
            <a:avLst/>
          </a:prstGeom>
          <a:noFill/>
        </p:spPr>
        <p:txBody>
          <a:bodyPr wrap="none" lIns="45720" rIns="45720" tIns="18288" bIns="18288">
            <a:spAutoFit/>
          </a:bodyPr>
          <a:lstStyle/>
          <a:p>
            <a:pPr algn="l"/>
            <a:r>
              <a:rPr sz="600" b="0">
                <a:solidFill>
                  <a:srgbClr val="8899AA"/>
                </a:solidFill>
                <a:latin typeface="Calibri"/>
              </a:rPr>
              <a:t>MARKET CAP</a:t>
            </a:r>
          </a:p>
        </p:txBody>
      </p:sp>
      <p:sp>
        <p:nvSpPr>
          <p:cNvPr id="21" name="TextBox 20"/>
          <p:cNvSpPr txBox="1"/>
          <p:nvPr/>
        </p:nvSpPr>
        <p:spPr>
          <a:xfrm>
            <a:off x="6095847" y="1627631"/>
            <a:ext cx="2682163" cy="256032"/>
          </a:xfrm>
          <a:prstGeom prst="rect">
            <a:avLst/>
          </a:prstGeom>
          <a:noFill/>
        </p:spPr>
        <p:txBody>
          <a:bodyPr wrap="none" lIns="45720" rIns="45720" tIns="18288" bIns="18288">
            <a:spAutoFit/>
          </a:bodyPr>
          <a:lstStyle/>
          <a:p>
            <a:pPr algn="l"/>
            <a:r>
              <a:rPr sz="1500" b="1">
                <a:solidFill>
                  <a:srgbClr val="FFFFFF"/>
                </a:solidFill>
                <a:latin typeface="Calibri"/>
              </a:rPr>
              <a:t>₹49,079 Cr</a:t>
            </a:r>
          </a:p>
        </p:txBody>
      </p:sp>
      <p:sp>
        <p:nvSpPr>
          <p:cNvPr id="22" name="Rectangle 21"/>
          <p:cNvSpPr/>
          <p:nvPr/>
        </p:nvSpPr>
        <p:spPr>
          <a:xfrm>
            <a:off x="8823731" y="1545336"/>
            <a:ext cx="7315" cy="384048"/>
          </a:xfrm>
          <a:prstGeom prst="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15171" y="1508760"/>
            <a:ext cx="2682163" cy="118872"/>
          </a:xfrm>
          <a:prstGeom prst="rect">
            <a:avLst/>
          </a:prstGeom>
          <a:noFill/>
        </p:spPr>
        <p:txBody>
          <a:bodyPr wrap="none" lIns="45720" rIns="45720" tIns="18288" bIns="18288">
            <a:spAutoFit/>
          </a:bodyPr>
          <a:lstStyle/>
          <a:p>
            <a:pPr algn="l"/>
            <a:r>
              <a:rPr sz="600" b="0">
                <a:solidFill>
                  <a:srgbClr val="8899AA"/>
                </a:solidFill>
                <a:latin typeface="Calibri"/>
              </a:rPr>
              <a:t>UPSIDE</a:t>
            </a:r>
          </a:p>
        </p:txBody>
      </p:sp>
      <p:sp>
        <p:nvSpPr>
          <p:cNvPr id="24" name="TextBox 23"/>
          <p:cNvSpPr txBox="1"/>
          <p:nvPr/>
        </p:nvSpPr>
        <p:spPr>
          <a:xfrm>
            <a:off x="8915171" y="1627631"/>
            <a:ext cx="2682163" cy="256032"/>
          </a:xfrm>
          <a:prstGeom prst="rect">
            <a:avLst/>
          </a:prstGeom>
          <a:noFill/>
        </p:spPr>
        <p:txBody>
          <a:bodyPr wrap="none" lIns="45720" rIns="45720" tIns="18288" bIns="18288">
            <a:spAutoFit/>
          </a:bodyPr>
          <a:lstStyle/>
          <a:p>
            <a:pPr algn="l"/>
            <a:r>
              <a:rPr sz="1500" b="1">
                <a:solidFill>
                  <a:srgbClr val="FFFFFF"/>
                </a:solidFill>
                <a:latin typeface="Calibri"/>
              </a:rPr>
              <a:t>+37%</a:t>
            </a:r>
          </a:p>
        </p:txBody>
      </p:sp>
      <p:sp>
        <p:nvSpPr>
          <p:cNvPr id="25" name="TextBox 24"/>
          <p:cNvSpPr txBox="1"/>
          <p:nvPr/>
        </p:nvSpPr>
        <p:spPr>
          <a:xfrm>
            <a:off x="8991295" y="2404872"/>
            <a:ext cx="2743200" cy="164592"/>
          </a:xfrm>
          <a:prstGeom prst="rect">
            <a:avLst/>
          </a:prstGeom>
          <a:noFill/>
        </p:spPr>
        <p:txBody>
          <a:bodyPr wrap="none" lIns="45720" rIns="45720" tIns="18288" bIns="18288">
            <a:spAutoFit/>
          </a:bodyPr>
          <a:lstStyle/>
          <a:p>
            <a:pPr algn="r"/>
            <a:r>
              <a:rPr sz="700" b="0">
                <a:solidFill>
                  <a:srgbClr val="8899AA"/>
                </a:solidFill>
                <a:latin typeface="Calibri"/>
              </a:rPr>
              <a:t>Report: 28/04/2026</a:t>
            </a:r>
          </a:p>
        </p:txBody>
      </p:sp>
      <p:sp>
        <p:nvSpPr>
          <p:cNvPr id="26" name="Rectangle 25"/>
          <p:cNvSpPr/>
          <p:nvPr/>
        </p:nvSpPr>
        <p:spPr>
          <a:xfrm>
            <a:off x="0" y="2606040"/>
            <a:ext cx="12191695" cy="347472"/>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2624328"/>
            <a:ext cx="11277295" cy="310896"/>
          </a:xfrm>
          <a:prstGeom prst="rect">
            <a:avLst/>
          </a:prstGeom>
          <a:noFill/>
        </p:spPr>
        <p:txBody>
          <a:bodyPr wrap="none" lIns="45720" rIns="45720" tIns="18288" bIns="18288">
            <a:spAutoFit/>
          </a:bodyPr>
          <a:lstStyle/>
          <a:p>
            <a:pPr algn="l"/>
            <a:r>
              <a:rPr sz="1100" b="1">
                <a:solidFill>
                  <a:srgbClr val="1F4690"/>
                </a:solidFill>
                <a:latin typeface="Calibri"/>
              </a:rPr>
              <a:t>"BUY with SAARTHI Score of 72/100"</a:t>
            </a:r>
          </a:p>
        </p:txBody>
      </p:sp>
      <p:sp>
        <p:nvSpPr>
          <p:cNvPr id="28" name="Rectangle 27"/>
          <p:cNvSpPr/>
          <p:nvPr/>
        </p:nvSpPr>
        <p:spPr>
          <a:xfrm>
            <a:off x="457200" y="3063240"/>
            <a:ext cx="36576" cy="137160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93776" y="3063240"/>
            <a:ext cx="6211656" cy="1371600"/>
          </a:xfrm>
          <a:prstGeom prst="rect">
            <a:avLst/>
          </a:prstGeom>
          <a:solidFill>
            <a:srgbClr val="FFF3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3108960"/>
            <a:ext cx="6019632" cy="164592"/>
          </a:xfrm>
          <a:prstGeom prst="rect">
            <a:avLst/>
          </a:prstGeom>
          <a:noFill/>
        </p:spPr>
        <p:txBody>
          <a:bodyPr wrap="none" lIns="45720" rIns="45720" tIns="18288" bIns="18288">
            <a:spAutoFit/>
          </a:bodyPr>
          <a:lstStyle/>
          <a:p>
            <a:pPr algn="l"/>
            <a:r>
              <a:rPr sz="1000" b="1">
                <a:solidFill>
                  <a:srgbClr val="1F4690"/>
                </a:solidFill>
                <a:latin typeface="Calibri"/>
              </a:rPr>
              <a:t>Investment Thesis</a:t>
            </a:r>
          </a:p>
        </p:txBody>
      </p:sp>
      <p:sp>
        <p:nvSpPr>
          <p:cNvPr id="31" name="TextBox 30"/>
          <p:cNvSpPr txBox="1"/>
          <p:nvPr/>
        </p:nvSpPr>
        <p:spPr>
          <a:xfrm>
            <a:off x="594360" y="3291840"/>
            <a:ext cx="6019632" cy="1051560"/>
          </a:xfrm>
          <a:prstGeom prst="rect">
            <a:avLst/>
          </a:prstGeom>
          <a:noFill/>
        </p:spPr>
        <p:txBody>
          <a:bodyPr wrap="none" lIns="45720" rIns="45720" tIns="18288" bIns="18288">
            <a:spAutoFit/>
          </a:bodyPr>
          <a:lstStyle/>
          <a:p>
            <a:pPr algn="l"/>
            <a:r>
              <a:rPr sz="800" b="0">
                <a:solidFill>
                  <a:srgbClr val="333333"/>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a:t>
            </a:r>
          </a:p>
        </p:txBody>
      </p:sp>
      <p:sp>
        <p:nvSpPr>
          <p:cNvPr id="32" name="Rectangle 31"/>
          <p:cNvSpPr/>
          <p:nvPr/>
        </p:nvSpPr>
        <p:spPr>
          <a:xfrm>
            <a:off x="457200" y="4526279"/>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4632" y="4526279"/>
            <a:ext cx="3127167"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544567"/>
            <a:ext cx="2990007" cy="201168"/>
          </a:xfrm>
          <a:prstGeom prst="rect">
            <a:avLst/>
          </a:prstGeom>
          <a:noFill/>
        </p:spPr>
        <p:txBody>
          <a:bodyPr wrap="none" lIns="45720" rIns="45720" tIns="18288" bIns="18288">
            <a:spAutoFit/>
          </a:bodyPr>
          <a:lstStyle/>
          <a:p>
            <a:pPr algn="l"/>
            <a:r>
              <a:rPr sz="700" b="0">
                <a:solidFill>
                  <a:srgbClr val="333333"/>
                </a:solidFill>
                <a:latin typeface="Calibri"/>
              </a:rPr>
              <a:t>BUY with SAARTHI Score of 72/100. Motilal Oswal Financial Services represents a compelling investment opportunity driven</a:t>
            </a:r>
          </a:p>
        </p:txBody>
      </p:sp>
      <p:sp>
        <p:nvSpPr>
          <p:cNvPr id="35" name="Rectangle 34"/>
          <p:cNvSpPr/>
          <p:nvPr/>
        </p:nvSpPr>
        <p:spPr>
          <a:xfrm>
            <a:off x="457200" y="4818888"/>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84632" y="4818888"/>
            <a:ext cx="3127167"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48640" y="4837175"/>
            <a:ext cx="2990007" cy="201168"/>
          </a:xfrm>
          <a:prstGeom prst="rect">
            <a:avLst/>
          </a:prstGeom>
          <a:noFill/>
        </p:spPr>
        <p:txBody>
          <a:bodyPr wrap="none" lIns="45720" rIns="45720" tIns="18288" bIns="18288">
            <a:spAutoFit/>
          </a:bodyPr>
          <a:lstStyle/>
          <a:p>
            <a:pPr algn="l"/>
            <a:r>
              <a:rPr sz="700" b="0">
                <a:solidFill>
                  <a:srgbClr val="333333"/>
                </a:solidFill>
                <a:latin typeface="Calibri"/>
              </a:rPr>
              <a:t>ARR contribution at the relevant figure of total net revenues, reducing cyclical broking volatility</a:t>
            </a:r>
          </a:p>
        </p:txBody>
      </p:sp>
      <p:sp>
        <p:nvSpPr>
          <p:cNvPr id="38" name="Rectangle 37"/>
          <p:cNvSpPr/>
          <p:nvPr/>
        </p:nvSpPr>
        <p:spPr>
          <a:xfrm>
            <a:off x="457200" y="5111495"/>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4632" y="5111495"/>
            <a:ext cx="3127167"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5129783"/>
            <a:ext cx="2990007" cy="201168"/>
          </a:xfrm>
          <a:prstGeom prst="rect">
            <a:avLst/>
          </a:prstGeom>
          <a:noFill/>
        </p:spPr>
        <p:txBody>
          <a:bodyPr wrap="none" lIns="45720" rIns="45720" tIns="18288" bIns="18288">
            <a:spAutoFit/>
          </a:bodyPr>
          <a:lstStyle/>
          <a:p>
            <a:pPr algn="l"/>
            <a:r>
              <a:rPr sz="700" b="0">
                <a:solidFill>
                  <a:srgbClr val="333333"/>
                </a:solidFill>
                <a:latin typeface="Calibri"/>
              </a:rPr>
              <a:t>Q2FY25 profits up the relevant figure YoY with the relevant figure revenue growth and the relevant figure ROE</a:t>
            </a:r>
          </a:p>
        </p:txBody>
      </p:sp>
      <p:sp>
        <p:nvSpPr>
          <p:cNvPr id="41" name="Rectangle 40"/>
          <p:cNvSpPr/>
          <p:nvPr/>
        </p:nvSpPr>
        <p:spPr>
          <a:xfrm>
            <a:off x="457200" y="5404103"/>
            <a:ext cx="27432" cy="237744"/>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84632" y="5404103"/>
            <a:ext cx="3127167" cy="2377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48640" y="5422391"/>
            <a:ext cx="2990007" cy="201168"/>
          </a:xfrm>
          <a:prstGeom prst="rect">
            <a:avLst/>
          </a:prstGeom>
          <a:noFill/>
        </p:spPr>
        <p:txBody>
          <a:bodyPr wrap="none" lIns="45720" rIns="45720" tIns="18288" bIns="18288">
            <a:spAutoFit/>
          </a:bodyPr>
          <a:lstStyle/>
          <a:p>
            <a:pPr algn="l"/>
            <a:r>
              <a:rPr sz="700" b="0">
                <a:solidFill>
                  <a:srgbClr val="333333"/>
                </a:solidFill>
                <a:latin typeface="Calibri"/>
              </a:rPr>
              <a:t>Total AUM at the relevant figure lakh crore (+the relevant figure YoY); the relevant figure of AUM outperforming benchma</a:t>
            </a:r>
          </a:p>
        </p:txBody>
      </p:sp>
      <p:sp>
        <p:nvSpPr>
          <p:cNvPr id="44" name="Rounded Rectangle 43"/>
          <p:cNvSpPr/>
          <p:nvPr/>
        </p:nvSpPr>
        <p:spPr>
          <a:xfrm>
            <a:off x="6949266" y="3063240"/>
            <a:ext cx="1521924" cy="65836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RATING</a:t>
            </a:r>
          </a:p>
          <a:p>
            <a:pPr algn="ctr"/>
            <a:r>
              <a:rPr sz="1600" b="1">
                <a:solidFill>
                  <a:srgbClr val="FFFFFF"/>
                </a:solidFill>
                <a:latin typeface="Calibri"/>
              </a:rPr>
              <a:t>BUY</a:t>
            </a:r>
          </a:p>
        </p:txBody>
      </p:sp>
      <p:sp>
        <p:nvSpPr>
          <p:cNvPr id="45" name="Rounded Rectangle 44"/>
          <p:cNvSpPr/>
          <p:nvPr/>
        </p:nvSpPr>
        <p:spPr>
          <a:xfrm>
            <a:off x="8580918" y="3063240"/>
            <a:ext cx="1521924" cy="65836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CMP</a:t>
            </a:r>
          </a:p>
          <a:p>
            <a:pPr algn="ctr"/>
            <a:r>
              <a:rPr sz="1600" b="1">
                <a:solidFill>
                  <a:srgbClr val="1F4690"/>
                </a:solidFill>
                <a:latin typeface="Calibri"/>
              </a:rPr>
              <a:t>₹822.9</a:t>
            </a:r>
          </a:p>
        </p:txBody>
      </p:sp>
      <p:sp>
        <p:nvSpPr>
          <p:cNvPr id="46" name="Rounded Rectangle 45"/>
          <p:cNvSpPr/>
          <p:nvPr/>
        </p:nvSpPr>
        <p:spPr>
          <a:xfrm>
            <a:off x="10212570" y="3063240"/>
            <a:ext cx="1521924" cy="658368"/>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TARGET PRICE</a:t>
            </a:r>
          </a:p>
          <a:p>
            <a:pPr algn="ctr"/>
            <a:r>
              <a:rPr sz="1600" b="1">
                <a:solidFill>
                  <a:srgbClr val="FFFFFF"/>
                </a:solidFill>
                <a:latin typeface="Calibri"/>
              </a:rPr>
              <a:t>₹1,127.0</a:t>
            </a:r>
          </a:p>
        </p:txBody>
      </p:sp>
      <p:sp>
        <p:nvSpPr>
          <p:cNvPr id="47" name="Rounded Rectangle 46"/>
          <p:cNvSpPr/>
          <p:nvPr/>
        </p:nvSpPr>
        <p:spPr>
          <a:xfrm>
            <a:off x="6949266" y="3831336"/>
            <a:ext cx="1521924" cy="658368"/>
          </a:xfrm>
          <a:prstGeom prst="round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UPSIDE</a:t>
            </a:r>
          </a:p>
          <a:p>
            <a:pPr algn="ctr"/>
            <a:r>
              <a:rPr sz="1600" b="1">
                <a:solidFill>
                  <a:srgbClr val="FFFFFF"/>
                </a:solidFill>
                <a:latin typeface="Calibri"/>
              </a:rPr>
              <a:t>37.0%</a:t>
            </a:r>
          </a:p>
        </p:txBody>
      </p:sp>
      <p:sp>
        <p:nvSpPr>
          <p:cNvPr id="48" name="Rounded Rectangle 47"/>
          <p:cNvSpPr/>
          <p:nvPr/>
        </p:nvSpPr>
        <p:spPr>
          <a:xfrm>
            <a:off x="8580918" y="3831336"/>
            <a:ext cx="1521924" cy="658368"/>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A0B0C8"/>
                </a:solidFill>
                <a:latin typeface="Calibri"/>
              </a:rPr>
              <a:t>MARKET CAP</a:t>
            </a:r>
          </a:p>
          <a:p>
            <a:pPr algn="ctr"/>
            <a:r>
              <a:rPr sz="1600" b="1">
                <a:solidFill>
                  <a:srgbClr val="FFFFFF"/>
                </a:solidFill>
                <a:latin typeface="Calibri"/>
              </a:rPr>
              <a:t>₹49,079 Cr</a:t>
            </a:r>
          </a:p>
        </p:txBody>
      </p:sp>
      <p:sp>
        <p:nvSpPr>
          <p:cNvPr id="49" name="Rounded Rectangle 48"/>
          <p:cNvSpPr/>
          <p:nvPr/>
        </p:nvSpPr>
        <p:spPr>
          <a:xfrm>
            <a:off x="10212570" y="3831336"/>
            <a:ext cx="1521924" cy="658368"/>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tIns="54864" bIns="36576"/>
          <a:lstStyle/>
          <a:p>
            <a:pPr algn="ctr"/>
            <a:r>
              <a:rPr sz="700" b="0">
                <a:solidFill>
                  <a:srgbClr val="1F4690"/>
                </a:solidFill>
                <a:latin typeface="Calibri"/>
              </a:rPr>
              <a:t>EPS (FY25)</a:t>
            </a:r>
          </a:p>
          <a:p>
            <a:pPr algn="ctr"/>
            <a:r>
              <a:rPr sz="1600" b="1">
                <a:solidFill>
                  <a:srgbClr val="1F4690"/>
                </a:solidFill>
                <a:latin typeface="Calibri"/>
              </a:rPr>
              <a:t>₹822.9</a:t>
            </a:r>
          </a:p>
        </p:txBody>
      </p:sp>
      <p:sp>
        <p:nvSpPr>
          <p:cNvPr id="50" name="Rectangle 49"/>
          <p:cNvSpPr/>
          <p:nvPr/>
        </p:nvSpPr>
        <p:spPr>
          <a:xfrm>
            <a:off x="0" y="6565392"/>
            <a:ext cx="12191695" cy="292608"/>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57200" y="6565392"/>
            <a:ext cx="3200400" cy="292608"/>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52" name="TextBox 51"/>
          <p:cNvSpPr txBox="1"/>
          <p:nvPr/>
        </p:nvSpPr>
        <p:spPr>
          <a:xfrm>
            <a:off x="3657508" y="6565392"/>
            <a:ext cx="4876678" cy="292608"/>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53" name="TextBox 52"/>
          <p:cNvSpPr txBox="1"/>
          <p:nvPr/>
        </p:nvSpPr>
        <p:spPr>
          <a:xfrm>
            <a:off x="9905695" y="6565392"/>
            <a:ext cx="1828800" cy="292608"/>
          </a:xfrm>
          <a:prstGeom prst="rect">
            <a:avLst/>
          </a:prstGeom>
          <a:noFill/>
        </p:spPr>
        <p:txBody>
          <a:bodyPr wrap="none" lIns="45720" rIns="45720" tIns="18288" bIns="18288">
            <a:spAutoFit/>
          </a:bodyPr>
          <a:lstStyle/>
          <a:p>
            <a:pPr algn="r"/>
            <a:r>
              <a:rPr sz="900" b="0">
                <a:solidFill>
                  <a:srgbClr val="FFFFFF"/>
                </a:solidFill>
                <a:latin typeface="Calibri"/>
              </a:rPr>
              <a:t>28/04/2026  |  Page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Investment Thesis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Investment Thesis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120640" cy="5029200"/>
          </a:xfrm>
          <a:prstGeom prst="rect">
            <a:avLst/>
          </a:prstGeom>
          <a:noFill/>
        </p:spPr>
        <p:txBody>
          <a:bodyPr wrap="square" anchor="t" lIns="45720" rIns="45720" tIns="18288" bIns="18288">
            <a:spAutoFit/>
          </a:bodyPr>
          <a:lstStyle/>
          <a:p>
            <a:r>
              <a:rPr sz="1200" b="0">
                <a:solidFill>
                  <a:srgbClr val="111111"/>
                </a:solidFill>
                <a:latin typeface="Calibri"/>
              </a:rPr>
              <a:t>BUY with SAARTHI Score of 72/100. Motilal Oswal Financial Services represents a compelling investment opportunity driven by its accelerating transformation from a cyclical broking firm into a high-quality, annuity-driven financial services platform. Annual Recurring Revenue (ARR) now constitutes the relevant figure of total net revenues — with management guiding for further increases — fundamentally re-rating the quality of the earnings base. CMP of the relevant figure offers a the relevant figure discount to analyst consensus target of the relevant figure with a probability-weighted target of the relevant figure.</a:t>
            </a:r>
          </a:p>
        </p:txBody>
      </p:sp>
      <p:sp>
        <p:nvSpPr>
          <p:cNvPr id="19" name="TextBox 18"/>
          <p:cNvSpPr txBox="1"/>
          <p:nvPr/>
        </p:nvSpPr>
        <p:spPr>
          <a:xfrm>
            <a:off x="5852160" y="1417320"/>
            <a:ext cx="588233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BUY with SAARTHI Score of 72/100. Motilal Oswal Financial Services represents a compelling investment opportunity driven...</a:t>
            </a:r>
          </a:p>
          <a:p>
            <a:pPr>
              <a:spcAft>
                <a:spcPts val="400"/>
              </a:spcAft>
            </a:pPr>
            <a:r>
              <a:rPr sz="1200" b="0">
                <a:solidFill>
                  <a:srgbClr val="111111"/>
                </a:solidFill>
                <a:latin typeface="Calibri"/>
              </a:rPr>
              <a:t>•  ARR contribution at the relevant figure of total net revenues, reducing cyclical broking volatility</a:t>
            </a:r>
          </a:p>
          <a:p>
            <a:pPr>
              <a:spcAft>
                <a:spcPts val="400"/>
              </a:spcAft>
            </a:pPr>
            <a:r>
              <a:rPr sz="1200" b="0">
                <a:solidFill>
                  <a:srgbClr val="111111"/>
                </a:solidFill>
                <a:latin typeface="Calibri"/>
              </a:rPr>
              <a:t>•  Q2FY25 profits up the relevant figure YoY with the relevant figure revenue growth and the relevant figure ROE</a:t>
            </a:r>
          </a:p>
          <a:p>
            <a:pPr>
              <a:spcAft>
                <a:spcPts val="400"/>
              </a:spcAft>
            </a:pPr>
            <a:r>
              <a:rPr sz="1200" b="0">
                <a:solidFill>
                  <a:srgbClr val="111111"/>
                </a:solidFill>
                <a:latin typeface="Calibri"/>
              </a:rPr>
              <a:t>•  Total AUM at the relevant figure lakh crore (+the relevant figure YoY); the relevant figure of AUM outperforming benchmar...</a:t>
            </a:r>
          </a:p>
          <a:p>
            <a:pPr>
              <a:spcAft>
                <a:spcPts val="400"/>
              </a:spcAft>
            </a:pPr>
            <a:r>
              <a:rPr sz="1200" b="0">
                <a:solidFill>
                  <a:srgbClr val="111111"/>
                </a:solidFill>
                <a:latin typeface="Calibri"/>
              </a:rPr>
              <a:t>•  Private Wealth AUM at the relevant figure lakh crore (+the relevant figure YoY); family count up the relevant figure YoY</a:t>
            </a:r>
          </a:p>
          <a:p>
            <a:pPr>
              <a:spcAft>
                <a:spcPts val="400"/>
              </a:spcAft>
            </a:pPr>
            <a:r>
              <a:rPr sz="1200" b="0">
                <a:solidFill>
                  <a:srgbClr val="111111"/>
                </a:solidFill>
                <a:latin typeface="Calibri"/>
              </a:rPr>
              <a:t>•  Long-term credit rating upgraded to AA+ (Stable) by ICRA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SAARTHI Investment Quality Score — 72/100</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SAARTHI Investment Quality Score — 72/100</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Proprietary 7-dimension framework. Overall score 72/100 (BUY (70-84 range)).</a:t>
            </a:r>
          </a:p>
        </p:txBody>
      </p:sp>
      <p:graphicFrame>
        <p:nvGraphicFramePr>
          <p:cNvPr id="19" name="Table 18"/>
          <p:cNvGraphicFramePr>
            <a:graphicFrameLocks noGrp="1"/>
          </p:cNvGraphicFramePr>
          <p:nvPr/>
        </p:nvGraphicFramePr>
        <p:xfrm>
          <a:off x="457200" y="3108960"/>
          <a:ext cx="11277292" cy="3337560"/>
        </p:xfrm>
        <a:graphic>
          <a:graphicData uri="http://schemas.openxmlformats.org/drawingml/2006/table">
            <a:tbl>
              <a:tblPr firstRow="1" bandRow="1">
                <a:tableStyleId>{5C22544A-7EE6-4342-B048-85BDC9FD1C3A}</a:tableStyleId>
              </a:tblPr>
              <a:tblGrid>
                <a:gridCol w="2819323"/>
                <a:gridCol w="2819323"/>
                <a:gridCol w="2819323"/>
                <a:gridCol w="2819323"/>
              </a:tblGrid>
              <a:tr h="417195">
                <a:tc>
                  <a:txBody>
                    <a:bodyPr/>
                    <a:lstStyle/>
                    <a:p>
                      <a:r>
                        <a:rPr b="1" sz="1200">
                          <a:solidFill>
                            <a:srgbClr val="FFFFFF"/>
                          </a:solidFill>
                          <a:latin typeface="Calibri"/>
                        </a:rPr>
                        <a:t>Code</a:t>
                      </a:r>
                    </a:p>
                  </a:txBody>
                  <a:tcPr marL="36576" marR="36576" marT="18288" marB="18288">
                    <a:solidFill>
                      <a:srgbClr val="1F4690"/>
                    </a:solidFill>
                  </a:tcPr>
                </a:tc>
                <a:tc>
                  <a:txBody>
                    <a:bodyPr/>
                    <a:lstStyle/>
                    <a:p>
                      <a:pPr algn="r"/>
                      <a:r>
                        <a:rPr b="1" sz="1200">
                          <a:solidFill>
                            <a:srgbClr val="FFFFFF"/>
                          </a:solidFill>
                          <a:latin typeface="Calibri"/>
                        </a:rPr>
                        <a:t>Dimension</a:t>
                      </a:r>
                    </a:p>
                  </a:txBody>
                  <a:tcPr marL="36576" marR="36576" marT="18288" marB="18288">
                    <a:solidFill>
                      <a:srgbClr val="1F4690"/>
                    </a:solidFill>
                  </a:tcPr>
                </a:tc>
                <a:tc>
                  <a:txBody>
                    <a:bodyPr/>
                    <a:lstStyle/>
                    <a:p>
                      <a:pPr algn="r"/>
                      <a:r>
                        <a:rPr b="1" sz="1200">
                          <a:solidFill>
                            <a:srgbClr val="FFFFFF"/>
                          </a:solidFill>
                          <a:latin typeface="Calibri"/>
                        </a:rPr>
                        <a:t>Score</a:t>
                      </a:r>
                    </a:p>
                  </a:txBody>
                  <a:tcPr marL="36576" marR="36576" marT="18288" marB="18288">
                    <a:solidFill>
                      <a:srgbClr val="1F4690"/>
                    </a:solidFill>
                  </a:tcPr>
                </a:tc>
                <a:tc>
                  <a:txBody>
                    <a:bodyPr/>
                    <a:lstStyle/>
                    <a:p>
                      <a:pPr algn="r"/>
                      <a:r>
                        <a:rPr b="1" sz="1200">
                          <a:solidFill>
                            <a:srgbClr val="FFFFFF"/>
                          </a:solidFill>
                          <a:latin typeface="Calibri"/>
                        </a:rPr>
                        <a:t>Key Evidence</a:t>
                      </a:r>
                    </a:p>
                  </a:txBody>
                  <a:tcPr marL="36576" marR="36576" marT="18288" marB="18288">
                    <a:solidFill>
                      <a:srgbClr val="1F4690"/>
                    </a:solidFill>
                  </a:tcPr>
                </a:tc>
              </a:tr>
              <a:tr h="417195">
                <a:tc>
                  <a:txBody>
                    <a:bodyPr/>
                    <a:lstStyle/>
                    <a:p>
                      <a:r>
                        <a:rPr sz="1200" b="1">
                          <a:solidFill>
                            <a:srgbClr val="5A6573"/>
                          </a:solidFill>
                          <a:latin typeface="Calibri"/>
                        </a:rPr>
                        <a:t>S</a:t>
                      </a:r>
                    </a:p>
                  </a:txBody>
                  <a:tcPr marL="36576" marR="36576" marT="18288" marB="18288">
                    <a:solidFill>
                      <a:srgbClr val="F4F6F9"/>
                    </a:solidFill>
                  </a:tcPr>
                </a:tc>
                <a:tc>
                  <a:txBody>
                    <a:bodyPr/>
                    <a:lstStyle/>
                    <a:p>
                      <a:pPr algn="r"/>
                      <a:r>
                        <a:rPr sz="1200">
                          <a:solidFill>
                            <a:srgbClr val="111111"/>
                          </a:solidFill>
                          <a:latin typeface="Calibri"/>
                        </a:rPr>
                        <a:t>Scalability of Core Engine</a:t>
                      </a:r>
                    </a:p>
                  </a:txBody>
                  <a:tcPr marL="36576" marR="36576" marT="18288" marB="18288">
                    <a:solidFill>
                      <a:srgbClr val="F4F6F9"/>
                    </a:solidFill>
                  </a:tcPr>
                </a:tc>
                <a:tc>
                  <a:txBody>
                    <a:bodyPr/>
                    <a:lstStyle/>
                    <a:p>
                      <a:pPr algn="r"/>
                      <a:r>
                        <a:rPr sz="1200">
                          <a:solidFill>
                            <a:srgbClr val="111111"/>
                          </a:solidFill>
                          <a:latin typeface="Calibri"/>
                        </a:rPr>
                        <a:t>12/15</a:t>
                      </a:r>
                    </a:p>
                  </a:txBody>
                  <a:tcPr marL="36576" marR="36576" marT="18288" marB="18288">
                    <a:solidFill>
                      <a:srgbClr val="F4F6F9"/>
                    </a:solidFill>
                  </a:tcPr>
                </a:tc>
                <a:tc>
                  <a:txBody>
                    <a:bodyPr/>
                    <a:lstStyle/>
                    <a:p>
                      <a:pPr algn="r"/>
                      <a:r>
                        <a:rPr sz="1200">
                          <a:solidFill>
                            <a:srgbClr val="111111"/>
                          </a:solidFill>
                          <a:latin typeface="Calibri"/>
                        </a:rPr>
                        <a:t>AMC AUM +33% YoY to INR 1.89L Cr with INR 11,610 Cr net flows.</a:t>
                      </a:r>
                    </a:p>
                  </a:txBody>
                  <a:tcPr marL="36576" marR="36576" marT="18288" marB="18288">
                    <a:solidFill>
                      <a:srgbClr val="F4F6F9"/>
                    </a:solidFill>
                  </a:tcPr>
                </a:tc>
              </a:tr>
              <a:tr h="417195">
                <a:tc>
                  <a:txBody>
                    <a:bodyPr/>
                    <a:lstStyle/>
                    <a:p>
                      <a:r>
                        <a:rPr sz="1200" b="1">
                          <a:solidFill>
                            <a:srgbClr val="5A6573"/>
                          </a:solidFill>
                          <a:latin typeface="Calibri"/>
                        </a:rPr>
                        <a:t>A1</a:t>
                      </a:r>
                    </a:p>
                  </a:txBody>
                  <a:tcPr marL="36576" marR="36576" marT="18288" marB="18288">
                    <a:solidFill>
                      <a:srgbClr val="FFFFFF"/>
                    </a:solidFill>
                  </a:tcPr>
                </a:tc>
                <a:tc>
                  <a:txBody>
                    <a:bodyPr/>
                    <a:lstStyle/>
                    <a:p>
                      <a:pPr algn="r"/>
                      <a:r>
                        <a:rPr sz="1200">
                          <a:solidFill>
                            <a:srgbClr val="111111"/>
                          </a:solidFill>
                          <a:latin typeface="Calibri"/>
                        </a:rPr>
                        <a:t>Addressable Market &amp; Adjacency</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India private credit hit USD 9.0 Bn in H1 2025 (+53% YoY).</a:t>
                      </a:r>
                    </a:p>
                  </a:txBody>
                  <a:tcPr marL="36576" marR="36576" marT="18288" marB="18288">
                    <a:solidFill>
                      <a:srgbClr val="FFFFFF"/>
                    </a:solidFill>
                  </a:tcPr>
                </a:tc>
              </a:tr>
              <a:tr h="417195">
                <a:tc>
                  <a:txBody>
                    <a:bodyPr/>
                    <a:lstStyle/>
                    <a:p>
                      <a:r>
                        <a:rPr sz="1200" b="1">
                          <a:solidFill>
                            <a:srgbClr val="5A6573"/>
                          </a:solidFill>
                          <a:latin typeface="Calibri"/>
                        </a:rPr>
                        <a:t>A2</a:t>
                      </a:r>
                    </a:p>
                  </a:txBody>
                  <a:tcPr marL="36576" marR="36576" marT="18288" marB="18288">
                    <a:solidFill>
                      <a:srgbClr val="F4F6F9"/>
                    </a:solidFill>
                  </a:tcPr>
                </a:tc>
                <a:tc>
                  <a:txBody>
                    <a:bodyPr/>
                    <a:lstStyle/>
                    <a:p>
                      <a:pPr algn="r"/>
                      <a:r>
                        <a:rPr sz="1200">
                          <a:solidFill>
                            <a:srgbClr val="111111"/>
                          </a:solidFill>
                          <a:latin typeface="Calibri"/>
                        </a:rPr>
                        <a:t>Asymmetric Pricing Power</a:t>
                      </a:r>
                    </a:p>
                  </a:txBody>
                  <a:tcPr marL="36576" marR="36576" marT="18288" marB="18288">
                    <a:solidFill>
                      <a:srgbClr val="F4F6F9"/>
                    </a:solidFill>
                  </a:tcPr>
                </a:tc>
                <a:tc>
                  <a:txBody>
                    <a:bodyPr/>
                    <a:lstStyle/>
                    <a:p>
                      <a:pPr algn="r"/>
                      <a:r>
                        <a:rPr sz="1200">
                          <a:solidFill>
                            <a:srgbClr val="111111"/>
                          </a:solidFill>
                          <a:latin typeface="Calibri"/>
                        </a:rPr>
                        <a:t>10/15</a:t>
                      </a:r>
                    </a:p>
                  </a:txBody>
                  <a:tcPr marL="36576" marR="36576" marT="18288" marB="18288">
                    <a:solidFill>
                      <a:srgbClr val="F4F6F9"/>
                    </a:solidFill>
                  </a:tcPr>
                </a:tc>
                <a:tc>
                  <a:txBody>
                    <a:bodyPr/>
                    <a:lstStyle/>
                    <a:p>
                      <a:pPr algn="r"/>
                      <a:r>
                        <a:rPr sz="1200">
                          <a:solidFill>
                            <a:srgbClr val="111111"/>
                          </a:solidFill>
                          <a:latin typeface="Calibri"/>
                        </a:rPr>
                        <a:t>Diversified mix offset 24% brokerage decline, validating partial pricing-power hedge.</a:t>
                      </a:r>
                    </a:p>
                  </a:txBody>
                  <a:tcPr marL="36576" marR="36576" marT="18288" marB="18288">
                    <a:solidFill>
                      <a:srgbClr val="F4F6F9"/>
                    </a:solidFill>
                  </a:tcPr>
                </a:tc>
              </a:tr>
              <a:tr h="417195">
                <a:tc>
                  <a:txBody>
                    <a:bodyPr/>
                    <a:lstStyle/>
                    <a:p>
                      <a:r>
                        <a:rPr sz="1200" b="1">
                          <a:solidFill>
                            <a:srgbClr val="5A6573"/>
                          </a:solidFill>
                          <a:latin typeface="Calibri"/>
                        </a:rPr>
                        <a:t>R</a:t>
                      </a:r>
                    </a:p>
                  </a:txBody>
                  <a:tcPr marL="36576" marR="36576" marT="18288" marB="18288">
                    <a:solidFill>
                      <a:srgbClr val="FFFFFF"/>
                    </a:solidFill>
                  </a:tcPr>
                </a:tc>
                <a:tc>
                  <a:txBody>
                    <a:bodyPr/>
                    <a:lstStyle/>
                    <a:p>
                      <a:pPr algn="r"/>
                      <a:r>
                        <a:rPr sz="1200">
                          <a:solidFill>
                            <a:srgbClr val="111111"/>
                          </a:solidFill>
                          <a:latin typeface="Calibri"/>
                        </a:rPr>
                        <a:t>Reinvestment Quality</a:t>
                      </a:r>
                    </a:p>
                  </a:txBody>
                  <a:tcPr marL="36576" marR="36576" marT="18288" marB="18288">
                    <a:solidFill>
                      <a:srgbClr val="FFFFFF"/>
                    </a:solidFill>
                  </a:tcPr>
                </a:tc>
                <a:tc>
                  <a:txBody>
                    <a:bodyPr/>
                    <a:lstStyle/>
                    <a:p>
                      <a:pPr algn="r"/>
                      <a:r>
                        <a:rPr sz="1200">
                          <a:solidFill>
                            <a:srgbClr val="111111"/>
                          </a:solidFill>
                          <a:latin typeface="Calibri"/>
                        </a:rPr>
                        <a:t>13/15</a:t>
                      </a:r>
                    </a:p>
                  </a:txBody>
                  <a:tcPr marL="36576" marR="36576" marT="18288" marB="18288">
                    <a:solidFill>
                      <a:srgbClr val="FFFFFF"/>
                    </a:solidFill>
                  </a:tcPr>
                </a:tc>
                <a:tc>
                  <a:txBody>
                    <a:bodyPr/>
                    <a:lstStyle/>
                    <a:p>
                      <a:pPr algn="r"/>
                      <a:r>
                        <a:rPr sz="1200">
                          <a:solidFill>
                            <a:srgbClr val="111111"/>
                          </a:solidFill>
                          <a:latin typeface="Calibri"/>
                        </a:rPr>
                        <a:t>PWM AUM +31% YoY to INR 1.96L Cr; family count +41%; PAT +14% (9M).</a:t>
                      </a:r>
                    </a:p>
                  </a:txBody>
                  <a:tcPr marL="36576" marR="36576" marT="18288" marB="18288">
                    <a:solidFill>
                      <a:srgbClr val="FFFFFF"/>
                    </a:solidFill>
                  </a:tcPr>
                </a:tc>
              </a:tr>
              <a:tr h="417195">
                <a:tc>
                  <a:txBody>
                    <a:bodyPr/>
                    <a:lstStyle/>
                    <a:p>
                      <a:r>
                        <a:rPr sz="1200" b="1">
                          <a:solidFill>
                            <a:srgbClr val="5A6573"/>
                          </a:solidFill>
                          <a:latin typeface="Calibri"/>
                        </a:rPr>
                        <a:t>T</a:t>
                      </a:r>
                    </a:p>
                  </a:txBody>
                  <a:tcPr marL="36576" marR="36576" marT="18288" marB="18288">
                    <a:solidFill>
                      <a:srgbClr val="F4F6F9"/>
                    </a:solidFill>
                  </a:tcPr>
                </a:tc>
                <a:tc>
                  <a:txBody>
                    <a:bodyPr/>
                    <a:lstStyle/>
                    <a:p>
                      <a:pPr algn="r"/>
                      <a:r>
                        <a:rPr sz="1200">
                          <a:solidFill>
                            <a:srgbClr val="111111"/>
                          </a:solidFill>
                          <a:latin typeface="Calibri"/>
                        </a:rPr>
                        <a:t>Track Record Through Adversity</a:t>
                      </a:r>
                    </a:p>
                  </a:txBody>
                  <a:tcPr marL="36576" marR="36576" marT="18288" marB="18288">
                    <a:solidFill>
                      <a:srgbClr val="F4F6F9"/>
                    </a:solidFill>
                  </a:tcPr>
                </a:tc>
                <a:tc>
                  <a:txBody>
                    <a:bodyPr/>
                    <a:lstStyle/>
                    <a:p>
                      <a:pPr algn="r"/>
                      <a:r>
                        <a:rPr sz="1200">
                          <a:solidFill>
                            <a:srgbClr val="111111"/>
                          </a:solidFill>
                          <a:latin typeface="Calibri"/>
                        </a:rPr>
                        <a:t>8/10</a:t>
                      </a:r>
                    </a:p>
                  </a:txBody>
                  <a:tcPr marL="36576" marR="36576" marT="18288" marB="18288">
                    <a:solidFill>
                      <a:srgbClr val="F4F6F9"/>
                    </a:solidFill>
                  </a:tcPr>
                </a:tc>
                <a:tc>
                  <a:txBody>
                    <a:bodyPr/>
                    <a:lstStyle/>
                    <a:p>
                      <a:pPr algn="r"/>
                      <a:r>
                        <a:rPr sz="1200">
                          <a:solidFill>
                            <a:srgbClr val="111111"/>
                          </a:solidFill>
                          <a:latin typeface="Calibri"/>
                        </a:rPr>
                        <a:t>Despite repeated SEBI interventions, AUM and ARR base continue to compound — institutional resilience.</a:t>
                      </a:r>
                    </a:p>
                  </a:txBody>
                  <a:tcPr marL="36576" marR="36576" marT="18288" marB="18288">
                    <a:solidFill>
                      <a:srgbClr val="F4F6F9"/>
                    </a:solidFill>
                  </a:tcPr>
                </a:tc>
              </a:tr>
              <a:tr h="417195">
                <a:tc>
                  <a:txBody>
                    <a:bodyPr/>
                    <a:lstStyle/>
                    <a:p>
                      <a:r>
                        <a:rPr sz="1200" b="1">
                          <a:solidFill>
                            <a:srgbClr val="5A6573"/>
                          </a:solidFill>
                          <a:latin typeface="Calibri"/>
                        </a:rPr>
                        <a:t>H</a:t>
                      </a:r>
                    </a:p>
                  </a:txBody>
                  <a:tcPr marL="36576" marR="36576" marT="18288" marB="18288">
                    <a:solidFill>
                      <a:srgbClr val="FFFFFF"/>
                    </a:solidFill>
                  </a:tcPr>
                </a:tc>
                <a:tc>
                  <a:txBody>
                    <a:bodyPr/>
                    <a:lstStyle/>
                    <a:p>
                      <a:pPr algn="r"/>
                      <a:r>
                        <a:rPr sz="1200">
                          <a:solidFill>
                            <a:srgbClr val="111111"/>
                          </a:solidFill>
                          <a:latin typeface="Calibri"/>
                        </a:rPr>
                        <a:t>Human Capital &amp; Institutional DNA</a:t>
                      </a:r>
                    </a:p>
                  </a:txBody>
                  <a:tcPr marL="36576" marR="36576" marT="18288" marB="18288">
                    <a:solidFill>
                      <a:srgbClr val="FFFFFF"/>
                    </a:solidFill>
                  </a:tcPr>
                </a:tc>
                <a:tc>
                  <a:txBody>
                    <a:bodyPr/>
                    <a:lstStyle/>
                    <a:p>
                      <a:pPr algn="r"/>
                      <a:r>
                        <a:rPr sz="1200">
                          <a:solidFill>
                            <a:srgbClr val="111111"/>
                          </a:solidFill>
                          <a:latin typeface="Calibri"/>
                        </a:rPr>
                        <a:t>9/10</a:t>
                      </a:r>
                    </a:p>
                  </a:txBody>
                  <a:tcPr marL="36576" marR="36576" marT="18288" marB="18288">
                    <a:solidFill>
                      <a:srgbClr val="FFFFFF"/>
                    </a:solidFill>
                  </a:tcPr>
                </a:tc>
                <a:tc>
                  <a:txBody>
                    <a:bodyPr/>
                    <a:lstStyle/>
                    <a:p>
                      <a:pPr algn="r"/>
                      <a:r>
                        <a:rPr sz="1200">
                          <a:solidFill>
                            <a:srgbClr val="111111"/>
                          </a:solidFill>
                          <a:latin typeface="Calibri"/>
                        </a:rPr>
                        <a:t>Rashtriya Samman Patra recipient (top tax-payer FY95–FY99) signals early ethical commercial success.</a:t>
                      </a:r>
                    </a:p>
                  </a:txBody>
                  <a:tcPr marL="36576" marR="36576" marT="18288" marB="18288">
                    <a:solidFill>
                      <a:srgbClr val="FFFFFF"/>
                    </a:solidFill>
                  </a:tcPr>
                </a:tc>
              </a:tr>
              <a:tr h="417195">
                <a:tc>
                  <a:txBody>
                    <a:bodyPr/>
                    <a:lstStyle/>
                    <a:p>
                      <a:r>
                        <a:rPr sz="1200" b="1">
                          <a:solidFill>
                            <a:srgbClr val="5A6573"/>
                          </a:solidFill>
                          <a:latin typeface="Calibri"/>
                        </a:rPr>
                        <a:t>I</a:t>
                      </a:r>
                    </a:p>
                  </a:txBody>
                  <a:tcPr marL="36576" marR="36576" marT="18288" marB="18288">
                    <a:solidFill>
                      <a:srgbClr val="F4F6F9"/>
                    </a:solidFill>
                  </a:tcPr>
                </a:tc>
                <a:tc>
                  <a:txBody>
                    <a:bodyPr/>
                    <a:lstStyle/>
                    <a:p>
                      <a:pPr algn="r"/>
                      <a:r>
                        <a:rPr sz="1200">
                          <a:solidFill>
                            <a:srgbClr val="111111"/>
                          </a:solidFill>
                          <a:latin typeface="Calibri"/>
                        </a:rPr>
                        <a:t>Inflection Point Identification</a:t>
                      </a:r>
                    </a:p>
                  </a:txBody>
                  <a:tcPr marL="36576" marR="36576" marT="18288" marB="18288">
                    <a:solidFill>
                      <a:srgbClr val="F4F6F9"/>
                    </a:solidFill>
                  </a:tcPr>
                </a:tc>
                <a:tc>
                  <a:txBody>
                    <a:bodyPr/>
                    <a:lstStyle/>
                    <a:p>
                      <a:pPr algn="r"/>
                      <a:r>
                        <a:rPr sz="1200">
                          <a:solidFill>
                            <a:srgbClr val="111111"/>
                          </a:solidFill>
                          <a:latin typeface="Calibri"/>
                        </a:rPr>
                        <a:t>11/15</a:t>
                      </a:r>
                    </a:p>
                  </a:txBody>
                  <a:tcPr marL="36576" marR="36576" marT="18288" marB="18288">
                    <a:solidFill>
                      <a:srgbClr val="F4F6F9"/>
                    </a:solidFill>
                  </a:tcPr>
                </a:tc>
                <a:tc>
                  <a:txBody>
                    <a:bodyPr/>
                    <a:lstStyle/>
                    <a:p>
                      <a:pPr algn="r"/>
                      <a:r>
                        <a:rPr sz="1200">
                          <a:solidFill>
                            <a:srgbClr val="111111"/>
                          </a:solidFill>
                          <a:latin typeface="Calibri"/>
                        </a:rPr>
                        <a:t>ARR at 65% of net revenues (up from 61%); management guiding higher — measurable inflection.</a:t>
                      </a:r>
                    </a:p>
                  </a:txBody>
                  <a:tcPr marL="36576" marR="36576" marT="18288" marB="18288">
                    <a:solidFill>
                      <a:srgbClr val="F4F6F9"/>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Motilal Oswal Financial Services Ltd At A Glance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Motilal Oswal Financial Services Ltd At A Glance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943600" cy="5029200"/>
          </a:xfrm>
          <a:prstGeom prst="rect">
            <a:avLst/>
          </a:prstGeom>
          <a:noFill/>
        </p:spPr>
        <p:txBody>
          <a:bodyPr wrap="square" anchor="t" lIns="45720" rIns="45720" tIns="18288" bIns="18288">
            <a:spAutoFit/>
          </a:bodyPr>
          <a:lstStyle/>
          <a:p>
            <a:r>
              <a:rPr sz="1200" b="0">
                <a:solidFill>
                  <a:srgbClr val="111111"/>
                </a:solidFill>
                <a:latin typeface="Calibri"/>
              </a:rPr>
              <a:t>Motilal Oswal Financial Services, founded in 1987 by Motilal Oswal and Raamdeo Agrawal, has evolved from a research-driven equity broking house into one of India's most comprehensive financial services platforms. The company spans Capital Markets, Asset &amp; Wealth Management, Housing Finance, and Alternative Investments, serving over 1,600,000 customers across 550+ cities through 2,500+ business locations. Research coverage of 300+ companies remains the firm's enduring competitive moat.</a:t>
            </a:r>
          </a:p>
        </p:txBody>
      </p:sp>
      <p:sp>
        <p:nvSpPr>
          <p:cNvPr id="19" name="Rounded Rectangle 18"/>
          <p:cNvSpPr/>
          <p:nvPr/>
        </p:nvSpPr>
        <p:spPr>
          <a:xfrm>
            <a:off x="6675120" y="1417320"/>
            <a:ext cx="1613306" cy="100584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CMP</a:t>
            </a:r>
          </a:p>
          <a:p>
            <a:pPr algn="ctr"/>
            <a:r>
              <a:rPr sz="1600" b="1">
                <a:solidFill>
                  <a:srgbClr val="FFFFFF"/>
                </a:solidFill>
                <a:latin typeface="Calibri"/>
              </a:rPr>
              <a:t>₹822.9</a:t>
            </a:r>
          </a:p>
        </p:txBody>
      </p:sp>
      <p:sp>
        <p:nvSpPr>
          <p:cNvPr id="20" name="Rounded Rectangle 19"/>
          <p:cNvSpPr/>
          <p:nvPr/>
        </p:nvSpPr>
        <p:spPr>
          <a:xfrm>
            <a:off x="8398154" y="1417320"/>
            <a:ext cx="1613306" cy="1005840"/>
          </a:xfrm>
          <a:prstGeom prst="round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1F4690"/>
                </a:solidFill>
                <a:latin typeface="Calibri"/>
              </a:rPr>
              <a:t>TP</a:t>
            </a:r>
          </a:p>
          <a:p>
            <a:pPr algn="ctr"/>
            <a:r>
              <a:rPr sz="1600" b="1">
                <a:solidFill>
                  <a:srgbClr val="1F4690"/>
                </a:solidFill>
                <a:latin typeface="Calibri"/>
              </a:rPr>
              <a:t>₹1,127.0</a:t>
            </a:r>
          </a:p>
        </p:txBody>
      </p:sp>
      <p:sp>
        <p:nvSpPr>
          <p:cNvPr id="21" name="Rounded Rectangle 20"/>
          <p:cNvSpPr/>
          <p:nvPr/>
        </p:nvSpPr>
        <p:spPr>
          <a:xfrm>
            <a:off x="10121188" y="1417320"/>
            <a:ext cx="1613306" cy="1005840"/>
          </a:xfrm>
          <a:prstGeom prst="roundRect">
            <a:avLst/>
          </a:prstGeom>
          <a:solidFill>
            <a:srgbClr val="3A5BA0"/>
          </a:solidFill>
          <a:ln>
            <a:noFill/>
          </a:ln>
        </p:spPr>
        <p:style>
          <a:lnRef idx="1">
            <a:schemeClr val="accent1"/>
          </a:lnRef>
          <a:fillRef idx="3">
            <a:schemeClr val="accent1"/>
          </a:fillRef>
          <a:effectRef idx="2">
            <a:schemeClr val="accent1"/>
          </a:effectRef>
          <a:fontRef idx="minor">
            <a:schemeClr val="lt1"/>
          </a:fontRef>
        </p:style>
        <p:txBody>
          <a:bodyPr rtlCol="0" anchor="ctr" lIns="73152" rIns="73152" tIns="91440"/>
          <a:lstStyle/>
          <a:p>
            <a:pPr algn="ctr">
              <a:spcAft>
                <a:spcPts val="200"/>
              </a:spcAft>
            </a:pPr>
            <a:r>
              <a:rPr sz="800" b="0">
                <a:solidFill>
                  <a:srgbClr val="C0C8D4"/>
                </a:solidFill>
                <a:latin typeface="Calibri"/>
              </a:rPr>
              <a:t>UPSIDE</a:t>
            </a:r>
          </a:p>
          <a:p>
            <a:pPr algn="ctr"/>
            <a:r>
              <a:rPr sz="1600" b="1">
                <a:solidFill>
                  <a:srgbClr val="FFFFFF"/>
                </a:solidFill>
                <a:latin typeface="Calibri"/>
              </a:rPr>
              <a:t>37.0%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Industry Overview</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Industry Overview</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Indian Financial Services is a strategic shock absorber for the growth story. India is expected to have the relevant figure HNWIs by 2027 and become the fourth-largest private wealth market by 2028, with a the relevant figure projected rise in UHNWIs. The financial services sector is projected to nearly double profits by FY30, led by NBFCs growing at the relevant figure annually. Mutual fund penetration at just 5–the relevant figure reflects substantial latent growth opportunity. Private credit hit a record the relevant figure billion in H1 2025, up the relevant figure YoY.</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Mutual fund penetration at 5-the relevant figure — massive latent opportunity</a:t>
            </a:r>
          </a:p>
          <a:p>
            <a:pPr>
              <a:spcAft>
                <a:spcPts val="400"/>
              </a:spcAft>
            </a:pPr>
            <a:r>
              <a:rPr sz="1200" b="0">
                <a:solidFill>
                  <a:srgbClr val="111111"/>
                </a:solidFill>
                <a:latin typeface="Calibri"/>
              </a:rPr>
              <a:t>•  Financial savings shifting from gold/real estate to financial assets</a:t>
            </a:r>
          </a:p>
          <a:p>
            <a:pPr>
              <a:spcAft>
                <a:spcPts val="400"/>
              </a:spcAft>
            </a:pPr>
            <a:r>
              <a:rPr sz="1200" b="0">
                <a:solidFill>
                  <a:srgbClr val="111111"/>
                </a:solidFill>
                <a:latin typeface="Calibri"/>
              </a:rPr>
              <a:t>•  BSE-listed companies grew from 135 (1995) to 5,328 (Feb 2025)</a:t>
            </a:r>
          </a:p>
          <a:p>
            <a:pPr>
              <a:spcAft>
                <a:spcPts val="400"/>
              </a:spcAft>
            </a:pPr>
            <a:r>
              <a:rPr sz="1200" b="0">
                <a:solidFill>
                  <a:srgbClr val="111111"/>
                </a:solidFill>
                <a:latin typeface="Calibri"/>
              </a:rPr>
              <a:t>•  Private wealth set to be 4th-largest globally by 2028</a:t>
            </a:r>
          </a:p>
          <a:p>
            <a:pPr>
              <a:spcAft>
                <a:spcPts val="400"/>
              </a:spcAft>
            </a:pPr>
            <a:r>
              <a:rPr sz="1200" b="0">
                <a:solidFill>
                  <a:srgbClr val="111111"/>
                </a:solidFill>
                <a:latin typeface="Calibri"/>
              </a:rPr>
              <a:t>•  NBFCs growing at the relevant figure annually with improving asset quality</a:t>
            </a:r>
          </a:p>
          <a:p>
            <a:pPr>
              <a:spcAft>
                <a:spcPts val="400"/>
              </a:spcAft>
            </a:pPr>
            <a:r>
              <a:rPr sz="1200" b="0">
                <a:solidFill>
                  <a:srgbClr val="111111"/>
                </a:solidFill>
                <a:latin typeface="Calibri"/>
              </a:rPr>
              <a:t>•  Demographic dividend — large working-age population entering peak 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Highlights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Highlights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48640"/>
          </a:xfrm>
          <a:prstGeom prst="rect">
            <a:avLst/>
          </a:prstGeom>
          <a:noFill/>
        </p:spPr>
        <p:txBody>
          <a:bodyPr wrap="square" anchor="t" lIns="45720" rIns="45720" tIns="18288" bIns="18288">
            <a:spAutoFit/>
          </a:bodyPr>
          <a:lstStyle/>
          <a:p>
            <a:r>
              <a:rPr sz="1200" b="0">
                <a:solidFill>
                  <a:srgbClr val="111111"/>
                </a:solidFill>
                <a:latin typeface="Calibri"/>
              </a:rPr>
              <a:t>Six themes underpinning the investment view.</a:t>
            </a:r>
          </a:p>
        </p:txBody>
      </p:sp>
      <p:sp>
        <p:nvSpPr>
          <p:cNvPr id="19" name="TextBox 18"/>
          <p:cNvSpPr txBox="1"/>
          <p:nvPr/>
        </p:nvSpPr>
        <p:spPr>
          <a:xfrm>
            <a:off x="457200" y="2103120"/>
            <a:ext cx="11277295" cy="43434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Transformation: ARR at the relevant figure of net revenues (up from the relevant figure); fee-based at the relevant figure. Annuity income reduces transaction-cycle volatility.</a:t>
            </a:r>
          </a:p>
          <a:p>
            <a:pPr>
              <a:spcAft>
                <a:spcPts val="400"/>
              </a:spcAft>
            </a:pPr>
            <a:r>
              <a:rPr sz="1200" b="0">
                <a:solidFill>
                  <a:srgbClr val="111111"/>
                </a:solidFill>
                <a:latin typeface="Calibri"/>
              </a:rPr>
              <a:t>•  Profitability Momentum: Q2FY25 PAT the relevant figure Cr (+the relevant figure YoY); H1FY26 operating PAT the relevant figure Cr (+the relevant figure YoY); Asset &amp; PWM businesses leading at +the rel</a:t>
            </a:r>
          </a:p>
          <a:p>
            <a:pPr>
              <a:spcAft>
                <a:spcPts val="400"/>
              </a:spcAft>
            </a:pPr>
            <a:r>
              <a:rPr sz="1200" b="0">
                <a:solidFill>
                  <a:srgbClr val="111111"/>
                </a:solidFill>
                <a:latin typeface="Calibri"/>
              </a:rPr>
              <a:t>•  AUM Scale and Outperformance: Total AUM the relevant figureL Cr (+the relevant figure YoY). AMC AUM the relevant figureL Cr (+the relevant figure) with the relevant figure Cr net flows. the relevant f</a:t>
            </a:r>
          </a:p>
          <a:p>
            <a:pPr>
              <a:spcAft>
                <a:spcPts val="400"/>
              </a:spcAft>
            </a:pPr>
            <a:r>
              <a:rPr sz="1200" b="0">
                <a:solidFill>
                  <a:srgbClr val="111111"/>
                </a:solidFill>
                <a:latin typeface="Calibri"/>
              </a:rPr>
              <a:t>•  Private Wealth Expansion: PWM AUM the relevant figureL Cr (+the relevant figure YoY); family count +the relevant figure YoY; PAT +the relevant figure (9M). Distribution book +the relevant figure YoY t</a:t>
            </a:r>
          </a:p>
          <a:p>
            <a:pPr>
              <a:spcAft>
                <a:spcPts val="400"/>
              </a:spcAft>
            </a:pPr>
            <a:r>
              <a:rPr sz="1200" b="0">
                <a:solidFill>
                  <a:srgbClr val="111111"/>
                </a:solidFill>
                <a:latin typeface="Calibri"/>
              </a:rPr>
              <a:t>•  Valuation Opportunity: CMP the relevant figure vs consensus TP the relevant figure (max the relevant figure) — the relevant figure upside. Probability-weighted target the relevant figure.</a:t>
            </a:r>
          </a:p>
          <a:p>
            <a:pPr>
              <a:spcAft>
                <a:spcPts val="400"/>
              </a:spcAft>
            </a:pPr>
            <a:r>
              <a:rPr sz="1200" b="0">
                <a:solidFill>
                  <a:srgbClr val="111111"/>
                </a:solidFill>
                <a:latin typeface="Calibri"/>
              </a:rPr>
              <a:t>•  Credit Upgrade: Long-term credit rating upgraded to AA+ (Stable) by ICRA. Net worth the relevant figure Cr (+the relevant figure YoY).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Revenue Trend</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Revenue Trend</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4389120" cy="5029200"/>
          </a:xfrm>
          <a:prstGeom prst="rect">
            <a:avLst/>
          </a:prstGeom>
          <a:noFill/>
        </p:spPr>
        <p:txBody>
          <a:bodyPr wrap="square" anchor="t" lIns="45720" rIns="45720" tIns="18288" bIns="18288">
            <a:spAutoFit/>
          </a:bodyPr>
          <a:lstStyle/>
          <a:p>
            <a:r>
              <a:rPr sz="1200" b="0">
                <a:solidFill>
                  <a:srgbClr val="111111"/>
                </a:solidFill>
                <a:latin typeface="Calibri"/>
              </a:rPr>
              <a:t>Revenue trajectory across the forecast period reflects mix shift and AUM scale-up.</a:t>
            </a:r>
          </a:p>
        </p:txBody>
      </p:sp>
      <p:pic>
        <p:nvPicPr>
          <p:cNvPr id="19" name="Picture 18" descr="image.png"/>
          <p:cNvPicPr>
            <a:picLocks noChangeAspect="1"/>
          </p:cNvPicPr>
          <p:nvPr/>
        </p:nvPicPr>
        <p:blipFill>
          <a:blip r:embed="rId3"/>
          <a:stretch>
            <a:fillRect/>
          </a:stretch>
        </p:blipFill>
        <p:spPr>
          <a:xfrm>
            <a:off x="5120640" y="1417320"/>
            <a:ext cx="6613855" cy="50292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Annual Financial Summary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Annual Financial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5638647"/>
                <a:gridCol w="5638647"/>
              </a:tblGrid>
              <a:tr h="628650">
                <a:tc>
                  <a:txBody>
                    <a:bodyPr/>
                    <a:lstStyle/>
                    <a:p>
                      <a:r>
                        <a:rPr b="1" sz="1200">
                          <a:solidFill>
                            <a:srgbClr val="FFFFFF"/>
                          </a:solidFill>
                          <a:latin typeface="Calibri"/>
                        </a:rPr>
                        <a:t>Period</a:t>
                      </a:r>
                    </a:p>
                  </a:txBody>
                  <a:tcPr marL="36576" marR="36576" marT="18288" marB="18288">
                    <a:solidFill>
                      <a:srgbClr val="1F4690"/>
                    </a:solidFill>
                  </a:tcPr>
                </a:tc>
                <a:tc>
                  <a:txBody>
                    <a:bodyPr/>
                    <a:lstStyle/>
                    <a:p>
                      <a:pPr algn="r"/>
                      <a:r>
                        <a:rPr b="1" sz="1200">
                          <a:solidFill>
                            <a:srgbClr val="FFFFFF"/>
                          </a:solidFill>
                          <a:latin typeface="Calibri"/>
                        </a:rPr>
                        <a:t>Revenue</a:t>
                      </a:r>
                    </a:p>
                  </a:txBody>
                  <a:tcPr marL="36576" marR="36576" marT="18288" marB="18288">
                    <a:solidFill>
                      <a:srgbClr val="1F4690"/>
                    </a:solidFill>
                  </a:tcPr>
                </a:tc>
              </a:tr>
              <a:tr h="628650">
                <a:tc>
                  <a:txBody>
                    <a:bodyPr/>
                    <a:lstStyle/>
                    <a:p>
                      <a:r>
                        <a:rPr sz="1200" b="1">
                          <a:solidFill>
                            <a:srgbClr val="5A6573"/>
                          </a:solidFill>
                          <a:latin typeface="Calibri"/>
                        </a:rPr>
                        <a:t>FY22A</a:t>
                      </a:r>
                    </a:p>
                  </a:txBody>
                  <a:tcPr marL="36576" marR="36576" marT="18288" marB="18288">
                    <a:solidFill>
                      <a:srgbClr val="F4F6F9"/>
                    </a:solidFill>
                  </a:tcPr>
                </a:tc>
                <a:tc>
                  <a:txBody>
                    <a:bodyPr/>
                    <a:lstStyle/>
                    <a:p>
                      <a:pPr algn="r"/>
                      <a:r>
                        <a:rPr sz="1200">
                          <a:solidFill>
                            <a:srgbClr val="111111"/>
                          </a:solidFill>
                          <a:latin typeface="Calibri"/>
                        </a:rPr>
                        <a:t>₹4,298.0 Cr</a:t>
                      </a:r>
                    </a:p>
                  </a:txBody>
                  <a:tcPr marL="36576" marR="36576" marT="18288" marB="18288">
                    <a:solidFill>
                      <a:srgbClr val="F4F6F9"/>
                    </a:solidFill>
                  </a:tcPr>
                </a:tc>
              </a:tr>
              <a:tr h="628650">
                <a:tc>
                  <a:txBody>
                    <a:bodyPr/>
                    <a:lstStyle/>
                    <a:p>
                      <a:r>
                        <a:rPr sz="1200" b="1">
                          <a:solidFill>
                            <a:srgbClr val="5A6573"/>
                          </a:solidFill>
                          <a:latin typeface="Calibri"/>
                        </a:rPr>
                        <a:t>FY23A</a:t>
                      </a:r>
                    </a:p>
                  </a:txBody>
                  <a:tcPr marL="36576" marR="36576" marT="18288" marB="18288">
                    <a:solidFill>
                      <a:srgbClr val="FFFFFF"/>
                    </a:solidFill>
                  </a:tcPr>
                </a:tc>
                <a:tc>
                  <a:txBody>
                    <a:bodyPr/>
                    <a:lstStyle/>
                    <a:p>
                      <a:pPr algn="r"/>
                      <a:r>
                        <a:rPr sz="1200">
                          <a:solidFill>
                            <a:srgbClr val="111111"/>
                          </a:solidFill>
                          <a:latin typeface="Calibri"/>
                        </a:rPr>
                        <a:t>₹4,178.0 Cr</a:t>
                      </a:r>
                    </a:p>
                  </a:txBody>
                  <a:tcPr marL="36576" marR="36576" marT="18288" marB="18288">
                    <a:solidFill>
                      <a:srgbClr val="FFFFFF"/>
                    </a:solidFill>
                  </a:tcPr>
                </a:tc>
              </a:tr>
              <a:tr h="628650">
                <a:tc>
                  <a:txBody>
                    <a:bodyPr/>
                    <a:lstStyle/>
                    <a:p>
                      <a:r>
                        <a:rPr sz="1200" b="1">
                          <a:solidFill>
                            <a:srgbClr val="5A6573"/>
                          </a:solidFill>
                          <a:latin typeface="Calibri"/>
                        </a:rPr>
                        <a:t>FY24A</a:t>
                      </a:r>
                    </a:p>
                  </a:txBody>
                  <a:tcPr marL="36576" marR="36576" marT="18288" marB="18288">
                    <a:solidFill>
                      <a:srgbClr val="F4F6F9"/>
                    </a:solidFill>
                  </a:tcPr>
                </a:tc>
                <a:tc>
                  <a:txBody>
                    <a:bodyPr/>
                    <a:lstStyle/>
                    <a:p>
                      <a:pPr algn="r"/>
                      <a:r>
                        <a:rPr sz="1200">
                          <a:solidFill>
                            <a:srgbClr val="111111"/>
                          </a:solidFill>
                          <a:latin typeface="Calibri"/>
                        </a:rPr>
                        <a:t>₹7,106.0 Cr</a:t>
                      </a:r>
                    </a:p>
                  </a:txBody>
                  <a:tcPr marL="36576" marR="36576" marT="18288" marB="18288">
                    <a:solidFill>
                      <a:srgbClr val="F4F6F9"/>
                    </a:solidFill>
                  </a:tcPr>
                </a:tc>
              </a:tr>
              <a:tr h="628650">
                <a:tc>
                  <a:txBody>
                    <a:bodyPr/>
                    <a:lstStyle/>
                    <a:p>
                      <a:r>
                        <a:rPr sz="1200" b="1">
                          <a:solidFill>
                            <a:srgbClr val="5A6573"/>
                          </a:solidFill>
                          <a:latin typeface="Calibri"/>
                        </a:rPr>
                        <a:t>FY25A</a:t>
                      </a:r>
                    </a:p>
                  </a:txBody>
                  <a:tcPr marL="36576" marR="36576" marT="18288" marB="18288">
                    <a:solidFill>
                      <a:srgbClr val="FFFFFF"/>
                    </a:solidFill>
                  </a:tcPr>
                </a:tc>
                <a:tc>
                  <a:txBody>
                    <a:bodyPr/>
                    <a:lstStyle/>
                    <a:p>
                      <a:pPr algn="r"/>
                      <a:r>
                        <a:rPr sz="1200">
                          <a:solidFill>
                            <a:srgbClr val="111111"/>
                          </a:solidFill>
                          <a:latin typeface="Calibri"/>
                        </a:rPr>
                        <a:t>₹8,340.0 Cr</a:t>
                      </a:r>
                    </a:p>
                  </a:txBody>
                  <a:tcPr marL="36576" marR="36576" marT="18288" marB="18288">
                    <a:solidFill>
                      <a:srgbClr val="FFFFFF"/>
                    </a:solidFill>
                  </a:tcPr>
                </a:tc>
              </a:tr>
              <a:tr h="628650">
                <a:tc>
                  <a:txBody>
                    <a:bodyPr/>
                    <a:lstStyle/>
                    <a:p>
                      <a:r>
                        <a:rPr sz="1200" b="1">
                          <a:solidFill>
                            <a:srgbClr val="5A6573"/>
                          </a:solidFill>
                          <a:latin typeface="Calibri"/>
                        </a:rPr>
                        <a:t>FY26E</a:t>
                      </a:r>
                    </a:p>
                  </a:txBody>
                  <a:tcPr marL="36576" marR="36576" marT="18288" marB="18288">
                    <a:solidFill>
                      <a:srgbClr val="F4F6F9"/>
                    </a:solidFill>
                  </a:tcPr>
                </a:tc>
                <a:tc>
                  <a:txBody>
                    <a:bodyPr/>
                    <a:lstStyle/>
                    <a:p>
                      <a:pPr algn="r"/>
                      <a:r>
                        <a:rPr sz="1200">
                          <a:solidFill>
                            <a:srgbClr val="111111"/>
                          </a:solidFill>
                          <a:latin typeface="Calibri"/>
                        </a:rPr>
                        <a:t>₹10,402.0 Cr</a:t>
                      </a:r>
                    </a:p>
                  </a:txBody>
                  <a:tcPr marL="36576" marR="36576" marT="18288" marB="18288">
                    <a:solidFill>
                      <a:srgbClr val="F4F6F9"/>
                    </a:solidFill>
                  </a:tcPr>
                </a:tc>
              </a:tr>
              <a:tr h="628650">
                <a:tc>
                  <a:txBody>
                    <a:bodyPr/>
                    <a:lstStyle/>
                    <a:p>
                      <a:r>
                        <a:rPr sz="1200" b="1">
                          <a:solidFill>
                            <a:srgbClr val="5A6573"/>
                          </a:solidFill>
                          <a:latin typeface="Calibri"/>
                        </a:rPr>
                        <a:t>FY27E</a:t>
                      </a:r>
                    </a:p>
                  </a:txBody>
                  <a:tcPr marL="36576" marR="36576" marT="18288" marB="18288">
                    <a:solidFill>
                      <a:srgbClr val="FFFFFF"/>
                    </a:solidFill>
                  </a:tcPr>
                </a:tc>
                <a:tc>
                  <a:txBody>
                    <a:bodyPr/>
                    <a:lstStyle/>
                    <a:p>
                      <a:pPr algn="r"/>
                      <a:r>
                        <a:rPr sz="1200">
                          <a:solidFill>
                            <a:srgbClr val="111111"/>
                          </a:solidFill>
                          <a:latin typeface="Calibri"/>
                        </a:rPr>
                        <a:t>₹12,973.0 Cr</a:t>
                      </a:r>
                    </a:p>
                  </a:txBody>
                  <a:tcPr marL="36576" marR="36576" marT="18288" marB="18288">
                    <a:solidFill>
                      <a:srgbClr val="FFFFFF"/>
                    </a:solidFill>
                  </a:tcPr>
                </a:tc>
              </a:tr>
              <a:tr h="628650">
                <a:tc>
                  <a:txBody>
                    <a:bodyPr/>
                    <a:lstStyle/>
                    <a:p>
                      <a:r>
                        <a:rPr sz="1200" b="1">
                          <a:solidFill>
                            <a:srgbClr val="5A6573"/>
                          </a:solidFill>
                          <a:latin typeface="Calibri"/>
                        </a:rPr>
                        <a:t>FY28E</a:t>
                      </a:r>
                    </a:p>
                  </a:txBody>
                  <a:tcPr marL="36576" marR="36576" marT="18288" marB="18288">
                    <a:solidFill>
                      <a:srgbClr val="F4F6F9"/>
                    </a:solidFill>
                  </a:tcPr>
                </a:tc>
                <a:tc>
                  <a:txBody>
                    <a:bodyPr/>
                    <a:lstStyle/>
                    <a:p>
                      <a:pPr algn="r"/>
                      <a:r>
                        <a:rPr sz="1200">
                          <a:solidFill>
                            <a:srgbClr val="111111"/>
                          </a:solidFill>
                          <a:latin typeface="Calibri"/>
                        </a:rPr>
                        <a:t>₹16,181.0 Cr</a:t>
                      </a:r>
                    </a:p>
                  </a:txBody>
                  <a:tcPr marL="36576" marR="36576" marT="18288" marB="18288">
                    <a:solidFill>
                      <a:srgbClr val="F4F6F9"/>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Quarterly Performance</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09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Quarterly Performance</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Recent quarterly trajectory showing the variability inherent to the cyclical revenue base.</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5638647"/>
                <a:gridCol w="5638647"/>
              </a:tblGrid>
              <a:tr h="708660">
                <a:tc>
                  <a:txBody>
                    <a:bodyPr/>
                    <a:lstStyle/>
                    <a:p>
                      <a:r>
                        <a:rPr b="1" sz="1200">
                          <a:solidFill>
                            <a:srgbClr val="FFFFFF"/>
                          </a:solidFill>
                          <a:latin typeface="Calibri"/>
                        </a:rPr>
                        <a:t>Quarter</a:t>
                      </a:r>
                    </a:p>
                  </a:txBody>
                  <a:tcPr marL="36576" marR="36576" marT="18288" marB="18288">
                    <a:solidFill>
                      <a:srgbClr val="1F4690"/>
                    </a:solidFill>
                  </a:tcPr>
                </a:tc>
                <a:tc>
                  <a:txBody>
                    <a:bodyPr/>
                    <a:lstStyle/>
                    <a:p>
                      <a:pPr algn="r"/>
                      <a:r>
                        <a:rPr b="1" sz="1200">
                          <a:solidFill>
                            <a:srgbClr val="FFFFFF"/>
                          </a:solidFill>
                          <a:latin typeface="Calibri"/>
                        </a:rPr>
                        <a:t>PAT</a:t>
                      </a:r>
                    </a:p>
                  </a:txBody>
                  <a:tcPr marL="36576" marR="36576" marT="18288" marB="18288">
                    <a:solidFill>
                      <a:srgbClr val="1F4690"/>
                    </a:solidFill>
                  </a:tcPr>
                </a:tc>
              </a:tr>
              <a:tr h="708660">
                <a:tc>
                  <a:txBody>
                    <a:bodyPr/>
                    <a:lstStyle/>
                    <a:p>
                      <a:r>
                        <a:rPr sz="1200" b="1">
                          <a:solidFill>
                            <a:srgbClr val="5A6573"/>
                          </a:solidFill>
                          <a:latin typeface="Calibri"/>
                        </a:rPr>
                        <a:t>Q2FY25</a:t>
                      </a:r>
                    </a:p>
                  </a:txBody>
                  <a:tcPr marL="36576" marR="36576" marT="18288" marB="18288">
                    <a:solidFill>
                      <a:srgbClr val="F4F6F9"/>
                    </a:solidFill>
                  </a:tcPr>
                </a:tc>
                <a:tc>
                  <a:txBody>
                    <a:bodyPr/>
                    <a:lstStyle/>
                    <a:p>
                      <a:pPr algn="r"/>
                      <a:r>
                        <a:rPr sz="1200">
                          <a:solidFill>
                            <a:srgbClr val="111111"/>
                          </a:solidFill>
                          <a:latin typeface="Calibri"/>
                        </a:rPr>
                        <a:t>₹1,242.0 Cr</a:t>
                      </a:r>
                    </a:p>
                  </a:txBody>
                  <a:tcPr marL="36576" marR="36576" marT="18288" marB="18288">
                    <a:solidFill>
                      <a:srgbClr val="F4F6F9"/>
                    </a:solidFill>
                  </a:tcPr>
                </a:tc>
              </a:tr>
              <a:tr h="708660">
                <a:tc>
                  <a:txBody>
                    <a:bodyPr/>
                    <a:lstStyle/>
                    <a:p>
                      <a:r>
                        <a:rPr sz="1200" b="1">
                          <a:solidFill>
                            <a:srgbClr val="5A6573"/>
                          </a:solidFill>
                          <a:latin typeface="Calibri"/>
                        </a:rPr>
                        <a:t>Q3FY25</a:t>
                      </a:r>
                    </a:p>
                  </a:txBody>
                  <a:tcPr marL="36576" marR="36576" marT="18288" marB="18288">
                    <a:solidFill>
                      <a:srgbClr val="FFFFFF"/>
                    </a:solidFill>
                  </a:tcPr>
                </a:tc>
                <a:tc>
                  <a:txBody>
                    <a:bodyPr/>
                    <a:lstStyle/>
                    <a:p>
                      <a:pPr algn="r"/>
                      <a:r>
                        <a:rPr sz="1200">
                          <a:solidFill>
                            <a:srgbClr val="111111"/>
                          </a:solidFill>
                          <a:latin typeface="Calibri"/>
                        </a:rPr>
                        <a:t>₹715.0 Cr</a:t>
                      </a:r>
                    </a:p>
                  </a:txBody>
                  <a:tcPr marL="36576" marR="36576" marT="18288" marB="18288">
                    <a:solidFill>
                      <a:srgbClr val="FFFFFF"/>
                    </a:solidFill>
                  </a:tcPr>
                </a:tc>
              </a:tr>
              <a:tr h="708660">
                <a:tc>
                  <a:txBody>
                    <a:bodyPr/>
                    <a:lstStyle/>
                    <a:p>
                      <a:r>
                        <a:rPr sz="1200" b="1">
                          <a:solidFill>
                            <a:srgbClr val="5A6573"/>
                          </a:solidFill>
                          <a:latin typeface="Calibri"/>
                        </a:rPr>
                        <a:t>Q4FY25</a:t>
                      </a:r>
                    </a:p>
                  </a:txBody>
                  <a:tcPr marL="36576" marR="36576" marT="18288" marB="18288">
                    <a:solidFill>
                      <a:srgbClr val="F4F6F9"/>
                    </a:solidFill>
                  </a:tcPr>
                </a:tc>
                <a:tc>
                  <a:txBody>
                    <a:bodyPr/>
                    <a:lstStyle/>
                    <a:p>
                      <a:pPr algn="r"/>
                      <a:r>
                        <a:rPr sz="1200">
                          <a:solidFill>
                            <a:srgbClr val="111111"/>
                          </a:solidFill>
                          <a:latin typeface="Calibri"/>
                        </a:rPr>
                        <a:t>₹545.0 Cr</a:t>
                      </a:r>
                    </a:p>
                  </a:txBody>
                  <a:tcPr marL="36576" marR="36576" marT="18288" marB="18288">
                    <a:solidFill>
                      <a:srgbClr val="F4F6F9"/>
                    </a:solidFill>
                  </a:tcPr>
                </a:tc>
              </a:tr>
              <a:tr h="708660">
                <a:tc>
                  <a:txBody>
                    <a:bodyPr/>
                    <a:lstStyle/>
                    <a:p>
                      <a:r>
                        <a:rPr sz="1200" b="1">
                          <a:solidFill>
                            <a:srgbClr val="5A6573"/>
                          </a:solidFill>
                          <a:latin typeface="Calibri"/>
                        </a:rPr>
                        <a:t>Q1FY26</a:t>
                      </a:r>
                    </a:p>
                  </a:txBody>
                  <a:tcPr marL="36576" marR="36576" marT="18288" marB="18288">
                    <a:solidFill>
                      <a:srgbClr val="FFFFFF"/>
                    </a:solidFill>
                  </a:tcPr>
                </a:tc>
                <a:tc>
                  <a:txBody>
                    <a:bodyPr/>
                    <a:lstStyle/>
                    <a:p>
                      <a:pPr algn="r"/>
                      <a:r>
                        <a:rPr sz="1200">
                          <a:solidFill>
                            <a:srgbClr val="111111"/>
                          </a:solidFill>
                          <a:latin typeface="Calibri"/>
                        </a:rPr>
                        <a:t>₹425.0 Cr</a:t>
                      </a:r>
                    </a:p>
                  </a:txBody>
                  <a:tcPr marL="36576" marR="36576" marT="18288" marB="18288">
                    <a:solidFill>
                      <a:srgbClr val="FFFFFF"/>
                    </a:solidFill>
                  </a:tcPr>
                </a:tc>
              </a:tr>
              <a:tr h="708660">
                <a:tc>
                  <a:txBody>
                    <a:bodyPr/>
                    <a:lstStyle/>
                    <a:p>
                      <a:r>
                        <a:rPr sz="1200" b="1">
                          <a:solidFill>
                            <a:srgbClr val="5A6573"/>
                          </a:solidFill>
                          <a:latin typeface="Calibri"/>
                        </a:rPr>
                        <a:t>Q2FY26</a:t>
                      </a:r>
                    </a:p>
                  </a:txBody>
                  <a:tcPr marL="36576" marR="36576" marT="18288" marB="18288">
                    <a:solidFill>
                      <a:srgbClr val="F4F6F9"/>
                    </a:solidFill>
                  </a:tcPr>
                </a:tc>
                <a:tc>
                  <a:txBody>
                    <a:bodyPr/>
                    <a:lstStyle/>
                    <a:p>
                      <a:pPr algn="r"/>
                      <a:r>
                        <a:rPr sz="1200">
                          <a:solidFill>
                            <a:srgbClr val="111111"/>
                          </a:solidFill>
                          <a:latin typeface="Calibri"/>
                        </a:rPr>
                        <a:t>₹401.0 Cr</a:t>
                      </a:r>
                    </a:p>
                  </a:txBody>
                  <a:tcPr marL="36576" marR="36576" marT="18288" marB="18288">
                    <a:solidFill>
                      <a:srgbClr val="F4F6F9"/>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Segment Mix</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Segment Mix</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2" cy="5029200"/>
        </p:xfrm>
        <a:graphic>
          <a:graphicData uri="http://schemas.openxmlformats.org/drawingml/2006/table">
            <a:tbl>
              <a:tblPr firstRow="1" bandRow="1">
                <a:tableStyleId>{5C22544A-7EE6-4342-B048-85BDC9FD1C3A}</a:tableStyleId>
              </a:tblPr>
              <a:tblGrid>
                <a:gridCol w="2819323"/>
                <a:gridCol w="2819323"/>
                <a:gridCol w="2819323"/>
                <a:gridCol w="2819323"/>
              </a:tblGrid>
              <a:tr h="838200">
                <a:tc>
                  <a:txBody>
                    <a:bodyPr/>
                    <a:lstStyle/>
                    <a:p>
                      <a:r>
                        <a:rPr b="1" sz="1200">
                          <a:solidFill>
                            <a:srgbClr val="FFFFFF"/>
                          </a:solidFill>
                          <a:latin typeface="Calibri"/>
                        </a:rPr>
                        <a:t>Segment</a:t>
                      </a:r>
                    </a:p>
                  </a:txBody>
                  <a:tcPr marL="36576" marR="36576" marT="18288" marB="18288">
                    <a:solidFill>
                      <a:srgbClr val="1F4690"/>
                    </a:solidFill>
                  </a:tcPr>
                </a:tc>
                <a:tc>
                  <a:txBody>
                    <a:bodyPr/>
                    <a:lstStyle/>
                    <a:p>
                      <a:pPr algn="r"/>
                      <a:r>
                        <a:rPr b="1" sz="1200">
                          <a:solidFill>
                            <a:srgbClr val="FFFFFF"/>
                          </a:solidFill>
                          <a:latin typeface="Calibri"/>
                        </a:rPr>
                        <a:t>Scale Metric</a:t>
                      </a:r>
                    </a:p>
                  </a:txBody>
                  <a:tcPr marL="36576" marR="36576" marT="18288" marB="18288">
                    <a:solidFill>
                      <a:srgbClr val="1F4690"/>
                    </a:solidFill>
                  </a:tcPr>
                </a:tc>
                <a:tc>
                  <a:txBody>
                    <a:bodyPr/>
                    <a:lstStyle/>
                    <a:p>
                      <a:pPr algn="r"/>
                      <a:r>
                        <a:rPr b="1" sz="1200">
                          <a:solidFill>
                            <a:srgbClr val="FFFFFF"/>
                          </a:solidFill>
                          <a:latin typeface="Calibri"/>
                        </a:rPr>
                        <a:t>Latest</a:t>
                      </a:r>
                    </a:p>
                  </a:txBody>
                  <a:tcPr marL="36576" marR="36576" marT="18288" marB="18288">
                    <a:solidFill>
                      <a:srgbClr val="1F4690"/>
                    </a:solidFill>
                  </a:tcPr>
                </a:tc>
                <a:tc>
                  <a:txBody>
                    <a:bodyPr/>
                    <a:lstStyle/>
                    <a:p>
                      <a:pPr algn="r"/>
                      <a:r>
                        <a:rPr b="1" sz="1200">
                          <a:solidFill>
                            <a:srgbClr val="FFFFFF"/>
                          </a:solidFill>
                          <a:latin typeface="Calibri"/>
                        </a:rPr>
                        <a:t>Notes</a:t>
                      </a:r>
                    </a:p>
                  </a:txBody>
                  <a:tcPr marL="36576" marR="36576" marT="18288" marB="18288">
                    <a:solidFill>
                      <a:srgbClr val="1F4690"/>
                    </a:solidFill>
                  </a:tcPr>
                </a:tc>
              </a:tr>
              <a:tr h="838200">
                <a:tc>
                  <a:txBody>
                    <a:bodyPr/>
                    <a:lstStyle/>
                    <a:p>
                      <a:r>
                        <a:rPr sz="1200" b="1">
                          <a:solidFill>
                            <a:srgbClr val="5A6573"/>
                          </a:solidFill>
                          <a:latin typeface="Calibri"/>
                        </a:rPr>
                        <a:t>Capital Markets (Broking + IB)</a:t>
                      </a:r>
                    </a:p>
                  </a:txBody>
                  <a:tcPr marL="36576" marR="36576" marT="18288" marB="18288">
                    <a:solidFill>
                      <a:srgbClr val="F4F6F9"/>
                    </a:solidFill>
                  </a:tcPr>
                </a:tc>
                <a:tc>
                  <a:txBody>
                    <a:bodyPr/>
                    <a:lstStyle/>
                    <a:p>
                      <a:pPr algn="r"/>
                      <a:r>
                        <a:rPr sz="1200">
                          <a:solidFill>
                            <a:srgbClr val="111111"/>
                          </a:solidFill>
                          <a:latin typeface="Calibri"/>
                        </a:rPr>
                        <a:t>Brokerage Rev YoY</a:t>
                      </a:r>
                    </a:p>
                  </a:txBody>
                  <a:tcPr marL="36576" marR="36576" marT="18288" marB="18288">
                    <a:solidFill>
                      <a:srgbClr val="F4F6F9"/>
                    </a:solidFill>
                  </a:tcPr>
                </a:tc>
                <a:tc>
                  <a:txBody>
                    <a:bodyPr/>
                    <a:lstStyle/>
                    <a:p>
                      <a:pPr algn="r"/>
                      <a:r>
                        <a:rPr sz="1200" b="1">
                          <a:solidFill>
                            <a:srgbClr val="B91C1C"/>
                          </a:solidFill>
                          <a:latin typeface="Calibri"/>
                        </a:rPr>
                        <a:t>-24%</a:t>
                      </a:r>
                    </a:p>
                  </a:txBody>
                  <a:tcPr marL="36576" marR="36576" marT="18288" marB="18288">
                    <a:solidFill>
                      <a:srgbClr val="F4F6F9"/>
                    </a:solidFill>
                  </a:tcPr>
                </a:tc>
                <a:tc>
                  <a:txBody>
                    <a:bodyPr/>
                    <a:lstStyle/>
                    <a:p>
                      <a:pPr algn="r"/>
                      <a:r>
                        <a:rPr sz="1200">
                          <a:solidFill>
                            <a:srgbClr val="111111"/>
                          </a:solidFill>
                          <a:latin typeface="Calibri"/>
                        </a:rPr>
                        <a:t>Equity, derivatives, commodity, currency trading + institutional services and investment banking. Brokerage now contributes only 30% of total revenue, down from historical highs.</a:t>
                      </a:r>
                    </a:p>
                  </a:txBody>
                  <a:tcPr marL="36576" marR="36576" marT="18288" marB="18288">
                    <a:solidFill>
                      <a:srgbClr val="F4F6F9"/>
                    </a:solidFill>
                  </a:tcPr>
                </a:tc>
              </a:tr>
              <a:tr h="838200">
                <a:tc>
                  <a:txBody>
                    <a:bodyPr/>
                    <a:lstStyle/>
                    <a:p>
                      <a:r>
                        <a:rPr sz="1200" b="1">
                          <a:solidFill>
                            <a:srgbClr val="5A6573"/>
                          </a:solidFill>
                          <a:latin typeface="Calibri"/>
                        </a:rPr>
                        <a:t>Asset Management</a:t>
                      </a:r>
                    </a:p>
                  </a:txBody>
                  <a:tcPr marL="36576" marR="36576" marT="18288" marB="18288">
                    <a:solidFill>
                      <a:srgbClr val="FFFFFF"/>
                    </a:solidFill>
                  </a:tcPr>
                </a:tc>
                <a:tc>
                  <a:txBody>
                    <a:bodyPr/>
                    <a:lstStyle/>
                    <a:p>
                      <a:pPr algn="r"/>
                      <a:r>
                        <a:rPr sz="1200">
                          <a:solidFill>
                            <a:srgbClr val="111111"/>
                          </a:solidFill>
                          <a:latin typeface="Calibri"/>
                        </a:rPr>
                        <a:t>AMC AUM</a:t>
                      </a:r>
                    </a:p>
                  </a:txBody>
                  <a:tcPr marL="36576" marR="36576" marT="18288" marB="18288">
                    <a:solidFill>
                      <a:srgbClr val="FFFFFF"/>
                    </a:solidFill>
                  </a:tcPr>
                </a:tc>
                <a:tc>
                  <a:txBody>
                    <a:bodyPr/>
                    <a:lstStyle/>
                    <a:p>
                      <a:pPr algn="r"/>
                      <a:r>
                        <a:rPr sz="1200">
                          <a:solidFill>
                            <a:srgbClr val="111111"/>
                          </a:solidFill>
                          <a:latin typeface="Calibri"/>
                        </a:rPr>
                        <a:t>INR 1.89L Cr (+33% YoY)</a:t>
                      </a:r>
                    </a:p>
                  </a:txBody>
                  <a:tcPr marL="36576" marR="36576" marT="18288" marB="18288">
                    <a:solidFill>
                      <a:srgbClr val="FFFFFF"/>
                    </a:solidFill>
                  </a:tcPr>
                </a:tc>
                <a:tc>
                  <a:txBody>
                    <a:bodyPr/>
                    <a:lstStyle/>
                    <a:p>
                      <a:pPr algn="r"/>
                      <a:r>
                        <a:rPr sz="1200">
                          <a:solidFill>
                            <a:srgbClr val="111111"/>
                          </a:solidFill>
                          <a:latin typeface="Calibri"/>
                        </a:rPr>
                        <a:t>Mutual funds and PMS. 91% of AUM outperforming benchmarks over 3 years.</a:t>
                      </a:r>
                    </a:p>
                  </a:txBody>
                  <a:tcPr marL="36576" marR="36576" marT="18288" marB="18288">
                    <a:solidFill>
                      <a:srgbClr val="FFFFFF"/>
                    </a:solidFill>
                  </a:tcPr>
                </a:tc>
              </a:tr>
              <a:tr h="838200">
                <a:tc>
                  <a:txBody>
                    <a:bodyPr/>
                    <a:lstStyle/>
                    <a:p>
                      <a:r>
                        <a:rPr sz="1200" b="1">
                          <a:solidFill>
                            <a:srgbClr val="5A6573"/>
                          </a:solidFill>
                          <a:latin typeface="Calibri"/>
                        </a:rPr>
                        <a:t>Private Wealth Management</a:t>
                      </a:r>
                    </a:p>
                  </a:txBody>
                  <a:tcPr marL="36576" marR="36576" marT="18288" marB="18288">
                    <a:solidFill>
                      <a:srgbClr val="F4F6F9"/>
                    </a:solidFill>
                  </a:tcPr>
                </a:tc>
                <a:tc>
                  <a:txBody>
                    <a:bodyPr/>
                    <a:lstStyle/>
                    <a:p>
                      <a:pPr algn="r"/>
                      <a:r>
                        <a:rPr sz="1200">
                          <a:solidFill>
                            <a:srgbClr val="111111"/>
                          </a:solidFill>
                          <a:latin typeface="Calibri"/>
                        </a:rPr>
                        <a:t>PWM AUM</a:t>
                      </a:r>
                    </a:p>
                  </a:txBody>
                  <a:tcPr marL="36576" marR="36576" marT="18288" marB="18288">
                    <a:solidFill>
                      <a:srgbClr val="F4F6F9"/>
                    </a:solidFill>
                  </a:tcPr>
                </a:tc>
                <a:tc>
                  <a:txBody>
                    <a:bodyPr/>
                    <a:lstStyle/>
                    <a:p>
                      <a:pPr algn="r"/>
                      <a:r>
                        <a:rPr sz="1200">
                          <a:solidFill>
                            <a:srgbClr val="111111"/>
                          </a:solidFill>
                          <a:latin typeface="Calibri"/>
                        </a:rPr>
                        <a:t>INR 1.96L Cr (+31% YoY)</a:t>
                      </a:r>
                    </a:p>
                  </a:txBody>
                  <a:tcPr marL="36576" marR="36576" marT="18288" marB="18288">
                    <a:solidFill>
                      <a:srgbClr val="F4F6F9"/>
                    </a:solidFill>
                  </a:tcPr>
                </a:tc>
                <a:tc>
                  <a:txBody>
                    <a:bodyPr/>
                    <a:lstStyle/>
                    <a:p>
                      <a:pPr algn="r"/>
                      <a:r>
                        <a:rPr sz="1200">
                          <a:solidFill>
                            <a:srgbClr val="111111"/>
                          </a:solidFill>
                          <a:latin typeface="Calibri"/>
                        </a:rPr>
                        <a:t>HNI/UHNI advisory. Family count up 41% YoY.</a:t>
                      </a:r>
                    </a:p>
                  </a:txBody>
                  <a:tcPr marL="36576" marR="36576" marT="18288" marB="18288">
                    <a:solidFill>
                      <a:srgbClr val="F4F6F9"/>
                    </a:solidFill>
                  </a:tcPr>
                </a:tc>
              </a:tr>
              <a:tr h="838200">
                <a:tc>
                  <a:txBody>
                    <a:bodyPr/>
                    <a:lstStyle/>
                    <a:p>
                      <a:r>
                        <a:rPr sz="1200" b="1">
                          <a:solidFill>
                            <a:srgbClr val="5A6573"/>
                          </a:solidFill>
                          <a:latin typeface="Calibri"/>
                        </a:rPr>
                        <a:t>Housing Finance</a:t>
                      </a:r>
                    </a:p>
                  </a:txBody>
                  <a:tcPr marL="36576" marR="36576" marT="18288" marB="18288">
                    <a:solidFill>
                      <a:srgbClr val="FFFFFF"/>
                    </a:solidFill>
                  </a:tcPr>
                </a:tc>
                <a:tc>
                  <a:txBody>
                    <a:bodyPr/>
                    <a:lstStyle/>
                    <a:p>
                      <a:pPr algn="r"/>
                      <a:r>
                        <a:rPr sz="1200">
                          <a:solidFill>
                            <a:srgbClr val="111111"/>
                          </a:solidFill>
                          <a:latin typeface="Calibri"/>
                        </a:rPr>
                        <a:t>Loan Book</a:t>
                      </a:r>
                    </a:p>
                  </a:txBody>
                  <a:tcPr marL="36576" marR="36576" marT="18288" marB="18288">
                    <a:solidFill>
                      <a:srgbClr val="FFFFFF"/>
                    </a:solidFill>
                  </a:tcPr>
                </a:tc>
                <a:tc>
                  <a:txBody>
                    <a:bodyPr/>
                    <a:lstStyle/>
                    <a:p>
                      <a:pPr algn="r"/>
                      <a:r>
                        <a:rPr sz="1200">
                          <a:solidFill>
                            <a:srgbClr val="111111"/>
                          </a:solidFill>
                          <a:latin typeface="Calibri"/>
                        </a:rPr>
                        <a:t>INR 6,630 Cr (+25% YoY)</a:t>
                      </a:r>
                    </a:p>
                  </a:txBody>
                  <a:tcPr marL="36576" marR="36576" marT="18288" marB="18288">
                    <a:solidFill>
                      <a:srgbClr val="FFFFFF"/>
                    </a:solidFill>
                  </a:tcPr>
                </a:tc>
                <a:tc>
                  <a:txBody>
                    <a:bodyPr/>
                    <a:lstStyle/>
                    <a:p>
                      <a:pPr algn="r"/>
                      <a:r>
                        <a:rPr sz="1200">
                          <a:solidFill>
                            <a:srgbClr val="111111"/>
                          </a:solidFill>
                          <a:latin typeface="Calibri"/>
                        </a:rPr>
                        <a:t>Retail mortgage lending — affordable and mid-segment.</a:t>
                      </a:r>
                    </a:p>
                  </a:txBody>
                  <a:tcPr marL="36576" marR="36576" marT="18288" marB="18288">
                    <a:solidFill>
                      <a:srgbClr val="FFFFFF"/>
                    </a:solidFill>
                  </a:tcPr>
                </a:tc>
              </a:tr>
              <a:tr h="838200">
                <a:tc>
                  <a:txBody>
                    <a:bodyPr/>
                    <a:lstStyle/>
                    <a:p>
                      <a:r>
                        <a:rPr sz="1200" b="1">
                          <a:solidFill>
                            <a:srgbClr val="5A6573"/>
                          </a:solidFill>
                          <a:latin typeface="Calibri"/>
                        </a:rPr>
                        <a:t>Alternative Investments</a:t>
                      </a:r>
                    </a:p>
                  </a:txBody>
                  <a:tcPr marL="36576" marR="36576" marT="18288" marB="18288">
                    <a:solidFill>
                      <a:srgbClr val="F4F6F9"/>
                    </a:solidFill>
                  </a:tcPr>
                </a:tc>
                <a:tc>
                  <a:txBody>
                    <a:bodyPr/>
                    <a:lstStyle/>
                    <a:p>
                      <a:pPr algn="r"/>
                      <a:r>
                        <a:rPr sz="1200">
                          <a:solidFill>
                            <a:srgbClr val="111111"/>
                          </a:solidFill>
                          <a:latin typeface="Calibri"/>
                        </a:rPr>
                        <a:t>Carry Income</a:t>
                      </a:r>
                    </a:p>
                  </a:txBody>
                  <a:tcPr marL="36576" marR="36576" marT="18288" marB="18288">
                    <a:solidFill>
                      <a:srgbClr val="F4F6F9"/>
                    </a:solidFill>
                  </a:tcPr>
                </a:tc>
                <a:tc>
                  <a:txBody>
                    <a:bodyPr/>
                    <a:lstStyle/>
                    <a:p>
                      <a:pPr algn="r"/>
                      <a:r>
                        <a:rPr sz="1200">
                          <a:solidFill>
                            <a:srgbClr val="111111"/>
                          </a:solidFill>
                          <a:latin typeface="Calibri"/>
                        </a:rPr>
                        <a:t>INR 58 Cr recurring</a:t>
                      </a:r>
                    </a:p>
                  </a:txBody>
                  <a:tcPr marL="36576" marR="36576" marT="18288" marB="18288">
                    <a:solidFill>
                      <a:srgbClr val="F4F6F9"/>
                    </a:solidFill>
                  </a:tcPr>
                </a:tc>
                <a:tc>
                  <a:txBody>
                    <a:bodyPr/>
                    <a:lstStyle/>
                    <a:p>
                      <a:pPr algn="r"/>
                      <a:r>
                        <a:rPr sz="1200">
                          <a:solidFill>
                            <a:srgbClr val="111111"/>
                          </a:solidFill>
                          <a:latin typeface="Calibri"/>
                        </a:rPr>
                        <a:t>Private credit, real estate, alternatives.</a:t>
                      </a:r>
                    </a:p>
                  </a:txBody>
                  <a:tcPr marL="36576" marR="36576" marT="18288" marB="18288">
                    <a:solidFill>
                      <a:srgbClr val="F4F6F9"/>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Ratios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11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11</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Ratios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Margin and return profile across the forecast period.</a:t>
            </a:r>
          </a:p>
        </p:txBody>
      </p:sp>
      <p:graphicFrame>
        <p:nvGraphicFramePr>
          <p:cNvPr id="19" name="Table 18"/>
          <p:cNvGraphicFramePr>
            <a:graphicFrameLocks noGrp="1"/>
          </p:cNvGraphicFramePr>
          <p:nvPr/>
        </p:nvGraphicFramePr>
        <p:xfrm>
          <a:off x="457200" y="2194560"/>
          <a:ext cx="11277288" cy="4251960"/>
        </p:xfrm>
        <a:graphic>
          <a:graphicData uri="http://schemas.openxmlformats.org/drawingml/2006/table">
            <a:tbl>
              <a:tblPr firstRow="1" bandRow="1">
                <a:tableStyleId>{5C22544A-7EE6-4342-B048-85BDC9FD1C3A}</a:tableStyleId>
              </a:tblPr>
              <a:tblGrid>
                <a:gridCol w="1409661"/>
                <a:gridCol w="1409661"/>
                <a:gridCol w="1409661"/>
                <a:gridCol w="1409661"/>
                <a:gridCol w="1409661"/>
                <a:gridCol w="1409661"/>
                <a:gridCol w="1409661"/>
                <a:gridCol w="1409661"/>
              </a:tblGrid>
              <a:tr h="472440">
                <a:tc>
                  <a:txBody>
                    <a:bodyPr/>
                    <a:lstStyle/>
                    <a:p>
                      <a:r>
                        <a:rPr b="1" sz="1000">
                          <a:solidFill>
                            <a:srgbClr val="FFFFFF"/>
                          </a:solidFill>
                          <a:latin typeface="Calibri"/>
                        </a:rPr>
                        <a:t>Ratio</a:t>
                      </a:r>
                    </a:p>
                  </a:txBody>
                  <a:tcPr marL="36576" marR="36576" marT="18288" marB="18288">
                    <a:solidFill>
                      <a:srgbClr val="1F4690"/>
                    </a:solidFill>
                  </a:tcPr>
                </a:tc>
                <a:tc>
                  <a:txBody>
                    <a:bodyPr/>
                    <a:lstStyle/>
                    <a:p>
                      <a:pPr algn="r"/>
                      <a:r>
                        <a:rPr b="1" sz="1000">
                          <a:solidFill>
                            <a:srgbClr val="FFFFFF"/>
                          </a:solidFill>
                          <a:latin typeface="Calibri"/>
                        </a:rPr>
                        <a:t>FY22A</a:t>
                      </a:r>
                    </a:p>
                  </a:txBody>
                  <a:tcPr marL="36576" marR="36576" marT="18288" marB="18288">
                    <a:solidFill>
                      <a:srgbClr val="1F4690"/>
                    </a:solidFill>
                  </a:tcPr>
                </a:tc>
                <a:tc>
                  <a:txBody>
                    <a:bodyPr/>
                    <a:lstStyle/>
                    <a:p>
                      <a:pPr algn="r"/>
                      <a:r>
                        <a:rPr b="1" sz="1000">
                          <a:solidFill>
                            <a:srgbClr val="FFFFFF"/>
                          </a:solidFill>
                          <a:latin typeface="Calibri"/>
                        </a:rPr>
                        <a:t>FY23A</a:t>
                      </a:r>
                    </a:p>
                  </a:txBody>
                  <a:tcPr marL="36576" marR="36576" marT="18288" marB="18288">
                    <a:solidFill>
                      <a:srgbClr val="1F4690"/>
                    </a:solidFill>
                  </a:tcPr>
                </a:tc>
                <a:tc>
                  <a:txBody>
                    <a:bodyPr/>
                    <a:lstStyle/>
                    <a:p>
                      <a:pPr algn="r"/>
                      <a:r>
                        <a:rPr b="1" sz="1000">
                          <a:solidFill>
                            <a:srgbClr val="FFFFFF"/>
                          </a:solidFill>
                          <a:latin typeface="Calibri"/>
                        </a:rPr>
                        <a:t>FY24A</a:t>
                      </a:r>
                    </a:p>
                  </a:txBody>
                  <a:tcPr marL="36576" marR="36576" marT="18288" marB="18288">
                    <a:solidFill>
                      <a:srgbClr val="1F4690"/>
                    </a:solidFill>
                  </a:tcPr>
                </a:tc>
                <a:tc>
                  <a:txBody>
                    <a:bodyPr/>
                    <a:lstStyle/>
                    <a:p>
                      <a:pPr algn="r"/>
                      <a:r>
                        <a:rPr b="1" sz="1000">
                          <a:solidFill>
                            <a:srgbClr val="FFFFFF"/>
                          </a:solidFill>
                          <a:latin typeface="Calibri"/>
                        </a:rPr>
                        <a:t>FY25A</a:t>
                      </a:r>
                    </a:p>
                  </a:txBody>
                  <a:tcPr marL="36576" marR="36576" marT="18288" marB="18288">
                    <a:solidFill>
                      <a:srgbClr val="1F4690"/>
                    </a:solidFill>
                  </a:tcPr>
                </a:tc>
                <a:tc>
                  <a:txBody>
                    <a:bodyPr/>
                    <a:lstStyle/>
                    <a:p>
                      <a:pPr algn="r"/>
                      <a:r>
                        <a:rPr b="1" sz="1000">
                          <a:solidFill>
                            <a:srgbClr val="FFFFFF"/>
                          </a:solidFill>
                          <a:latin typeface="Calibri"/>
                        </a:rPr>
                        <a:t>FY26E</a:t>
                      </a:r>
                    </a:p>
                  </a:txBody>
                  <a:tcPr marL="36576" marR="36576" marT="18288" marB="18288">
                    <a:solidFill>
                      <a:srgbClr val="1F4690"/>
                    </a:solidFill>
                  </a:tcPr>
                </a:tc>
                <a:tc>
                  <a:txBody>
                    <a:bodyPr/>
                    <a:lstStyle/>
                    <a:p>
                      <a:pPr algn="r"/>
                      <a:r>
                        <a:rPr b="1" sz="1000">
                          <a:solidFill>
                            <a:srgbClr val="FFFFFF"/>
                          </a:solidFill>
                          <a:latin typeface="Calibri"/>
                        </a:rPr>
                        <a:t>FY27E</a:t>
                      </a:r>
                    </a:p>
                  </a:txBody>
                  <a:tcPr marL="36576" marR="36576" marT="18288" marB="18288">
                    <a:solidFill>
                      <a:srgbClr val="1F4690"/>
                    </a:solidFill>
                  </a:tcPr>
                </a:tc>
                <a:tc>
                  <a:txBody>
                    <a:bodyPr/>
                    <a:lstStyle/>
                    <a:p>
                      <a:pPr algn="r"/>
                      <a:r>
                        <a:rPr b="1" sz="1000">
                          <a:solidFill>
                            <a:srgbClr val="FFFFFF"/>
                          </a:solidFill>
                          <a:latin typeface="Calibri"/>
                        </a:rPr>
                        <a:t>FY28E</a:t>
                      </a:r>
                    </a:p>
                  </a:txBody>
                  <a:tcPr marL="36576" marR="36576" marT="18288" marB="18288">
                    <a:solidFill>
                      <a:srgbClr val="1F4690"/>
                    </a:solidFill>
                  </a:tcPr>
                </a:tc>
              </a:tr>
              <a:tr h="472440">
                <a:tc>
                  <a:txBody>
                    <a:bodyPr/>
                    <a:lstStyle/>
                    <a:p>
                      <a:r>
                        <a:rPr sz="1000" b="1">
                          <a:solidFill>
                            <a:srgbClr val="1F4690"/>
                          </a:solidFill>
                          <a:latin typeface="Calibri"/>
                        </a:rPr>
                        <a:t>EBITDA Margin</a:t>
                      </a:r>
                    </a:p>
                  </a:txBody>
                  <a:tcPr marL="36576" marR="36576" marT="18288" marB="18288">
                    <a:solidFill>
                      <a:srgbClr val="FFF3E0"/>
                    </a:solidFill>
                  </a:tcPr>
                </a:tc>
                <a:tc>
                  <a:txBody>
                    <a:bodyPr/>
                    <a:lstStyle/>
                    <a:p>
                      <a:pPr algn="r"/>
                      <a:r>
                        <a:rPr sz="1000" b="1">
                          <a:solidFill>
                            <a:srgbClr val="1F4690"/>
                          </a:solidFill>
                          <a:latin typeface="Calibri"/>
                        </a:rPr>
                        <a:t>49.3%</a:t>
                      </a:r>
                    </a:p>
                  </a:txBody>
                  <a:tcPr marL="36576" marR="36576" marT="18288" marB="18288">
                    <a:solidFill>
                      <a:srgbClr val="FFF3E0"/>
                    </a:solidFill>
                  </a:tcPr>
                </a:tc>
                <a:tc>
                  <a:txBody>
                    <a:bodyPr/>
                    <a:lstStyle/>
                    <a:p>
                      <a:pPr algn="r"/>
                      <a:r>
                        <a:rPr sz="1000" b="1">
                          <a:solidFill>
                            <a:srgbClr val="1F4690"/>
                          </a:solidFill>
                          <a:latin typeface="Calibri"/>
                        </a:rPr>
                        <a:t>44.9%</a:t>
                      </a:r>
                    </a:p>
                  </a:txBody>
                  <a:tcPr marL="36576" marR="36576" marT="18288" marB="18288">
                    <a:solidFill>
                      <a:srgbClr val="FFF3E0"/>
                    </a:solidFill>
                  </a:tcPr>
                </a:tc>
                <a:tc>
                  <a:txBody>
                    <a:bodyPr/>
                    <a:lstStyle/>
                    <a:p>
                      <a:pPr algn="r"/>
                      <a:r>
                        <a:rPr sz="1000" b="1">
                          <a:solidFill>
                            <a:srgbClr val="1F4690"/>
                          </a:solidFill>
                          <a:latin typeface="Calibri"/>
                        </a:rPr>
                        <a:t>57.4%</a:t>
                      </a:r>
                    </a:p>
                  </a:txBody>
                  <a:tcPr marL="36576" marR="36576" marT="18288" marB="18288">
                    <a:solidFill>
                      <a:srgbClr val="FFF3E0"/>
                    </a:solidFill>
                  </a:tcPr>
                </a:tc>
                <a:tc>
                  <a:txBody>
                    <a:bodyPr/>
                    <a:lstStyle/>
                    <a:p>
                      <a:pPr algn="r"/>
                      <a:r>
                        <a:rPr sz="1000" b="1">
                          <a:solidFill>
                            <a:srgbClr val="1F4690"/>
                          </a:solidFill>
                          <a:latin typeface="Calibri"/>
                        </a:rPr>
                        <a:t>54.5%</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c>
                  <a:txBody>
                    <a:bodyPr/>
                    <a:lstStyle/>
                    <a:p>
                      <a:pPr algn="r"/>
                      <a:r>
                        <a:rPr sz="1000" b="1">
                          <a:solidFill>
                            <a:srgbClr val="1F4690"/>
                          </a:solidFill>
                          <a:latin typeface="Calibri"/>
                        </a:rPr>
                        <a:t>52.3%</a:t>
                      </a:r>
                    </a:p>
                  </a:txBody>
                  <a:tcPr marL="36576" marR="36576" marT="18288" marB="18288">
                    <a:solidFill>
                      <a:srgbClr val="FFF3E0"/>
                    </a:solidFill>
                  </a:tcPr>
                </a:tc>
              </a:tr>
              <a:tr h="472440">
                <a:tc>
                  <a:txBody>
                    <a:bodyPr/>
                    <a:lstStyle/>
                    <a:p>
                      <a:r>
                        <a:rPr sz="1000" b="1">
                          <a:solidFill>
                            <a:srgbClr val="1F4690"/>
                          </a:solidFill>
                          <a:latin typeface="Calibri"/>
                        </a:rPr>
                        <a:t>PAT Margin</a:t>
                      </a:r>
                    </a:p>
                  </a:txBody>
                  <a:tcPr marL="36576" marR="36576" marT="18288" marB="18288">
                    <a:solidFill>
                      <a:srgbClr val="FFF3E0"/>
                    </a:solidFill>
                  </a:tcPr>
                </a:tc>
                <a:tc>
                  <a:txBody>
                    <a:bodyPr/>
                    <a:lstStyle/>
                    <a:p>
                      <a:pPr algn="r"/>
                      <a:r>
                        <a:rPr sz="1000" b="1">
                          <a:solidFill>
                            <a:srgbClr val="1F4690"/>
                          </a:solidFill>
                          <a:latin typeface="Calibri"/>
                        </a:rPr>
                        <a:t>30.5%</a:t>
                      </a:r>
                    </a:p>
                  </a:txBody>
                  <a:tcPr marL="36576" marR="36576" marT="18288" marB="18288">
                    <a:solidFill>
                      <a:srgbClr val="FFF3E0"/>
                    </a:solidFill>
                  </a:tcPr>
                </a:tc>
                <a:tc>
                  <a:txBody>
                    <a:bodyPr/>
                    <a:lstStyle/>
                    <a:p>
                      <a:pPr algn="r"/>
                      <a:r>
                        <a:rPr sz="1000" b="1">
                          <a:solidFill>
                            <a:srgbClr val="1F4690"/>
                          </a:solidFill>
                          <a:latin typeface="Calibri"/>
                        </a:rPr>
                        <a:t>22.3%</a:t>
                      </a:r>
                    </a:p>
                  </a:txBody>
                  <a:tcPr marL="36576" marR="36576" marT="18288" marB="18288">
                    <a:solidFill>
                      <a:srgbClr val="FFF3E0"/>
                    </a:solidFill>
                  </a:tcPr>
                </a:tc>
                <a:tc>
                  <a:txBody>
                    <a:bodyPr/>
                    <a:lstStyle/>
                    <a:p>
                      <a:pPr algn="r"/>
                      <a:r>
                        <a:rPr sz="1000" b="1">
                          <a:solidFill>
                            <a:srgbClr val="1F4690"/>
                          </a:solidFill>
                          <a:latin typeface="Calibri"/>
                        </a:rPr>
                        <a:t>34.4%</a:t>
                      </a:r>
                    </a:p>
                  </a:txBody>
                  <a:tcPr marL="36576" marR="36576" marT="18288" marB="18288">
                    <a:solidFill>
                      <a:srgbClr val="FFF3E0"/>
                    </a:solidFill>
                  </a:tcPr>
                </a:tc>
                <a:tc>
                  <a:txBody>
                    <a:bodyPr/>
                    <a:lstStyle/>
                    <a:p>
                      <a:pPr algn="r"/>
                      <a:r>
                        <a:rPr sz="1000" b="1">
                          <a:solidFill>
                            <a:srgbClr val="1F4690"/>
                          </a:solidFill>
                          <a:latin typeface="Calibri"/>
                        </a:rPr>
                        <a:t>30.0%</a:t>
                      </a:r>
                    </a:p>
                  </a:txBody>
                  <a:tcPr marL="36576" marR="36576" marT="18288" marB="18288">
                    <a:solidFill>
                      <a:srgbClr val="FFF3E0"/>
                    </a:solidFill>
                  </a:tcPr>
                </a:tc>
                <a:tc>
                  <a:txBody>
                    <a:bodyPr/>
                    <a:lstStyle/>
                    <a:p>
                      <a:pPr algn="r"/>
                      <a:r>
                        <a:rPr sz="1000" b="1">
                          <a:solidFill>
                            <a:srgbClr val="1F4690"/>
                          </a:solidFill>
                          <a:latin typeface="Calibri"/>
                        </a:rPr>
                        <a:t>29.5%</a:t>
                      </a:r>
                    </a:p>
                  </a:txBody>
                  <a:tcPr marL="36576" marR="36576" marT="18288" marB="18288">
                    <a:solidFill>
                      <a:srgbClr val="FFF3E0"/>
                    </a:solidFill>
                  </a:tcPr>
                </a:tc>
                <a:tc>
                  <a:txBody>
                    <a:bodyPr/>
                    <a:lstStyle/>
                    <a:p>
                      <a:pPr algn="r"/>
                      <a:r>
                        <a:rPr sz="1000" b="1">
                          <a:solidFill>
                            <a:srgbClr val="1F4690"/>
                          </a:solidFill>
                          <a:latin typeface="Calibri"/>
                        </a:rPr>
                        <a:t>30.7%</a:t>
                      </a:r>
                    </a:p>
                  </a:txBody>
                  <a:tcPr marL="36576" marR="36576" marT="18288" marB="18288">
                    <a:solidFill>
                      <a:srgbClr val="FFF3E0"/>
                    </a:solidFill>
                  </a:tcPr>
                </a:tc>
                <a:tc>
                  <a:txBody>
                    <a:bodyPr/>
                    <a:lstStyle/>
                    <a:p>
                      <a:pPr algn="r"/>
                      <a:r>
                        <a:rPr sz="1000" b="1">
                          <a:solidFill>
                            <a:srgbClr val="1F4690"/>
                          </a:solidFill>
                          <a:latin typeface="Calibri"/>
                        </a:rPr>
                        <a:t>31.7%</a:t>
                      </a:r>
                    </a:p>
                  </a:txBody>
                  <a:tcPr marL="36576" marR="36576" marT="18288" marB="18288">
                    <a:solidFill>
                      <a:srgbClr val="FFF3E0"/>
                    </a:solidFill>
                  </a:tcPr>
                </a:tc>
              </a:tr>
              <a:tr h="472440">
                <a:tc>
                  <a:txBody>
                    <a:bodyPr/>
                    <a:lstStyle/>
                    <a:p>
                      <a:r>
                        <a:rPr sz="1000" b="1">
                          <a:solidFill>
                            <a:srgbClr val="5A6573"/>
                          </a:solidFill>
                          <a:latin typeface="Calibri"/>
                        </a:rPr>
                        <a:t>RoE</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15.0%</a:t>
                      </a:r>
                    </a:p>
                  </a:txBody>
                  <a:tcPr marL="36576" marR="36576" marT="18288" marB="18288">
                    <a:solidFill>
                      <a:srgbClr val="F4F6F9"/>
                    </a:solidFill>
                  </a:tcPr>
                </a:tc>
                <a:tc>
                  <a:txBody>
                    <a:bodyPr/>
                    <a:lstStyle/>
                    <a:p>
                      <a:pPr algn="r"/>
                      <a:r>
                        <a:rPr sz="1000" b="1">
                          <a:solidFill>
                            <a:srgbClr val="1A7A4A"/>
                          </a:solidFill>
                          <a:latin typeface="Calibri"/>
                        </a:rPr>
                        <a:t>28.0%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22.0%</a:t>
                      </a:r>
                    </a:p>
                  </a:txBody>
                  <a:tcPr marL="36576" marR="36576" marT="18288" marB="18288">
                    <a:solidFill>
                      <a:srgbClr val="F4F6F9"/>
                    </a:solidFill>
                  </a:tcPr>
                </a:tc>
                <a:tc>
                  <a:txBody>
                    <a:bodyPr/>
                    <a:lstStyle/>
                    <a:p>
                      <a:pPr algn="r"/>
                      <a:r>
                        <a:rPr sz="1000" b="1">
                          <a:solidFill>
                            <a:srgbClr val="1A7A4A"/>
                          </a:solidFill>
                          <a:latin typeface="Calibri"/>
                        </a:rPr>
                        <a:t>23.0%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RoCE</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13.0%</a:t>
                      </a:r>
                    </a:p>
                  </a:txBody>
                  <a:tcPr marL="36576" marR="36576" marT="18288" marB="18288">
                    <a:solidFill>
                      <a:srgbClr val="FFFFFF"/>
                    </a:solidFill>
                  </a:tcPr>
                </a:tc>
                <a:tc>
                  <a:txBody>
                    <a:bodyPr/>
                    <a:lstStyle/>
                    <a:p>
                      <a:pPr algn="r"/>
                      <a:r>
                        <a:rPr sz="1000" b="1">
                          <a:solidFill>
                            <a:srgbClr val="1A7A4A"/>
                          </a:solidFill>
                          <a:latin typeface="Calibri"/>
                        </a:rPr>
                        <a:t>21.0%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18.0%</a:t>
                      </a:r>
                    </a:p>
                  </a:txBody>
                  <a:tcPr marL="36576" marR="36576" marT="18288" marB="18288">
                    <a:solidFill>
                      <a:srgbClr val="FFFFFF"/>
                    </a:solidFill>
                  </a:tcPr>
                </a:tc>
                <a:tc>
                  <a:txBody>
                    <a:bodyPr/>
                    <a:lstStyle/>
                    <a:p>
                      <a:pPr algn="r"/>
                      <a:r>
                        <a:rPr sz="1000" b="1">
                          <a:solidFill>
                            <a:srgbClr val="1A7A4A"/>
                          </a:solidFill>
                          <a:latin typeface="Calibri"/>
                        </a:rPr>
                        <a:t>19.0%</a:t>
                      </a:r>
                    </a:p>
                  </a:txBody>
                  <a:tcPr marL="36576" marR="36576" marT="18288" marB="18288">
                    <a:solidFill>
                      <a:srgbClr val="FFFFFF"/>
                    </a:solidFill>
                  </a:tcPr>
                </a:tc>
              </a:tr>
              <a:tr h="472440">
                <a:tc>
                  <a:txBody>
                    <a:bodyPr/>
                    <a:lstStyle/>
                    <a:p>
                      <a:r>
                        <a:rPr sz="1000" b="1">
                          <a:solidFill>
                            <a:srgbClr val="5A6573"/>
                          </a:solidFill>
                          <a:latin typeface="Calibri"/>
                        </a:rPr>
                        <a:t>RoIC</a:t>
                      </a:r>
                    </a:p>
                  </a:txBody>
                  <a:tcPr marL="36576" marR="36576" marT="18288" marB="18288">
                    <a:solidFill>
                      <a:srgbClr val="F4F6F9"/>
                    </a:solidFill>
                  </a:tcPr>
                </a:tc>
                <a:tc>
                  <a:txBody>
                    <a:bodyPr/>
                    <a:lstStyle/>
                    <a:p>
                      <a:pPr algn="r"/>
                      <a:r>
                        <a:rPr sz="1000" b="1">
                          <a:solidFill>
                            <a:srgbClr val="1A7A4A"/>
                          </a:solidFill>
                          <a:latin typeface="Calibri"/>
                        </a:rPr>
                        <a:t>92.0%</a:t>
                      </a:r>
                    </a:p>
                  </a:txBody>
                  <a:tcPr marL="36576" marR="36576" marT="18288" marB="18288">
                    <a:solidFill>
                      <a:srgbClr val="F4F6F9"/>
                    </a:solidFill>
                  </a:tcPr>
                </a:tc>
                <a:tc>
                  <a:txBody>
                    <a:bodyPr/>
                    <a:lstStyle/>
                    <a:p>
                      <a:pPr algn="r"/>
                      <a:r>
                        <a:rPr sz="1000" b="1">
                          <a:solidFill>
                            <a:srgbClr val="1A7A4A"/>
                          </a:solidFill>
                          <a:latin typeface="Calibri"/>
                        </a:rPr>
                        <a:t>78.0%</a:t>
                      </a:r>
                    </a:p>
                  </a:txBody>
                  <a:tcPr marL="36576" marR="36576" marT="18288" marB="18288">
                    <a:solidFill>
                      <a:srgbClr val="F4F6F9"/>
                    </a:solidFill>
                  </a:tcPr>
                </a:tc>
                <a:tc>
                  <a:txBody>
                    <a:bodyPr/>
                    <a:lstStyle/>
                    <a:p>
                      <a:pPr algn="r"/>
                      <a:r>
                        <a:rPr sz="1000" b="1">
                          <a:solidFill>
                            <a:srgbClr val="1A7A4A"/>
                          </a:solidFill>
                          <a:latin typeface="Calibri"/>
                        </a:rPr>
                        <a:t>119.0%</a:t>
                      </a:r>
                    </a:p>
                  </a:txBody>
                  <a:tcPr marL="36576" marR="36576" marT="18288" marB="18288">
                    <a:solidFill>
                      <a:srgbClr val="F4F6F9"/>
                    </a:solidFill>
                  </a:tcPr>
                </a:tc>
                <a:tc>
                  <a:txBody>
                    <a:bodyPr/>
                    <a:lstStyle/>
                    <a:p>
                      <a:pPr algn="r"/>
                      <a:r>
                        <a:rPr sz="1000" b="1">
                          <a:solidFill>
                            <a:srgbClr val="1A7A4A"/>
                          </a:solidFill>
                          <a:latin typeface="Calibri"/>
                        </a:rPr>
                        <a:t>87.0%</a:t>
                      </a:r>
                    </a:p>
                  </a:txBody>
                  <a:tcPr marL="36576" marR="36576" marT="18288" marB="18288">
                    <a:solidFill>
                      <a:srgbClr val="F4F6F9"/>
                    </a:solidFill>
                  </a:tcPr>
                </a:tc>
                <a:tc>
                  <a:txBody>
                    <a:bodyPr/>
                    <a:lstStyle/>
                    <a:p>
                      <a:pPr algn="r"/>
                      <a:r>
                        <a:rPr sz="1000" b="1">
                          <a:solidFill>
                            <a:srgbClr val="1A7A4A"/>
                          </a:solidFill>
                          <a:latin typeface="Calibri"/>
                        </a:rPr>
                        <a:t>35.0%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c>
                  <a:txBody>
                    <a:bodyPr/>
                    <a:lstStyle/>
                    <a:p>
                      <a:pPr algn="r"/>
                      <a:r>
                        <a:rPr sz="1000" b="1">
                          <a:solidFill>
                            <a:srgbClr val="1A7A4A"/>
                          </a:solidFill>
                          <a:latin typeface="Calibri"/>
                        </a:rPr>
                        <a:t>24.0%</a:t>
                      </a:r>
                    </a:p>
                  </a:txBody>
                  <a:tcPr marL="36576" marR="36576" marT="18288" marB="18288">
                    <a:solidFill>
                      <a:srgbClr val="F4F6F9"/>
                    </a:solidFill>
                  </a:tcPr>
                </a:tc>
              </a:tr>
              <a:tr h="472440">
                <a:tc>
                  <a:txBody>
                    <a:bodyPr/>
                    <a:lstStyle/>
                    <a:p>
                      <a:r>
                        <a:rPr sz="1000" b="1">
                          <a:solidFill>
                            <a:srgbClr val="5A6573"/>
                          </a:solidFill>
                          <a:latin typeface="Calibri"/>
                        </a:rPr>
                        <a:t>P/E</a:t>
                      </a:r>
                    </a:p>
                  </a:txBody>
                  <a:tcPr marL="36576" marR="36576" marT="18288" marB="18288">
                    <a:solidFill>
                      <a:srgbClr val="FFFFFF"/>
                    </a:solidFill>
                  </a:tcPr>
                </a:tc>
                <a:tc>
                  <a:txBody>
                    <a:bodyPr/>
                    <a:lstStyle/>
                    <a:p>
                      <a:pPr algn="r"/>
                      <a:r>
                        <a:rPr sz="1000">
                          <a:solidFill>
                            <a:srgbClr val="111111"/>
                          </a:solidFill>
                          <a:latin typeface="Calibri"/>
                        </a:rPr>
                        <a:t>37.5x</a:t>
                      </a:r>
                    </a:p>
                  </a:txBody>
                  <a:tcPr marL="36576" marR="36576" marT="18288" marB="18288">
                    <a:solidFill>
                      <a:srgbClr val="FFFFFF"/>
                    </a:solidFill>
                  </a:tcPr>
                </a:tc>
                <a:tc>
                  <a:txBody>
                    <a:bodyPr/>
                    <a:lstStyle/>
                    <a:p>
                      <a:pPr algn="r"/>
                      <a:r>
                        <a:rPr sz="1000">
                          <a:solidFill>
                            <a:srgbClr val="111111"/>
                          </a:solidFill>
                          <a:latin typeface="Calibri"/>
                        </a:rPr>
                        <a:t>52.3x</a:t>
                      </a:r>
                    </a:p>
                  </a:txBody>
                  <a:tcPr marL="36576" marR="36576" marT="18288" marB="18288">
                    <a:solidFill>
                      <a:srgbClr val="FFFFFF"/>
                    </a:solidFill>
                  </a:tcPr>
                </a:tc>
                <a:tc>
                  <a:txBody>
                    <a:bodyPr/>
                    <a:lstStyle/>
                    <a:p>
                      <a:pPr algn="r"/>
                      <a:r>
                        <a:rPr sz="1000">
                          <a:solidFill>
                            <a:srgbClr val="111111"/>
                          </a:solidFill>
                          <a:latin typeface="Calibri"/>
                        </a:rPr>
                        <a:t>20.1x</a:t>
                      </a:r>
                    </a:p>
                  </a:txBody>
                  <a:tcPr marL="36576" marR="36576" marT="18288" marB="18288">
                    <a:solidFill>
                      <a:srgbClr val="FFFFFF"/>
                    </a:solidFill>
                  </a:tcPr>
                </a:tc>
                <a:tc>
                  <a:txBody>
                    <a:bodyPr/>
                    <a:lstStyle/>
                    <a:p>
                      <a:pPr algn="r"/>
                      <a:r>
                        <a:rPr sz="1000">
                          <a:solidFill>
                            <a:srgbClr val="111111"/>
                          </a:solidFill>
                          <a:latin typeface="Calibri"/>
                        </a:rPr>
                        <a:t>19.7x</a:t>
                      </a:r>
                    </a:p>
                  </a:txBody>
                  <a:tcPr marL="36576" marR="36576" marT="18288" marB="18288">
                    <a:solidFill>
                      <a:srgbClr val="FFFFFF"/>
                    </a:solidFill>
                  </a:tcPr>
                </a:tc>
                <a:tc>
                  <a:txBody>
                    <a:bodyPr/>
                    <a:lstStyle/>
                    <a:p>
                      <a:pPr algn="r"/>
                      <a:r>
                        <a:rPr sz="1000">
                          <a:solidFill>
                            <a:srgbClr val="111111"/>
                          </a:solidFill>
                          <a:latin typeface="Calibri"/>
                        </a:rPr>
                        <a:t>16.1x</a:t>
                      </a:r>
                    </a:p>
                  </a:txBody>
                  <a:tcPr marL="36576" marR="36576" marT="18288" marB="18288">
                    <a:solidFill>
                      <a:srgbClr val="FFFFFF"/>
                    </a:solidFill>
                  </a:tcPr>
                </a:tc>
                <a:tc>
                  <a:txBody>
                    <a:bodyPr/>
                    <a:lstStyle/>
                    <a:p>
                      <a:pPr algn="r"/>
                      <a:r>
                        <a:rPr sz="1000">
                          <a:solidFill>
                            <a:srgbClr val="111111"/>
                          </a:solidFill>
                          <a:latin typeface="Calibri"/>
                        </a:rPr>
                        <a:t>12.4x</a:t>
                      </a:r>
                    </a:p>
                  </a:txBody>
                  <a:tcPr marL="36576" marR="36576" marT="18288" marB="18288">
                    <a:solidFill>
                      <a:srgbClr val="FFFFFF"/>
                    </a:solidFill>
                  </a:tcPr>
                </a:tc>
                <a:tc>
                  <a:txBody>
                    <a:bodyPr/>
                    <a:lstStyle/>
                    <a:p>
                      <a:pPr algn="r"/>
                      <a:r>
                        <a:rPr sz="1000">
                          <a:solidFill>
                            <a:srgbClr val="111111"/>
                          </a:solidFill>
                          <a:latin typeface="Calibri"/>
                        </a:rPr>
                        <a:t>9.6x</a:t>
                      </a:r>
                    </a:p>
                  </a:txBody>
                  <a:tcPr marL="36576" marR="36576" marT="18288" marB="18288">
                    <a:solidFill>
                      <a:srgbClr val="FFFFFF"/>
                    </a:solidFill>
                  </a:tcPr>
                </a:tc>
              </a:tr>
              <a:tr h="472440">
                <a:tc>
                  <a:txBody>
                    <a:bodyPr/>
                    <a:lstStyle/>
                    <a:p>
                      <a:r>
                        <a:rPr sz="1000" b="1">
                          <a:solidFill>
                            <a:srgbClr val="5A6573"/>
                          </a:solidFill>
                          <a:latin typeface="Calibri"/>
                        </a:rPr>
                        <a:t>P/B</a:t>
                      </a:r>
                    </a:p>
                  </a:txBody>
                  <a:tcPr marL="36576" marR="36576" marT="18288" marB="18288">
                    <a:solidFill>
                      <a:srgbClr val="F4F6F9"/>
                    </a:solidFill>
                  </a:tcPr>
                </a:tc>
                <a:tc>
                  <a:txBody>
                    <a:bodyPr/>
                    <a:lstStyle/>
                    <a:p>
                      <a:pPr algn="r"/>
                      <a:r>
                        <a:rPr sz="1000">
                          <a:solidFill>
                            <a:srgbClr val="111111"/>
                          </a:solidFill>
                          <a:latin typeface="Calibri"/>
                        </a:rPr>
                        <a:t>8.7x</a:t>
                      </a:r>
                    </a:p>
                  </a:txBody>
                  <a:tcPr marL="36576" marR="36576" marT="18288" marB="18288">
                    <a:solidFill>
                      <a:srgbClr val="F4F6F9"/>
                    </a:solidFill>
                  </a:tcPr>
                </a:tc>
                <a:tc>
                  <a:txBody>
                    <a:bodyPr/>
                    <a:lstStyle/>
                    <a:p>
                      <a:pPr algn="r"/>
                      <a:r>
                        <a:rPr sz="1000">
                          <a:solidFill>
                            <a:srgbClr val="111111"/>
                          </a:solidFill>
                          <a:latin typeface="Calibri"/>
                        </a:rPr>
                        <a:t>7.8x</a:t>
                      </a:r>
                    </a:p>
                  </a:txBody>
                  <a:tcPr marL="36576" marR="36576" marT="18288" marB="18288">
                    <a:solidFill>
                      <a:srgbClr val="F4F6F9"/>
                    </a:solidFill>
                  </a:tcPr>
                </a:tc>
                <a:tc>
                  <a:txBody>
                    <a:bodyPr/>
                    <a:lstStyle/>
                    <a:p>
                      <a:pPr algn="r"/>
                      <a:r>
                        <a:rPr sz="1000">
                          <a:solidFill>
                            <a:srgbClr val="111111"/>
                          </a:solidFill>
                          <a:latin typeface="Calibri"/>
                        </a:rPr>
                        <a:t>5.6x</a:t>
                      </a:r>
                    </a:p>
                  </a:txBody>
                  <a:tcPr marL="36576" marR="36576" marT="18288" marB="18288">
                    <a:solidFill>
                      <a:srgbClr val="F4F6F9"/>
                    </a:solidFill>
                  </a:tcPr>
                </a:tc>
                <a:tc>
                  <a:txBody>
                    <a:bodyPr/>
                    <a:lstStyle/>
                    <a:p>
                      <a:pPr algn="r"/>
                      <a:r>
                        <a:rPr sz="1000">
                          <a:solidFill>
                            <a:srgbClr val="111111"/>
                          </a:solidFill>
                          <a:latin typeface="Calibri"/>
                        </a:rPr>
                        <a:t>4.5x</a:t>
                      </a:r>
                    </a:p>
                  </a:txBody>
                  <a:tcPr marL="36576" marR="36576" marT="18288" marB="18288">
                    <a:solidFill>
                      <a:srgbClr val="F4F6F9"/>
                    </a:solidFill>
                  </a:tcPr>
                </a:tc>
                <a:tc>
                  <a:txBody>
                    <a:bodyPr/>
                    <a:lstStyle/>
                    <a:p>
                      <a:pPr algn="r"/>
                      <a:r>
                        <a:rPr sz="1000">
                          <a:solidFill>
                            <a:srgbClr val="111111"/>
                          </a:solidFill>
                          <a:latin typeface="Calibri"/>
                        </a:rPr>
                        <a:t>3.6x</a:t>
                      </a:r>
                    </a:p>
                  </a:txBody>
                  <a:tcPr marL="36576" marR="36576" marT="18288" marB="18288">
                    <a:solidFill>
                      <a:srgbClr val="F4F6F9"/>
                    </a:solidFill>
                  </a:tcPr>
                </a:tc>
                <a:tc>
                  <a:txBody>
                    <a:bodyPr/>
                    <a:lstStyle/>
                    <a:p>
                      <a:pPr algn="r"/>
                      <a:r>
                        <a:rPr sz="1000">
                          <a:solidFill>
                            <a:srgbClr val="111111"/>
                          </a:solidFill>
                          <a:latin typeface="Calibri"/>
                        </a:rPr>
                        <a:t>2.9x</a:t>
                      </a:r>
                    </a:p>
                  </a:txBody>
                  <a:tcPr marL="36576" marR="36576" marT="18288" marB="18288">
                    <a:solidFill>
                      <a:srgbClr val="F4F6F9"/>
                    </a:solidFill>
                  </a:tcPr>
                </a:tc>
                <a:tc>
                  <a:txBody>
                    <a:bodyPr/>
                    <a:lstStyle/>
                    <a:p>
                      <a:pPr algn="r"/>
                      <a:r>
                        <a:rPr sz="1000">
                          <a:solidFill>
                            <a:srgbClr val="111111"/>
                          </a:solidFill>
                          <a:latin typeface="Calibri"/>
                        </a:rPr>
                        <a:t>2.3x</a:t>
                      </a:r>
                    </a:p>
                  </a:txBody>
                  <a:tcPr marL="36576" marR="36576" marT="18288" marB="18288">
                    <a:solidFill>
                      <a:srgbClr val="F4F6F9"/>
                    </a:solidFill>
                  </a:tcPr>
                </a:tc>
              </a:tr>
              <a:tr h="472440">
                <a:tc>
                  <a:txBody>
                    <a:bodyPr/>
                    <a:lstStyle/>
                    <a:p>
                      <a:r>
                        <a:rPr sz="1000" b="1">
                          <a:solidFill>
                            <a:srgbClr val="1F4690"/>
                          </a:solidFill>
                          <a:latin typeface="Calibri"/>
                        </a:rPr>
                        <a:t>EV/EBITDA</a:t>
                      </a:r>
                    </a:p>
                  </a:txBody>
                  <a:tcPr marL="36576" marR="36576" marT="18288" marB="18288">
                    <a:solidFill>
                      <a:srgbClr val="FFF3E0"/>
                    </a:solidFill>
                  </a:tcPr>
                </a:tc>
                <a:tc>
                  <a:txBody>
                    <a:bodyPr/>
                    <a:lstStyle/>
                    <a:p>
                      <a:pPr algn="r"/>
                      <a:r>
                        <a:rPr sz="1000" b="1">
                          <a:solidFill>
                            <a:srgbClr val="1F4690"/>
                          </a:solidFill>
                          <a:latin typeface="Calibri"/>
                        </a:rPr>
                        <a:t>9.0x</a:t>
                      </a:r>
                    </a:p>
                  </a:txBody>
                  <a:tcPr marL="36576" marR="36576" marT="18288" marB="18288">
                    <a:solidFill>
                      <a:srgbClr val="FFF3E0"/>
                    </a:solidFill>
                  </a:tcPr>
                </a:tc>
                <a:tc>
                  <a:txBody>
                    <a:bodyPr/>
                    <a:lstStyle/>
                    <a:p>
                      <a:pPr algn="r"/>
                      <a:r>
                        <a:rPr sz="1000" b="1">
                          <a:solidFill>
                            <a:srgbClr val="1F4690"/>
                          </a:solidFill>
                          <a:latin typeface="Calibri"/>
                        </a:rPr>
                        <a:t>10.3x</a:t>
                      </a:r>
                    </a:p>
                  </a:txBody>
                  <a:tcPr marL="36576" marR="36576" marT="18288" marB="18288">
                    <a:solidFill>
                      <a:srgbClr val="FFF3E0"/>
                    </a:solidFill>
                  </a:tcPr>
                </a:tc>
                <a:tc>
                  <a:txBody>
                    <a:bodyPr/>
                    <a:lstStyle/>
                    <a:p>
                      <a:pPr algn="r"/>
                      <a:r>
                        <a:rPr sz="1000" b="1">
                          <a:solidFill>
                            <a:srgbClr val="1F4690"/>
                          </a:solidFill>
                          <a:latin typeface="Calibri"/>
                        </a:rPr>
                        <a:t>9.5x</a:t>
                      </a:r>
                    </a:p>
                  </a:txBody>
                  <a:tcPr marL="36576" marR="36576" marT="18288" marB="18288">
                    <a:solidFill>
                      <a:srgbClr val="FFF3E0"/>
                    </a:solidFill>
                  </a:tcPr>
                </a:tc>
                <a:tc>
                  <a:txBody>
                    <a:bodyPr/>
                    <a:lstStyle/>
                    <a:p>
                      <a:pPr algn="r"/>
                      <a:r>
                        <a:rPr sz="1000" b="1">
                          <a:solidFill>
                            <a:srgbClr val="1F4690"/>
                          </a:solidFill>
                          <a:latin typeface="Calibri"/>
                        </a:rPr>
                        <a:t>11.4x</a:t>
                      </a:r>
                    </a:p>
                  </a:txBody>
                  <a:tcPr marL="36576" marR="36576" marT="18288" marB="18288">
                    <a:solidFill>
                      <a:srgbClr val="FFF3E0"/>
                    </a:solidFill>
                  </a:tcPr>
                </a:tc>
                <a:tc>
                  <a:txBody>
                    <a:bodyPr/>
                    <a:lstStyle/>
                    <a:p>
                      <a:pPr algn="r"/>
                      <a:r>
                        <a:rPr sz="1000" b="1">
                          <a:solidFill>
                            <a:srgbClr val="1F4690"/>
                          </a:solidFill>
                          <a:latin typeface="Calibri"/>
                        </a:rPr>
                        <a:t>12.7x</a:t>
                      </a:r>
                    </a:p>
                  </a:txBody>
                  <a:tcPr marL="36576" marR="36576" marT="18288" marB="18288">
                    <a:solidFill>
                      <a:srgbClr val="FFF3E0"/>
                    </a:solidFill>
                  </a:tcPr>
                </a:tc>
                <a:tc>
                  <a:txBody>
                    <a:bodyPr/>
                    <a:lstStyle/>
                    <a:p>
                      <a:pPr algn="r"/>
                      <a:r>
                        <a:rPr sz="1000" b="1">
                          <a:solidFill>
                            <a:srgbClr val="1F4690"/>
                          </a:solidFill>
                          <a:latin typeface="Calibri"/>
                        </a:rPr>
                        <a:t>10.5x</a:t>
                      </a:r>
                    </a:p>
                  </a:txBody>
                  <a:tcPr marL="36576" marR="36576" marT="18288" marB="18288">
                    <a:solidFill>
                      <a:srgbClr val="FFF3E0"/>
                    </a:solidFill>
                  </a:tcPr>
                </a:tc>
                <a:tc>
                  <a:txBody>
                    <a:bodyPr/>
                    <a:lstStyle/>
                    <a:p>
                      <a:pPr algn="r"/>
                      <a:r>
                        <a:rPr sz="1000" b="1">
                          <a:solidFill>
                            <a:srgbClr val="1F4690"/>
                          </a:solidFill>
                          <a:latin typeface="Calibri"/>
                        </a:rPr>
                        <a:t>8.8x</a:t>
                      </a:r>
                    </a:p>
                  </a:txBody>
                  <a:tcPr marL="36576" marR="36576" marT="18288" marB="18288">
                    <a:solidFill>
                      <a:srgbClr val="FFF3E0"/>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Valuation — Methods Summary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12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12</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Valuation — Methods Summary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Probability-weighted target price reconciles bull, base, and bear cases.</a:t>
            </a:r>
          </a:p>
        </p:txBody>
      </p:sp>
      <p:graphicFrame>
        <p:nvGraphicFramePr>
          <p:cNvPr id="19" name="Table 18"/>
          <p:cNvGraphicFramePr>
            <a:graphicFrameLocks noGrp="1"/>
          </p:cNvGraphicFramePr>
          <p:nvPr/>
        </p:nvGraphicFramePr>
        <p:xfrm>
          <a:off x="457200" y="2194560"/>
          <a:ext cx="11277292" cy="3108960"/>
        </p:xfrm>
        <a:graphic>
          <a:graphicData uri="http://schemas.openxmlformats.org/drawingml/2006/table">
            <a:tbl>
              <a:tblPr firstRow="1" bandRow="1">
                <a:tableStyleId>{5C22544A-7EE6-4342-B048-85BDC9FD1C3A}</a:tableStyleId>
              </a:tblPr>
              <a:tblGrid>
                <a:gridCol w="2819323"/>
                <a:gridCol w="2819323"/>
                <a:gridCol w="2819323"/>
                <a:gridCol w="2819323"/>
              </a:tblGrid>
              <a:tr h="77724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Target</a:t>
                      </a:r>
                    </a:p>
                  </a:txBody>
                  <a:tcPr marL="36576" marR="36576" marT="18288" marB="18288">
                    <a:solidFill>
                      <a:srgbClr val="1F4690"/>
                    </a:solidFill>
                  </a:tcPr>
                </a:tc>
                <a:tc>
                  <a:txBody>
                    <a:bodyPr/>
                    <a:lstStyle/>
                    <a:p>
                      <a:pPr algn="r"/>
                      <a:r>
                        <a:rPr b="1" sz="1200">
                          <a:solidFill>
                            <a:srgbClr val="FFFFFF"/>
                          </a:solidFill>
                          <a:latin typeface="Calibri"/>
                        </a:rPr>
                        <a:t>Weight</a:t>
                      </a:r>
                    </a:p>
                  </a:txBody>
                  <a:tcPr marL="36576" marR="36576" marT="18288" marB="18288">
                    <a:solidFill>
                      <a:srgbClr val="1F4690"/>
                    </a:solidFill>
                  </a:tcPr>
                </a:tc>
                <a:tc>
                  <a:txBody>
                    <a:bodyPr/>
                    <a:lstStyle/>
                    <a:p>
                      <a:pPr algn="r"/>
                      <a:r>
                        <a:rPr b="1" sz="1200">
                          <a:solidFill>
                            <a:srgbClr val="FFFFFF"/>
                          </a:solidFill>
                          <a:latin typeface="Calibri"/>
                        </a:rPr>
                        <a:t>Basis</a:t>
                      </a:r>
                    </a:p>
                  </a:txBody>
                  <a:tcPr marL="36576" marR="36576" marT="18288" marB="18288">
                    <a:solidFill>
                      <a:srgbClr val="1F4690"/>
                    </a:solidFill>
                  </a:tcPr>
                </a:tc>
              </a:tr>
              <a:tr h="777240">
                <a:tc>
                  <a:txBody>
                    <a:bodyPr/>
                    <a:lstStyle/>
                    <a:p>
                      <a:r>
                        <a:rPr sz="1200" b="1">
                          <a:solidFill>
                            <a:srgbClr val="5A6573"/>
                          </a:solidFill>
                          <a:latin typeface="Calibri"/>
                        </a:rPr>
                        <a:t>Bull Case</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b="1">
                          <a:solidFill>
                            <a:srgbClr val="1A7A4A"/>
                          </a:solidFill>
                          <a:latin typeface="Calibri"/>
                        </a:rPr>
                        <a:t>28x P/E on FY27E EPS of INR 50; ARR &gt; 70%, AMC +40% YoY.</a:t>
                      </a:r>
                    </a:p>
                  </a:txBody>
                  <a:tcPr marL="36576" marR="36576" marT="18288" marB="18288">
                    <a:solidFill>
                      <a:srgbClr val="F4F6F9"/>
                    </a:solidFill>
                  </a:tcPr>
                </a:tc>
              </a:tr>
              <a:tr h="777240">
                <a:tc>
                  <a:txBody>
                    <a:bodyPr/>
                    <a:lstStyle/>
                    <a:p>
                      <a:r>
                        <a:rPr sz="1200" b="1">
                          <a:solidFill>
                            <a:srgbClr val="5A6573"/>
                          </a:solidFill>
                          <a:latin typeface="Calibri"/>
                        </a:rPr>
                        <a:t>Base Case</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b="1">
                          <a:solidFill>
                            <a:srgbClr val="1A7A4A"/>
                          </a:solidFill>
                          <a:latin typeface="Calibri"/>
                        </a:rPr>
                        <a:t>24x P/E on FY27E EPS of INR 47; ARR stable at 65%, steady AUM.</a:t>
                      </a:r>
                    </a:p>
                  </a:txBody>
                  <a:tcPr marL="36576" marR="36576" marT="18288" marB="18288">
                    <a:solidFill>
                      <a:srgbClr val="FFFFFF"/>
                    </a:solidFill>
                  </a:tcPr>
                </a:tc>
              </a:tr>
              <a:tr h="777240">
                <a:tc>
                  <a:txBody>
                    <a:bodyPr/>
                    <a:lstStyle/>
                    <a:p>
                      <a:r>
                        <a:rPr sz="1200" b="1">
                          <a:solidFill>
                            <a:srgbClr val="5A6573"/>
                          </a:solidFill>
                          <a:latin typeface="Calibri"/>
                        </a:rPr>
                        <a:t>Bear Case</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18x P/E on depressed FY27E EPS of INR 35; sustained regulatory headwinds.</a:t>
                      </a:r>
                    </a:p>
                  </a:txBody>
                  <a:tcPr marL="36576" marR="36576" marT="18288" marB="18288">
                    <a:solidFill>
                      <a:srgbClr val="F4F6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Scenario Analysis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13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13</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Scenario Analysis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8" name="Table 17"/>
          <p:cNvGraphicFramePr>
            <a:graphicFrameLocks noGrp="1"/>
          </p:cNvGraphicFramePr>
          <p:nvPr/>
        </p:nvGraphicFramePr>
        <p:xfrm>
          <a:off x="457200" y="1417320"/>
          <a:ext cx="11277294" cy="5029200"/>
        </p:xfrm>
        <a:graphic>
          <a:graphicData uri="http://schemas.openxmlformats.org/drawingml/2006/table">
            <a:tbl>
              <a:tblPr firstRow="1" bandRow="1">
                <a:tableStyleId>{5C22544A-7EE6-4342-B048-85BDC9FD1C3A}</a:tableStyleId>
              </a:tblPr>
              <a:tblGrid>
                <a:gridCol w="1879549"/>
                <a:gridCol w="1879549"/>
                <a:gridCol w="1879549"/>
                <a:gridCol w="1879549"/>
                <a:gridCol w="1879549"/>
                <a:gridCol w="1879549"/>
              </a:tblGrid>
              <a:tr h="1257300">
                <a:tc>
                  <a:txBody>
                    <a:bodyPr/>
                    <a:lstStyle/>
                    <a:p>
                      <a:r>
                        <a:rPr b="1" sz="1200">
                          <a:solidFill>
                            <a:srgbClr val="FFFFFF"/>
                          </a:solidFill>
                          <a:latin typeface="Calibri"/>
                        </a:rPr>
                        <a:t>Case</a:t>
                      </a:r>
                    </a:p>
                  </a:txBody>
                  <a:tcPr marL="36576" marR="36576" marT="18288" marB="18288">
                    <a:solidFill>
                      <a:srgbClr val="1F4690"/>
                    </a:solidFill>
                  </a:tcPr>
                </a:tc>
                <a:tc>
                  <a:txBody>
                    <a:bodyPr/>
                    <a:lstStyle/>
                    <a:p>
                      <a:pPr algn="r"/>
                      <a:r>
                        <a:rPr b="1" sz="1200">
                          <a:solidFill>
                            <a:srgbClr val="FFFFFF"/>
                          </a:solidFill>
                          <a:latin typeface="Calibri"/>
                        </a:rPr>
                        <a:t>Rev CAGR</a:t>
                      </a:r>
                    </a:p>
                  </a:txBody>
                  <a:tcPr marL="36576" marR="36576" marT="18288" marB="18288">
                    <a:solidFill>
                      <a:srgbClr val="1F4690"/>
                    </a:solidFill>
                  </a:tcPr>
                </a:tc>
                <a:tc>
                  <a:txBody>
                    <a:bodyPr/>
                    <a:lstStyle/>
                    <a:p>
                      <a:pPr algn="r"/>
                      <a:r>
                        <a:rPr b="1" sz="1200">
                          <a:solidFill>
                            <a:srgbClr val="FFFFFF"/>
                          </a:solidFill>
                          <a:latin typeface="Calibri"/>
                        </a:rPr>
                        <a:t>EBITDA Mgn</a:t>
                      </a:r>
                    </a:p>
                  </a:txBody>
                  <a:tcPr marL="36576" marR="36576" marT="18288" marB="18288">
                    <a:solidFill>
                      <a:srgbClr val="1F4690"/>
                    </a:solidFill>
                  </a:tcPr>
                </a:tc>
                <a:tc>
                  <a:txBody>
                    <a:bodyPr/>
                    <a:lstStyle/>
                    <a:p>
                      <a:pPr algn="r"/>
                      <a:r>
                        <a:rPr b="1" sz="1200">
                          <a:solidFill>
                            <a:srgbClr val="FFFFFF"/>
                          </a:solidFill>
                          <a:latin typeface="Calibri"/>
                        </a:rPr>
                        <a:t>Target Price</a:t>
                      </a:r>
                    </a:p>
                  </a:txBody>
                  <a:tcPr marL="36576" marR="36576" marT="18288" marB="18288">
                    <a:solidFill>
                      <a:srgbClr val="1F4690"/>
                    </a:solidFill>
                  </a:tcPr>
                </a:tc>
                <a:tc>
                  <a:txBody>
                    <a:bodyPr/>
                    <a:lstStyle/>
                    <a:p>
                      <a:pPr algn="r"/>
                      <a:r>
                        <a:rPr b="1" sz="1200">
                          <a:solidFill>
                            <a:srgbClr val="FFFFFF"/>
                          </a:solidFill>
                          <a:latin typeface="Calibri"/>
                        </a:rPr>
                        <a:t>Probability</a:t>
                      </a:r>
                    </a:p>
                  </a:txBody>
                  <a:tcPr marL="36576" marR="36576" marT="18288" marB="18288">
                    <a:solidFill>
                      <a:srgbClr val="1F4690"/>
                    </a:solidFill>
                  </a:tcPr>
                </a:tc>
                <a:tc>
                  <a:txBody>
                    <a:bodyPr/>
                    <a:lstStyle/>
                    <a:p>
                      <a:pPr algn="r"/>
                      <a:r>
                        <a:rPr b="1" sz="1200">
                          <a:solidFill>
                            <a:srgbClr val="FFFFFF"/>
                          </a:solidFill>
                          <a:latin typeface="Calibri"/>
                        </a:rPr>
                        <a:t>Drivers</a:t>
                      </a:r>
                    </a:p>
                  </a:txBody>
                  <a:tcPr marL="36576" marR="36576" marT="18288" marB="18288">
                    <a:solidFill>
                      <a:srgbClr val="1F4690"/>
                    </a:solidFill>
                  </a:tcPr>
                </a:tc>
              </a:tr>
              <a:tr h="1257300">
                <a:tc>
                  <a:txBody>
                    <a:bodyPr/>
                    <a:lstStyle/>
                    <a:p>
                      <a:r>
                        <a:rPr sz="1200" b="1">
                          <a:solidFill>
                            <a:srgbClr val="5A6573"/>
                          </a:solidFill>
                          <a:latin typeface="Calibri"/>
                        </a:rPr>
                        <a:t>Bull</a:t>
                      </a:r>
                    </a:p>
                  </a:txBody>
                  <a:tcPr marL="36576" marR="36576" marT="18288" marB="18288">
                    <a:solidFill>
                      <a:srgbClr val="F4F6F9"/>
                    </a:solidFill>
                  </a:tcPr>
                </a:tc>
                <a:tc>
                  <a:txBody>
                    <a:bodyPr/>
                    <a:lstStyle/>
                    <a:p>
                      <a:pPr algn="r"/>
                      <a:r>
                        <a:rPr sz="1200" b="1">
                          <a:solidFill>
                            <a:srgbClr val="1A7A4A"/>
                          </a:solidFill>
                          <a:latin typeface="Calibri"/>
                        </a:rPr>
                        <a:t>27.5%</a:t>
                      </a:r>
                    </a:p>
                  </a:txBody>
                  <a:tcPr marL="36576" marR="36576" marT="18288" marB="18288">
                    <a:solidFill>
                      <a:srgbClr val="F4F6F9"/>
                    </a:solidFill>
                  </a:tcPr>
                </a:tc>
                <a:tc>
                  <a:txBody>
                    <a:bodyPr/>
                    <a:lstStyle/>
                    <a:p>
                      <a:pPr algn="r"/>
                      <a:r>
                        <a:rPr sz="1200" b="1">
                          <a:solidFill>
                            <a:srgbClr val="1A7A4A"/>
                          </a:solidFill>
                          <a:latin typeface="Calibri"/>
                        </a:rPr>
                        <a:t>55.0%</a:t>
                      </a:r>
                    </a:p>
                  </a:txBody>
                  <a:tcPr marL="36576" marR="36576" marT="18288" marB="18288">
                    <a:solidFill>
                      <a:srgbClr val="F4F6F9"/>
                    </a:solidFill>
                  </a:tcPr>
                </a:tc>
                <a:tc>
                  <a:txBody>
                    <a:bodyPr/>
                    <a:lstStyle/>
                    <a:p>
                      <a:pPr algn="r"/>
                      <a:r>
                        <a:rPr sz="1200">
                          <a:solidFill>
                            <a:srgbClr val="111111"/>
                          </a:solidFill>
                          <a:latin typeface="Calibri"/>
                        </a:rPr>
                        <a:t>1,400.0</a:t>
                      </a:r>
                    </a:p>
                  </a:txBody>
                  <a:tcPr marL="36576" marR="36576" marT="18288" marB="18288">
                    <a:solidFill>
                      <a:srgbClr val="F4F6F9"/>
                    </a:solidFill>
                  </a:tcPr>
                </a:tc>
                <a:tc>
                  <a:txBody>
                    <a:bodyPr/>
                    <a:lstStyle/>
                    <a:p>
                      <a:pPr algn="r"/>
                      <a:r>
                        <a:rPr sz="1200" b="1">
                          <a:solidFill>
                            <a:srgbClr val="1A7A4A"/>
                          </a:solidFill>
                          <a:latin typeface="Calibri"/>
                        </a:rPr>
                        <a:t>30.0%</a:t>
                      </a:r>
                    </a:p>
                  </a:txBody>
                  <a:tcPr marL="36576" marR="36576" marT="18288" marB="18288">
                    <a:solidFill>
                      <a:srgbClr val="F4F6F9"/>
                    </a:solidFill>
                  </a:tcPr>
                </a:tc>
                <a:tc>
                  <a:txBody>
                    <a:bodyPr/>
                    <a:lstStyle/>
                    <a:p>
                      <a:pPr algn="r"/>
                      <a:r>
                        <a:rPr sz="1200">
                          <a:solidFill>
                            <a:srgbClr val="111111"/>
                          </a:solidFill>
                          <a:latin typeface="Calibri"/>
                        </a:rPr>
                        <a:t>ARR &gt; 70%, AMC AUM +40% YoY, regulatory clarity.</a:t>
                      </a:r>
                    </a:p>
                  </a:txBody>
                  <a:tcPr marL="36576" marR="36576" marT="18288" marB="18288">
                    <a:solidFill>
                      <a:srgbClr val="F4F6F9"/>
                    </a:solidFill>
                  </a:tcPr>
                </a:tc>
              </a:tr>
              <a:tr h="1257300">
                <a:tc>
                  <a:txBody>
                    <a:bodyPr/>
                    <a:lstStyle/>
                    <a:p>
                      <a:r>
                        <a:rPr sz="1200" b="1">
                          <a:solidFill>
                            <a:srgbClr val="5A6573"/>
                          </a:solidFill>
                          <a:latin typeface="Calibri"/>
                        </a:rPr>
                        <a:t>Base</a:t>
                      </a:r>
                    </a:p>
                  </a:txBody>
                  <a:tcPr marL="36576" marR="36576" marT="18288" marB="18288">
                    <a:solidFill>
                      <a:srgbClr val="FFFFFF"/>
                    </a:solidFill>
                  </a:tcPr>
                </a:tc>
                <a:tc>
                  <a:txBody>
                    <a:bodyPr/>
                    <a:lstStyle/>
                    <a:p>
                      <a:pPr algn="r"/>
                      <a:r>
                        <a:rPr sz="1200" b="1">
                          <a:solidFill>
                            <a:srgbClr val="1A7A4A"/>
                          </a:solidFill>
                          <a:latin typeface="Calibri"/>
                        </a:rPr>
                        <a:t>16.0%</a:t>
                      </a:r>
                    </a:p>
                  </a:txBody>
                  <a:tcPr marL="36576" marR="36576" marT="18288" marB="18288">
                    <a:solidFill>
                      <a:srgbClr val="FFFFFF"/>
                    </a:solidFill>
                  </a:tcPr>
                </a:tc>
                <a:tc>
                  <a:txBody>
                    <a:bodyPr/>
                    <a:lstStyle/>
                    <a:p>
                      <a:pPr algn="r"/>
                      <a:r>
                        <a:rPr sz="1200" b="1">
                          <a:solidFill>
                            <a:srgbClr val="1A7A4A"/>
                          </a:solidFill>
                          <a:latin typeface="Calibri"/>
                        </a:rPr>
                        <a:t>51.0%</a:t>
                      </a:r>
                    </a:p>
                  </a:txBody>
                  <a:tcPr marL="36576" marR="36576" marT="18288" marB="18288">
                    <a:solidFill>
                      <a:srgbClr val="FFFFFF"/>
                    </a:solidFill>
                  </a:tcPr>
                </a:tc>
                <a:tc>
                  <a:txBody>
                    <a:bodyPr/>
                    <a:lstStyle/>
                    <a:p>
                      <a:pPr algn="r"/>
                      <a:r>
                        <a:rPr sz="1200">
                          <a:solidFill>
                            <a:srgbClr val="111111"/>
                          </a:solidFill>
                          <a:latin typeface="Calibri"/>
                        </a:rPr>
                        <a:t>1,127.0</a:t>
                      </a:r>
                    </a:p>
                  </a:txBody>
                  <a:tcPr marL="36576" marR="36576" marT="18288" marB="18288">
                    <a:solidFill>
                      <a:srgbClr val="FFFFFF"/>
                    </a:solidFill>
                  </a:tcPr>
                </a:tc>
                <a:tc>
                  <a:txBody>
                    <a:bodyPr/>
                    <a:lstStyle/>
                    <a:p>
                      <a:pPr algn="r"/>
                      <a:r>
                        <a:rPr sz="1200" b="1">
                          <a:solidFill>
                            <a:srgbClr val="1A7A4A"/>
                          </a:solidFill>
                          <a:latin typeface="Calibri"/>
                        </a:rPr>
                        <a:t>50.0%</a:t>
                      </a:r>
                    </a:p>
                  </a:txBody>
                  <a:tcPr marL="36576" marR="36576" marT="18288" marB="18288">
                    <a:solidFill>
                      <a:srgbClr val="FFFFFF"/>
                    </a:solidFill>
                  </a:tcPr>
                </a:tc>
                <a:tc>
                  <a:txBody>
                    <a:bodyPr/>
                    <a:lstStyle/>
                    <a:p>
                      <a:pPr algn="r"/>
                      <a:r>
                        <a:rPr sz="1200">
                          <a:solidFill>
                            <a:srgbClr val="111111"/>
                          </a:solidFill>
                          <a:latin typeface="Calibri"/>
                        </a:rPr>
                        <a:t>ARR steady at 65%, AUM compounding, stable regulation.</a:t>
                      </a:r>
                    </a:p>
                  </a:txBody>
                  <a:tcPr marL="36576" marR="36576" marT="18288" marB="18288">
                    <a:solidFill>
                      <a:srgbClr val="FFFFFF"/>
                    </a:solidFill>
                  </a:tcPr>
                </a:tc>
              </a:tr>
              <a:tr h="1257300">
                <a:tc>
                  <a:txBody>
                    <a:bodyPr/>
                    <a:lstStyle/>
                    <a:p>
                      <a:r>
                        <a:rPr sz="1200" b="1">
                          <a:solidFill>
                            <a:srgbClr val="5A6573"/>
                          </a:solidFill>
                          <a:latin typeface="Calibri"/>
                        </a:rPr>
                        <a:t>Bear</a:t>
                      </a:r>
                    </a:p>
                  </a:txBody>
                  <a:tcPr marL="36576" marR="36576" marT="18288" marB="18288">
                    <a:solidFill>
                      <a:srgbClr val="F4F6F9"/>
                    </a:solidFill>
                  </a:tcPr>
                </a:tc>
                <a:tc>
                  <a:txBody>
                    <a:bodyPr/>
                    <a:lstStyle/>
                    <a:p>
                      <a:pPr algn="r"/>
                      <a:r>
                        <a:rPr sz="1200" b="1">
                          <a:solidFill>
                            <a:srgbClr val="1A7A4A"/>
                          </a:solidFill>
                          <a:latin typeface="Calibri"/>
                        </a:rPr>
                        <a:t>6.0%</a:t>
                      </a:r>
                    </a:p>
                  </a:txBody>
                  <a:tcPr marL="36576" marR="36576" marT="18288" marB="18288">
                    <a:solidFill>
                      <a:srgbClr val="F4F6F9"/>
                    </a:solidFill>
                  </a:tcPr>
                </a:tc>
                <a:tc>
                  <a:txBody>
                    <a:bodyPr/>
                    <a:lstStyle/>
                    <a:p>
                      <a:pPr algn="r"/>
                      <a:r>
                        <a:rPr sz="1200" b="1">
                          <a:solidFill>
                            <a:srgbClr val="1A7A4A"/>
                          </a:solidFill>
                          <a:latin typeface="Calibri"/>
                        </a:rPr>
                        <a:t>45.0%</a:t>
                      </a:r>
                    </a:p>
                  </a:txBody>
                  <a:tcPr marL="36576" marR="36576" marT="18288" marB="18288">
                    <a:solidFill>
                      <a:srgbClr val="F4F6F9"/>
                    </a:solidFill>
                  </a:tcPr>
                </a:tc>
                <a:tc>
                  <a:txBody>
                    <a:bodyPr/>
                    <a:lstStyle/>
                    <a:p>
                      <a:pPr algn="r"/>
                      <a:r>
                        <a:rPr sz="1200">
                          <a:solidFill>
                            <a:srgbClr val="111111"/>
                          </a:solidFill>
                          <a:latin typeface="Calibri"/>
                        </a:rPr>
                        <a:t>630.0</a:t>
                      </a:r>
                    </a:p>
                  </a:txBody>
                  <a:tcPr marL="36576" marR="36576" marT="18288" marB="18288">
                    <a:solidFill>
                      <a:srgbClr val="F4F6F9"/>
                    </a:solidFill>
                  </a:tcPr>
                </a:tc>
                <a:tc>
                  <a:txBody>
                    <a:bodyPr/>
                    <a:lstStyle/>
                    <a:p>
                      <a:pPr algn="r"/>
                      <a:r>
                        <a:rPr sz="1200" b="1">
                          <a:solidFill>
                            <a:srgbClr val="1A7A4A"/>
                          </a:solidFill>
                          <a:latin typeface="Calibri"/>
                        </a:rPr>
                        <a:t>20.0%</a:t>
                      </a:r>
                    </a:p>
                  </a:txBody>
                  <a:tcPr marL="36576" marR="36576" marT="18288" marB="18288">
                    <a:solidFill>
                      <a:srgbClr val="F4F6F9"/>
                    </a:solidFill>
                  </a:tcPr>
                </a:tc>
                <a:tc>
                  <a:txBody>
                    <a:bodyPr/>
                    <a:lstStyle/>
                    <a:p>
                      <a:pPr algn="r"/>
                      <a:r>
                        <a:rPr sz="1200">
                          <a:solidFill>
                            <a:srgbClr val="111111"/>
                          </a:solidFill>
                          <a:latin typeface="Calibri"/>
                        </a:rPr>
                        <a:t>Sustained F&amp;O headwinds, fintech share loss.</a:t>
                      </a:r>
                    </a:p>
                  </a:txBody>
                  <a:tcPr marL="36576" marR="36576" marT="18288" marB="18288">
                    <a:solidFill>
                      <a:srgbClr val="F4F6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Catalysts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14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14</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Catalysts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 ARR contribution crossing the relevant figure of revenues, triggering valuation re-rating from broking to asset management multiples - Sustained AMC AUM growth above the relevant figure YoY with net flows exceeding the relevant figure crore annually - Private wealth AUM growth above the relevant figure YoY with family count expansion - Operating leverage improvement with cost-to-income ratio declining - Regulatory clarity on F&amp;O trading norms</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crossing the relevant figure of revenues, triggering valuation re-rating from broking to asset m...</a:t>
            </a:r>
          </a:p>
          <a:p>
            <a:pPr>
              <a:spcAft>
                <a:spcPts val="400"/>
              </a:spcAft>
            </a:pPr>
            <a:r>
              <a:rPr sz="1200" b="0">
                <a:solidFill>
                  <a:srgbClr val="111111"/>
                </a:solidFill>
                <a:latin typeface="Calibri"/>
              </a:rPr>
              <a:t>•  Sustained AMC AUM growth above the relevant figure YoY with net flows exceeding the relevant figure crore annually</a:t>
            </a:r>
          </a:p>
          <a:p>
            <a:pPr>
              <a:spcAft>
                <a:spcPts val="400"/>
              </a:spcAft>
            </a:pPr>
            <a:r>
              <a:rPr sz="1200" b="0">
                <a:solidFill>
                  <a:srgbClr val="111111"/>
                </a:solidFill>
                <a:latin typeface="Calibri"/>
              </a:rPr>
              <a:t>•  Private wealth AUM growth above the relevant figure YoY with family count expansion</a:t>
            </a:r>
          </a:p>
          <a:p>
            <a:pPr>
              <a:spcAft>
                <a:spcPts val="400"/>
              </a:spcAft>
            </a:pPr>
            <a:r>
              <a:rPr sz="1200" b="0">
                <a:solidFill>
                  <a:srgbClr val="111111"/>
                </a:solidFill>
                <a:latin typeface="Calibri"/>
              </a:rPr>
              <a:t>•  Operating leverage improvement with cost-to-income ratio declining</a:t>
            </a:r>
          </a:p>
          <a:p>
            <a:pPr>
              <a:spcAft>
                <a:spcPts val="400"/>
              </a:spcAft>
            </a:pPr>
            <a:r>
              <a:rPr sz="1200" b="0">
                <a:solidFill>
                  <a:srgbClr val="111111"/>
                </a:solidFill>
                <a:latin typeface="Calibri"/>
              </a:rPr>
              <a:t>•  Regulatory clarity on F&amp;O trading norms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Management Team</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15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15</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Management Team</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640080"/>
          </a:xfrm>
          <a:prstGeom prst="rect">
            <a:avLst/>
          </a:prstGeom>
          <a:noFill/>
        </p:spPr>
        <p:txBody>
          <a:bodyPr wrap="square" anchor="t" lIns="45720" rIns="45720" tIns="18288" bIns="18288">
            <a:spAutoFit/>
          </a:bodyPr>
          <a:lstStyle/>
          <a:p>
            <a:r>
              <a:rPr sz="1200" b="0">
                <a:solidFill>
                  <a:srgbClr val="111111"/>
                </a:solidFill>
                <a:latin typeface="Calibri"/>
              </a:rPr>
              <a:t>Founder-led leadership with deep institutional DNA.</a:t>
            </a:r>
          </a:p>
        </p:txBody>
      </p:sp>
      <p:graphicFrame>
        <p:nvGraphicFramePr>
          <p:cNvPr id="19" name="Table 18"/>
          <p:cNvGraphicFramePr>
            <a:graphicFrameLocks noGrp="1"/>
          </p:cNvGraphicFramePr>
          <p:nvPr/>
        </p:nvGraphicFramePr>
        <p:xfrm>
          <a:off x="457200" y="2194560"/>
          <a:ext cx="11277294" cy="4251960"/>
        </p:xfrm>
        <a:graphic>
          <a:graphicData uri="http://schemas.openxmlformats.org/drawingml/2006/table">
            <a:tbl>
              <a:tblPr firstRow="1" bandRow="1">
                <a:tableStyleId>{5C22544A-7EE6-4342-B048-85BDC9FD1C3A}</a:tableStyleId>
              </a:tblPr>
              <a:tblGrid>
                <a:gridCol w="3759098"/>
                <a:gridCol w="3759098"/>
                <a:gridCol w="3759098"/>
              </a:tblGrid>
              <a:tr h="850392">
                <a:tc>
                  <a:txBody>
                    <a:bodyPr/>
                    <a:lstStyle/>
                    <a:p>
                      <a:r>
                        <a:rPr b="1" sz="1200">
                          <a:solidFill>
                            <a:srgbClr val="FFFFFF"/>
                          </a:solidFill>
                          <a:latin typeface="Calibri"/>
                        </a:rPr>
                        <a:t>Name</a:t>
                      </a:r>
                    </a:p>
                  </a:txBody>
                  <a:tcPr marL="36576" marR="36576" marT="18288" marB="18288">
                    <a:solidFill>
                      <a:srgbClr val="1F4690"/>
                    </a:solidFill>
                  </a:tcPr>
                </a:tc>
                <a:tc>
                  <a:txBody>
                    <a:bodyPr/>
                    <a:lstStyle/>
                    <a:p>
                      <a:pPr algn="r"/>
                      <a:r>
                        <a:rPr b="1" sz="1200">
                          <a:solidFill>
                            <a:srgbClr val="FFFFFF"/>
                          </a:solidFill>
                          <a:latin typeface="Calibri"/>
                        </a:rPr>
                        <a:t>Role</a:t>
                      </a:r>
                    </a:p>
                  </a:txBody>
                  <a:tcPr marL="36576" marR="36576" marT="18288" marB="18288">
                    <a:solidFill>
                      <a:srgbClr val="1F4690"/>
                    </a:solidFill>
                  </a:tcPr>
                </a:tc>
                <a:tc>
                  <a:txBody>
                    <a:bodyPr/>
                    <a:lstStyle/>
                    <a:p>
                      <a:pPr algn="r"/>
                      <a:r>
                        <a:rPr b="1" sz="1200">
                          <a:solidFill>
                            <a:srgbClr val="FFFFFF"/>
                          </a:solidFill>
                          <a:latin typeface="Calibri"/>
                        </a:rPr>
                        <a:t>Background</a:t>
                      </a:r>
                    </a:p>
                  </a:txBody>
                  <a:tcPr marL="36576" marR="36576" marT="18288" marB="18288">
                    <a:solidFill>
                      <a:srgbClr val="1F4690"/>
                    </a:solidFill>
                  </a:tcPr>
                </a:tc>
              </a:tr>
              <a:tr h="850392">
                <a:tc>
                  <a:txBody>
                    <a:bodyPr/>
                    <a:lstStyle/>
                    <a:p>
                      <a:r>
                        <a:rPr sz="1200" b="1">
                          <a:solidFill>
                            <a:srgbClr val="5A6573"/>
                          </a:solidFill>
                          <a:latin typeface="Calibri"/>
                        </a:rPr>
                        <a:t>Raamdeo Agrawal</a:t>
                      </a:r>
                    </a:p>
                  </a:txBody>
                  <a:tcPr marL="36576" marR="36576" marT="18288" marB="18288">
                    <a:solidFill>
                      <a:srgbClr val="F4F6F9"/>
                    </a:solidFill>
                  </a:tcPr>
                </a:tc>
                <a:tc>
                  <a:txBody>
                    <a:bodyPr/>
                    <a:lstStyle/>
                    <a:p>
                      <a:pPr algn="r"/>
                      <a:r>
                        <a:rPr sz="1200">
                          <a:solidFill>
                            <a:srgbClr val="111111"/>
                          </a:solidFill>
                          <a:latin typeface="Calibri"/>
                        </a:rPr>
                        <a:t>Chairman, MOFSL &amp; Chairman, AMC</a:t>
                      </a:r>
                    </a:p>
                  </a:txBody>
                  <a:tcPr marL="36576" marR="36576" marT="18288" marB="18288">
                    <a:solidFill>
                      <a:srgbClr val="F4F6F9"/>
                    </a:solidFill>
                  </a:tcPr>
                </a:tc>
                <a:tc>
                  <a:txBody>
                    <a:bodyPr/>
                    <a:lstStyle/>
                    <a:p>
                      <a:pPr algn="r"/>
                      <a:r>
                        <a:rPr sz="1200">
                          <a:solidFill>
                            <a:srgbClr val="111111"/>
                          </a:solidFill>
                          <a:latin typeface="Calibri"/>
                        </a:rPr>
                        <a:t>Co-founder (1987). Creator of the QGLP investment process and 'Buy Right, Sit Tight' framework. Built one of India's most respected investment research franchises. Widely cited investment thinker.</a:t>
                      </a:r>
                    </a:p>
                  </a:txBody>
                  <a:tcPr marL="36576" marR="36576" marT="18288" marB="18288">
                    <a:solidFill>
                      <a:srgbClr val="F4F6F9"/>
                    </a:solidFill>
                  </a:tcPr>
                </a:tc>
              </a:tr>
              <a:tr h="850392">
                <a:tc>
                  <a:txBody>
                    <a:bodyPr/>
                    <a:lstStyle/>
                    <a:p>
                      <a:r>
                        <a:rPr sz="1200" b="1">
                          <a:solidFill>
                            <a:srgbClr val="5A6573"/>
                          </a:solidFill>
                          <a:latin typeface="Calibri"/>
                        </a:rPr>
                        <a:t>Motilal Oswal</a:t>
                      </a:r>
                    </a:p>
                  </a:txBody>
                  <a:tcPr marL="36576" marR="36576" marT="18288" marB="18288">
                    <a:solidFill>
                      <a:srgbClr val="FFFFFF"/>
                    </a:solidFill>
                  </a:tcPr>
                </a:tc>
                <a:tc>
                  <a:txBody>
                    <a:bodyPr/>
                    <a:lstStyle/>
                    <a:p>
                      <a:pPr algn="r"/>
                      <a:r>
                        <a:rPr sz="1200">
                          <a:solidFill>
                            <a:srgbClr val="111111"/>
                          </a:solidFill>
                          <a:latin typeface="Calibri"/>
                        </a:rPr>
                        <a:t>Founder, Chairman &amp; MD</a:t>
                      </a:r>
                    </a:p>
                  </a:txBody>
                  <a:tcPr marL="36576" marR="36576" marT="18288" marB="18288">
                    <a:solidFill>
                      <a:srgbClr val="FFFFFF"/>
                    </a:solidFill>
                  </a:tcPr>
                </a:tc>
                <a:tc>
                  <a:txBody>
                    <a:bodyPr/>
                    <a:lstStyle/>
                    <a:p>
                      <a:pPr algn="r"/>
                      <a:r>
                        <a:rPr sz="1200">
                          <a:solidFill>
                            <a:srgbClr val="111111"/>
                          </a:solidFill>
                          <a:latin typeface="Calibri"/>
                        </a:rPr>
                        <a:t>Co-founder (1987). Led the firm's transformation from broking house into a comprehensive financial services platform. Recipient of Rashtriya Samman Patra for being among the highest taxpayers FY95–FY99.</a:t>
                      </a:r>
                    </a:p>
                  </a:txBody>
                  <a:tcPr marL="36576" marR="36576" marT="18288" marB="18288">
                    <a:solidFill>
                      <a:srgbClr val="FFFFFF"/>
                    </a:solidFill>
                  </a:tcPr>
                </a:tc>
              </a:tr>
              <a:tr h="850392">
                <a:tc>
                  <a:txBody>
                    <a:bodyPr/>
                    <a:lstStyle/>
                    <a:p>
                      <a:r>
                        <a:rPr sz="1200" b="1">
                          <a:solidFill>
                            <a:srgbClr val="5A6573"/>
                          </a:solidFill>
                          <a:latin typeface="Calibri"/>
                        </a:rPr>
                        <a:t>Navin Agarwal</a:t>
                      </a:r>
                    </a:p>
                  </a:txBody>
                  <a:tcPr marL="36576" marR="36576" marT="18288" marB="18288">
                    <a:solidFill>
                      <a:srgbClr val="F4F6F9"/>
                    </a:solidFill>
                  </a:tcPr>
                </a:tc>
                <a:tc>
                  <a:txBody>
                    <a:bodyPr/>
                    <a:lstStyle/>
                    <a:p>
                      <a:pPr algn="r"/>
                      <a:r>
                        <a:rPr sz="1200">
                          <a:solidFill>
                            <a:srgbClr val="111111"/>
                          </a:solidFill>
                          <a:latin typeface="Calibri"/>
                        </a:rPr>
                        <a:t>Executive Board — Strategy &amp; Capital Allocation</a:t>
                      </a:r>
                    </a:p>
                  </a:txBody>
                  <a:tcPr marL="36576" marR="36576" marT="18288" marB="18288">
                    <a:solidFill>
                      <a:srgbClr val="F4F6F9"/>
                    </a:solidFill>
                  </a:tcPr>
                </a:tc>
                <a:tc>
                  <a:txBody>
                    <a:bodyPr/>
                    <a:lstStyle/>
                    <a:p>
                      <a:pPr algn="r"/>
                      <a:r>
                        <a:rPr sz="1200">
                          <a:solidFill>
                            <a:srgbClr val="111111"/>
                          </a:solidFill>
                          <a:latin typeface="Calibri"/>
                        </a:rPr>
                        <a:t>Joined 2000. Drives business strategy and capital allocation across the Group, building market-leading positions through disciplined deployment.</a:t>
                      </a:r>
                    </a:p>
                  </a:txBody>
                  <a:tcPr marL="36576" marR="36576" marT="18288" marB="18288">
                    <a:solidFill>
                      <a:srgbClr val="F4F6F9"/>
                    </a:solidFill>
                  </a:tcPr>
                </a:tc>
              </a:tr>
              <a:tr h="850392">
                <a:tc>
                  <a:txBody>
                    <a:bodyPr/>
                    <a:lstStyle/>
                    <a:p>
                      <a:r>
                        <a:rPr sz="1200" b="1">
                          <a:solidFill>
                            <a:srgbClr val="5A6573"/>
                          </a:solidFill>
                          <a:latin typeface="Calibri"/>
                        </a:rPr>
                        <a:t>Ajay Menon</a:t>
                      </a:r>
                    </a:p>
                  </a:txBody>
                  <a:tcPr marL="36576" marR="36576" marT="18288" marB="18288">
                    <a:solidFill>
                      <a:srgbClr val="FFFFFF"/>
                    </a:solidFill>
                  </a:tcPr>
                </a:tc>
                <a:tc>
                  <a:txBody>
                    <a:bodyPr/>
                    <a:lstStyle/>
                    <a:p>
                      <a:pPr algn="r"/>
                      <a:r>
                        <a:rPr sz="1200">
                          <a:solidFill>
                            <a:srgbClr val="111111"/>
                          </a:solidFill>
                          <a:latin typeface="Calibri"/>
                        </a:rPr>
                        <a:t>Executive — Operations, Compliance, Risk &amp; Technology</a:t>
                      </a:r>
                    </a:p>
                  </a:txBody>
                  <a:tcPr marL="36576" marR="36576" marT="18288" marB="18288">
                    <a:solidFill>
                      <a:srgbClr val="FFFFFF"/>
                    </a:solidFill>
                  </a:tcPr>
                </a:tc>
                <a:tc>
                  <a:txBody>
                    <a:bodyPr/>
                    <a:lstStyle/>
                    <a:p>
                      <a:pPr algn="r"/>
                      <a:r>
                        <a:rPr sz="1200">
                          <a:solidFill>
                            <a:srgbClr val="111111"/>
                          </a:solidFill>
                          <a:latin typeface="Calibri"/>
                        </a:rPr>
                        <a:t>Joined 1998. 27+ years in Indian capital markets. Cornerstone of operational excellence and technology initiatives across the Group.</a:t>
                      </a:r>
                    </a:p>
                  </a:txBody>
                  <a:tcPr marL="36576" marR="36576"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Forensic / Governance — Monitor Closely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16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16</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Forensic / Governance — Monitor Closely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822960"/>
          </a:xfrm>
          <a:prstGeom prst="rect">
            <a:avLst/>
          </a:prstGeom>
          <a:noFill/>
        </p:spPr>
        <p:txBody>
          <a:bodyPr wrap="square" anchor="t" lIns="45720" rIns="45720" tIns="18288" bIns="18288">
            <a:spAutoFit/>
          </a:bodyPr>
          <a:lstStyle/>
          <a:p>
            <a:r>
              <a:rPr sz="1200" b="0">
                <a:solidFill>
                  <a:srgbClr val="111111"/>
                </a:solidFill>
                <a:latin typeface="Calibri"/>
              </a:rPr>
              <a:t>Recurring regulatory matters are operational rather than fraudulent. Despite SEBI interventions, structural lapses suggest deeper governance attention needed in risk management. Pattern warrants monitoring but does not impair the business model.</a:t>
            </a:r>
          </a:p>
        </p:txBody>
      </p:sp>
      <p:graphicFrame>
        <p:nvGraphicFramePr>
          <p:cNvPr id="19" name="Table 18"/>
          <p:cNvGraphicFramePr>
            <a:graphicFrameLocks noGrp="1"/>
          </p:cNvGraphicFramePr>
          <p:nvPr/>
        </p:nvGraphicFramePr>
        <p:xfrm>
          <a:off x="457200" y="2377440"/>
          <a:ext cx="11277294" cy="4069080"/>
        </p:xfrm>
        <a:graphic>
          <a:graphicData uri="http://schemas.openxmlformats.org/drawingml/2006/table">
            <a:tbl>
              <a:tblPr firstRow="1" bandRow="1">
                <a:tableStyleId>{5C22544A-7EE6-4342-B048-85BDC9FD1C3A}</a:tableStyleId>
              </a:tblPr>
              <a:tblGrid>
                <a:gridCol w="3759098"/>
                <a:gridCol w="3759098"/>
                <a:gridCol w="3759098"/>
              </a:tblGrid>
              <a:tr h="678180">
                <a:tc>
                  <a:txBody>
                    <a:bodyPr/>
                    <a:lstStyle/>
                    <a:p>
                      <a:r>
                        <a:rPr b="1" sz="1200">
                          <a:solidFill>
                            <a:srgbClr val="FFFFFF"/>
                          </a:solidFill>
                          <a:latin typeface="Calibri"/>
                        </a:rPr>
                        <a:t>Matter</a:t>
                      </a:r>
                    </a:p>
                  </a:txBody>
                  <a:tcPr marL="36576" marR="36576" marT="18288" marB="18288">
                    <a:solidFill>
                      <a:srgbClr val="1F4690"/>
                    </a:solidFill>
                  </a:tcPr>
                </a:tc>
                <a:tc>
                  <a:txBody>
                    <a:bodyPr/>
                    <a:lstStyle/>
                    <a:p>
                      <a:pPr algn="r"/>
                      <a:r>
                        <a:rPr b="1" sz="1200">
                          <a:solidFill>
                            <a:srgbClr val="FFFFFF"/>
                          </a:solidFill>
                          <a:latin typeface="Calibri"/>
                        </a:rPr>
                        <a:t>Description</a:t>
                      </a:r>
                    </a:p>
                  </a:txBody>
                  <a:tcPr marL="36576" marR="36576" marT="18288" marB="18288">
                    <a:solidFill>
                      <a:srgbClr val="1F4690"/>
                    </a:solidFill>
                  </a:tcPr>
                </a:tc>
                <a:tc>
                  <a:txBody>
                    <a:bodyPr/>
                    <a:lstStyle/>
                    <a:p>
                      <a:pPr algn="r"/>
                      <a:r>
                        <a:rPr b="1" sz="1200">
                          <a:solidFill>
                            <a:srgbClr val="FFFFFF"/>
                          </a:solidFill>
                          <a:latin typeface="Calibri"/>
                        </a:rPr>
                        <a:t>Severity</a:t>
                      </a:r>
                    </a:p>
                  </a:txBody>
                  <a:tcPr marL="36576" marR="36576" marT="18288" marB="18288">
                    <a:solidFill>
                      <a:srgbClr val="1F4690"/>
                    </a:solidFill>
                  </a:tcPr>
                </a:tc>
              </a:tr>
              <a:tr h="678180">
                <a:tc>
                  <a:txBody>
                    <a:bodyPr/>
                    <a:lstStyle/>
                    <a:p>
                      <a:r>
                        <a:rPr sz="1200" b="1">
                          <a:solidFill>
                            <a:srgbClr val="5A6573"/>
                          </a:solidFill>
                          <a:latin typeface="Calibri"/>
                        </a:rPr>
                        <a:t>SEBI — Margin Reporting Violations</a:t>
                      </a:r>
                    </a:p>
                  </a:txBody>
                  <a:tcPr marL="36576" marR="36576" marT="18288" marB="18288">
                    <a:solidFill>
                      <a:srgbClr val="F4F6F9"/>
                    </a:solidFill>
                  </a:tcPr>
                </a:tc>
                <a:tc>
                  <a:txBody>
                    <a:bodyPr/>
                    <a:lstStyle/>
                    <a:p>
                      <a:pPr algn="r"/>
                      <a:r>
                        <a:rPr sz="1200">
                          <a:solidFill>
                            <a:srgbClr val="111111"/>
                          </a:solidFill>
                          <a:latin typeface="Calibri"/>
                        </a:rPr>
                        <a:t>INR 7 lakh penalty for margin reporting, collection violations, and other regulatory lapses found during inspection.</a:t>
                      </a:r>
                    </a:p>
                  </a:txBody>
                  <a:tcPr marL="36576" marR="36576" marT="18288" marB="18288">
                    <a:solidFill>
                      <a:srgbClr val="F4F6F9"/>
                    </a:solidFill>
                  </a:tcPr>
                </a:tc>
                <a:tc>
                  <a:txBody>
                    <a:bodyPr/>
                    <a:lstStyle/>
                    <a:p>
                      <a:pPr algn="r"/>
                      <a:r>
                        <a:rPr sz="1200">
                          <a:solidFill>
                            <a:srgbClr val="111111"/>
                          </a:solidFill>
                          <a:latin typeface="Calibri"/>
                        </a:rPr>
                        <a:t>Low</a:t>
                      </a:r>
                    </a:p>
                  </a:txBody>
                  <a:tcPr marL="36576" marR="36576" marT="18288" marB="18288">
                    <a:solidFill>
                      <a:srgbClr val="F4F6F9"/>
                    </a:solidFill>
                  </a:tcPr>
                </a:tc>
              </a:tr>
              <a:tr h="678180">
                <a:tc>
                  <a:txBody>
                    <a:bodyPr/>
                    <a:lstStyle/>
                    <a:p>
                      <a:r>
                        <a:rPr sz="1200" b="1">
                          <a:solidFill>
                            <a:srgbClr val="5A6573"/>
                          </a:solidFill>
                          <a:latin typeface="Calibri"/>
                        </a:rPr>
                        <a:t>SEBI — Client Fund Misutilization (2022)</a:t>
                      </a:r>
                    </a:p>
                  </a:txBody>
                  <a:tcPr marL="36576" marR="36576" marT="18288" marB="18288">
                    <a:solidFill>
                      <a:srgbClr val="FFFFFF"/>
                    </a:solidFill>
                  </a:tcPr>
                </a:tc>
                <a:tc>
                  <a:txBody>
                    <a:bodyPr/>
                    <a:lstStyle/>
                    <a:p>
                      <a:pPr algn="r"/>
                      <a:r>
                        <a:rPr sz="1200">
                          <a:solidFill>
                            <a:srgbClr val="111111"/>
                          </a:solidFill>
                          <a:latin typeface="Calibri"/>
                        </a:rPr>
                        <a:t>INR 25 lakh fine for misutilization of client funds and inaccurate margin reporting.</a:t>
                      </a:r>
                    </a:p>
                  </a:txBody>
                  <a:tcPr marL="36576" marR="36576" marT="18288" marB="18288">
                    <a:solidFill>
                      <a:srgbClr val="FFFFFF"/>
                    </a:solidFill>
                  </a:tcPr>
                </a:tc>
                <a:tc>
                  <a:txBody>
                    <a:bodyPr/>
                    <a:lstStyle/>
                    <a:p>
                      <a:pPr algn="r"/>
                      <a:r>
                        <a:rPr sz="1200">
                          <a:solidFill>
                            <a:srgbClr val="111111"/>
                          </a:solidFill>
                          <a:latin typeface="Calibri"/>
                        </a:rPr>
                        <a:t>Medium</a:t>
                      </a:r>
                    </a:p>
                  </a:txBody>
                  <a:tcPr marL="36576" marR="36576" marT="18288" marB="18288">
                    <a:solidFill>
                      <a:srgbClr val="FFFFFF"/>
                    </a:solidFill>
                  </a:tcPr>
                </a:tc>
              </a:tr>
              <a:tr h="678180">
                <a:tc>
                  <a:txBody>
                    <a:bodyPr/>
                    <a:lstStyle/>
                    <a:p>
                      <a:r>
                        <a:rPr sz="1200" b="1">
                          <a:solidFill>
                            <a:srgbClr val="5A6573"/>
                          </a:solidFill>
                          <a:latin typeface="Calibri"/>
                        </a:rPr>
                        <a:t>NSEL — Misselling Accusations</a:t>
                      </a:r>
                    </a:p>
                  </a:txBody>
                  <a:tcPr marL="36576" marR="36576" marT="18288" marB="18288">
                    <a:solidFill>
                      <a:srgbClr val="F4F6F9"/>
                    </a:solidFill>
                  </a:tcPr>
                </a:tc>
                <a:tc>
                  <a:txBody>
                    <a:bodyPr/>
                    <a:lstStyle/>
                    <a:p>
                      <a:pPr algn="r"/>
                      <a:r>
                        <a:rPr sz="1200">
                          <a:solidFill>
                            <a:srgbClr val="111111"/>
                          </a:solidFill>
                          <a:latin typeface="Calibri"/>
                        </a:rPr>
                        <a:t>Accused alongside other top brokers of misselling NSEL contracts, KYC manipulation, client code modification, and illegal transactions per SFIO/EOW findings.</a:t>
                      </a:r>
                    </a:p>
                  </a:txBody>
                  <a:tcPr marL="36576" marR="36576" marT="18288" marB="18288">
                    <a:solidFill>
                      <a:srgbClr val="F4F6F9"/>
                    </a:solidFill>
                  </a:tcPr>
                </a:tc>
                <a:tc>
                  <a:txBody>
                    <a:bodyPr/>
                    <a:lstStyle/>
                    <a:p>
                      <a:pPr algn="r"/>
                      <a:r>
                        <a:rPr sz="1200">
                          <a:solidFill>
                            <a:srgbClr val="111111"/>
                          </a:solidFill>
                          <a:latin typeface="Calibri"/>
                        </a:rPr>
                        <a:t>High (Historical)</a:t>
                      </a:r>
                    </a:p>
                  </a:txBody>
                  <a:tcPr marL="36576" marR="36576" marT="18288" marB="18288">
                    <a:solidFill>
                      <a:srgbClr val="F4F6F9"/>
                    </a:solidFill>
                  </a:tcPr>
                </a:tc>
              </a:tr>
              <a:tr h="678180">
                <a:tc>
                  <a:txBody>
                    <a:bodyPr/>
                    <a:lstStyle/>
                    <a:p>
                      <a:r>
                        <a:rPr sz="1200" b="1">
                          <a:solidFill>
                            <a:srgbClr val="5A6573"/>
                          </a:solidFill>
                          <a:latin typeface="Calibri"/>
                        </a:rPr>
                        <a:t>SEBI — Not Fit and Proper (Commodities)</a:t>
                      </a:r>
                    </a:p>
                  </a:txBody>
                  <a:tcPr marL="36576" marR="36576" marT="18288" marB="18288">
                    <a:solidFill>
                      <a:srgbClr val="FFFFFF"/>
                    </a:solidFill>
                  </a:tcPr>
                </a:tc>
                <a:tc>
                  <a:txBody>
                    <a:bodyPr/>
                    <a:lstStyle/>
                    <a:p>
                      <a:pPr algn="r"/>
                      <a:r>
                        <a:rPr sz="1200">
                          <a:solidFill>
                            <a:srgbClr val="111111"/>
                          </a:solidFill>
                          <a:latin typeface="Calibri"/>
                        </a:rPr>
                        <a:t>Declared 'not fit and proper' as commodity derivative broker in Feb 2019 based on SFIO/EOW recommendations.</a:t>
                      </a:r>
                    </a:p>
                  </a:txBody>
                  <a:tcPr marL="36576" marR="36576" marT="18288" marB="18288">
                    <a:solidFill>
                      <a:srgbClr val="FFFFFF"/>
                    </a:solidFill>
                  </a:tcPr>
                </a:tc>
                <a:tc>
                  <a:txBody>
                    <a:bodyPr/>
                    <a:lstStyle/>
                    <a:p>
                      <a:pPr algn="r"/>
                      <a:r>
                        <a:rPr sz="1200">
                          <a:solidFill>
                            <a:srgbClr val="111111"/>
                          </a:solidFill>
                          <a:latin typeface="Calibri"/>
                        </a:rPr>
                        <a:t>High (Historical)</a:t>
                      </a:r>
                    </a:p>
                  </a:txBody>
                  <a:tcPr marL="36576" marR="36576" marT="18288" marB="18288">
                    <a:solidFill>
                      <a:srgbClr val="FFFFFF"/>
                    </a:solidFill>
                  </a:tcPr>
                </a:tc>
              </a:tr>
              <a:tr h="678180">
                <a:tc>
                  <a:txBody>
                    <a:bodyPr/>
                    <a:lstStyle/>
                    <a:p>
                      <a:r>
                        <a:rPr sz="1200" b="1">
                          <a:solidFill>
                            <a:srgbClr val="5A6573"/>
                          </a:solidFill>
                          <a:latin typeface="Calibri"/>
                        </a:rPr>
                        <a:t>Unauthorized Terminal Operations</a:t>
                      </a:r>
                    </a:p>
                  </a:txBody>
                  <a:tcPr marL="36576" marR="36576" marT="18288" marB="18288">
                    <a:solidFill>
                      <a:srgbClr val="F4F6F9"/>
                    </a:solidFill>
                  </a:tcPr>
                </a:tc>
                <a:tc>
                  <a:txBody>
                    <a:bodyPr/>
                    <a:lstStyle/>
                    <a:p>
                      <a:pPr algn="r"/>
                      <a:r>
                        <a:rPr sz="1200">
                          <a:solidFill>
                            <a:srgbClr val="111111"/>
                          </a:solidFill>
                          <a:latin typeface="Calibri"/>
                        </a:rPr>
                        <a:t>13 NSE and 9 BSE terminals operating from undeclared locations including an unreported branch in Delhi.</a:t>
                      </a:r>
                    </a:p>
                  </a:txBody>
                  <a:tcPr marL="36576" marR="36576" marT="18288" marB="18288">
                    <a:solidFill>
                      <a:srgbClr val="F4F6F9"/>
                    </a:solidFill>
                  </a:tcPr>
                </a:tc>
                <a:tc>
                  <a:txBody>
                    <a:bodyPr/>
                    <a:lstStyle/>
                    <a:p>
                      <a:pPr algn="r"/>
                      <a:r>
                        <a:rPr sz="1200">
                          <a:solidFill>
                            <a:srgbClr val="111111"/>
                          </a:solidFill>
                          <a:latin typeface="Calibri"/>
                        </a:rPr>
                        <a:t>Medium</a:t>
                      </a:r>
                    </a:p>
                  </a:txBody>
                  <a:tcPr marL="36576" marR="36576" marT="18288" marB="18288">
                    <a:solidFill>
                      <a:srgbClr val="F4F6F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Trading Strategy</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17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17</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Trading Strategy</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5486400" cy="5029200"/>
          </a:xfrm>
          <a:prstGeom prst="rect">
            <a:avLst/>
          </a:prstGeom>
          <a:noFill/>
        </p:spPr>
        <p:txBody>
          <a:bodyPr wrap="square" anchor="t" lIns="45720" rIns="45720" tIns="18288" bIns="18288">
            <a:spAutoFit/>
          </a:bodyPr>
          <a:lstStyle/>
          <a:p>
            <a:r>
              <a:rPr sz="1200" b="0">
                <a:solidFill>
                  <a:srgbClr val="111111"/>
                </a:solidFill>
                <a:latin typeface="Calibri"/>
              </a:rPr>
              <a:t>Entry: the relevant figure-850. 15-the relevant figure discount to analyst consensus target — margin of safety. Position size: 3-the relevant figure of portfolio (institutional). Review: Quarterly. Downside exit: Stop-loss at the relevant figure (-the relevant figure from CMP) on technical break with high volume. Upside exit: Sell the relevant figure at the relevant figure-1,150 (30-the relevant figure gains) / Sell remaining at the relevant figure+ if multiples expand beyond the relevant figure P/E.</a:t>
            </a:r>
          </a:p>
        </p:txBody>
      </p:sp>
      <p:sp>
        <p:nvSpPr>
          <p:cNvPr id="19" name="TextBox 18"/>
          <p:cNvSpPr txBox="1"/>
          <p:nvPr/>
        </p:nvSpPr>
        <p:spPr>
          <a:xfrm>
            <a:off x="6217920" y="1417320"/>
            <a:ext cx="551657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ARR contribution above the relevant figure of net revenues</a:t>
            </a:r>
          </a:p>
          <a:p>
            <a:pPr>
              <a:spcAft>
                <a:spcPts val="400"/>
              </a:spcAft>
            </a:pPr>
            <a:r>
              <a:rPr sz="1200" b="0">
                <a:solidFill>
                  <a:srgbClr val="111111"/>
                </a:solidFill>
                <a:latin typeface="Calibri"/>
              </a:rPr>
              <a:t>•  AMC AUM growth above the relevant figure YoY with net flows &gt; the relevant figure Cr</a:t>
            </a:r>
          </a:p>
          <a:p>
            <a:pPr>
              <a:spcAft>
                <a:spcPts val="400"/>
              </a:spcAft>
            </a:pPr>
            <a:r>
              <a:rPr sz="1200" b="0">
                <a:solidFill>
                  <a:srgbClr val="111111"/>
                </a:solidFill>
                <a:latin typeface="Calibri"/>
              </a:rPr>
              <a:t>•  PWM AUM growth above the relevant figure YoY with family count expansion</a:t>
            </a:r>
          </a:p>
          <a:p>
            <a:pPr>
              <a:spcAft>
                <a:spcPts val="400"/>
              </a:spcAft>
            </a:pPr>
            <a:r>
              <a:rPr sz="1200" b="0">
                <a:solidFill>
                  <a:srgbClr val="111111"/>
                </a:solidFill>
                <a:latin typeface="Calibri"/>
              </a:rPr>
              <a:t>•  Cost-to-income ratio declining</a:t>
            </a:r>
          </a:p>
          <a:p>
            <a:pPr>
              <a:spcAft>
                <a:spcPts val="400"/>
              </a:spcAft>
            </a:pPr>
            <a:r>
              <a:rPr sz="1200" b="0">
                <a:solidFill>
                  <a:srgbClr val="111111"/>
                </a:solidFill>
                <a:latin typeface="Calibri"/>
              </a:rPr>
              <a:t>•  SEBI compliance with no major enforcement actions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Key Risks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18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18</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Key Risks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pPr>
              <a:spcAft>
                <a:spcPts val="400"/>
              </a:spcAft>
            </a:pPr>
            <a:r>
              <a:rPr sz="1200" b="0">
                <a:solidFill>
                  <a:srgbClr val="111111"/>
                </a:solidFill>
                <a:latin typeface="Calibri"/>
              </a:rPr>
              <a:t>•  SEBI regulatory headwinds on F&amp;O trading norms compressing cyclical broking revenues</a:t>
            </a:r>
          </a:p>
          <a:p>
            <a:pPr>
              <a:spcAft>
                <a:spcPts val="400"/>
              </a:spcAft>
            </a:pPr>
            <a:r>
              <a:rPr sz="1200" b="0">
                <a:solidFill>
                  <a:srgbClr val="111111"/>
                </a:solidFill>
                <a:latin typeface="Calibri"/>
              </a:rPr>
              <a:t>•  Q2FY26 profit declined the relevant figure YoY and revenue the relevant figure YoY due to regulatory changes — residual cyclicality</a:t>
            </a:r>
          </a:p>
          <a:p>
            <a:pPr>
              <a:spcAft>
                <a:spcPts val="400"/>
              </a:spcAft>
            </a:pPr>
            <a:r>
              <a:rPr sz="1200" b="0">
                <a:solidFill>
                  <a:srgbClr val="111111"/>
                </a:solidFill>
                <a:latin typeface="Calibri"/>
              </a:rPr>
              <a:t>•  Competitive intensity from discount brokers and fintech platforms compressing yields</a:t>
            </a:r>
          </a:p>
          <a:p>
            <a:pPr>
              <a:spcAft>
                <a:spcPts val="400"/>
              </a:spcAft>
            </a:pPr>
            <a:r>
              <a:rPr sz="1200" b="0">
                <a:solidFill>
                  <a:srgbClr val="111111"/>
                </a:solidFill>
                <a:latin typeface="Calibri"/>
              </a:rPr>
              <a:t>•  Forensic / governance: recurring SEBI matters require monitoring (Monitor Closely category)</a:t>
            </a:r>
          </a:p>
          <a:p>
            <a:pPr>
              <a:spcAft>
                <a:spcPts val="400"/>
              </a:spcAft>
            </a:pPr>
            <a:r>
              <a:rPr sz="1200" b="0">
                <a:solidFill>
                  <a:srgbClr val="111111"/>
                </a:solidFill>
                <a:latin typeface="Calibri"/>
              </a:rPr>
              <a:t>•  Mark-to-market volatility on the proprietary book</a:t>
            </a:r>
          </a:p>
          <a:p>
            <a:pPr>
              <a:spcAft>
                <a:spcPts val="400"/>
              </a:spcAft>
            </a:pPr>
            <a:r>
              <a:rPr sz="1200" b="0">
                <a:solidFill>
                  <a:srgbClr val="111111"/>
                </a:solidFill>
                <a:latin typeface="Calibri"/>
              </a:rPr>
              <a:t>•  Housing finance asset-quality slippage in stressed credit cycles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Analyst Certification &amp; Disclosures</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19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19</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Analyst Certification &amp; Disclosures</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Analyst Certification I, the research analyst whose name appears on this report, certify that: 1. The views expressed in this report accurately reflect my personal views about the subject company and its securities. 2. No part of my compensation was, is, or will be directly or indirectly related to the specific recommendations or views expressed herein. 3. I have not received any compensation from the subject company in the past twelve months. 4. I, my relatives, or Tikona Capital do not have any actual or potential conflict of interest with the subject company at the time of publication of this report, except as may be disclosed below. ## Disclosures - Ownership in subject company: None unless otherwise disclosed. - Material conflicts of interest: None at the time of publication. - Investment banking or merchant banking relationship in the past twelve months: None. This certification is made in accordance with SEBI (Research Analysts) Regulations, 2014.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4572"/>
            <a:ext cx="1700784" cy="4023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457200" y="59436"/>
            <a:ext cx="1196636" cy="292608"/>
          </a:xfrm>
          <a:prstGeom prst="rect">
            <a:avLst/>
          </a:prstGeom>
        </p:spPr>
      </p:pic>
      <p:sp>
        <p:nvSpPr>
          <p:cNvPr id="5" name="TextBox 4"/>
          <p:cNvSpPr txBox="1"/>
          <p:nvPr/>
        </p:nvSpPr>
        <p:spPr>
          <a:xfrm>
            <a:off x="2194560" y="0"/>
            <a:ext cx="1828800" cy="411480"/>
          </a:xfrm>
          <a:prstGeom prst="rect">
            <a:avLst/>
          </a:prstGeom>
          <a:noFill/>
        </p:spPr>
        <p:txBody>
          <a:bodyPr wrap="none" lIns="45720" rIns="45720" tIns="18288" bIns="18288">
            <a:spAutoFit/>
          </a:bodyPr>
          <a:lstStyle/>
          <a:p>
            <a:pPr algn="l"/>
            <a:r>
              <a:rPr sz="900" b="1">
                <a:solidFill>
                  <a:srgbClr val="FFA500"/>
                </a:solidFill>
                <a:latin typeface="Calibri"/>
              </a:rPr>
              <a:t>Tikona Capital</a:t>
            </a:r>
          </a:p>
        </p:txBody>
      </p:sp>
      <p:sp>
        <p:nvSpPr>
          <p:cNvPr id="6" name="TextBox 5"/>
          <p:cNvSpPr txBox="1"/>
          <p:nvPr/>
        </p:nvSpPr>
        <p:spPr>
          <a:xfrm>
            <a:off x="4114800" y="0"/>
            <a:ext cx="3047695" cy="411480"/>
          </a:xfrm>
          <a:prstGeom prst="rect">
            <a:avLst/>
          </a:prstGeom>
          <a:noFill/>
        </p:spPr>
        <p:txBody>
          <a:bodyPr wrap="none" lIns="45720" rIns="45720" tIns="18288" bIns="18288">
            <a:spAutoFit/>
          </a:bodyPr>
          <a:lstStyle/>
          <a:p>
            <a:pPr algn="l"/>
            <a:r>
              <a:rPr sz="1000" b="1">
                <a:solidFill>
                  <a:srgbClr val="FFFFFF"/>
                </a:solidFill>
                <a:latin typeface="Calibri"/>
              </a:rPr>
              <a:t>Motilal Oswal Financial Services Ltd — Disclaimer</a:t>
            </a:r>
          </a:p>
        </p:txBody>
      </p:sp>
      <p:sp>
        <p:nvSpPr>
          <p:cNvPr id="7" name="TextBox 6"/>
          <p:cNvSpPr txBox="1"/>
          <p:nvPr/>
        </p:nvSpPr>
        <p:spPr>
          <a:xfrm>
            <a:off x="6522415" y="0"/>
            <a:ext cx="4572000" cy="411480"/>
          </a:xfrm>
          <a:prstGeom prst="rect">
            <a:avLst/>
          </a:prstGeom>
          <a:noFill/>
        </p:spPr>
        <p:txBody>
          <a:bodyPr wrap="none" lIns="45720" rIns="45720" tIns="18288" bIns="18288">
            <a:spAutoFit/>
          </a:bodyPr>
          <a:lstStyle/>
          <a:p>
            <a:pPr algn="r"/>
            <a:r>
              <a:rPr sz="800" b="0">
                <a:solidFill>
                  <a:srgbClr val="FFFFFF"/>
                </a:solidFill>
                <a:latin typeface="Calibri"/>
              </a:rPr>
              <a:t>CMP ₹822.90  |  TP ₹1,127  |  UPSIDE +37%  |  MKT CAP ₹49,079 Cr</a:t>
            </a:r>
          </a:p>
        </p:txBody>
      </p:sp>
      <p:sp>
        <p:nvSpPr>
          <p:cNvPr id="8" name="Rounded Rectangle 7"/>
          <p:cNvSpPr/>
          <p:nvPr/>
        </p:nvSpPr>
        <p:spPr>
          <a:xfrm>
            <a:off x="11231575" y="105156"/>
            <a:ext cx="502920" cy="201168"/>
          </a:xfrm>
          <a:prstGeom prst="roundRect">
            <a:avLst/>
          </a:prstGeom>
          <a:solidFill>
            <a:srgbClr val="1B7F3A"/>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800" b="1">
                <a:solidFill>
                  <a:srgbClr val="FFFFFF"/>
                </a:solidFill>
                <a:latin typeface="Calibri"/>
              </a:rPr>
              <a:t>BUY</a:t>
            </a:r>
          </a:p>
        </p:txBody>
      </p:sp>
      <p:sp>
        <p:nvSpPr>
          <p:cNvPr id="9" name="Rectangle 8"/>
          <p:cNvSpPr/>
          <p:nvPr/>
        </p:nvSpPr>
        <p:spPr>
          <a:xfrm>
            <a:off x="0" y="411480"/>
            <a:ext cx="12191695" cy="36576"/>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097280"/>
            <a:ext cx="11277295" cy="19050"/>
          </a:xfrm>
          <a:prstGeom prst="rect">
            <a:avLst/>
          </a:prstGeom>
          <a:solidFill>
            <a:srgbClr val="FFA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0" y="6537960"/>
            <a:ext cx="12191695" cy="32004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6537960"/>
            <a:ext cx="3657508" cy="320040"/>
          </a:xfrm>
          <a:prstGeom prst="rect">
            <a:avLst/>
          </a:prstGeom>
          <a:noFill/>
        </p:spPr>
        <p:txBody>
          <a:bodyPr wrap="none" lIns="45720" rIns="45720" tIns="18288" bIns="18288">
            <a:spAutoFit/>
          </a:bodyPr>
          <a:lstStyle/>
          <a:p>
            <a:pPr algn="l"/>
            <a:r>
              <a:rPr sz="900" b="0">
                <a:solidFill>
                  <a:srgbClr val="FFFFFF"/>
                </a:solidFill>
                <a:latin typeface="Calibri"/>
              </a:rPr>
              <a:t>Tikona Capital | SEBI Registration No.: INH000069807</a:t>
            </a:r>
          </a:p>
        </p:txBody>
      </p:sp>
      <p:sp>
        <p:nvSpPr>
          <p:cNvPr id="13" name="TextBox 12"/>
          <p:cNvSpPr txBox="1"/>
          <p:nvPr/>
        </p:nvSpPr>
        <p:spPr>
          <a:xfrm>
            <a:off x="3657508" y="6537960"/>
            <a:ext cx="4876678" cy="320040"/>
          </a:xfrm>
          <a:prstGeom prst="rect">
            <a:avLst/>
          </a:prstGeom>
          <a:noFill/>
        </p:spPr>
        <p:txBody>
          <a:bodyPr wrap="none" lIns="45720" rIns="45720" tIns="18288" bIns="18288">
            <a:spAutoFit/>
          </a:bodyPr>
          <a:lstStyle/>
          <a:p>
            <a:pPr algn="ctr"/>
            <a:r>
              <a:rPr sz="900" b="1">
                <a:solidFill>
                  <a:srgbClr val="FFA500"/>
                </a:solidFill>
                <a:latin typeface="Calibri"/>
              </a:rPr>
              <a:t>Motilal Oswal Financial Services Ltd — Equity Research</a:t>
            </a:r>
          </a:p>
        </p:txBody>
      </p:sp>
      <p:sp>
        <p:nvSpPr>
          <p:cNvPr id="14" name="TextBox 13"/>
          <p:cNvSpPr txBox="1"/>
          <p:nvPr/>
        </p:nvSpPr>
        <p:spPr>
          <a:xfrm>
            <a:off x="9905695" y="6537960"/>
            <a:ext cx="1828800" cy="320040"/>
          </a:xfrm>
          <a:prstGeom prst="rect">
            <a:avLst/>
          </a:prstGeom>
          <a:noFill/>
        </p:spPr>
        <p:txBody>
          <a:bodyPr wrap="none" lIns="45720" rIns="45720" tIns="18288" bIns="18288">
            <a:spAutoFit/>
          </a:bodyPr>
          <a:lstStyle/>
          <a:p>
            <a:pPr algn="r"/>
            <a:r>
              <a:rPr sz="900" b="0">
                <a:solidFill>
                  <a:srgbClr val="FFFFFF"/>
                </a:solidFill>
                <a:latin typeface="Calibri"/>
              </a:rPr>
              <a:t>28/04/2026  |  Page 20 of 20</a:t>
            </a:r>
          </a:p>
        </p:txBody>
      </p:sp>
      <p:sp>
        <p:nvSpPr>
          <p:cNvPr id="15" name="Rounded Rectangle 14"/>
          <p:cNvSpPr/>
          <p:nvPr/>
        </p:nvSpPr>
        <p:spPr>
          <a:xfrm>
            <a:off x="457200" y="662940"/>
            <a:ext cx="411480" cy="274320"/>
          </a:xfrm>
          <a:prstGeom prst="round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1000" b="1">
                <a:solidFill>
                  <a:srgbClr val="FFA500"/>
                </a:solidFill>
                <a:latin typeface="Calibri"/>
              </a:rPr>
              <a:t>20</a:t>
            </a:r>
          </a:p>
        </p:txBody>
      </p:sp>
      <p:sp>
        <p:nvSpPr>
          <p:cNvPr id="16" name="TextBox 15"/>
          <p:cNvSpPr txBox="1"/>
          <p:nvPr/>
        </p:nvSpPr>
        <p:spPr>
          <a:xfrm>
            <a:off x="978407" y="548640"/>
            <a:ext cx="10756087" cy="502920"/>
          </a:xfrm>
          <a:prstGeom prst="rect">
            <a:avLst/>
          </a:prstGeom>
          <a:noFill/>
        </p:spPr>
        <p:txBody>
          <a:bodyPr wrap="square" lIns="18288" tIns="18288">
            <a:spAutoFit/>
          </a:bodyPr>
          <a:lstStyle/>
          <a:p>
            <a:r>
              <a:rPr sz="2600" b="1">
                <a:solidFill>
                  <a:srgbClr val="1F4690"/>
                </a:solidFill>
                <a:latin typeface="Calibri"/>
              </a:rPr>
              <a:t>Disclaimer</a:t>
            </a:r>
          </a:p>
        </p:txBody>
      </p:sp>
      <p:sp>
        <p:nvSpPr>
          <p:cNvPr id="17" name="Rectangle 16"/>
          <p:cNvSpPr/>
          <p:nvPr/>
        </p:nvSpPr>
        <p:spPr>
          <a:xfrm>
            <a:off x="457200" y="1078992"/>
            <a:ext cx="11277295" cy="22860"/>
          </a:xfrm>
          <a:prstGeom prst="rect">
            <a:avLst/>
          </a:prstGeom>
          <a:solidFill>
            <a:srgbClr val="1F46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1417320"/>
            <a:ext cx="11277295" cy="5029200"/>
          </a:xfrm>
          <a:prstGeom prst="rect">
            <a:avLst/>
          </a:prstGeom>
          <a:noFill/>
        </p:spPr>
        <p:txBody>
          <a:bodyPr wrap="square" anchor="t" lIns="45720" rIns="45720" tIns="18288" bIns="18288">
            <a:spAutoFit/>
          </a:bodyPr>
          <a:lstStyle/>
          <a:p>
            <a:r>
              <a:rPr sz="1200" b="0">
                <a:solidFill>
                  <a:srgbClr val="111111"/>
                </a:solidFill>
                <a:latin typeface="Calibri"/>
              </a:rPr>
              <a:t>## Disclaimer This research report is prepared by Tikona Capital (SEBI Research Analyst Registration No. INH000069807) for the exclusive use of its clients. It is intended solely for informational purposes and does not constitute an offer, solicitation, or recommendation to buy, sell, or hold any security. The views expressed are those of the analyst as of the date of publication and are based on information believed to be reliable but are not guaranteed as to accuracy or completeness. Past performance is not indicative of future results. Investments in securities are subject to market risks. Investors should consult their own financial, legal, and tax advisors before making any investment decision. Tikona Capital, its affiliates, directors, employees, or research analysts may, from time to time, hold positions in the securities mentioned, or in instruments related to such securities, and may transact in them in a manner inconsistent with the views expressed herein. This document is the intellectual property of Tikona Capital. No part of it may be reproduced, distributed, or transmitted without prior written consent. Unauthorized use is prohibited. For grievances, contact: research@tikonacapital.in.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