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FY24A</a:t>
                      </a:r>
                    </a:p>
                  </a:txBody>
                  <a:tcPr anchor="ctr" marL="22860" marR="22860" marT="5486" marB="5486">
                    <a:solidFill>
                      <a:srgbClr val="1F4690"/>
                    </a:solidFill>
                  </a:tcPr>
                </a:tc>
                <a:tc>
                  <a:txBody>
                    <a:bodyPr/>
                    <a:lstStyle/>
                    <a:p>
                      <a:pPr algn="ctr"/>
                      <a:r>
                        <a:rPr sz="700" b="1">
                          <a:solidFill>
                            <a:srgbClr val="FFFFFF"/>
                          </a:solidFill>
                          <a:latin typeface="Calibri"/>
                        </a:rPr>
                        <a:t>FY25A</a:t>
                      </a:r>
                    </a:p>
                  </a:txBody>
                  <a:tcPr anchor="ctr" marL="22860" marR="22860" marT="5486" marB="5486">
                    <a:solidFill>
                      <a:srgbClr val="1F4690"/>
                    </a:solidFill>
                  </a:tcPr>
                </a:tc>
                <a:tc>
                  <a:txBody>
                    <a:bodyPr/>
                    <a:lstStyle/>
                    <a:p>
                      <a:pPr algn="ctr"/>
                      <a:r>
                        <a:rPr sz="700" b="1">
                          <a:solidFill>
                            <a:srgbClr val="FFFFFF"/>
                          </a:solidFill>
                          <a:latin typeface="Calibri"/>
                        </a:rPr>
                        <a:t>FY26E</a:t>
                      </a:r>
                    </a:p>
                  </a:txBody>
                  <a:tcPr anchor="ctr" marL="22860" marR="22860" marT="5486" marB="5486">
                    <a:solidFill>
                      <a:srgbClr val="1F4690"/>
                    </a:solidFill>
                  </a:tcPr>
                </a:tc>
                <a:tc>
                  <a:txBody>
                    <a:bodyPr/>
                    <a:lstStyle/>
                    <a:p>
                      <a:pPr algn="ctr"/>
                      <a:r>
                        <a:rPr sz="700" b="1">
                          <a:solidFill>
                            <a:srgbClr val="FFFFFF"/>
                          </a:solidFill>
                          <a:latin typeface="Calibri"/>
                        </a:rPr>
                        <a:t>FY27E</a:t>
                      </a:r>
                    </a:p>
                  </a:txBody>
                  <a:tcPr anchor="ctr" marL="22860" marR="22860" marT="5486" marB="5486">
                    <a:solidFill>
                      <a:srgbClr val="1F4690"/>
                    </a:solidFill>
                  </a:tcPr>
                </a:tc>
              </a:tr>
              <a:tr h="233172">
                <a:tc>
                  <a:txBody>
                    <a:bodyPr/>
                    <a:lstStyle/>
                    <a:p>
                      <a:r>
                        <a:rPr sz="700" b="1">
                          <a:solidFill>
                            <a:srgbClr val="111111"/>
                          </a:solidFill>
                          <a:latin typeface="Calibri"/>
                        </a:rPr>
                        <a:t>Revenue</a:t>
                      </a:r>
                    </a:p>
                  </a:txBody>
                  <a:tcPr anchor="ctr" marL="22860" marR="22860" marT="5486" marB="5486">
                    <a:solidFill>
                      <a:srgbClr val="F4F6F9"/>
                    </a:solidFill>
                  </a:tcPr>
                </a:tc>
                <a:tc>
                  <a:txBody>
                    <a:bodyPr/>
                    <a:lstStyle/>
                    <a:p>
                      <a:pPr algn="ctr"/>
                      <a:r>
                        <a:rPr sz="700" b="0">
                          <a:solidFill>
                            <a:srgbClr val="111111"/>
                          </a:solidFill>
                          <a:latin typeface="Calibri"/>
                        </a:rPr>
                        <a:t>₹7,106.0</a:t>
                      </a:r>
                    </a:p>
                  </a:txBody>
                  <a:tcPr anchor="ctr" marL="22860" marR="22860" marT="5486" marB="5486">
                    <a:solidFill>
                      <a:srgbClr val="F4F6F9"/>
                    </a:solidFill>
                  </a:tcPr>
                </a:tc>
                <a:tc>
                  <a:txBody>
                    <a:bodyPr/>
                    <a:lstStyle/>
                    <a:p>
                      <a:pPr algn="ctr"/>
                      <a:r>
                        <a:rPr sz="700" b="0">
                          <a:solidFill>
                            <a:srgbClr val="111111"/>
                          </a:solidFill>
                          <a:latin typeface="Calibri"/>
                        </a:rPr>
                        <a:t>₹8,340.0</a:t>
                      </a:r>
                    </a:p>
                  </a:txBody>
                  <a:tcPr anchor="ctr" marL="22860" marR="22860" marT="5486" marB="5486">
                    <a:solidFill>
                      <a:srgbClr val="F4F6F9"/>
                    </a:solidFill>
                  </a:tcPr>
                </a:tc>
                <a:tc>
                  <a:txBody>
                    <a:bodyPr/>
                    <a:lstStyle/>
                    <a:p>
                      <a:pPr algn="ctr"/>
                      <a:r>
                        <a:rPr sz="700" b="1">
                          <a:solidFill>
                            <a:srgbClr val="111111"/>
                          </a:solidFill>
                          <a:latin typeface="Calibri"/>
                        </a:rPr>
                        <a:t>₹10,402.0</a:t>
                      </a:r>
                    </a:p>
                  </a:txBody>
                  <a:tcPr anchor="ctr" marL="22860" marR="22860" marT="5486" marB="5486">
                    <a:solidFill>
                      <a:srgbClr val="F4F6F9"/>
                    </a:solidFill>
                  </a:tcPr>
                </a:tc>
                <a:tc>
                  <a:txBody>
                    <a:bodyPr/>
                    <a:lstStyle/>
                    <a:p>
                      <a:pPr algn="ctr"/>
                      <a:r>
                        <a:rPr sz="700" b="1">
                          <a:solidFill>
                            <a:srgbClr val="111111"/>
                          </a:solidFill>
                          <a:latin typeface="Calibri"/>
                        </a:rPr>
                        <a:t>₹12,973.0</a:t>
                      </a:r>
                    </a:p>
                  </a:txBody>
                  <a:tcPr anchor="ctr" marL="22860" marR="22860" marT="5486" marB="5486">
                    <a:solidFill>
                      <a:srgbClr val="F4F6F9"/>
                    </a:solidFill>
                  </a:tcPr>
                </a:tc>
              </a:tr>
              <a:tr h="233172">
                <a:tc>
                  <a:txBody>
                    <a:bodyPr/>
                    <a:lstStyle/>
                    <a:p>
                      <a:r>
                        <a:rPr sz="700" b="1">
                          <a:solidFill>
                            <a:srgbClr val="111111"/>
                          </a:solidFill>
                          <a:latin typeface="Calibri"/>
                        </a:rPr>
                        <a:t>EBITDA</a:t>
                      </a:r>
                    </a:p>
                  </a:txBody>
                  <a:tcPr anchor="ctr" marL="22860" marR="22860" marT="5486" marB="5486">
                    <a:solidFill>
                      <a:srgbClr val="FFFFFF"/>
                    </a:solidFill>
                  </a:tcPr>
                </a:tc>
                <a:tc>
                  <a:txBody>
                    <a:bodyPr/>
                    <a:lstStyle/>
                    <a:p>
                      <a:pPr algn="ctr"/>
                      <a:r>
                        <a:rPr sz="700" b="0">
                          <a:solidFill>
                            <a:srgbClr val="111111"/>
                          </a:solidFill>
                          <a:latin typeface="Calibri"/>
                        </a:rPr>
                        <a:t>₹4,082.0</a:t>
                      </a:r>
                    </a:p>
                  </a:txBody>
                  <a:tcPr anchor="ctr" marL="22860" marR="22860" marT="5486" marB="5486">
                    <a:solidFill>
                      <a:srgbClr val="FFFFFF"/>
                    </a:solidFill>
                  </a:tcPr>
                </a:tc>
                <a:tc>
                  <a:txBody>
                    <a:bodyPr/>
                    <a:lstStyle/>
                    <a:p>
                      <a:pPr algn="ctr"/>
                      <a:r>
                        <a:rPr sz="700" b="0">
                          <a:solidFill>
                            <a:srgbClr val="111111"/>
                          </a:solidFill>
                          <a:latin typeface="Calibri"/>
                        </a:rPr>
                        <a:t>₹4,546.0</a:t>
                      </a:r>
                    </a:p>
                  </a:txBody>
                  <a:tcPr anchor="ctr" marL="22860" marR="22860" marT="5486" marB="5486">
                    <a:solidFill>
                      <a:srgbClr val="FFFFFF"/>
                    </a:solidFill>
                  </a:tcPr>
                </a:tc>
                <a:tc>
                  <a:txBody>
                    <a:bodyPr/>
                    <a:lstStyle/>
                    <a:p>
                      <a:pPr algn="ctr"/>
                      <a:r>
                        <a:rPr sz="700" b="1">
                          <a:solidFill>
                            <a:srgbClr val="111111"/>
                          </a:solidFill>
                          <a:latin typeface="Calibri"/>
                        </a:rPr>
                        <a:t>₹5,439.0</a:t>
                      </a:r>
                    </a:p>
                  </a:txBody>
                  <a:tcPr anchor="ctr" marL="22860" marR="22860" marT="5486" marB="5486">
                    <a:solidFill>
                      <a:srgbClr val="FFFFFF"/>
                    </a:solidFill>
                  </a:tcPr>
                </a:tc>
                <a:tc>
                  <a:txBody>
                    <a:bodyPr/>
                    <a:lstStyle/>
                    <a:p>
                      <a:pPr algn="ctr"/>
                      <a:r>
                        <a:rPr sz="700" b="1">
                          <a:solidFill>
                            <a:srgbClr val="111111"/>
                          </a:solidFill>
                          <a:latin typeface="Calibri"/>
                        </a:rPr>
                        <a:t>₹6,784.0</a:t>
                      </a:r>
                    </a:p>
                  </a:txBody>
                  <a:tcPr anchor="ctr" marL="22860" marR="22860" marT="5486" marB="5486">
                    <a:solidFill>
                      <a:srgbClr val="FFFFFF"/>
                    </a:solidFill>
                  </a:tcPr>
                </a:tc>
              </a:tr>
              <a:tr h="233172">
                <a:tc>
                  <a:txBody>
                    <a:bodyPr/>
                    <a:lstStyle/>
                    <a:p>
                      <a:r>
                        <a:rPr sz="700" b="1">
                          <a:solidFill>
                            <a:srgbClr val="111111"/>
                          </a:solidFill>
                          <a:latin typeface="Calibri"/>
                        </a:rPr>
                        <a:t>EBITDA Mgn</a:t>
                      </a:r>
                    </a:p>
                  </a:txBody>
                  <a:tcPr anchor="ctr" marL="22860" marR="22860" marT="5486" marB="5486">
                    <a:solidFill>
                      <a:srgbClr val="F4F6F9"/>
                    </a:solidFill>
                  </a:tcPr>
                </a:tc>
                <a:tc>
                  <a:txBody>
                    <a:bodyPr/>
                    <a:lstStyle/>
                    <a:p>
                      <a:pPr algn="ctr"/>
                      <a:r>
                        <a:rPr sz="700" b="0">
                          <a:solidFill>
                            <a:srgbClr val="111111"/>
                          </a:solidFill>
                          <a:latin typeface="Calibri"/>
                        </a:rPr>
                        <a:t>57.4%</a:t>
                      </a:r>
                    </a:p>
                  </a:txBody>
                  <a:tcPr anchor="ctr" marL="22860" marR="22860" marT="5486" marB="5486">
                    <a:solidFill>
                      <a:srgbClr val="F4F6F9"/>
                    </a:solidFill>
                  </a:tcPr>
                </a:tc>
                <a:tc>
                  <a:txBody>
                    <a:bodyPr/>
                    <a:lstStyle/>
                    <a:p>
                      <a:pPr algn="ctr"/>
                      <a:r>
                        <a:rPr sz="700" b="0">
                          <a:solidFill>
                            <a:srgbClr val="111111"/>
                          </a:solidFill>
                          <a:latin typeface="Calibri"/>
                        </a:rPr>
                        <a:t>54.5%</a:t>
                      </a:r>
                    </a:p>
                  </a:txBody>
                  <a:tcPr anchor="ctr" marL="22860" marR="22860" marT="5486" marB="5486">
                    <a:solidFill>
                      <a:srgbClr val="F4F6F9"/>
                    </a:solidFill>
                  </a:tcPr>
                </a:tc>
                <a:tc>
                  <a:txBody>
                    <a:bodyPr/>
                    <a:lstStyle/>
                    <a:p>
                      <a:pPr algn="ctr"/>
                      <a:r>
                        <a:rPr sz="700" b="1">
                          <a:solidFill>
                            <a:srgbClr val="111111"/>
                          </a:solidFill>
                          <a:latin typeface="Calibri"/>
                        </a:rPr>
                        <a:t>52.3%</a:t>
                      </a:r>
                    </a:p>
                  </a:txBody>
                  <a:tcPr anchor="ctr" marL="22860" marR="22860" marT="5486" marB="5486">
                    <a:solidFill>
                      <a:srgbClr val="F4F6F9"/>
                    </a:solidFill>
                  </a:tcPr>
                </a:tc>
                <a:tc>
                  <a:txBody>
                    <a:bodyPr/>
                    <a:lstStyle/>
                    <a:p>
                      <a:pPr algn="ctr"/>
                      <a:r>
                        <a:rPr sz="700" b="1">
                          <a:solidFill>
                            <a:srgbClr val="111111"/>
                          </a:solidFill>
                          <a:latin typeface="Calibri"/>
                        </a:rPr>
                        <a:t>52.3%</a:t>
                      </a:r>
                    </a:p>
                  </a:txBody>
                  <a:tcPr anchor="ctr" marL="22860" marR="22860" marT="5486" marB="5486">
                    <a:solidFill>
                      <a:srgbClr val="F4F6F9"/>
                    </a:solidFill>
                  </a:tcPr>
                </a:tc>
              </a:tr>
              <a:tr h="233172">
                <a:tc>
                  <a:txBody>
                    <a:bodyPr/>
                    <a:lstStyle/>
                    <a:p>
                      <a:r>
                        <a:rPr sz="700" b="1">
                          <a:solidFill>
                            <a:srgbClr val="111111"/>
                          </a:solidFill>
                          <a:latin typeface="Calibri"/>
                        </a:rPr>
                        <a:t>PAT</a:t>
                      </a:r>
                    </a:p>
                  </a:txBody>
                  <a:tcPr anchor="ctr" marL="22860" marR="22860" marT="5486" marB="5486">
                    <a:solidFill>
                      <a:srgbClr val="FFFFFF"/>
                    </a:solidFill>
                  </a:tcPr>
                </a:tc>
                <a:tc>
                  <a:txBody>
                    <a:bodyPr/>
                    <a:lstStyle/>
                    <a:p>
                      <a:pPr algn="ctr"/>
                      <a:r>
                        <a:rPr sz="700" b="0">
                          <a:solidFill>
                            <a:srgbClr val="111111"/>
                          </a:solidFill>
                          <a:latin typeface="Calibri"/>
                        </a:rPr>
                        <a:t>₹2,441.0</a:t>
                      </a:r>
                    </a:p>
                  </a:txBody>
                  <a:tcPr anchor="ctr" marL="22860" marR="22860" marT="5486" marB="5486">
                    <a:solidFill>
                      <a:srgbClr val="FFFFFF"/>
                    </a:solidFill>
                  </a:tcPr>
                </a:tc>
                <a:tc>
                  <a:txBody>
                    <a:bodyPr/>
                    <a:lstStyle/>
                    <a:p>
                      <a:pPr algn="ctr"/>
                      <a:r>
                        <a:rPr sz="700" b="0">
                          <a:solidFill>
                            <a:srgbClr val="111111"/>
                          </a:solidFill>
                          <a:latin typeface="Calibri"/>
                        </a:rPr>
                        <a:t>₹2,502.0</a:t>
                      </a:r>
                    </a:p>
                  </a:txBody>
                  <a:tcPr anchor="ctr" marL="22860" marR="22860" marT="5486" marB="5486">
                    <a:solidFill>
                      <a:srgbClr val="FFFFFF"/>
                    </a:solidFill>
                  </a:tcPr>
                </a:tc>
                <a:tc>
                  <a:txBody>
                    <a:bodyPr/>
                    <a:lstStyle/>
                    <a:p>
                      <a:pPr algn="ctr"/>
                      <a:r>
                        <a:rPr sz="700" b="1">
                          <a:solidFill>
                            <a:srgbClr val="111111"/>
                          </a:solidFill>
                          <a:latin typeface="Calibri"/>
                        </a:rPr>
                        <a:t>₹3,066.0</a:t>
                      </a:r>
                    </a:p>
                  </a:txBody>
                  <a:tcPr anchor="ctr" marL="22860" marR="22860" marT="5486" marB="5486">
                    <a:solidFill>
                      <a:srgbClr val="FFFFFF"/>
                    </a:solidFill>
                  </a:tcPr>
                </a:tc>
                <a:tc>
                  <a:txBody>
                    <a:bodyPr/>
                    <a:lstStyle/>
                    <a:p>
                      <a:pPr algn="ctr"/>
                      <a:r>
                        <a:rPr sz="700" b="1">
                          <a:solidFill>
                            <a:srgbClr val="111111"/>
                          </a:solidFill>
                          <a:latin typeface="Calibri"/>
                        </a:rPr>
                        <a:t>₹3,983.0</a:t>
                      </a:r>
                    </a:p>
                  </a:txBody>
                  <a:tcPr anchor="ctr" marL="22860" marR="22860" marT="5486" marB="5486">
                    <a:solidFill>
                      <a:srgbClr val="FFFFFF"/>
                    </a:solidFill>
                  </a:tcPr>
                </a:tc>
              </a:tr>
              <a:tr h="233172">
                <a:tc>
                  <a:txBody>
                    <a:bodyPr/>
                    <a:lstStyle/>
                    <a:p>
                      <a:r>
                        <a:rPr sz="700" b="1">
                          <a:solidFill>
                            <a:srgbClr val="111111"/>
                          </a:solidFill>
                          <a:latin typeface="Calibri"/>
                        </a:rPr>
                        <a:t>PAT Mgn</a:t>
                      </a:r>
                    </a:p>
                  </a:txBody>
                  <a:tcPr anchor="ctr" marL="22860" marR="22860" marT="5486" marB="5486">
                    <a:solidFill>
                      <a:srgbClr val="F4F6F9"/>
                    </a:solidFill>
                  </a:tcPr>
                </a:tc>
                <a:tc>
                  <a:txBody>
                    <a:bodyPr/>
                    <a:lstStyle/>
                    <a:p>
                      <a:pPr algn="ctr"/>
                      <a:r>
                        <a:rPr sz="700" b="0">
                          <a:solidFill>
                            <a:srgbClr val="111111"/>
                          </a:solidFill>
                          <a:latin typeface="Calibri"/>
                        </a:rPr>
                        <a:t>34.4%</a:t>
                      </a:r>
                    </a:p>
                  </a:txBody>
                  <a:tcPr anchor="ctr" marL="22860" marR="22860" marT="5486" marB="5486">
                    <a:solidFill>
                      <a:srgbClr val="F4F6F9"/>
                    </a:solidFill>
                  </a:tcPr>
                </a:tc>
                <a:tc>
                  <a:txBody>
                    <a:bodyPr/>
                    <a:lstStyle/>
                    <a:p>
                      <a:pPr algn="ctr"/>
                      <a:r>
                        <a:rPr sz="700" b="0">
                          <a:solidFill>
                            <a:srgbClr val="111111"/>
                          </a:solidFill>
                          <a:latin typeface="Calibri"/>
                        </a:rPr>
                        <a:t>30.0%</a:t>
                      </a:r>
                    </a:p>
                  </a:txBody>
                  <a:tcPr anchor="ctr" marL="22860" marR="22860" marT="5486" marB="5486">
                    <a:solidFill>
                      <a:srgbClr val="F4F6F9"/>
                    </a:solidFill>
                  </a:tcPr>
                </a:tc>
                <a:tc>
                  <a:txBody>
                    <a:bodyPr/>
                    <a:lstStyle/>
                    <a:p>
                      <a:pPr algn="ctr"/>
                      <a:r>
                        <a:rPr sz="700" b="1">
                          <a:solidFill>
                            <a:srgbClr val="111111"/>
                          </a:solidFill>
                          <a:latin typeface="Calibri"/>
                        </a:rPr>
                        <a:t>29.5%</a:t>
                      </a:r>
                    </a:p>
                  </a:txBody>
                  <a:tcPr anchor="ctr" marL="22860" marR="22860" marT="5486" marB="5486">
                    <a:solidFill>
                      <a:srgbClr val="F4F6F9"/>
                    </a:solidFill>
                  </a:tcPr>
                </a:tc>
                <a:tc>
                  <a:txBody>
                    <a:bodyPr/>
                    <a:lstStyle/>
                    <a:p>
                      <a:pPr algn="ctr"/>
                      <a:r>
                        <a:rPr sz="700" b="1">
                          <a:solidFill>
                            <a:srgbClr val="111111"/>
                          </a:solidFill>
                          <a:latin typeface="Calibri"/>
                        </a:rPr>
                        <a:t>30.7%</a:t>
                      </a:r>
                    </a:p>
                  </a:txBody>
                  <a:tcPr anchor="ctr" marL="22860" marR="22860" marT="5486" marB="5486">
                    <a:solidFill>
                      <a:srgbClr val="F4F6F9"/>
                    </a:solidFill>
                  </a:tcPr>
                </a:tc>
              </a:tr>
              <a:tr h="233172">
                <a:tc>
                  <a:txBody>
                    <a:bodyPr/>
                    <a:lstStyle/>
                    <a:p>
                      <a:r>
                        <a:rPr sz="700" b="1">
                          <a:solidFill>
                            <a:srgbClr val="111111"/>
                          </a:solidFill>
                          <a:latin typeface="Calibri"/>
                        </a:rPr>
                        <a:t>EPS</a:t>
                      </a:r>
                    </a:p>
                  </a:txBody>
                  <a:tcPr anchor="ctr" marL="22860" marR="22860" marT="5486" marB="5486">
                    <a:solidFill>
                      <a:srgbClr val="FFFFFF"/>
                    </a:solidFill>
                  </a:tcPr>
                </a:tc>
                <a:tc>
                  <a:txBody>
                    <a:bodyPr/>
                    <a:lstStyle/>
                    <a:p>
                      <a:pPr algn="ctr"/>
                      <a:r>
                        <a:rPr sz="700" b="0">
                          <a:solidFill>
                            <a:srgbClr val="111111"/>
                          </a:solidFill>
                          <a:latin typeface="Calibri"/>
                        </a:rPr>
                        <a:t>₹41.0</a:t>
                      </a:r>
                    </a:p>
                  </a:txBody>
                  <a:tcPr anchor="ctr" marL="22860" marR="22860" marT="5486" marB="5486">
                    <a:solidFill>
                      <a:srgbClr val="FFFFFF"/>
                    </a:solidFill>
                  </a:tcPr>
                </a:tc>
                <a:tc>
                  <a:txBody>
                    <a:bodyPr/>
                    <a:lstStyle/>
                    <a:p>
                      <a:pPr algn="ctr"/>
                      <a:r>
                        <a:rPr sz="700" b="0">
                          <a:solidFill>
                            <a:srgbClr val="111111"/>
                          </a:solidFill>
                          <a:latin typeface="Calibri"/>
                        </a:rPr>
                        <a:t>₹41.7</a:t>
                      </a:r>
                    </a:p>
                  </a:txBody>
                  <a:tcPr anchor="ctr" marL="22860" marR="22860" marT="5486" marB="5486">
                    <a:solidFill>
                      <a:srgbClr val="FFFFFF"/>
                    </a:solidFill>
                  </a:tcPr>
                </a:tc>
                <a:tc>
                  <a:txBody>
                    <a:bodyPr/>
                    <a:lstStyle/>
                    <a:p>
                      <a:pPr algn="ctr"/>
                      <a:r>
                        <a:rPr sz="700" b="1">
                          <a:solidFill>
                            <a:srgbClr val="1A7A4A"/>
                          </a:solidFill>
                          <a:latin typeface="Calibri"/>
                        </a:rPr>
                        <a:t>₹51.2</a:t>
                      </a:r>
                    </a:p>
                  </a:txBody>
                  <a:tcPr anchor="ctr" marL="22860" marR="22860" marT="5486" marB="5486">
                    <a:solidFill>
                      <a:srgbClr val="FFFFFF"/>
                    </a:solidFill>
                  </a:tcPr>
                </a:tc>
                <a:tc>
                  <a:txBody>
                    <a:bodyPr/>
                    <a:lstStyle/>
                    <a:p>
                      <a:pPr algn="ctr"/>
                      <a:r>
                        <a:rPr sz="700" b="1">
                          <a:solidFill>
                            <a:srgbClr val="1A7A4A"/>
                          </a:solidFill>
                          <a:latin typeface="Calibri"/>
                        </a:rPr>
                        <a:t>₹66.5</a:t>
                      </a:r>
                    </a:p>
                  </a:txBody>
                  <a:tcPr anchor="ctr" marL="22860" marR="22860" marT="5486" marB="5486">
                    <a:solidFill>
                      <a:srgbClr val="FFFFFF"/>
                    </a:solidFill>
                  </a:tcPr>
                </a:tc>
              </a:tr>
              <a:tr h="233172">
                <a:tc>
                  <a:txBody>
                    <a:bodyPr/>
                    <a:lstStyle/>
                    <a:p>
                      <a:r>
                        <a:rPr sz="700" b="1">
                          <a:solidFill>
                            <a:srgbClr val="111111"/>
                          </a:solidFill>
                          <a:latin typeface="Calibri"/>
                        </a:rPr>
                        <a:t>P/E</a:t>
                      </a:r>
                    </a:p>
                  </a:txBody>
                  <a:tcPr anchor="ctr" marL="22860" marR="22860" marT="5486" marB="5486">
                    <a:solidFill>
                      <a:srgbClr val="F4F6F9"/>
                    </a:solidFill>
                  </a:tcPr>
                </a:tc>
                <a:tc>
                  <a:txBody>
                    <a:bodyPr/>
                    <a:lstStyle/>
                    <a:p>
                      <a:pPr algn="ctr"/>
                      <a:r>
                        <a:rPr sz="700" b="0">
                          <a:solidFill>
                            <a:srgbClr val="111111"/>
                          </a:solidFill>
                          <a:latin typeface="Calibri"/>
                        </a:rPr>
                        <a:t>20.1x</a:t>
                      </a:r>
                    </a:p>
                  </a:txBody>
                  <a:tcPr anchor="ctr" marL="22860" marR="22860" marT="5486" marB="5486">
                    <a:solidFill>
                      <a:srgbClr val="F4F6F9"/>
                    </a:solidFill>
                  </a:tcPr>
                </a:tc>
                <a:tc>
                  <a:txBody>
                    <a:bodyPr/>
                    <a:lstStyle/>
                    <a:p>
                      <a:pPr algn="ctr"/>
                      <a:r>
                        <a:rPr sz="700" b="0">
                          <a:solidFill>
                            <a:srgbClr val="111111"/>
                          </a:solidFill>
                          <a:latin typeface="Calibri"/>
                        </a:rPr>
                        <a:t>19.7x</a:t>
                      </a:r>
                    </a:p>
                  </a:txBody>
                  <a:tcPr anchor="ctr" marL="22860" marR="22860" marT="5486" marB="5486">
                    <a:solidFill>
                      <a:srgbClr val="F4F6F9"/>
                    </a:solidFill>
                  </a:tcPr>
                </a:tc>
                <a:tc>
                  <a:txBody>
                    <a:bodyPr/>
                    <a:lstStyle/>
                    <a:p>
                      <a:pPr algn="ctr"/>
                      <a:r>
                        <a:rPr sz="700" b="1">
                          <a:solidFill>
                            <a:srgbClr val="1A7A4A"/>
                          </a:solidFill>
                          <a:latin typeface="Calibri"/>
                        </a:rPr>
                        <a:t>16.1x</a:t>
                      </a:r>
                    </a:p>
                  </a:txBody>
                  <a:tcPr anchor="ctr" marL="22860" marR="22860" marT="5486" marB="5486">
                    <a:solidFill>
                      <a:srgbClr val="F4F6F9"/>
                    </a:solidFill>
                  </a:tcPr>
                </a:tc>
                <a:tc>
                  <a:txBody>
                    <a:bodyPr/>
                    <a:lstStyle/>
                    <a:p>
                      <a:pPr algn="ctr"/>
                      <a:r>
                        <a:rPr sz="700" b="1">
                          <a:solidFill>
                            <a:srgbClr val="1A7A4A"/>
                          </a:solidFill>
                          <a:latin typeface="Calibri"/>
                        </a:rPr>
                        <a:t>12.4x</a:t>
                      </a:r>
                    </a:p>
                  </a:txBody>
                  <a:tcPr anchor="ctr" marL="22860" marR="22860" marT="5486" marB="5486">
                    <a:solidFill>
                      <a:srgbClr val="F4F6F9"/>
                    </a:solidFill>
                  </a:tcPr>
                </a:tc>
              </a:tr>
              <a:tr h="233172">
                <a:tc>
                  <a:txBody>
                    <a:bodyPr/>
                    <a:lstStyle/>
                    <a:p>
                      <a:r>
                        <a:rPr sz="700" b="1">
                          <a:solidFill>
                            <a:srgbClr val="111111"/>
                          </a:solidFill>
                          <a:latin typeface="Calibri"/>
                        </a:rPr>
                        <a:t>P/B</a:t>
                      </a:r>
                    </a:p>
                  </a:txBody>
                  <a:tcPr anchor="ctr" marL="22860" marR="22860" marT="5486" marB="5486">
                    <a:solidFill>
                      <a:srgbClr val="FFFFFF"/>
                    </a:solidFill>
                  </a:tcPr>
                </a:tc>
                <a:tc>
                  <a:txBody>
                    <a:bodyPr/>
                    <a:lstStyle/>
                    <a:p>
                      <a:pPr algn="ctr"/>
                      <a:r>
                        <a:rPr sz="700" b="0">
                          <a:solidFill>
                            <a:srgbClr val="111111"/>
                          </a:solidFill>
                          <a:latin typeface="Calibri"/>
                        </a:rPr>
                        <a:t>5.6x</a:t>
                      </a:r>
                    </a:p>
                  </a:txBody>
                  <a:tcPr anchor="ctr" marL="22860" marR="22860" marT="5486" marB="5486">
                    <a:solidFill>
                      <a:srgbClr val="FFFFFF"/>
                    </a:solidFill>
                  </a:tcPr>
                </a:tc>
                <a:tc>
                  <a:txBody>
                    <a:bodyPr/>
                    <a:lstStyle/>
                    <a:p>
                      <a:pPr algn="ctr"/>
                      <a:r>
                        <a:rPr sz="700" b="0">
                          <a:solidFill>
                            <a:srgbClr val="111111"/>
                          </a:solidFill>
                          <a:latin typeface="Calibri"/>
                        </a:rPr>
                        <a:t>4.5x</a:t>
                      </a:r>
                    </a:p>
                  </a:txBody>
                  <a:tcPr anchor="ctr" marL="22860" marR="22860" marT="5486" marB="5486">
                    <a:solidFill>
                      <a:srgbClr val="FFFFFF"/>
                    </a:solidFill>
                  </a:tcPr>
                </a:tc>
                <a:tc>
                  <a:txBody>
                    <a:bodyPr/>
                    <a:lstStyle/>
                    <a:p>
                      <a:pPr algn="ctr"/>
                      <a:r>
                        <a:rPr sz="700" b="1">
                          <a:solidFill>
                            <a:srgbClr val="1A7A4A"/>
                          </a:solidFill>
                          <a:latin typeface="Calibri"/>
                        </a:rPr>
                        <a:t>3.6x</a:t>
                      </a:r>
                    </a:p>
                  </a:txBody>
                  <a:tcPr anchor="ctr" marL="22860" marR="22860" marT="5486" marB="5486">
                    <a:solidFill>
                      <a:srgbClr val="FFFFFF"/>
                    </a:solidFill>
                  </a:tcPr>
                </a:tc>
                <a:tc>
                  <a:txBody>
                    <a:bodyPr/>
                    <a:lstStyle/>
                    <a:p>
                      <a:pPr algn="ctr"/>
                      <a:r>
                        <a:rPr sz="700" b="1">
                          <a:solidFill>
                            <a:srgbClr val="1A7A4A"/>
                          </a:solidFill>
                          <a:latin typeface="Calibri"/>
                        </a:rPr>
                        <a:t>2.9x</a:t>
                      </a:r>
                    </a:p>
                  </a:txBody>
                  <a:tcPr anchor="ctr" marL="22860" marR="22860" marT="5486" marB="5486">
                    <a:solidFill>
                      <a:srgbClr val="FFFFFF"/>
                    </a:solidFill>
                  </a:tcPr>
                </a:tc>
              </a:tr>
              <a:tr h="233172">
                <a:tc>
                  <a:txBody>
                    <a:bodyPr/>
                    <a:lstStyle/>
                    <a:p>
                      <a:r>
                        <a:rPr sz="700" b="1">
                          <a:solidFill>
                            <a:srgbClr val="111111"/>
                          </a:solidFill>
                          <a:latin typeface="Calibri"/>
                        </a:rPr>
                        <a:t>EV/EBITDA</a:t>
                      </a:r>
                    </a:p>
                  </a:txBody>
                  <a:tcPr anchor="ctr" marL="22860" marR="22860" marT="5486" marB="5486">
                    <a:solidFill>
                      <a:srgbClr val="F4F6F9"/>
                    </a:solidFill>
                  </a:tcPr>
                </a:tc>
                <a:tc>
                  <a:txBody>
                    <a:bodyPr/>
                    <a:lstStyle/>
                    <a:p>
                      <a:pPr algn="ctr"/>
                      <a:r>
                        <a:rPr sz="700" b="0">
                          <a:solidFill>
                            <a:srgbClr val="111111"/>
                          </a:solidFill>
                          <a:latin typeface="Calibri"/>
                        </a:rPr>
                        <a:t>9.5x</a:t>
                      </a:r>
                    </a:p>
                  </a:txBody>
                  <a:tcPr anchor="ctr" marL="22860" marR="22860" marT="5486" marB="5486">
                    <a:solidFill>
                      <a:srgbClr val="F4F6F9"/>
                    </a:solidFill>
                  </a:tcPr>
                </a:tc>
                <a:tc>
                  <a:txBody>
                    <a:bodyPr/>
                    <a:lstStyle/>
                    <a:p>
                      <a:pPr algn="ctr"/>
                      <a:r>
                        <a:rPr sz="700" b="0">
                          <a:solidFill>
                            <a:srgbClr val="111111"/>
                          </a:solidFill>
                          <a:latin typeface="Calibri"/>
                        </a:rPr>
                        <a:t>11.4x</a:t>
                      </a:r>
                    </a:p>
                  </a:txBody>
                  <a:tcPr anchor="ctr" marL="22860" marR="22860" marT="5486" marB="5486">
                    <a:solidFill>
                      <a:srgbClr val="F4F6F9"/>
                    </a:solidFill>
                  </a:tcPr>
                </a:tc>
                <a:tc>
                  <a:txBody>
                    <a:bodyPr/>
                    <a:lstStyle/>
                    <a:p>
                      <a:pPr algn="ctr"/>
                      <a:r>
                        <a:rPr sz="700" b="1">
                          <a:solidFill>
                            <a:srgbClr val="1A7A4A"/>
                          </a:solidFill>
                          <a:latin typeface="Calibri"/>
                        </a:rPr>
                        <a:t>12.7x</a:t>
                      </a:r>
                    </a:p>
                  </a:txBody>
                  <a:tcPr anchor="ctr" marL="22860" marR="22860" marT="5486" marB="5486">
                    <a:solidFill>
                      <a:srgbClr val="F4F6F9"/>
                    </a:solidFill>
                  </a:tcPr>
                </a:tc>
                <a:tc>
                  <a:txBody>
                    <a:bodyPr/>
                    <a:lstStyle/>
                    <a:p>
                      <a:pPr algn="ctr"/>
                      <a:r>
                        <a:rPr sz="700" b="1">
                          <a:solidFill>
                            <a:srgbClr val="1A7A4A"/>
                          </a:solidFill>
                          <a:latin typeface="Calibri"/>
                        </a:rPr>
                        <a:t>10.5x</a:t>
                      </a:r>
                    </a:p>
                  </a:txBody>
                  <a:tcPr anchor="ct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anchor="ctr" marL="22860" marR="22860" marT="5486" marB="5486">
                    <a:solidFill>
                      <a:srgbClr val="F4F6F9"/>
                    </a:solidFill>
                  </a:tcPr>
                </a:tc>
                <a:tc>
                  <a:txBody>
                    <a:bodyPr/>
                    <a:lstStyle/>
                    <a:p>
                      <a:pPr algn="r"/>
                      <a:r>
                        <a:rPr sz="700" b="1">
                          <a:solidFill>
                            <a:srgbClr val="1F4690"/>
                          </a:solidFill>
                          <a:latin typeface="Calibri"/>
                        </a:rPr>
                        <a:t>₹2,888 Cr</a:t>
                      </a:r>
                    </a:p>
                  </a:txBody>
                  <a:tcPr anchor="ctr" marL="22860" marR="22860" marT="5486" marB="5486">
                    <a:solidFill>
                      <a:srgbClr val="F4F6F9"/>
                    </a:solidFill>
                  </a:tcPr>
                </a:tc>
              </a:tr>
              <a:tr h="186537">
                <a:tc>
                  <a:txBody>
                    <a:bodyPr/>
                    <a:lstStyle/>
                    <a:p>
                      <a:r>
                        <a:rPr sz="700" b="0">
                          <a:solidFill>
                            <a:srgbClr val="111111"/>
                          </a:solidFill>
                          <a:latin typeface="Calibri"/>
                        </a:rPr>
                        <a:t>Operating PAT</a:t>
                      </a:r>
                    </a:p>
                  </a:txBody>
                  <a:tcPr anchor="ctr" marL="22860" marR="22860" marT="5486" marB="5486">
                    <a:solidFill>
                      <a:srgbClr val="FFFFFF"/>
                    </a:solidFill>
                  </a:tcPr>
                </a:tc>
                <a:tc>
                  <a:txBody>
                    <a:bodyPr/>
                    <a:lstStyle/>
                    <a:p>
                      <a:pPr algn="r"/>
                      <a:r>
                        <a:rPr sz="700" b="1">
                          <a:solidFill>
                            <a:srgbClr val="1F4690"/>
                          </a:solidFill>
                          <a:latin typeface="Calibri"/>
                        </a:rPr>
                        <a:t>₹1,088 Cr (+11% YoY)</a:t>
                      </a:r>
                    </a:p>
                  </a:txBody>
                  <a:tcPr anchor="ctr" marL="22860" marR="22860" marT="5486" marB="5486">
                    <a:solidFill>
                      <a:srgbClr val="FFFFFF"/>
                    </a:solidFill>
                  </a:tcPr>
                </a:tc>
              </a:tr>
              <a:tr h="186537">
                <a:tc>
                  <a:txBody>
                    <a:bodyPr/>
                    <a:lstStyle/>
                    <a:p>
                      <a:r>
                        <a:rPr sz="700" b="0">
                          <a:solidFill>
                            <a:srgbClr val="111111"/>
                          </a:solidFill>
                          <a:latin typeface="Calibri"/>
                        </a:rPr>
                        <a:t>ARR % of Net Revenue</a:t>
                      </a:r>
                    </a:p>
                  </a:txBody>
                  <a:tcPr anchor="ctr" marL="22860" marR="22860" marT="5486" marB="5486">
                    <a:solidFill>
                      <a:srgbClr val="F4F6F9"/>
                    </a:solidFill>
                  </a:tcPr>
                </a:tc>
                <a:tc>
                  <a:txBody>
                    <a:bodyPr/>
                    <a:lstStyle/>
                    <a:p>
                      <a:pPr algn="r"/>
                      <a:r>
                        <a:rPr sz="700" b="1">
                          <a:solidFill>
                            <a:srgbClr val="1F4690"/>
                          </a:solidFill>
                          <a:latin typeface="Calibri"/>
                        </a:rPr>
                        <a:t>65%</a:t>
                      </a:r>
                    </a:p>
                  </a:txBody>
                  <a:tcPr anchor="ctr" marL="22860" marR="22860" marT="5486" marB="5486">
                    <a:solidFill>
                      <a:srgbClr val="F4F6F9"/>
                    </a:solidFill>
                  </a:tcPr>
                </a:tc>
              </a:tr>
              <a:tr h="186537">
                <a:tc>
                  <a:txBody>
                    <a:bodyPr/>
                    <a:lstStyle/>
                    <a:p>
                      <a:r>
                        <a:rPr sz="700" b="0">
                          <a:solidFill>
                            <a:srgbClr val="111111"/>
                          </a:solidFill>
                          <a:latin typeface="Calibri"/>
                        </a:rPr>
                        <a:t>Fee-Based % of Revenue</a:t>
                      </a:r>
                    </a:p>
                  </a:txBody>
                  <a:tcPr anchor="ctr" marL="22860" marR="22860" marT="5486" marB="5486">
                    <a:solidFill>
                      <a:srgbClr val="FFFFFF"/>
                    </a:solidFill>
                  </a:tcPr>
                </a:tc>
                <a:tc>
                  <a:txBody>
                    <a:bodyPr/>
                    <a:lstStyle/>
                    <a:p>
                      <a:pPr algn="r"/>
                      <a:r>
                        <a:rPr sz="700" b="1">
                          <a:solidFill>
                            <a:srgbClr val="1F4690"/>
                          </a:solidFill>
                          <a:latin typeface="Calibri"/>
                        </a:rPr>
                        <a:t>45%</a:t>
                      </a:r>
                    </a:p>
                  </a:txBody>
                  <a:tcPr anchor="ctr" marL="22860" marR="22860" marT="5486" marB="5486">
                    <a:solidFill>
                      <a:srgbClr val="FFFFFF"/>
                    </a:solidFill>
                  </a:tcPr>
                </a:tc>
              </a:tr>
              <a:tr h="186540">
                <a:tc>
                  <a:txBody>
                    <a:bodyPr/>
                    <a:lstStyle/>
                    <a:p>
                      <a:r>
                        <a:rPr sz="700" b="0">
                          <a:solidFill>
                            <a:srgbClr val="111111"/>
                          </a:solidFill>
                          <a:latin typeface="Calibri"/>
                        </a:rPr>
                        <a:t>EPS FY25 Annual</a:t>
                      </a:r>
                    </a:p>
                  </a:txBody>
                  <a:tcPr anchor="ctr" marL="22860" marR="22860" marT="5486" marB="5486">
                    <a:solidFill>
                      <a:srgbClr val="F4F6F9"/>
                    </a:solidFill>
                  </a:tcPr>
                </a:tc>
                <a:tc>
                  <a:txBody>
                    <a:bodyPr/>
                    <a:lstStyle/>
                    <a:p>
                      <a:pPr algn="r"/>
                      <a:r>
                        <a:rPr sz="700" b="1">
                          <a:solidFill>
                            <a:srgbClr val="1F4690"/>
                          </a:solidFill>
                          <a:latin typeface="Calibri"/>
                        </a:rPr>
                        <a:t>₹51.2</a:t>
                      </a:r>
                    </a:p>
                  </a:txBody>
                  <a:tcPr anchor="ct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5" name="Rounded Rectangle 14"/>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384048" y="1298448"/>
            <a:ext cx="3590543" cy="1828800"/>
          </a:xfrm>
          <a:prstGeom prst="rect">
            <a:avLst/>
          </a:prstGeom>
        </p:spPr>
      </p:pic>
      <p:sp>
        <p:nvSpPr>
          <p:cNvPr id="17" name="Rectangle 16"/>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4"/>
          <a:stretch>
            <a:fillRect/>
          </a:stretch>
        </p:blipFill>
        <p:spPr>
          <a:xfrm>
            <a:off x="4294632" y="1298448"/>
            <a:ext cx="3590543" cy="1828800"/>
          </a:xfrm>
          <a:prstGeom prst="rect">
            <a:avLst/>
          </a:prstGeom>
        </p:spPr>
      </p:pic>
      <p:sp>
        <p:nvSpPr>
          <p:cNvPr id="20" name="Rectangle 19"/>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5"/>
          <a:stretch>
            <a:fillRect/>
          </a:stretch>
        </p:blipFill>
        <p:spPr>
          <a:xfrm>
            <a:off x="8205215" y="1298448"/>
            <a:ext cx="3590543" cy="1828800"/>
          </a:xfrm>
          <a:prstGeom prst="rect">
            <a:avLst/>
          </a:prstGeom>
        </p:spPr>
      </p:pic>
      <p:sp>
        <p:nvSpPr>
          <p:cNvPr id="23" name="Rectangle 22"/>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6"/>
          <a:stretch>
            <a:fillRect/>
          </a:stretch>
        </p:blipFill>
        <p:spPr>
          <a:xfrm>
            <a:off x="384048" y="3438144"/>
            <a:ext cx="3590543" cy="1828800"/>
          </a:xfrm>
          <a:prstGeom prst="rect">
            <a:avLst/>
          </a:prstGeom>
        </p:spPr>
      </p:pic>
      <p:sp>
        <p:nvSpPr>
          <p:cNvPr id="26" name="Rectangle 25"/>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7"/>
          <a:stretch>
            <a:fillRect/>
          </a:stretch>
        </p:blipFill>
        <p:spPr>
          <a:xfrm>
            <a:off x="4294632" y="3438144"/>
            <a:ext cx="3590543" cy="1828800"/>
          </a:xfrm>
          <a:prstGeom prst="rect">
            <a:avLst/>
          </a:prstGeom>
        </p:spPr>
      </p:pic>
      <p:sp>
        <p:nvSpPr>
          <p:cNvPr id="29" name="Rectangle 28"/>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8"/>
          <a:stretch>
            <a:fillRect/>
          </a:stretch>
        </p:blipFill>
        <p:spPr>
          <a:xfrm>
            <a:off x="8205215" y="3438144"/>
            <a:ext cx="3590543" cy="1828800"/>
          </a:xfrm>
          <a:prstGeom prst="rect">
            <a:avLst/>
          </a:prstGeom>
        </p:spPr>
      </p:pic>
      <p:sp>
        <p:nvSpPr>
          <p:cNvPr id="32" name="Rectangle 31"/>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 &amp; Key Catalysts</a:t>
            </a:r>
          </a:p>
        </p:txBody>
      </p:sp>
      <p:sp>
        <p:nvSpPr>
          <p:cNvPr id="15" name="TextBox 14"/>
          <p:cNvSpPr txBox="1"/>
          <p:nvPr/>
        </p:nvSpPr>
        <p:spPr>
          <a:xfrm>
            <a:off x="292608" y="1143000"/>
            <a:ext cx="6400800" cy="548640"/>
          </a:xfrm>
          <a:prstGeom prst="rect">
            <a:avLst/>
          </a:prstGeom>
          <a:noFill/>
        </p:spPr>
        <p:txBody>
          <a:bodyPr wrap="square" lIns="36576" rIns="36576" tIns="9144" bIns="9144">
            <a:spAutoFit/>
          </a:bodyPr>
          <a:lstStyle/>
          <a:p>
            <a:r>
              <a:rPr sz="8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6" name="TextBox 15"/>
          <p:cNvSpPr txBox="1"/>
          <p:nvPr/>
        </p:nvSpPr>
        <p:spPr>
          <a:xfrm>
            <a:off x="292608" y="3291840"/>
            <a:ext cx="6400800" cy="182880"/>
          </a:xfrm>
          <a:prstGeom prst="rect">
            <a:avLst/>
          </a:prstGeom>
          <a:noFill/>
        </p:spPr>
        <p:txBody>
          <a:bodyPr wrap="square" lIns="36576" rIns="36576" tIns="9144" bIns="9144">
            <a:spAutoFit/>
          </a:bodyPr>
          <a:lstStyle/>
          <a:p>
            <a:r>
              <a:rPr sz="800" b="1">
                <a:solidFill>
                  <a:srgbClr val="1F4690"/>
                </a:solidFill>
                <a:latin typeface="Calibri"/>
              </a:rPr>
              <a:t>SAARTHI MULTI-DIMENSIONAL ASSESSMENT - SCORE: 72/100 (BUY (70-84 range))</a:t>
            </a:r>
          </a:p>
        </p:txBody>
      </p:sp>
      <p:sp>
        <p:nvSpPr>
          <p:cNvPr id="17" name="Rectangle 16"/>
          <p:cNvSpPr/>
          <p:nvPr/>
        </p:nvSpPr>
        <p:spPr>
          <a:xfrm>
            <a:off x="292608" y="3493008"/>
            <a:ext cx="6400800"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3977640"/>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3566160"/>
            <a:ext cx="5760720" cy="146304"/>
          </a:xfrm>
          <a:prstGeom prst="rect">
            <a:avLst/>
          </a:prstGeom>
          <a:noFill/>
        </p:spPr>
        <p:txBody>
          <a:bodyPr wrap="square" lIns="36576" rIns="36576" tIns="9144" bIns="9144">
            <a:spAutoFit/>
          </a:bodyPr>
          <a:lstStyle/>
          <a:p>
            <a:r>
              <a:rPr sz="750" b="1">
                <a:solidFill>
                  <a:srgbClr val="1F4690"/>
                </a:solidFill>
                <a:latin typeface="Calibri"/>
              </a:rPr>
              <a:t>S - Scalability of Core Engine</a:t>
            </a:r>
          </a:p>
        </p:txBody>
      </p:sp>
      <p:sp>
        <p:nvSpPr>
          <p:cNvPr id="20" name="TextBox 19"/>
          <p:cNvSpPr txBox="1"/>
          <p:nvPr/>
        </p:nvSpPr>
        <p:spPr>
          <a:xfrm>
            <a:off x="6071616" y="3566160"/>
            <a:ext cx="621792" cy="146304"/>
          </a:xfrm>
          <a:prstGeom prst="rect">
            <a:avLst/>
          </a:prstGeom>
          <a:noFill/>
        </p:spPr>
        <p:txBody>
          <a:bodyPr wrap="square" lIns="36576" rIns="36576" tIns="9144" bIns="9144">
            <a:spAutoFit/>
          </a:bodyPr>
          <a:lstStyle/>
          <a:p>
            <a:pPr algn="r"/>
            <a:r>
              <a:rPr sz="900" b="1">
                <a:solidFill>
                  <a:srgbClr val="1F4690"/>
                </a:solidFill>
                <a:latin typeface="Calibri"/>
              </a:rPr>
              <a:t>12 / 15</a:t>
            </a:r>
          </a:p>
        </p:txBody>
      </p:sp>
      <p:sp>
        <p:nvSpPr>
          <p:cNvPr id="21" name="Rectangle 20"/>
          <p:cNvSpPr/>
          <p:nvPr/>
        </p:nvSpPr>
        <p:spPr>
          <a:xfrm>
            <a:off x="292608" y="3730752"/>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2608" y="3730752"/>
            <a:ext cx="512064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3794760"/>
            <a:ext cx="6400800" cy="182880"/>
          </a:xfrm>
          <a:prstGeom prst="rect">
            <a:avLst/>
          </a:prstGeom>
          <a:noFill/>
        </p:spPr>
        <p:txBody>
          <a:bodyPr wrap="square" lIns="36576" rIns="36576" tIns="9144" bIns="9144">
            <a:spAutoFit/>
          </a:bodyPr>
          <a:lstStyle/>
          <a:p>
            <a:r>
              <a:rPr sz="6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a:t>
            </a:r>
          </a:p>
        </p:txBody>
      </p:sp>
      <p:sp>
        <p:nvSpPr>
          <p:cNvPr id="24" name="Rectangle 23"/>
          <p:cNvSpPr/>
          <p:nvPr/>
        </p:nvSpPr>
        <p:spPr>
          <a:xfrm>
            <a:off x="292608" y="4462272"/>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 y="4050791"/>
            <a:ext cx="5760720" cy="146304"/>
          </a:xfrm>
          <a:prstGeom prst="rect">
            <a:avLst/>
          </a:prstGeom>
          <a:noFill/>
        </p:spPr>
        <p:txBody>
          <a:bodyPr wrap="square" lIns="36576" rIns="36576" tIns="9144" bIns="9144">
            <a:spAutoFit/>
          </a:bodyPr>
          <a:lstStyle/>
          <a:p>
            <a:r>
              <a:rPr sz="750" b="1">
                <a:solidFill>
                  <a:srgbClr val="1F4690"/>
                </a:solidFill>
                <a:latin typeface="Calibri"/>
              </a:rPr>
              <a:t>A1 - Addressable Market &amp; Adjacency</a:t>
            </a:r>
          </a:p>
        </p:txBody>
      </p:sp>
      <p:sp>
        <p:nvSpPr>
          <p:cNvPr id="26" name="TextBox 25"/>
          <p:cNvSpPr txBox="1"/>
          <p:nvPr/>
        </p:nvSpPr>
        <p:spPr>
          <a:xfrm>
            <a:off x="6071616" y="4050791"/>
            <a:ext cx="621792" cy="146304"/>
          </a:xfrm>
          <a:prstGeom prst="rect">
            <a:avLst/>
          </a:prstGeom>
          <a:noFill/>
        </p:spPr>
        <p:txBody>
          <a:bodyPr wrap="square" lIns="36576" rIns="36576" tIns="9144" bIns="9144">
            <a:spAutoFit/>
          </a:bodyPr>
          <a:lstStyle/>
          <a:p>
            <a:pPr algn="r"/>
            <a:r>
              <a:rPr sz="900" b="1">
                <a:solidFill>
                  <a:srgbClr val="1F4690"/>
                </a:solidFill>
                <a:latin typeface="Calibri"/>
              </a:rPr>
              <a:t>9 / 10</a:t>
            </a:r>
          </a:p>
        </p:txBody>
      </p:sp>
      <p:sp>
        <p:nvSpPr>
          <p:cNvPr id="27" name="Rectangle 26"/>
          <p:cNvSpPr/>
          <p:nvPr/>
        </p:nvSpPr>
        <p:spPr>
          <a:xfrm>
            <a:off x="292608" y="4215383"/>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4215383"/>
            <a:ext cx="576072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4279392"/>
            <a:ext cx="6400800" cy="182880"/>
          </a:xfrm>
          <a:prstGeom prst="rect">
            <a:avLst/>
          </a:prstGeom>
          <a:noFill/>
        </p:spPr>
        <p:txBody>
          <a:bodyPr wrap="square" lIns="36576" rIns="36576" tIns="9144" bIns="9144">
            <a:spAutoFit/>
          </a:bodyPr>
          <a:lstStyle/>
          <a:p>
            <a:r>
              <a:rPr sz="6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a:t>
            </a:r>
          </a:p>
        </p:txBody>
      </p:sp>
      <p:sp>
        <p:nvSpPr>
          <p:cNvPr id="30" name="Rectangle 29"/>
          <p:cNvSpPr/>
          <p:nvPr/>
        </p:nvSpPr>
        <p:spPr>
          <a:xfrm>
            <a:off x="292608" y="4946904"/>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8" y="4535424"/>
            <a:ext cx="5760720" cy="146304"/>
          </a:xfrm>
          <a:prstGeom prst="rect">
            <a:avLst/>
          </a:prstGeom>
          <a:noFill/>
        </p:spPr>
        <p:txBody>
          <a:bodyPr wrap="square" lIns="36576" rIns="36576" tIns="9144" bIns="9144">
            <a:spAutoFit/>
          </a:bodyPr>
          <a:lstStyle/>
          <a:p>
            <a:r>
              <a:rPr sz="750" b="1">
                <a:solidFill>
                  <a:srgbClr val="1F4690"/>
                </a:solidFill>
                <a:latin typeface="Calibri"/>
              </a:rPr>
              <a:t>A2 - Asymmetric Pricing Power</a:t>
            </a:r>
          </a:p>
        </p:txBody>
      </p:sp>
      <p:sp>
        <p:nvSpPr>
          <p:cNvPr id="32" name="TextBox 31"/>
          <p:cNvSpPr txBox="1"/>
          <p:nvPr/>
        </p:nvSpPr>
        <p:spPr>
          <a:xfrm>
            <a:off x="6071616" y="4535424"/>
            <a:ext cx="621792" cy="146304"/>
          </a:xfrm>
          <a:prstGeom prst="rect">
            <a:avLst/>
          </a:prstGeom>
          <a:noFill/>
        </p:spPr>
        <p:txBody>
          <a:bodyPr wrap="square" lIns="36576" rIns="36576" tIns="9144" bIns="9144">
            <a:spAutoFit/>
          </a:bodyPr>
          <a:lstStyle/>
          <a:p>
            <a:pPr algn="r"/>
            <a:r>
              <a:rPr sz="900" b="1">
                <a:solidFill>
                  <a:srgbClr val="1F4690"/>
                </a:solidFill>
                <a:latin typeface="Calibri"/>
              </a:rPr>
              <a:t>10 / 15</a:t>
            </a:r>
          </a:p>
        </p:txBody>
      </p:sp>
      <p:sp>
        <p:nvSpPr>
          <p:cNvPr id="33" name="Rectangle 32"/>
          <p:cNvSpPr/>
          <p:nvPr/>
        </p:nvSpPr>
        <p:spPr>
          <a:xfrm>
            <a:off x="292608" y="4700016"/>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92608" y="4700016"/>
            <a:ext cx="4267199" cy="3200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608" y="4764024"/>
            <a:ext cx="6400800" cy="182880"/>
          </a:xfrm>
          <a:prstGeom prst="rect">
            <a:avLst/>
          </a:prstGeom>
          <a:noFill/>
        </p:spPr>
        <p:txBody>
          <a:bodyPr wrap="square" lIns="36576" rIns="36576" tIns="9144" bIns="9144">
            <a:spAutoFit/>
          </a:bodyPr>
          <a:lstStyle/>
          <a:p>
            <a:r>
              <a:rPr sz="6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a:t>
            </a:r>
          </a:p>
        </p:txBody>
      </p:sp>
      <p:sp>
        <p:nvSpPr>
          <p:cNvPr id="36" name="Rectangle 35"/>
          <p:cNvSpPr/>
          <p:nvPr/>
        </p:nvSpPr>
        <p:spPr>
          <a:xfrm>
            <a:off x="292608" y="5431536"/>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2608" y="5020056"/>
            <a:ext cx="5760720" cy="146304"/>
          </a:xfrm>
          <a:prstGeom prst="rect">
            <a:avLst/>
          </a:prstGeom>
          <a:noFill/>
        </p:spPr>
        <p:txBody>
          <a:bodyPr wrap="square" lIns="36576" rIns="36576" tIns="9144" bIns="9144">
            <a:spAutoFit/>
          </a:bodyPr>
          <a:lstStyle/>
          <a:p>
            <a:r>
              <a:rPr sz="750" b="1">
                <a:solidFill>
                  <a:srgbClr val="1F4690"/>
                </a:solidFill>
                <a:latin typeface="Calibri"/>
              </a:rPr>
              <a:t>R - Reinvestment Quality</a:t>
            </a:r>
          </a:p>
        </p:txBody>
      </p:sp>
      <p:sp>
        <p:nvSpPr>
          <p:cNvPr id="38" name="TextBox 37"/>
          <p:cNvSpPr txBox="1"/>
          <p:nvPr/>
        </p:nvSpPr>
        <p:spPr>
          <a:xfrm>
            <a:off x="6071616" y="5020056"/>
            <a:ext cx="621792" cy="146304"/>
          </a:xfrm>
          <a:prstGeom prst="rect">
            <a:avLst/>
          </a:prstGeom>
          <a:noFill/>
        </p:spPr>
        <p:txBody>
          <a:bodyPr wrap="square" lIns="36576" rIns="36576" tIns="9144" bIns="9144">
            <a:spAutoFit/>
          </a:bodyPr>
          <a:lstStyle/>
          <a:p>
            <a:pPr algn="r"/>
            <a:r>
              <a:rPr sz="900" b="1">
                <a:solidFill>
                  <a:srgbClr val="1F4690"/>
                </a:solidFill>
                <a:latin typeface="Calibri"/>
              </a:rPr>
              <a:t>13 / 15</a:t>
            </a:r>
          </a:p>
        </p:txBody>
      </p:sp>
      <p:sp>
        <p:nvSpPr>
          <p:cNvPr id="39" name="Rectangle 38"/>
          <p:cNvSpPr/>
          <p:nvPr/>
        </p:nvSpPr>
        <p:spPr>
          <a:xfrm>
            <a:off x="292608" y="5184648"/>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92608" y="5184648"/>
            <a:ext cx="554736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5248656"/>
            <a:ext cx="6400800" cy="182880"/>
          </a:xfrm>
          <a:prstGeom prst="rect">
            <a:avLst/>
          </a:prstGeom>
          <a:noFill/>
        </p:spPr>
        <p:txBody>
          <a:bodyPr wrap="square" lIns="36576" rIns="36576" tIns="9144" bIns="9144">
            <a:spAutoFit/>
          </a:bodyPr>
          <a:lstStyle/>
          <a:p>
            <a:r>
              <a:rPr sz="650" b="0">
                <a:solidFill>
                  <a:srgbClr val="111111"/>
                </a:solidFill>
                <a:latin typeface="Calibri"/>
              </a:rPr>
              <a:t>MCap INR 49,079 Cr (+24.8% YoY); P/E 24.2; P/B 3.82. Strong RoCE; disciplined allocation into high-return fee businesses. Reinvestment in tech, talent, distribution, research generates sustainable advantage. PWM AUM +31...</a:t>
            </a:r>
          </a:p>
        </p:txBody>
      </p:sp>
      <p:sp>
        <p:nvSpPr>
          <p:cNvPr id="42" name="Rectangle 41"/>
          <p:cNvSpPr/>
          <p:nvPr/>
        </p:nvSpPr>
        <p:spPr>
          <a:xfrm>
            <a:off x="292608" y="5916168"/>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2608" y="5504688"/>
            <a:ext cx="5760720" cy="146304"/>
          </a:xfrm>
          <a:prstGeom prst="rect">
            <a:avLst/>
          </a:prstGeom>
          <a:noFill/>
        </p:spPr>
        <p:txBody>
          <a:bodyPr wrap="square" lIns="36576" rIns="36576" tIns="9144" bIns="9144">
            <a:spAutoFit/>
          </a:bodyPr>
          <a:lstStyle/>
          <a:p>
            <a:r>
              <a:rPr sz="750" b="1">
                <a:solidFill>
                  <a:srgbClr val="1F4690"/>
                </a:solidFill>
                <a:latin typeface="Calibri"/>
              </a:rPr>
              <a:t>T - Track Record Through Adversity</a:t>
            </a:r>
          </a:p>
        </p:txBody>
      </p:sp>
      <p:sp>
        <p:nvSpPr>
          <p:cNvPr id="44" name="TextBox 43"/>
          <p:cNvSpPr txBox="1"/>
          <p:nvPr/>
        </p:nvSpPr>
        <p:spPr>
          <a:xfrm>
            <a:off x="6071616" y="5504688"/>
            <a:ext cx="621792" cy="146304"/>
          </a:xfrm>
          <a:prstGeom prst="rect">
            <a:avLst/>
          </a:prstGeom>
          <a:noFill/>
        </p:spPr>
        <p:txBody>
          <a:bodyPr wrap="square" lIns="36576" rIns="36576" tIns="9144" bIns="9144">
            <a:spAutoFit/>
          </a:bodyPr>
          <a:lstStyle/>
          <a:p>
            <a:pPr algn="r"/>
            <a:r>
              <a:rPr sz="900" b="1">
                <a:solidFill>
                  <a:srgbClr val="1F4690"/>
                </a:solidFill>
                <a:latin typeface="Calibri"/>
              </a:rPr>
              <a:t>8 / 10</a:t>
            </a:r>
          </a:p>
        </p:txBody>
      </p:sp>
      <p:sp>
        <p:nvSpPr>
          <p:cNvPr id="45" name="Rectangle 44"/>
          <p:cNvSpPr/>
          <p:nvPr/>
        </p:nvSpPr>
        <p:spPr>
          <a:xfrm>
            <a:off x="292608" y="5669280"/>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92608" y="5669280"/>
            <a:ext cx="512064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2608" y="5733288"/>
            <a:ext cx="6400800" cy="182880"/>
          </a:xfrm>
          <a:prstGeom prst="rect">
            <a:avLst/>
          </a:prstGeom>
          <a:noFill/>
        </p:spPr>
        <p:txBody>
          <a:bodyPr wrap="square" lIns="36576" rIns="36576" tIns="9144" bIns="9144">
            <a:spAutoFit/>
          </a:bodyPr>
          <a:lstStyle/>
          <a:p>
            <a:r>
              <a:rPr sz="650" b="0">
                <a:solidFill>
                  <a:srgbClr val="111111"/>
                </a:solidFill>
                <a:latin typeface="Calibri"/>
              </a:rPr>
              <a:t>Q2FY25 PAT INR 1,242 Cr (+123% YoY), 46% revenue growth, 48% RoE — recovery and execution. Q2FY26 PAT -67.6% YoY, revenue -34.9% YoY shows residual cyclicality from F&amp;O regulation. Continuity across cycles maintained. D...</a:t>
            </a:r>
          </a:p>
        </p:txBody>
      </p:sp>
      <p:sp>
        <p:nvSpPr>
          <p:cNvPr id="48" name="Rectangle 47"/>
          <p:cNvSpPr/>
          <p:nvPr/>
        </p:nvSpPr>
        <p:spPr>
          <a:xfrm>
            <a:off x="292608" y="6400800"/>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5989320"/>
            <a:ext cx="5760720" cy="146304"/>
          </a:xfrm>
          <a:prstGeom prst="rect">
            <a:avLst/>
          </a:prstGeom>
          <a:noFill/>
        </p:spPr>
        <p:txBody>
          <a:bodyPr wrap="square" lIns="36576" rIns="36576" tIns="9144" bIns="9144">
            <a:spAutoFit/>
          </a:bodyPr>
          <a:lstStyle/>
          <a:p>
            <a:r>
              <a:rPr sz="750" b="1">
                <a:solidFill>
                  <a:srgbClr val="1F4690"/>
                </a:solidFill>
                <a:latin typeface="Calibri"/>
              </a:rPr>
              <a:t>H - Human Capital &amp; Institutional DNA</a:t>
            </a:r>
          </a:p>
        </p:txBody>
      </p:sp>
      <p:sp>
        <p:nvSpPr>
          <p:cNvPr id="50" name="TextBox 49"/>
          <p:cNvSpPr txBox="1"/>
          <p:nvPr/>
        </p:nvSpPr>
        <p:spPr>
          <a:xfrm>
            <a:off x="6071616" y="5989320"/>
            <a:ext cx="621792" cy="146304"/>
          </a:xfrm>
          <a:prstGeom prst="rect">
            <a:avLst/>
          </a:prstGeom>
          <a:noFill/>
        </p:spPr>
        <p:txBody>
          <a:bodyPr wrap="square" lIns="36576" rIns="36576" tIns="9144" bIns="9144">
            <a:spAutoFit/>
          </a:bodyPr>
          <a:lstStyle/>
          <a:p>
            <a:pPr algn="r"/>
            <a:r>
              <a:rPr sz="900" b="1">
                <a:solidFill>
                  <a:srgbClr val="1F4690"/>
                </a:solidFill>
                <a:latin typeface="Calibri"/>
              </a:rPr>
              <a:t>9 / 10</a:t>
            </a:r>
          </a:p>
        </p:txBody>
      </p:sp>
      <p:sp>
        <p:nvSpPr>
          <p:cNvPr id="51" name="Rectangle 50"/>
          <p:cNvSpPr/>
          <p:nvPr/>
        </p:nvSpPr>
        <p:spPr>
          <a:xfrm>
            <a:off x="292608" y="6153912"/>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92608" y="6153912"/>
            <a:ext cx="5760720" cy="3200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92608" y="6217920"/>
            <a:ext cx="6400800" cy="182880"/>
          </a:xfrm>
          <a:prstGeom prst="rect">
            <a:avLst/>
          </a:prstGeom>
          <a:noFill/>
        </p:spPr>
        <p:txBody>
          <a:bodyPr wrap="square" lIns="36576" rIns="36576" tIns="9144" bIns="9144">
            <a:spAutoFit/>
          </a:bodyPr>
          <a:lstStyle/>
          <a:p>
            <a:r>
              <a:rPr sz="650" b="0">
                <a:solidFill>
                  <a:srgbClr val="111111"/>
                </a:solidFill>
                <a:latin typeface="Calibri"/>
              </a:rPr>
              <a:t>Raamdeo Agrawal: QGLP creator, 'Buy Right, Sit Tight' framework. Navin Agarwal (since 2000): business strategy and capital allocation. Ajay Menon (27+ yrs): operations, compliance, risk, technology. Founding duo across...</a:t>
            </a:r>
          </a:p>
        </p:txBody>
      </p:sp>
      <p:sp>
        <p:nvSpPr>
          <p:cNvPr id="54" name="Rectangle 53"/>
          <p:cNvSpPr/>
          <p:nvPr/>
        </p:nvSpPr>
        <p:spPr>
          <a:xfrm>
            <a:off x="292608" y="6885432"/>
            <a:ext cx="6400800" cy="9144"/>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92608" y="6473952"/>
            <a:ext cx="5760720" cy="146304"/>
          </a:xfrm>
          <a:prstGeom prst="rect">
            <a:avLst/>
          </a:prstGeom>
          <a:noFill/>
        </p:spPr>
        <p:txBody>
          <a:bodyPr wrap="square" lIns="36576" rIns="36576" tIns="9144" bIns="9144">
            <a:spAutoFit/>
          </a:bodyPr>
          <a:lstStyle/>
          <a:p>
            <a:r>
              <a:rPr sz="750" b="1">
                <a:solidFill>
                  <a:srgbClr val="1F4690"/>
                </a:solidFill>
                <a:latin typeface="Calibri"/>
              </a:rPr>
              <a:t>I - Inflection Point Identification</a:t>
            </a:r>
          </a:p>
        </p:txBody>
      </p:sp>
      <p:sp>
        <p:nvSpPr>
          <p:cNvPr id="56" name="TextBox 55"/>
          <p:cNvSpPr txBox="1"/>
          <p:nvPr/>
        </p:nvSpPr>
        <p:spPr>
          <a:xfrm>
            <a:off x="6071616" y="6473952"/>
            <a:ext cx="621792" cy="146304"/>
          </a:xfrm>
          <a:prstGeom prst="rect">
            <a:avLst/>
          </a:prstGeom>
          <a:noFill/>
        </p:spPr>
        <p:txBody>
          <a:bodyPr wrap="square" lIns="36576" rIns="36576" tIns="9144" bIns="9144">
            <a:spAutoFit/>
          </a:bodyPr>
          <a:lstStyle/>
          <a:p>
            <a:pPr algn="r"/>
            <a:r>
              <a:rPr sz="900" b="1">
                <a:solidFill>
                  <a:srgbClr val="1F4690"/>
                </a:solidFill>
                <a:latin typeface="Calibri"/>
              </a:rPr>
              <a:t>11 / 15</a:t>
            </a:r>
          </a:p>
        </p:txBody>
      </p:sp>
      <p:sp>
        <p:nvSpPr>
          <p:cNvPr id="57" name="Rectangle 56"/>
          <p:cNvSpPr/>
          <p:nvPr/>
        </p:nvSpPr>
        <p:spPr>
          <a:xfrm>
            <a:off x="292608" y="6638544"/>
            <a:ext cx="6400800" cy="32004"/>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92608" y="6638544"/>
            <a:ext cx="4693920" cy="3200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2608" y="6702552"/>
            <a:ext cx="6400800" cy="182880"/>
          </a:xfrm>
          <a:prstGeom prst="rect">
            <a:avLst/>
          </a:prstGeom>
          <a:noFill/>
        </p:spPr>
        <p:txBody>
          <a:bodyPr wrap="square" lIns="36576" rIns="36576" tIns="9144" bIns="9144">
            <a:spAutoFit/>
          </a:bodyPr>
          <a:lstStyle/>
          <a:p>
            <a:r>
              <a:rPr sz="6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t>
            </a:r>
          </a:p>
        </p:txBody>
      </p:sp>
      <p:sp>
        <p:nvSpPr>
          <p:cNvPr id="60" name="TextBox 59"/>
          <p:cNvSpPr txBox="1"/>
          <p:nvPr/>
        </p:nvSpPr>
        <p:spPr>
          <a:xfrm>
            <a:off x="6949440" y="1143000"/>
            <a:ext cx="4846320" cy="182880"/>
          </a:xfrm>
          <a:prstGeom prst="rect">
            <a:avLst/>
          </a:prstGeom>
          <a:noFill/>
        </p:spPr>
        <p:txBody>
          <a:bodyPr wrap="square" lIns="36576" rIns="36576" tIns="9144" bIns="9144">
            <a:spAutoFit/>
          </a:bodyPr>
          <a:lstStyle/>
          <a:p>
            <a:r>
              <a:rPr sz="800" b="1">
                <a:solidFill>
                  <a:srgbClr val="1F4690"/>
                </a:solidFill>
                <a:latin typeface="Calibri"/>
              </a:rPr>
              <a:t>KEY CATALYSTS - VALUE REALIZATION TRIGGERS</a:t>
            </a:r>
          </a:p>
        </p:txBody>
      </p:sp>
      <p:sp>
        <p:nvSpPr>
          <p:cNvPr id="61" name="Rectangle 60"/>
          <p:cNvSpPr/>
          <p:nvPr/>
        </p:nvSpPr>
        <p:spPr>
          <a:xfrm>
            <a:off x="6949440" y="1344168"/>
            <a:ext cx="484632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949440" y="1463040"/>
            <a:ext cx="4846320" cy="77724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949440" y="1463040"/>
            <a:ext cx="36576"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086600" y="1536192"/>
            <a:ext cx="1097280" cy="128016"/>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086600" y="1545336"/>
            <a:ext cx="1097280" cy="109728"/>
          </a:xfrm>
          <a:prstGeom prst="rect">
            <a:avLst/>
          </a:prstGeom>
          <a:noFill/>
        </p:spPr>
        <p:txBody>
          <a:bodyPr wrap="square" lIns="36576" rIns="36576" tIns="9144" bIns="9144">
            <a:spAutoFit/>
          </a:bodyPr>
          <a:lstStyle/>
          <a:p>
            <a:pPr algn="ctr"/>
            <a:r>
              <a:rPr sz="550" b="1">
                <a:solidFill>
                  <a:srgbClr val="FFFFFF"/>
                </a:solidFill>
                <a:latin typeface="Calibri"/>
              </a:rPr>
              <a:t>PRIMARY CATALYST</a:t>
            </a:r>
          </a:p>
        </p:txBody>
      </p:sp>
      <p:sp>
        <p:nvSpPr>
          <p:cNvPr id="66" name="TextBox 65"/>
          <p:cNvSpPr txBox="1"/>
          <p:nvPr/>
        </p:nvSpPr>
        <p:spPr>
          <a:xfrm>
            <a:off x="8275319" y="1517904"/>
            <a:ext cx="3474720" cy="164592"/>
          </a:xfrm>
          <a:prstGeom prst="rect">
            <a:avLst/>
          </a:prstGeom>
          <a:noFill/>
        </p:spPr>
        <p:txBody>
          <a:bodyPr wrap="square" lIns="36576" rIns="36576" tIns="9144" bIns="9144">
            <a:spAutoFit/>
          </a:bodyPr>
          <a:lstStyle/>
          <a:p>
            <a:r>
              <a:rPr sz="800" b="1">
                <a:solidFill>
                  <a:srgbClr val="1F4690"/>
                </a:solidFill>
                <a:latin typeface="Calibri"/>
              </a:rPr>
              <a:t>ARR Transformation</a:t>
            </a:r>
          </a:p>
        </p:txBody>
      </p:sp>
      <p:sp>
        <p:nvSpPr>
          <p:cNvPr id="67" name="TextBox 66"/>
          <p:cNvSpPr txBox="1"/>
          <p:nvPr/>
        </p:nvSpPr>
        <p:spPr>
          <a:xfrm>
            <a:off x="7086600" y="1719072"/>
            <a:ext cx="4617720" cy="457200"/>
          </a:xfrm>
          <a:prstGeom prst="rect">
            <a:avLst/>
          </a:prstGeom>
          <a:noFill/>
        </p:spPr>
        <p:txBody>
          <a:bodyPr wrap="square" lIns="36576" rIns="36576" tIns="9144" bIns="9144">
            <a:spAutoFit/>
          </a:bodyPr>
          <a:lstStyle/>
          <a:p>
            <a:r>
              <a:rPr sz="700" b="0">
                <a:solidFill>
                  <a:srgbClr val="111111"/>
                </a:solidFill>
                <a:latin typeface="Calibri"/>
              </a:rPr>
              <a:t>ARR at 65% of net revenues (up from 61%); fee-based at 45%. Annuity income reduces transaction-cycle volatility.</a:t>
            </a:r>
          </a:p>
        </p:txBody>
      </p:sp>
      <p:sp>
        <p:nvSpPr>
          <p:cNvPr id="68" name="Rectangle 67"/>
          <p:cNvSpPr/>
          <p:nvPr/>
        </p:nvSpPr>
        <p:spPr>
          <a:xfrm>
            <a:off x="6949440" y="2313432"/>
            <a:ext cx="4846320" cy="77724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949440" y="2313432"/>
            <a:ext cx="36576"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086600" y="2386584"/>
            <a:ext cx="1097280" cy="128016"/>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86600" y="2395728"/>
            <a:ext cx="1097280" cy="109728"/>
          </a:xfrm>
          <a:prstGeom prst="rect">
            <a:avLst/>
          </a:prstGeom>
          <a:noFill/>
        </p:spPr>
        <p:txBody>
          <a:bodyPr wrap="square" lIns="36576" rIns="36576" tIns="9144" bIns="9144">
            <a:spAutoFit/>
          </a:bodyPr>
          <a:lstStyle/>
          <a:p>
            <a:pPr algn="ctr"/>
            <a:r>
              <a:rPr sz="550" b="1">
                <a:solidFill>
                  <a:srgbClr val="FFFFFF"/>
                </a:solidFill>
                <a:latin typeface="Calibri"/>
              </a:rPr>
              <a:t>ONGOING</a:t>
            </a:r>
          </a:p>
        </p:txBody>
      </p:sp>
      <p:sp>
        <p:nvSpPr>
          <p:cNvPr id="72" name="TextBox 71"/>
          <p:cNvSpPr txBox="1"/>
          <p:nvPr/>
        </p:nvSpPr>
        <p:spPr>
          <a:xfrm>
            <a:off x="8275319" y="2368296"/>
            <a:ext cx="3474720" cy="164592"/>
          </a:xfrm>
          <a:prstGeom prst="rect">
            <a:avLst/>
          </a:prstGeom>
          <a:noFill/>
        </p:spPr>
        <p:txBody>
          <a:bodyPr wrap="square" lIns="36576" rIns="36576" tIns="9144" bIns="9144">
            <a:spAutoFit/>
          </a:bodyPr>
          <a:lstStyle/>
          <a:p>
            <a:r>
              <a:rPr sz="800" b="1">
                <a:solidFill>
                  <a:srgbClr val="1F4690"/>
                </a:solidFill>
                <a:latin typeface="Calibri"/>
              </a:rPr>
              <a:t>Profitability Momentum</a:t>
            </a:r>
          </a:p>
        </p:txBody>
      </p:sp>
      <p:sp>
        <p:nvSpPr>
          <p:cNvPr id="73" name="TextBox 72"/>
          <p:cNvSpPr txBox="1"/>
          <p:nvPr/>
        </p:nvSpPr>
        <p:spPr>
          <a:xfrm>
            <a:off x="7086600" y="2569464"/>
            <a:ext cx="4617720" cy="457200"/>
          </a:xfrm>
          <a:prstGeom prst="rect">
            <a:avLst/>
          </a:prstGeom>
          <a:noFill/>
        </p:spPr>
        <p:txBody>
          <a:bodyPr wrap="square" lIns="36576" rIns="36576" tIns="9144" bIns="9144">
            <a:spAutoFit/>
          </a:bodyPr>
          <a:lstStyle/>
          <a:p>
            <a:r>
              <a:rPr sz="700" b="0">
                <a:solidFill>
                  <a:srgbClr val="111111"/>
                </a:solidFill>
                <a:latin typeface="Calibri"/>
              </a:rPr>
              <a:t>Q2FY25 PAT INR 1,242 Cr (+123% YoY); H1FY26 operating PAT INR 1,088 Cr (+11% YoY); Asset &amp; PWM businesses leading at +32% PAT growth.</a:t>
            </a:r>
          </a:p>
        </p:txBody>
      </p:sp>
      <p:sp>
        <p:nvSpPr>
          <p:cNvPr id="74" name="Rectangle 73"/>
          <p:cNvSpPr/>
          <p:nvPr/>
        </p:nvSpPr>
        <p:spPr>
          <a:xfrm>
            <a:off x="6949440" y="3163824"/>
            <a:ext cx="4846320" cy="77724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949440" y="3163824"/>
            <a:ext cx="36576"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7086600" y="3236976"/>
            <a:ext cx="1097280" cy="128016"/>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086600" y="3246120"/>
            <a:ext cx="1097280" cy="109728"/>
          </a:xfrm>
          <a:prstGeom prst="rect">
            <a:avLst/>
          </a:prstGeom>
          <a:noFill/>
        </p:spPr>
        <p:txBody>
          <a:bodyPr wrap="square" lIns="36576" rIns="36576" tIns="9144" bIns="9144">
            <a:spAutoFit/>
          </a:bodyPr>
          <a:lstStyle/>
          <a:p>
            <a:pPr algn="ctr"/>
            <a:r>
              <a:rPr sz="550" b="1">
                <a:solidFill>
                  <a:srgbClr val="FFFFFF"/>
                </a:solidFill>
                <a:latin typeface="Calibri"/>
              </a:rPr>
              <a:t>NEAR-TERM</a:t>
            </a:r>
          </a:p>
        </p:txBody>
      </p:sp>
      <p:sp>
        <p:nvSpPr>
          <p:cNvPr id="78" name="TextBox 77"/>
          <p:cNvSpPr txBox="1"/>
          <p:nvPr/>
        </p:nvSpPr>
        <p:spPr>
          <a:xfrm>
            <a:off x="8275319" y="3218688"/>
            <a:ext cx="3474720" cy="164592"/>
          </a:xfrm>
          <a:prstGeom prst="rect">
            <a:avLst/>
          </a:prstGeom>
          <a:noFill/>
        </p:spPr>
        <p:txBody>
          <a:bodyPr wrap="square" lIns="36576" rIns="36576" tIns="9144" bIns="9144">
            <a:spAutoFit/>
          </a:bodyPr>
          <a:lstStyle/>
          <a:p>
            <a:r>
              <a:rPr sz="800" b="1">
                <a:solidFill>
                  <a:srgbClr val="1F4690"/>
                </a:solidFill>
                <a:latin typeface="Calibri"/>
              </a:rPr>
              <a:t>AUM Scale and Outperformance</a:t>
            </a:r>
          </a:p>
        </p:txBody>
      </p:sp>
      <p:sp>
        <p:nvSpPr>
          <p:cNvPr id="79" name="TextBox 78"/>
          <p:cNvSpPr txBox="1"/>
          <p:nvPr/>
        </p:nvSpPr>
        <p:spPr>
          <a:xfrm>
            <a:off x="7086600" y="3419856"/>
            <a:ext cx="4617720" cy="457200"/>
          </a:xfrm>
          <a:prstGeom prst="rect">
            <a:avLst/>
          </a:prstGeom>
          <a:noFill/>
        </p:spPr>
        <p:txBody>
          <a:bodyPr wrap="square" lIns="36576" rIns="36576" tIns="9144" bIns="9144">
            <a:spAutoFit/>
          </a:bodyPr>
          <a:lstStyle/>
          <a:p>
            <a:r>
              <a:rPr sz="700" b="0">
                <a:solidFill>
                  <a:srgbClr val="111111"/>
                </a:solidFill>
                <a:latin typeface="Calibri"/>
              </a:rPr>
              <a:t>Total AUM INR 1.77L Cr (+46% YoY). AMC AUM INR 1.89L Cr (+33%) with INR 11,610 Cr net flows. 91% of AUM outperforming benchmarks over 3 years.</a:t>
            </a:r>
          </a:p>
        </p:txBody>
      </p:sp>
      <p:sp>
        <p:nvSpPr>
          <p:cNvPr id="80" name="Rectangle 79"/>
          <p:cNvSpPr/>
          <p:nvPr/>
        </p:nvSpPr>
        <p:spPr>
          <a:xfrm>
            <a:off x="6949440" y="4014215"/>
            <a:ext cx="4846320" cy="77724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949440" y="4014215"/>
            <a:ext cx="36576"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7086600" y="4087368"/>
            <a:ext cx="1097280" cy="128016"/>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086600" y="4096511"/>
            <a:ext cx="1097280" cy="109728"/>
          </a:xfrm>
          <a:prstGeom prst="rect">
            <a:avLst/>
          </a:prstGeom>
          <a:noFill/>
        </p:spPr>
        <p:txBody>
          <a:bodyPr wrap="square" lIns="36576" rIns="36576" tIns="9144" bIns="9144">
            <a:spAutoFit/>
          </a:bodyPr>
          <a:lstStyle/>
          <a:p>
            <a:pPr algn="ctr"/>
            <a:r>
              <a:rPr sz="550" b="1">
                <a:solidFill>
                  <a:srgbClr val="FFFFFF"/>
                </a:solidFill>
                <a:latin typeface="Calibri"/>
              </a:rPr>
              <a:t>NEXT 3-4 QTRS</a:t>
            </a:r>
          </a:p>
        </p:txBody>
      </p:sp>
      <p:sp>
        <p:nvSpPr>
          <p:cNvPr id="84" name="TextBox 83"/>
          <p:cNvSpPr txBox="1"/>
          <p:nvPr/>
        </p:nvSpPr>
        <p:spPr>
          <a:xfrm>
            <a:off x="8275319" y="4069079"/>
            <a:ext cx="3474720" cy="164592"/>
          </a:xfrm>
          <a:prstGeom prst="rect">
            <a:avLst/>
          </a:prstGeom>
          <a:noFill/>
        </p:spPr>
        <p:txBody>
          <a:bodyPr wrap="square" lIns="36576" rIns="36576" tIns="9144" bIns="9144">
            <a:spAutoFit/>
          </a:bodyPr>
          <a:lstStyle/>
          <a:p>
            <a:r>
              <a:rPr sz="800" b="1">
                <a:solidFill>
                  <a:srgbClr val="1F4690"/>
                </a:solidFill>
                <a:latin typeface="Calibri"/>
              </a:rPr>
              <a:t>Private Wealth Expansion</a:t>
            </a:r>
          </a:p>
        </p:txBody>
      </p:sp>
      <p:sp>
        <p:nvSpPr>
          <p:cNvPr id="85" name="TextBox 84"/>
          <p:cNvSpPr txBox="1"/>
          <p:nvPr/>
        </p:nvSpPr>
        <p:spPr>
          <a:xfrm>
            <a:off x="7086600" y="4270248"/>
            <a:ext cx="4617720" cy="457200"/>
          </a:xfrm>
          <a:prstGeom prst="rect">
            <a:avLst/>
          </a:prstGeom>
          <a:noFill/>
        </p:spPr>
        <p:txBody>
          <a:bodyPr wrap="square" lIns="36576" rIns="36576" tIns="9144" bIns="9144">
            <a:spAutoFit/>
          </a:bodyPr>
          <a:lstStyle/>
          <a:p>
            <a:r>
              <a:rPr sz="700" b="0">
                <a:solidFill>
                  <a:srgbClr val="111111"/>
                </a:solidFill>
                <a:latin typeface="Calibri"/>
              </a:rPr>
              <a:t>PWM AUM INR 1.96L Cr (+31% YoY); family count +41% YoY; PAT +14% (9M). Distribution book +34% YoY to INR 42,775 Cr.</a:t>
            </a:r>
          </a:p>
        </p:txBody>
      </p:sp>
      <p:sp>
        <p:nvSpPr>
          <p:cNvPr id="86" name="Rectangle 85"/>
          <p:cNvSpPr/>
          <p:nvPr/>
        </p:nvSpPr>
        <p:spPr>
          <a:xfrm>
            <a:off x="6949440" y="4864607"/>
            <a:ext cx="4846320" cy="777240"/>
          </a:xfrm>
          <a:prstGeom prst="rect">
            <a:avLst/>
          </a:prstGeom>
          <a:solidFill>
            <a:srgbClr val="FFFFFF"/>
          </a:solidFill>
          <a:ln w="8890">
            <a:solidFill>
              <a:srgbClr val="E8EE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949440" y="4864607"/>
            <a:ext cx="36576"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7086600" y="4937759"/>
            <a:ext cx="1097280" cy="128016"/>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86600" y="4946903"/>
            <a:ext cx="1097280" cy="109728"/>
          </a:xfrm>
          <a:prstGeom prst="rect">
            <a:avLst/>
          </a:prstGeom>
          <a:noFill/>
        </p:spPr>
        <p:txBody>
          <a:bodyPr wrap="square" lIns="36576" rIns="36576" tIns="9144" bIns="9144">
            <a:spAutoFit/>
          </a:bodyPr>
          <a:lstStyle/>
          <a:p>
            <a:pPr algn="ctr"/>
            <a:r>
              <a:rPr sz="550" b="1">
                <a:solidFill>
                  <a:srgbClr val="FFFFFF"/>
                </a:solidFill>
                <a:latin typeface="Calibri"/>
              </a:rPr>
              <a:t>FY26-27</a:t>
            </a:r>
          </a:p>
        </p:txBody>
      </p:sp>
      <p:sp>
        <p:nvSpPr>
          <p:cNvPr id="90" name="TextBox 89"/>
          <p:cNvSpPr txBox="1"/>
          <p:nvPr/>
        </p:nvSpPr>
        <p:spPr>
          <a:xfrm>
            <a:off x="8275319" y="4919471"/>
            <a:ext cx="3474720" cy="164592"/>
          </a:xfrm>
          <a:prstGeom prst="rect">
            <a:avLst/>
          </a:prstGeom>
          <a:noFill/>
        </p:spPr>
        <p:txBody>
          <a:bodyPr wrap="square" lIns="36576" rIns="36576" tIns="9144" bIns="9144">
            <a:spAutoFit/>
          </a:bodyPr>
          <a:lstStyle/>
          <a:p>
            <a:r>
              <a:rPr sz="800" b="1">
                <a:solidFill>
                  <a:srgbClr val="1F4690"/>
                </a:solidFill>
                <a:latin typeface="Calibri"/>
              </a:rPr>
              <a:t>Valuation Opportunity</a:t>
            </a:r>
          </a:p>
        </p:txBody>
      </p:sp>
      <p:sp>
        <p:nvSpPr>
          <p:cNvPr id="91" name="TextBox 90"/>
          <p:cNvSpPr txBox="1"/>
          <p:nvPr/>
        </p:nvSpPr>
        <p:spPr>
          <a:xfrm>
            <a:off x="7086600" y="5120640"/>
            <a:ext cx="4617720" cy="457200"/>
          </a:xfrm>
          <a:prstGeom prst="rect">
            <a:avLst/>
          </a:prstGeom>
          <a:noFill/>
        </p:spPr>
        <p:txBody>
          <a:bodyPr wrap="square" lIns="36576" rIns="36576" tIns="9144" bIns="9144">
            <a:spAutoFit/>
          </a:bodyPr>
          <a:lstStyle/>
          <a:p>
            <a:r>
              <a:rPr sz="700" b="0">
                <a:solidFill>
                  <a:srgbClr val="111111"/>
                </a:solidFill>
                <a:latin typeface="Calibri"/>
              </a:rPr>
              <a:t>CMP INR 822.90 vs consensus TP INR 1,126.67 (max INR 1,200) — 37% upside. Probability-weighted target INR 1,109.</a:t>
            </a:r>
          </a:p>
        </p:txBody>
      </p:sp>
      <p:sp>
        <p:nvSpPr>
          <p:cNvPr id="92" name="Rounded Rectangle 91"/>
          <p:cNvSpPr/>
          <p:nvPr/>
        </p:nvSpPr>
        <p:spPr>
          <a:xfrm>
            <a:off x="6949440" y="5806439"/>
            <a:ext cx="4846320" cy="868680"/>
          </a:xfrm>
          <a:prstGeom prst="roundRect">
            <a:avLst/>
          </a:prstGeom>
          <a:solidFill>
            <a:srgbClr val="F7F9FC"/>
          </a:solidFill>
          <a:ln w="8890">
            <a:solidFill>
              <a:srgbClr val="DD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6949440" y="5806439"/>
            <a:ext cx="36576" cy="8686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040879" y="5879591"/>
            <a:ext cx="4663440" cy="164592"/>
          </a:xfrm>
          <a:prstGeom prst="rect">
            <a:avLst/>
          </a:prstGeom>
          <a:noFill/>
        </p:spPr>
        <p:txBody>
          <a:bodyPr wrap="square" lIns="36576" rIns="36576" tIns="9144" bIns="9144">
            <a:spAutoFit/>
          </a:bodyPr>
          <a:lstStyle/>
          <a:p>
            <a:r>
              <a:rPr sz="850" b="1">
                <a:solidFill>
                  <a:srgbClr val="1F4690"/>
                </a:solidFill>
                <a:latin typeface="Calibri"/>
              </a:rPr>
              <a:t>Thesis Risk Monitor</a:t>
            </a:r>
          </a:p>
        </p:txBody>
      </p:sp>
      <p:sp>
        <p:nvSpPr>
          <p:cNvPr id="95" name="TextBox 94"/>
          <p:cNvSpPr txBox="1"/>
          <p:nvPr/>
        </p:nvSpPr>
        <p:spPr>
          <a:xfrm>
            <a:off x="7040879" y="6080759"/>
            <a:ext cx="4663440" cy="502919"/>
          </a:xfrm>
          <a:prstGeom prst="rect">
            <a:avLst/>
          </a:prstGeom>
          <a:noFill/>
        </p:spPr>
        <p:txBody>
          <a:bodyPr wrap="square" lIns="36576" rIns="36576" tIns="9144" bIns="9144">
            <a:spAutoFit/>
          </a:bodyPr>
          <a:lstStyle/>
          <a:p>
            <a:r>
              <a:rPr sz="700" b="0">
                <a:solidFill>
                  <a:srgbClr val="111111"/>
                </a:solidFill>
                <a:latin typeface="Calibri"/>
              </a:rPr>
              <a:t>Regulatory uncertainty on capital adequacy, risk, consumer protection / Market volatility compressing transaction-based revenues / Fintech disruption — 14,000+ startups offering lower-cost alternatives / Global risk aversion driving FII outflows and capital-market slowdowns / Reliance on foreign capital creates external sector vulnerability ARR co...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Indian Financial Services Landscape</a:t>
            </a:r>
          </a:p>
        </p:txBody>
      </p:sp>
      <p:sp>
        <p:nvSpPr>
          <p:cNvPr id="15" name="Rectangle 14"/>
          <p:cNvSpPr/>
          <p:nvPr/>
        </p:nvSpPr>
        <p:spPr>
          <a:xfrm>
            <a:off x="292608"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06240"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06240"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9872" y="1097280"/>
            <a:ext cx="3749039" cy="1828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9872" y="1417319"/>
            <a:ext cx="3749039" cy="1371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1170432"/>
            <a:ext cx="3749039" cy="228600"/>
          </a:xfrm>
          <a:prstGeom prst="rect">
            <a:avLst/>
          </a:prstGeom>
          <a:noFill/>
        </p:spPr>
        <p:txBody>
          <a:bodyPr wrap="square" lIns="36576" rIns="36576" tIns="9144" bIns="9144">
            <a:spAutoFit/>
          </a:bodyPr>
          <a:lstStyle/>
          <a:p>
            <a:r>
              <a:rPr sz="800" b="1">
                <a:solidFill>
                  <a:srgbClr val="1F4690"/>
                </a:solidFill>
                <a:latin typeface="Calibri"/>
              </a:rPr>
              <a:t>INDIA WEALTH MANAGEMENT SECTOR</a:t>
            </a:r>
          </a:p>
        </p:txBody>
      </p:sp>
      <p:sp>
        <p:nvSpPr>
          <p:cNvPr id="22" name="TextBox 21"/>
          <p:cNvSpPr txBox="1"/>
          <p:nvPr/>
        </p:nvSpPr>
        <p:spPr>
          <a:xfrm>
            <a:off x="4206240" y="1170432"/>
            <a:ext cx="3749039" cy="228600"/>
          </a:xfrm>
          <a:prstGeom prst="rect">
            <a:avLst/>
          </a:prstGeom>
          <a:noFill/>
        </p:spPr>
        <p:txBody>
          <a:bodyPr wrap="square" lIns="36576" rIns="36576" tIns="9144" bIns="9144">
            <a:spAutoFit/>
          </a:bodyPr>
          <a:lstStyle/>
          <a:p>
            <a:r>
              <a:rPr sz="800" b="1">
                <a:solidFill>
                  <a:srgbClr val="1F4690"/>
                </a:solidFill>
                <a:latin typeface="Calibri"/>
              </a:rPr>
              <a:t>INDIA CAPITAL MARKETS SECTOR</a:t>
            </a:r>
          </a:p>
        </p:txBody>
      </p:sp>
      <p:sp>
        <p:nvSpPr>
          <p:cNvPr id="23" name="TextBox 22"/>
          <p:cNvSpPr txBox="1"/>
          <p:nvPr/>
        </p:nvSpPr>
        <p:spPr>
          <a:xfrm>
            <a:off x="8119872" y="1170432"/>
            <a:ext cx="3749039" cy="228600"/>
          </a:xfrm>
          <a:prstGeom prst="rect">
            <a:avLst/>
          </a:prstGeom>
          <a:noFill/>
        </p:spPr>
        <p:txBody>
          <a:bodyPr wrap="square" lIns="36576" rIns="36576" tIns="9144" bIns="9144">
            <a:spAutoFit/>
          </a:bodyPr>
          <a:lstStyle/>
          <a:p>
            <a:r>
              <a:rPr sz="800" b="1">
                <a:solidFill>
                  <a:srgbClr val="1F4690"/>
                </a:solidFill>
                <a:latin typeface="Calibri"/>
              </a:rPr>
              <a:t>INDIA WEALTH MARKET SIZE &amp; GROWTH</a:t>
            </a:r>
          </a:p>
        </p:txBody>
      </p:sp>
      <p:sp>
        <p:nvSpPr>
          <p:cNvPr id="24" name="TextBox 23"/>
          <p:cNvSpPr txBox="1"/>
          <p:nvPr/>
        </p:nvSpPr>
        <p:spPr>
          <a:xfrm>
            <a:off x="292608" y="1508760"/>
            <a:ext cx="3749039" cy="1463040"/>
          </a:xfrm>
          <a:prstGeom prst="rect">
            <a:avLst/>
          </a:prstGeom>
          <a:noFill/>
        </p:spPr>
        <p:txBody>
          <a:bodyPr wrap="square" lIns="36576" rIns="36576" tIns="9144" bIns="9144">
            <a:spAutoFit/>
          </a:bodyPr>
          <a:lstStyle/>
          <a:p>
            <a:r>
              <a:rPr sz="8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a:t>
            </a:r>
          </a:p>
        </p:txBody>
      </p:sp>
      <p:sp>
        <p:nvSpPr>
          <p:cNvPr id="25" name="TextBox 24"/>
          <p:cNvSpPr txBox="1"/>
          <p:nvPr/>
        </p:nvSpPr>
        <p:spPr>
          <a:xfrm>
            <a:off x="292608" y="3063239"/>
            <a:ext cx="3749039" cy="1097280"/>
          </a:xfrm>
          <a:prstGeom prst="rect">
            <a:avLst/>
          </a:prstGeom>
          <a:noFill/>
        </p:spPr>
        <p:txBody>
          <a:bodyPr wrap="square" lIns="36576" rIns="36576" tIns="9144" bIns="9144">
            <a:spAutoFit/>
          </a:bodyPr>
          <a:lstStyle/>
          <a:p>
            <a:r>
              <a:rPr sz="800" b="0">
                <a:solidFill>
                  <a:srgbClr val="111111"/>
                </a:solidFill>
                <a:latin typeface="Calibri"/>
              </a:rPr>
              <a:t>India's mutual fund industry penetration stands at just 5-6% of GDP.</a:t>
            </a:r>
          </a:p>
        </p:txBody>
      </p:sp>
      <p:sp>
        <p:nvSpPr>
          <p:cNvPr id="26" name="TextBox 25"/>
          <p:cNvSpPr txBox="1"/>
          <p:nvPr/>
        </p:nvSpPr>
        <p:spPr>
          <a:xfrm>
            <a:off x="4206240" y="1508760"/>
            <a:ext cx="3749039" cy="1280160"/>
          </a:xfrm>
          <a:prstGeom prst="rect">
            <a:avLst/>
          </a:prstGeom>
          <a:noFill/>
        </p:spPr>
        <p:txBody>
          <a:bodyPr wrap="square" lIns="36576" rIns="36576" tIns="9144" bIns="9144">
            <a:spAutoFit/>
          </a:bodyPr>
          <a:lstStyle/>
          <a:p>
            <a:r>
              <a:rPr sz="800" b="0">
                <a:solidFill>
                  <a:srgbClr val="111111"/>
                </a:solidFill>
                <a:latin typeface="Calibri"/>
              </a:rPr>
              <a:t>F&amp;O Regulatory Headwinds – Transient, Not Structural. SEBI's tightening of F&amp;O trading norms in late 2025 created a meaningful but transient headwind.</a:t>
            </a:r>
          </a:p>
        </p:txBody>
      </p:sp>
      <p:sp>
        <p:nvSpPr>
          <p:cNvPr id="27" name="TextBox 26"/>
          <p:cNvSpPr txBox="1"/>
          <p:nvPr/>
        </p:nvSpPr>
        <p:spPr>
          <a:xfrm>
            <a:off x="4206240" y="2880360"/>
            <a:ext cx="3749039" cy="914400"/>
          </a:xfrm>
          <a:prstGeom prst="rect">
            <a:avLst/>
          </a:prstGeom>
          <a:noFill/>
        </p:spPr>
        <p:txBody>
          <a:bodyPr wrap="square" lIns="36576" rIns="36576" tIns="9144" bIns="9144">
            <a:spAutoFit/>
          </a:bodyPr>
          <a:lstStyle/>
          <a:p>
            <a:r>
              <a:rPr sz="800" b="0">
                <a:solidFill>
                  <a:srgbClr val="111111"/>
                </a:solidFill>
                <a:latin typeface="Calibri"/>
              </a:rPr>
              <a:t>India's capital markets are at the cusp of a structural deepening phase.</a:t>
            </a:r>
          </a:p>
        </p:txBody>
      </p:sp>
      <p:sp>
        <p:nvSpPr>
          <p:cNvPr id="28" name="TextBox 27"/>
          <p:cNvSpPr txBox="1"/>
          <p:nvPr/>
        </p:nvSpPr>
        <p:spPr>
          <a:xfrm>
            <a:off x="292608" y="4206240"/>
            <a:ext cx="3749039" cy="182880"/>
          </a:xfrm>
          <a:prstGeom prst="rect">
            <a:avLst/>
          </a:prstGeom>
          <a:noFill/>
        </p:spPr>
        <p:txBody>
          <a:bodyPr wrap="square" lIns="36576" rIns="36576" tIns="9144" bIns="9144">
            <a:spAutoFit/>
          </a:bodyPr>
          <a:lstStyle/>
          <a:p>
            <a:r>
              <a:rPr sz="800" b="1">
                <a:solidFill>
                  <a:srgbClr val="1F4690"/>
                </a:solidFill>
                <a:latin typeface="Calibri"/>
              </a:rPr>
              <a:t>KEY INDUSTRY TAILWINDS</a:t>
            </a:r>
          </a:p>
        </p:txBody>
      </p:sp>
      <p:sp>
        <p:nvSpPr>
          <p:cNvPr id="29" name="Rectangle 28"/>
          <p:cNvSpPr/>
          <p:nvPr/>
        </p:nvSpPr>
        <p:spPr>
          <a:xfrm>
            <a:off x="292608" y="4407407"/>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92608" y="4526279"/>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8" y="4544567"/>
            <a:ext cx="365760" cy="137160"/>
          </a:xfrm>
          <a:prstGeom prst="rect">
            <a:avLst/>
          </a:prstGeom>
          <a:noFill/>
        </p:spPr>
        <p:txBody>
          <a:bodyPr wrap="square" lIns="36576" rIns="36576" tIns="9144" bIns="9144">
            <a:spAutoFit/>
          </a:bodyPr>
          <a:lstStyle/>
          <a:p>
            <a:pPr algn="ctr"/>
            <a:r>
              <a:rPr sz="600" b="1">
                <a:solidFill>
                  <a:srgbClr val="137333"/>
                </a:solidFill>
                <a:latin typeface="Calibri"/>
              </a:rPr>
              <a:t>BULL</a:t>
            </a:r>
          </a:p>
        </p:txBody>
      </p:sp>
      <p:sp>
        <p:nvSpPr>
          <p:cNvPr id="32" name="TextBox 31"/>
          <p:cNvSpPr txBox="1"/>
          <p:nvPr/>
        </p:nvSpPr>
        <p:spPr>
          <a:xfrm>
            <a:off x="749808" y="4526279"/>
            <a:ext cx="3291839" cy="731520"/>
          </a:xfrm>
          <a:prstGeom prst="rect">
            <a:avLst/>
          </a:prstGeom>
          <a:noFill/>
        </p:spPr>
        <p:txBody>
          <a:bodyPr wrap="square" lIns="36576" rIns="36576" tIns="9144" bIns="9144">
            <a:spAutoFit/>
          </a:bodyPr>
          <a:lstStyle/>
          <a:p>
            <a:r>
              <a:rPr sz="750" b="0">
                <a:solidFill>
                  <a:srgbClr val="111111"/>
                </a:solidFill>
                <a:latin typeface="Calibri"/>
              </a:rPr>
              <a:t>Mutual fund penetration at 5-6% — massive latent opportunity</a:t>
            </a:r>
          </a:p>
        </p:txBody>
      </p:sp>
      <p:sp>
        <p:nvSpPr>
          <p:cNvPr id="33" name="Rounded Rectangle 32"/>
          <p:cNvSpPr/>
          <p:nvPr/>
        </p:nvSpPr>
        <p:spPr>
          <a:xfrm>
            <a:off x="292608" y="5303519"/>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5321807"/>
            <a:ext cx="365760" cy="137160"/>
          </a:xfrm>
          <a:prstGeom prst="rect">
            <a:avLst/>
          </a:prstGeom>
          <a:noFill/>
        </p:spPr>
        <p:txBody>
          <a:bodyPr wrap="square" lIns="36576" rIns="36576" tIns="9144" bIns="9144">
            <a:spAutoFit/>
          </a:bodyPr>
          <a:lstStyle/>
          <a:p>
            <a:pPr algn="ctr"/>
            <a:r>
              <a:rPr sz="600" b="1">
                <a:solidFill>
                  <a:srgbClr val="137333"/>
                </a:solidFill>
                <a:latin typeface="Calibri"/>
              </a:rPr>
              <a:t>BULL</a:t>
            </a:r>
          </a:p>
        </p:txBody>
      </p:sp>
      <p:sp>
        <p:nvSpPr>
          <p:cNvPr id="35" name="TextBox 34"/>
          <p:cNvSpPr txBox="1"/>
          <p:nvPr/>
        </p:nvSpPr>
        <p:spPr>
          <a:xfrm>
            <a:off x="749808" y="5303519"/>
            <a:ext cx="3291839" cy="731520"/>
          </a:xfrm>
          <a:prstGeom prst="rect">
            <a:avLst/>
          </a:prstGeom>
          <a:noFill/>
        </p:spPr>
        <p:txBody>
          <a:bodyPr wrap="square" lIns="36576" rIns="36576" tIns="9144" bIns="9144">
            <a:spAutoFit/>
          </a:bodyPr>
          <a:lstStyle/>
          <a:p>
            <a:r>
              <a:rPr sz="750" b="0">
                <a:solidFill>
                  <a:srgbClr val="111111"/>
                </a:solidFill>
                <a:latin typeface="Calibri"/>
              </a:rPr>
              <a:t>Financial savings shifting from gold/real estate to financial assets</a:t>
            </a:r>
          </a:p>
        </p:txBody>
      </p:sp>
      <p:sp>
        <p:nvSpPr>
          <p:cNvPr id="36" name="Rounded Rectangle 35"/>
          <p:cNvSpPr/>
          <p:nvPr/>
        </p:nvSpPr>
        <p:spPr>
          <a:xfrm>
            <a:off x="292608" y="6080759"/>
            <a:ext cx="365760" cy="164592"/>
          </a:xfrm>
          <a:prstGeom prst="round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2608" y="6099047"/>
            <a:ext cx="365760" cy="137160"/>
          </a:xfrm>
          <a:prstGeom prst="rect">
            <a:avLst/>
          </a:prstGeom>
          <a:noFill/>
        </p:spPr>
        <p:txBody>
          <a:bodyPr wrap="square" lIns="36576" rIns="36576" tIns="9144" bIns="9144">
            <a:spAutoFit/>
          </a:bodyPr>
          <a:lstStyle/>
          <a:p>
            <a:pPr algn="ctr"/>
            <a:r>
              <a:rPr sz="600" b="1">
                <a:solidFill>
                  <a:srgbClr val="137333"/>
                </a:solidFill>
                <a:latin typeface="Calibri"/>
              </a:rPr>
              <a:t>BULL</a:t>
            </a:r>
          </a:p>
        </p:txBody>
      </p:sp>
      <p:sp>
        <p:nvSpPr>
          <p:cNvPr id="38" name="TextBox 37"/>
          <p:cNvSpPr txBox="1"/>
          <p:nvPr/>
        </p:nvSpPr>
        <p:spPr>
          <a:xfrm>
            <a:off x="749808" y="6080759"/>
            <a:ext cx="3291839" cy="731520"/>
          </a:xfrm>
          <a:prstGeom prst="rect">
            <a:avLst/>
          </a:prstGeom>
          <a:noFill/>
        </p:spPr>
        <p:txBody>
          <a:bodyPr wrap="square" lIns="36576" rIns="36576" tIns="9144" bIns="9144">
            <a:spAutoFit/>
          </a:bodyPr>
          <a:lstStyle/>
          <a:p>
            <a:r>
              <a:rPr sz="750" b="0">
                <a:solidFill>
                  <a:srgbClr val="111111"/>
                </a:solidFill>
                <a:latin typeface="Calibri"/>
              </a:rPr>
              <a:t>BSE-listed companies grew from 135 (1995) to 5,328 (Feb 2025)</a:t>
            </a:r>
          </a:p>
        </p:txBody>
      </p:sp>
      <p:sp>
        <p:nvSpPr>
          <p:cNvPr id="39" name="TextBox 38"/>
          <p:cNvSpPr txBox="1"/>
          <p:nvPr/>
        </p:nvSpPr>
        <p:spPr>
          <a:xfrm>
            <a:off x="4206240" y="3886200"/>
            <a:ext cx="3749039" cy="182880"/>
          </a:xfrm>
          <a:prstGeom prst="rect">
            <a:avLst/>
          </a:prstGeom>
          <a:noFill/>
        </p:spPr>
        <p:txBody>
          <a:bodyPr wrap="square" lIns="36576" rIns="36576" tIns="9144" bIns="9144">
            <a:spAutoFit/>
          </a:bodyPr>
          <a:lstStyle/>
          <a:p>
            <a:r>
              <a:rPr sz="800" b="1">
                <a:solidFill>
                  <a:srgbClr val="1F4690"/>
                </a:solidFill>
                <a:latin typeface="Calibri"/>
              </a:rPr>
              <a:t>AI &amp; DIGITAL TRANSFORMATION</a:t>
            </a:r>
          </a:p>
        </p:txBody>
      </p:sp>
      <p:sp>
        <p:nvSpPr>
          <p:cNvPr id="40" name="Rectangle 39"/>
          <p:cNvSpPr/>
          <p:nvPr/>
        </p:nvSpPr>
        <p:spPr>
          <a:xfrm>
            <a:off x="4206240" y="408736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206240" y="420624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79392" y="4261103"/>
            <a:ext cx="1636776" cy="137160"/>
          </a:xfrm>
          <a:prstGeom prst="rect">
            <a:avLst/>
          </a:prstGeom>
          <a:noFill/>
        </p:spPr>
        <p:txBody>
          <a:bodyPr wrap="square" lIns="36576" rIns="36576" tIns="9144" bIns="9144">
            <a:spAutoFit/>
          </a:bodyPr>
          <a:lstStyle/>
          <a:p>
            <a:r>
              <a:rPr sz="600" b="1">
                <a:solidFill>
                  <a:srgbClr val="5A6573"/>
                </a:solidFill>
                <a:latin typeface="Calibri"/>
              </a:rPr>
              <a:t>OPERATIONAL EFFICIENCY</a:t>
            </a:r>
          </a:p>
        </p:txBody>
      </p:sp>
      <p:sp>
        <p:nvSpPr>
          <p:cNvPr id="43" name="TextBox 42"/>
          <p:cNvSpPr txBox="1"/>
          <p:nvPr/>
        </p:nvSpPr>
        <p:spPr>
          <a:xfrm>
            <a:off x="4279392" y="4407407"/>
            <a:ext cx="1636776" cy="228600"/>
          </a:xfrm>
          <a:prstGeom prst="rect">
            <a:avLst/>
          </a:prstGeom>
          <a:noFill/>
        </p:spPr>
        <p:txBody>
          <a:bodyPr wrap="square" lIns="36576" rIns="36576" tIns="9144" bIns="9144">
            <a:spAutoFit/>
          </a:bodyPr>
          <a:lstStyle/>
          <a:p>
            <a:r>
              <a:rPr sz="1400" b="1">
                <a:solidFill>
                  <a:srgbClr val="1F4690"/>
                </a:solidFill>
                <a:latin typeface="Calibri"/>
              </a:rPr>
              <a:t>60%</a:t>
            </a:r>
          </a:p>
        </p:txBody>
      </p:sp>
      <p:sp>
        <p:nvSpPr>
          <p:cNvPr id="44" name="TextBox 43"/>
          <p:cNvSpPr txBox="1"/>
          <p:nvPr/>
        </p:nvSpPr>
        <p:spPr>
          <a:xfrm>
            <a:off x="4279392" y="4645152"/>
            <a:ext cx="1636776" cy="137160"/>
          </a:xfrm>
          <a:prstGeom prst="rect">
            <a:avLst/>
          </a:prstGeom>
          <a:noFill/>
        </p:spPr>
        <p:txBody>
          <a:bodyPr wrap="square" lIns="36576" rIns="36576" tIns="9144" bIns="9144">
            <a:spAutoFit/>
          </a:bodyPr>
          <a:lstStyle/>
          <a:p>
            <a:r>
              <a:rPr sz="600" b="0">
                <a:solidFill>
                  <a:srgbClr val="111111"/>
                </a:solidFill>
                <a:latin typeface="Calibri"/>
              </a:rPr>
              <a:t>Reduction in operational timelines via AI</a:t>
            </a:r>
          </a:p>
        </p:txBody>
      </p:sp>
      <p:sp>
        <p:nvSpPr>
          <p:cNvPr id="45" name="Rounded Rectangle 44"/>
          <p:cNvSpPr/>
          <p:nvPr/>
        </p:nvSpPr>
        <p:spPr>
          <a:xfrm>
            <a:off x="6172200" y="420624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2" y="4261103"/>
            <a:ext cx="1636776" cy="137160"/>
          </a:xfrm>
          <a:prstGeom prst="rect">
            <a:avLst/>
          </a:prstGeom>
          <a:noFill/>
        </p:spPr>
        <p:txBody>
          <a:bodyPr wrap="square" lIns="36576" rIns="36576" tIns="9144" bIns="9144">
            <a:spAutoFit/>
          </a:bodyPr>
          <a:lstStyle/>
          <a:p>
            <a:r>
              <a:rPr sz="600" b="1">
                <a:solidFill>
                  <a:srgbClr val="5A6573"/>
                </a:solidFill>
                <a:latin typeface="Calibri"/>
              </a:rPr>
              <a:t>GENAI BANKING POTENTIAL</a:t>
            </a:r>
          </a:p>
        </p:txBody>
      </p:sp>
      <p:sp>
        <p:nvSpPr>
          <p:cNvPr id="47" name="TextBox 46"/>
          <p:cNvSpPr txBox="1"/>
          <p:nvPr/>
        </p:nvSpPr>
        <p:spPr>
          <a:xfrm>
            <a:off x="6245352" y="4407407"/>
            <a:ext cx="1636776" cy="228600"/>
          </a:xfrm>
          <a:prstGeom prst="rect">
            <a:avLst/>
          </a:prstGeom>
          <a:noFill/>
        </p:spPr>
        <p:txBody>
          <a:bodyPr wrap="square" lIns="36576" rIns="36576" tIns="9144" bIns="9144">
            <a:spAutoFit/>
          </a:bodyPr>
          <a:lstStyle/>
          <a:p>
            <a:r>
              <a:rPr sz="1400" b="1">
                <a:solidFill>
                  <a:srgbClr val="1F4690"/>
                </a:solidFill>
                <a:latin typeface="Calibri"/>
              </a:rPr>
              <a:t>46%</a:t>
            </a:r>
          </a:p>
        </p:txBody>
      </p:sp>
      <p:sp>
        <p:nvSpPr>
          <p:cNvPr id="48" name="TextBox 47"/>
          <p:cNvSpPr txBox="1"/>
          <p:nvPr/>
        </p:nvSpPr>
        <p:spPr>
          <a:xfrm>
            <a:off x="6245352" y="4645152"/>
            <a:ext cx="1636776" cy="137160"/>
          </a:xfrm>
          <a:prstGeom prst="rect">
            <a:avLst/>
          </a:prstGeom>
          <a:noFill/>
        </p:spPr>
        <p:txBody>
          <a:bodyPr wrap="square" lIns="36576" rIns="36576" tIns="9144" bIns="9144">
            <a:spAutoFit/>
          </a:bodyPr>
          <a:lstStyle/>
          <a:p>
            <a:r>
              <a:rPr sz="600" b="0">
                <a:solidFill>
                  <a:srgbClr val="111111"/>
                </a:solidFill>
                <a:latin typeface="Calibri"/>
              </a:rPr>
              <a:t>RBI estimated enhancement potential</a:t>
            </a:r>
          </a:p>
        </p:txBody>
      </p:sp>
      <p:sp>
        <p:nvSpPr>
          <p:cNvPr id="49" name="Rounded Rectangle 48"/>
          <p:cNvSpPr/>
          <p:nvPr/>
        </p:nvSpPr>
        <p:spPr>
          <a:xfrm>
            <a:off x="4206240" y="4937759"/>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79392" y="4992623"/>
            <a:ext cx="1636776" cy="137160"/>
          </a:xfrm>
          <a:prstGeom prst="rect">
            <a:avLst/>
          </a:prstGeom>
          <a:noFill/>
        </p:spPr>
        <p:txBody>
          <a:bodyPr wrap="square" lIns="36576" rIns="36576" tIns="9144" bIns="9144">
            <a:spAutoFit/>
          </a:bodyPr>
          <a:lstStyle/>
          <a:p>
            <a:r>
              <a:rPr sz="600" b="1">
                <a:solidFill>
                  <a:srgbClr val="5A6573"/>
                </a:solidFill>
                <a:latin typeface="Calibri"/>
              </a:rPr>
              <a:t>FINTECH STARTUPS (2022)</a:t>
            </a:r>
          </a:p>
        </p:txBody>
      </p:sp>
      <p:sp>
        <p:nvSpPr>
          <p:cNvPr id="51" name="TextBox 50"/>
          <p:cNvSpPr txBox="1"/>
          <p:nvPr/>
        </p:nvSpPr>
        <p:spPr>
          <a:xfrm>
            <a:off x="4279392" y="5138927"/>
            <a:ext cx="1636776" cy="228600"/>
          </a:xfrm>
          <a:prstGeom prst="rect">
            <a:avLst/>
          </a:prstGeom>
          <a:noFill/>
        </p:spPr>
        <p:txBody>
          <a:bodyPr wrap="square" lIns="36576" rIns="36576" tIns="9144" bIns="9144">
            <a:spAutoFit/>
          </a:bodyPr>
          <a:lstStyle/>
          <a:p>
            <a:r>
              <a:rPr sz="1400" b="1">
                <a:solidFill>
                  <a:srgbClr val="1F4690"/>
                </a:solidFill>
                <a:latin typeface="Calibri"/>
              </a:rPr>
              <a:t>14,000</a:t>
            </a:r>
          </a:p>
        </p:txBody>
      </p:sp>
      <p:sp>
        <p:nvSpPr>
          <p:cNvPr id="52" name="TextBox 51"/>
          <p:cNvSpPr txBox="1"/>
          <p:nvPr/>
        </p:nvSpPr>
        <p:spPr>
          <a:xfrm>
            <a:off x="4279392" y="5376671"/>
            <a:ext cx="1636776" cy="137160"/>
          </a:xfrm>
          <a:prstGeom prst="rect">
            <a:avLst/>
          </a:prstGeom>
          <a:noFill/>
        </p:spPr>
        <p:txBody>
          <a:bodyPr wrap="square" lIns="36576" rIns="36576" tIns="9144" bIns="9144">
            <a:spAutoFit/>
          </a:bodyPr>
          <a:lstStyle/>
          <a:p>
            <a:r>
              <a:rPr sz="600" b="0">
                <a:solidFill>
                  <a:srgbClr val="111111"/>
                </a:solidFill>
                <a:latin typeface="Calibri"/>
              </a:rPr>
              <a:t>Up from 733 in 2016-17</a:t>
            </a:r>
          </a:p>
        </p:txBody>
      </p:sp>
      <p:sp>
        <p:nvSpPr>
          <p:cNvPr id="53" name="Rounded Rectangle 52"/>
          <p:cNvSpPr/>
          <p:nvPr/>
        </p:nvSpPr>
        <p:spPr>
          <a:xfrm>
            <a:off x="6172200" y="4937759"/>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45352" y="4992623"/>
            <a:ext cx="1636776" cy="137160"/>
          </a:xfrm>
          <a:prstGeom prst="rect">
            <a:avLst/>
          </a:prstGeom>
          <a:noFill/>
        </p:spPr>
        <p:txBody>
          <a:bodyPr wrap="square" lIns="36576" rIns="36576" tIns="9144" bIns="9144">
            <a:spAutoFit/>
          </a:bodyPr>
          <a:lstStyle/>
          <a:p>
            <a:r>
              <a:rPr sz="600" b="1">
                <a:solidFill>
                  <a:srgbClr val="5A6573"/>
                </a:solidFill>
                <a:latin typeface="Calibri"/>
              </a:rPr>
              <a:t>PRIVATE CREDIT (H1 2025)</a:t>
            </a:r>
          </a:p>
        </p:txBody>
      </p:sp>
      <p:sp>
        <p:nvSpPr>
          <p:cNvPr id="55" name="TextBox 54"/>
          <p:cNvSpPr txBox="1"/>
          <p:nvPr/>
        </p:nvSpPr>
        <p:spPr>
          <a:xfrm>
            <a:off x="6245352" y="5138927"/>
            <a:ext cx="1636776" cy="228600"/>
          </a:xfrm>
          <a:prstGeom prst="rect">
            <a:avLst/>
          </a:prstGeom>
          <a:noFill/>
        </p:spPr>
        <p:txBody>
          <a:bodyPr wrap="square" lIns="36576" rIns="36576" tIns="9144" bIns="9144">
            <a:spAutoFit/>
          </a:bodyPr>
          <a:lstStyle/>
          <a:p>
            <a:r>
              <a:rPr sz="1400" b="1">
                <a:solidFill>
                  <a:srgbClr val="1F4690"/>
                </a:solidFill>
                <a:latin typeface="Calibri"/>
              </a:rPr>
              <a:t>$9B</a:t>
            </a:r>
          </a:p>
        </p:txBody>
      </p:sp>
      <p:sp>
        <p:nvSpPr>
          <p:cNvPr id="56" name="TextBox 55"/>
          <p:cNvSpPr txBox="1"/>
          <p:nvPr/>
        </p:nvSpPr>
        <p:spPr>
          <a:xfrm>
            <a:off x="6245352" y="5376671"/>
            <a:ext cx="1636776" cy="137160"/>
          </a:xfrm>
          <a:prstGeom prst="rect">
            <a:avLst/>
          </a:prstGeom>
          <a:noFill/>
        </p:spPr>
        <p:txBody>
          <a:bodyPr wrap="square" lIns="36576" rIns="36576" tIns="9144" bIns="9144">
            <a:spAutoFit/>
          </a:bodyPr>
          <a:lstStyle/>
          <a:p>
            <a:r>
              <a:rPr sz="600" b="0">
                <a:solidFill>
                  <a:srgbClr val="111111"/>
                </a:solidFill>
                <a:latin typeface="Calibri"/>
              </a:rPr>
              <a:t>+53% YoY - record high</a:t>
            </a:r>
          </a:p>
        </p:txBody>
      </p:sp>
      <p:sp>
        <p:nvSpPr>
          <p:cNvPr id="57" name="Rounded Rectangle 56"/>
          <p:cNvSpPr/>
          <p:nvPr/>
        </p:nvSpPr>
        <p:spPr>
          <a:xfrm>
            <a:off x="4206240" y="5669279"/>
            <a:ext cx="3749039" cy="114300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06240" y="5669279"/>
            <a:ext cx="36576" cy="11430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7679" y="5760719"/>
            <a:ext cx="3566159" cy="182880"/>
          </a:xfrm>
          <a:prstGeom prst="rect">
            <a:avLst/>
          </a:prstGeom>
          <a:noFill/>
        </p:spPr>
        <p:txBody>
          <a:bodyPr wrap="square" lIns="36576" rIns="36576" tIns="9144" bIns="9144">
            <a:spAutoFit/>
          </a:bodyPr>
          <a:lstStyle/>
          <a:p>
            <a:r>
              <a:rPr sz="850" b="1">
                <a:solidFill>
                  <a:srgbClr val="1F4690"/>
                </a:solidFill>
                <a:latin typeface="Calibri"/>
              </a:rPr>
              <a:t>Technology Moat: Research Platform</a:t>
            </a:r>
          </a:p>
        </p:txBody>
      </p:sp>
      <p:sp>
        <p:nvSpPr>
          <p:cNvPr id="60" name="TextBox 59"/>
          <p:cNvSpPr txBox="1"/>
          <p:nvPr/>
        </p:nvSpPr>
        <p:spPr>
          <a:xfrm>
            <a:off x="4297679" y="5989319"/>
            <a:ext cx="3566159" cy="777240"/>
          </a:xfrm>
          <a:prstGeom prst="rect">
            <a:avLst/>
          </a:prstGeom>
          <a:noFill/>
        </p:spPr>
        <p:txBody>
          <a:bodyPr wrap="square" lIns="36576" rIns="36576" tIns="9144" bIns="9144">
            <a:spAutoFit/>
          </a:bodyPr>
          <a:lstStyle/>
          <a:p>
            <a:r>
              <a:rPr sz="750" b="0">
                <a:solidFill>
                  <a:srgbClr val="111111"/>
                </a:solidFill>
                <a:latin typeface="Calibri"/>
              </a:rPr>
              <a:t>MOFSL's research franchise covering 300+ companies is the enduring competitive moat attracting institutional clients. AI is being deployed to enhance research productivity. The 'Buy Right, Sit Tight' philosophy is digitally codified in their investment process platform.</a:t>
            </a:r>
          </a:p>
        </p:txBody>
      </p:sp>
      <p:sp>
        <p:nvSpPr>
          <p:cNvPr id="61" name="Rounded Rectangle 60"/>
          <p:cNvSpPr/>
          <p:nvPr/>
        </p:nvSpPr>
        <p:spPr>
          <a:xfrm>
            <a:off x="8119872" y="15087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93024" y="1563624"/>
            <a:ext cx="1636776" cy="137160"/>
          </a:xfrm>
          <a:prstGeom prst="rect">
            <a:avLst/>
          </a:prstGeom>
          <a:noFill/>
        </p:spPr>
        <p:txBody>
          <a:bodyPr wrap="square" lIns="36576" rIns="36576" tIns="9144" bIns="9144">
            <a:spAutoFit/>
          </a:bodyPr>
          <a:lstStyle/>
          <a:p>
            <a:r>
              <a:rPr sz="600" b="1">
                <a:solidFill>
                  <a:srgbClr val="5A6573"/>
                </a:solidFill>
                <a:latin typeface="Calibri"/>
              </a:rPr>
              <a:t>HNWI COUNT (JUN 2025)</a:t>
            </a:r>
          </a:p>
        </p:txBody>
      </p:sp>
      <p:sp>
        <p:nvSpPr>
          <p:cNvPr id="63" name="TextBox 62"/>
          <p:cNvSpPr txBox="1"/>
          <p:nvPr/>
        </p:nvSpPr>
        <p:spPr>
          <a:xfrm>
            <a:off x="8193024" y="1709928"/>
            <a:ext cx="1636776" cy="228600"/>
          </a:xfrm>
          <a:prstGeom prst="rect">
            <a:avLst/>
          </a:prstGeom>
          <a:noFill/>
        </p:spPr>
        <p:txBody>
          <a:bodyPr wrap="square" lIns="36576" rIns="36576" tIns="9144" bIns="9144">
            <a:spAutoFit/>
          </a:bodyPr>
          <a:lstStyle/>
          <a:p>
            <a:r>
              <a:rPr sz="1400" b="1">
                <a:solidFill>
                  <a:srgbClr val="1F4690"/>
                </a:solidFill>
                <a:latin typeface="Calibri"/>
              </a:rPr>
              <a:t>8.56L</a:t>
            </a:r>
          </a:p>
        </p:txBody>
      </p:sp>
      <p:sp>
        <p:nvSpPr>
          <p:cNvPr id="64" name="TextBox 63"/>
          <p:cNvSpPr txBox="1"/>
          <p:nvPr/>
        </p:nvSpPr>
        <p:spPr>
          <a:xfrm>
            <a:off x="8193024" y="1947672"/>
            <a:ext cx="1636776" cy="137160"/>
          </a:xfrm>
          <a:prstGeom prst="rect">
            <a:avLst/>
          </a:prstGeom>
          <a:noFill/>
        </p:spPr>
        <p:txBody>
          <a:bodyPr wrap="square" lIns="36576" rIns="36576" tIns="9144" bIns="9144">
            <a:spAutoFit/>
          </a:bodyPr>
          <a:lstStyle/>
          <a:p>
            <a:r>
              <a:rPr sz="600" b="0">
                <a:solidFill>
                  <a:srgbClr val="111111"/>
                </a:solidFill>
                <a:latin typeface="Calibri"/>
              </a:rPr>
              <a:t>India's HNWIs - 4th globally by 2028</a:t>
            </a:r>
          </a:p>
        </p:txBody>
      </p:sp>
      <p:sp>
        <p:nvSpPr>
          <p:cNvPr id="65" name="Rounded Rectangle 64"/>
          <p:cNvSpPr/>
          <p:nvPr/>
        </p:nvSpPr>
        <p:spPr>
          <a:xfrm>
            <a:off x="10085832" y="150876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58984" y="1563624"/>
            <a:ext cx="1636776" cy="137160"/>
          </a:xfrm>
          <a:prstGeom prst="rect">
            <a:avLst/>
          </a:prstGeom>
          <a:noFill/>
        </p:spPr>
        <p:txBody>
          <a:bodyPr wrap="square" lIns="36576" rIns="36576" tIns="9144" bIns="9144">
            <a:spAutoFit/>
          </a:bodyPr>
          <a:lstStyle/>
          <a:p>
            <a:r>
              <a:rPr sz="600" b="1">
                <a:solidFill>
                  <a:srgbClr val="5A6573"/>
                </a:solidFill>
                <a:latin typeface="Calibri"/>
              </a:rPr>
              <a:t>HNWI BY 2027</a:t>
            </a:r>
          </a:p>
        </p:txBody>
      </p:sp>
      <p:sp>
        <p:nvSpPr>
          <p:cNvPr id="67" name="TextBox 66"/>
          <p:cNvSpPr txBox="1"/>
          <p:nvPr/>
        </p:nvSpPr>
        <p:spPr>
          <a:xfrm>
            <a:off x="10158984" y="1709928"/>
            <a:ext cx="1636776" cy="228600"/>
          </a:xfrm>
          <a:prstGeom prst="rect">
            <a:avLst/>
          </a:prstGeom>
          <a:noFill/>
        </p:spPr>
        <p:txBody>
          <a:bodyPr wrap="square" lIns="36576" rIns="36576" tIns="9144" bIns="9144">
            <a:spAutoFit/>
          </a:bodyPr>
          <a:lstStyle/>
          <a:p>
            <a:r>
              <a:rPr sz="1400" b="1">
                <a:solidFill>
                  <a:srgbClr val="1F4690"/>
                </a:solidFill>
                <a:latin typeface="Calibri"/>
              </a:rPr>
              <a:t>16.57L</a:t>
            </a:r>
          </a:p>
        </p:txBody>
      </p:sp>
      <p:sp>
        <p:nvSpPr>
          <p:cNvPr id="68" name="TextBox 67"/>
          <p:cNvSpPr txBox="1"/>
          <p:nvPr/>
        </p:nvSpPr>
        <p:spPr>
          <a:xfrm>
            <a:off x="10158984" y="1947672"/>
            <a:ext cx="1636776" cy="137160"/>
          </a:xfrm>
          <a:prstGeom prst="rect">
            <a:avLst/>
          </a:prstGeom>
          <a:noFill/>
        </p:spPr>
        <p:txBody>
          <a:bodyPr wrap="square" lIns="36576" rIns="36576" tIns="9144" bIns="9144">
            <a:spAutoFit/>
          </a:bodyPr>
          <a:lstStyle/>
          <a:p>
            <a:r>
              <a:rPr sz="600" b="0">
                <a:solidFill>
                  <a:srgbClr val="111111"/>
                </a:solidFill>
                <a:latin typeface="Calibri"/>
              </a:rPr>
              <a:t>Projected - 94% growth from today</a:t>
            </a:r>
          </a:p>
        </p:txBody>
      </p:sp>
      <p:sp>
        <p:nvSpPr>
          <p:cNvPr id="69" name="Rounded Rectangle 68"/>
          <p:cNvSpPr/>
          <p:nvPr/>
        </p:nvSpPr>
        <p:spPr>
          <a:xfrm>
            <a:off x="8119872" y="224028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193024" y="2295144"/>
            <a:ext cx="1636776" cy="137160"/>
          </a:xfrm>
          <a:prstGeom prst="rect">
            <a:avLst/>
          </a:prstGeom>
          <a:noFill/>
        </p:spPr>
        <p:txBody>
          <a:bodyPr wrap="square" lIns="36576" rIns="36576" tIns="9144" bIns="9144">
            <a:spAutoFit/>
          </a:bodyPr>
          <a:lstStyle/>
          <a:p>
            <a:r>
              <a:rPr sz="600" b="1">
                <a:solidFill>
                  <a:srgbClr val="5A6573"/>
                </a:solidFill>
                <a:latin typeface="Calibri"/>
              </a:rPr>
              <a:t>UHNWI GROWTH BY 2028</a:t>
            </a:r>
          </a:p>
        </p:txBody>
      </p:sp>
      <p:sp>
        <p:nvSpPr>
          <p:cNvPr id="71" name="TextBox 70"/>
          <p:cNvSpPr txBox="1"/>
          <p:nvPr/>
        </p:nvSpPr>
        <p:spPr>
          <a:xfrm>
            <a:off x="8193024" y="2441448"/>
            <a:ext cx="1636776" cy="228600"/>
          </a:xfrm>
          <a:prstGeom prst="rect">
            <a:avLst/>
          </a:prstGeom>
          <a:noFill/>
        </p:spPr>
        <p:txBody>
          <a:bodyPr wrap="square" lIns="36576" rIns="36576" tIns="9144" bIns="9144">
            <a:spAutoFit/>
          </a:bodyPr>
          <a:lstStyle/>
          <a:p>
            <a:r>
              <a:rPr sz="1400" b="1">
                <a:solidFill>
                  <a:srgbClr val="1F4690"/>
                </a:solidFill>
                <a:latin typeface="Calibri"/>
              </a:rPr>
              <a:t>58.4%</a:t>
            </a:r>
          </a:p>
        </p:txBody>
      </p:sp>
      <p:sp>
        <p:nvSpPr>
          <p:cNvPr id="72" name="TextBox 71"/>
          <p:cNvSpPr txBox="1"/>
          <p:nvPr/>
        </p:nvSpPr>
        <p:spPr>
          <a:xfrm>
            <a:off x="8193024" y="2679192"/>
            <a:ext cx="1636776" cy="137160"/>
          </a:xfrm>
          <a:prstGeom prst="rect">
            <a:avLst/>
          </a:prstGeom>
          <a:noFill/>
        </p:spPr>
        <p:txBody>
          <a:bodyPr wrap="square" lIns="36576" rIns="36576" tIns="9144" bIns="9144">
            <a:spAutoFit/>
          </a:bodyPr>
          <a:lstStyle/>
          <a:p>
            <a:r>
              <a:rPr sz="600" b="0">
                <a:solidFill>
                  <a:srgbClr val="111111"/>
                </a:solidFill>
                <a:latin typeface="Calibri"/>
              </a:rPr>
              <a:t>Fastest growing ultra-HNI pool globally</a:t>
            </a:r>
          </a:p>
        </p:txBody>
      </p:sp>
      <p:sp>
        <p:nvSpPr>
          <p:cNvPr id="73" name="Rounded Rectangle 72"/>
          <p:cNvSpPr/>
          <p:nvPr/>
        </p:nvSpPr>
        <p:spPr>
          <a:xfrm>
            <a:off x="10085832" y="2240280"/>
            <a:ext cx="1783080" cy="594360"/>
          </a:xfrm>
          <a:prstGeom prst="round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158984" y="2295144"/>
            <a:ext cx="1636776" cy="137160"/>
          </a:xfrm>
          <a:prstGeom prst="rect">
            <a:avLst/>
          </a:prstGeom>
          <a:noFill/>
        </p:spPr>
        <p:txBody>
          <a:bodyPr wrap="square" lIns="36576" rIns="36576" tIns="9144" bIns="9144">
            <a:spAutoFit/>
          </a:bodyPr>
          <a:lstStyle/>
          <a:p>
            <a:r>
              <a:rPr sz="600" b="1">
                <a:solidFill>
                  <a:srgbClr val="5A6573"/>
                </a:solidFill>
                <a:latin typeface="Calibri"/>
              </a:rPr>
              <a:t>NBFC PROFIT GROWTH</a:t>
            </a:r>
          </a:p>
        </p:txBody>
      </p:sp>
      <p:sp>
        <p:nvSpPr>
          <p:cNvPr id="75" name="TextBox 74"/>
          <p:cNvSpPr txBox="1"/>
          <p:nvPr/>
        </p:nvSpPr>
        <p:spPr>
          <a:xfrm>
            <a:off x="10158984" y="2441448"/>
            <a:ext cx="1636776" cy="228600"/>
          </a:xfrm>
          <a:prstGeom prst="rect">
            <a:avLst/>
          </a:prstGeom>
          <a:noFill/>
        </p:spPr>
        <p:txBody>
          <a:bodyPr wrap="square" lIns="36576" rIns="36576" tIns="9144" bIns="9144">
            <a:spAutoFit/>
          </a:bodyPr>
          <a:lstStyle/>
          <a:p>
            <a:r>
              <a:rPr sz="1400" b="1">
                <a:solidFill>
                  <a:srgbClr val="1F4690"/>
                </a:solidFill>
                <a:latin typeface="Calibri"/>
              </a:rPr>
              <a:t>16%</a:t>
            </a:r>
          </a:p>
        </p:txBody>
      </p:sp>
      <p:sp>
        <p:nvSpPr>
          <p:cNvPr id="76" name="TextBox 75"/>
          <p:cNvSpPr txBox="1"/>
          <p:nvPr/>
        </p:nvSpPr>
        <p:spPr>
          <a:xfrm>
            <a:off x="10158984" y="2679192"/>
            <a:ext cx="1636776" cy="137160"/>
          </a:xfrm>
          <a:prstGeom prst="rect">
            <a:avLst/>
          </a:prstGeom>
          <a:noFill/>
        </p:spPr>
        <p:txBody>
          <a:bodyPr wrap="square" lIns="36576" rIns="36576" tIns="9144" bIns="9144">
            <a:spAutoFit/>
          </a:bodyPr>
          <a:lstStyle/>
          <a:p>
            <a:r>
              <a:rPr sz="600" b="0">
                <a:solidFill>
                  <a:srgbClr val="111111"/>
                </a:solidFill>
                <a:latin typeface="Calibri"/>
              </a:rPr>
              <a:t>Annual - sector profit doubling by FY30</a:t>
            </a:r>
          </a:p>
        </p:txBody>
      </p:sp>
      <p:sp>
        <p:nvSpPr>
          <p:cNvPr id="77" name="TextBox 76"/>
          <p:cNvSpPr txBox="1"/>
          <p:nvPr/>
        </p:nvSpPr>
        <p:spPr>
          <a:xfrm>
            <a:off x="8119872" y="3063240"/>
            <a:ext cx="3749039" cy="182880"/>
          </a:xfrm>
          <a:prstGeom prst="rect">
            <a:avLst/>
          </a:prstGeom>
          <a:noFill/>
        </p:spPr>
        <p:txBody>
          <a:bodyPr wrap="square" lIns="36576" rIns="36576" tIns="9144" bIns="9144">
            <a:spAutoFit/>
          </a:bodyPr>
          <a:lstStyle/>
          <a:p>
            <a:r>
              <a:rPr sz="800" b="1">
                <a:solidFill>
                  <a:srgbClr val="1F4690"/>
                </a:solidFill>
                <a:latin typeface="Calibri"/>
              </a:rPr>
              <a:t>KEY INDUSTRY RISKS</a:t>
            </a:r>
          </a:p>
        </p:txBody>
      </p:sp>
      <p:sp>
        <p:nvSpPr>
          <p:cNvPr id="78" name="Rectangle 77"/>
          <p:cNvSpPr/>
          <p:nvPr/>
        </p:nvSpPr>
        <p:spPr>
          <a:xfrm>
            <a:off x="8119872" y="3264408"/>
            <a:ext cx="3749039" cy="13716"/>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119872" y="3383280"/>
            <a:ext cx="365760" cy="164592"/>
          </a:xfrm>
          <a:prstGeom prst="round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119872" y="3401568"/>
            <a:ext cx="365760" cy="137160"/>
          </a:xfrm>
          <a:prstGeom prst="rect">
            <a:avLst/>
          </a:prstGeom>
          <a:noFill/>
        </p:spPr>
        <p:txBody>
          <a:bodyPr wrap="square" lIns="36576" rIns="36576" tIns="9144" bIns="9144">
            <a:spAutoFit/>
          </a:bodyPr>
          <a:lstStyle/>
          <a:p>
            <a:pPr algn="ctr"/>
            <a:r>
              <a:rPr sz="600" b="1">
                <a:solidFill>
                  <a:srgbClr val="C5221F"/>
                </a:solidFill>
                <a:latin typeface="Calibri"/>
              </a:rPr>
              <a:t>HIGH</a:t>
            </a:r>
          </a:p>
        </p:txBody>
      </p:sp>
      <p:sp>
        <p:nvSpPr>
          <p:cNvPr id="81" name="TextBox 80"/>
          <p:cNvSpPr txBox="1"/>
          <p:nvPr/>
        </p:nvSpPr>
        <p:spPr>
          <a:xfrm>
            <a:off x="8577072" y="3383280"/>
            <a:ext cx="3291839" cy="731520"/>
          </a:xfrm>
          <a:prstGeom prst="rect">
            <a:avLst/>
          </a:prstGeom>
          <a:noFill/>
        </p:spPr>
        <p:txBody>
          <a:bodyPr wrap="square" lIns="36576" rIns="36576" tIns="9144" bIns="9144">
            <a:spAutoFit/>
          </a:bodyPr>
          <a:lstStyle/>
          <a:p>
            <a:r>
              <a:rPr sz="750" b="0">
                <a:solidFill>
                  <a:srgbClr val="111111"/>
                </a:solidFill>
                <a:latin typeface="Calibri"/>
              </a:rPr>
              <a:t>Regulatory uncertainty on capital adequacy, risk, consumer protection</a:t>
            </a:r>
          </a:p>
        </p:txBody>
      </p:sp>
      <p:sp>
        <p:nvSpPr>
          <p:cNvPr id="82" name="Rounded Rectangle 81"/>
          <p:cNvSpPr/>
          <p:nvPr/>
        </p:nvSpPr>
        <p:spPr>
          <a:xfrm>
            <a:off x="8119872" y="4160520"/>
            <a:ext cx="365760" cy="164592"/>
          </a:xfrm>
          <a:prstGeom prst="round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119872" y="4178807"/>
            <a:ext cx="365760" cy="137160"/>
          </a:xfrm>
          <a:prstGeom prst="rect">
            <a:avLst/>
          </a:prstGeom>
          <a:noFill/>
        </p:spPr>
        <p:txBody>
          <a:bodyPr wrap="square" lIns="36576" rIns="36576" tIns="9144" bIns="9144">
            <a:spAutoFit/>
          </a:bodyPr>
          <a:lstStyle/>
          <a:p>
            <a:pPr algn="ctr"/>
            <a:r>
              <a:rPr sz="600" b="1">
                <a:solidFill>
                  <a:srgbClr val="C5221F"/>
                </a:solidFill>
                <a:latin typeface="Calibri"/>
              </a:rPr>
              <a:t>HIGH</a:t>
            </a:r>
          </a:p>
        </p:txBody>
      </p:sp>
      <p:sp>
        <p:nvSpPr>
          <p:cNvPr id="84" name="TextBox 83"/>
          <p:cNvSpPr txBox="1"/>
          <p:nvPr/>
        </p:nvSpPr>
        <p:spPr>
          <a:xfrm>
            <a:off x="8577072" y="4160520"/>
            <a:ext cx="3291839" cy="731520"/>
          </a:xfrm>
          <a:prstGeom prst="rect">
            <a:avLst/>
          </a:prstGeom>
          <a:noFill/>
        </p:spPr>
        <p:txBody>
          <a:bodyPr wrap="square" lIns="36576" rIns="36576" tIns="9144" bIns="9144">
            <a:spAutoFit/>
          </a:bodyPr>
          <a:lstStyle/>
          <a:p>
            <a:r>
              <a:rPr sz="750" b="0">
                <a:solidFill>
                  <a:srgbClr val="111111"/>
                </a:solidFill>
                <a:latin typeface="Calibri"/>
              </a:rPr>
              <a:t>Market volatility compressing transaction-based revenues</a:t>
            </a:r>
          </a:p>
        </p:txBody>
      </p:sp>
      <p:sp>
        <p:nvSpPr>
          <p:cNvPr id="85" name="Rounded Rectangle 84"/>
          <p:cNvSpPr/>
          <p:nvPr/>
        </p:nvSpPr>
        <p:spPr>
          <a:xfrm>
            <a:off x="8119872" y="4937759"/>
            <a:ext cx="365760" cy="164592"/>
          </a:xfrm>
          <a:prstGeom prst="roundRect">
            <a:avLst/>
          </a:prstGeom>
          <a:solidFill>
            <a:srgbClr val="FE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119872" y="4956047"/>
            <a:ext cx="365760" cy="137160"/>
          </a:xfrm>
          <a:prstGeom prst="rect">
            <a:avLst/>
          </a:prstGeom>
          <a:noFill/>
        </p:spPr>
        <p:txBody>
          <a:bodyPr wrap="square" lIns="36576" rIns="36576" tIns="9144" bIns="9144">
            <a:spAutoFit/>
          </a:bodyPr>
          <a:lstStyle/>
          <a:p>
            <a:pPr algn="ctr"/>
            <a:r>
              <a:rPr sz="600" b="1">
                <a:solidFill>
                  <a:srgbClr val="E37400"/>
                </a:solidFill>
                <a:latin typeface="Calibri"/>
              </a:rPr>
              <a:t>MED</a:t>
            </a:r>
          </a:p>
        </p:txBody>
      </p:sp>
      <p:sp>
        <p:nvSpPr>
          <p:cNvPr id="87" name="TextBox 86"/>
          <p:cNvSpPr txBox="1"/>
          <p:nvPr/>
        </p:nvSpPr>
        <p:spPr>
          <a:xfrm>
            <a:off x="8577072" y="4937759"/>
            <a:ext cx="3291839" cy="731520"/>
          </a:xfrm>
          <a:prstGeom prst="rect">
            <a:avLst/>
          </a:prstGeom>
          <a:noFill/>
        </p:spPr>
        <p:txBody>
          <a:bodyPr wrap="square" lIns="36576" rIns="36576" tIns="9144" bIns="9144">
            <a:spAutoFit/>
          </a:bodyPr>
          <a:lstStyle/>
          <a:p>
            <a:r>
              <a:rPr sz="750" b="0">
                <a:solidFill>
                  <a:srgbClr val="111111"/>
                </a:solidFill>
                <a:latin typeface="Calibri"/>
              </a:rPr>
              <a:t>Fintech disruption — 14,000+ startups offering lower-cost alternatives</a:t>
            </a:r>
          </a:p>
        </p:txBody>
      </p:sp>
      <p:sp>
        <p:nvSpPr>
          <p:cNvPr id="88" name="Rounded Rectangle 87"/>
          <p:cNvSpPr/>
          <p:nvPr/>
        </p:nvSpPr>
        <p:spPr>
          <a:xfrm>
            <a:off x="8119872" y="5714999"/>
            <a:ext cx="365760" cy="164592"/>
          </a:xfrm>
          <a:prstGeom prst="roundRect">
            <a:avLst/>
          </a:prstGeom>
          <a:solidFill>
            <a:srgbClr val="FEF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119872" y="5733287"/>
            <a:ext cx="365760" cy="137160"/>
          </a:xfrm>
          <a:prstGeom prst="rect">
            <a:avLst/>
          </a:prstGeom>
          <a:noFill/>
        </p:spPr>
        <p:txBody>
          <a:bodyPr wrap="square" lIns="36576" rIns="36576" tIns="9144" bIns="9144">
            <a:spAutoFit/>
          </a:bodyPr>
          <a:lstStyle/>
          <a:p>
            <a:pPr algn="ctr"/>
            <a:r>
              <a:rPr sz="600" b="1">
                <a:solidFill>
                  <a:srgbClr val="E37400"/>
                </a:solidFill>
                <a:latin typeface="Calibri"/>
              </a:rPr>
              <a:t>MED</a:t>
            </a:r>
          </a:p>
        </p:txBody>
      </p:sp>
      <p:sp>
        <p:nvSpPr>
          <p:cNvPr id="90" name="TextBox 89"/>
          <p:cNvSpPr txBox="1"/>
          <p:nvPr/>
        </p:nvSpPr>
        <p:spPr>
          <a:xfrm>
            <a:off x="8577072" y="5714999"/>
            <a:ext cx="3291839" cy="731520"/>
          </a:xfrm>
          <a:prstGeom prst="rect">
            <a:avLst/>
          </a:prstGeom>
          <a:noFill/>
        </p:spPr>
        <p:txBody>
          <a:bodyPr wrap="square" lIns="36576" rIns="36576" tIns="9144" bIns="9144">
            <a:spAutoFit/>
          </a:bodyPr>
          <a:lstStyle/>
          <a:p>
            <a:r>
              <a:rPr sz="750" b="0">
                <a:solidFill>
                  <a:srgbClr val="111111"/>
                </a:solidFill>
                <a:latin typeface="Calibri"/>
              </a:rPr>
              <a:t>Global risk aversion driving FII outflows and capital-market slowdowns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 — MOFSL Business Architecture</a:t>
            </a:r>
          </a:p>
        </p:txBody>
      </p:sp>
      <p:sp>
        <p:nvSpPr>
          <p:cNvPr id="15" name="Rectangle 14"/>
          <p:cNvSpPr/>
          <p:nvPr/>
        </p:nvSpPr>
        <p:spPr>
          <a:xfrm>
            <a:off x="292608" y="1143000"/>
            <a:ext cx="6492240" cy="1188720"/>
          </a:xfrm>
          <a:prstGeom prst="rect">
            <a:avLst/>
          </a:prstGeom>
          <a:solidFill>
            <a:srgbClr val="FFF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1143000"/>
            <a:ext cx="36576" cy="1188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 y="1188720"/>
            <a:ext cx="6263640" cy="1097280"/>
          </a:xfrm>
          <a:prstGeom prst="rect">
            <a:avLst/>
          </a:prstGeom>
          <a:noFill/>
        </p:spPr>
        <p:txBody>
          <a:bodyPr wrap="square" lIns="36576" rIns="36576" tIns="9144" bIns="9144">
            <a:spAutoFit/>
          </a:bodyPr>
          <a:lstStyle/>
          <a:p>
            <a:r>
              <a:rPr sz="850" b="1">
                <a:solidFill>
                  <a:srgbClr val="1F4690"/>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TextBox 17"/>
          <p:cNvSpPr txBox="1"/>
          <p:nvPr/>
        </p:nvSpPr>
        <p:spPr>
          <a:xfrm>
            <a:off x="292608" y="2468880"/>
            <a:ext cx="6492240" cy="182880"/>
          </a:xfrm>
          <a:prstGeom prst="rect">
            <a:avLst/>
          </a:prstGeom>
          <a:noFill/>
        </p:spPr>
        <p:txBody>
          <a:bodyPr wrap="square" lIns="36576" rIns="36576" tIns="9144" bIns="9144">
            <a:spAutoFit/>
          </a:bodyPr>
          <a:lstStyle/>
          <a:p>
            <a:r>
              <a:rPr sz="800" b="1">
                <a:solidFill>
                  <a:srgbClr val="1F4690"/>
                </a:solidFill>
                <a:latin typeface="Calibri"/>
              </a:rPr>
              <a:t>CORPORATE EVOLUTION TIMELINE</a:t>
            </a:r>
          </a:p>
        </p:txBody>
      </p:sp>
      <p:sp>
        <p:nvSpPr>
          <p:cNvPr id="19" name="Rectangle 18"/>
          <p:cNvSpPr/>
          <p:nvPr/>
        </p:nvSpPr>
        <p:spPr>
          <a:xfrm>
            <a:off x="292608" y="2670048"/>
            <a:ext cx="649224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70332" y="2834640"/>
            <a:ext cx="13716" cy="2834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29184" y="280720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2788920"/>
            <a:ext cx="914400" cy="137160"/>
          </a:xfrm>
          <a:prstGeom prst="rect">
            <a:avLst/>
          </a:prstGeom>
          <a:noFill/>
        </p:spPr>
        <p:txBody>
          <a:bodyPr wrap="square" lIns="36576" rIns="36576" tIns="9144" bIns="9144">
            <a:spAutoFit/>
          </a:bodyPr>
          <a:lstStyle/>
          <a:p>
            <a:r>
              <a:rPr sz="750" b="1">
                <a:solidFill>
                  <a:srgbClr val="FFA500"/>
                </a:solidFill>
                <a:latin typeface="Calibri"/>
              </a:rPr>
              <a:t>1987-1995</a:t>
            </a:r>
          </a:p>
        </p:txBody>
      </p:sp>
      <p:sp>
        <p:nvSpPr>
          <p:cNvPr id="23" name="TextBox 22"/>
          <p:cNvSpPr txBox="1"/>
          <p:nvPr/>
        </p:nvSpPr>
        <p:spPr>
          <a:xfrm>
            <a:off x="475488" y="2926080"/>
            <a:ext cx="6263640" cy="411480"/>
          </a:xfrm>
          <a:prstGeom prst="rect">
            <a:avLst/>
          </a:prstGeom>
          <a:noFill/>
        </p:spPr>
        <p:txBody>
          <a:bodyPr wrap="square" lIns="36576" rIns="36576" tIns="9144" bIns="9144">
            <a:spAutoFit/>
          </a:bodyPr>
          <a:lstStyle/>
          <a:p>
            <a:r>
              <a:rPr sz="700" b="0">
                <a:solidFill>
                  <a:srgbClr val="111111"/>
                </a:solidFill>
                <a:latin typeface="Calibri"/>
              </a:rPr>
              <a:t>Founded as a research-driven equity broking firm by Motilal Oswal and Raamdeo Agrawal. Built proprietary research framework focused on quality businesses at reasonable valuations. Received Rashtriya Samman Patra from Government of India for being among India's highest income taxpayers for five consecutive years (FY95-99) - evidencing early ethical commercial success.</a:t>
            </a:r>
          </a:p>
        </p:txBody>
      </p:sp>
      <p:sp>
        <p:nvSpPr>
          <p:cNvPr id="24" name="Oval 23"/>
          <p:cNvSpPr/>
          <p:nvPr/>
        </p:nvSpPr>
        <p:spPr>
          <a:xfrm>
            <a:off x="329184" y="340156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3383280"/>
            <a:ext cx="914400" cy="137160"/>
          </a:xfrm>
          <a:prstGeom prst="rect">
            <a:avLst/>
          </a:prstGeom>
          <a:noFill/>
        </p:spPr>
        <p:txBody>
          <a:bodyPr wrap="square" lIns="36576" rIns="36576" tIns="9144" bIns="9144">
            <a:spAutoFit/>
          </a:bodyPr>
          <a:lstStyle/>
          <a:p>
            <a:r>
              <a:rPr sz="750" b="1">
                <a:solidFill>
                  <a:srgbClr val="FFA500"/>
                </a:solidFill>
                <a:latin typeface="Calibri"/>
              </a:rPr>
              <a:t>2000-2010</a:t>
            </a:r>
          </a:p>
        </p:txBody>
      </p:sp>
      <p:sp>
        <p:nvSpPr>
          <p:cNvPr id="26" name="TextBox 25"/>
          <p:cNvSpPr txBox="1"/>
          <p:nvPr/>
        </p:nvSpPr>
        <p:spPr>
          <a:xfrm>
            <a:off x="475488" y="3520440"/>
            <a:ext cx="6263640" cy="411480"/>
          </a:xfrm>
          <a:prstGeom prst="rect">
            <a:avLst/>
          </a:prstGeom>
          <a:noFill/>
        </p:spPr>
        <p:txBody>
          <a:bodyPr wrap="square" lIns="36576" rIns="36576" tIns="9144" bIns="9144">
            <a:spAutoFit/>
          </a:bodyPr>
          <a:lstStyle/>
          <a:p>
            <a:r>
              <a:rPr sz="700" b="0">
                <a:solidFill>
                  <a:srgbClr val="111111"/>
                </a:solidFill>
                <a:latin typeface="Calibri"/>
              </a:rPr>
              <a:t>Navin Agarwal joins in 2000, Ajay Menon in 1998 - building institutional depth. IPO in 2007, listing on NSE/BSE. Raamdeo Agrawal codifies the QGLP (Quality, Growth, Longevity &amp; favorable Price) investment process. Annual Wealth Creation Studies begin - becomes one of India's most respected institutional research publications, establishing MOFSL as a thought leader.</a:t>
            </a:r>
          </a:p>
        </p:txBody>
      </p:sp>
      <p:sp>
        <p:nvSpPr>
          <p:cNvPr id="27" name="Oval 26"/>
          <p:cNvSpPr/>
          <p:nvPr/>
        </p:nvSpPr>
        <p:spPr>
          <a:xfrm>
            <a:off x="329184" y="399592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3977640"/>
            <a:ext cx="914400" cy="137160"/>
          </a:xfrm>
          <a:prstGeom prst="rect">
            <a:avLst/>
          </a:prstGeom>
          <a:noFill/>
        </p:spPr>
        <p:txBody>
          <a:bodyPr wrap="square" lIns="36576" rIns="36576" tIns="9144" bIns="9144">
            <a:spAutoFit/>
          </a:bodyPr>
          <a:lstStyle/>
          <a:p>
            <a:r>
              <a:rPr sz="750" b="1">
                <a:solidFill>
                  <a:srgbClr val="FFA500"/>
                </a:solidFill>
                <a:latin typeface="Calibri"/>
              </a:rPr>
              <a:t>2010-2018</a:t>
            </a:r>
          </a:p>
        </p:txBody>
      </p:sp>
      <p:sp>
        <p:nvSpPr>
          <p:cNvPr id="29" name="TextBox 28"/>
          <p:cNvSpPr txBox="1"/>
          <p:nvPr/>
        </p:nvSpPr>
        <p:spPr>
          <a:xfrm>
            <a:off x="475488" y="4114800"/>
            <a:ext cx="6263640" cy="411480"/>
          </a:xfrm>
          <a:prstGeom prst="rect">
            <a:avLst/>
          </a:prstGeom>
          <a:noFill/>
        </p:spPr>
        <p:txBody>
          <a:bodyPr wrap="square" lIns="36576" rIns="36576" tIns="9144" bIns="9144">
            <a:spAutoFit/>
          </a:bodyPr>
          <a:lstStyle/>
          <a:p>
            <a:r>
              <a:rPr sz="700" b="0">
                <a:solidFill>
                  <a:srgbClr val="111111"/>
                </a:solidFill>
                <a:latin typeface="Calibri"/>
              </a:rPr>
              <a:t>Systematic diversification into Asset Management (AMC), Private Wealth, and Housing Finance. AMC AUM begins compounding. 'Buy Right, Sit Tight' philosophy attracts long-duration HNI and institutional clients. Research coverage expanded to 300+ companies, becoming India's premier publicly available institutional equity research publication.</a:t>
            </a:r>
          </a:p>
        </p:txBody>
      </p:sp>
      <p:sp>
        <p:nvSpPr>
          <p:cNvPr id="30" name="Oval 29"/>
          <p:cNvSpPr/>
          <p:nvPr/>
        </p:nvSpPr>
        <p:spPr>
          <a:xfrm>
            <a:off x="329184" y="459028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 y="4572000"/>
            <a:ext cx="914400" cy="137160"/>
          </a:xfrm>
          <a:prstGeom prst="rect">
            <a:avLst/>
          </a:prstGeom>
          <a:noFill/>
        </p:spPr>
        <p:txBody>
          <a:bodyPr wrap="square" lIns="36576" rIns="36576" tIns="9144" bIns="9144">
            <a:spAutoFit/>
          </a:bodyPr>
          <a:lstStyle/>
          <a:p>
            <a:r>
              <a:rPr sz="750" b="1">
                <a:solidFill>
                  <a:srgbClr val="FFA500"/>
                </a:solidFill>
                <a:latin typeface="Calibri"/>
              </a:rPr>
              <a:t>2018-2024</a:t>
            </a:r>
          </a:p>
        </p:txBody>
      </p:sp>
      <p:sp>
        <p:nvSpPr>
          <p:cNvPr id="32" name="TextBox 31"/>
          <p:cNvSpPr txBox="1"/>
          <p:nvPr/>
        </p:nvSpPr>
        <p:spPr>
          <a:xfrm>
            <a:off x="475488" y="4709160"/>
            <a:ext cx="6263640" cy="411480"/>
          </a:xfrm>
          <a:prstGeom prst="rect">
            <a:avLst/>
          </a:prstGeom>
          <a:noFill/>
        </p:spPr>
        <p:txBody>
          <a:bodyPr wrap="square" lIns="36576" rIns="36576" tIns="9144" bIns="9144">
            <a:spAutoFit/>
          </a:bodyPr>
          <a:lstStyle/>
          <a:p>
            <a:r>
              <a:rPr sz="700" b="0">
                <a:solidFill>
                  <a:srgbClr val="111111"/>
                </a:solidFill>
                <a:latin typeface="Calibri"/>
              </a:rPr>
              <a:t>Alternative investments business launched with private credit and real estate funds. Private Wealth AUM surpasses ₹1 lakh crore - a defining scale milestone. ARR contribution crosses 60% of total revenues for the first time. AA+ credit rating from ICRA confirms balance sheet transformation. AMC AUM crosses ₹1 lakh crore amid India's SIP boom.</a:t>
            </a:r>
          </a:p>
        </p:txBody>
      </p:sp>
      <p:sp>
        <p:nvSpPr>
          <p:cNvPr id="33" name="Oval 32"/>
          <p:cNvSpPr/>
          <p:nvPr/>
        </p:nvSpPr>
        <p:spPr>
          <a:xfrm>
            <a:off x="329184" y="5184648"/>
            <a:ext cx="91440" cy="91440"/>
          </a:xfrm>
          <a:prstGeom prst="ellipse">
            <a:avLst/>
          </a:prstGeom>
          <a:solidFill>
            <a:srgbClr val="FFFFFF"/>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 y="5166360"/>
            <a:ext cx="914400" cy="137160"/>
          </a:xfrm>
          <a:prstGeom prst="rect">
            <a:avLst/>
          </a:prstGeom>
          <a:noFill/>
        </p:spPr>
        <p:txBody>
          <a:bodyPr wrap="square" lIns="36576" rIns="36576" tIns="9144" bIns="9144">
            <a:spAutoFit/>
          </a:bodyPr>
          <a:lstStyle/>
          <a:p>
            <a:r>
              <a:rPr sz="750" b="1">
                <a:solidFill>
                  <a:srgbClr val="FFA500"/>
                </a:solidFill>
                <a:latin typeface="Calibri"/>
              </a:rPr>
              <a:t>2024-2026</a:t>
            </a:r>
          </a:p>
        </p:txBody>
      </p:sp>
      <p:sp>
        <p:nvSpPr>
          <p:cNvPr id="35" name="TextBox 34"/>
          <p:cNvSpPr txBox="1"/>
          <p:nvPr/>
        </p:nvSpPr>
        <p:spPr>
          <a:xfrm>
            <a:off x="475488" y="5303520"/>
            <a:ext cx="6263640" cy="411480"/>
          </a:xfrm>
          <a:prstGeom prst="rect">
            <a:avLst/>
          </a:prstGeom>
          <a:noFill/>
        </p:spPr>
        <p:txBody>
          <a:bodyPr wrap="square" lIns="36576" rIns="36576" tIns="9144" bIns="9144">
            <a:spAutoFit/>
          </a:bodyPr>
          <a:lstStyle/>
          <a:p>
            <a:r>
              <a:rPr sz="700" b="0">
                <a:solidFill>
                  <a:srgbClr val="111111"/>
                </a:solidFill>
                <a:latin typeface="Calibri"/>
              </a:rPr>
              <a:t>ARR reaches 65% of total net revenues - management guiding for 70%+ target. Total AUM ₹1.77 lakh crore (+46% YoY). 91% of AUM outperforming benchmarks. F&amp;O regulatory headwinds (Q2FY26) create valuation opportunity - stock mispriced. SEBI regulations pushing structural shift away from transaction-based model - accelerating the ARR transformation thesis.</a:t>
            </a:r>
          </a:p>
        </p:txBody>
      </p:sp>
      <p:sp>
        <p:nvSpPr>
          <p:cNvPr id="36" name="TextBox 35"/>
          <p:cNvSpPr txBox="1"/>
          <p:nvPr/>
        </p:nvSpPr>
        <p:spPr>
          <a:xfrm>
            <a:off x="292608" y="5897880"/>
            <a:ext cx="6492240" cy="182880"/>
          </a:xfrm>
          <a:prstGeom prst="rect">
            <a:avLst/>
          </a:prstGeom>
          <a:noFill/>
        </p:spPr>
        <p:txBody>
          <a:bodyPr wrap="square" lIns="36576" rIns="36576" tIns="9144" bIns="9144">
            <a:spAutoFit/>
          </a:bodyPr>
          <a:lstStyle/>
          <a:p>
            <a:r>
              <a:rPr sz="800" b="1">
                <a:solidFill>
                  <a:srgbClr val="1F4690"/>
                </a:solidFill>
                <a:latin typeface="Calibri"/>
              </a:rPr>
              <a:t>STRATEGIC ARCHITECTURE — 5 BUSINESS PILLARS</a:t>
            </a:r>
          </a:p>
        </p:txBody>
      </p:sp>
      <p:sp>
        <p:nvSpPr>
          <p:cNvPr id="37" name="Rectangle 36"/>
          <p:cNvSpPr/>
          <p:nvPr/>
        </p:nvSpPr>
        <p:spPr>
          <a:xfrm>
            <a:off x="292608" y="6099048"/>
            <a:ext cx="649224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8" name="Table 37"/>
          <p:cNvGraphicFramePr>
            <a:graphicFrameLocks noGrp="1"/>
          </p:cNvGraphicFramePr>
          <p:nvPr/>
        </p:nvGraphicFramePr>
        <p:xfrm>
          <a:off x="292608" y="6172200"/>
          <a:ext cx="6492239" cy="822960"/>
        </p:xfrm>
        <a:graphic>
          <a:graphicData uri="http://schemas.openxmlformats.org/drawingml/2006/table">
            <a:tbl>
              <a:tblPr firstRow="1" bandRow="1">
                <a:tableStyleId>{5C22544A-7EE6-4342-B048-85BDC9FD1C3A}</a:tableStyleId>
              </a:tblPr>
              <a:tblGrid>
                <a:gridCol w="2077516"/>
                <a:gridCol w="973836"/>
                <a:gridCol w="1493215"/>
                <a:gridCol w="1947672"/>
              </a:tblGrid>
              <a:tr h="137160">
                <a:tc>
                  <a:txBody>
                    <a:bodyPr/>
                    <a:lstStyle/>
                    <a:p>
                      <a:pPr algn="l"/>
                      <a:r>
                        <a:rPr sz="700" b="1">
                          <a:solidFill>
                            <a:srgbClr val="FFFFFF"/>
                          </a:solidFill>
                          <a:latin typeface="Calibri"/>
                        </a:rPr>
                        <a:t>Pillar</a:t>
                      </a:r>
                    </a:p>
                  </a:txBody>
                  <a:tcPr anchor="ctr" marL="22860" marR="22860" marT="5486" marB="5486">
                    <a:solidFill>
                      <a:srgbClr val="1F4690"/>
                    </a:solidFill>
                  </a:tcPr>
                </a:tc>
                <a:tc>
                  <a:txBody>
                    <a:bodyPr/>
                    <a:lstStyle/>
                    <a:p>
                      <a:pPr algn="ctr"/>
                      <a:r>
                        <a:rPr sz="700" b="1">
                          <a:solidFill>
                            <a:srgbClr val="FFFFFF"/>
                          </a:solidFill>
                          <a:latin typeface="Calibri"/>
                        </a:rPr>
                        <a:t>Revenue Share</a:t>
                      </a:r>
                    </a:p>
                  </a:txBody>
                  <a:tcPr anchor="ctr" marL="22860" marR="22860" marT="5486" marB="5486">
                    <a:solidFill>
                      <a:srgbClr val="1F4690"/>
                    </a:solidFill>
                  </a:tcPr>
                </a:tc>
                <a:tc>
                  <a:txBody>
                    <a:bodyPr/>
                    <a:lstStyle/>
                    <a:p>
                      <a:pPr algn="ctr"/>
                      <a:r>
                        <a:rPr sz="700" b="1">
                          <a:solidFill>
                            <a:srgbClr val="FFFFFF"/>
                          </a:solidFill>
                          <a:latin typeface="Calibri"/>
                        </a:rPr>
                        <a:t>Stage</a:t>
                      </a:r>
                    </a:p>
                  </a:txBody>
                  <a:tcPr anchor="ctr" marL="22860" marR="22860" marT="5486" marB="5486">
                    <a:solidFill>
                      <a:srgbClr val="1F4690"/>
                    </a:solidFill>
                  </a:tcPr>
                </a:tc>
                <a:tc>
                  <a:txBody>
                    <a:bodyPr/>
                    <a:lstStyle/>
                    <a:p>
                      <a:pPr algn="ctr"/>
                      <a:r>
                        <a:rPr sz="700" b="1">
                          <a:solidFill>
                            <a:srgbClr val="FFFFFF"/>
                          </a:solidFill>
                          <a:latin typeface="Calibri"/>
                        </a:rPr>
                        <a:t>Strategic Role</a:t>
                      </a:r>
                    </a:p>
                  </a:txBody>
                  <a:tcPr anchor="ctr" marL="22860" marR="22860" marT="5486" marB="5486">
                    <a:solidFill>
                      <a:srgbClr val="1F4690"/>
                    </a:solidFill>
                  </a:tcPr>
                </a:tc>
              </a:tr>
              <a:tr h="137160">
                <a:tc>
                  <a:txBody>
                    <a:bodyPr/>
                    <a:lstStyle/>
                    <a:p>
                      <a:pPr algn="l"/>
                      <a:r>
                        <a:rPr sz="700" b="1">
                          <a:solidFill>
                            <a:srgbClr val="111111"/>
                          </a:solidFill>
                          <a:latin typeface="Calibri"/>
                        </a:rPr>
                        <a:t>Capital Markets &amp; Broking</a:t>
                      </a:r>
                    </a:p>
                  </a:txBody>
                  <a:tcPr anchor="ctr" marL="22860" marR="22860" marT="5486" marB="5486">
                    <a:solidFill>
                      <a:srgbClr val="FFFFFF"/>
                    </a:solidFill>
                  </a:tcPr>
                </a:tc>
                <a:tc>
                  <a:txBody>
                    <a:bodyPr/>
                    <a:lstStyle/>
                    <a:p>
                      <a:pPr algn="r"/>
                      <a:r>
                        <a:rPr sz="700" b="0">
                          <a:solidFill>
                            <a:srgbClr val="111111"/>
                          </a:solidFill>
                          <a:latin typeface="Calibri"/>
                        </a:rPr>
                        <a:t>30%</a:t>
                      </a:r>
                    </a:p>
                  </a:txBody>
                  <a:tcPr anchor="ctr" marL="22860" marR="22860" marT="5486" marB="5486">
                    <a:solidFill>
                      <a:srgbClr val="FFFFFF"/>
                    </a:solidFill>
                  </a:tcPr>
                </a:tc>
                <a:tc>
                  <a:txBody>
                    <a:bodyPr/>
                    <a:lstStyle/>
                    <a:p>
                      <a:pPr algn="ctr"/>
                      <a:r>
                        <a:rPr sz="700" b="0">
                          <a:solidFill>
                            <a:srgbClr val="111111"/>
                          </a:solidFill>
                          <a:latin typeface="Calibri"/>
                        </a:rPr>
                        <a:t>Mature / Declining Share</a:t>
                      </a:r>
                    </a:p>
                  </a:txBody>
                  <a:tcPr anchor="ctr" marL="22860" marR="22860" marT="5486" marB="5486">
                    <a:solidFill>
                      <a:srgbClr val="FFFFFF"/>
                    </a:solidFill>
                  </a:tcPr>
                </a:tc>
                <a:tc>
                  <a:txBody>
                    <a:bodyPr/>
                    <a:lstStyle/>
                    <a:p>
                      <a:pPr algn="r"/>
                      <a:r>
                        <a:rPr sz="700" b="0">
                          <a:solidFill>
                            <a:srgbClr val="111111"/>
                          </a:solidFill>
                          <a:latin typeface="Calibri"/>
                        </a:rPr>
                        <a:t>Cash generation, distribution network</a:t>
                      </a:r>
                    </a:p>
                  </a:txBody>
                  <a:tcPr anchor="ctr" marL="22860" marR="22860" marT="5486" marB="5486">
                    <a:solidFill>
                      <a:srgbClr val="FFFFFF"/>
                    </a:solidFill>
                  </a:tcPr>
                </a:tc>
              </a:tr>
              <a:tr h="137160">
                <a:tc>
                  <a:txBody>
                    <a:bodyPr/>
                    <a:lstStyle/>
                    <a:p>
                      <a:pPr algn="l"/>
                      <a:r>
                        <a:rPr sz="700" b="1">
                          <a:solidFill>
                            <a:srgbClr val="111111"/>
                          </a:solidFill>
                          <a:latin typeface="Calibri"/>
                        </a:rPr>
                        <a:t>Asset Management (AMC)</a:t>
                      </a:r>
                    </a:p>
                  </a:txBody>
                  <a:tcPr anchor="ctr" marL="22860" marR="22860" marT="5486" marB="5486">
                    <a:solidFill>
                      <a:srgbClr val="FFFFFF"/>
                    </a:solidFill>
                  </a:tcPr>
                </a:tc>
                <a:tc>
                  <a:txBody>
                    <a:bodyPr/>
                    <a:lstStyle/>
                    <a:p>
                      <a:pPr algn="r"/>
                      <a:r>
                        <a:rPr sz="700" b="0">
                          <a:solidFill>
                            <a:srgbClr val="111111"/>
                          </a:solidFill>
                          <a:latin typeface="Calibri"/>
                        </a:rPr>
                        <a:t>~25%</a:t>
                      </a:r>
                    </a:p>
                  </a:txBody>
                  <a:tcPr anchor="ctr" marL="22860" marR="22860" marT="5486" marB="5486">
                    <a:solidFill>
                      <a:srgbClr val="FFFFFF"/>
                    </a:solidFill>
                  </a:tcPr>
                </a:tc>
                <a:tc>
                  <a:txBody>
                    <a:bodyPr/>
                    <a:lstStyle/>
                    <a:p>
                      <a:pPr algn="ctr"/>
                      <a:r>
                        <a:rPr sz="700" b="0">
                          <a:solidFill>
                            <a:srgbClr val="111111"/>
                          </a:solidFill>
                          <a:latin typeface="Calibri"/>
                        </a:rPr>
                        <a:t>High Growth</a:t>
                      </a:r>
                    </a:p>
                  </a:txBody>
                  <a:tcPr anchor="ctr" marL="22860" marR="22860" marT="5486" marB="5486">
                    <a:solidFill>
                      <a:srgbClr val="FFFFFF"/>
                    </a:solidFill>
                  </a:tcPr>
                </a:tc>
                <a:tc>
                  <a:txBody>
                    <a:bodyPr/>
                    <a:lstStyle/>
                    <a:p>
                      <a:pPr algn="r"/>
                      <a:r>
                        <a:rPr sz="700" b="0">
                          <a:solidFill>
                            <a:srgbClr val="111111"/>
                          </a:solidFill>
                          <a:latin typeface="Calibri"/>
                        </a:rPr>
                        <a:t>Premium ARR engine, AUM compounding</a:t>
                      </a:r>
                    </a:p>
                  </a:txBody>
                  <a:tcPr anchor="ctr" marL="22860" marR="22860" marT="5486" marB="5486">
                    <a:solidFill>
                      <a:srgbClr val="FFFFFF"/>
                    </a:solidFill>
                  </a:tcPr>
                </a:tc>
              </a:tr>
              <a:tr h="137160">
                <a:tc>
                  <a:txBody>
                    <a:bodyPr/>
                    <a:lstStyle/>
                    <a:p>
                      <a:pPr algn="l"/>
                      <a:r>
                        <a:rPr sz="700" b="1">
                          <a:solidFill>
                            <a:srgbClr val="111111"/>
                          </a:solidFill>
                          <a:latin typeface="Calibri"/>
                        </a:rPr>
                        <a:t>Private Wealth Management</a:t>
                      </a:r>
                    </a:p>
                  </a:txBody>
                  <a:tcPr anchor="ctr" marL="22860" marR="22860" marT="5486" marB="5486">
                    <a:solidFill>
                      <a:srgbClr val="FFFFFF"/>
                    </a:solidFill>
                  </a:tcPr>
                </a:tc>
                <a:tc>
                  <a:txBody>
                    <a:bodyPr/>
                    <a:lstStyle/>
                    <a:p>
                      <a:pPr algn="r"/>
                      <a:r>
                        <a:rPr sz="700" b="0">
                          <a:solidFill>
                            <a:srgbClr val="111111"/>
                          </a:solidFill>
                          <a:latin typeface="Calibri"/>
                        </a:rPr>
                        <a:t>~20%</a:t>
                      </a:r>
                    </a:p>
                  </a:txBody>
                  <a:tcPr anchor="ctr" marL="22860" marR="22860" marT="5486" marB="5486">
                    <a:solidFill>
                      <a:srgbClr val="FFFFFF"/>
                    </a:solidFill>
                  </a:tcPr>
                </a:tc>
                <a:tc>
                  <a:txBody>
                    <a:bodyPr/>
                    <a:lstStyle/>
                    <a:p>
                      <a:pPr algn="ctr"/>
                      <a:r>
                        <a:rPr sz="700" b="0">
                          <a:solidFill>
                            <a:srgbClr val="111111"/>
                          </a:solidFill>
                          <a:latin typeface="Calibri"/>
                        </a:rPr>
                        <a:t>High Growth</a:t>
                      </a:r>
                    </a:p>
                  </a:txBody>
                  <a:tcPr anchor="ctr" marL="22860" marR="22860" marT="5486" marB="5486">
                    <a:solidFill>
                      <a:srgbClr val="FFFFFF"/>
                    </a:solidFill>
                  </a:tcPr>
                </a:tc>
                <a:tc>
                  <a:txBody>
                    <a:bodyPr/>
                    <a:lstStyle/>
                    <a:p>
                      <a:pPr algn="r"/>
                      <a:r>
                        <a:rPr sz="700" b="0">
                          <a:solidFill>
                            <a:srgbClr val="111111"/>
                          </a:solidFill>
                          <a:latin typeface="Calibri"/>
                        </a:rPr>
                        <a:t>HNI franchise, recurring advisory fees</a:t>
                      </a:r>
                    </a:p>
                  </a:txBody>
                  <a:tcPr anchor="ctr" marL="22860" marR="22860" marT="5486" marB="5486">
                    <a:solidFill>
                      <a:srgbClr val="FFFFFF"/>
                    </a:solidFill>
                  </a:tcPr>
                </a:tc>
              </a:tr>
              <a:tr h="137160">
                <a:tc>
                  <a:txBody>
                    <a:bodyPr/>
                    <a:lstStyle/>
                    <a:p>
                      <a:pPr algn="l"/>
                      <a:r>
                        <a:rPr sz="700" b="1">
                          <a:solidFill>
                            <a:srgbClr val="111111"/>
                          </a:solidFill>
                          <a:latin typeface="Calibri"/>
                        </a:rPr>
                        <a:t>Housing Finance</a:t>
                      </a:r>
                    </a:p>
                  </a:txBody>
                  <a:tcPr anchor="ctr" marL="22860" marR="22860" marT="5486" marB="5486">
                    <a:solidFill>
                      <a:srgbClr val="FFFFFF"/>
                    </a:solidFill>
                  </a:tcPr>
                </a:tc>
                <a:tc>
                  <a:txBody>
                    <a:bodyPr/>
                    <a:lstStyle/>
                    <a:p>
                      <a:pPr algn="r"/>
                      <a:r>
                        <a:rPr sz="700" b="0">
                          <a:solidFill>
                            <a:srgbClr val="111111"/>
                          </a:solidFill>
                          <a:latin typeface="Calibri"/>
                        </a:rPr>
                        <a:t>~15%</a:t>
                      </a:r>
                    </a:p>
                  </a:txBody>
                  <a:tcPr anchor="ctr" marL="22860" marR="22860" marT="5486" marB="5486">
                    <a:solidFill>
                      <a:srgbClr val="FFFFFF"/>
                    </a:solidFill>
                  </a:tcPr>
                </a:tc>
                <a:tc>
                  <a:txBody>
                    <a:bodyPr/>
                    <a:lstStyle/>
                    <a:p>
                      <a:pPr algn="ctr"/>
                      <a:r>
                        <a:rPr sz="700" b="0">
                          <a:solidFill>
                            <a:srgbClr val="111111"/>
                          </a:solidFill>
                          <a:latin typeface="Calibri"/>
                        </a:rPr>
                        <a:t>Growth</a:t>
                      </a:r>
                    </a:p>
                  </a:txBody>
                  <a:tcPr anchor="ctr" marL="22860" marR="22860" marT="5486" marB="5486">
                    <a:solidFill>
                      <a:srgbClr val="FFFFFF"/>
                    </a:solidFill>
                  </a:tcPr>
                </a:tc>
                <a:tc>
                  <a:txBody>
                    <a:bodyPr/>
                    <a:lstStyle/>
                    <a:p>
                      <a:pPr algn="r"/>
                      <a:r>
                        <a:rPr sz="700" b="0">
                          <a:solidFill>
                            <a:srgbClr val="111111"/>
                          </a:solidFill>
                          <a:latin typeface="Calibri"/>
                        </a:rPr>
                        <a:t>Secured NII income, balance sheet diversification</a:t>
                      </a:r>
                    </a:p>
                  </a:txBody>
                  <a:tcPr anchor="ctr" marL="22860" marR="22860" marT="5486" marB="5486">
                    <a:solidFill>
                      <a:srgbClr val="FFFFFF"/>
                    </a:solidFill>
                  </a:tcPr>
                </a:tc>
              </a:tr>
              <a:tr h="137160">
                <a:tc>
                  <a:txBody>
                    <a:bodyPr/>
                    <a:lstStyle/>
                    <a:p>
                      <a:pPr algn="l"/>
                      <a:r>
                        <a:rPr sz="700" b="1">
                          <a:solidFill>
                            <a:srgbClr val="111111"/>
                          </a:solidFill>
                          <a:latin typeface="Calibri"/>
                        </a:rPr>
                        <a:t>Alternative Investments</a:t>
                      </a:r>
                    </a:p>
                  </a:txBody>
                  <a:tcPr anchor="ctr" marL="22860" marR="22860" marT="5486" marB="5486">
                    <a:solidFill>
                      <a:srgbClr val="FFFFFF"/>
                    </a:solidFill>
                  </a:tcPr>
                </a:tc>
                <a:tc>
                  <a:txBody>
                    <a:bodyPr/>
                    <a:lstStyle/>
                    <a:p>
                      <a:pPr algn="r"/>
                      <a:r>
                        <a:rPr sz="700" b="0">
                          <a:solidFill>
                            <a:srgbClr val="111111"/>
                          </a:solidFill>
                          <a:latin typeface="Calibri"/>
                        </a:rPr>
                        <a:t>&lt;10%</a:t>
                      </a:r>
                    </a:p>
                  </a:txBody>
                  <a:tcPr anchor="ctr" marL="22860" marR="22860" marT="5486" marB="5486">
                    <a:solidFill>
                      <a:srgbClr val="FFFFFF"/>
                    </a:solidFill>
                  </a:tcPr>
                </a:tc>
                <a:tc>
                  <a:txBody>
                    <a:bodyPr/>
                    <a:lstStyle/>
                    <a:p>
                      <a:pPr algn="ctr"/>
                      <a:r>
                        <a:rPr sz="700" b="0">
                          <a:solidFill>
                            <a:srgbClr val="111111"/>
                          </a:solidFill>
                          <a:latin typeface="Calibri"/>
                        </a:rPr>
                        <a:t>Nascent / Growing</a:t>
                      </a:r>
                    </a:p>
                  </a:txBody>
                  <a:tcPr anchor="ctr" marL="22860" marR="22860" marT="5486" marB="5486">
                    <a:solidFill>
                      <a:srgbClr val="FFFFFF"/>
                    </a:solidFill>
                  </a:tcPr>
                </a:tc>
                <a:tc>
                  <a:txBody>
                    <a:bodyPr/>
                    <a:lstStyle/>
                    <a:p>
                      <a:pPr algn="r"/>
                      <a:r>
                        <a:rPr sz="700" b="0">
                          <a:solidFill>
                            <a:srgbClr val="111111"/>
                          </a:solidFill>
                          <a:latin typeface="Calibri"/>
                        </a:rPr>
                        <a:t>Carry income, institutional differentiation</a:t>
                      </a:r>
                    </a:p>
                  </a:txBody>
                  <a:tcPr anchor="ctr" marL="22860" marR="22860" marT="5486" marB="5486">
                    <a:solidFill>
                      <a:srgbClr val="FFFFFF"/>
                    </a:solidFill>
                  </a:tcPr>
                </a:tc>
              </a:tr>
            </a:tbl>
          </a:graphicData>
        </a:graphic>
      </p:graphicFrame>
      <p:sp>
        <p:nvSpPr>
          <p:cNvPr id="39" name="TextBox 38"/>
          <p:cNvSpPr txBox="1"/>
          <p:nvPr/>
        </p:nvSpPr>
        <p:spPr>
          <a:xfrm>
            <a:off x="6967728" y="1143000"/>
            <a:ext cx="4937760" cy="182880"/>
          </a:xfrm>
          <a:prstGeom prst="rect">
            <a:avLst/>
          </a:prstGeom>
          <a:noFill/>
        </p:spPr>
        <p:txBody>
          <a:bodyPr wrap="square" lIns="36576" rIns="36576" tIns="9144" bIns="9144">
            <a:spAutoFit/>
          </a:bodyPr>
          <a:lstStyle/>
          <a:p>
            <a:r>
              <a:rPr sz="800" b="1">
                <a:solidFill>
                  <a:srgbClr val="1F4690"/>
                </a:solidFill>
                <a:latin typeface="Calibri"/>
              </a:rPr>
              <a:t>COMPETITIVE ADVANTAGES — ENDURING MOATS</a:t>
            </a:r>
          </a:p>
        </p:txBody>
      </p:sp>
      <p:sp>
        <p:nvSpPr>
          <p:cNvPr id="40" name="Rectangle 39"/>
          <p:cNvSpPr/>
          <p:nvPr/>
        </p:nvSpPr>
        <p:spPr>
          <a:xfrm>
            <a:off x="6967728" y="1344168"/>
            <a:ext cx="493776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1" name="Table 40"/>
          <p:cNvGraphicFramePr>
            <a:graphicFrameLocks noGrp="1"/>
          </p:cNvGraphicFramePr>
          <p:nvPr/>
        </p:nvGraphicFramePr>
        <p:xfrm>
          <a:off x="6967728" y="1417320"/>
          <a:ext cx="4937760" cy="1371600"/>
        </p:xfrm>
        <a:graphic>
          <a:graphicData uri="http://schemas.openxmlformats.org/drawingml/2006/table">
            <a:tbl>
              <a:tblPr firstRow="1" bandRow="1">
                <a:tableStyleId>{5C22544A-7EE6-4342-B048-85BDC9FD1C3A}</a:tableStyleId>
              </a:tblPr>
              <a:tblGrid>
                <a:gridCol w="3209544"/>
                <a:gridCol w="1728216"/>
              </a:tblGrid>
              <a:tr h="152400">
                <a:tc>
                  <a:txBody>
                    <a:bodyPr/>
                    <a:lstStyle/>
                    <a:p>
                      <a:r>
                        <a:rPr sz="700" b="1">
                          <a:solidFill>
                            <a:srgbClr val="FFFFFF"/>
                          </a:solidFill>
                          <a:latin typeface="Calibri"/>
                        </a:rPr>
                        <a:t>Advantage</a:t>
                      </a:r>
                    </a:p>
                  </a:txBody>
                  <a:tcPr anchor="ctr" marL="22860" marR="22860" marT="5486" marB="5486">
                    <a:solidFill>
                      <a:srgbClr val="1F4690"/>
                    </a:solidFill>
                  </a:tcPr>
                </a:tc>
                <a:tc>
                  <a:txBody>
                    <a:bodyPr/>
                    <a:lstStyle/>
                    <a:p>
                      <a:pPr algn="r"/>
                      <a:r>
                        <a:rPr sz="700" b="1">
                          <a:solidFill>
                            <a:srgbClr val="FFFFFF"/>
                          </a:solidFill>
                          <a:latin typeface="Calibri"/>
                        </a:rPr>
                        <a:t>Assessment</a:t>
                      </a:r>
                    </a:p>
                  </a:txBody>
                  <a:tcPr anchor="ctr" marL="22860" marR="22860" marT="5486" marB="5486">
                    <a:solidFill>
                      <a:srgbClr val="1F4690"/>
                    </a:solidFill>
                  </a:tcPr>
                </a:tc>
              </a:tr>
              <a:tr h="152400">
                <a:tc>
                  <a:txBody>
                    <a:bodyPr/>
                    <a:lstStyle/>
                    <a:p>
                      <a:r>
                        <a:rPr sz="700" b="0">
                          <a:solidFill>
                            <a:srgbClr val="111111"/>
                          </a:solidFill>
                          <a:latin typeface="Calibri"/>
                        </a:rPr>
                        <a:t>Research Franchise (300+ companies)</a:t>
                      </a:r>
                    </a:p>
                  </a:txBody>
                  <a:tcPr anchor="ctr" marL="22860" marR="22860" marT="5486" marB="5486">
                    <a:solidFill>
                      <a:srgbClr val="FFFFFF"/>
                    </a:solidFill>
                  </a:tcPr>
                </a:tc>
                <a:tc>
                  <a:txBody>
                    <a:bodyPr/>
                    <a:lstStyle/>
                    <a:p>
                      <a:pPr algn="r"/>
                      <a:r>
                        <a:rPr sz="700" b="1">
                          <a:solidFill>
                            <a:srgbClr val="1A7A4A"/>
                          </a:solidFill>
                          <a:latin typeface="Calibri"/>
                        </a:rPr>
                        <a:t>Enduring Moat</a:t>
                      </a:r>
                    </a:p>
                  </a:txBody>
                  <a:tcPr anchor="ctr" marL="22860" marR="22860" marT="5486" marB="5486">
                    <a:solidFill>
                      <a:srgbClr val="FFFFFF"/>
                    </a:solidFill>
                  </a:tcPr>
                </a:tc>
              </a:tr>
              <a:tr h="152400">
                <a:tc>
                  <a:txBody>
                    <a:bodyPr/>
                    <a:lstStyle/>
                    <a:p>
                      <a:r>
                        <a:rPr sz="700" b="0">
                          <a:solidFill>
                            <a:srgbClr val="111111"/>
                          </a:solidFill>
                          <a:latin typeface="Calibri"/>
                        </a:rPr>
                        <a:t>QGLP / Buy Right Sit Tight Philosophy</a:t>
                      </a:r>
                    </a:p>
                  </a:txBody>
                  <a:tcPr anchor="ctr" marL="22860" marR="22860" marT="5486" marB="5486">
                    <a:solidFill>
                      <a:srgbClr val="FFFFFF"/>
                    </a:solidFill>
                  </a:tcPr>
                </a:tc>
                <a:tc>
                  <a:txBody>
                    <a:bodyPr/>
                    <a:lstStyle/>
                    <a:p>
                      <a:pPr algn="r"/>
                      <a:r>
                        <a:rPr sz="700" b="1">
                          <a:solidFill>
                            <a:srgbClr val="1A7A4A"/>
                          </a:solidFill>
                          <a:latin typeface="Calibri"/>
                        </a:rPr>
                        <a:t>Brand Differentiator</a:t>
                      </a:r>
                    </a:p>
                  </a:txBody>
                  <a:tcPr anchor="ctr" marL="22860" marR="22860" marT="5486" marB="5486">
                    <a:solidFill>
                      <a:srgbClr val="FFFFFF"/>
                    </a:solidFill>
                  </a:tcPr>
                </a:tc>
              </a:tr>
              <a:tr h="152400">
                <a:tc>
                  <a:txBody>
                    <a:bodyPr/>
                    <a:lstStyle/>
                    <a:p>
                      <a:r>
                        <a:rPr sz="700" b="0">
                          <a:solidFill>
                            <a:srgbClr val="111111"/>
                          </a:solidFill>
                          <a:latin typeface="Calibri"/>
                        </a:rPr>
                        <a:t>91% AUM outperforming benchmarks (3Y)</a:t>
                      </a:r>
                    </a:p>
                  </a:txBody>
                  <a:tcPr anchor="ctr" marL="22860" marR="22860" marT="5486" marB="5486">
                    <a:solidFill>
                      <a:srgbClr val="FFFFFF"/>
                    </a:solidFill>
                  </a:tcPr>
                </a:tc>
                <a:tc>
                  <a:txBody>
                    <a:bodyPr/>
                    <a:lstStyle/>
                    <a:p>
                      <a:pPr algn="r"/>
                      <a:r>
                        <a:rPr sz="700" b="1">
                          <a:solidFill>
                            <a:srgbClr val="1A7A4A"/>
                          </a:solidFill>
                          <a:latin typeface="Calibri"/>
                        </a:rPr>
                        <a:t>Proof of Excellence</a:t>
                      </a:r>
                    </a:p>
                  </a:txBody>
                  <a:tcPr anchor="ctr" marL="22860" marR="22860" marT="5486" marB="5486">
                    <a:solidFill>
                      <a:srgbClr val="FFFFFF"/>
                    </a:solidFill>
                  </a:tcPr>
                </a:tc>
              </a:tr>
              <a:tr h="152400">
                <a:tc>
                  <a:txBody>
                    <a:bodyPr/>
                    <a:lstStyle/>
                    <a:p>
                      <a:r>
                        <a:rPr sz="700" b="0">
                          <a:solidFill>
                            <a:srgbClr val="111111"/>
                          </a:solidFill>
                          <a:latin typeface="Calibri"/>
                        </a:rPr>
                        <a:t>65% ARR - Revenue Quality</a:t>
                      </a:r>
                    </a:p>
                  </a:txBody>
                  <a:tcPr anchor="ctr" marL="22860" marR="22860" marT="5486" marB="5486">
                    <a:solidFill>
                      <a:srgbClr val="FFFFFF"/>
                    </a:solidFill>
                  </a:tcPr>
                </a:tc>
                <a:tc>
                  <a:txBody>
                    <a:bodyPr/>
                    <a:lstStyle/>
                    <a:p>
                      <a:pPr algn="r"/>
                      <a:r>
                        <a:rPr sz="700" b="1">
                          <a:solidFill>
                            <a:srgbClr val="1A7A4A"/>
                          </a:solidFill>
                          <a:latin typeface="Calibri"/>
                        </a:rPr>
                        <a:t>Structural Advantage</a:t>
                      </a:r>
                    </a:p>
                  </a:txBody>
                  <a:tcPr anchor="ctr" marL="22860" marR="22860" marT="5486" marB="5486">
                    <a:solidFill>
                      <a:srgbClr val="FFFFFF"/>
                    </a:solidFill>
                  </a:tcPr>
                </a:tc>
              </a:tr>
              <a:tr h="152400">
                <a:tc>
                  <a:txBody>
                    <a:bodyPr/>
                    <a:lstStyle/>
                    <a:p>
                      <a:r>
                        <a:rPr sz="700" b="0">
                          <a:solidFill>
                            <a:srgbClr val="111111"/>
                          </a:solidFill>
                          <a:latin typeface="Calibri"/>
                        </a:rPr>
                        <a:t>550+ cities, 2,500+ business locations</a:t>
                      </a:r>
                    </a:p>
                  </a:txBody>
                  <a:tcPr anchor="ctr" marL="22860" marR="22860" marT="5486" marB="5486">
                    <a:solidFill>
                      <a:srgbClr val="FFFFFF"/>
                    </a:solidFill>
                  </a:tcPr>
                </a:tc>
                <a:tc>
                  <a:txBody>
                    <a:bodyPr/>
                    <a:lstStyle/>
                    <a:p>
                      <a:pPr algn="r"/>
                      <a:r>
                        <a:rPr sz="700" b="1">
                          <a:solidFill>
                            <a:srgbClr val="1A7A4A"/>
                          </a:solidFill>
                          <a:latin typeface="Calibri"/>
                        </a:rPr>
                        <a:t>Deep Distribution</a:t>
                      </a:r>
                    </a:p>
                  </a:txBody>
                  <a:tcPr anchor="ctr" marL="22860" marR="22860" marT="5486" marB="5486">
                    <a:solidFill>
                      <a:srgbClr val="FFFFFF"/>
                    </a:solidFill>
                  </a:tcPr>
                </a:tc>
              </a:tr>
              <a:tr h="152400">
                <a:tc>
                  <a:txBody>
                    <a:bodyPr/>
                    <a:lstStyle/>
                    <a:p>
                      <a:r>
                        <a:rPr sz="700" b="0">
                          <a:solidFill>
                            <a:srgbClr val="111111"/>
                          </a:solidFill>
                          <a:latin typeface="Calibri"/>
                        </a:rPr>
                        <a:t>Integrated platform: Broking-&gt;PMS-&gt;Wealth-&gt;IB</a:t>
                      </a:r>
                    </a:p>
                  </a:txBody>
                  <a:tcPr anchor="ctr" marL="22860" marR="22860" marT="5486" marB="5486">
                    <a:solidFill>
                      <a:srgbClr val="FFFFFF"/>
                    </a:solidFill>
                  </a:tcPr>
                </a:tc>
                <a:tc>
                  <a:txBody>
                    <a:bodyPr/>
                    <a:lstStyle/>
                    <a:p>
                      <a:pPr algn="r"/>
                      <a:r>
                        <a:rPr sz="700" b="1">
                          <a:solidFill>
                            <a:srgbClr val="1A7A4A"/>
                          </a:solidFill>
                          <a:latin typeface="Calibri"/>
                        </a:rPr>
                        <a:t>Cross-sell Engine</a:t>
                      </a:r>
                    </a:p>
                  </a:txBody>
                  <a:tcPr anchor="ctr" marL="22860" marR="22860" marT="5486" marB="5486">
                    <a:solidFill>
                      <a:srgbClr val="FFFFFF"/>
                    </a:solidFill>
                  </a:tcPr>
                </a:tc>
              </a:tr>
              <a:tr h="152400">
                <a:tc>
                  <a:txBody>
                    <a:bodyPr/>
                    <a:lstStyle/>
                    <a:p>
                      <a:r>
                        <a:rPr sz="700" b="0">
                          <a:solidFill>
                            <a:srgbClr val="111111"/>
                          </a:solidFill>
                          <a:latin typeface="Calibri"/>
                        </a:rPr>
                        <a:t>AA+ (Stable) credit rating - ICRA</a:t>
                      </a:r>
                    </a:p>
                  </a:txBody>
                  <a:tcPr anchor="ctr" marL="22860" marR="22860" marT="5486" marB="5486">
                    <a:solidFill>
                      <a:srgbClr val="FFFFFF"/>
                    </a:solidFill>
                  </a:tcPr>
                </a:tc>
                <a:tc>
                  <a:txBody>
                    <a:bodyPr/>
                    <a:lstStyle/>
                    <a:p>
                      <a:pPr algn="r"/>
                      <a:r>
                        <a:rPr sz="700" b="1">
                          <a:solidFill>
                            <a:srgbClr val="1A7A4A"/>
                          </a:solidFill>
                          <a:latin typeface="Calibri"/>
                        </a:rPr>
                        <a:t>Balance Sheet Strength</a:t>
                      </a:r>
                    </a:p>
                  </a:txBody>
                  <a:tcPr anchor="ctr" marL="22860" marR="22860" marT="5486" marB="5486">
                    <a:solidFill>
                      <a:srgbClr val="FFFFFF"/>
                    </a:solidFill>
                  </a:tcPr>
                </a:tc>
              </a:tr>
              <a:tr h="152400">
                <a:tc>
                  <a:txBody>
                    <a:bodyPr/>
                    <a:lstStyle/>
                    <a:p>
                      <a:r>
                        <a:rPr sz="700" b="0">
                          <a:solidFill>
                            <a:srgbClr val="111111"/>
                          </a:solidFill>
                          <a:latin typeface="Calibri"/>
                        </a:rPr>
                        <a:t>Founder-led vision - 38 years of research culture</a:t>
                      </a:r>
                    </a:p>
                  </a:txBody>
                  <a:tcPr anchor="ctr" marL="22860" marR="22860" marT="5486" marB="5486">
                    <a:solidFill>
                      <a:srgbClr val="FFFFFF"/>
                    </a:solidFill>
                  </a:tcPr>
                </a:tc>
                <a:tc>
                  <a:txBody>
                    <a:bodyPr/>
                    <a:lstStyle/>
                    <a:p>
                      <a:pPr algn="r"/>
                      <a:r>
                        <a:rPr sz="700" b="1">
                          <a:solidFill>
                            <a:srgbClr val="1A7A4A"/>
                          </a:solidFill>
                          <a:latin typeface="Calibri"/>
                        </a:rPr>
                        <a:t>Cultural Moat</a:t>
                      </a:r>
                    </a:p>
                  </a:txBody>
                  <a:tcPr anchor="ctr" marL="22860" marR="22860" marT="5486" marB="5486">
                    <a:solidFill>
                      <a:srgbClr val="FFFFFF"/>
                    </a:solidFill>
                  </a:tcPr>
                </a:tc>
              </a:tr>
            </a:tbl>
          </a:graphicData>
        </a:graphic>
      </p:graphicFrame>
      <p:sp>
        <p:nvSpPr>
          <p:cNvPr id="42" name="Rectangle 41"/>
          <p:cNvSpPr/>
          <p:nvPr/>
        </p:nvSpPr>
        <p:spPr>
          <a:xfrm>
            <a:off x="6967728" y="1719072"/>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967728" y="1869948"/>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967728" y="2020824"/>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967728" y="2171700"/>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967728" y="2322576"/>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967728" y="2473452"/>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967728" y="2624328"/>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967728" y="2775204"/>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967728" y="2971800"/>
            <a:ext cx="4937760" cy="182880"/>
          </a:xfrm>
          <a:prstGeom prst="rect">
            <a:avLst/>
          </a:prstGeom>
          <a:noFill/>
        </p:spPr>
        <p:txBody>
          <a:bodyPr wrap="square" lIns="36576" rIns="36576" tIns="9144" bIns="9144">
            <a:spAutoFit/>
          </a:bodyPr>
          <a:lstStyle/>
          <a:p>
            <a:r>
              <a:rPr sz="800" b="1">
                <a:solidFill>
                  <a:srgbClr val="1F4690"/>
                </a:solidFill>
                <a:latin typeface="Calibri"/>
              </a:rPr>
              <a:t>AUM PORTFOLIO &amp; PERFORMANCE BREAKDOWN</a:t>
            </a:r>
          </a:p>
        </p:txBody>
      </p:sp>
      <p:sp>
        <p:nvSpPr>
          <p:cNvPr id="51" name="Rectangle 50"/>
          <p:cNvSpPr/>
          <p:nvPr/>
        </p:nvSpPr>
        <p:spPr>
          <a:xfrm>
            <a:off x="6967728" y="3172968"/>
            <a:ext cx="493776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2" name="Table 51"/>
          <p:cNvGraphicFramePr>
            <a:graphicFrameLocks noGrp="1"/>
          </p:cNvGraphicFramePr>
          <p:nvPr/>
        </p:nvGraphicFramePr>
        <p:xfrm>
          <a:off x="6967728" y="3246120"/>
          <a:ext cx="4937759" cy="914400"/>
        </p:xfrm>
        <a:graphic>
          <a:graphicData uri="http://schemas.openxmlformats.org/drawingml/2006/table">
            <a:tbl>
              <a:tblPr firstRow="1" bandRow="1">
                <a:tableStyleId>{5C22544A-7EE6-4342-B048-85BDC9FD1C3A}</a:tableStyleId>
              </a:tblPr>
              <a:tblGrid>
                <a:gridCol w="1975104"/>
                <a:gridCol w="888796"/>
                <a:gridCol w="740664"/>
                <a:gridCol w="1333195"/>
              </a:tblGrid>
              <a:tr h="152400">
                <a:tc>
                  <a:txBody>
                    <a:bodyPr/>
                    <a:lstStyle/>
                    <a:p>
                      <a:pPr algn="l"/>
                      <a:r>
                        <a:rPr sz="700" b="1">
                          <a:solidFill>
                            <a:srgbClr val="FFFFFF"/>
                          </a:solidFill>
                          <a:latin typeface="Calibri"/>
                        </a:rPr>
                        <a:t>Segment</a:t>
                      </a:r>
                    </a:p>
                  </a:txBody>
                  <a:tcPr anchor="ctr" marL="22860" marR="22860" marT="5486" marB="5486">
                    <a:solidFill>
                      <a:srgbClr val="1F4690"/>
                    </a:solidFill>
                  </a:tcPr>
                </a:tc>
                <a:tc>
                  <a:txBody>
                    <a:bodyPr/>
                    <a:lstStyle/>
                    <a:p>
                      <a:pPr algn="ctr"/>
                      <a:r>
                        <a:rPr sz="700" b="1">
                          <a:solidFill>
                            <a:srgbClr val="FFFFFF"/>
                          </a:solidFill>
                          <a:latin typeface="Calibri"/>
                        </a:rPr>
                        <a:t>AUM (Lakh Cr)</a:t>
                      </a:r>
                    </a:p>
                  </a:txBody>
                  <a:tcPr anchor="ctr" marL="22860" marR="22860" marT="5486" marB="5486">
                    <a:solidFill>
                      <a:srgbClr val="1F4690"/>
                    </a:solidFill>
                  </a:tcPr>
                </a:tc>
                <a:tc>
                  <a:txBody>
                    <a:bodyPr/>
                    <a:lstStyle/>
                    <a:p>
                      <a:pPr algn="ctr"/>
                      <a:r>
                        <a:rPr sz="700" b="1">
                          <a:solidFill>
                            <a:srgbClr val="FFFFFF"/>
                          </a:solidFill>
                          <a:latin typeface="Calibri"/>
                        </a:rPr>
                        <a:t>YoY Growth</a:t>
                      </a:r>
                    </a:p>
                  </a:txBody>
                  <a:tcPr anchor="ctr" marL="22860" marR="22860" marT="5486" marB="5486">
                    <a:solidFill>
                      <a:srgbClr val="1F4690"/>
                    </a:solidFill>
                  </a:tcPr>
                </a:tc>
                <a:tc>
                  <a:txBody>
                    <a:bodyPr/>
                    <a:lstStyle/>
                    <a:p>
                      <a:pPr algn="ctr"/>
                      <a:r>
                        <a:rPr sz="700" b="1">
                          <a:solidFill>
                            <a:srgbClr val="FFFFFF"/>
                          </a:solidFill>
                          <a:latin typeface="Calibri"/>
                        </a:rPr>
                        <a:t>Key Metric</a:t>
                      </a:r>
                    </a:p>
                  </a:txBody>
                  <a:tcPr anchor="ctr" marL="22860" marR="22860" marT="5486" marB="5486">
                    <a:solidFill>
                      <a:srgbClr val="1F4690"/>
                    </a:solidFill>
                  </a:tcPr>
                </a:tc>
              </a:tr>
              <a:tr h="152400">
                <a:tc>
                  <a:txBody>
                    <a:bodyPr/>
                    <a:lstStyle/>
                    <a:p>
                      <a:pPr algn="l"/>
                      <a:r>
                        <a:rPr sz="700" b="0">
                          <a:solidFill>
                            <a:srgbClr val="111111"/>
                          </a:solidFill>
                          <a:latin typeface="Calibri"/>
                        </a:rPr>
                        <a:t>Total AUM</a:t>
                      </a:r>
                    </a:p>
                  </a:txBody>
                  <a:tcPr anchor="ctr" marL="22860" marR="22860" marT="5486" marB="5486">
                    <a:solidFill>
                      <a:srgbClr val="FFFFFF"/>
                    </a:solidFill>
                  </a:tcPr>
                </a:tc>
                <a:tc>
                  <a:txBody>
                    <a:bodyPr/>
                    <a:lstStyle/>
                    <a:p>
                      <a:pPr algn="r"/>
                      <a:r>
                        <a:rPr sz="700" b="1">
                          <a:solidFill>
                            <a:srgbClr val="1F4690"/>
                          </a:solidFill>
                          <a:latin typeface="Calibri"/>
                        </a:rPr>
                        <a:t>₹1.77L Cr</a:t>
                      </a:r>
                    </a:p>
                  </a:txBody>
                  <a:tcPr anchor="ctr" marL="22860" marR="22860" marT="5486" marB="5486">
                    <a:solidFill>
                      <a:srgbClr val="FFFFFF"/>
                    </a:solidFill>
                  </a:tcPr>
                </a:tc>
                <a:tc>
                  <a:txBody>
                    <a:bodyPr/>
                    <a:lstStyle/>
                    <a:p>
                      <a:pPr algn="r"/>
                      <a:r>
                        <a:rPr sz="700" b="1">
                          <a:solidFill>
                            <a:srgbClr val="1A7A4A"/>
                          </a:solidFill>
                          <a:latin typeface="Calibri"/>
                        </a:rPr>
                        <a:t>+46% YoY</a:t>
                      </a:r>
                    </a:p>
                  </a:txBody>
                  <a:tcPr anchor="ctr" marL="22860" marR="22860" marT="5486" marB="5486">
                    <a:solidFill>
                      <a:srgbClr val="FFFFFF"/>
                    </a:solidFill>
                  </a:tcPr>
                </a:tc>
                <a:tc>
                  <a:txBody>
                    <a:bodyPr/>
                    <a:lstStyle/>
                    <a:p>
                      <a:pPr algn="r"/>
                      <a:r>
                        <a:rPr sz="700" b="0">
                          <a:solidFill>
                            <a:srgbClr val="111111"/>
                          </a:solidFill>
                          <a:latin typeface="Calibri"/>
                        </a:rPr>
                        <a:t>91% outperforming benchmarks</a:t>
                      </a:r>
                    </a:p>
                  </a:txBody>
                  <a:tcPr anchor="ctr" marL="22860" marR="22860" marT="5486" marB="5486">
                    <a:solidFill>
                      <a:srgbClr val="FFFFFF"/>
                    </a:solidFill>
                  </a:tcPr>
                </a:tc>
              </a:tr>
              <a:tr h="152400">
                <a:tc>
                  <a:txBody>
                    <a:bodyPr/>
                    <a:lstStyle/>
                    <a:p>
                      <a:pPr algn="l"/>
                      <a:r>
                        <a:rPr sz="700" b="0">
                          <a:solidFill>
                            <a:srgbClr val="111111"/>
                          </a:solidFill>
                          <a:latin typeface="Calibri"/>
                        </a:rPr>
                        <a:t>AMC (Mutual Funds + PMS)</a:t>
                      </a:r>
                    </a:p>
                  </a:txBody>
                  <a:tcPr anchor="ctr" marL="22860" marR="22860" marT="5486" marB="5486">
                    <a:solidFill>
                      <a:srgbClr val="FFFFFF"/>
                    </a:solidFill>
                  </a:tcPr>
                </a:tc>
                <a:tc>
                  <a:txBody>
                    <a:bodyPr/>
                    <a:lstStyle/>
                    <a:p>
                      <a:pPr algn="r"/>
                      <a:r>
                        <a:rPr sz="700" b="1">
                          <a:solidFill>
                            <a:srgbClr val="1F4690"/>
                          </a:solidFill>
                          <a:latin typeface="Calibri"/>
                        </a:rPr>
                        <a:t>₹1.89L Cr</a:t>
                      </a:r>
                    </a:p>
                  </a:txBody>
                  <a:tcPr anchor="ctr" marL="22860" marR="22860" marT="5486" marB="5486">
                    <a:solidFill>
                      <a:srgbClr val="FFFFFF"/>
                    </a:solidFill>
                  </a:tcPr>
                </a:tc>
                <a:tc>
                  <a:txBody>
                    <a:bodyPr/>
                    <a:lstStyle/>
                    <a:p>
                      <a:pPr algn="r"/>
                      <a:r>
                        <a:rPr sz="700" b="1">
                          <a:solidFill>
                            <a:srgbClr val="1A7A4A"/>
                          </a:solidFill>
                          <a:latin typeface="Calibri"/>
                        </a:rPr>
                        <a:t>+33% YoY</a:t>
                      </a:r>
                    </a:p>
                  </a:txBody>
                  <a:tcPr anchor="ctr" marL="22860" marR="22860" marT="5486" marB="5486">
                    <a:solidFill>
                      <a:srgbClr val="FFFFFF"/>
                    </a:solidFill>
                  </a:tcPr>
                </a:tc>
                <a:tc>
                  <a:txBody>
                    <a:bodyPr/>
                    <a:lstStyle/>
                    <a:p>
                      <a:pPr algn="r"/>
                      <a:r>
                        <a:rPr sz="700" b="0">
                          <a:solidFill>
                            <a:srgbClr val="111111"/>
                          </a:solidFill>
                          <a:latin typeface="Calibri"/>
                        </a:rPr>
                        <a:t>Net flows ₹11,618 Cr</a:t>
                      </a:r>
                    </a:p>
                  </a:txBody>
                  <a:tcPr anchor="ctr" marL="22860" marR="22860" marT="5486" marB="5486">
                    <a:solidFill>
                      <a:srgbClr val="FFFFFF"/>
                    </a:solidFill>
                  </a:tcPr>
                </a:tc>
              </a:tr>
              <a:tr h="152400">
                <a:tc>
                  <a:txBody>
                    <a:bodyPr/>
                    <a:lstStyle/>
                    <a:p>
                      <a:pPr algn="l"/>
                      <a:r>
                        <a:rPr sz="700" b="0">
                          <a:solidFill>
                            <a:srgbClr val="111111"/>
                          </a:solidFill>
                          <a:latin typeface="Calibri"/>
                        </a:rPr>
                        <a:t>Private Wealth Management</a:t>
                      </a:r>
                    </a:p>
                  </a:txBody>
                  <a:tcPr anchor="ctr" marL="22860" marR="22860" marT="5486" marB="5486">
                    <a:solidFill>
                      <a:srgbClr val="FFFFFF"/>
                    </a:solidFill>
                  </a:tcPr>
                </a:tc>
                <a:tc>
                  <a:txBody>
                    <a:bodyPr/>
                    <a:lstStyle/>
                    <a:p>
                      <a:pPr algn="r"/>
                      <a:r>
                        <a:rPr sz="700" b="1">
                          <a:solidFill>
                            <a:srgbClr val="1F4690"/>
                          </a:solidFill>
                          <a:latin typeface="Calibri"/>
                        </a:rPr>
                        <a:t>₹1.96L Cr</a:t>
                      </a:r>
                    </a:p>
                  </a:txBody>
                  <a:tcPr anchor="ctr" marL="22860" marR="22860" marT="5486" marB="5486">
                    <a:solidFill>
                      <a:srgbClr val="FFFFFF"/>
                    </a:solidFill>
                  </a:tcPr>
                </a:tc>
                <a:tc>
                  <a:txBody>
                    <a:bodyPr/>
                    <a:lstStyle/>
                    <a:p>
                      <a:pPr algn="r"/>
                      <a:r>
                        <a:rPr sz="700" b="1">
                          <a:solidFill>
                            <a:srgbClr val="1A7A4A"/>
                          </a:solidFill>
                          <a:latin typeface="Calibri"/>
                        </a:rPr>
                        <a:t>+31% YoY</a:t>
                      </a:r>
                    </a:p>
                  </a:txBody>
                  <a:tcPr anchor="ctr" marL="22860" marR="22860" marT="5486" marB="5486">
                    <a:solidFill>
                      <a:srgbClr val="FFFFFF"/>
                    </a:solidFill>
                  </a:tcPr>
                </a:tc>
                <a:tc>
                  <a:txBody>
                    <a:bodyPr/>
                    <a:lstStyle/>
                    <a:p>
                      <a:pPr algn="r"/>
                      <a:r>
                        <a:rPr sz="700" b="0">
                          <a:solidFill>
                            <a:srgbClr val="111111"/>
                          </a:solidFill>
                          <a:latin typeface="Calibri"/>
                        </a:rPr>
                        <a:t>Family count +41% YoY</a:t>
                      </a:r>
                    </a:p>
                  </a:txBody>
                  <a:tcPr anchor="ctr" marL="22860" marR="22860" marT="5486" marB="5486">
                    <a:solidFill>
                      <a:srgbClr val="FFFFFF"/>
                    </a:solidFill>
                  </a:tcPr>
                </a:tc>
              </a:tr>
              <a:tr h="152400">
                <a:tc>
                  <a:txBody>
                    <a:bodyPr/>
                    <a:lstStyle/>
                    <a:p>
                      <a:pPr algn="l"/>
                      <a:r>
                        <a:rPr sz="700" b="0">
                          <a:solidFill>
                            <a:srgbClr val="111111"/>
                          </a:solidFill>
                          <a:latin typeface="Calibri"/>
                        </a:rPr>
                        <a:t>Housing Finance Loan Book</a:t>
                      </a:r>
                    </a:p>
                  </a:txBody>
                  <a:tcPr anchor="ctr" marL="22860" marR="22860" marT="5486" marB="5486">
                    <a:solidFill>
                      <a:srgbClr val="FFFFFF"/>
                    </a:solidFill>
                  </a:tcPr>
                </a:tc>
                <a:tc>
                  <a:txBody>
                    <a:bodyPr/>
                    <a:lstStyle/>
                    <a:p>
                      <a:pPr algn="r"/>
                      <a:r>
                        <a:rPr sz="700" b="1">
                          <a:solidFill>
                            <a:srgbClr val="1F4690"/>
                          </a:solidFill>
                          <a:latin typeface="Calibri"/>
                        </a:rPr>
                        <a:t>₹6,630 Cr</a:t>
                      </a:r>
                    </a:p>
                  </a:txBody>
                  <a:tcPr anchor="ctr" marL="22860" marR="22860" marT="5486" marB="5486">
                    <a:solidFill>
                      <a:srgbClr val="FFFFFF"/>
                    </a:solidFill>
                  </a:tcPr>
                </a:tc>
                <a:tc>
                  <a:txBody>
                    <a:bodyPr/>
                    <a:lstStyle/>
                    <a:p>
                      <a:pPr algn="r"/>
                      <a:r>
                        <a:rPr sz="700" b="1">
                          <a:solidFill>
                            <a:srgbClr val="1A7A4A"/>
                          </a:solidFill>
                          <a:latin typeface="Calibri"/>
                        </a:rPr>
                        <a:t>+25% YoY</a:t>
                      </a:r>
                    </a:p>
                  </a:txBody>
                  <a:tcPr anchor="ctr" marL="22860" marR="22860" marT="5486" marB="5486">
                    <a:solidFill>
                      <a:srgbClr val="FFFFFF"/>
                    </a:solidFill>
                  </a:tcPr>
                </a:tc>
                <a:tc>
                  <a:txBody>
                    <a:bodyPr/>
                    <a:lstStyle/>
                    <a:p>
                      <a:pPr algn="r"/>
                      <a:r>
                        <a:rPr sz="700" b="0">
                          <a:solidFill>
                            <a:srgbClr val="111111"/>
                          </a:solidFill>
                          <a:latin typeface="Calibri"/>
                        </a:rPr>
                        <a:t>Distribution book ₹42,775 Cr</a:t>
                      </a:r>
                    </a:p>
                  </a:txBody>
                  <a:tcPr anchor="ctr" marL="22860" marR="22860" marT="5486" marB="5486">
                    <a:solidFill>
                      <a:srgbClr val="FFFFFF"/>
                    </a:solidFill>
                  </a:tcPr>
                </a:tc>
              </a:tr>
              <a:tr h="152400">
                <a:tc>
                  <a:txBody>
                    <a:bodyPr/>
                    <a:lstStyle/>
                    <a:p>
                      <a:pPr algn="l"/>
                      <a:r>
                        <a:rPr sz="700" b="0">
                          <a:solidFill>
                            <a:srgbClr val="111111"/>
                          </a:solidFill>
                          <a:latin typeface="Calibri"/>
                        </a:rPr>
                        <a:t>Alternative Investments</a:t>
                      </a:r>
                    </a:p>
                  </a:txBody>
                  <a:tcPr anchor="ctr" marL="22860" marR="22860" marT="5486" marB="5486">
                    <a:solidFill>
                      <a:srgbClr val="FFFFFF"/>
                    </a:solidFill>
                  </a:tcPr>
                </a:tc>
                <a:tc>
                  <a:txBody>
                    <a:bodyPr/>
                    <a:lstStyle/>
                    <a:p>
                      <a:pPr algn="r"/>
                      <a:r>
                        <a:rPr sz="700" b="0">
                          <a:solidFill>
                            <a:srgbClr val="111111"/>
                          </a:solidFill>
                          <a:latin typeface="Calibri"/>
                        </a:rPr>
                        <a:t>Nascent</a:t>
                      </a:r>
                    </a:p>
                  </a:txBody>
                  <a:tcPr anchor="ctr" marL="22860" marR="22860" marT="5486" marB="5486">
                    <a:solidFill>
                      <a:srgbClr val="FFFFFF"/>
                    </a:solidFill>
                  </a:tcPr>
                </a:tc>
                <a:tc>
                  <a:txBody>
                    <a:bodyPr/>
                    <a:lstStyle/>
                    <a:p>
                      <a:pPr algn="r"/>
                      <a:r>
                        <a:rPr sz="700" b="0">
                          <a:solidFill>
                            <a:srgbClr val="1A7A4A"/>
                          </a:solidFill>
                          <a:latin typeface="Calibri"/>
                        </a:rPr>
                        <a:t>Growing</a:t>
                      </a:r>
                    </a:p>
                  </a:txBody>
                  <a:tcPr anchor="ctr" marL="22860" marR="22860" marT="5486" marB="5486">
                    <a:solidFill>
                      <a:srgbClr val="FFFFFF"/>
                    </a:solidFill>
                  </a:tcPr>
                </a:tc>
                <a:tc>
                  <a:txBody>
                    <a:bodyPr/>
                    <a:lstStyle/>
                    <a:p>
                      <a:pPr algn="r"/>
                      <a:r>
                        <a:rPr sz="700" b="0">
                          <a:solidFill>
                            <a:srgbClr val="111111"/>
                          </a:solidFill>
                          <a:latin typeface="Calibri"/>
                        </a:rPr>
                        <a:t>Carry income ₹58 Cr p.a.</a:t>
                      </a:r>
                    </a:p>
                  </a:txBody>
                  <a:tcPr anchor="ctr" marL="22860" marR="22860" marT="5486" marB="5486">
                    <a:solidFill>
                      <a:srgbClr val="FFFFFF"/>
                    </a:solidFill>
                  </a:tcPr>
                </a:tc>
              </a:tr>
            </a:tbl>
          </a:graphicData>
        </a:graphic>
      </p:graphicFrame>
      <p:sp>
        <p:nvSpPr>
          <p:cNvPr id="53" name="Rectangle 52"/>
          <p:cNvSpPr/>
          <p:nvPr/>
        </p:nvSpPr>
        <p:spPr>
          <a:xfrm>
            <a:off x="6967728" y="3547872"/>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967728" y="3698748"/>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967728" y="3849624"/>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67728" y="4000500"/>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967728" y="4151376"/>
            <a:ext cx="493776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967728" y="4297680"/>
            <a:ext cx="4937760" cy="10058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59168" y="4370832"/>
            <a:ext cx="4754880" cy="182880"/>
          </a:xfrm>
          <a:prstGeom prst="rect">
            <a:avLst/>
          </a:prstGeom>
          <a:noFill/>
        </p:spPr>
        <p:txBody>
          <a:bodyPr wrap="square" lIns="36576" rIns="36576" tIns="9144" bIns="9144">
            <a:spAutoFit/>
          </a:bodyPr>
          <a:lstStyle/>
          <a:p>
            <a:r>
              <a:rPr sz="800" b="1">
                <a:solidFill>
                  <a:srgbClr val="1F4690"/>
                </a:solidFill>
                <a:latin typeface="Calibri"/>
              </a:rPr>
              <a:t>38-Year Research-First DNA — The Enduring Moat</a:t>
            </a:r>
          </a:p>
        </p:txBody>
      </p:sp>
      <p:sp>
        <p:nvSpPr>
          <p:cNvPr id="60" name="TextBox 59"/>
          <p:cNvSpPr txBox="1"/>
          <p:nvPr/>
        </p:nvSpPr>
        <p:spPr>
          <a:xfrm>
            <a:off x="7059168" y="4572000"/>
            <a:ext cx="4754880" cy="731520"/>
          </a:xfrm>
          <a:prstGeom prst="rect">
            <a:avLst/>
          </a:prstGeom>
          <a:noFill/>
        </p:spPr>
        <p:txBody>
          <a:bodyPr wrap="square" lIns="36576" rIns="36576" tIns="9144" bIns="9144">
            <a:spAutoFit/>
          </a:bodyPr>
          <a:lstStyle/>
          <a:p>
            <a:r>
              <a:rPr sz="700" b="0">
                <a:solidFill>
                  <a:srgbClr val="111111"/>
                </a:solidFill>
                <a:latin typeface="Calibri"/>
              </a:rPr>
              <a:t>MOFSL's research franchise, built over 38 years, is the enduring competitive moat that cannot be quickly replicated. The annual 'Wealth Creation Study' is India's most respected long form investment research publication — read by every institutional investor and HNI family. This research depth creates a self reinforcing flywheel: better research -&gt; better client outcomes -&gt; more AUM -&gt; more fee revenues -&gt; more research investment. At 91% AUM outperformance over 3 years, this flywheel is operating at peak efficiency — attracting premium HNI clients who pay higher advisory fees and drive the ARR transformation thesis.</a:t>
            </a:r>
          </a:p>
        </p:txBody>
      </p:sp>
      <p:sp>
        <p:nvSpPr>
          <p:cNvPr id="61" name="Rectangle 60"/>
          <p:cNvSpPr/>
          <p:nvPr/>
        </p:nvSpPr>
        <p:spPr>
          <a:xfrm>
            <a:off x="6967728" y="5394960"/>
            <a:ext cx="4937760" cy="64008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59168" y="5468112"/>
            <a:ext cx="4754880" cy="182880"/>
          </a:xfrm>
          <a:prstGeom prst="rect">
            <a:avLst/>
          </a:prstGeom>
          <a:noFill/>
        </p:spPr>
        <p:txBody>
          <a:bodyPr wrap="square" lIns="36576" rIns="36576" tIns="9144" bIns="9144">
            <a:spAutoFit/>
          </a:bodyPr>
          <a:lstStyle/>
          <a:p>
            <a:r>
              <a:rPr sz="800" b="1">
                <a:solidFill>
                  <a:srgbClr val="1F4690"/>
                </a:solidFill>
                <a:latin typeface="Calibri"/>
              </a:rPr>
              <a:t>Revenue Model Evolution — Structural Re-rating</a:t>
            </a:r>
          </a:p>
        </p:txBody>
      </p:sp>
      <p:sp>
        <p:nvSpPr>
          <p:cNvPr id="63" name="TextBox 62"/>
          <p:cNvSpPr txBox="1"/>
          <p:nvPr/>
        </p:nvSpPr>
        <p:spPr>
          <a:xfrm>
            <a:off x="7059168" y="5669280"/>
            <a:ext cx="4754880" cy="457200"/>
          </a:xfrm>
          <a:prstGeom prst="rect">
            <a:avLst/>
          </a:prstGeom>
          <a:noFill/>
        </p:spPr>
        <p:txBody>
          <a:bodyPr wrap="square" lIns="36576" rIns="36576" tIns="9144" bIns="9144">
            <a:spAutoFit/>
          </a:bodyPr>
          <a:lstStyle/>
          <a:p>
            <a:r>
              <a:rPr sz="700" b="0">
                <a:solidFill>
                  <a:srgbClr val="111111"/>
                </a:solidFill>
                <a:latin typeface="Calibri"/>
              </a:rPr>
              <a:t>Revenue model is deliberately shifting: Management fees (AMC) + Advisory fees (wealth management) + NII (housing finance) + Carry income (alternatives) — supplemented by transaction based broking. As this mix shifts, the business's valuation multiple should re-rate from the 12-15x P/E applicable to broking firms toward the 25-35x P/E applied to pure AMC and wealth management companies — a 2-3x multiple re-rating opportunity if ARR crosses 70-75% of revenues.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Investment Thesis in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Investment Thesis in Detail</a:t>
            </a:r>
          </a:p>
        </p:txBody>
      </p:sp>
      <p:sp>
        <p:nvSpPr>
          <p:cNvPr id="15" name="TextBox 14"/>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6" name="TextBox 15"/>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Segments — Growth Drivers &amp; Investment Thesis</a:t>
            </a:r>
          </a:p>
        </p:txBody>
      </p:sp>
      <p:sp>
        <p:nvSpPr>
          <p:cNvPr id="15" name="Rectangle 14"/>
          <p:cNvSpPr/>
          <p:nvPr/>
        </p:nvSpPr>
        <p:spPr>
          <a:xfrm>
            <a:off x="292608" y="1143000"/>
            <a:ext cx="5669280" cy="301752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1234440"/>
            <a:ext cx="2743200" cy="182880"/>
          </a:xfrm>
          <a:prstGeom prst="rect">
            <a:avLst/>
          </a:prstGeom>
          <a:noFill/>
        </p:spPr>
        <p:txBody>
          <a:bodyPr wrap="square" lIns="36576" rIns="36576" tIns="9144" bIns="9144">
            <a:spAutoFit/>
          </a:bodyPr>
          <a:lstStyle/>
          <a:p>
            <a:r>
              <a:rPr sz="900" b="1">
                <a:solidFill>
                  <a:srgbClr val="1F4690"/>
                </a:solidFill>
                <a:latin typeface="Calibri"/>
              </a:rPr>
              <a:t>Asset Management (AMC)</a:t>
            </a:r>
          </a:p>
        </p:txBody>
      </p:sp>
      <p:sp>
        <p:nvSpPr>
          <p:cNvPr id="17" name="Rounded Rectangle 16"/>
          <p:cNvSpPr/>
          <p:nvPr/>
        </p:nvSpPr>
        <p:spPr>
          <a:xfrm>
            <a:off x="2944368" y="1234440"/>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4368" y="1252728"/>
            <a:ext cx="2926080" cy="164592"/>
          </a:xfrm>
          <a:prstGeom prst="rect">
            <a:avLst/>
          </a:prstGeom>
          <a:noFill/>
        </p:spPr>
        <p:txBody>
          <a:bodyPr wrap="square" lIns="36576" rIns="36576" tIns="9144" bIns="9144">
            <a:spAutoFit/>
          </a:bodyPr>
          <a:lstStyle/>
          <a:p>
            <a:pPr algn="ctr"/>
            <a:r>
              <a:rPr sz="650" b="1">
                <a:solidFill>
                  <a:srgbClr val="FFFFFF"/>
                </a:solidFill>
                <a:latin typeface="Calibri"/>
              </a:rPr>
              <a:t>AUM ₹1.89L Cr | +33% YoY | Fee-Based ARR Engine</a:t>
            </a:r>
          </a:p>
        </p:txBody>
      </p:sp>
      <p:sp>
        <p:nvSpPr>
          <p:cNvPr id="19" name="Rounded Rectangle 18"/>
          <p:cNvSpPr/>
          <p:nvPr/>
        </p:nvSpPr>
        <p:spPr>
          <a:xfrm>
            <a:off x="384048" y="150876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1522475"/>
            <a:ext cx="731520" cy="137160"/>
          </a:xfrm>
          <a:prstGeom prst="rect">
            <a:avLst/>
          </a:prstGeom>
          <a:noFill/>
        </p:spPr>
        <p:txBody>
          <a:bodyPr wrap="square" lIns="36576" rIns="36576" tIns="9144" bIns="9144">
            <a:spAutoFit/>
          </a:bodyPr>
          <a:lstStyle/>
          <a:p>
            <a:pPr algn="ctr"/>
            <a:r>
              <a:rPr sz="600" b="1">
                <a:solidFill>
                  <a:srgbClr val="E37400"/>
                </a:solidFill>
                <a:latin typeface="Calibri"/>
              </a:rPr>
              <a:t>₹1.89L Cr AUM</a:t>
            </a:r>
          </a:p>
        </p:txBody>
      </p:sp>
      <p:sp>
        <p:nvSpPr>
          <p:cNvPr id="21" name="Rounded Rectangle 20"/>
          <p:cNvSpPr/>
          <p:nvPr/>
        </p:nvSpPr>
        <p:spPr>
          <a:xfrm>
            <a:off x="1188720" y="150876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1522475"/>
            <a:ext cx="822960" cy="137160"/>
          </a:xfrm>
          <a:prstGeom prst="rect">
            <a:avLst/>
          </a:prstGeom>
          <a:noFill/>
        </p:spPr>
        <p:txBody>
          <a:bodyPr wrap="square" lIns="36576" rIns="36576" tIns="9144" bIns="9144">
            <a:spAutoFit/>
          </a:bodyPr>
          <a:lstStyle/>
          <a:p>
            <a:pPr algn="ctr"/>
            <a:r>
              <a:rPr sz="600" b="1">
                <a:solidFill>
                  <a:srgbClr val="E37400"/>
                </a:solidFill>
                <a:latin typeface="Calibri"/>
              </a:rPr>
              <a:t>+33% YoY Growth</a:t>
            </a:r>
          </a:p>
        </p:txBody>
      </p:sp>
      <p:sp>
        <p:nvSpPr>
          <p:cNvPr id="23" name="Rounded Rectangle 22"/>
          <p:cNvSpPr/>
          <p:nvPr/>
        </p:nvSpPr>
        <p:spPr>
          <a:xfrm>
            <a:off x="2084832" y="1508760"/>
            <a:ext cx="10515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84832" y="1522475"/>
            <a:ext cx="1051560" cy="137160"/>
          </a:xfrm>
          <a:prstGeom prst="rect">
            <a:avLst/>
          </a:prstGeom>
          <a:noFill/>
        </p:spPr>
        <p:txBody>
          <a:bodyPr wrap="square" lIns="36576" rIns="36576" tIns="9144" bIns="9144">
            <a:spAutoFit/>
          </a:bodyPr>
          <a:lstStyle/>
          <a:p>
            <a:pPr algn="ctr"/>
            <a:r>
              <a:rPr sz="600" b="1">
                <a:solidFill>
                  <a:srgbClr val="E37400"/>
                </a:solidFill>
                <a:latin typeface="Calibri"/>
              </a:rPr>
              <a:t>₹11,610 Cr Net Flows</a:t>
            </a:r>
          </a:p>
        </p:txBody>
      </p:sp>
      <p:sp>
        <p:nvSpPr>
          <p:cNvPr id="25" name="Rounded Rectangle 24"/>
          <p:cNvSpPr/>
          <p:nvPr/>
        </p:nvSpPr>
        <p:spPr>
          <a:xfrm>
            <a:off x="3209544" y="150876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9544" y="1522475"/>
            <a:ext cx="1417320" cy="137160"/>
          </a:xfrm>
          <a:prstGeom prst="rect">
            <a:avLst/>
          </a:prstGeom>
          <a:noFill/>
        </p:spPr>
        <p:txBody>
          <a:bodyPr wrap="square" lIns="36576" rIns="36576" tIns="9144" bIns="9144">
            <a:spAutoFit/>
          </a:bodyPr>
          <a:lstStyle/>
          <a:p>
            <a:pPr algn="ctr"/>
            <a:r>
              <a:rPr sz="600" b="1">
                <a:solidFill>
                  <a:srgbClr val="E37400"/>
                </a:solidFill>
                <a:latin typeface="Calibri"/>
              </a:rPr>
              <a:t>91% Outperforming Benchmarks</a:t>
            </a:r>
          </a:p>
        </p:txBody>
      </p:sp>
      <p:sp>
        <p:nvSpPr>
          <p:cNvPr id="27" name="Rounded Rectangle 26"/>
          <p:cNvSpPr/>
          <p:nvPr/>
        </p:nvSpPr>
        <p:spPr>
          <a:xfrm>
            <a:off x="4700016" y="1508760"/>
            <a:ext cx="9601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522475"/>
            <a:ext cx="960120" cy="137160"/>
          </a:xfrm>
          <a:prstGeom prst="rect">
            <a:avLst/>
          </a:prstGeom>
          <a:noFill/>
        </p:spPr>
        <p:txBody>
          <a:bodyPr wrap="square" lIns="36576" rIns="36576" tIns="9144" bIns="9144">
            <a:spAutoFit/>
          </a:bodyPr>
          <a:lstStyle/>
          <a:p>
            <a:pPr algn="ctr"/>
            <a:r>
              <a:rPr sz="600" b="1">
                <a:solidFill>
                  <a:srgbClr val="E37400"/>
                </a:solidFill>
                <a:latin typeface="Calibri"/>
              </a:rPr>
              <a:t>EBITDA Margin 57%+</a:t>
            </a:r>
          </a:p>
        </p:txBody>
      </p:sp>
      <p:sp>
        <p:nvSpPr>
          <p:cNvPr id="29" name="TextBox 28"/>
          <p:cNvSpPr txBox="1"/>
          <p:nvPr/>
        </p:nvSpPr>
        <p:spPr>
          <a:xfrm>
            <a:off x="384048" y="1783080"/>
            <a:ext cx="5486400" cy="1097280"/>
          </a:xfrm>
          <a:prstGeom prst="rect">
            <a:avLst/>
          </a:prstGeom>
          <a:noFill/>
        </p:spPr>
        <p:txBody>
          <a:bodyPr wrap="square" lIns="36576" rIns="36576" tIns="9144" bIns="9144">
            <a:spAutoFit/>
          </a:bodyPr>
          <a:lstStyle/>
          <a:p>
            <a:r>
              <a:rPr sz="750" b="0">
                <a:solidFill>
                  <a:srgbClr val="111111"/>
                </a:solidFill>
                <a:latin typeface="Calibri"/>
              </a:rPr>
              <a:t>The AMC business is the crown jewel of MOFSL's transformation - a capital-light, fee-generating machine that requires minimal incremental investment as AUM grows, creating significant operating leverage. Revenue is generated through management fees (AUM × fee rate), creating a recurring income stream that grows automatically as the AUM compounds. The 91% benchmark outperformance over 3 years is the critical differentiator: it enables MOFSL to charge premium fees (1-2% AUM) versus discount managers (0.1-0.5%) and attract sticky, quality clients who rarely leave when performance persists. Net flows of ₹11,610 crore demonstrate the market's trust in MOFSL's investment process despite overall industry volatility. SIP culture expanding into Tier 2-3 cities is the secular tailwind driving systematic inflows.</a:t>
            </a:r>
          </a:p>
        </p:txBody>
      </p:sp>
      <p:sp>
        <p:nvSpPr>
          <p:cNvPr id="30" name="TextBox 29"/>
          <p:cNvSpPr txBox="1"/>
          <p:nvPr/>
        </p:nvSpPr>
        <p:spPr>
          <a:xfrm>
            <a:off x="384048" y="3200400"/>
            <a:ext cx="5486400" cy="182880"/>
          </a:xfrm>
          <a:prstGeom prst="rect">
            <a:avLst/>
          </a:prstGeom>
          <a:noFill/>
        </p:spPr>
        <p:txBody>
          <a:bodyPr wrap="square" lIns="36576" rIns="36576" tIns="9144" bIns="9144">
            <a:spAutoFit/>
          </a:bodyPr>
          <a:lstStyle/>
          <a:p>
            <a:r>
              <a:rPr sz="750" b="1">
                <a:solidFill>
                  <a:srgbClr val="1F4690"/>
                </a:solidFill>
                <a:latin typeface="Calibri"/>
              </a:rPr>
              <a:t>AMC — GROWTH ENGINE BREAKDOWN</a:t>
            </a:r>
          </a:p>
        </p:txBody>
      </p:sp>
      <p:graphicFrame>
        <p:nvGraphicFramePr>
          <p:cNvPr id="31" name="Table 30"/>
          <p:cNvGraphicFramePr>
            <a:graphicFrameLocks noGrp="1"/>
          </p:cNvGraphicFramePr>
          <p:nvPr/>
        </p:nvGraphicFramePr>
        <p:xfrm>
          <a:off x="384048" y="3383280"/>
          <a:ext cx="5486396" cy="640080"/>
        </p:xfrm>
        <a:graphic>
          <a:graphicData uri="http://schemas.openxmlformats.org/drawingml/2006/table">
            <a:tbl>
              <a:tblPr firstRow="1" bandRow="1">
                <a:tableStyleId>{5C22544A-7EE6-4342-B048-85BDC9FD1C3A}</a:tableStyleId>
              </a:tblPr>
              <a:tblGrid>
                <a:gridCol w="1920239"/>
                <a:gridCol w="822959"/>
                <a:gridCol w="822959"/>
                <a:gridCol w="1920239"/>
              </a:tblGrid>
              <a:tr h="128016">
                <a:tc>
                  <a:txBody>
                    <a:bodyPr/>
                    <a:lstStyle/>
                    <a:p>
                      <a:pPr algn="l"/>
                      <a:r>
                        <a:rPr sz="650" b="1">
                          <a:solidFill>
                            <a:srgbClr val="FFFFFF"/>
                          </a:solidFill>
                          <a:latin typeface="Calibri"/>
                        </a:rPr>
                        <a:t>Metric</a:t>
                      </a:r>
                    </a:p>
                  </a:txBody>
                  <a:tcPr anchor="ctr" marL="22860" marR="22860" marT="5486" marB="5486">
                    <a:solidFill>
                      <a:srgbClr val="1F4690"/>
                    </a:solidFill>
                  </a:tcPr>
                </a:tc>
                <a:tc>
                  <a:txBody>
                    <a:bodyPr/>
                    <a:lstStyle/>
                    <a:p>
                      <a:pPr algn="ctr"/>
                      <a:r>
                        <a:rPr sz="650" b="1">
                          <a:solidFill>
                            <a:srgbClr val="FFFFFF"/>
                          </a:solidFill>
                          <a:latin typeface="Calibri"/>
                        </a:rPr>
                        <a:t>Current</a:t>
                      </a:r>
                    </a:p>
                  </a:txBody>
                  <a:tcPr anchor="ctr" marL="22860" marR="22860" marT="5486" marB="5486">
                    <a:solidFill>
                      <a:srgbClr val="1F4690"/>
                    </a:solidFill>
                  </a:tcPr>
                </a:tc>
                <a:tc>
                  <a:txBody>
                    <a:bodyPr/>
                    <a:lstStyle/>
                    <a:p>
                      <a:pPr algn="ctr"/>
                      <a:r>
                        <a:rPr sz="650" b="1">
                          <a:solidFill>
                            <a:srgbClr val="FFFFFF"/>
                          </a:solidFill>
                          <a:latin typeface="Calibri"/>
                        </a:rPr>
                        <a:t>FY27E Target</a:t>
                      </a:r>
                    </a:p>
                  </a:txBody>
                  <a:tcPr anchor="ctr" marL="22860" marR="22860" marT="5486" marB="5486">
                    <a:solidFill>
                      <a:srgbClr val="1F4690"/>
                    </a:solidFill>
                  </a:tcPr>
                </a:tc>
                <a:tc>
                  <a:txBody>
                    <a:bodyPr/>
                    <a:lstStyle/>
                    <a:p>
                      <a:pPr algn="ctr"/>
                      <a:r>
                        <a:rPr sz="650" b="1">
                          <a:solidFill>
                            <a:srgbClr val="FFFFFF"/>
                          </a:solidFill>
                          <a:latin typeface="Calibri"/>
                        </a:rPr>
                        <a:t>Growth Lever</a:t>
                      </a:r>
                    </a:p>
                  </a:txBody>
                  <a:tcPr anchor="ctr" marL="22860" marR="22860" marT="5486" marB="5486">
                    <a:solidFill>
                      <a:srgbClr val="1F4690"/>
                    </a:solidFill>
                  </a:tcPr>
                </a:tc>
              </a:tr>
              <a:tr h="128016">
                <a:tc>
                  <a:txBody>
                    <a:bodyPr/>
                    <a:lstStyle/>
                    <a:p>
                      <a:pPr algn="l"/>
                      <a:r>
                        <a:rPr sz="650" b="0">
                          <a:solidFill>
                            <a:srgbClr val="111111"/>
                          </a:solidFill>
                          <a:latin typeface="Calibri"/>
                        </a:rPr>
                        <a:t>AUM (Lakh Crore)</a:t>
                      </a:r>
                    </a:p>
                  </a:txBody>
                  <a:tcPr anchor="ctr" marL="22860" marR="22860" marT="5486" marB="5486">
                    <a:solidFill>
                      <a:srgbClr val="FFFFFF"/>
                    </a:solidFill>
                  </a:tcPr>
                </a:tc>
                <a:tc>
                  <a:txBody>
                    <a:bodyPr/>
                    <a:lstStyle/>
                    <a:p>
                      <a:pPr algn="r"/>
                      <a:r>
                        <a:rPr sz="650" b="1">
                          <a:solidFill>
                            <a:srgbClr val="111111"/>
                          </a:solidFill>
                          <a:latin typeface="Calibri"/>
                        </a:rPr>
                        <a:t>₹1.89L Cr</a:t>
                      </a:r>
                    </a:p>
                  </a:txBody>
                  <a:tcPr anchor="ctr" marL="22860" marR="22860" marT="5486" marB="5486">
                    <a:solidFill>
                      <a:srgbClr val="FFFFFF"/>
                    </a:solidFill>
                  </a:tcPr>
                </a:tc>
                <a:tc>
                  <a:txBody>
                    <a:bodyPr/>
                    <a:lstStyle/>
                    <a:p>
                      <a:pPr algn="r"/>
                      <a:r>
                        <a:rPr sz="650" b="1">
                          <a:solidFill>
                            <a:srgbClr val="1A7A4A"/>
                          </a:solidFill>
                          <a:latin typeface="Calibri"/>
                        </a:rPr>
                        <a:t>₹3.0L+ Cr</a:t>
                      </a:r>
                    </a:p>
                  </a:txBody>
                  <a:tcPr anchor="ctr" marL="22860" marR="22860" marT="5486" marB="5486">
                    <a:solidFill>
                      <a:srgbClr val="FFFFFF"/>
                    </a:solidFill>
                  </a:tcPr>
                </a:tc>
                <a:tc>
                  <a:txBody>
                    <a:bodyPr/>
                    <a:lstStyle/>
                    <a:p>
                      <a:pPr algn="r"/>
                      <a:r>
                        <a:rPr sz="650" b="0">
                          <a:solidFill>
                            <a:srgbClr val="111111"/>
                          </a:solidFill>
                          <a:latin typeface="Calibri"/>
                        </a:rPr>
                        <a:t>Market appreciation + net flows</a:t>
                      </a:r>
                    </a:p>
                  </a:txBody>
                  <a:tcPr anchor="ctr" marL="22860" marR="22860" marT="5486" marB="5486">
                    <a:solidFill>
                      <a:srgbClr val="FFFFFF"/>
                    </a:solidFill>
                  </a:tcPr>
                </a:tc>
              </a:tr>
              <a:tr h="128016">
                <a:tc>
                  <a:txBody>
                    <a:bodyPr/>
                    <a:lstStyle/>
                    <a:p>
                      <a:pPr algn="l"/>
                      <a:r>
                        <a:rPr sz="650" b="0">
                          <a:solidFill>
                            <a:srgbClr val="111111"/>
                          </a:solidFill>
                          <a:latin typeface="Calibri"/>
                        </a:rPr>
                        <a:t>Management Fee Income</a:t>
                      </a:r>
                    </a:p>
                  </a:txBody>
                  <a:tcPr anchor="ctr" marL="22860" marR="22860" marT="5486" marB="5486">
                    <a:solidFill>
                      <a:srgbClr val="FFFFFF"/>
                    </a:solidFill>
                  </a:tcPr>
                </a:tc>
                <a:tc>
                  <a:txBody>
                    <a:bodyPr/>
                    <a:lstStyle/>
                    <a:p>
                      <a:pPr algn="r"/>
                      <a:r>
                        <a:rPr sz="650" b="1">
                          <a:solidFill>
                            <a:srgbClr val="111111"/>
                          </a:solidFill>
                          <a:latin typeface="Calibri"/>
                        </a:rPr>
                        <a:t>Growing</a:t>
                      </a:r>
                    </a:p>
                  </a:txBody>
                  <a:tcPr anchor="ctr" marL="22860" marR="22860" marT="5486" marB="5486">
                    <a:solidFill>
                      <a:srgbClr val="FFFFFF"/>
                    </a:solidFill>
                  </a:tcPr>
                </a:tc>
                <a:tc>
                  <a:txBody>
                    <a:bodyPr/>
                    <a:lstStyle/>
                    <a:p>
                      <a:pPr algn="r"/>
                      <a:r>
                        <a:rPr sz="650" b="1">
                          <a:solidFill>
                            <a:srgbClr val="1A7A4A"/>
                          </a:solidFill>
                          <a:latin typeface="Calibri"/>
                        </a:rPr>
                        <a:t>+25% CAGR</a:t>
                      </a:r>
                    </a:p>
                  </a:txBody>
                  <a:tcPr anchor="ctr" marL="22860" marR="22860" marT="5486" marB="5486">
                    <a:solidFill>
                      <a:srgbClr val="FFFFFF"/>
                    </a:solidFill>
                  </a:tcPr>
                </a:tc>
                <a:tc>
                  <a:txBody>
                    <a:bodyPr/>
                    <a:lstStyle/>
                    <a:p>
                      <a:pPr algn="r"/>
                      <a:r>
                        <a:rPr sz="650" b="0">
                          <a:solidFill>
                            <a:srgbClr val="111111"/>
                          </a:solidFill>
                          <a:latin typeface="Calibri"/>
                        </a:rPr>
                        <a:t>AUM compounding effect</a:t>
                      </a:r>
                    </a:p>
                  </a:txBody>
                  <a:tcPr anchor="ctr" marL="22860" marR="22860" marT="5486" marB="5486">
                    <a:solidFill>
                      <a:srgbClr val="FFFFFF"/>
                    </a:solidFill>
                  </a:tcPr>
                </a:tc>
              </a:tr>
              <a:tr h="128016">
                <a:tc>
                  <a:txBody>
                    <a:bodyPr/>
                    <a:lstStyle/>
                    <a:p>
                      <a:pPr algn="l"/>
                      <a:r>
                        <a:rPr sz="650" b="0">
                          <a:solidFill>
                            <a:srgbClr val="111111"/>
                          </a:solidFill>
                          <a:latin typeface="Calibri"/>
                        </a:rPr>
                        <a:t>Benchmark Outperformance</a:t>
                      </a:r>
                    </a:p>
                  </a:txBody>
                  <a:tcPr anchor="ctr" marL="22860" marR="22860" marT="5486" marB="5486">
                    <a:solidFill>
                      <a:srgbClr val="FFFFFF"/>
                    </a:solidFill>
                  </a:tcPr>
                </a:tc>
                <a:tc>
                  <a:txBody>
                    <a:bodyPr/>
                    <a:lstStyle/>
                    <a:p>
                      <a:pPr algn="r"/>
                      <a:r>
                        <a:rPr sz="650" b="1">
                          <a:solidFill>
                            <a:srgbClr val="111111"/>
                          </a:solidFill>
                          <a:latin typeface="Calibri"/>
                        </a:rPr>
                        <a:t>91%</a:t>
                      </a:r>
                    </a:p>
                  </a:txBody>
                  <a:tcPr anchor="ctr" marL="22860" marR="22860" marT="5486" marB="5486">
                    <a:solidFill>
                      <a:srgbClr val="FFFFFF"/>
                    </a:solidFill>
                  </a:tcPr>
                </a:tc>
                <a:tc>
                  <a:txBody>
                    <a:bodyPr/>
                    <a:lstStyle/>
                    <a:p>
                      <a:pPr algn="r"/>
                      <a:r>
                        <a:rPr sz="650" b="1">
                          <a:solidFill>
                            <a:srgbClr val="1A7A4A"/>
                          </a:solidFill>
                          <a:latin typeface="Calibri"/>
                        </a:rPr>
                        <a:t>Maintain 85%+</a:t>
                      </a:r>
                    </a:p>
                  </a:txBody>
                  <a:tcPr anchor="ctr" marL="22860" marR="22860" marT="5486" marB="5486">
                    <a:solidFill>
                      <a:srgbClr val="FFFFFF"/>
                    </a:solidFill>
                  </a:tcPr>
                </a:tc>
                <a:tc>
                  <a:txBody>
                    <a:bodyPr/>
                    <a:lstStyle/>
                    <a:p>
                      <a:pPr algn="r"/>
                      <a:r>
                        <a:rPr sz="650" b="0">
                          <a:solidFill>
                            <a:srgbClr val="111111"/>
                          </a:solidFill>
                          <a:latin typeface="Calibri"/>
                        </a:rPr>
                        <a:t>QGLP process discipline</a:t>
                      </a:r>
                    </a:p>
                  </a:txBody>
                  <a:tcPr anchor="ctr" marL="22860" marR="22860" marT="5486" marB="5486">
                    <a:solidFill>
                      <a:srgbClr val="FFFFFF"/>
                    </a:solidFill>
                  </a:tcPr>
                </a:tc>
              </a:tr>
              <a:tr h="128016">
                <a:tc>
                  <a:txBody>
                    <a:bodyPr/>
                    <a:lstStyle/>
                    <a:p>
                      <a:pPr algn="l"/>
                      <a:r>
                        <a:rPr sz="650" b="0">
                          <a:solidFill>
                            <a:srgbClr val="111111"/>
                          </a:solidFill>
                          <a:latin typeface="Calibri"/>
                        </a:rPr>
                        <a:t>Net Inflows/Quarter</a:t>
                      </a:r>
                    </a:p>
                  </a:txBody>
                  <a:tcPr anchor="ctr" marL="22860" marR="22860" marT="5486" marB="5486">
                    <a:solidFill>
                      <a:srgbClr val="FFFFFF"/>
                    </a:solidFill>
                  </a:tcPr>
                </a:tc>
                <a:tc>
                  <a:txBody>
                    <a:bodyPr/>
                    <a:lstStyle/>
                    <a:p>
                      <a:pPr algn="r"/>
                      <a:r>
                        <a:rPr sz="650" b="1">
                          <a:solidFill>
                            <a:srgbClr val="111111"/>
                          </a:solidFill>
                          <a:latin typeface="Calibri"/>
                        </a:rPr>
                        <a:t>₹11,610 Cr (H1)</a:t>
                      </a:r>
                    </a:p>
                  </a:txBody>
                  <a:tcPr anchor="ctr" marL="22860" marR="22860" marT="5486" marB="5486">
                    <a:solidFill>
                      <a:srgbClr val="FFFFFF"/>
                    </a:solidFill>
                  </a:tcPr>
                </a:tc>
                <a:tc>
                  <a:txBody>
                    <a:bodyPr/>
                    <a:lstStyle/>
                    <a:p>
                      <a:pPr algn="r"/>
                      <a:r>
                        <a:rPr sz="650" b="1">
                          <a:solidFill>
                            <a:srgbClr val="1A7A4A"/>
                          </a:solidFill>
                          <a:latin typeface="Calibri"/>
                        </a:rPr>
                        <a:t>₹15,000 Cr+</a:t>
                      </a:r>
                    </a:p>
                  </a:txBody>
                  <a:tcPr anchor="ctr" marL="22860" marR="22860" marT="5486" marB="5486">
                    <a:solidFill>
                      <a:srgbClr val="FFFFFF"/>
                    </a:solidFill>
                  </a:tcPr>
                </a:tc>
                <a:tc>
                  <a:txBody>
                    <a:bodyPr/>
                    <a:lstStyle/>
                    <a:p>
                      <a:pPr algn="r"/>
                      <a:r>
                        <a:rPr sz="650" b="0">
                          <a:solidFill>
                            <a:srgbClr val="111111"/>
                          </a:solidFill>
                          <a:latin typeface="Calibri"/>
                        </a:rPr>
                        <a:t>Tier 2/3 SIP expansion</a:t>
                      </a:r>
                    </a:p>
                  </a:txBody>
                  <a:tcPr anchor="ctr" marL="22860" marR="22860" marT="5486" marB="5486">
                    <a:solidFill>
                      <a:srgbClr val="FFFFFF"/>
                    </a:solidFill>
                  </a:tcPr>
                </a:tc>
              </a:tr>
            </a:tbl>
          </a:graphicData>
        </a:graphic>
      </p:graphicFrame>
      <p:sp>
        <p:nvSpPr>
          <p:cNvPr id="32" name="Rectangle 31"/>
          <p:cNvSpPr/>
          <p:nvPr/>
        </p:nvSpPr>
        <p:spPr>
          <a:xfrm>
            <a:off x="384048" y="3511296"/>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4048" y="3511296"/>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4048" y="3511296"/>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4048" y="3511296"/>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 y="3639312"/>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84048" y="3639312"/>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84048" y="3639312"/>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84048" y="3639312"/>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 y="3767328"/>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84048" y="3767328"/>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84048" y="3767328"/>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84048" y="3767328"/>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 y="3895344"/>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84048" y="3895344"/>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84048" y="3895344"/>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84048" y="3895344"/>
            <a:ext cx="5486400"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92608" y="4297680"/>
            <a:ext cx="5669280" cy="224028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4048" y="4389120"/>
            <a:ext cx="2743200" cy="182880"/>
          </a:xfrm>
          <a:prstGeom prst="rect">
            <a:avLst/>
          </a:prstGeom>
          <a:noFill/>
        </p:spPr>
        <p:txBody>
          <a:bodyPr wrap="square" lIns="36576" rIns="36576" tIns="9144" bIns="9144">
            <a:spAutoFit/>
          </a:bodyPr>
          <a:lstStyle/>
          <a:p>
            <a:r>
              <a:rPr sz="900" b="1">
                <a:solidFill>
                  <a:srgbClr val="1F4690"/>
                </a:solidFill>
                <a:latin typeface="Calibri"/>
              </a:rPr>
              <a:t>Private Wealth Management</a:t>
            </a:r>
          </a:p>
        </p:txBody>
      </p:sp>
      <p:sp>
        <p:nvSpPr>
          <p:cNvPr id="50" name="Rounded Rectangle 49"/>
          <p:cNvSpPr/>
          <p:nvPr/>
        </p:nvSpPr>
        <p:spPr>
          <a:xfrm>
            <a:off x="2761488" y="4389120"/>
            <a:ext cx="310896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1488" y="4407408"/>
            <a:ext cx="3108960" cy="164592"/>
          </a:xfrm>
          <a:prstGeom prst="rect">
            <a:avLst/>
          </a:prstGeom>
          <a:noFill/>
        </p:spPr>
        <p:txBody>
          <a:bodyPr wrap="square" lIns="36576" rIns="36576" tIns="9144" bIns="9144">
            <a:spAutoFit/>
          </a:bodyPr>
          <a:lstStyle/>
          <a:p>
            <a:pPr algn="ctr"/>
            <a:r>
              <a:rPr sz="650" b="1">
                <a:solidFill>
                  <a:srgbClr val="FFFFFF"/>
                </a:solidFill>
                <a:latin typeface="Calibri"/>
              </a:rPr>
              <a:t>AUM ₹1.96L Cr | +31% YoY | HNI/UHNI Premium Franchise</a:t>
            </a:r>
          </a:p>
        </p:txBody>
      </p:sp>
      <p:sp>
        <p:nvSpPr>
          <p:cNvPr id="52" name="Rounded Rectangle 51"/>
          <p:cNvSpPr/>
          <p:nvPr/>
        </p:nvSpPr>
        <p:spPr>
          <a:xfrm>
            <a:off x="384048" y="466344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4677156"/>
            <a:ext cx="731520" cy="137160"/>
          </a:xfrm>
          <a:prstGeom prst="rect">
            <a:avLst/>
          </a:prstGeom>
          <a:noFill/>
        </p:spPr>
        <p:txBody>
          <a:bodyPr wrap="square" lIns="36576" rIns="36576" tIns="9144" bIns="9144">
            <a:spAutoFit/>
          </a:bodyPr>
          <a:lstStyle/>
          <a:p>
            <a:pPr algn="ctr"/>
            <a:r>
              <a:rPr sz="600" b="1">
                <a:solidFill>
                  <a:srgbClr val="E37400"/>
                </a:solidFill>
                <a:latin typeface="Calibri"/>
              </a:rPr>
              <a:t>₹1.96L Cr AUM</a:t>
            </a:r>
          </a:p>
        </p:txBody>
      </p:sp>
      <p:sp>
        <p:nvSpPr>
          <p:cNvPr id="54" name="Rounded Rectangle 53"/>
          <p:cNvSpPr/>
          <p:nvPr/>
        </p:nvSpPr>
        <p:spPr>
          <a:xfrm>
            <a:off x="1188720" y="466344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88720" y="4677156"/>
            <a:ext cx="1097280" cy="137160"/>
          </a:xfrm>
          <a:prstGeom prst="rect">
            <a:avLst/>
          </a:prstGeom>
          <a:noFill/>
        </p:spPr>
        <p:txBody>
          <a:bodyPr wrap="square" lIns="36576" rIns="36576" tIns="9144" bIns="9144">
            <a:spAutoFit/>
          </a:bodyPr>
          <a:lstStyle/>
          <a:p>
            <a:pPr algn="ctr"/>
            <a:r>
              <a:rPr sz="600" b="1">
                <a:solidFill>
                  <a:srgbClr val="E37400"/>
                </a:solidFill>
                <a:latin typeface="Calibri"/>
              </a:rPr>
              <a:t>+41% Family Count YoY</a:t>
            </a:r>
          </a:p>
        </p:txBody>
      </p:sp>
      <p:sp>
        <p:nvSpPr>
          <p:cNvPr id="56" name="Rounded Rectangle 55"/>
          <p:cNvSpPr/>
          <p:nvPr/>
        </p:nvSpPr>
        <p:spPr>
          <a:xfrm>
            <a:off x="2359152" y="4663440"/>
            <a:ext cx="7315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359152" y="4677156"/>
            <a:ext cx="731520" cy="137160"/>
          </a:xfrm>
          <a:prstGeom prst="rect">
            <a:avLst/>
          </a:prstGeom>
          <a:noFill/>
        </p:spPr>
        <p:txBody>
          <a:bodyPr wrap="square" lIns="36576" rIns="36576" tIns="9144" bIns="9144">
            <a:spAutoFit/>
          </a:bodyPr>
          <a:lstStyle/>
          <a:p>
            <a:pPr algn="ctr"/>
            <a:r>
              <a:rPr sz="600" b="1">
                <a:solidFill>
                  <a:srgbClr val="E37400"/>
                </a:solidFill>
                <a:latin typeface="Calibri"/>
              </a:rPr>
              <a:t>PAT +14% (9M)</a:t>
            </a:r>
          </a:p>
        </p:txBody>
      </p:sp>
      <p:sp>
        <p:nvSpPr>
          <p:cNvPr id="58" name="Rounded Rectangle 57"/>
          <p:cNvSpPr/>
          <p:nvPr/>
        </p:nvSpPr>
        <p:spPr>
          <a:xfrm>
            <a:off x="3163824" y="466344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163824" y="4677156"/>
            <a:ext cx="1417320" cy="137160"/>
          </a:xfrm>
          <a:prstGeom prst="rect">
            <a:avLst/>
          </a:prstGeom>
          <a:noFill/>
        </p:spPr>
        <p:txBody>
          <a:bodyPr wrap="square" lIns="36576" rIns="36576" tIns="9144" bIns="9144">
            <a:spAutoFit/>
          </a:bodyPr>
          <a:lstStyle/>
          <a:p>
            <a:pPr algn="ctr"/>
            <a:r>
              <a:rPr sz="600" b="1">
                <a:solidFill>
                  <a:srgbClr val="E37400"/>
                </a:solidFill>
                <a:latin typeface="Calibri"/>
              </a:rPr>
              <a:t>Distribution Book ₹42,775 Cr</a:t>
            </a:r>
          </a:p>
        </p:txBody>
      </p:sp>
      <p:sp>
        <p:nvSpPr>
          <p:cNvPr id="60" name="Rounded Rectangle 59"/>
          <p:cNvSpPr/>
          <p:nvPr/>
        </p:nvSpPr>
        <p:spPr>
          <a:xfrm>
            <a:off x="4654296" y="466344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654296" y="4677156"/>
            <a:ext cx="1097280" cy="137160"/>
          </a:xfrm>
          <a:prstGeom prst="rect">
            <a:avLst/>
          </a:prstGeom>
          <a:noFill/>
        </p:spPr>
        <p:txBody>
          <a:bodyPr wrap="square" lIns="36576" rIns="36576" tIns="9144" bIns="9144">
            <a:spAutoFit/>
          </a:bodyPr>
          <a:lstStyle/>
          <a:p>
            <a:pPr algn="ctr"/>
            <a:r>
              <a:rPr sz="600" b="1">
                <a:solidFill>
                  <a:srgbClr val="E37400"/>
                </a:solidFill>
                <a:latin typeface="Calibri"/>
              </a:rPr>
              <a:t>+34% Distribution YoY</a:t>
            </a:r>
          </a:p>
        </p:txBody>
      </p:sp>
      <p:sp>
        <p:nvSpPr>
          <p:cNvPr id="62" name="TextBox 61"/>
          <p:cNvSpPr txBox="1"/>
          <p:nvPr/>
        </p:nvSpPr>
        <p:spPr>
          <a:xfrm>
            <a:off x="384048" y="4937760"/>
            <a:ext cx="5486400" cy="1188720"/>
          </a:xfrm>
          <a:prstGeom prst="rect">
            <a:avLst/>
          </a:prstGeom>
          <a:noFill/>
        </p:spPr>
        <p:txBody>
          <a:bodyPr wrap="square" lIns="36576" rIns="36576" tIns="9144" bIns="9144">
            <a:spAutoFit/>
          </a:bodyPr>
          <a:lstStyle/>
          <a:p>
            <a:r>
              <a:rPr sz="750" b="0">
                <a:solidFill>
                  <a:srgbClr val="111111"/>
                </a:solidFill>
                <a:latin typeface="Calibri"/>
              </a:rPr>
              <a:t>Private Wealth Management targets HNI and UHNI families with tailored financial advisory and wealth solutions. This is the segment that will benefit most from India's wealth creation super-cycle: 8.56 lakh HNWIs in June 2025, growing to 16.57 lakh by 2027. MOFSL's competitive advantage here is its 38-year research reputation - HNI families trust MOFSL's QGLP process and 'Buy Right, Sit Tight' philosophy. Family count growing 41% YoY demonstrates that MOFSL's HNI advisor network is acquiring new clients at an accelerating pace. Advisory fees charged as a percentage of AUM create a pure ARR income stream with zero capital at risk and zero cycle sensitivity.</a:t>
            </a:r>
          </a:p>
        </p:txBody>
      </p:sp>
      <p:sp>
        <p:nvSpPr>
          <p:cNvPr id="63" name="Rectangle 62"/>
          <p:cNvSpPr/>
          <p:nvPr/>
        </p:nvSpPr>
        <p:spPr>
          <a:xfrm>
            <a:off x="6071616" y="1143000"/>
            <a:ext cx="5833872" cy="242316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63055" y="1234440"/>
            <a:ext cx="2743200" cy="182880"/>
          </a:xfrm>
          <a:prstGeom prst="rect">
            <a:avLst/>
          </a:prstGeom>
          <a:noFill/>
        </p:spPr>
        <p:txBody>
          <a:bodyPr wrap="square" lIns="36576" rIns="36576" tIns="9144" bIns="9144">
            <a:spAutoFit/>
          </a:bodyPr>
          <a:lstStyle/>
          <a:p>
            <a:r>
              <a:rPr sz="900" b="1">
                <a:solidFill>
                  <a:srgbClr val="1F4690"/>
                </a:solidFill>
                <a:latin typeface="Calibri"/>
              </a:rPr>
              <a:t>Capital Markets &amp; Broking</a:t>
            </a:r>
          </a:p>
        </p:txBody>
      </p:sp>
      <p:sp>
        <p:nvSpPr>
          <p:cNvPr id="65" name="Rounded Rectangle 64"/>
          <p:cNvSpPr/>
          <p:nvPr/>
        </p:nvSpPr>
        <p:spPr>
          <a:xfrm>
            <a:off x="8887968" y="1234440"/>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87968" y="1252728"/>
            <a:ext cx="2926080" cy="164592"/>
          </a:xfrm>
          <a:prstGeom prst="rect">
            <a:avLst/>
          </a:prstGeom>
          <a:noFill/>
        </p:spPr>
        <p:txBody>
          <a:bodyPr wrap="square" lIns="36576" rIns="36576" tIns="9144" bIns="9144">
            <a:spAutoFit/>
          </a:bodyPr>
          <a:lstStyle/>
          <a:p>
            <a:pPr algn="ctr"/>
            <a:r>
              <a:rPr sz="650" b="1">
                <a:solidFill>
                  <a:srgbClr val="FFFFFF"/>
                </a:solidFill>
                <a:latin typeface="Calibri"/>
              </a:rPr>
              <a:t>30% Revenue | Deliberate Decline | Distribution Network</a:t>
            </a:r>
          </a:p>
        </p:txBody>
      </p:sp>
      <p:sp>
        <p:nvSpPr>
          <p:cNvPr id="67" name="Rounded Rectangle 66"/>
          <p:cNvSpPr/>
          <p:nvPr/>
        </p:nvSpPr>
        <p:spPr>
          <a:xfrm>
            <a:off x="6163055" y="150876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63055" y="1522475"/>
            <a:ext cx="822960" cy="137160"/>
          </a:xfrm>
          <a:prstGeom prst="rect">
            <a:avLst/>
          </a:prstGeom>
          <a:noFill/>
        </p:spPr>
        <p:txBody>
          <a:bodyPr wrap="square" lIns="36576" rIns="36576" tIns="9144" bIns="9144">
            <a:spAutoFit/>
          </a:bodyPr>
          <a:lstStyle/>
          <a:p>
            <a:pPr algn="ctr"/>
            <a:r>
              <a:rPr sz="600" b="1">
                <a:solidFill>
                  <a:srgbClr val="E37400"/>
                </a:solidFill>
                <a:latin typeface="Calibri"/>
              </a:rPr>
              <a:t>30% of Revenues</a:t>
            </a:r>
          </a:p>
        </p:txBody>
      </p:sp>
      <p:sp>
        <p:nvSpPr>
          <p:cNvPr id="69" name="Rounded Rectangle 68"/>
          <p:cNvSpPr/>
          <p:nvPr/>
        </p:nvSpPr>
        <p:spPr>
          <a:xfrm>
            <a:off x="7059167" y="1508760"/>
            <a:ext cx="123444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059167" y="1522475"/>
            <a:ext cx="1234440" cy="137160"/>
          </a:xfrm>
          <a:prstGeom prst="rect">
            <a:avLst/>
          </a:prstGeom>
          <a:noFill/>
        </p:spPr>
        <p:txBody>
          <a:bodyPr wrap="square" lIns="36576" rIns="36576" tIns="9144" bIns="9144">
            <a:spAutoFit/>
          </a:bodyPr>
          <a:lstStyle/>
          <a:p>
            <a:pPr algn="ctr"/>
            <a:r>
              <a:rPr sz="600" b="1">
                <a:solidFill>
                  <a:srgbClr val="E37400"/>
                </a:solidFill>
                <a:latin typeface="Calibri"/>
              </a:rPr>
              <a:t>Research: 300+ Companies</a:t>
            </a:r>
          </a:p>
        </p:txBody>
      </p:sp>
      <p:sp>
        <p:nvSpPr>
          <p:cNvPr id="71" name="Rounded Rectangle 70"/>
          <p:cNvSpPr/>
          <p:nvPr/>
        </p:nvSpPr>
        <p:spPr>
          <a:xfrm>
            <a:off x="8366759" y="1508760"/>
            <a:ext cx="9144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366759" y="1522475"/>
            <a:ext cx="914400" cy="137160"/>
          </a:xfrm>
          <a:prstGeom prst="rect">
            <a:avLst/>
          </a:prstGeom>
          <a:noFill/>
        </p:spPr>
        <p:txBody>
          <a:bodyPr wrap="square" lIns="36576" rIns="36576" tIns="9144" bIns="9144">
            <a:spAutoFit/>
          </a:bodyPr>
          <a:lstStyle/>
          <a:p>
            <a:pPr algn="ctr"/>
            <a:r>
              <a:rPr sz="600" b="1">
                <a:solidFill>
                  <a:srgbClr val="E37400"/>
                </a:solidFill>
                <a:latin typeface="Calibri"/>
              </a:rPr>
              <a:t>SEBI F&amp;O Headwind</a:t>
            </a:r>
          </a:p>
        </p:txBody>
      </p:sp>
      <p:sp>
        <p:nvSpPr>
          <p:cNvPr id="73" name="Rounded Rectangle 72"/>
          <p:cNvSpPr/>
          <p:nvPr/>
        </p:nvSpPr>
        <p:spPr>
          <a:xfrm>
            <a:off x="9354311" y="150876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354311" y="1522475"/>
            <a:ext cx="1097280" cy="137160"/>
          </a:xfrm>
          <a:prstGeom prst="rect">
            <a:avLst/>
          </a:prstGeom>
          <a:noFill/>
        </p:spPr>
        <p:txBody>
          <a:bodyPr wrap="square" lIns="36576" rIns="36576" tIns="9144" bIns="9144">
            <a:spAutoFit/>
          </a:bodyPr>
          <a:lstStyle/>
          <a:p>
            <a:pPr algn="ctr"/>
            <a:r>
              <a:rPr sz="600" b="1">
                <a:solidFill>
                  <a:srgbClr val="E37400"/>
                </a:solidFill>
                <a:latin typeface="Calibri"/>
              </a:rPr>
              <a:t>Brokerage -24% Q2FY26</a:t>
            </a:r>
          </a:p>
        </p:txBody>
      </p:sp>
      <p:sp>
        <p:nvSpPr>
          <p:cNvPr id="75" name="TextBox 74"/>
          <p:cNvSpPr txBox="1"/>
          <p:nvPr/>
        </p:nvSpPr>
        <p:spPr>
          <a:xfrm>
            <a:off x="6163055" y="1783080"/>
            <a:ext cx="5650992" cy="1005840"/>
          </a:xfrm>
          <a:prstGeom prst="rect">
            <a:avLst/>
          </a:prstGeom>
          <a:noFill/>
        </p:spPr>
        <p:txBody>
          <a:bodyPr wrap="square" lIns="36576" rIns="36576" tIns="9144" bIns="9144">
            <a:spAutoFit/>
          </a:bodyPr>
          <a:lstStyle/>
          <a:p>
            <a:r>
              <a:rPr sz="750" b="0">
                <a:solidFill>
                  <a:srgbClr val="111111"/>
                </a:solidFill>
                <a:latin typeface="Calibri"/>
              </a:rPr>
              <a:t>The legacy broking business (equity, derivatives, commodity, currency, institutional services, and M&amp;A advisory) now contributes only 30% of total revenue - down from historical highs - reflecting MOFSL's deliberate diversification into annuity businesses. This is by design, not distress. While SEBI's F&amp;O regulatory changes caused a 24% decline in brokerage revenue in Q2FY26, this segment's declining revenue share is actually evidence of the thesis working: the annuity businesses (AMC, wealth) are growing faster. The institutional equity distribution through research-led approach remains the brand anchor that drives HNI and institutional credibility across all other business lines.</a:t>
            </a:r>
          </a:p>
        </p:txBody>
      </p:sp>
      <p:sp>
        <p:nvSpPr>
          <p:cNvPr id="76" name="TextBox 75"/>
          <p:cNvSpPr txBox="1"/>
          <p:nvPr/>
        </p:nvSpPr>
        <p:spPr>
          <a:xfrm>
            <a:off x="6163055" y="2743200"/>
            <a:ext cx="5650992" cy="182880"/>
          </a:xfrm>
          <a:prstGeom prst="rect">
            <a:avLst/>
          </a:prstGeom>
          <a:noFill/>
        </p:spPr>
        <p:txBody>
          <a:bodyPr wrap="square" lIns="36576" rIns="36576" tIns="9144" bIns="9144">
            <a:spAutoFit/>
          </a:bodyPr>
          <a:lstStyle/>
          <a:p>
            <a:r>
              <a:rPr sz="750" b="1">
                <a:solidFill>
                  <a:srgbClr val="1F4690"/>
                </a:solidFill>
                <a:latin typeface="Calibri"/>
              </a:rPr>
              <a:t>BROKING — REGULATORY IMPACT &amp; OUTLOOK</a:t>
            </a:r>
          </a:p>
        </p:txBody>
      </p:sp>
      <p:graphicFrame>
        <p:nvGraphicFramePr>
          <p:cNvPr id="77" name="Table 76"/>
          <p:cNvGraphicFramePr>
            <a:graphicFrameLocks noGrp="1"/>
          </p:cNvGraphicFramePr>
          <p:nvPr/>
        </p:nvGraphicFramePr>
        <p:xfrm>
          <a:off x="6163055" y="2926080"/>
          <a:ext cx="5650990" cy="502920"/>
        </p:xfrm>
        <a:graphic>
          <a:graphicData uri="http://schemas.openxmlformats.org/drawingml/2006/table">
            <a:tbl>
              <a:tblPr firstRow="1" bandRow="1">
                <a:tableStyleId>{5C22544A-7EE6-4342-B048-85BDC9FD1C3A}</a:tableStyleId>
              </a:tblPr>
              <a:tblGrid>
                <a:gridCol w="1695297"/>
                <a:gridCol w="1130198"/>
                <a:gridCol w="1130198"/>
                <a:gridCol w="1695297"/>
              </a:tblGrid>
              <a:tr h="125730">
                <a:tc>
                  <a:txBody>
                    <a:bodyPr/>
                    <a:lstStyle/>
                    <a:p>
                      <a:pPr algn="l"/>
                      <a:r>
                        <a:rPr sz="650" b="1">
                          <a:solidFill>
                            <a:srgbClr val="FFFFFF"/>
                          </a:solidFill>
                          <a:latin typeface="Calibri"/>
                        </a:rPr>
                        <a:t>Parameter</a:t>
                      </a:r>
                    </a:p>
                  </a:txBody>
                  <a:tcPr anchor="ctr" marL="22860" marR="22860" marT="5486" marB="5486">
                    <a:solidFill>
                      <a:srgbClr val="1F4690"/>
                    </a:solidFill>
                  </a:tcPr>
                </a:tc>
                <a:tc>
                  <a:txBody>
                    <a:bodyPr/>
                    <a:lstStyle/>
                    <a:p>
                      <a:pPr algn="ctr"/>
                      <a:r>
                        <a:rPr sz="650" b="1">
                          <a:solidFill>
                            <a:srgbClr val="FFFFFF"/>
                          </a:solidFill>
                          <a:latin typeface="Calibri"/>
                        </a:rPr>
                        <a:t>Before SEBI</a:t>
                      </a:r>
                    </a:p>
                  </a:txBody>
                  <a:tcPr anchor="ctr" marL="22860" marR="22860" marT="5486" marB="5486">
                    <a:solidFill>
                      <a:srgbClr val="1F4690"/>
                    </a:solidFill>
                  </a:tcPr>
                </a:tc>
                <a:tc>
                  <a:txBody>
                    <a:bodyPr/>
                    <a:lstStyle/>
                    <a:p>
                      <a:pPr algn="ctr"/>
                      <a:r>
                        <a:rPr sz="650" b="1">
                          <a:solidFill>
                            <a:srgbClr val="FFFFFF"/>
                          </a:solidFill>
                          <a:latin typeface="Calibri"/>
                        </a:rPr>
                        <a:t>Post-SEBI (Q2FY26)</a:t>
                      </a:r>
                    </a:p>
                  </a:txBody>
                  <a:tcPr anchor="ctr" marL="22860" marR="22860" marT="5486" marB="5486">
                    <a:solidFill>
                      <a:srgbClr val="1F4690"/>
                    </a:solidFill>
                  </a:tcPr>
                </a:tc>
                <a:tc>
                  <a:txBody>
                    <a:bodyPr/>
                    <a:lstStyle/>
                    <a:p>
                      <a:pPr algn="ctr"/>
                      <a:r>
                        <a:rPr sz="650" b="1">
                          <a:solidFill>
                            <a:srgbClr val="FFFFFF"/>
                          </a:solidFill>
                          <a:latin typeface="Calibri"/>
                        </a:rPr>
                        <a:t>Recovery Path</a:t>
                      </a:r>
                    </a:p>
                  </a:txBody>
                  <a:tcPr anchor="ctr" marL="22860" marR="22860" marT="5486" marB="5486">
                    <a:solidFill>
                      <a:srgbClr val="1F4690"/>
                    </a:solidFill>
                  </a:tcPr>
                </a:tc>
              </a:tr>
              <a:tr h="125730">
                <a:tc>
                  <a:txBody>
                    <a:bodyPr/>
                    <a:lstStyle/>
                    <a:p>
                      <a:pPr algn="l"/>
                      <a:r>
                        <a:rPr sz="650" b="0">
                          <a:solidFill>
                            <a:srgbClr val="111111"/>
                          </a:solidFill>
                          <a:latin typeface="Calibri"/>
                        </a:rPr>
                        <a:t>F&amp;O Volume Impact</a:t>
                      </a:r>
                    </a:p>
                  </a:txBody>
                  <a:tcPr anchor="ctr" marL="22860" marR="22860" marT="5486" marB="5486">
                    <a:solidFill>
                      <a:srgbClr val="FFFFFF"/>
                    </a:solidFill>
                  </a:tcPr>
                </a:tc>
                <a:tc>
                  <a:txBody>
                    <a:bodyPr/>
                    <a:lstStyle/>
                    <a:p>
                      <a:pPr algn="ctr"/>
                      <a:r>
                        <a:rPr sz="650" b="1">
                          <a:solidFill>
                            <a:srgbClr val="111111"/>
                          </a:solidFill>
                          <a:latin typeface="Calibri"/>
                        </a:rPr>
                        <a:t>Peak levels</a:t>
                      </a:r>
                    </a:p>
                  </a:txBody>
                  <a:tcPr anchor="ctr" marL="22860" marR="22860" marT="5486" marB="5486">
                    <a:solidFill>
                      <a:srgbClr val="FFFFFF"/>
                    </a:solidFill>
                  </a:tcPr>
                </a:tc>
                <a:tc>
                  <a:txBody>
                    <a:bodyPr/>
                    <a:lstStyle/>
                    <a:p>
                      <a:pPr algn="ctr"/>
                      <a:r>
                        <a:rPr sz="650" b="1">
                          <a:solidFill>
                            <a:srgbClr val="B91C1C"/>
                          </a:solidFill>
                          <a:latin typeface="Calibri"/>
                        </a:rPr>
                        <a:t>-24% brokerage</a:t>
                      </a:r>
                    </a:p>
                  </a:txBody>
                  <a:tcPr anchor="ctr" marL="22860" marR="22860" marT="5486" marB="5486">
                    <a:solidFill>
                      <a:srgbClr val="FFFFFF"/>
                    </a:solidFill>
                  </a:tcPr>
                </a:tc>
                <a:tc>
                  <a:txBody>
                    <a:bodyPr/>
                    <a:lstStyle/>
                    <a:p>
                      <a:pPr algn="r"/>
                      <a:r>
                        <a:rPr sz="650" b="0">
                          <a:solidFill>
                            <a:srgbClr val="111111"/>
                          </a:solidFill>
                          <a:latin typeface="Calibri"/>
                        </a:rPr>
                        <a:t>Stabilization by Q3FY26</a:t>
                      </a:r>
                    </a:p>
                  </a:txBody>
                  <a:tcPr anchor="ctr" marL="22860" marR="22860" marT="5486" marB="5486">
                    <a:solidFill>
                      <a:srgbClr val="FFFFFF"/>
                    </a:solidFill>
                  </a:tcPr>
                </a:tc>
              </a:tr>
              <a:tr h="125730">
                <a:tc>
                  <a:txBody>
                    <a:bodyPr/>
                    <a:lstStyle/>
                    <a:p>
                      <a:pPr algn="l"/>
                      <a:r>
                        <a:rPr sz="650" b="0">
                          <a:solidFill>
                            <a:srgbClr val="111111"/>
                          </a:solidFill>
                          <a:latin typeface="Calibri"/>
                        </a:rPr>
                        <a:t>Market Share</a:t>
                      </a:r>
                    </a:p>
                  </a:txBody>
                  <a:tcPr anchor="ctr" marL="22860" marR="22860" marT="5486" marB="5486">
                    <a:solidFill>
                      <a:srgbClr val="FFFFFF"/>
                    </a:solidFill>
                  </a:tcPr>
                </a:tc>
                <a:tc>
                  <a:txBody>
                    <a:bodyPr/>
                    <a:lstStyle/>
                    <a:p>
                      <a:pPr algn="ctr"/>
                      <a:r>
                        <a:rPr sz="650" b="1">
                          <a:solidFill>
                            <a:srgbClr val="111111"/>
                          </a:solidFill>
                          <a:latin typeface="Calibri"/>
                        </a:rPr>
                        <a:t>Gaining</a:t>
                      </a:r>
                    </a:p>
                  </a:txBody>
                  <a:tcPr anchor="ctr" marL="22860" marR="22860" marT="5486" marB="5486">
                    <a:solidFill>
                      <a:srgbClr val="FFFFFF"/>
                    </a:solidFill>
                  </a:tcPr>
                </a:tc>
                <a:tc>
                  <a:txBody>
                    <a:bodyPr/>
                    <a:lstStyle/>
                    <a:p>
                      <a:pPr algn="ctr"/>
                      <a:r>
                        <a:rPr sz="650" b="1">
                          <a:solidFill>
                            <a:srgbClr val="111111"/>
                          </a:solidFill>
                          <a:latin typeface="Calibri"/>
                        </a:rPr>
                        <a:t>Holding</a:t>
                      </a:r>
                    </a:p>
                  </a:txBody>
                  <a:tcPr anchor="ctr" marL="22860" marR="22860" marT="5486" marB="5486">
                    <a:solidFill>
                      <a:srgbClr val="FFFFFF"/>
                    </a:solidFill>
                  </a:tcPr>
                </a:tc>
                <a:tc>
                  <a:txBody>
                    <a:bodyPr/>
                    <a:lstStyle/>
                    <a:p>
                      <a:pPr algn="r"/>
                      <a:r>
                        <a:rPr sz="650" b="0">
                          <a:solidFill>
                            <a:srgbClr val="111111"/>
                          </a:solidFill>
                          <a:latin typeface="Calibri"/>
                        </a:rPr>
                        <a:t>Maintain 3-5%</a:t>
                      </a:r>
                    </a:p>
                  </a:txBody>
                  <a:tcPr anchor="ctr" marL="22860" marR="22860" marT="5486" marB="5486">
                    <a:solidFill>
                      <a:srgbClr val="FFFFFF"/>
                    </a:solidFill>
                  </a:tcPr>
                </a:tc>
              </a:tr>
              <a:tr h="125730">
                <a:tc>
                  <a:txBody>
                    <a:bodyPr/>
                    <a:lstStyle/>
                    <a:p>
                      <a:pPr algn="l"/>
                      <a:r>
                        <a:rPr sz="650" b="0">
                          <a:solidFill>
                            <a:srgbClr val="111111"/>
                          </a:solidFill>
                          <a:latin typeface="Calibri"/>
                        </a:rPr>
                        <a:t>Broking % of Revenue</a:t>
                      </a:r>
                    </a:p>
                  </a:txBody>
                  <a:tcPr anchor="ctr" marL="22860" marR="22860" marT="5486" marB="5486">
                    <a:solidFill>
                      <a:srgbClr val="FFFFFF"/>
                    </a:solidFill>
                  </a:tcPr>
                </a:tc>
                <a:tc>
                  <a:txBody>
                    <a:bodyPr/>
                    <a:lstStyle/>
                    <a:p>
                      <a:pPr algn="ctr"/>
                      <a:r>
                        <a:rPr sz="650" b="1">
                          <a:solidFill>
                            <a:srgbClr val="111111"/>
                          </a:solidFill>
                          <a:latin typeface="Calibri"/>
                        </a:rPr>
                        <a:t>~40%</a:t>
                      </a:r>
                    </a:p>
                  </a:txBody>
                  <a:tcPr anchor="ctr" marL="22860" marR="22860" marT="5486" marB="5486">
                    <a:solidFill>
                      <a:srgbClr val="FFFFFF"/>
                    </a:solidFill>
                  </a:tcPr>
                </a:tc>
                <a:tc>
                  <a:txBody>
                    <a:bodyPr/>
                    <a:lstStyle/>
                    <a:p>
                      <a:pPr algn="ctr"/>
                      <a:r>
                        <a:rPr sz="650" b="1">
                          <a:solidFill>
                            <a:srgbClr val="111111"/>
                          </a:solidFill>
                          <a:latin typeface="Calibri"/>
                        </a:rPr>
                        <a:t>30%</a:t>
                      </a:r>
                    </a:p>
                  </a:txBody>
                  <a:tcPr anchor="ctr" marL="22860" marR="22860" marT="5486" marB="5486">
                    <a:solidFill>
                      <a:srgbClr val="FFFFFF"/>
                    </a:solidFill>
                  </a:tcPr>
                </a:tc>
                <a:tc>
                  <a:txBody>
                    <a:bodyPr/>
                    <a:lstStyle/>
                    <a:p>
                      <a:pPr algn="r"/>
                      <a:r>
                        <a:rPr sz="650" b="1">
                          <a:solidFill>
                            <a:srgbClr val="1A7A4A"/>
                          </a:solidFill>
                          <a:latin typeface="Calibri"/>
                        </a:rPr>
                        <a:t>Target &lt;25% by FY28</a:t>
                      </a:r>
                    </a:p>
                  </a:txBody>
                  <a:tcPr anchor="ctr" marL="22860" marR="22860" marT="5486" marB="5486">
                    <a:solidFill>
                      <a:srgbClr val="FFFFFF"/>
                    </a:solidFill>
                  </a:tcPr>
                </a:tc>
              </a:tr>
            </a:tbl>
          </a:graphicData>
        </a:graphic>
      </p:graphicFrame>
      <p:sp>
        <p:nvSpPr>
          <p:cNvPr id="78" name="Rectangle 77"/>
          <p:cNvSpPr/>
          <p:nvPr/>
        </p:nvSpPr>
        <p:spPr>
          <a:xfrm>
            <a:off x="6163055" y="3054096"/>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63055" y="3054096"/>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163055" y="3054096"/>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163055" y="3054096"/>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163055" y="3182112"/>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163055" y="3182112"/>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163055" y="3182112"/>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163055" y="3182112"/>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163055" y="3310128"/>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163055" y="3310128"/>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163055" y="3310128"/>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163055" y="3310128"/>
            <a:ext cx="5650992" cy="4572"/>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071616" y="3703320"/>
            <a:ext cx="5833872" cy="132588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163055" y="3794759"/>
            <a:ext cx="2743200" cy="182880"/>
          </a:xfrm>
          <a:prstGeom prst="rect">
            <a:avLst/>
          </a:prstGeom>
          <a:noFill/>
        </p:spPr>
        <p:txBody>
          <a:bodyPr wrap="square" lIns="36576" rIns="36576" tIns="9144" bIns="9144">
            <a:spAutoFit/>
          </a:bodyPr>
          <a:lstStyle/>
          <a:p>
            <a:r>
              <a:rPr sz="900" b="1">
                <a:solidFill>
                  <a:srgbClr val="1F4690"/>
                </a:solidFill>
                <a:latin typeface="Calibri"/>
              </a:rPr>
              <a:t>Housing Finance</a:t>
            </a:r>
          </a:p>
        </p:txBody>
      </p:sp>
      <p:sp>
        <p:nvSpPr>
          <p:cNvPr id="92" name="Rounded Rectangle 91"/>
          <p:cNvSpPr/>
          <p:nvPr/>
        </p:nvSpPr>
        <p:spPr>
          <a:xfrm>
            <a:off x="8887968" y="3794759"/>
            <a:ext cx="292608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887968" y="3813048"/>
            <a:ext cx="2926080" cy="164592"/>
          </a:xfrm>
          <a:prstGeom prst="rect">
            <a:avLst/>
          </a:prstGeom>
          <a:noFill/>
        </p:spPr>
        <p:txBody>
          <a:bodyPr wrap="square" lIns="36576" rIns="36576" tIns="9144" bIns="9144">
            <a:spAutoFit/>
          </a:bodyPr>
          <a:lstStyle/>
          <a:p>
            <a:pPr algn="ctr"/>
            <a:r>
              <a:rPr sz="650" b="1">
                <a:solidFill>
                  <a:srgbClr val="FFFFFF"/>
                </a:solidFill>
                <a:latin typeface="Calibri"/>
              </a:rPr>
              <a:t>Loan Book ₹6,630 Cr | +25% YoY | NII Income Stream</a:t>
            </a:r>
          </a:p>
        </p:txBody>
      </p:sp>
      <p:sp>
        <p:nvSpPr>
          <p:cNvPr id="94" name="Rounded Rectangle 93"/>
          <p:cNvSpPr/>
          <p:nvPr/>
        </p:nvSpPr>
        <p:spPr>
          <a:xfrm>
            <a:off x="6163055" y="4069080"/>
            <a:ext cx="100584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163055" y="4082796"/>
            <a:ext cx="1005840" cy="137160"/>
          </a:xfrm>
          <a:prstGeom prst="rect">
            <a:avLst/>
          </a:prstGeom>
          <a:noFill/>
        </p:spPr>
        <p:txBody>
          <a:bodyPr wrap="square" lIns="36576" rIns="36576" tIns="9144" bIns="9144">
            <a:spAutoFit/>
          </a:bodyPr>
          <a:lstStyle/>
          <a:p>
            <a:pPr algn="ctr"/>
            <a:r>
              <a:rPr sz="600" b="1">
                <a:solidFill>
                  <a:srgbClr val="E37400"/>
                </a:solidFill>
                <a:latin typeface="Calibri"/>
              </a:rPr>
              <a:t>₹6,630 Cr Loan Book</a:t>
            </a:r>
          </a:p>
        </p:txBody>
      </p:sp>
      <p:sp>
        <p:nvSpPr>
          <p:cNvPr id="96" name="Rounded Rectangle 95"/>
          <p:cNvSpPr/>
          <p:nvPr/>
        </p:nvSpPr>
        <p:spPr>
          <a:xfrm>
            <a:off x="7242048" y="4069080"/>
            <a:ext cx="8229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242048" y="4082796"/>
            <a:ext cx="822960" cy="137160"/>
          </a:xfrm>
          <a:prstGeom prst="rect">
            <a:avLst/>
          </a:prstGeom>
          <a:noFill/>
        </p:spPr>
        <p:txBody>
          <a:bodyPr wrap="square" lIns="36576" rIns="36576" tIns="9144" bIns="9144">
            <a:spAutoFit/>
          </a:bodyPr>
          <a:lstStyle/>
          <a:p>
            <a:pPr algn="ctr"/>
            <a:r>
              <a:rPr sz="600" b="1">
                <a:solidFill>
                  <a:srgbClr val="E37400"/>
                </a:solidFill>
                <a:latin typeface="Calibri"/>
              </a:rPr>
              <a:t>+25% YoY Growth</a:t>
            </a:r>
          </a:p>
        </p:txBody>
      </p:sp>
      <p:sp>
        <p:nvSpPr>
          <p:cNvPr id="98" name="Rounded Rectangle 97"/>
          <p:cNvSpPr/>
          <p:nvPr/>
        </p:nvSpPr>
        <p:spPr>
          <a:xfrm>
            <a:off x="8138160" y="4069080"/>
            <a:ext cx="14173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138160" y="4082796"/>
            <a:ext cx="1417320" cy="137160"/>
          </a:xfrm>
          <a:prstGeom prst="rect">
            <a:avLst/>
          </a:prstGeom>
          <a:noFill/>
        </p:spPr>
        <p:txBody>
          <a:bodyPr wrap="square" lIns="36576" rIns="36576" tIns="9144" bIns="9144">
            <a:spAutoFit/>
          </a:bodyPr>
          <a:lstStyle/>
          <a:p>
            <a:pPr algn="ctr"/>
            <a:r>
              <a:rPr sz="600" b="1">
                <a:solidFill>
                  <a:srgbClr val="E37400"/>
                </a:solidFill>
                <a:latin typeface="Calibri"/>
              </a:rPr>
              <a:t>₹42,775 Cr Distribution Book</a:t>
            </a:r>
          </a:p>
        </p:txBody>
      </p:sp>
      <p:sp>
        <p:nvSpPr>
          <p:cNvPr id="100" name="Rounded Rectangle 99"/>
          <p:cNvSpPr/>
          <p:nvPr/>
        </p:nvSpPr>
        <p:spPr>
          <a:xfrm>
            <a:off x="9628632" y="4069080"/>
            <a:ext cx="109728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628632" y="4082796"/>
            <a:ext cx="1097280" cy="137160"/>
          </a:xfrm>
          <a:prstGeom prst="rect">
            <a:avLst/>
          </a:prstGeom>
          <a:noFill/>
        </p:spPr>
        <p:txBody>
          <a:bodyPr wrap="square" lIns="36576" rIns="36576" tIns="9144" bIns="9144">
            <a:spAutoFit/>
          </a:bodyPr>
          <a:lstStyle/>
          <a:p>
            <a:pPr algn="ctr"/>
            <a:r>
              <a:rPr sz="600" b="1">
                <a:solidFill>
                  <a:srgbClr val="E37400"/>
                </a:solidFill>
                <a:latin typeface="Calibri"/>
              </a:rPr>
              <a:t>Distribution +34% YoY</a:t>
            </a:r>
          </a:p>
        </p:txBody>
      </p:sp>
      <p:sp>
        <p:nvSpPr>
          <p:cNvPr id="102" name="TextBox 101"/>
          <p:cNvSpPr txBox="1"/>
          <p:nvPr/>
        </p:nvSpPr>
        <p:spPr>
          <a:xfrm>
            <a:off x="6163055" y="4343400"/>
            <a:ext cx="5650992" cy="777240"/>
          </a:xfrm>
          <a:prstGeom prst="rect">
            <a:avLst/>
          </a:prstGeom>
          <a:noFill/>
        </p:spPr>
        <p:txBody>
          <a:bodyPr wrap="square" lIns="36576" rIns="36576" tIns="9144" bIns="9144">
            <a:spAutoFit/>
          </a:bodyPr>
          <a:lstStyle/>
          <a:p>
            <a:r>
              <a:rPr sz="750" b="0">
                <a:solidFill>
                  <a:srgbClr val="111111"/>
                </a:solidFill>
                <a:latin typeface="Calibri"/>
              </a:rPr>
              <a:t>The Housing Finance segment provides retail mortgage lending focused on affordable and mid-segment housing loans, generating NII (Net Interest Income) - another recurring, cycle-resistant income stream. The loan book growing 25% YoY to ₹6,630 crore and the distribution book growing 34% to ₹42,775 crore demonstrate healthy momentum. Urbanization, rising disposable incomes, and government affordable housing schemes are secular tailwinds. The housing finance unit adds balance sheet depth and geographic diversification to MOFSL's increasingly asset-light wealth management core - providing a secured income stream to complement the fee revenues from AMC and wealth management.</a:t>
            </a:r>
          </a:p>
        </p:txBody>
      </p:sp>
      <p:sp>
        <p:nvSpPr>
          <p:cNvPr id="103" name="Rectangle 102"/>
          <p:cNvSpPr/>
          <p:nvPr/>
        </p:nvSpPr>
        <p:spPr>
          <a:xfrm>
            <a:off x="6071616" y="5166360"/>
            <a:ext cx="5833872" cy="1234440"/>
          </a:xfrm>
          <a:prstGeom prst="rect">
            <a:avLst/>
          </a:prstGeom>
          <a:solidFill>
            <a:srgbClr val="FFFFFF"/>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163055" y="5257800"/>
            <a:ext cx="2743200" cy="182880"/>
          </a:xfrm>
          <a:prstGeom prst="rect">
            <a:avLst/>
          </a:prstGeom>
          <a:noFill/>
        </p:spPr>
        <p:txBody>
          <a:bodyPr wrap="square" lIns="36576" rIns="36576" tIns="9144" bIns="9144">
            <a:spAutoFit/>
          </a:bodyPr>
          <a:lstStyle/>
          <a:p>
            <a:r>
              <a:rPr sz="900" b="1">
                <a:solidFill>
                  <a:srgbClr val="1F4690"/>
                </a:solidFill>
                <a:latin typeface="Calibri"/>
              </a:rPr>
              <a:t>Alternative Investments</a:t>
            </a:r>
          </a:p>
        </p:txBody>
      </p:sp>
      <p:sp>
        <p:nvSpPr>
          <p:cNvPr id="105" name="Rounded Rectangle 104"/>
          <p:cNvSpPr/>
          <p:nvPr/>
        </p:nvSpPr>
        <p:spPr>
          <a:xfrm>
            <a:off x="9070848" y="5257800"/>
            <a:ext cx="2743200" cy="1828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070848" y="5276088"/>
            <a:ext cx="2743200" cy="164592"/>
          </a:xfrm>
          <a:prstGeom prst="rect">
            <a:avLst/>
          </a:prstGeom>
          <a:noFill/>
        </p:spPr>
        <p:txBody>
          <a:bodyPr wrap="square" lIns="36576" rIns="36576" tIns="9144" bIns="9144">
            <a:spAutoFit/>
          </a:bodyPr>
          <a:lstStyle/>
          <a:p>
            <a:pPr algn="ctr"/>
            <a:r>
              <a:rPr sz="650" b="1">
                <a:solidFill>
                  <a:srgbClr val="FFFFFF"/>
                </a:solidFill>
                <a:latin typeface="Calibri"/>
              </a:rPr>
              <a:t>Carry: ₹58 Cr p.a. | Private Credit | Growing Rapidly</a:t>
            </a:r>
          </a:p>
        </p:txBody>
      </p:sp>
      <p:sp>
        <p:nvSpPr>
          <p:cNvPr id="107" name="Rounded Rectangle 106"/>
          <p:cNvSpPr/>
          <p:nvPr/>
        </p:nvSpPr>
        <p:spPr>
          <a:xfrm>
            <a:off x="6163055" y="5532120"/>
            <a:ext cx="11430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163055" y="5545836"/>
            <a:ext cx="1143000" cy="137160"/>
          </a:xfrm>
          <a:prstGeom prst="rect">
            <a:avLst/>
          </a:prstGeom>
          <a:noFill/>
        </p:spPr>
        <p:txBody>
          <a:bodyPr wrap="square" lIns="36576" rIns="36576" tIns="9144" bIns="9144">
            <a:spAutoFit/>
          </a:bodyPr>
          <a:lstStyle/>
          <a:p>
            <a:pPr algn="ctr"/>
            <a:r>
              <a:rPr sz="600" b="1">
                <a:solidFill>
                  <a:srgbClr val="E37400"/>
                </a:solidFill>
                <a:latin typeface="Calibri"/>
              </a:rPr>
              <a:t>₹58 Cr Recurring Carry</a:t>
            </a:r>
          </a:p>
        </p:txBody>
      </p:sp>
      <p:sp>
        <p:nvSpPr>
          <p:cNvPr id="109" name="Rounded Rectangle 108"/>
          <p:cNvSpPr/>
          <p:nvPr/>
        </p:nvSpPr>
        <p:spPr>
          <a:xfrm>
            <a:off x="7379208" y="5532120"/>
            <a:ext cx="118872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7379208" y="5545836"/>
            <a:ext cx="1188720" cy="137160"/>
          </a:xfrm>
          <a:prstGeom prst="rect">
            <a:avLst/>
          </a:prstGeom>
          <a:noFill/>
        </p:spPr>
        <p:txBody>
          <a:bodyPr wrap="square" lIns="36576" rIns="36576" tIns="9144" bIns="9144">
            <a:spAutoFit/>
          </a:bodyPr>
          <a:lstStyle/>
          <a:p>
            <a:pPr algn="ctr"/>
            <a:r>
              <a:rPr sz="600" b="1">
                <a:solidFill>
                  <a:srgbClr val="E37400"/>
                </a:solidFill>
                <a:latin typeface="Calibri"/>
              </a:rPr>
              <a:t>New Private Credit Fund</a:t>
            </a:r>
          </a:p>
        </p:txBody>
      </p:sp>
      <p:sp>
        <p:nvSpPr>
          <p:cNvPr id="111" name="Rounded Rectangle 110"/>
          <p:cNvSpPr/>
          <p:nvPr/>
        </p:nvSpPr>
        <p:spPr>
          <a:xfrm>
            <a:off x="8641080" y="5532120"/>
            <a:ext cx="150876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641080" y="5545836"/>
            <a:ext cx="1508760" cy="137160"/>
          </a:xfrm>
          <a:prstGeom prst="rect">
            <a:avLst/>
          </a:prstGeom>
          <a:noFill/>
        </p:spPr>
        <p:txBody>
          <a:bodyPr wrap="square" lIns="36576" rIns="36576" tIns="9144" bIns="9144">
            <a:spAutoFit/>
          </a:bodyPr>
          <a:lstStyle/>
          <a:p>
            <a:pPr algn="ctr"/>
            <a:r>
              <a:rPr sz="600" b="1">
                <a:solidFill>
                  <a:srgbClr val="E37400"/>
                </a:solidFill>
                <a:latin typeface="Calibri"/>
              </a:rPr>
              <a:t>India Pvt Credit $9B (H1 2025)</a:t>
            </a:r>
          </a:p>
        </p:txBody>
      </p:sp>
      <p:sp>
        <p:nvSpPr>
          <p:cNvPr id="113" name="Rounded Rectangle 112"/>
          <p:cNvSpPr/>
          <p:nvPr/>
        </p:nvSpPr>
        <p:spPr>
          <a:xfrm>
            <a:off x="10222992" y="5532120"/>
            <a:ext cx="1143000" cy="164592"/>
          </a:xfrm>
          <a:prstGeom prst="roundRect">
            <a:avLst/>
          </a:prstGeom>
          <a:solidFill>
            <a:srgbClr val="FFFFFF"/>
          </a:solidFill>
          <a:ln w="8890">
            <a:solidFill>
              <a:srgbClr val="E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222992" y="5545836"/>
            <a:ext cx="1143000" cy="137160"/>
          </a:xfrm>
          <a:prstGeom prst="rect">
            <a:avLst/>
          </a:prstGeom>
          <a:noFill/>
        </p:spPr>
        <p:txBody>
          <a:bodyPr wrap="square" lIns="36576" rIns="36576" tIns="9144" bIns="9144">
            <a:spAutoFit/>
          </a:bodyPr>
          <a:lstStyle/>
          <a:p>
            <a:pPr algn="ctr"/>
            <a:r>
              <a:rPr sz="600" b="1">
                <a:solidFill>
                  <a:srgbClr val="E37400"/>
                </a:solidFill>
                <a:latin typeface="Calibri"/>
              </a:rPr>
              <a:t>+53% YoY Market Growth</a:t>
            </a:r>
          </a:p>
        </p:txBody>
      </p:sp>
      <p:sp>
        <p:nvSpPr>
          <p:cNvPr id="115" name="TextBox 114"/>
          <p:cNvSpPr txBox="1"/>
          <p:nvPr/>
        </p:nvSpPr>
        <p:spPr>
          <a:xfrm>
            <a:off x="6163055" y="5806440"/>
            <a:ext cx="5650992" cy="685800"/>
          </a:xfrm>
          <a:prstGeom prst="rect">
            <a:avLst/>
          </a:prstGeom>
          <a:noFill/>
        </p:spPr>
        <p:txBody>
          <a:bodyPr wrap="square" lIns="36576" rIns="36576" tIns="9144" bIns="9144">
            <a:spAutoFit/>
          </a:bodyPr>
          <a:lstStyle/>
          <a:p>
            <a:r>
              <a:rPr sz="750" b="0">
                <a:solidFill>
                  <a:srgbClr val="111111"/>
                </a:solidFill>
                <a:latin typeface="Calibri"/>
              </a:rPr>
              <a:t>The Alternatives segment (private credit, real estate, other alternative strategies) is MOFSL's fastest-growing and highest-margin business on a per-unit basis. India private credit investments hit a record US$9 billion in H1 2025 (+53% YoY jump), validating the market opportunity. The ₹58 crore recurring carry income represents a baseline that should grow significantly as the fund matures and new fund launches generate additional carry. This segment positions MOFSL as a full-spectrum investment platform - able to serve family offices and institutionals across liquid and illiquid asset classes.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5" name="TextBox 14"/>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6" name="TextBox 15"/>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5" name="TextBox 14"/>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6" name="TextBox 15"/>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 &amp;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 &amp; Corporate Governance</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6" name="Table 15"/>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5" name="TextBox 14"/>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6" name="Table 15"/>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 — Multi-Year Financial Model</a:t>
            </a:r>
          </a:p>
        </p:txBody>
      </p:sp>
      <p:sp>
        <p:nvSpPr>
          <p:cNvPr id="15" name="TextBox 14"/>
          <p:cNvSpPr txBox="1"/>
          <p:nvPr/>
        </p:nvSpPr>
        <p:spPr>
          <a:xfrm>
            <a:off x="292608" y="1143000"/>
            <a:ext cx="6400800" cy="182880"/>
          </a:xfrm>
          <a:prstGeom prst="rect">
            <a:avLst/>
          </a:prstGeom>
          <a:noFill/>
        </p:spPr>
        <p:txBody>
          <a:bodyPr wrap="square" lIns="36576" rIns="36576" tIns="9144" bIns="9144">
            <a:spAutoFit/>
          </a:bodyPr>
          <a:lstStyle/>
          <a:p>
            <a:r>
              <a:rPr sz="800" b="1">
                <a:solidFill>
                  <a:srgbClr val="1F4690"/>
                </a:solidFill>
                <a:latin typeface="Calibri"/>
              </a:rPr>
              <a:t>P&amp;L FORECAST MODEL (₹ CRORE)</a:t>
            </a:r>
          </a:p>
        </p:txBody>
      </p:sp>
      <p:sp>
        <p:nvSpPr>
          <p:cNvPr id="16" name="Rectangle 15"/>
          <p:cNvSpPr/>
          <p:nvPr/>
        </p:nvSpPr>
        <p:spPr>
          <a:xfrm>
            <a:off x="292608" y="1344168"/>
            <a:ext cx="64008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292608" y="1463040"/>
          <a:ext cx="6400800" cy="2926080"/>
        </p:xfrm>
        <a:graphic>
          <a:graphicData uri="http://schemas.openxmlformats.org/drawingml/2006/table">
            <a:tbl>
              <a:tblPr firstRow="1" bandRow="1">
                <a:tableStyleId>{5C22544A-7EE6-4342-B048-85BDC9FD1C3A}</a:tableStyleId>
              </a:tblPr>
              <a:tblGrid>
                <a:gridCol w="1792224"/>
                <a:gridCol w="658368"/>
                <a:gridCol w="658368"/>
                <a:gridCol w="658368"/>
                <a:gridCol w="658368"/>
                <a:gridCol w="658368"/>
                <a:gridCol w="658368"/>
                <a:gridCol w="658368"/>
              </a:tblGrid>
              <a:tr h="182880">
                <a:tc>
                  <a:txBody>
                    <a:bodyPr/>
                    <a:lstStyle/>
                    <a:p>
                      <a:pPr algn="l"/>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FY22A</a:t>
                      </a:r>
                    </a:p>
                  </a:txBody>
                  <a:tcPr anchor="ctr" marL="22860" marR="22860" marT="5486" marB="5486">
                    <a:solidFill>
                      <a:srgbClr val="1F4690"/>
                    </a:solidFill>
                  </a:tcPr>
                </a:tc>
                <a:tc>
                  <a:txBody>
                    <a:bodyPr/>
                    <a:lstStyle/>
                    <a:p>
                      <a:pPr algn="ctr"/>
                      <a:r>
                        <a:rPr sz="700" b="1">
                          <a:solidFill>
                            <a:srgbClr val="FFFFFF"/>
                          </a:solidFill>
                          <a:latin typeface="Calibri"/>
                        </a:rPr>
                        <a:t>FY23A</a:t>
                      </a:r>
                    </a:p>
                  </a:txBody>
                  <a:tcPr anchor="ctr" marL="22860" marR="22860" marT="5486" marB="5486">
                    <a:solidFill>
                      <a:srgbClr val="1F4690"/>
                    </a:solidFill>
                  </a:tcPr>
                </a:tc>
                <a:tc>
                  <a:txBody>
                    <a:bodyPr/>
                    <a:lstStyle/>
                    <a:p>
                      <a:pPr algn="ctr"/>
                      <a:r>
                        <a:rPr sz="700" b="1">
                          <a:solidFill>
                            <a:srgbClr val="FFFFFF"/>
                          </a:solidFill>
                          <a:latin typeface="Calibri"/>
                        </a:rPr>
                        <a:t>FY24A</a:t>
                      </a:r>
                    </a:p>
                  </a:txBody>
                  <a:tcPr anchor="ctr" marL="22860" marR="22860" marT="5486" marB="5486">
                    <a:solidFill>
                      <a:srgbClr val="1F4690"/>
                    </a:solidFill>
                  </a:tcPr>
                </a:tc>
                <a:tc>
                  <a:txBody>
                    <a:bodyPr/>
                    <a:lstStyle/>
                    <a:p>
                      <a:pPr algn="ctr"/>
                      <a:r>
                        <a:rPr sz="700" b="1">
                          <a:solidFill>
                            <a:srgbClr val="FFFFFF"/>
                          </a:solidFill>
                          <a:latin typeface="Calibri"/>
                        </a:rPr>
                        <a:t>FY25A</a:t>
                      </a:r>
                    </a:p>
                  </a:txBody>
                  <a:tcPr anchor="ctr" marL="22860" marR="22860" marT="5486" marB="5486">
                    <a:solidFill>
                      <a:srgbClr val="1F4690"/>
                    </a:solidFill>
                  </a:tcPr>
                </a:tc>
                <a:tc>
                  <a:txBody>
                    <a:bodyPr/>
                    <a:lstStyle/>
                    <a:p>
                      <a:pPr algn="ctr"/>
                      <a:r>
                        <a:rPr sz="700" b="1">
                          <a:solidFill>
                            <a:srgbClr val="FFFFFF"/>
                          </a:solidFill>
                          <a:latin typeface="Calibri"/>
                        </a:rPr>
                        <a:t>FY26E</a:t>
                      </a:r>
                    </a:p>
                  </a:txBody>
                  <a:tcPr anchor="ctr" marL="22860" marR="22860" marT="5486" marB="5486">
                    <a:solidFill>
                      <a:srgbClr val="1F4690"/>
                    </a:solidFill>
                  </a:tcPr>
                </a:tc>
                <a:tc>
                  <a:txBody>
                    <a:bodyPr/>
                    <a:lstStyle/>
                    <a:p>
                      <a:pPr algn="ctr"/>
                      <a:r>
                        <a:rPr sz="700" b="1">
                          <a:solidFill>
                            <a:srgbClr val="FFFFFF"/>
                          </a:solidFill>
                          <a:latin typeface="Calibri"/>
                        </a:rPr>
                        <a:t>FY27E</a:t>
                      </a:r>
                    </a:p>
                  </a:txBody>
                  <a:tcPr anchor="ctr" marL="22860" marR="22860" marT="5486" marB="5486">
                    <a:solidFill>
                      <a:srgbClr val="1F4690"/>
                    </a:solidFill>
                  </a:tcPr>
                </a:tc>
                <a:tc>
                  <a:txBody>
                    <a:bodyPr/>
                    <a:lstStyle/>
                    <a:p>
                      <a:pPr algn="ctr"/>
                      <a:r>
                        <a:rPr sz="700" b="1">
                          <a:solidFill>
                            <a:srgbClr val="FFFFFF"/>
                          </a:solidFill>
                          <a:latin typeface="Calibri"/>
                        </a:rPr>
                        <a:t>FY28E</a:t>
                      </a:r>
                    </a:p>
                  </a:txBody>
                  <a:tcPr anchor="ctr" marL="22860" marR="22860" marT="5486" marB="5486">
                    <a:solidFill>
                      <a:srgbClr val="1F4690"/>
                    </a:solidFill>
                  </a:tcPr>
                </a:tc>
              </a:tr>
              <a:tr h="182880">
                <a:tc>
                  <a:txBody>
                    <a:bodyPr/>
                    <a:lstStyle/>
                    <a:p>
                      <a:r>
                        <a:rPr sz="700" b="1">
                          <a:solidFill>
                            <a:srgbClr val="1F4690"/>
                          </a:solidFill>
                          <a:latin typeface="Calibri"/>
                        </a:rPr>
                        <a:t>Revenue &amp; Profitability</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182880">
                <a:tc>
                  <a:txBody>
                    <a:bodyPr/>
                    <a:lstStyle/>
                    <a:p>
                      <a:r>
                        <a:rPr sz="700" b="0">
                          <a:solidFill>
                            <a:srgbClr val="111111"/>
                          </a:solidFill>
                          <a:latin typeface="Calibri"/>
                        </a:rPr>
                        <a:t>Net Revenue (Cr)</a:t>
                      </a:r>
                    </a:p>
                  </a:txBody>
                  <a:tcPr anchor="ctr" marL="22860" marR="22860" marT="5486" marB="5486">
                    <a:solidFill>
                      <a:srgbClr val="FFFFFF"/>
                    </a:solidFill>
                  </a:tcPr>
                </a:tc>
                <a:tc>
                  <a:txBody>
                    <a:bodyPr/>
                    <a:lstStyle/>
                    <a:p>
                      <a:pPr algn="ctr"/>
                      <a:r>
                        <a:rPr sz="700" b="0">
                          <a:solidFill>
                            <a:srgbClr val="111111"/>
                          </a:solidFill>
                          <a:latin typeface="Calibri"/>
                        </a:rPr>
                        <a:t>4,298</a:t>
                      </a:r>
                    </a:p>
                  </a:txBody>
                  <a:tcPr anchor="ctr" marL="22860" marR="22860" marT="5486" marB="5486">
                    <a:solidFill>
                      <a:srgbClr val="FFFFFF"/>
                    </a:solidFill>
                  </a:tcPr>
                </a:tc>
                <a:tc>
                  <a:txBody>
                    <a:bodyPr/>
                    <a:lstStyle/>
                    <a:p>
                      <a:pPr algn="ctr"/>
                      <a:r>
                        <a:rPr sz="700" b="0">
                          <a:solidFill>
                            <a:srgbClr val="111111"/>
                          </a:solidFill>
                          <a:latin typeface="Calibri"/>
                        </a:rPr>
                        <a:t>4,178</a:t>
                      </a:r>
                    </a:p>
                  </a:txBody>
                  <a:tcPr anchor="ctr" marL="22860" marR="22860" marT="5486" marB="5486">
                    <a:solidFill>
                      <a:srgbClr val="FFFFFF"/>
                    </a:solidFill>
                  </a:tcPr>
                </a:tc>
                <a:tc>
                  <a:txBody>
                    <a:bodyPr/>
                    <a:lstStyle/>
                    <a:p>
                      <a:pPr algn="ctr"/>
                      <a:r>
                        <a:rPr sz="700" b="0">
                          <a:solidFill>
                            <a:srgbClr val="111111"/>
                          </a:solidFill>
                          <a:latin typeface="Calibri"/>
                        </a:rPr>
                        <a:t>7,106</a:t>
                      </a:r>
                    </a:p>
                  </a:txBody>
                  <a:tcPr anchor="ctr" marL="22860" marR="22860" marT="5486" marB="5486">
                    <a:solidFill>
                      <a:srgbClr val="FFFFFF"/>
                    </a:solidFill>
                  </a:tcPr>
                </a:tc>
                <a:tc>
                  <a:txBody>
                    <a:bodyPr/>
                    <a:lstStyle/>
                    <a:p>
                      <a:pPr algn="ctr"/>
                      <a:r>
                        <a:rPr sz="700" b="0">
                          <a:solidFill>
                            <a:srgbClr val="111111"/>
                          </a:solidFill>
                          <a:latin typeface="Calibri"/>
                        </a:rPr>
                        <a:t>8,340</a:t>
                      </a:r>
                    </a:p>
                  </a:txBody>
                  <a:tcPr anchor="ctr" marL="22860" marR="22860" marT="5486" marB="5486">
                    <a:solidFill>
                      <a:srgbClr val="FFFFFF"/>
                    </a:solidFill>
                  </a:tcPr>
                </a:tc>
                <a:tc>
                  <a:txBody>
                    <a:bodyPr/>
                    <a:lstStyle/>
                    <a:p>
                      <a:pPr algn="ctr"/>
                      <a:r>
                        <a:rPr sz="700" b="1">
                          <a:solidFill>
                            <a:srgbClr val="1F4690"/>
                          </a:solidFill>
                          <a:latin typeface="Calibri"/>
                        </a:rPr>
                        <a:t>10,402</a:t>
                      </a:r>
                    </a:p>
                  </a:txBody>
                  <a:tcPr anchor="ctr" marL="22860" marR="22860" marT="5486" marB="5486">
                    <a:solidFill>
                      <a:srgbClr val="FFFFFF"/>
                    </a:solidFill>
                  </a:tcPr>
                </a:tc>
                <a:tc>
                  <a:txBody>
                    <a:bodyPr/>
                    <a:lstStyle/>
                    <a:p>
                      <a:pPr algn="ctr"/>
                      <a:r>
                        <a:rPr sz="700" b="1">
                          <a:solidFill>
                            <a:srgbClr val="1F4690"/>
                          </a:solidFill>
                          <a:latin typeface="Calibri"/>
                        </a:rPr>
                        <a:t>12,973</a:t>
                      </a:r>
                    </a:p>
                  </a:txBody>
                  <a:tcPr anchor="ctr" marL="22860" marR="22860" marT="5486" marB="5486">
                    <a:solidFill>
                      <a:srgbClr val="FFFFFF"/>
                    </a:solidFill>
                  </a:tcPr>
                </a:tc>
                <a:tc>
                  <a:txBody>
                    <a:bodyPr/>
                    <a:lstStyle/>
                    <a:p>
                      <a:pPr algn="ctr"/>
                      <a:r>
                        <a:rPr sz="700" b="1">
                          <a:solidFill>
                            <a:srgbClr val="1F4690"/>
                          </a:solidFill>
                          <a:latin typeface="Calibri"/>
                        </a:rPr>
                        <a:t>16,181</a:t>
                      </a:r>
                    </a:p>
                  </a:txBody>
                  <a:tcPr anchor="ctr" marL="22860" marR="22860" marT="5486" marB="5486">
                    <a:solidFill>
                      <a:srgbClr val="FFFFFF"/>
                    </a:solidFill>
                  </a:tcPr>
                </a:tc>
              </a:tr>
              <a:tr h="182880">
                <a:tc>
                  <a:txBody>
                    <a:bodyPr/>
                    <a:lstStyle/>
                    <a:p>
                      <a:r>
                        <a:rPr sz="700" b="0">
                          <a:solidFill>
                            <a:srgbClr val="111111"/>
                          </a:solidFill>
                          <a:latin typeface="Calibri"/>
                        </a:rPr>
                        <a:t>Revenue Growth</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182880">
                <a:tc>
                  <a:txBody>
                    <a:bodyPr/>
                    <a:lstStyle/>
                    <a:p>
                      <a:r>
                        <a:rPr sz="700" b="0">
                          <a:solidFill>
                            <a:srgbClr val="111111"/>
                          </a:solidFill>
                          <a:latin typeface="Calibri"/>
                        </a:rPr>
                        <a:t>EBITDA (Cr)</a:t>
                      </a:r>
                    </a:p>
                  </a:txBody>
                  <a:tcPr anchor="ctr" marL="22860" marR="22860" marT="5486" marB="5486">
                    <a:solidFill>
                      <a:srgbClr val="FFFFFF"/>
                    </a:solidFill>
                  </a:tcPr>
                </a:tc>
                <a:tc>
                  <a:txBody>
                    <a:bodyPr/>
                    <a:lstStyle/>
                    <a:p>
                      <a:pPr algn="ctr"/>
                      <a:r>
                        <a:rPr sz="700" b="0">
                          <a:solidFill>
                            <a:srgbClr val="111111"/>
                          </a:solidFill>
                          <a:latin typeface="Calibri"/>
                        </a:rPr>
                        <a:t>2,120</a:t>
                      </a:r>
                    </a:p>
                  </a:txBody>
                  <a:tcPr anchor="ctr" marL="22860" marR="22860" marT="5486" marB="5486">
                    <a:solidFill>
                      <a:srgbClr val="FFFFFF"/>
                    </a:solidFill>
                  </a:tcPr>
                </a:tc>
                <a:tc>
                  <a:txBody>
                    <a:bodyPr/>
                    <a:lstStyle/>
                    <a:p>
                      <a:pPr algn="ctr"/>
                      <a:r>
                        <a:rPr sz="700" b="0">
                          <a:solidFill>
                            <a:srgbClr val="111111"/>
                          </a:solidFill>
                          <a:latin typeface="Calibri"/>
                        </a:rPr>
                        <a:t>1,877</a:t>
                      </a:r>
                    </a:p>
                  </a:txBody>
                  <a:tcPr anchor="ctr" marL="22860" marR="22860" marT="5486" marB="5486">
                    <a:solidFill>
                      <a:srgbClr val="FFFFFF"/>
                    </a:solidFill>
                  </a:tcPr>
                </a:tc>
                <a:tc>
                  <a:txBody>
                    <a:bodyPr/>
                    <a:lstStyle/>
                    <a:p>
                      <a:pPr algn="ctr"/>
                      <a:r>
                        <a:rPr sz="700" b="0">
                          <a:solidFill>
                            <a:srgbClr val="111111"/>
                          </a:solidFill>
                          <a:latin typeface="Calibri"/>
                        </a:rPr>
                        <a:t>4,082</a:t>
                      </a:r>
                    </a:p>
                  </a:txBody>
                  <a:tcPr anchor="ctr" marL="22860" marR="22860" marT="5486" marB="5486">
                    <a:solidFill>
                      <a:srgbClr val="FFFFFF"/>
                    </a:solidFill>
                  </a:tcPr>
                </a:tc>
                <a:tc>
                  <a:txBody>
                    <a:bodyPr/>
                    <a:lstStyle/>
                    <a:p>
                      <a:pPr algn="ctr"/>
                      <a:r>
                        <a:rPr sz="700" b="0">
                          <a:solidFill>
                            <a:srgbClr val="111111"/>
                          </a:solidFill>
                          <a:latin typeface="Calibri"/>
                        </a:rPr>
                        <a:t>4,546</a:t>
                      </a:r>
                    </a:p>
                  </a:txBody>
                  <a:tcPr anchor="ctr" marL="22860" marR="22860" marT="5486" marB="5486">
                    <a:solidFill>
                      <a:srgbClr val="FFFFFF"/>
                    </a:solidFill>
                  </a:tcPr>
                </a:tc>
                <a:tc>
                  <a:txBody>
                    <a:bodyPr/>
                    <a:lstStyle/>
                    <a:p>
                      <a:pPr algn="ctr"/>
                      <a:r>
                        <a:rPr sz="700" b="1">
                          <a:solidFill>
                            <a:srgbClr val="1F4690"/>
                          </a:solidFill>
                          <a:latin typeface="Calibri"/>
                        </a:rPr>
                        <a:t>5,439</a:t>
                      </a:r>
                    </a:p>
                  </a:txBody>
                  <a:tcPr anchor="ctr" marL="22860" marR="22860" marT="5486" marB="5486">
                    <a:solidFill>
                      <a:srgbClr val="FFFFFF"/>
                    </a:solidFill>
                  </a:tcPr>
                </a:tc>
                <a:tc>
                  <a:txBody>
                    <a:bodyPr/>
                    <a:lstStyle/>
                    <a:p>
                      <a:pPr algn="ctr"/>
                      <a:r>
                        <a:rPr sz="700" b="1">
                          <a:solidFill>
                            <a:srgbClr val="1F4690"/>
                          </a:solidFill>
                          <a:latin typeface="Calibri"/>
                        </a:rPr>
                        <a:t>6,784</a:t>
                      </a:r>
                    </a:p>
                  </a:txBody>
                  <a:tcPr anchor="ctr" marL="22860" marR="22860" marT="5486" marB="5486">
                    <a:solidFill>
                      <a:srgbClr val="FFFFFF"/>
                    </a:solidFill>
                  </a:tcPr>
                </a:tc>
                <a:tc>
                  <a:txBody>
                    <a:bodyPr/>
                    <a:lstStyle/>
                    <a:p>
                      <a:pPr algn="ctr"/>
                      <a:r>
                        <a:rPr sz="700" b="1">
                          <a:solidFill>
                            <a:srgbClr val="1F4690"/>
                          </a:solidFill>
                          <a:latin typeface="Calibri"/>
                        </a:rPr>
                        <a:t>8,462</a:t>
                      </a:r>
                    </a:p>
                  </a:txBody>
                  <a:tcPr anchor="ctr" marL="22860" marR="22860" marT="5486" marB="5486">
                    <a:solidFill>
                      <a:srgbClr val="FFFFFF"/>
                    </a:solidFill>
                  </a:tcPr>
                </a:tc>
              </a:tr>
              <a:tr h="182880">
                <a:tc>
                  <a:txBody>
                    <a:bodyPr/>
                    <a:lstStyle/>
                    <a:p>
                      <a:r>
                        <a:rPr sz="700" b="0">
                          <a:solidFill>
                            <a:srgbClr val="111111"/>
                          </a:solidFill>
                          <a:latin typeface="Calibri"/>
                        </a:rPr>
                        <a:t>EBITDA Margin</a:t>
                      </a:r>
                    </a:p>
                  </a:txBody>
                  <a:tcPr anchor="ctr" marL="22860" marR="22860" marT="5486" marB="5486">
                    <a:solidFill>
                      <a:srgbClr val="F4F6F9"/>
                    </a:solidFill>
                  </a:tcPr>
                </a:tc>
                <a:tc>
                  <a:txBody>
                    <a:bodyPr/>
                    <a:lstStyle/>
                    <a:p>
                      <a:pPr algn="ctr"/>
                      <a:r>
                        <a:rPr sz="700" b="0">
                          <a:solidFill>
                            <a:srgbClr val="111111"/>
                          </a:solidFill>
                          <a:latin typeface="Calibri"/>
                        </a:rPr>
                        <a:t>49.3%</a:t>
                      </a:r>
                    </a:p>
                  </a:txBody>
                  <a:tcPr anchor="ctr" marL="22860" marR="22860" marT="5486" marB="5486">
                    <a:solidFill>
                      <a:srgbClr val="F4F6F9"/>
                    </a:solidFill>
                  </a:tcPr>
                </a:tc>
                <a:tc>
                  <a:txBody>
                    <a:bodyPr/>
                    <a:lstStyle/>
                    <a:p>
                      <a:pPr algn="ctr"/>
                      <a:r>
                        <a:rPr sz="700" b="0">
                          <a:solidFill>
                            <a:srgbClr val="111111"/>
                          </a:solidFill>
                          <a:latin typeface="Calibri"/>
                        </a:rPr>
                        <a:t>44.9%</a:t>
                      </a:r>
                    </a:p>
                  </a:txBody>
                  <a:tcPr anchor="ctr" marL="22860" marR="22860" marT="5486" marB="5486">
                    <a:solidFill>
                      <a:srgbClr val="F4F6F9"/>
                    </a:solidFill>
                  </a:tcPr>
                </a:tc>
                <a:tc>
                  <a:txBody>
                    <a:bodyPr/>
                    <a:lstStyle/>
                    <a:p>
                      <a:pPr algn="ctr"/>
                      <a:r>
                        <a:rPr sz="700" b="0">
                          <a:solidFill>
                            <a:srgbClr val="111111"/>
                          </a:solidFill>
                          <a:latin typeface="Calibri"/>
                        </a:rPr>
                        <a:t>57.4%</a:t>
                      </a:r>
                    </a:p>
                  </a:txBody>
                  <a:tcPr anchor="ctr" marL="22860" marR="22860" marT="5486" marB="5486">
                    <a:solidFill>
                      <a:srgbClr val="F4F6F9"/>
                    </a:solidFill>
                  </a:tcPr>
                </a:tc>
                <a:tc>
                  <a:txBody>
                    <a:bodyPr/>
                    <a:lstStyle/>
                    <a:p>
                      <a:pPr algn="ctr"/>
                      <a:r>
                        <a:rPr sz="700" b="0">
                          <a:solidFill>
                            <a:srgbClr val="111111"/>
                          </a:solidFill>
                          <a:latin typeface="Calibri"/>
                        </a:rPr>
                        <a:t>54.5%</a:t>
                      </a:r>
                    </a:p>
                  </a:txBody>
                  <a:tcPr anchor="ctr" marL="22860" marR="22860" marT="5486" marB="5486">
                    <a:solidFill>
                      <a:srgbClr val="F4F6F9"/>
                    </a:solidFill>
                  </a:tcPr>
                </a:tc>
                <a:tc>
                  <a:txBody>
                    <a:bodyPr/>
                    <a:lstStyle/>
                    <a:p>
                      <a:pPr algn="ctr"/>
                      <a:r>
                        <a:rPr sz="700" b="1">
                          <a:solidFill>
                            <a:srgbClr val="1F4690"/>
                          </a:solidFill>
                          <a:latin typeface="Calibri"/>
                        </a:rPr>
                        <a:t>52.3%</a:t>
                      </a:r>
                    </a:p>
                  </a:txBody>
                  <a:tcPr anchor="ctr" marL="22860" marR="22860" marT="5486" marB="5486">
                    <a:solidFill>
                      <a:srgbClr val="F4F6F9"/>
                    </a:solidFill>
                  </a:tcPr>
                </a:tc>
                <a:tc>
                  <a:txBody>
                    <a:bodyPr/>
                    <a:lstStyle/>
                    <a:p>
                      <a:pPr algn="ctr"/>
                      <a:r>
                        <a:rPr sz="700" b="1">
                          <a:solidFill>
                            <a:srgbClr val="1F4690"/>
                          </a:solidFill>
                          <a:latin typeface="Calibri"/>
                        </a:rPr>
                        <a:t>52.3%</a:t>
                      </a:r>
                    </a:p>
                  </a:txBody>
                  <a:tcPr anchor="ctr" marL="22860" marR="22860" marT="5486" marB="5486">
                    <a:solidFill>
                      <a:srgbClr val="F4F6F9"/>
                    </a:solidFill>
                  </a:tcPr>
                </a:tc>
                <a:tc>
                  <a:txBody>
                    <a:bodyPr/>
                    <a:lstStyle/>
                    <a:p>
                      <a:pPr algn="ctr"/>
                      <a:r>
                        <a:rPr sz="700" b="1">
                          <a:solidFill>
                            <a:srgbClr val="1F4690"/>
                          </a:solidFill>
                          <a:latin typeface="Calibri"/>
                        </a:rPr>
                        <a:t>52.3%</a:t>
                      </a:r>
                    </a:p>
                  </a:txBody>
                  <a:tcPr anchor="ctr" marL="22860" marR="22860" marT="5486" marB="5486">
                    <a:solidFill>
                      <a:srgbClr val="F4F6F9"/>
                    </a:solidFill>
                  </a:tcPr>
                </a:tc>
              </a:tr>
              <a:tr h="182880">
                <a:tc>
                  <a:txBody>
                    <a:bodyPr/>
                    <a:lstStyle/>
                    <a:p>
                      <a:r>
                        <a:rPr sz="700" b="1">
                          <a:solidFill>
                            <a:srgbClr val="1A7A4A"/>
                          </a:solidFill>
                          <a:latin typeface="Calibri"/>
                        </a:rPr>
                        <a:t>PAT (Cr)</a:t>
                      </a:r>
                    </a:p>
                  </a:txBody>
                  <a:tcPr anchor="ctr" marL="22860" marR="22860" marT="5486" marB="5486">
                    <a:solidFill>
                      <a:srgbClr val="FFFFFF"/>
                    </a:solidFill>
                  </a:tcPr>
                </a:tc>
                <a:tc>
                  <a:txBody>
                    <a:bodyPr/>
                    <a:lstStyle/>
                    <a:p>
                      <a:pPr algn="ctr"/>
                      <a:r>
                        <a:rPr sz="700" b="1">
                          <a:solidFill>
                            <a:srgbClr val="111111"/>
                          </a:solidFill>
                          <a:latin typeface="Calibri"/>
                        </a:rPr>
                        <a:t>1,310</a:t>
                      </a:r>
                    </a:p>
                  </a:txBody>
                  <a:tcPr anchor="ctr" marL="22860" marR="22860" marT="5486" marB="5486">
                    <a:solidFill>
                      <a:srgbClr val="FFFFFF"/>
                    </a:solidFill>
                  </a:tcPr>
                </a:tc>
                <a:tc>
                  <a:txBody>
                    <a:bodyPr/>
                    <a:lstStyle/>
                    <a:p>
                      <a:pPr algn="ctr"/>
                      <a:r>
                        <a:rPr sz="700" b="1">
                          <a:solidFill>
                            <a:srgbClr val="111111"/>
                          </a:solidFill>
                          <a:latin typeface="Calibri"/>
                        </a:rPr>
                        <a:t>932</a:t>
                      </a:r>
                    </a:p>
                  </a:txBody>
                  <a:tcPr anchor="ctr" marL="22860" marR="22860" marT="5486" marB="5486">
                    <a:solidFill>
                      <a:srgbClr val="FFFFFF"/>
                    </a:solidFill>
                  </a:tcPr>
                </a:tc>
                <a:tc>
                  <a:txBody>
                    <a:bodyPr/>
                    <a:lstStyle/>
                    <a:p>
                      <a:pPr algn="ctr"/>
                      <a:r>
                        <a:rPr sz="700" b="1">
                          <a:solidFill>
                            <a:srgbClr val="111111"/>
                          </a:solidFill>
                          <a:latin typeface="Calibri"/>
                        </a:rPr>
                        <a:t>2,441</a:t>
                      </a:r>
                    </a:p>
                  </a:txBody>
                  <a:tcPr anchor="ctr" marL="22860" marR="22860" marT="5486" marB="5486">
                    <a:solidFill>
                      <a:srgbClr val="FFFFFF"/>
                    </a:solidFill>
                  </a:tcPr>
                </a:tc>
                <a:tc>
                  <a:txBody>
                    <a:bodyPr/>
                    <a:lstStyle/>
                    <a:p>
                      <a:pPr algn="ctr"/>
                      <a:r>
                        <a:rPr sz="700" b="1">
                          <a:solidFill>
                            <a:srgbClr val="111111"/>
                          </a:solidFill>
                          <a:latin typeface="Calibri"/>
                        </a:rPr>
                        <a:t>2,502</a:t>
                      </a:r>
                    </a:p>
                  </a:txBody>
                  <a:tcPr anchor="ctr" marL="22860" marR="22860" marT="5486" marB="5486">
                    <a:solidFill>
                      <a:srgbClr val="FFFFFF"/>
                    </a:solidFill>
                  </a:tcPr>
                </a:tc>
                <a:tc>
                  <a:txBody>
                    <a:bodyPr/>
                    <a:lstStyle/>
                    <a:p>
                      <a:pPr algn="ctr"/>
                      <a:r>
                        <a:rPr sz="700" b="1">
                          <a:solidFill>
                            <a:srgbClr val="1A7A4A"/>
                          </a:solidFill>
                          <a:latin typeface="Calibri"/>
                        </a:rPr>
                        <a:t>3,066</a:t>
                      </a:r>
                    </a:p>
                  </a:txBody>
                  <a:tcPr anchor="ctr" marL="22860" marR="22860" marT="5486" marB="5486">
                    <a:solidFill>
                      <a:srgbClr val="FFFFFF"/>
                    </a:solidFill>
                  </a:tcPr>
                </a:tc>
                <a:tc>
                  <a:txBody>
                    <a:bodyPr/>
                    <a:lstStyle/>
                    <a:p>
                      <a:pPr algn="ctr"/>
                      <a:r>
                        <a:rPr sz="700" b="1">
                          <a:solidFill>
                            <a:srgbClr val="1A7A4A"/>
                          </a:solidFill>
                          <a:latin typeface="Calibri"/>
                        </a:rPr>
                        <a:t>3,983</a:t>
                      </a:r>
                    </a:p>
                  </a:txBody>
                  <a:tcPr anchor="ctr" marL="22860" marR="22860" marT="5486" marB="5486">
                    <a:solidFill>
                      <a:srgbClr val="FFFFFF"/>
                    </a:solidFill>
                  </a:tcPr>
                </a:tc>
                <a:tc>
                  <a:txBody>
                    <a:bodyPr/>
                    <a:lstStyle/>
                    <a:p>
                      <a:pPr algn="ctr"/>
                      <a:r>
                        <a:rPr sz="700" b="1">
                          <a:solidFill>
                            <a:srgbClr val="1A7A4A"/>
                          </a:solidFill>
                          <a:latin typeface="Calibri"/>
                        </a:rPr>
                        <a:t>5,128</a:t>
                      </a:r>
                    </a:p>
                  </a:txBody>
                  <a:tcPr anchor="ctr" marL="22860" marR="22860" marT="5486" marB="5486">
                    <a:solidFill>
                      <a:srgbClr val="FFFFFF"/>
                    </a:solidFill>
                  </a:tcPr>
                </a:tc>
              </a:tr>
              <a:tr h="182880">
                <a:tc>
                  <a:txBody>
                    <a:bodyPr/>
                    <a:lstStyle/>
                    <a:p>
                      <a:r>
                        <a:rPr sz="700" b="0">
                          <a:solidFill>
                            <a:srgbClr val="111111"/>
                          </a:solidFill>
                          <a:latin typeface="Calibri"/>
                        </a:rPr>
                        <a:t>PAT Margin</a:t>
                      </a:r>
                    </a:p>
                  </a:txBody>
                  <a:tcPr anchor="ctr" marL="22860" marR="22860" marT="5486" marB="5486">
                    <a:solidFill>
                      <a:srgbClr val="F4F6F9"/>
                    </a:solidFill>
                  </a:tcPr>
                </a:tc>
                <a:tc>
                  <a:txBody>
                    <a:bodyPr/>
                    <a:lstStyle/>
                    <a:p>
                      <a:pPr algn="ctr"/>
                      <a:r>
                        <a:rPr sz="700" b="0">
                          <a:solidFill>
                            <a:srgbClr val="111111"/>
                          </a:solidFill>
                          <a:latin typeface="Calibri"/>
                        </a:rPr>
                        <a:t>30.5%</a:t>
                      </a:r>
                    </a:p>
                  </a:txBody>
                  <a:tcPr anchor="ctr" marL="22860" marR="22860" marT="5486" marB="5486">
                    <a:solidFill>
                      <a:srgbClr val="F4F6F9"/>
                    </a:solidFill>
                  </a:tcPr>
                </a:tc>
                <a:tc>
                  <a:txBody>
                    <a:bodyPr/>
                    <a:lstStyle/>
                    <a:p>
                      <a:pPr algn="ctr"/>
                      <a:r>
                        <a:rPr sz="700" b="0">
                          <a:solidFill>
                            <a:srgbClr val="111111"/>
                          </a:solidFill>
                          <a:latin typeface="Calibri"/>
                        </a:rPr>
                        <a:t>22.3%</a:t>
                      </a:r>
                    </a:p>
                  </a:txBody>
                  <a:tcPr anchor="ctr" marL="22860" marR="22860" marT="5486" marB="5486">
                    <a:solidFill>
                      <a:srgbClr val="F4F6F9"/>
                    </a:solidFill>
                  </a:tcPr>
                </a:tc>
                <a:tc>
                  <a:txBody>
                    <a:bodyPr/>
                    <a:lstStyle/>
                    <a:p>
                      <a:pPr algn="ctr"/>
                      <a:r>
                        <a:rPr sz="700" b="0">
                          <a:solidFill>
                            <a:srgbClr val="111111"/>
                          </a:solidFill>
                          <a:latin typeface="Calibri"/>
                        </a:rPr>
                        <a:t>34.4%</a:t>
                      </a:r>
                    </a:p>
                  </a:txBody>
                  <a:tcPr anchor="ctr" marL="22860" marR="22860" marT="5486" marB="5486">
                    <a:solidFill>
                      <a:srgbClr val="F4F6F9"/>
                    </a:solidFill>
                  </a:tcPr>
                </a:tc>
                <a:tc>
                  <a:txBody>
                    <a:bodyPr/>
                    <a:lstStyle/>
                    <a:p>
                      <a:pPr algn="ctr"/>
                      <a:r>
                        <a:rPr sz="700" b="0">
                          <a:solidFill>
                            <a:srgbClr val="111111"/>
                          </a:solidFill>
                          <a:latin typeface="Calibri"/>
                        </a:rPr>
                        <a:t>30.0%</a:t>
                      </a:r>
                    </a:p>
                  </a:txBody>
                  <a:tcPr anchor="ctr" marL="22860" marR="22860" marT="5486" marB="5486">
                    <a:solidFill>
                      <a:srgbClr val="F4F6F9"/>
                    </a:solidFill>
                  </a:tcPr>
                </a:tc>
                <a:tc>
                  <a:txBody>
                    <a:bodyPr/>
                    <a:lstStyle/>
                    <a:p>
                      <a:pPr algn="ctr"/>
                      <a:r>
                        <a:rPr sz="700" b="1">
                          <a:solidFill>
                            <a:srgbClr val="1F4690"/>
                          </a:solidFill>
                          <a:latin typeface="Calibri"/>
                        </a:rPr>
                        <a:t>29.5%</a:t>
                      </a:r>
                    </a:p>
                  </a:txBody>
                  <a:tcPr anchor="ctr" marL="22860" marR="22860" marT="5486" marB="5486">
                    <a:solidFill>
                      <a:srgbClr val="F4F6F9"/>
                    </a:solidFill>
                  </a:tcPr>
                </a:tc>
                <a:tc>
                  <a:txBody>
                    <a:bodyPr/>
                    <a:lstStyle/>
                    <a:p>
                      <a:pPr algn="ctr"/>
                      <a:r>
                        <a:rPr sz="700" b="1">
                          <a:solidFill>
                            <a:srgbClr val="1F4690"/>
                          </a:solidFill>
                          <a:latin typeface="Calibri"/>
                        </a:rPr>
                        <a:t>30.7%</a:t>
                      </a:r>
                    </a:p>
                  </a:txBody>
                  <a:tcPr anchor="ctr" marL="22860" marR="22860" marT="5486" marB="5486">
                    <a:solidFill>
                      <a:srgbClr val="F4F6F9"/>
                    </a:solidFill>
                  </a:tcPr>
                </a:tc>
                <a:tc>
                  <a:txBody>
                    <a:bodyPr/>
                    <a:lstStyle/>
                    <a:p>
                      <a:pPr algn="ctr"/>
                      <a:r>
                        <a:rPr sz="700" b="1">
                          <a:solidFill>
                            <a:srgbClr val="1F4690"/>
                          </a:solidFill>
                          <a:latin typeface="Calibri"/>
                        </a:rPr>
                        <a:t>31.7%</a:t>
                      </a:r>
                    </a:p>
                  </a:txBody>
                  <a:tcPr anchor="ctr" marL="22860" marR="22860" marT="5486" marB="5486">
                    <a:solidFill>
                      <a:srgbClr val="F4F6F9"/>
                    </a:solidFill>
                  </a:tcPr>
                </a:tc>
              </a:tr>
              <a:tr h="182880">
                <a:tc>
                  <a:txBody>
                    <a:bodyPr/>
                    <a:lstStyle/>
                    <a:p>
                      <a:r>
                        <a:rPr sz="700" b="1">
                          <a:solidFill>
                            <a:srgbClr val="1F4690"/>
                          </a:solidFill>
                          <a:latin typeface="Calibri"/>
                        </a:rPr>
                        <a:t>Per Share Data</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182880">
                <a:tc>
                  <a:txBody>
                    <a:bodyPr/>
                    <a:lstStyle/>
                    <a:p>
                      <a:r>
                        <a:rPr sz="700" b="1">
                          <a:solidFill>
                            <a:srgbClr val="111111"/>
                          </a:solidFill>
                          <a:latin typeface="Calibri"/>
                        </a:rPr>
                        <a:t>EPS (₹)</a:t>
                      </a:r>
                    </a:p>
                  </a:txBody>
                  <a:tcPr anchor="ctr" marL="22860" marR="22860" marT="5486" marB="5486">
                    <a:solidFill>
                      <a:srgbClr val="F4F6F9"/>
                    </a:solidFill>
                  </a:tcPr>
                </a:tc>
                <a:tc>
                  <a:txBody>
                    <a:bodyPr/>
                    <a:lstStyle/>
                    <a:p>
                      <a:pPr algn="ctr"/>
                      <a:r>
                        <a:rPr sz="700" b="1">
                          <a:solidFill>
                            <a:srgbClr val="111111"/>
                          </a:solidFill>
                          <a:latin typeface="Calibri"/>
                        </a:rPr>
                        <a:t>22.0</a:t>
                      </a:r>
                    </a:p>
                  </a:txBody>
                  <a:tcPr anchor="ctr" marL="22860" marR="22860" marT="5486" marB="5486">
                    <a:solidFill>
                      <a:srgbClr val="F4F6F9"/>
                    </a:solidFill>
                  </a:tcPr>
                </a:tc>
                <a:tc>
                  <a:txBody>
                    <a:bodyPr/>
                    <a:lstStyle/>
                    <a:p>
                      <a:pPr algn="ctr"/>
                      <a:r>
                        <a:rPr sz="700" b="1">
                          <a:solidFill>
                            <a:srgbClr val="111111"/>
                          </a:solidFill>
                          <a:latin typeface="Calibri"/>
                        </a:rPr>
                        <a:t>15.7</a:t>
                      </a:r>
                    </a:p>
                  </a:txBody>
                  <a:tcPr anchor="ctr" marL="22860" marR="22860" marT="5486" marB="5486">
                    <a:solidFill>
                      <a:srgbClr val="F4F6F9"/>
                    </a:solidFill>
                  </a:tcPr>
                </a:tc>
                <a:tc>
                  <a:txBody>
                    <a:bodyPr/>
                    <a:lstStyle/>
                    <a:p>
                      <a:pPr algn="ctr"/>
                      <a:r>
                        <a:rPr sz="700" b="1">
                          <a:solidFill>
                            <a:srgbClr val="111111"/>
                          </a:solidFill>
                          <a:latin typeface="Calibri"/>
                        </a:rPr>
                        <a:t>41.0</a:t>
                      </a:r>
                    </a:p>
                  </a:txBody>
                  <a:tcPr anchor="ctr" marL="22860" marR="22860" marT="5486" marB="5486">
                    <a:solidFill>
                      <a:srgbClr val="F4F6F9"/>
                    </a:solidFill>
                  </a:tcPr>
                </a:tc>
                <a:tc>
                  <a:txBody>
                    <a:bodyPr/>
                    <a:lstStyle/>
                    <a:p>
                      <a:pPr algn="ctr"/>
                      <a:r>
                        <a:rPr sz="700" b="1">
                          <a:solidFill>
                            <a:srgbClr val="111111"/>
                          </a:solidFill>
                          <a:latin typeface="Calibri"/>
                        </a:rPr>
                        <a:t>41.7</a:t>
                      </a:r>
                    </a:p>
                  </a:txBody>
                  <a:tcPr anchor="ctr" marL="22860" marR="22860" marT="5486" marB="5486">
                    <a:solidFill>
                      <a:srgbClr val="F4F6F9"/>
                    </a:solidFill>
                  </a:tcPr>
                </a:tc>
                <a:tc>
                  <a:txBody>
                    <a:bodyPr/>
                    <a:lstStyle/>
                    <a:p>
                      <a:pPr algn="ctr"/>
                      <a:r>
                        <a:rPr sz="700" b="1">
                          <a:solidFill>
                            <a:srgbClr val="1A7A4A"/>
                          </a:solidFill>
                          <a:latin typeface="Calibri"/>
                        </a:rPr>
                        <a:t>51.2</a:t>
                      </a:r>
                    </a:p>
                  </a:txBody>
                  <a:tcPr anchor="ctr" marL="22860" marR="22860" marT="5486" marB="5486">
                    <a:solidFill>
                      <a:srgbClr val="F4F6F9"/>
                    </a:solidFill>
                  </a:tcPr>
                </a:tc>
                <a:tc>
                  <a:txBody>
                    <a:bodyPr/>
                    <a:lstStyle/>
                    <a:p>
                      <a:pPr algn="ctr"/>
                      <a:r>
                        <a:rPr sz="700" b="1">
                          <a:solidFill>
                            <a:srgbClr val="1A7A4A"/>
                          </a:solidFill>
                          <a:latin typeface="Calibri"/>
                        </a:rPr>
                        <a:t>66.5</a:t>
                      </a:r>
                    </a:p>
                  </a:txBody>
                  <a:tcPr anchor="ctr" marL="22860" marR="22860" marT="5486" marB="5486">
                    <a:solidFill>
                      <a:srgbClr val="F4F6F9"/>
                    </a:solidFill>
                  </a:tcPr>
                </a:tc>
                <a:tc>
                  <a:txBody>
                    <a:bodyPr/>
                    <a:lstStyle/>
                    <a:p>
                      <a:pPr algn="ctr"/>
                      <a:r>
                        <a:rPr sz="700" b="1">
                          <a:solidFill>
                            <a:srgbClr val="1A7A4A"/>
                          </a:solidFill>
                          <a:latin typeface="Calibri"/>
                        </a:rPr>
                        <a:t>85.6</a:t>
                      </a:r>
                    </a:p>
                  </a:txBody>
                  <a:tcPr anchor="ctr" marL="22860" marR="22860" marT="5486" marB="5486">
                    <a:solidFill>
                      <a:srgbClr val="F4F6F9"/>
                    </a:solidFill>
                  </a:tcPr>
                </a:tc>
              </a:tr>
              <a:tr h="182880">
                <a:tc>
                  <a:txBody>
                    <a:bodyPr/>
                    <a:lstStyle/>
                    <a:p>
                      <a:r>
                        <a:rPr sz="700" b="0">
                          <a:solidFill>
                            <a:srgbClr val="111111"/>
                          </a:solidFill>
                          <a:latin typeface="Calibri"/>
                        </a:rPr>
                        <a:t>EPS Growth</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182880">
                <a:tc>
                  <a:txBody>
                    <a:bodyPr/>
                    <a:lstStyle/>
                    <a:p>
                      <a:r>
                        <a:rPr sz="700" b="0">
                          <a:solidFill>
                            <a:srgbClr val="111111"/>
                          </a:solidFill>
                          <a:latin typeface="Calibri"/>
                        </a:rPr>
                        <a:t>BVPS (₹)</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182880">
                <a:tc>
                  <a:txBody>
                    <a:bodyPr/>
                    <a:lstStyle/>
                    <a:p>
                      <a:r>
                        <a:rPr sz="700" b="1">
                          <a:solidFill>
                            <a:srgbClr val="1F4690"/>
                          </a:solidFill>
                          <a:latin typeface="Calibri"/>
                        </a:rPr>
                        <a:t>Valuation Multiples (at CMP ₹822.9)</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182880">
                <a:tc>
                  <a:txBody>
                    <a:bodyPr/>
                    <a:lstStyle/>
                    <a:p>
                      <a:r>
                        <a:rPr sz="700" b="0">
                          <a:solidFill>
                            <a:srgbClr val="111111"/>
                          </a:solidFill>
                          <a:latin typeface="Calibri"/>
                        </a:rPr>
                        <a:t>P/E (x)</a:t>
                      </a:r>
                    </a:p>
                  </a:txBody>
                  <a:tcPr anchor="ctr" marL="22860" marR="22860" marT="5486" marB="5486">
                    <a:solidFill>
                      <a:srgbClr val="F4F6F9"/>
                    </a:solidFill>
                  </a:tcPr>
                </a:tc>
                <a:tc>
                  <a:txBody>
                    <a:bodyPr/>
                    <a:lstStyle/>
                    <a:p>
                      <a:pPr algn="ctr"/>
                      <a:r>
                        <a:rPr sz="700" b="0">
                          <a:solidFill>
                            <a:srgbClr val="111111"/>
                          </a:solidFill>
                          <a:latin typeface="Calibri"/>
                        </a:rPr>
                        <a:t>37.5x</a:t>
                      </a:r>
                    </a:p>
                  </a:txBody>
                  <a:tcPr anchor="ctr" marL="22860" marR="22860" marT="5486" marB="5486">
                    <a:solidFill>
                      <a:srgbClr val="F4F6F9"/>
                    </a:solidFill>
                  </a:tcPr>
                </a:tc>
                <a:tc>
                  <a:txBody>
                    <a:bodyPr/>
                    <a:lstStyle/>
                    <a:p>
                      <a:pPr algn="ctr"/>
                      <a:r>
                        <a:rPr sz="700" b="0">
                          <a:solidFill>
                            <a:srgbClr val="111111"/>
                          </a:solidFill>
                          <a:latin typeface="Calibri"/>
                        </a:rPr>
                        <a:t>52.3x</a:t>
                      </a:r>
                    </a:p>
                  </a:txBody>
                  <a:tcPr anchor="ctr" marL="22860" marR="22860" marT="5486" marB="5486">
                    <a:solidFill>
                      <a:srgbClr val="F4F6F9"/>
                    </a:solidFill>
                  </a:tcPr>
                </a:tc>
                <a:tc>
                  <a:txBody>
                    <a:bodyPr/>
                    <a:lstStyle/>
                    <a:p>
                      <a:pPr algn="ctr"/>
                      <a:r>
                        <a:rPr sz="700" b="0">
                          <a:solidFill>
                            <a:srgbClr val="111111"/>
                          </a:solidFill>
                          <a:latin typeface="Calibri"/>
                        </a:rPr>
                        <a:t>20.1x</a:t>
                      </a:r>
                    </a:p>
                  </a:txBody>
                  <a:tcPr anchor="ctr" marL="22860" marR="22860" marT="5486" marB="5486">
                    <a:solidFill>
                      <a:srgbClr val="F4F6F9"/>
                    </a:solidFill>
                  </a:tcPr>
                </a:tc>
                <a:tc>
                  <a:txBody>
                    <a:bodyPr/>
                    <a:lstStyle/>
                    <a:p>
                      <a:pPr algn="ctr"/>
                      <a:r>
                        <a:rPr sz="700" b="0">
                          <a:solidFill>
                            <a:srgbClr val="111111"/>
                          </a:solidFill>
                          <a:latin typeface="Calibri"/>
                        </a:rPr>
                        <a:t>19.7x</a:t>
                      </a:r>
                    </a:p>
                  </a:txBody>
                  <a:tcPr anchor="ctr" marL="22860" marR="22860" marT="5486" marB="5486">
                    <a:solidFill>
                      <a:srgbClr val="F4F6F9"/>
                    </a:solidFill>
                  </a:tcPr>
                </a:tc>
                <a:tc>
                  <a:txBody>
                    <a:bodyPr/>
                    <a:lstStyle/>
                    <a:p>
                      <a:pPr algn="ctr"/>
                      <a:r>
                        <a:rPr sz="700" b="0">
                          <a:solidFill>
                            <a:srgbClr val="FFA500"/>
                          </a:solidFill>
                          <a:latin typeface="Calibri"/>
                        </a:rPr>
                        <a:t>16.1x</a:t>
                      </a:r>
                    </a:p>
                  </a:txBody>
                  <a:tcPr anchor="ctr" marL="22860" marR="22860" marT="5486" marB="5486">
                    <a:solidFill>
                      <a:srgbClr val="F4F6F9"/>
                    </a:solidFill>
                  </a:tcPr>
                </a:tc>
                <a:tc>
                  <a:txBody>
                    <a:bodyPr/>
                    <a:lstStyle/>
                    <a:p>
                      <a:pPr algn="ctr"/>
                      <a:r>
                        <a:rPr sz="700" b="0">
                          <a:solidFill>
                            <a:srgbClr val="FFA500"/>
                          </a:solidFill>
                          <a:latin typeface="Calibri"/>
                        </a:rPr>
                        <a:t>12.4x</a:t>
                      </a:r>
                    </a:p>
                  </a:txBody>
                  <a:tcPr anchor="ctr" marL="22860" marR="22860" marT="5486" marB="5486">
                    <a:solidFill>
                      <a:srgbClr val="F4F6F9"/>
                    </a:solidFill>
                  </a:tcPr>
                </a:tc>
                <a:tc>
                  <a:txBody>
                    <a:bodyPr/>
                    <a:lstStyle/>
                    <a:p>
                      <a:pPr algn="ctr"/>
                      <a:r>
                        <a:rPr sz="700" b="0">
                          <a:solidFill>
                            <a:srgbClr val="FFA500"/>
                          </a:solidFill>
                          <a:latin typeface="Calibri"/>
                        </a:rPr>
                        <a:t>9.6x</a:t>
                      </a:r>
                    </a:p>
                  </a:txBody>
                  <a:tcPr anchor="ctr" marL="22860" marR="22860" marT="5486" marB="5486">
                    <a:solidFill>
                      <a:srgbClr val="F4F6F9"/>
                    </a:solidFill>
                  </a:tcPr>
                </a:tc>
              </a:tr>
              <a:tr h="182880">
                <a:tc>
                  <a:txBody>
                    <a:bodyPr/>
                    <a:lstStyle/>
                    <a:p>
                      <a:r>
                        <a:rPr sz="700" b="0">
                          <a:solidFill>
                            <a:srgbClr val="111111"/>
                          </a:solidFill>
                          <a:latin typeface="Calibri"/>
                        </a:rPr>
                        <a:t>EV/EBITDA (x)</a:t>
                      </a:r>
                    </a:p>
                  </a:txBody>
                  <a:tcPr anchor="ctr" marL="22860" marR="22860" marT="5486" marB="5486">
                    <a:solidFill>
                      <a:srgbClr val="FFFFFF"/>
                    </a:solidFill>
                  </a:tcPr>
                </a:tc>
                <a:tc>
                  <a:txBody>
                    <a:bodyPr/>
                    <a:lstStyle/>
                    <a:p>
                      <a:pPr algn="ctr"/>
                      <a:r>
                        <a:rPr sz="700" b="0">
                          <a:solidFill>
                            <a:srgbClr val="111111"/>
                          </a:solidFill>
                          <a:latin typeface="Calibri"/>
                        </a:rPr>
                        <a:t>9.0x</a:t>
                      </a:r>
                    </a:p>
                  </a:txBody>
                  <a:tcPr anchor="ctr" marL="22860" marR="22860" marT="5486" marB="5486">
                    <a:solidFill>
                      <a:srgbClr val="FFFFFF"/>
                    </a:solidFill>
                  </a:tcPr>
                </a:tc>
                <a:tc>
                  <a:txBody>
                    <a:bodyPr/>
                    <a:lstStyle/>
                    <a:p>
                      <a:pPr algn="ctr"/>
                      <a:r>
                        <a:rPr sz="700" b="0">
                          <a:solidFill>
                            <a:srgbClr val="111111"/>
                          </a:solidFill>
                          <a:latin typeface="Calibri"/>
                        </a:rPr>
                        <a:t>10.3x</a:t>
                      </a:r>
                    </a:p>
                  </a:txBody>
                  <a:tcPr anchor="ctr" marL="22860" marR="22860" marT="5486" marB="5486">
                    <a:solidFill>
                      <a:srgbClr val="FFFFFF"/>
                    </a:solidFill>
                  </a:tcPr>
                </a:tc>
                <a:tc>
                  <a:txBody>
                    <a:bodyPr/>
                    <a:lstStyle/>
                    <a:p>
                      <a:pPr algn="ctr"/>
                      <a:r>
                        <a:rPr sz="700" b="0">
                          <a:solidFill>
                            <a:srgbClr val="111111"/>
                          </a:solidFill>
                          <a:latin typeface="Calibri"/>
                        </a:rPr>
                        <a:t>9.5x</a:t>
                      </a:r>
                    </a:p>
                  </a:txBody>
                  <a:tcPr anchor="ctr" marL="22860" marR="22860" marT="5486" marB="5486">
                    <a:solidFill>
                      <a:srgbClr val="FFFFFF"/>
                    </a:solidFill>
                  </a:tcPr>
                </a:tc>
                <a:tc>
                  <a:txBody>
                    <a:bodyPr/>
                    <a:lstStyle/>
                    <a:p>
                      <a:pPr algn="ctr"/>
                      <a:r>
                        <a:rPr sz="700" b="0">
                          <a:solidFill>
                            <a:srgbClr val="111111"/>
                          </a:solidFill>
                          <a:latin typeface="Calibri"/>
                        </a:rPr>
                        <a:t>11.4x</a:t>
                      </a:r>
                    </a:p>
                  </a:txBody>
                  <a:tcPr anchor="ctr" marL="22860" marR="22860" marT="5486" marB="5486">
                    <a:solidFill>
                      <a:srgbClr val="FFFFFF"/>
                    </a:solidFill>
                  </a:tcPr>
                </a:tc>
                <a:tc>
                  <a:txBody>
                    <a:bodyPr/>
                    <a:lstStyle/>
                    <a:p>
                      <a:pPr algn="ctr"/>
                      <a:r>
                        <a:rPr sz="700" b="0">
                          <a:solidFill>
                            <a:srgbClr val="FFA500"/>
                          </a:solidFill>
                          <a:latin typeface="Calibri"/>
                        </a:rPr>
                        <a:t>12.7x</a:t>
                      </a:r>
                    </a:p>
                  </a:txBody>
                  <a:tcPr anchor="ctr" marL="22860" marR="22860" marT="5486" marB="5486">
                    <a:solidFill>
                      <a:srgbClr val="FFFFFF"/>
                    </a:solidFill>
                  </a:tcPr>
                </a:tc>
                <a:tc>
                  <a:txBody>
                    <a:bodyPr/>
                    <a:lstStyle/>
                    <a:p>
                      <a:pPr algn="ctr"/>
                      <a:r>
                        <a:rPr sz="700" b="0">
                          <a:solidFill>
                            <a:srgbClr val="FFA500"/>
                          </a:solidFill>
                          <a:latin typeface="Calibri"/>
                        </a:rPr>
                        <a:t>10.5x</a:t>
                      </a:r>
                    </a:p>
                  </a:txBody>
                  <a:tcPr anchor="ctr" marL="22860" marR="22860" marT="5486" marB="5486">
                    <a:solidFill>
                      <a:srgbClr val="FFFFFF"/>
                    </a:solidFill>
                  </a:tcPr>
                </a:tc>
                <a:tc>
                  <a:txBody>
                    <a:bodyPr/>
                    <a:lstStyle/>
                    <a:p>
                      <a:pPr algn="ctr"/>
                      <a:r>
                        <a:rPr sz="700" b="0">
                          <a:solidFill>
                            <a:srgbClr val="FFA500"/>
                          </a:solidFill>
                          <a:latin typeface="Calibri"/>
                        </a:rPr>
                        <a:t>8.8x</a:t>
                      </a:r>
                    </a:p>
                  </a:txBody>
                  <a:tcPr anchor="ctr" marL="22860" marR="22860" marT="5486" marB="5486">
                    <a:solidFill>
                      <a:srgbClr val="FFFFFF"/>
                    </a:solidFill>
                  </a:tcPr>
                </a:tc>
              </a:tr>
              <a:tr h="182880">
                <a:tc>
                  <a:txBody>
                    <a:bodyPr/>
                    <a:lstStyle/>
                    <a:p>
                      <a:r>
                        <a:rPr sz="700" b="0">
                          <a:solidFill>
                            <a:srgbClr val="111111"/>
                          </a:solidFill>
                          <a:latin typeface="Calibri"/>
                        </a:rPr>
                        <a:t>P/B (x)</a:t>
                      </a:r>
                    </a:p>
                  </a:txBody>
                  <a:tcPr anchor="ctr" marL="22860" marR="22860" marT="5486" marB="5486">
                    <a:solidFill>
                      <a:srgbClr val="F4F6F9"/>
                    </a:solidFill>
                  </a:tcPr>
                </a:tc>
                <a:tc>
                  <a:txBody>
                    <a:bodyPr/>
                    <a:lstStyle/>
                    <a:p>
                      <a:pPr algn="ctr"/>
                      <a:r>
                        <a:rPr sz="700" b="0">
                          <a:solidFill>
                            <a:srgbClr val="111111"/>
                          </a:solidFill>
                          <a:latin typeface="Calibri"/>
                        </a:rPr>
                        <a:t>8.7x</a:t>
                      </a:r>
                    </a:p>
                  </a:txBody>
                  <a:tcPr anchor="ctr" marL="22860" marR="22860" marT="5486" marB="5486">
                    <a:solidFill>
                      <a:srgbClr val="F4F6F9"/>
                    </a:solidFill>
                  </a:tcPr>
                </a:tc>
                <a:tc>
                  <a:txBody>
                    <a:bodyPr/>
                    <a:lstStyle/>
                    <a:p>
                      <a:pPr algn="ctr"/>
                      <a:r>
                        <a:rPr sz="700" b="0">
                          <a:solidFill>
                            <a:srgbClr val="111111"/>
                          </a:solidFill>
                          <a:latin typeface="Calibri"/>
                        </a:rPr>
                        <a:t>7.8x</a:t>
                      </a:r>
                    </a:p>
                  </a:txBody>
                  <a:tcPr anchor="ctr" marL="22860" marR="22860" marT="5486" marB="5486">
                    <a:solidFill>
                      <a:srgbClr val="F4F6F9"/>
                    </a:solidFill>
                  </a:tcPr>
                </a:tc>
                <a:tc>
                  <a:txBody>
                    <a:bodyPr/>
                    <a:lstStyle/>
                    <a:p>
                      <a:pPr algn="ctr"/>
                      <a:r>
                        <a:rPr sz="700" b="0">
                          <a:solidFill>
                            <a:srgbClr val="111111"/>
                          </a:solidFill>
                          <a:latin typeface="Calibri"/>
                        </a:rPr>
                        <a:t>5.6x</a:t>
                      </a:r>
                    </a:p>
                  </a:txBody>
                  <a:tcPr anchor="ctr" marL="22860" marR="22860" marT="5486" marB="5486">
                    <a:solidFill>
                      <a:srgbClr val="F4F6F9"/>
                    </a:solidFill>
                  </a:tcPr>
                </a:tc>
                <a:tc>
                  <a:txBody>
                    <a:bodyPr/>
                    <a:lstStyle/>
                    <a:p>
                      <a:pPr algn="ctr"/>
                      <a:r>
                        <a:rPr sz="700" b="0">
                          <a:solidFill>
                            <a:srgbClr val="111111"/>
                          </a:solidFill>
                          <a:latin typeface="Calibri"/>
                        </a:rPr>
                        <a:t>4.5x</a:t>
                      </a:r>
                    </a:p>
                  </a:txBody>
                  <a:tcPr anchor="ctr" marL="22860" marR="22860" marT="5486" marB="5486">
                    <a:solidFill>
                      <a:srgbClr val="F4F6F9"/>
                    </a:solidFill>
                  </a:tcPr>
                </a:tc>
                <a:tc>
                  <a:txBody>
                    <a:bodyPr/>
                    <a:lstStyle/>
                    <a:p>
                      <a:pPr algn="ctr"/>
                      <a:r>
                        <a:rPr sz="700" b="0">
                          <a:solidFill>
                            <a:srgbClr val="FFA500"/>
                          </a:solidFill>
                          <a:latin typeface="Calibri"/>
                        </a:rPr>
                        <a:t>3.6x</a:t>
                      </a:r>
                    </a:p>
                  </a:txBody>
                  <a:tcPr anchor="ctr" marL="22860" marR="22860" marT="5486" marB="5486">
                    <a:solidFill>
                      <a:srgbClr val="F4F6F9"/>
                    </a:solidFill>
                  </a:tcPr>
                </a:tc>
                <a:tc>
                  <a:txBody>
                    <a:bodyPr/>
                    <a:lstStyle/>
                    <a:p>
                      <a:pPr algn="ctr"/>
                      <a:r>
                        <a:rPr sz="700" b="0">
                          <a:solidFill>
                            <a:srgbClr val="FFA500"/>
                          </a:solidFill>
                          <a:latin typeface="Calibri"/>
                        </a:rPr>
                        <a:t>2.9x</a:t>
                      </a:r>
                    </a:p>
                  </a:txBody>
                  <a:tcPr anchor="ctr" marL="22860" marR="22860" marT="5486" marB="5486">
                    <a:solidFill>
                      <a:srgbClr val="F4F6F9"/>
                    </a:solidFill>
                  </a:tcPr>
                </a:tc>
                <a:tc>
                  <a:txBody>
                    <a:bodyPr/>
                    <a:lstStyle/>
                    <a:p>
                      <a:pPr algn="ctr"/>
                      <a:r>
                        <a:rPr sz="700" b="0">
                          <a:solidFill>
                            <a:srgbClr val="FFA500"/>
                          </a:solidFill>
                          <a:latin typeface="Calibri"/>
                        </a:rPr>
                        <a:t>2.3x</a:t>
                      </a:r>
                    </a:p>
                  </a:txBody>
                  <a:tcPr anchor="ctr" marL="22860" marR="22860" marT="5486" marB="5486">
                    <a:solidFill>
                      <a:srgbClr val="F4F6F9"/>
                    </a:solidFill>
                  </a:tcPr>
                </a:tc>
              </a:tr>
            </a:tbl>
          </a:graphicData>
        </a:graphic>
      </p:graphicFrame>
      <p:sp>
        <p:nvSpPr>
          <p:cNvPr id="18" name="TextBox 17"/>
          <p:cNvSpPr txBox="1"/>
          <p:nvPr/>
        </p:nvSpPr>
        <p:spPr>
          <a:xfrm>
            <a:off x="292608" y="4434840"/>
            <a:ext cx="6400800" cy="137160"/>
          </a:xfrm>
          <a:prstGeom prst="rect">
            <a:avLst/>
          </a:prstGeom>
          <a:noFill/>
        </p:spPr>
        <p:txBody>
          <a:bodyPr wrap="square" lIns="36576" rIns="36576" tIns="9144" bIns="9144">
            <a:spAutoFit/>
          </a:bodyPr>
          <a:lstStyle/>
          <a:p>
            <a:r>
              <a:rPr sz="600" b="0">
                <a:solidFill>
                  <a:srgbClr val="5A6573"/>
                </a:solidFill>
                <a:latin typeface="Calibri"/>
              </a:rPr>
              <a:t>Source: Company filings, Tikona Capital Research estimates, E = Tikona Capital estimates.</a:t>
            </a:r>
          </a:p>
        </p:txBody>
      </p:sp>
      <p:sp>
        <p:nvSpPr>
          <p:cNvPr id="19" name="TextBox 18"/>
          <p:cNvSpPr txBox="1"/>
          <p:nvPr/>
        </p:nvSpPr>
        <p:spPr>
          <a:xfrm>
            <a:off x="292608" y="4663440"/>
            <a:ext cx="6400800" cy="182880"/>
          </a:xfrm>
          <a:prstGeom prst="rect">
            <a:avLst/>
          </a:prstGeom>
          <a:noFill/>
        </p:spPr>
        <p:txBody>
          <a:bodyPr wrap="square" lIns="36576" rIns="36576" tIns="9144" bIns="9144">
            <a:spAutoFit/>
          </a:bodyPr>
          <a:lstStyle/>
          <a:p>
            <a:r>
              <a:rPr sz="800" b="1">
                <a:solidFill>
                  <a:srgbClr val="1F4690"/>
                </a:solidFill>
                <a:latin typeface="Calibri"/>
              </a:rPr>
              <a:t>CAGR SUMMARY</a:t>
            </a:r>
          </a:p>
        </p:txBody>
      </p:sp>
      <p:sp>
        <p:nvSpPr>
          <p:cNvPr id="20" name="Rectangle 19"/>
          <p:cNvSpPr/>
          <p:nvPr/>
        </p:nvSpPr>
        <p:spPr>
          <a:xfrm>
            <a:off x="292608" y="4864608"/>
            <a:ext cx="64008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1" name="Table 20"/>
          <p:cNvGraphicFramePr>
            <a:graphicFrameLocks noGrp="1"/>
          </p:cNvGraphicFramePr>
          <p:nvPr/>
        </p:nvGraphicFramePr>
        <p:xfrm>
          <a:off x="292608" y="4983480"/>
          <a:ext cx="6400800" cy="731520"/>
        </p:xfrm>
        <a:graphic>
          <a:graphicData uri="http://schemas.openxmlformats.org/drawingml/2006/table">
            <a:tbl>
              <a:tblPr firstRow="1" bandRow="1">
                <a:tableStyleId>{5C22544A-7EE6-4342-B048-85BDC9FD1C3A}</a:tableStyleId>
              </a:tblPr>
              <a:tblGrid>
                <a:gridCol w="2560320"/>
                <a:gridCol w="1920240"/>
                <a:gridCol w="1920240"/>
              </a:tblGrid>
              <a:tr h="182880">
                <a:tc>
                  <a:txBody>
                    <a:bodyPr/>
                    <a:lstStyle/>
                    <a:p>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3Y Historical CAGR (FY22-25)</a:t>
                      </a:r>
                    </a:p>
                  </a:txBody>
                  <a:tcPr anchor="ctr" marL="22860" marR="22860" marT="5486" marB="5486">
                    <a:solidFill>
                      <a:srgbClr val="1F4690"/>
                    </a:solidFill>
                  </a:tcPr>
                </a:tc>
                <a:tc>
                  <a:txBody>
                    <a:bodyPr/>
                    <a:lstStyle/>
                    <a:p>
                      <a:pPr algn="ctr"/>
                      <a:r>
                        <a:rPr sz="700" b="1">
                          <a:solidFill>
                            <a:srgbClr val="FFFFFF"/>
                          </a:solidFill>
                          <a:latin typeface="Calibri"/>
                        </a:rPr>
                        <a:t>Projected 3Y CAGR (FY25-28)</a:t>
                      </a:r>
                    </a:p>
                  </a:txBody>
                  <a:tcPr anchor="ctr" marL="22860" marR="22860" marT="5486" marB="5486">
                    <a:solidFill>
                      <a:srgbClr val="1F4690"/>
                    </a:solidFill>
                  </a:tcPr>
                </a:tc>
              </a:tr>
              <a:tr h="182880">
                <a:tc>
                  <a:txBody>
                    <a:bodyPr/>
                    <a:lstStyle/>
                    <a:p>
                      <a:r>
                        <a:rPr sz="700" b="0">
                          <a:solidFill>
                            <a:srgbClr val="111111"/>
                          </a:solidFill>
                          <a:latin typeface="Calibri"/>
                        </a:rPr>
                        <a:t>Revenue</a:t>
                      </a:r>
                    </a:p>
                  </a:txBody>
                  <a:tcPr anchor="ctr" marL="22860" marR="22860" marT="5486" marB="5486">
                    <a:solidFill>
                      <a:srgbClr val="F4F6F9"/>
                    </a:solidFill>
                  </a:tcPr>
                </a:tc>
                <a:tc>
                  <a:txBody>
                    <a:bodyPr/>
                    <a:lstStyle/>
                    <a:p>
                      <a:pPr algn="ctr"/>
                      <a:r>
                        <a:rPr sz="700" b="1">
                          <a:solidFill>
                            <a:srgbClr val="1A7A4A"/>
                          </a:solidFill>
                          <a:latin typeface="Calibri"/>
                        </a:rPr>
                        <a:t>24.7%</a:t>
                      </a:r>
                    </a:p>
                  </a:txBody>
                  <a:tcPr anchor="ctr" marL="22860" marR="22860" marT="5486" marB="5486">
                    <a:solidFill>
                      <a:srgbClr val="F4F6F9"/>
                    </a:solidFill>
                  </a:tcPr>
                </a:tc>
                <a:tc>
                  <a:txBody>
                    <a:bodyPr/>
                    <a:lstStyle/>
                    <a:p>
                      <a:pPr algn="ctr"/>
                      <a:r>
                        <a:rPr sz="700" b="1">
                          <a:solidFill>
                            <a:srgbClr val="1A7A4A"/>
                          </a:solidFill>
                          <a:latin typeface="Calibri"/>
                        </a:rPr>
                        <a:t>24.7%</a:t>
                      </a:r>
                    </a:p>
                  </a:txBody>
                  <a:tcPr anchor="ctr" marL="22860" marR="22860" marT="5486" marB="5486">
                    <a:solidFill>
                      <a:srgbClr val="F4F6F9"/>
                    </a:solidFill>
                  </a:tcPr>
                </a:tc>
              </a:tr>
              <a:tr h="182880">
                <a:tc>
                  <a:txBody>
                    <a:bodyPr/>
                    <a:lstStyle/>
                    <a:p>
                      <a:r>
                        <a:rPr sz="700" b="0">
                          <a:solidFill>
                            <a:srgbClr val="111111"/>
                          </a:solidFill>
                          <a:latin typeface="Calibri"/>
                        </a:rPr>
                        <a:t>EBITDA</a:t>
                      </a:r>
                    </a:p>
                  </a:txBody>
                  <a:tcPr anchor="ctr" marL="22860" marR="22860" marT="5486" marB="5486">
                    <a:solidFill>
                      <a:srgbClr val="FFFFFF"/>
                    </a:solidFill>
                  </a:tcPr>
                </a:tc>
                <a:tc>
                  <a:txBody>
                    <a:bodyPr/>
                    <a:lstStyle/>
                    <a:p>
                      <a:pPr algn="ctr"/>
                      <a:r>
                        <a:rPr sz="700" b="1">
                          <a:solidFill>
                            <a:srgbClr val="1A7A4A"/>
                          </a:solidFill>
                          <a:latin typeface="Calibri"/>
                        </a:rPr>
                        <a:t>28.9%</a:t>
                      </a:r>
                    </a:p>
                  </a:txBody>
                  <a:tcPr anchor="ctr" marL="22860" marR="22860" marT="5486" marB="5486">
                    <a:solidFill>
                      <a:srgbClr val="FFFFFF"/>
                    </a:solidFill>
                  </a:tcPr>
                </a:tc>
                <a:tc>
                  <a:txBody>
                    <a:bodyPr/>
                    <a:lstStyle/>
                    <a:p>
                      <a:pPr algn="ctr"/>
                      <a:r>
                        <a:rPr sz="700" b="1">
                          <a:solidFill>
                            <a:srgbClr val="1A7A4A"/>
                          </a:solidFill>
                          <a:latin typeface="Calibri"/>
                        </a:rPr>
                        <a:t>23.8%</a:t>
                      </a:r>
                    </a:p>
                  </a:txBody>
                  <a:tcPr anchor="ctr" marL="22860" marR="22860" marT="5486" marB="5486">
                    <a:solidFill>
                      <a:srgbClr val="FFFFFF"/>
                    </a:solidFill>
                  </a:tcPr>
                </a:tc>
              </a:tr>
              <a:tr h="182880">
                <a:tc>
                  <a:txBody>
                    <a:bodyPr/>
                    <a:lstStyle/>
                    <a:p>
                      <a:r>
                        <a:rPr sz="700" b="0">
                          <a:solidFill>
                            <a:srgbClr val="111111"/>
                          </a:solidFill>
                          <a:latin typeface="Calibri"/>
                        </a:rPr>
                        <a:t>Net Income (PAT)</a:t>
                      </a:r>
                    </a:p>
                  </a:txBody>
                  <a:tcPr anchor="ctr" marL="22860" marR="22860" marT="5486" marB="5486">
                    <a:solidFill>
                      <a:srgbClr val="F4F6F9"/>
                    </a:solidFill>
                  </a:tcPr>
                </a:tc>
                <a:tc>
                  <a:txBody>
                    <a:bodyPr/>
                    <a:lstStyle/>
                    <a:p>
                      <a:pPr algn="ctr"/>
                      <a:r>
                        <a:rPr sz="700" b="1">
                          <a:solidFill>
                            <a:srgbClr val="1A7A4A"/>
                          </a:solidFill>
                          <a:latin typeface="Calibri"/>
                        </a:rPr>
                        <a:t>24.1%</a:t>
                      </a:r>
                    </a:p>
                  </a:txBody>
                  <a:tcPr anchor="ctr" marL="22860" marR="22860" marT="5486" marB="5486">
                    <a:solidFill>
                      <a:srgbClr val="F4F6F9"/>
                    </a:solidFill>
                  </a:tcPr>
                </a:tc>
                <a:tc>
                  <a:txBody>
                    <a:bodyPr/>
                    <a:lstStyle/>
                    <a:p>
                      <a:pPr algn="ctr"/>
                      <a:r>
                        <a:rPr sz="700" b="1">
                          <a:solidFill>
                            <a:srgbClr val="1A7A4A"/>
                          </a:solidFill>
                          <a:latin typeface="Calibri"/>
                        </a:rPr>
                        <a:t>27.8%</a:t>
                      </a:r>
                    </a:p>
                  </a:txBody>
                  <a:tcPr anchor="ctr" marL="22860" marR="22860" marT="5486" marB="5486">
                    <a:solidFill>
                      <a:srgbClr val="F4F6F9"/>
                    </a:solidFill>
                  </a:tcPr>
                </a:tc>
              </a:tr>
            </a:tbl>
          </a:graphicData>
        </a:graphic>
      </p:graphicFrame>
      <p:sp>
        <p:nvSpPr>
          <p:cNvPr id="22" name="TextBox 21"/>
          <p:cNvSpPr txBox="1"/>
          <p:nvPr/>
        </p:nvSpPr>
        <p:spPr>
          <a:xfrm>
            <a:off x="6876288" y="1143000"/>
            <a:ext cx="5029200" cy="182880"/>
          </a:xfrm>
          <a:prstGeom prst="rect">
            <a:avLst/>
          </a:prstGeom>
          <a:noFill/>
        </p:spPr>
        <p:txBody>
          <a:bodyPr wrap="square" lIns="36576" rIns="36576" tIns="9144" bIns="9144">
            <a:spAutoFit/>
          </a:bodyPr>
          <a:lstStyle/>
          <a:p>
            <a:r>
              <a:rPr sz="800" b="1">
                <a:solidFill>
                  <a:srgbClr val="1F4690"/>
                </a:solidFill>
                <a:latin typeface="Calibri"/>
              </a:rPr>
              <a:t>FORECAST ASSUMPTIONS</a:t>
            </a:r>
          </a:p>
        </p:txBody>
      </p:sp>
      <p:sp>
        <p:nvSpPr>
          <p:cNvPr id="23" name="Rectangle 22"/>
          <p:cNvSpPr/>
          <p:nvPr/>
        </p:nvSpPr>
        <p:spPr>
          <a:xfrm>
            <a:off x="6876288" y="1344168"/>
            <a:ext cx="5029200" cy="182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76288" y="1463040"/>
            <a:ext cx="5029200" cy="1920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76288" y="1463040"/>
            <a:ext cx="36576" cy="1920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7" y="1536192"/>
            <a:ext cx="4846320" cy="182880"/>
          </a:xfrm>
          <a:prstGeom prst="rect">
            <a:avLst/>
          </a:prstGeom>
          <a:noFill/>
        </p:spPr>
        <p:txBody>
          <a:bodyPr wrap="square" lIns="36576" rIns="36576" tIns="9144" bIns="9144">
            <a:spAutoFit/>
          </a:bodyPr>
          <a:lstStyle/>
          <a:p>
            <a:r>
              <a:rPr sz="850" b="1">
                <a:solidFill>
                  <a:srgbClr val="1F4690"/>
                </a:solidFill>
                <a:latin typeface="Calibri"/>
              </a:rPr>
              <a:t>Revenue Growth Drivers (FY26-28)</a:t>
            </a:r>
          </a:p>
        </p:txBody>
      </p:sp>
      <p:sp>
        <p:nvSpPr>
          <p:cNvPr id="27" name="TextBox 26"/>
          <p:cNvSpPr txBox="1"/>
          <p:nvPr/>
        </p:nvSpPr>
        <p:spPr>
          <a:xfrm>
            <a:off x="6967727" y="1737360"/>
            <a:ext cx="4846320" cy="457200"/>
          </a:xfrm>
          <a:prstGeom prst="rect">
            <a:avLst/>
          </a:prstGeom>
          <a:noFill/>
        </p:spPr>
        <p:txBody>
          <a:bodyPr wrap="square" lIns="36576" rIns="36576" tIns="9144" bIns="9144">
            <a:spAutoFit/>
          </a:bodyPr>
          <a:lstStyle/>
          <a:p>
            <a:r>
              <a:rPr sz="700" b="0">
                <a:solidFill>
                  <a:srgbClr val="111111"/>
                </a:solidFill>
                <a:latin typeface="Calibri"/>
              </a:rPr>
              <a:t>AMC &amp; Wealth (30%+ CAGR): AUM compounding at 25-30% CAGR as India's HNI base expands. Management fee income grows proportionally. 91% outperformance track record sustains premium fee capture vs. discount managers.</a:t>
            </a:r>
          </a:p>
        </p:txBody>
      </p:sp>
      <p:sp>
        <p:nvSpPr>
          <p:cNvPr id="28" name="TextBox 27"/>
          <p:cNvSpPr txBox="1"/>
          <p:nvPr/>
        </p:nvSpPr>
        <p:spPr>
          <a:xfrm>
            <a:off x="6967727" y="2148840"/>
            <a:ext cx="4846320" cy="457200"/>
          </a:xfrm>
          <a:prstGeom prst="rect">
            <a:avLst/>
          </a:prstGeom>
          <a:noFill/>
        </p:spPr>
        <p:txBody>
          <a:bodyPr wrap="square" lIns="36576" rIns="36576" tIns="9144" bIns="9144">
            <a:spAutoFit/>
          </a:bodyPr>
          <a:lstStyle/>
          <a:p>
            <a:r>
              <a:rPr sz="700" b="0">
                <a:solidFill>
                  <a:srgbClr val="111111"/>
                </a:solidFill>
                <a:latin typeface="Calibri"/>
              </a:rPr>
              <a:t>Housing Finance (25% CAGR): Loan book growing 25% YoY. NII improvement as RM productivity matures. Urbanization and government affordable housing schemes provide secular demand tailwind across geographies.</a:t>
            </a:r>
          </a:p>
        </p:txBody>
      </p:sp>
      <p:sp>
        <p:nvSpPr>
          <p:cNvPr id="29" name="TextBox 28"/>
          <p:cNvSpPr txBox="1"/>
          <p:nvPr/>
        </p:nvSpPr>
        <p:spPr>
          <a:xfrm>
            <a:off x="6967727" y="2560320"/>
            <a:ext cx="4846320" cy="457200"/>
          </a:xfrm>
          <a:prstGeom prst="rect">
            <a:avLst/>
          </a:prstGeom>
          <a:noFill/>
        </p:spPr>
        <p:txBody>
          <a:bodyPr wrap="square" lIns="36576" rIns="36576" tIns="9144" bIns="9144">
            <a:spAutoFit/>
          </a:bodyPr>
          <a:lstStyle/>
          <a:p>
            <a:r>
              <a:rPr sz="700" b="0">
                <a:solidFill>
                  <a:srgbClr val="111111"/>
                </a:solidFill>
                <a:latin typeface="Calibri"/>
              </a:rPr>
              <a:t>Alternatives (40%+ CAGR): Private credit fund with ₹58 Cr recurring carry expected to continue and grow. India private credit market record $9B in H1 2025 (+53% YoY) validates the institutional appetite for this product.</a:t>
            </a:r>
          </a:p>
        </p:txBody>
      </p:sp>
      <p:sp>
        <p:nvSpPr>
          <p:cNvPr id="30" name="TextBox 29"/>
          <p:cNvSpPr txBox="1"/>
          <p:nvPr/>
        </p:nvSpPr>
        <p:spPr>
          <a:xfrm>
            <a:off x="6967727" y="2971800"/>
            <a:ext cx="4846320" cy="457200"/>
          </a:xfrm>
          <a:prstGeom prst="rect">
            <a:avLst/>
          </a:prstGeom>
          <a:noFill/>
        </p:spPr>
        <p:txBody>
          <a:bodyPr wrap="square" lIns="36576" rIns="36576" tIns="9144" bIns="9144">
            <a:spAutoFit/>
          </a:bodyPr>
          <a:lstStyle/>
          <a:p>
            <a:r>
              <a:rPr sz="700" b="0">
                <a:solidFill>
                  <a:srgbClr val="111111"/>
                </a:solidFill>
                <a:latin typeface="Calibri"/>
              </a:rPr>
              <a:t>Broking Recovery (10-15%): F&amp;O volume normalization post regulatory adaptation. Transaction revenues recovering as market participants adjust. This segment's declining revenue share is per plan - minimal reliance assumed.</a:t>
            </a:r>
          </a:p>
        </p:txBody>
      </p:sp>
      <p:sp>
        <p:nvSpPr>
          <p:cNvPr id="31" name="Rectangle 30"/>
          <p:cNvSpPr/>
          <p:nvPr/>
        </p:nvSpPr>
        <p:spPr>
          <a:xfrm>
            <a:off x="6876288" y="3520440"/>
            <a:ext cx="5029200" cy="91440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76288" y="3520440"/>
            <a:ext cx="36576" cy="9144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7727" y="3593592"/>
            <a:ext cx="4846320" cy="182880"/>
          </a:xfrm>
          <a:prstGeom prst="rect">
            <a:avLst/>
          </a:prstGeom>
          <a:noFill/>
        </p:spPr>
        <p:txBody>
          <a:bodyPr wrap="square" lIns="36576" rIns="36576" tIns="9144" bIns="9144">
            <a:spAutoFit/>
          </a:bodyPr>
          <a:lstStyle/>
          <a:p>
            <a:r>
              <a:rPr sz="850" b="1">
                <a:solidFill>
                  <a:srgbClr val="1F4690"/>
                </a:solidFill>
                <a:latin typeface="Calibri"/>
              </a:rPr>
              <a:t>PAT Growth Acceleration — Key Assumption</a:t>
            </a:r>
          </a:p>
        </p:txBody>
      </p:sp>
      <p:sp>
        <p:nvSpPr>
          <p:cNvPr id="34" name="TextBox 33"/>
          <p:cNvSpPr txBox="1"/>
          <p:nvPr/>
        </p:nvSpPr>
        <p:spPr>
          <a:xfrm>
            <a:off x="6967727" y="3794760"/>
            <a:ext cx="4846320" cy="640080"/>
          </a:xfrm>
          <a:prstGeom prst="rect">
            <a:avLst/>
          </a:prstGeom>
          <a:noFill/>
        </p:spPr>
        <p:txBody>
          <a:bodyPr wrap="square" lIns="36576" rIns="36576" tIns="9144" bIns="9144">
            <a:spAutoFit/>
          </a:bodyPr>
          <a:lstStyle/>
          <a:p>
            <a:r>
              <a:rPr sz="700" b="0">
                <a:solidFill>
                  <a:srgbClr val="111111"/>
                </a:solidFill>
                <a:latin typeface="Calibri"/>
              </a:rPr>
              <a:t>PAT re-accelerates at 27% CAGR (FY25-28) driven by: (1) AMC operating leverage - AUM growing 30%+ with marginal incremental costs, (2) Private Wealth advisory fee income compounding, (3) Housing Finance NII growing at 25% on loan book expansion, (4) Alternatives carry income scaling. EBITDA margin sustaining at 52%+ validates the fee model quality. PAT growth of 27% CAGR significantly ahead of revenue growth (25%) - operating leverage is the story.</a:t>
            </a:r>
          </a:p>
        </p:txBody>
      </p:sp>
      <p:sp>
        <p:nvSpPr>
          <p:cNvPr id="35" name="Rectangle 34"/>
          <p:cNvSpPr/>
          <p:nvPr/>
        </p:nvSpPr>
        <p:spPr>
          <a:xfrm>
            <a:off x="6876288" y="4572000"/>
            <a:ext cx="5029200" cy="777240"/>
          </a:xfrm>
          <a:prstGeom prst="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76288" y="4572000"/>
            <a:ext cx="36576"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67727" y="4645152"/>
            <a:ext cx="4846320" cy="182880"/>
          </a:xfrm>
          <a:prstGeom prst="rect">
            <a:avLst/>
          </a:prstGeom>
          <a:noFill/>
        </p:spPr>
        <p:txBody>
          <a:bodyPr wrap="square" lIns="36576" rIns="36576" tIns="9144" bIns="9144">
            <a:spAutoFit/>
          </a:bodyPr>
          <a:lstStyle/>
          <a:p>
            <a:r>
              <a:rPr sz="850" b="1">
                <a:solidFill>
                  <a:srgbClr val="B91C1C"/>
                </a:solidFill>
                <a:latin typeface="Calibri"/>
              </a:rPr>
              <a:t>Downside Scenario Assumptions</a:t>
            </a:r>
          </a:p>
        </p:txBody>
      </p:sp>
      <p:sp>
        <p:nvSpPr>
          <p:cNvPr id="38" name="TextBox 37"/>
          <p:cNvSpPr txBox="1"/>
          <p:nvPr/>
        </p:nvSpPr>
        <p:spPr>
          <a:xfrm>
            <a:off x="6967727" y="4846320"/>
            <a:ext cx="4846320" cy="548640"/>
          </a:xfrm>
          <a:prstGeom prst="rect">
            <a:avLst/>
          </a:prstGeom>
          <a:noFill/>
        </p:spPr>
        <p:txBody>
          <a:bodyPr wrap="square" lIns="36576" rIns="36576" tIns="9144" bIns="9144">
            <a:spAutoFit/>
          </a:bodyPr>
          <a:lstStyle/>
          <a:p>
            <a:r>
              <a:rPr sz="700" b="0">
                <a:solidFill>
                  <a:srgbClr val="111111"/>
                </a:solidFill>
                <a:latin typeface="Calibri"/>
              </a:rPr>
              <a:t>If SEBI regulatory headwinds intensify (additional F&amp;O restrictions, fee caps on AMC), revenue CAGR compresses to 15-18%. If AUM growth slows to 15% YoY due to market correction, PAT CAGR reverts to ~10%. Combined downside yields PAT of ~₹2,800 Cr in FY26E vs. base ₹3,066 Cr - approximately 9% downside to earnings. Stop loss at ₹750 provides reasonable risk management.</a:t>
            </a:r>
          </a:p>
        </p:txBody>
      </p:sp>
      <p:sp>
        <p:nvSpPr>
          <p:cNvPr id="39" name="TextBox 38"/>
          <p:cNvSpPr txBox="1"/>
          <p:nvPr/>
        </p:nvSpPr>
        <p:spPr>
          <a:xfrm>
            <a:off x="6876288" y="5532120"/>
            <a:ext cx="5029200" cy="182880"/>
          </a:xfrm>
          <a:prstGeom prst="rect">
            <a:avLst/>
          </a:prstGeom>
          <a:noFill/>
        </p:spPr>
        <p:txBody>
          <a:bodyPr wrap="square" lIns="36576" rIns="36576" tIns="9144" bIns="9144">
            <a:spAutoFit/>
          </a:bodyPr>
          <a:lstStyle/>
          <a:p>
            <a:r>
              <a:rPr sz="800" b="1">
                <a:solidFill>
                  <a:srgbClr val="1F4690"/>
                </a:solidFill>
                <a:latin typeface="Calibri"/>
              </a:rPr>
              <a:t>QUARTERLY EARNINGS TREND (RECENT)</a:t>
            </a:r>
          </a:p>
        </p:txBody>
      </p:sp>
      <p:sp>
        <p:nvSpPr>
          <p:cNvPr id="40" name="Rectangle 39"/>
          <p:cNvSpPr/>
          <p:nvPr/>
        </p:nvSpPr>
        <p:spPr>
          <a:xfrm>
            <a:off x="6876288" y="5733288"/>
            <a:ext cx="502920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1" name="Table 40"/>
          <p:cNvGraphicFramePr>
            <a:graphicFrameLocks noGrp="1"/>
          </p:cNvGraphicFramePr>
          <p:nvPr/>
        </p:nvGraphicFramePr>
        <p:xfrm>
          <a:off x="6876288" y="5852159"/>
          <a:ext cx="5029200" cy="822960"/>
        </p:xfrm>
        <a:graphic>
          <a:graphicData uri="http://schemas.openxmlformats.org/drawingml/2006/table">
            <a:tbl>
              <a:tblPr firstRow="1" bandRow="1">
                <a:tableStyleId>{5C22544A-7EE6-4342-B048-85BDC9FD1C3A}</a:tableStyleId>
              </a:tblPr>
              <a:tblGrid>
                <a:gridCol w="1508760"/>
                <a:gridCol w="1257300"/>
                <a:gridCol w="1005840"/>
                <a:gridCol w="1257300"/>
              </a:tblGrid>
              <a:tr h="164592">
                <a:tc>
                  <a:txBody>
                    <a:bodyPr/>
                    <a:lstStyle/>
                    <a:p>
                      <a:pPr algn="l"/>
                      <a:r>
                        <a:rPr sz="700" b="1">
                          <a:solidFill>
                            <a:srgbClr val="FFFFFF"/>
                          </a:solidFill>
                          <a:latin typeface="Calibri"/>
                        </a:rPr>
                        <a:t>Quarter</a:t>
                      </a:r>
                    </a:p>
                  </a:txBody>
                  <a:tcPr anchor="ctr" marL="22860" marR="22860" marT="5486" marB="5486">
                    <a:solidFill>
                      <a:srgbClr val="1F4690"/>
                    </a:solidFill>
                  </a:tcPr>
                </a:tc>
                <a:tc>
                  <a:txBody>
                    <a:bodyPr/>
                    <a:lstStyle/>
                    <a:p>
                      <a:pPr algn="ctr"/>
                      <a:r>
                        <a:rPr sz="700" b="1">
                          <a:solidFill>
                            <a:srgbClr val="FFFFFF"/>
                          </a:solidFill>
                          <a:latin typeface="Calibri"/>
                        </a:rPr>
                        <a:t>Revenue (Cr)</a:t>
                      </a:r>
                    </a:p>
                  </a:txBody>
                  <a:tcPr anchor="ctr" marL="22860" marR="22860" marT="5486" marB="5486">
                    <a:solidFill>
                      <a:srgbClr val="1F4690"/>
                    </a:solidFill>
                  </a:tcPr>
                </a:tc>
                <a:tc>
                  <a:txBody>
                    <a:bodyPr/>
                    <a:lstStyle/>
                    <a:p>
                      <a:pPr algn="ctr"/>
                      <a:r>
                        <a:rPr sz="700" b="1">
                          <a:solidFill>
                            <a:srgbClr val="FFFFFF"/>
                          </a:solidFill>
                          <a:latin typeface="Calibri"/>
                        </a:rPr>
                        <a:t>PAT (Cr)</a:t>
                      </a:r>
                    </a:p>
                  </a:txBody>
                  <a:tcPr anchor="ctr" marL="22860" marR="22860" marT="5486" marB="5486">
                    <a:solidFill>
                      <a:srgbClr val="1F4690"/>
                    </a:solidFill>
                  </a:tcPr>
                </a:tc>
                <a:tc>
                  <a:txBody>
                    <a:bodyPr/>
                    <a:lstStyle/>
                    <a:p>
                      <a:pPr algn="ctr"/>
                      <a:r>
                        <a:rPr sz="700" b="1">
                          <a:solidFill>
                            <a:srgbClr val="FFFFFF"/>
                          </a:solidFill>
                          <a:latin typeface="Calibri"/>
                        </a:rPr>
                        <a:t>YoY Change</a:t>
                      </a:r>
                    </a:p>
                  </a:txBody>
                  <a:tcPr anchor="ctr" marL="22860" marR="22860" marT="5486" marB="5486">
                    <a:solidFill>
                      <a:srgbClr val="1F4690"/>
                    </a:solidFill>
                  </a:tcPr>
                </a:tc>
              </a:tr>
              <a:tr h="164592">
                <a:tc>
                  <a:txBody>
                    <a:bodyPr/>
                    <a:lstStyle/>
                    <a:p>
                      <a:r>
                        <a:rPr sz="700" b="1">
                          <a:solidFill>
                            <a:srgbClr val="111111"/>
                          </a:solidFill>
                          <a:latin typeface="Calibri"/>
                        </a:rPr>
                        <a:t>Q2 FY25</a:t>
                      </a:r>
                    </a:p>
                  </a:txBody>
                  <a:tcPr anchor="ctr" marL="22860" marR="22860" marT="5486" marB="5486">
                    <a:solidFill>
                      <a:srgbClr val="F4F6F9"/>
                    </a:solidFill>
                  </a:tcPr>
                </a:tc>
                <a:tc>
                  <a:txBody>
                    <a:bodyPr/>
                    <a:lstStyle/>
                    <a:p>
                      <a:pPr algn="r"/>
                      <a:r>
                        <a:rPr sz="700" b="0">
                          <a:solidFill>
                            <a:srgbClr val="111111"/>
                          </a:solidFill>
                          <a:latin typeface="Calibri"/>
                        </a:rPr>
                        <a:t>High</a:t>
                      </a:r>
                    </a:p>
                  </a:txBody>
                  <a:tcPr anchor="ctr" marL="22860" marR="22860" marT="5486" marB="5486">
                    <a:solidFill>
                      <a:srgbClr val="F4F6F9"/>
                    </a:solidFill>
                  </a:tcPr>
                </a:tc>
                <a:tc>
                  <a:txBody>
                    <a:bodyPr/>
                    <a:lstStyle/>
                    <a:p>
                      <a:pPr algn="r"/>
                      <a:r>
                        <a:rPr sz="700" b="0">
                          <a:solidFill>
                            <a:srgbClr val="111111"/>
                          </a:solidFill>
                          <a:latin typeface="Calibri"/>
                        </a:rPr>
                        <a:t>₹1,242</a:t>
                      </a:r>
                    </a:p>
                  </a:txBody>
                  <a:tcPr anchor="ctr" marL="22860" marR="22860" marT="5486" marB="5486">
                    <a:solidFill>
                      <a:srgbClr val="F4F6F9"/>
                    </a:solidFill>
                  </a:tcPr>
                </a:tc>
                <a:tc>
                  <a:txBody>
                    <a:bodyPr/>
                    <a:lstStyle/>
                    <a:p>
                      <a:pPr algn="r"/>
                      <a:r>
                        <a:rPr sz="700" b="1">
                          <a:solidFill>
                            <a:srgbClr val="1A7A4A"/>
                          </a:solidFill>
                          <a:latin typeface="Calibri"/>
                        </a:rPr>
                        <a:t>+123% YoY</a:t>
                      </a:r>
                    </a:p>
                  </a:txBody>
                  <a:tcPr anchor="ctr" marL="22860" marR="22860" marT="5486" marB="5486">
                    <a:solidFill>
                      <a:srgbClr val="F4F6F9"/>
                    </a:solidFill>
                  </a:tcPr>
                </a:tc>
              </a:tr>
              <a:tr h="164592">
                <a:tc>
                  <a:txBody>
                    <a:bodyPr/>
                    <a:lstStyle/>
                    <a:p>
                      <a:r>
                        <a:rPr sz="700" b="1">
                          <a:solidFill>
                            <a:srgbClr val="111111"/>
                          </a:solidFill>
                          <a:latin typeface="Calibri"/>
                        </a:rPr>
                        <a:t>H1 FY26 (Op.)</a:t>
                      </a:r>
                    </a:p>
                  </a:txBody>
                  <a:tcPr anchor="ctr" marL="22860" marR="22860" marT="5486" marB="5486">
                    <a:solidFill>
                      <a:srgbClr val="FFFFFF"/>
                    </a:solidFill>
                  </a:tcPr>
                </a:tc>
                <a:tc>
                  <a:txBody>
                    <a:bodyPr/>
                    <a:lstStyle/>
                    <a:p>
                      <a:pPr algn="r"/>
                      <a:r>
                        <a:rPr sz="700" b="0">
                          <a:solidFill>
                            <a:srgbClr val="111111"/>
                          </a:solidFill>
                          <a:latin typeface="Calibri"/>
                        </a:rPr>
                        <a:t>₹2,888</a:t>
                      </a:r>
                    </a:p>
                  </a:txBody>
                  <a:tcPr anchor="ctr" marL="22860" marR="22860" marT="5486" marB="5486">
                    <a:solidFill>
                      <a:srgbClr val="FFFFFF"/>
                    </a:solidFill>
                  </a:tcPr>
                </a:tc>
                <a:tc>
                  <a:txBody>
                    <a:bodyPr/>
                    <a:lstStyle/>
                    <a:p>
                      <a:pPr algn="r"/>
                      <a:r>
                        <a:rPr sz="700" b="0">
                          <a:solidFill>
                            <a:srgbClr val="111111"/>
                          </a:solidFill>
                          <a:latin typeface="Calibri"/>
                        </a:rPr>
                        <a:t>₹1,088</a:t>
                      </a:r>
                    </a:p>
                  </a:txBody>
                  <a:tcPr anchor="ctr" marL="22860" marR="22860" marT="5486" marB="5486">
                    <a:solidFill>
                      <a:srgbClr val="FFFFFF"/>
                    </a:solidFill>
                  </a:tcPr>
                </a:tc>
                <a:tc>
                  <a:txBody>
                    <a:bodyPr/>
                    <a:lstStyle/>
                    <a:p>
                      <a:pPr algn="r"/>
                      <a:r>
                        <a:rPr sz="700" b="1">
                          <a:solidFill>
                            <a:srgbClr val="1A7A4A"/>
                          </a:solidFill>
                          <a:latin typeface="Calibri"/>
                        </a:rPr>
                        <a:t>+11% YoY</a:t>
                      </a:r>
                    </a:p>
                  </a:txBody>
                  <a:tcPr anchor="ctr" marL="22860" marR="22860" marT="5486" marB="5486">
                    <a:solidFill>
                      <a:srgbClr val="FFFFFF"/>
                    </a:solidFill>
                  </a:tcPr>
                </a:tc>
              </a:tr>
              <a:tr h="164592">
                <a:tc>
                  <a:txBody>
                    <a:bodyPr/>
                    <a:lstStyle/>
                    <a:p>
                      <a:r>
                        <a:rPr sz="700" b="1">
                          <a:solidFill>
                            <a:srgbClr val="111111"/>
                          </a:solidFill>
                          <a:latin typeface="Calibri"/>
                        </a:rPr>
                        <a:t>Q2 FY26</a:t>
                      </a:r>
                    </a:p>
                  </a:txBody>
                  <a:tcPr anchor="ctr" marL="22860" marR="22860" marT="5486" marB="5486">
                    <a:solidFill>
                      <a:srgbClr val="F4F6F9"/>
                    </a:solidFill>
                  </a:tcPr>
                </a:tc>
                <a:tc>
                  <a:txBody>
                    <a:bodyPr/>
                    <a:lstStyle/>
                    <a:p>
                      <a:pPr algn="r"/>
                      <a:r>
                        <a:rPr sz="700" b="0">
                          <a:solidFill>
                            <a:srgbClr val="111111"/>
                          </a:solidFill>
                          <a:latin typeface="Calibri"/>
                        </a:rPr>
                        <a:t>-34.91%</a:t>
                      </a:r>
                    </a:p>
                  </a:txBody>
                  <a:tcPr anchor="ctr" marL="22860" marR="22860" marT="5486" marB="5486">
                    <a:solidFill>
                      <a:srgbClr val="F4F6F9"/>
                    </a:solidFill>
                  </a:tcPr>
                </a:tc>
                <a:tc>
                  <a:txBody>
                    <a:bodyPr/>
                    <a:lstStyle/>
                    <a:p>
                      <a:pPr algn="r"/>
                      <a:r>
                        <a:rPr sz="700" b="0">
                          <a:solidFill>
                            <a:srgbClr val="111111"/>
                          </a:solidFill>
                          <a:latin typeface="Calibri"/>
                        </a:rPr>
                        <a:t>-67.64%</a:t>
                      </a:r>
                    </a:p>
                  </a:txBody>
                  <a:tcPr anchor="ctr" marL="22860" marR="22860" marT="5486" marB="5486">
                    <a:solidFill>
                      <a:srgbClr val="F4F6F9"/>
                    </a:solidFill>
                  </a:tcPr>
                </a:tc>
                <a:tc>
                  <a:txBody>
                    <a:bodyPr/>
                    <a:lstStyle/>
                    <a:p>
                      <a:pPr algn="r"/>
                      <a:r>
                        <a:rPr sz="700" b="1">
                          <a:solidFill>
                            <a:srgbClr val="B91C1C"/>
                          </a:solidFill>
                          <a:latin typeface="Calibri"/>
                        </a:rPr>
                        <a:t>SEBI F&amp;O impact</a:t>
                      </a:r>
                    </a:p>
                  </a:txBody>
                  <a:tcPr anchor="ctr" marL="22860" marR="22860" marT="5486" marB="5486">
                    <a:solidFill>
                      <a:srgbClr val="F4F6F9"/>
                    </a:solidFill>
                  </a:tcPr>
                </a:tc>
              </a:tr>
              <a:tr h="164592">
                <a:tc>
                  <a:txBody>
                    <a:bodyPr/>
                    <a:lstStyle/>
                    <a:p>
                      <a:r>
                        <a:rPr sz="700" b="1">
                          <a:solidFill>
                            <a:srgbClr val="111111"/>
                          </a:solidFill>
                          <a:latin typeface="Calibri"/>
                        </a:rPr>
                        <a:t>Op. PAT (Q2 FY26)</a:t>
                      </a:r>
                    </a:p>
                  </a:txBody>
                  <a:tcPr anchor="ctr" marL="22860" marR="22860" marT="5486" marB="5486">
                    <a:solidFill>
                      <a:srgbClr val="FFFFFF"/>
                    </a:solidFill>
                  </a:tcPr>
                </a:tc>
                <a:tc>
                  <a:txBody>
                    <a:bodyPr/>
                    <a:lstStyle/>
                    <a:p>
                      <a:pPr algn="r"/>
                      <a:r>
                        <a:rPr sz="700" b="0">
                          <a:solidFill>
                            <a:srgbClr val="111111"/>
                          </a:solidFill>
                          <a:latin typeface="Calibri"/>
                        </a:rPr>
                        <a:t>-</a:t>
                      </a:r>
                    </a:p>
                  </a:txBody>
                  <a:tcPr anchor="ctr" marL="22860" marR="22860" marT="5486" marB="5486">
                    <a:solidFill>
                      <a:srgbClr val="FFFFFF"/>
                    </a:solidFill>
                  </a:tcPr>
                </a:tc>
                <a:tc>
                  <a:txBody>
                    <a:bodyPr/>
                    <a:lstStyle/>
                    <a:p>
                      <a:pPr algn="r"/>
                      <a:r>
                        <a:rPr sz="700" b="0">
                          <a:solidFill>
                            <a:srgbClr val="111111"/>
                          </a:solidFill>
                          <a:latin typeface="Calibri"/>
                        </a:rPr>
                        <a:t>₹611 Cr</a:t>
                      </a:r>
                    </a:p>
                  </a:txBody>
                  <a:tcPr anchor="ctr" marL="22860" marR="22860" marT="5486" marB="5486">
                    <a:solidFill>
                      <a:srgbClr val="FFFFFF"/>
                    </a:solidFill>
                  </a:tcPr>
                </a:tc>
                <a:tc>
                  <a:txBody>
                    <a:bodyPr/>
                    <a:lstStyle/>
                    <a:p>
                      <a:pPr algn="r"/>
                      <a:r>
                        <a:rPr sz="700" b="1">
                          <a:solidFill>
                            <a:srgbClr val="1A7A4A"/>
                          </a:solidFill>
                          <a:latin typeface="Calibri"/>
                        </a:rPr>
                        <a:t>+16% YoY</a:t>
                      </a:r>
                    </a:p>
                  </a:txBody>
                  <a:tcPr anchor="ctr" marL="22860" marR="22860" marT="5486" marB="5486">
                    <a:solidFill>
                      <a:srgbClr val="FFFFFF"/>
                    </a:solidFill>
                  </a:tcPr>
                </a:tc>
              </a:tr>
            </a:tbl>
          </a:graphicData>
        </a:graphic>
      </p:graphicFrame>
      <p:sp>
        <p:nvSpPr>
          <p:cNvPr id="42" name="TextBox 41"/>
          <p:cNvSpPr txBox="1"/>
          <p:nvPr/>
        </p:nvSpPr>
        <p:spPr>
          <a:xfrm>
            <a:off x="6876288" y="6766559"/>
            <a:ext cx="5029200" cy="137160"/>
          </a:xfrm>
          <a:prstGeom prst="rect">
            <a:avLst/>
          </a:prstGeom>
          <a:noFill/>
        </p:spPr>
        <p:txBody>
          <a:bodyPr wrap="square" lIns="36576" rIns="36576" tIns="9144" bIns="9144">
            <a:spAutoFit/>
          </a:bodyPr>
          <a:lstStyle/>
          <a:p>
            <a:r>
              <a:rPr sz="600" b="0">
                <a:solidFill>
                  <a:srgbClr val="5A6573"/>
                </a:solidFill>
                <a:latin typeface="Calibri"/>
              </a:rPr>
              <a:t>Source: MOFSL Quarterly Reports; Tikona Capital Research estimates.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 — Earnings Trajectory</a:t>
            </a:r>
          </a:p>
        </p:txBody>
      </p:sp>
      <p:sp>
        <p:nvSpPr>
          <p:cNvPr id="15" name="TextBox 14"/>
          <p:cNvSpPr txBox="1"/>
          <p:nvPr/>
        </p:nvSpPr>
        <p:spPr>
          <a:xfrm>
            <a:off x="292608" y="1143000"/>
            <a:ext cx="3840480" cy="182880"/>
          </a:xfrm>
          <a:prstGeom prst="rect">
            <a:avLst/>
          </a:prstGeom>
          <a:noFill/>
        </p:spPr>
        <p:txBody>
          <a:bodyPr wrap="square" lIns="36576" rIns="36576" tIns="9144" bIns="9144">
            <a:spAutoFit/>
          </a:bodyPr>
          <a:lstStyle/>
          <a:p>
            <a:r>
              <a:rPr sz="800" b="1">
                <a:solidFill>
                  <a:srgbClr val="1F4690"/>
                </a:solidFill>
                <a:latin typeface="Calibri"/>
              </a:rPr>
              <a:t>QUARTERLY HIGHLIGHTS</a:t>
            </a:r>
          </a:p>
        </p:txBody>
      </p:sp>
      <p:sp>
        <p:nvSpPr>
          <p:cNvPr id="16" name="Rectangle 15"/>
          <p:cNvSpPr/>
          <p:nvPr/>
        </p:nvSpPr>
        <p:spPr>
          <a:xfrm>
            <a:off x="292608" y="1344168"/>
            <a:ext cx="384048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463040"/>
            <a:ext cx="3840480" cy="228600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1463040"/>
            <a:ext cx="36576" cy="22860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1554480"/>
            <a:ext cx="3566160" cy="2103120"/>
          </a:xfrm>
          <a:prstGeom prst="rect">
            <a:avLst/>
          </a:prstGeom>
          <a:noFill/>
        </p:spPr>
        <p:txBody>
          <a:bodyPr wrap="square" lIns="36576" rIns="36576" tIns="9144" bIns="9144">
            <a:spAutoFit/>
          </a:bodyPr>
          <a:lstStyle/>
          <a:p>
            <a:r>
              <a:rPr sz="800" b="0">
                <a:solidFill>
                  <a:srgbClr val="111111"/>
                </a:solidFill>
                <a:latin typeface="Calibri"/>
              </a:rPr>
              <a:t>Recent quarterly trajectory showing the variability inherent to the cyclical revenue base.</a:t>
            </a:r>
          </a:p>
        </p:txBody>
      </p:sp>
      <p:sp>
        <p:nvSpPr>
          <p:cNvPr id="20" name="TextBox 19"/>
          <p:cNvSpPr txBox="1"/>
          <p:nvPr/>
        </p:nvSpPr>
        <p:spPr>
          <a:xfrm>
            <a:off x="292608" y="3886200"/>
            <a:ext cx="3840480" cy="182880"/>
          </a:xfrm>
          <a:prstGeom prst="rect">
            <a:avLst/>
          </a:prstGeom>
          <a:noFill/>
        </p:spPr>
        <p:txBody>
          <a:bodyPr wrap="square" lIns="36576" rIns="36576" tIns="9144" bIns="9144">
            <a:spAutoFit/>
          </a:bodyPr>
          <a:lstStyle/>
          <a:p>
            <a:r>
              <a:rPr sz="800" b="1">
                <a:solidFill>
                  <a:srgbClr val="1F4690"/>
                </a:solidFill>
                <a:latin typeface="Calibri"/>
              </a:rPr>
              <a:t>RECENT METRICS</a:t>
            </a:r>
          </a:p>
        </p:txBody>
      </p:sp>
      <p:sp>
        <p:nvSpPr>
          <p:cNvPr id="21" name="Rectangle 20"/>
          <p:cNvSpPr/>
          <p:nvPr/>
        </p:nvSpPr>
        <p:spPr>
          <a:xfrm>
            <a:off x="292608" y="4087368"/>
            <a:ext cx="3840480"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92608" y="4206240"/>
            <a:ext cx="1874520" cy="548640"/>
          </a:xfrm>
          <a:prstGeom prst="roundRect">
            <a:avLst/>
          </a:prstGeom>
          <a:solidFill>
            <a:srgbClr val="FFFFFF"/>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4251960"/>
            <a:ext cx="1874520" cy="137160"/>
          </a:xfrm>
          <a:prstGeom prst="rect">
            <a:avLst/>
          </a:prstGeom>
          <a:noFill/>
        </p:spPr>
        <p:txBody>
          <a:bodyPr wrap="square" lIns="36576" rIns="36576" tIns="9144" bIns="9144">
            <a:spAutoFit/>
          </a:bodyPr>
          <a:lstStyle/>
          <a:p>
            <a:pPr algn="ctr"/>
            <a:r>
              <a:rPr sz="650" b="1">
                <a:solidFill>
                  <a:srgbClr val="FFA500"/>
                </a:solidFill>
                <a:latin typeface="Calibri"/>
              </a:rPr>
              <a:t>Latest Qtr REVENUE</a:t>
            </a:r>
          </a:p>
        </p:txBody>
      </p:sp>
      <p:sp>
        <p:nvSpPr>
          <p:cNvPr id="24" name="TextBox 23"/>
          <p:cNvSpPr txBox="1"/>
          <p:nvPr/>
        </p:nvSpPr>
        <p:spPr>
          <a:xfrm>
            <a:off x="292608" y="4434840"/>
            <a:ext cx="1874520" cy="228600"/>
          </a:xfrm>
          <a:prstGeom prst="rect">
            <a:avLst/>
          </a:prstGeom>
          <a:noFill/>
        </p:spPr>
        <p:txBody>
          <a:bodyPr wrap="square" lIns="36576" rIns="36576" tIns="9144" bIns="9144">
            <a:spAutoFit/>
          </a:bodyPr>
          <a:lstStyle/>
          <a:p>
            <a:pPr algn="ctr"/>
            <a:r>
              <a:rPr sz="1400" b="1">
                <a:solidFill>
                  <a:srgbClr val="1F4690"/>
                </a:solidFill>
                <a:latin typeface="Calibri"/>
              </a:rPr>
              <a:t>N/A</a:t>
            </a:r>
          </a:p>
        </p:txBody>
      </p:sp>
      <p:sp>
        <p:nvSpPr>
          <p:cNvPr id="25" name="Rounded Rectangle 24"/>
          <p:cNvSpPr/>
          <p:nvPr/>
        </p:nvSpPr>
        <p:spPr>
          <a:xfrm>
            <a:off x="2258568" y="4206240"/>
            <a:ext cx="1874520" cy="548640"/>
          </a:xfrm>
          <a:prstGeom prst="roundRect">
            <a:avLst/>
          </a:prstGeom>
          <a:solidFill>
            <a:srgbClr val="FFFFFF"/>
          </a:solidFill>
          <a:ln w="889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58568" y="4251960"/>
            <a:ext cx="1874520" cy="137160"/>
          </a:xfrm>
          <a:prstGeom prst="rect">
            <a:avLst/>
          </a:prstGeom>
          <a:noFill/>
        </p:spPr>
        <p:txBody>
          <a:bodyPr wrap="square" lIns="36576" rIns="36576" tIns="9144" bIns="9144">
            <a:spAutoFit/>
          </a:bodyPr>
          <a:lstStyle/>
          <a:p>
            <a:pPr algn="ctr"/>
            <a:r>
              <a:rPr sz="650" b="1">
                <a:solidFill>
                  <a:srgbClr val="1A7A4A"/>
                </a:solidFill>
                <a:latin typeface="Calibri"/>
              </a:rPr>
              <a:t>Latest Qtr PAT</a:t>
            </a:r>
          </a:p>
        </p:txBody>
      </p:sp>
      <p:sp>
        <p:nvSpPr>
          <p:cNvPr id="27" name="TextBox 26"/>
          <p:cNvSpPr txBox="1"/>
          <p:nvPr/>
        </p:nvSpPr>
        <p:spPr>
          <a:xfrm>
            <a:off x="2258568" y="4434840"/>
            <a:ext cx="1874520" cy="228600"/>
          </a:xfrm>
          <a:prstGeom prst="rect">
            <a:avLst/>
          </a:prstGeom>
          <a:noFill/>
        </p:spPr>
        <p:txBody>
          <a:bodyPr wrap="square" lIns="36576" rIns="36576" tIns="9144" bIns="9144">
            <a:spAutoFit/>
          </a:bodyPr>
          <a:lstStyle/>
          <a:p>
            <a:pPr algn="ctr"/>
            <a:r>
              <a:rPr sz="1400" b="1">
                <a:solidFill>
                  <a:srgbClr val="1F4690"/>
                </a:solidFill>
                <a:latin typeface="Calibri"/>
              </a:rPr>
              <a:t>N/A</a:t>
            </a:r>
          </a:p>
        </p:txBody>
      </p:sp>
      <p:sp>
        <p:nvSpPr>
          <p:cNvPr id="28" name="TextBox 27"/>
          <p:cNvSpPr txBox="1"/>
          <p:nvPr/>
        </p:nvSpPr>
        <p:spPr>
          <a:xfrm>
            <a:off x="4407408" y="1143000"/>
            <a:ext cx="7498079" cy="182880"/>
          </a:xfrm>
          <a:prstGeom prst="rect">
            <a:avLst/>
          </a:prstGeom>
          <a:noFill/>
        </p:spPr>
        <p:txBody>
          <a:bodyPr wrap="square" lIns="36576" rIns="36576" tIns="9144" bIns="9144">
            <a:spAutoFit/>
          </a:bodyPr>
          <a:lstStyle/>
          <a:p>
            <a:r>
              <a:rPr sz="800" b="1">
                <a:solidFill>
                  <a:srgbClr val="1F4690"/>
                </a:solidFill>
                <a:latin typeface="Calibri"/>
              </a:rPr>
              <a:t>QUARTERLY FINANCIAL TREND (₹ CRORE)</a:t>
            </a:r>
          </a:p>
        </p:txBody>
      </p:sp>
      <p:sp>
        <p:nvSpPr>
          <p:cNvPr id="29" name="Rectangle 28"/>
          <p:cNvSpPr/>
          <p:nvPr/>
        </p:nvSpPr>
        <p:spPr>
          <a:xfrm>
            <a:off x="4407408" y="1344168"/>
            <a:ext cx="7498079" cy="1828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0" name="Table 29"/>
          <p:cNvGraphicFramePr>
            <a:graphicFrameLocks noGrp="1"/>
          </p:cNvGraphicFramePr>
          <p:nvPr/>
        </p:nvGraphicFramePr>
        <p:xfrm>
          <a:off x="4407408" y="1463040"/>
          <a:ext cx="7498073" cy="2011680"/>
        </p:xfrm>
        <a:graphic>
          <a:graphicData uri="http://schemas.openxmlformats.org/drawingml/2006/table">
            <a:tbl>
              <a:tblPr firstRow="1" bandRow="1">
                <a:tableStyleId>{5C22544A-7EE6-4342-B048-85BDC9FD1C3A}</a:tableStyleId>
              </a:tblPr>
              <a:tblGrid>
                <a:gridCol w="1874519"/>
                <a:gridCol w="937259"/>
                <a:gridCol w="937259"/>
                <a:gridCol w="937259"/>
                <a:gridCol w="937259"/>
                <a:gridCol w="937259"/>
                <a:gridCol w="937259"/>
              </a:tblGrid>
              <a:tr h="201168">
                <a:tc>
                  <a:txBody>
                    <a:bodyPr/>
                    <a:lstStyle/>
                    <a:p>
                      <a:pPr algn="l"/>
                      <a:r>
                        <a:rPr sz="700" b="1">
                          <a:solidFill>
                            <a:srgbClr val="FFFFFF"/>
                          </a:solidFill>
                          <a:latin typeface="Calibri"/>
                        </a:rPr>
                        <a:t>Metric</a:t>
                      </a:r>
                    </a:p>
                  </a:txBody>
                  <a:tcPr anchor="ctr" marL="22860" marR="22860" marT="5486" marB="5486">
                    <a:solidFill>
                      <a:srgbClr val="1F4690"/>
                    </a:solidFill>
                  </a:tcPr>
                </a:tc>
                <a:tc>
                  <a:txBody>
                    <a:bodyPr/>
                    <a:lstStyle/>
                    <a:p>
                      <a:pPr algn="ctr"/>
                      <a:r>
                        <a:rPr sz="700" b="1">
                          <a:solidFill>
                            <a:srgbClr val="FFFFFF"/>
                          </a:solidFill>
                          <a:latin typeface="Calibri"/>
                        </a:rPr>
                        <a:t>Q1 FY24</a:t>
                      </a:r>
                    </a:p>
                  </a:txBody>
                  <a:tcPr anchor="ctr" marL="22860" marR="22860" marT="5486" marB="5486">
                    <a:solidFill>
                      <a:srgbClr val="1F4690"/>
                    </a:solidFill>
                  </a:tcPr>
                </a:tc>
                <a:tc>
                  <a:txBody>
                    <a:bodyPr/>
                    <a:lstStyle/>
                    <a:p>
                      <a:pPr algn="ctr"/>
                      <a:r>
                        <a:rPr sz="700" b="1">
                          <a:solidFill>
                            <a:srgbClr val="FFFFFF"/>
                          </a:solidFill>
                          <a:latin typeface="Calibri"/>
                        </a:rPr>
                        <a:t>Q2 FY24</a:t>
                      </a:r>
                    </a:p>
                  </a:txBody>
                  <a:tcPr anchor="ctr" marL="22860" marR="22860" marT="5486" marB="5486">
                    <a:solidFill>
                      <a:srgbClr val="1F4690"/>
                    </a:solidFill>
                  </a:tcPr>
                </a:tc>
                <a:tc>
                  <a:txBody>
                    <a:bodyPr/>
                    <a:lstStyle/>
                    <a:p>
                      <a:pPr algn="ctr"/>
                      <a:r>
                        <a:rPr sz="700" b="1">
                          <a:solidFill>
                            <a:srgbClr val="FFFFFF"/>
                          </a:solidFill>
                          <a:latin typeface="Calibri"/>
                        </a:rPr>
                        <a:t>Q3 FY24</a:t>
                      </a:r>
                    </a:p>
                  </a:txBody>
                  <a:tcPr anchor="ctr" marL="22860" marR="22860" marT="5486" marB="5486">
                    <a:solidFill>
                      <a:srgbClr val="1F4690"/>
                    </a:solidFill>
                  </a:tcPr>
                </a:tc>
                <a:tc>
                  <a:txBody>
                    <a:bodyPr/>
                    <a:lstStyle/>
                    <a:p>
                      <a:pPr algn="ctr"/>
                      <a:r>
                        <a:rPr sz="700" b="1">
                          <a:solidFill>
                            <a:srgbClr val="FFFFFF"/>
                          </a:solidFill>
                          <a:latin typeface="Calibri"/>
                        </a:rPr>
                        <a:t>Q4 FY24</a:t>
                      </a:r>
                    </a:p>
                  </a:txBody>
                  <a:tcPr anchor="ctr" marL="22860" marR="22860" marT="5486" marB="5486">
                    <a:solidFill>
                      <a:srgbClr val="1F4690"/>
                    </a:solidFill>
                  </a:tcPr>
                </a:tc>
                <a:tc>
                  <a:txBody>
                    <a:bodyPr/>
                    <a:lstStyle/>
                    <a:p>
                      <a:pPr algn="ctr"/>
                      <a:r>
                        <a:rPr sz="700" b="1">
                          <a:solidFill>
                            <a:srgbClr val="FFFFFF"/>
                          </a:solidFill>
                          <a:latin typeface="Calibri"/>
                        </a:rPr>
                        <a:t>Q1 FY25</a:t>
                      </a:r>
                    </a:p>
                  </a:txBody>
                  <a:tcPr anchor="ctr" marL="22860" marR="22860" marT="5486" marB="5486">
                    <a:solidFill>
                      <a:srgbClr val="1F4690"/>
                    </a:solidFill>
                  </a:tcPr>
                </a:tc>
                <a:tc>
                  <a:txBody>
                    <a:bodyPr/>
                    <a:lstStyle/>
                    <a:p>
                      <a:pPr algn="ctr"/>
                      <a:r>
                        <a:rPr sz="700" b="1">
                          <a:solidFill>
                            <a:srgbClr val="FFFFFF"/>
                          </a:solidFill>
                          <a:latin typeface="Calibri"/>
                        </a:rPr>
                        <a:t>Q2 FY25</a:t>
                      </a:r>
                    </a:p>
                  </a:txBody>
                  <a:tcPr anchor="ctr" marL="22860" marR="22860" marT="5486" marB="5486">
                    <a:solidFill>
                      <a:srgbClr val="1F4690"/>
                    </a:solidFill>
                  </a:tcPr>
                </a:tc>
              </a:tr>
              <a:tr h="201168">
                <a:tc>
                  <a:txBody>
                    <a:bodyPr/>
                    <a:lstStyle/>
                    <a:p>
                      <a:r>
                        <a:rPr sz="700" b="1">
                          <a:solidFill>
                            <a:srgbClr val="1F4690"/>
                          </a:solidFill>
                          <a:latin typeface="Calibri"/>
                        </a:rPr>
                        <a:t>Operating Performance</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201168">
                <a:tc>
                  <a:txBody>
                    <a:bodyPr/>
                    <a:lstStyle/>
                    <a:p>
                      <a:r>
                        <a:rPr sz="700" b="0">
                          <a:solidFill>
                            <a:srgbClr val="111111"/>
                          </a:solidFill>
                          <a:latin typeface="Calibri"/>
                        </a:rPr>
                        <a:t>Net Revenue</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201168">
                <a:tc>
                  <a:txBody>
                    <a:bodyPr/>
                    <a:lstStyle/>
                    <a:p>
                      <a:r>
                        <a:rPr sz="700" b="0">
                          <a:solidFill>
                            <a:srgbClr val="111111"/>
                          </a:solidFill>
                          <a:latin typeface="Calibri"/>
                        </a:rPr>
                        <a:t>Revenue Growth (YoY)</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201168">
                <a:tc>
                  <a:txBody>
                    <a:bodyPr/>
                    <a:lstStyle/>
                    <a:p>
                      <a:r>
                        <a:rPr sz="700" b="0">
                          <a:solidFill>
                            <a:srgbClr val="111111"/>
                          </a:solidFill>
                          <a:latin typeface="Calibri"/>
                        </a:rPr>
                        <a:t>EBITDA</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201168">
                <a:tc>
                  <a:txBody>
                    <a:bodyPr/>
                    <a:lstStyle/>
                    <a:p>
                      <a:r>
                        <a:rPr sz="700" b="0">
                          <a:solidFill>
                            <a:srgbClr val="111111"/>
                          </a:solidFill>
                          <a:latin typeface="Calibri"/>
                        </a:rPr>
                        <a:t>EBITDA Margin</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201168">
                <a:tc>
                  <a:txBody>
                    <a:bodyPr/>
                    <a:lstStyle/>
                    <a:p>
                      <a:r>
                        <a:rPr sz="700" b="1">
                          <a:solidFill>
                            <a:srgbClr val="1A7A4A"/>
                          </a:solidFill>
                          <a:latin typeface="Calibri"/>
                        </a:rPr>
                        <a:t>PAT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c>
                  <a:txBody>
                    <a:bodyPr/>
                    <a:lstStyle/>
                    <a:p>
                      <a:pPr algn="ctr"/>
                      <a:r>
                        <a:rPr sz="700" b="0">
                          <a:solidFill>
                            <a:srgbClr val="111111"/>
                          </a:solidFill>
                          <a:latin typeface="Calibri"/>
                        </a:rPr>
                        <a:t>-</a:t>
                      </a:r>
                    </a:p>
                  </a:txBody>
                  <a:tcPr anchor="ctr" marL="22860" marR="22860" marT="5486" marB="5486">
                    <a:solidFill>
                      <a:srgbClr val="FFFFFF"/>
                    </a:solidFill>
                  </a:tcPr>
                </a:tc>
              </a:tr>
              <a:tr h="201168">
                <a:tc>
                  <a:txBody>
                    <a:bodyPr/>
                    <a:lstStyle/>
                    <a:p>
                      <a:r>
                        <a:rPr sz="700" b="0">
                          <a:solidFill>
                            <a:srgbClr val="111111"/>
                          </a:solidFill>
                          <a:latin typeface="Calibri"/>
                        </a:rPr>
                        <a:t>PAT Margin</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r h="201168">
                <a:tc>
                  <a:txBody>
                    <a:bodyPr/>
                    <a:lstStyle/>
                    <a:p>
                      <a:r>
                        <a:rPr sz="700" b="1">
                          <a:solidFill>
                            <a:srgbClr val="1F4690"/>
                          </a:solidFill>
                          <a:latin typeface="Calibri"/>
                        </a:rPr>
                        <a:t>Per Share Data</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c>
                  <a:txBody>
                    <a:bodyPr/>
                    <a:lstStyle/>
                    <a:p>
                      <a:r>
                        <a:rPr sz="700" b="0">
                          <a:solidFill>
                            <a:srgbClr val="FFFFFF"/>
                          </a:solidFill>
                          <a:latin typeface="Calibri"/>
                        </a:rPr>
                        <a:t/>
                      </a:r>
                    </a:p>
                  </a:txBody>
                  <a:tcPr anchor="ctr" marL="22860" marR="22860" marT="5486" marB="5486">
                    <a:solidFill>
                      <a:srgbClr val="E8EEF8"/>
                    </a:solidFill>
                  </a:tcPr>
                </a:tc>
              </a:tr>
              <a:tr h="201168">
                <a:tc>
                  <a:txBody>
                    <a:bodyPr/>
                    <a:lstStyle/>
                    <a:p>
                      <a:r>
                        <a:rPr sz="700" b="1">
                          <a:solidFill>
                            <a:srgbClr val="111111"/>
                          </a:solidFill>
                          <a:latin typeface="Calibri"/>
                        </a:rPr>
                        <a:t>EPS (₹)</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c>
                  <a:txBody>
                    <a:bodyPr/>
                    <a:lstStyle/>
                    <a:p>
                      <a:pPr algn="ctr"/>
                      <a:r>
                        <a:rPr sz="700" b="0">
                          <a:solidFill>
                            <a:srgbClr val="111111"/>
                          </a:solidFill>
                          <a:latin typeface="Calibri"/>
                        </a:rPr>
                        <a:t>-</a:t>
                      </a:r>
                    </a:p>
                  </a:txBody>
                  <a:tcPr anchor="ctr" marL="22860" marR="22860" marT="5486" marB="5486">
                    <a:solidFill>
                      <a:srgbClr val="F4F6F9"/>
                    </a:solidFill>
                  </a:tcPr>
                </a:tc>
              </a:tr>
            </a:tbl>
          </a:graphicData>
        </a:graphic>
      </p:graphicFrame>
      <p:sp>
        <p:nvSpPr>
          <p:cNvPr id="31" name="TextBox 30"/>
          <p:cNvSpPr txBox="1"/>
          <p:nvPr/>
        </p:nvSpPr>
        <p:spPr>
          <a:xfrm>
            <a:off x="4407408" y="3566160"/>
            <a:ext cx="7498079" cy="137160"/>
          </a:xfrm>
          <a:prstGeom prst="rect">
            <a:avLst/>
          </a:prstGeom>
          <a:noFill/>
        </p:spPr>
        <p:txBody>
          <a:bodyPr wrap="square" lIns="36576" rIns="36576" tIns="9144" bIns="9144">
            <a:spAutoFit/>
          </a:bodyPr>
          <a:lstStyle/>
          <a:p>
            <a:r>
              <a:rPr sz="600" b="0">
                <a:solidFill>
                  <a:srgbClr val="5A6573"/>
                </a:solidFill>
                <a:latin typeface="Calibri"/>
              </a:rPr>
              <a:t>Source: Company Quarterly Filings; Tikona Capital Research.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6" name="Table 15"/>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3" name="TextBox 12"/>
          <p:cNvSpPr txBox="1"/>
          <p:nvPr/>
        </p:nvSpPr>
        <p:spPr>
          <a:xfrm>
            <a:off x="292608" y="1078992"/>
            <a:ext cx="7059168" cy="182880"/>
          </a:xfrm>
          <a:prstGeom prst="rect">
            <a:avLst/>
          </a:prstGeom>
          <a:noFill/>
        </p:spPr>
        <p:txBody>
          <a:bodyPr wrap="square" lIns="36576" rIns="36576" tIns="9144" bIns="9144">
            <a:spAutoFit/>
          </a:bodyPr>
          <a:lstStyle/>
          <a:p>
            <a:r>
              <a:rPr sz="1000" b="1">
                <a:solidFill>
                  <a:srgbClr val="1F4690"/>
                </a:solidFill>
                <a:latin typeface="Calibri"/>
              </a:rPr>
              <a:t>P/E-Based Valuation — Primary Method</a:t>
            </a:r>
          </a:p>
        </p:txBody>
      </p:sp>
      <p:sp>
        <p:nvSpPr>
          <p:cNvPr id="14" name="Rectangle 13"/>
          <p:cNvSpPr/>
          <p:nvPr/>
        </p:nvSpPr>
        <p:spPr>
          <a:xfrm>
            <a:off x="292608" y="1280160"/>
            <a:ext cx="7059168" cy="2560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1316736"/>
            <a:ext cx="6949440" cy="182880"/>
          </a:xfrm>
          <a:prstGeom prst="rect">
            <a:avLst/>
          </a:prstGeom>
          <a:noFill/>
        </p:spPr>
        <p:txBody>
          <a:bodyPr wrap="square" lIns="36576" rIns="36576" tIns="9144" bIns="9144">
            <a:spAutoFit/>
          </a:bodyPr>
          <a:lstStyle/>
          <a:p>
            <a:r>
              <a:rPr sz="850" b="1">
                <a:solidFill>
                  <a:srgbClr val="FFFFFF"/>
                </a:solidFill>
                <a:latin typeface="Calibri"/>
              </a:rPr>
              <a:t>Target Price Derivation — Tikona Capital Base Case</a:t>
            </a:r>
          </a:p>
        </p:txBody>
      </p:sp>
      <p:graphicFrame>
        <p:nvGraphicFramePr>
          <p:cNvPr id="16" name="Table 15"/>
          <p:cNvGraphicFramePr>
            <a:graphicFrameLocks noGrp="1"/>
          </p:cNvGraphicFramePr>
          <p:nvPr/>
        </p:nvGraphicFramePr>
        <p:xfrm>
          <a:off x="292608" y="1536192"/>
          <a:ext cx="7059166" cy="1463040"/>
        </p:xfrm>
        <a:graphic>
          <a:graphicData uri="http://schemas.openxmlformats.org/drawingml/2006/table">
            <a:tbl>
              <a:tblPr firstRow="1" bandRow="1">
                <a:tableStyleId>{5C22544A-7EE6-4342-B048-85BDC9FD1C3A}</a:tableStyleId>
              </a:tblPr>
              <a:tblGrid>
                <a:gridCol w="2329525"/>
                <a:gridCol w="1576547"/>
                <a:gridCol w="1576547"/>
                <a:gridCol w="1576547"/>
              </a:tblGrid>
              <a:tr h="292608">
                <a:tc>
                  <a:txBody>
                    <a:bodyPr lIns="27432" tIns="36576" bIns="18288"/>
                    <a:lstStyle/>
                    <a:p>
                      <a:r>
                        <a:rPr sz="800" b="1">
                          <a:solidFill>
                            <a:srgbClr val="FFFFFF"/>
                          </a:solidFill>
                          <a:latin typeface="Calibri"/>
                        </a:rPr>
                        <a:t>Method</a:t>
                      </a:r>
                    </a:p>
                  </a:txBody>
                  <a:tcPr>
                    <a:solidFill>
                      <a:srgbClr val="1F4690"/>
                    </a:solidFill>
                  </a:tcPr>
                </a:tc>
                <a:tc>
                  <a:txBody>
                    <a:bodyPr lIns="27432" tIns="36576" bIns="18288"/>
                    <a:lstStyle/>
                    <a:p>
                      <a:r>
                        <a:rPr sz="800" b="1">
                          <a:solidFill>
                            <a:srgbClr val="FFFFFF"/>
                          </a:solidFill>
                          <a:latin typeface="Calibri"/>
                        </a:rPr>
                        <a:t>Multiple Applied</a:t>
                      </a:r>
                    </a:p>
                  </a:txBody>
                  <a:tcPr>
                    <a:solidFill>
                      <a:srgbClr val="1F4690"/>
                    </a:solidFill>
                  </a:tcPr>
                </a:tc>
                <a:tc>
                  <a:txBody>
                    <a:bodyPr lIns="27432" tIns="36576" bIns="18288"/>
                    <a:lstStyle/>
                    <a:p>
                      <a:r>
                        <a:rPr sz="800" b="1">
                          <a:solidFill>
                            <a:srgbClr val="FFFFFF"/>
                          </a:solidFill>
                          <a:latin typeface="Calibri"/>
                        </a:rPr>
                        <a:t>Earnings Base</a:t>
                      </a:r>
                    </a:p>
                  </a:txBody>
                  <a:tcPr>
                    <a:solidFill>
                      <a:srgbClr val="1F4690"/>
                    </a:solidFill>
                  </a:tcPr>
                </a:tc>
                <a:tc>
                  <a:txBody>
                    <a:bodyPr lIns="27432" tIns="36576" bIns="18288"/>
                    <a:lstStyle/>
                    <a:p>
                      <a:r>
                        <a:rPr sz="800" b="1">
                          <a:solidFill>
                            <a:srgbClr val="FFFFFF"/>
                          </a:solidFill>
                          <a:latin typeface="Calibri"/>
                        </a:rPr>
                        <a:t>Value Per Share (₹)</a:t>
                      </a:r>
                    </a:p>
                  </a:txBody>
                  <a:tcPr>
                    <a:solidFill>
                      <a:srgbClr val="1F4690"/>
                    </a:solidFill>
                  </a:tcPr>
                </a:tc>
              </a:tr>
              <a:tr h="292608">
                <a:tc>
                  <a:txBody>
                    <a:bodyPr lIns="27432" tIns="18288" bIns="18288"/>
                    <a:lstStyle/>
                    <a:p>
                      <a:r>
                        <a:rPr sz="800" b="0">
                          <a:solidFill>
                            <a:srgbClr val="111111"/>
                          </a:solidFill>
                          <a:latin typeface="Calibri"/>
                        </a:rPr>
                        <a:t>Base Case P/E</a:t>
                      </a:r>
                    </a:p>
                  </a:txBody>
                  <a:tcPr>
                    <a:solidFill>
                      <a:srgbClr val="FFFFFF"/>
                    </a:solidFill>
                  </a:tcPr>
                </a:tc>
                <a:tc>
                  <a:txBody>
                    <a:bodyPr lIns="27432" tIns="18288" bIns="18288"/>
                    <a:lstStyle/>
                    <a:p>
                      <a:r>
                        <a:rPr sz="800" b="0">
                          <a:solidFill>
                            <a:srgbClr val="111111"/>
                          </a:solidFill>
                          <a:latin typeface="Calibri"/>
                        </a:rPr>
                        <a:t>24x P/E</a:t>
                      </a:r>
                    </a:p>
                  </a:txBody>
                  <a:tcPr>
                    <a:solidFill>
                      <a:srgbClr val="FFFFFF"/>
                    </a:solidFill>
                  </a:tcPr>
                </a:tc>
                <a:tc>
                  <a:txBody>
                    <a:bodyPr lIns="27432" tIns="18288" bIns="18288"/>
                    <a:lstStyle/>
                    <a:p>
                      <a:r>
                        <a:rPr sz="800" b="0">
                          <a:solidFill>
                            <a:srgbClr val="111111"/>
                          </a:solidFill>
                          <a:latin typeface="Calibri"/>
                        </a:rPr>
                        <a:t>FY27E EPS of ₹66.5</a:t>
                      </a:r>
                    </a:p>
                  </a:txBody>
                  <a:tcPr>
                    <a:solidFill>
                      <a:srgbClr val="FFFFFF"/>
                    </a:solidFill>
                  </a:tcPr>
                </a:tc>
                <a:tc>
                  <a:txBody>
                    <a:bodyPr lIns="27432" tIns="18288" bIns="18288"/>
                    <a:lstStyle/>
                    <a:p>
                      <a:r>
                        <a:rPr sz="800" b="0">
                          <a:solidFill>
                            <a:srgbClr val="111111"/>
                          </a:solidFill>
                          <a:latin typeface="Calibri"/>
                        </a:rPr>
                        <a:t>₹1,596 (unadjusted)</a:t>
                      </a:r>
                    </a:p>
                  </a:txBody>
                  <a:tcPr>
                    <a:solidFill>
                      <a:srgbClr val="FFFFFF"/>
                    </a:solidFill>
                  </a:tcPr>
                </a:tc>
              </a:tr>
              <a:tr h="292608">
                <a:tc>
                  <a:txBody>
                    <a:bodyPr lIns="27432" tIns="18288" bIns="18288"/>
                    <a:lstStyle/>
                    <a:p>
                      <a:r>
                        <a:rPr sz="800" b="0">
                          <a:solidFill>
                            <a:srgbClr val="111111"/>
                          </a:solidFill>
                          <a:latin typeface="Calibri"/>
                        </a:rPr>
                        <a:t>Discounted Target (1Y)</a:t>
                      </a:r>
                    </a:p>
                  </a:txBody>
                  <a:tcPr>
                    <a:solidFill>
                      <a:srgbClr val="F5F7FA"/>
                    </a:solidFill>
                  </a:tcPr>
                </a:tc>
                <a:tc>
                  <a:txBody>
                    <a:bodyPr lIns="27432" tIns="18288" bIns="18288"/>
                    <a:lstStyle/>
                    <a:p>
                      <a:r>
                        <a:rPr sz="800" b="0">
                          <a:solidFill>
                            <a:srgbClr val="111111"/>
                          </a:solidFill>
                          <a:latin typeface="Calibri"/>
                        </a:rPr>
                        <a:t>12% discount rate</a:t>
                      </a:r>
                    </a:p>
                  </a:txBody>
                  <a:tcPr>
                    <a:solidFill>
                      <a:srgbClr val="F5F7FA"/>
                    </a:solidFill>
                  </a:tcPr>
                </a:tc>
                <a:tc>
                  <a:txBody>
                    <a:bodyPr lIns="27432" tIns="18288" bIns="18288"/>
                    <a:lstStyle/>
                    <a:p>
                      <a:r>
                        <a:rPr sz="800" b="0">
                          <a:solidFill>
                            <a:srgbClr val="111111"/>
                          </a:solidFill>
                          <a:latin typeface="Calibri"/>
                        </a:rPr>
                        <a:t>12-month forward</a:t>
                      </a:r>
                    </a:p>
                  </a:txBody>
                  <a:tcPr>
                    <a:solidFill>
                      <a:srgbClr val="F5F7FA"/>
                    </a:solidFill>
                  </a:tcPr>
                </a:tc>
                <a:tc>
                  <a:txBody>
                    <a:bodyPr lIns="27432" tIns="18288" bIns="18288"/>
                    <a:lstStyle/>
                    <a:p>
                      <a:r>
                        <a:rPr sz="800" b="0">
                          <a:solidFill>
                            <a:srgbClr val="111111"/>
                          </a:solidFill>
                          <a:latin typeface="Calibri"/>
                        </a:rPr>
                        <a:t>₹1,127 (Base TP)</a:t>
                      </a:r>
                    </a:p>
                  </a:txBody>
                  <a:tcPr>
                    <a:solidFill>
                      <a:srgbClr val="F5F7FA"/>
                    </a:solidFill>
                  </a:tcPr>
                </a:tc>
              </a:tr>
              <a:tr h="292608">
                <a:tc>
                  <a:txBody>
                    <a:bodyPr lIns="27432" tIns="18288" bIns="18288"/>
                    <a:lstStyle/>
                    <a:p>
                      <a:r>
                        <a:rPr sz="800" b="0">
                          <a:solidFill>
                            <a:srgbClr val="111111"/>
                          </a:solidFill>
                          <a:latin typeface="Calibri"/>
                        </a:rPr>
                        <a:t>Analyst Consensus</a:t>
                      </a:r>
                    </a:p>
                  </a:txBody>
                  <a:tcPr>
                    <a:solidFill>
                      <a:srgbClr val="FFFFFF"/>
                    </a:solidFill>
                  </a:tcPr>
                </a:tc>
                <a:tc>
                  <a:txBody>
                    <a:bodyPr lIns="27432" tIns="18288" bIns="18288"/>
                    <a:lstStyle/>
                    <a:p>
                      <a:r>
                        <a:rPr sz="800" b="0">
                          <a:solidFill>
                            <a:srgbClr val="111111"/>
                          </a:solidFill>
                          <a:latin typeface="Calibri"/>
                        </a:rPr>
                        <a:t>Market implied</a:t>
                      </a:r>
                    </a:p>
                  </a:txBody>
                  <a:tcPr>
                    <a:solidFill>
                      <a:srgbClr val="FFFFFF"/>
                    </a:solidFill>
                  </a:tcPr>
                </a:tc>
                <a:tc>
                  <a:txBody>
                    <a:bodyPr lIns="27432" tIns="18288" bIns="18288"/>
                    <a:lstStyle/>
                    <a:p>
                      <a:r>
                        <a:rPr sz="800" b="0">
                          <a:solidFill>
                            <a:srgbClr val="111111"/>
                          </a:solidFill>
                          <a:latin typeface="Calibri"/>
                        </a:rPr>
                        <a:t>Current consensus view</a:t>
                      </a:r>
                    </a:p>
                  </a:txBody>
                  <a:tcPr>
                    <a:solidFill>
                      <a:srgbClr val="FFFFFF"/>
                    </a:solidFill>
                  </a:tcPr>
                </a:tc>
                <a:tc>
                  <a:txBody>
                    <a:bodyPr lIns="27432" tIns="18288" bIns="18288"/>
                    <a:lstStyle/>
                    <a:p>
                      <a:r>
                        <a:rPr sz="800" b="0">
                          <a:solidFill>
                            <a:srgbClr val="111111"/>
                          </a:solidFill>
                          <a:latin typeface="Calibri"/>
                        </a:rPr>
                        <a:t>₹1,126.67</a:t>
                      </a:r>
                    </a:p>
                  </a:txBody>
                  <a:tcPr>
                    <a:solidFill>
                      <a:srgbClr val="FFFFFF"/>
                    </a:solidFill>
                  </a:tcPr>
                </a:tc>
              </a:tr>
              <a:tr h="292608">
                <a:tc>
                  <a:txBody>
                    <a:bodyPr lIns="27432" tIns="18288" bIns="18288"/>
                    <a:lstStyle/>
                    <a:p>
                      <a:r>
                        <a:rPr sz="800" b="1">
                          <a:solidFill>
                            <a:srgbClr val="1F4690"/>
                          </a:solidFill>
                          <a:latin typeface="Calibri"/>
                        </a:rPr>
                        <a:t>Probability-Weighted TP</a:t>
                      </a:r>
                    </a:p>
                  </a:txBody>
                  <a:tcPr>
                    <a:solidFill>
                      <a:srgbClr val="FFF7E0"/>
                    </a:solidFill>
                  </a:tcPr>
                </a:tc>
                <a:tc>
                  <a:txBody>
                    <a:bodyPr lIns="27432" tIns="18288" bIns="18288"/>
                    <a:lstStyle/>
                    <a:p>
                      <a:r>
                        <a:rPr sz="800" b="1">
                          <a:solidFill>
                            <a:srgbClr val="1F4690"/>
                          </a:solidFill>
                          <a:latin typeface="Calibri"/>
                        </a:rPr>
                        <a:t>Scenario blend</a:t>
                      </a:r>
                    </a:p>
                  </a:txBody>
                  <a:tcPr>
                    <a:solidFill>
                      <a:srgbClr val="FFF7E0"/>
                    </a:solidFill>
                  </a:tcPr>
                </a:tc>
                <a:tc>
                  <a:txBody>
                    <a:bodyPr lIns="27432" tIns="18288" bIns="18288"/>
                    <a:lstStyle/>
                    <a:p>
                      <a:r>
                        <a:rPr sz="800" b="1">
                          <a:solidFill>
                            <a:srgbClr val="1F4690"/>
                          </a:solidFill>
                          <a:latin typeface="Calibri"/>
                        </a:rPr>
                        <a:t>30%×Bull + 50%×Base + 20%×Bear</a:t>
                      </a:r>
                    </a:p>
                  </a:txBody>
                  <a:tcPr>
                    <a:solidFill>
                      <a:srgbClr val="FFF7E0"/>
                    </a:solidFill>
                  </a:tcPr>
                </a:tc>
                <a:tc>
                  <a:txBody>
                    <a:bodyPr lIns="27432" tIns="18288" bIns="18288"/>
                    <a:lstStyle/>
                    <a:p>
                      <a:r>
                        <a:rPr sz="800" b="1">
                          <a:solidFill>
                            <a:srgbClr val="1F4690"/>
                          </a:solidFill>
                          <a:latin typeface="Calibri"/>
                        </a:rPr>
                        <a:t>₹1,109</a:t>
                      </a:r>
                    </a:p>
                  </a:txBody>
                  <a:tcPr>
                    <a:solidFill>
                      <a:srgbClr val="FFF7E0"/>
                    </a:solidFill>
                  </a:tcPr>
                </a:tc>
              </a:tr>
            </a:tbl>
          </a:graphicData>
        </a:graphic>
      </p:graphicFrame>
      <p:sp>
        <p:nvSpPr>
          <p:cNvPr id="17" name="TextBox 16"/>
          <p:cNvSpPr txBox="1"/>
          <p:nvPr/>
        </p:nvSpPr>
        <p:spPr>
          <a:xfrm>
            <a:off x="292608" y="3136392"/>
            <a:ext cx="7059168" cy="182880"/>
          </a:xfrm>
          <a:prstGeom prst="rect">
            <a:avLst/>
          </a:prstGeom>
          <a:noFill/>
        </p:spPr>
        <p:txBody>
          <a:bodyPr wrap="square" lIns="36576" rIns="36576" tIns="9144" bIns="9144">
            <a:spAutoFit/>
          </a:bodyPr>
          <a:lstStyle/>
          <a:p>
            <a:r>
              <a:rPr sz="1000" b="1">
                <a:solidFill>
                  <a:srgbClr val="1F4690"/>
                </a:solidFill>
                <a:latin typeface="Calibri"/>
              </a:rPr>
              <a:t>Relative Valuation vs. Peers</a:t>
            </a:r>
          </a:p>
        </p:txBody>
      </p:sp>
      <p:graphicFrame>
        <p:nvGraphicFramePr>
          <p:cNvPr id="18" name="Table 17"/>
          <p:cNvGraphicFramePr>
            <a:graphicFrameLocks noGrp="1"/>
          </p:cNvGraphicFramePr>
          <p:nvPr/>
        </p:nvGraphicFramePr>
        <p:xfrm>
          <a:off x="292608" y="3337560"/>
          <a:ext cx="7059167" cy="585216"/>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Company</a:t>
                      </a:r>
                    </a:p>
                  </a:txBody>
                  <a:tcPr>
                    <a:solidFill>
                      <a:srgbClr val="1F4690"/>
                    </a:solidFill>
                  </a:tcPr>
                </a:tc>
                <a:tc>
                  <a:txBody>
                    <a:bodyPr lIns="27432" tIns="36576" bIns="18288"/>
                    <a:lstStyle/>
                    <a:p>
                      <a:r>
                        <a:rPr sz="800" b="1">
                          <a:solidFill>
                            <a:srgbClr val="FFFFFF"/>
                          </a:solidFill>
                          <a:latin typeface="Calibri"/>
                        </a:rPr>
                        <a:t>P/E (TTM)</a:t>
                      </a:r>
                    </a:p>
                  </a:txBody>
                  <a:tcPr>
                    <a:solidFill>
                      <a:srgbClr val="1F4690"/>
                    </a:solidFill>
                  </a:tcPr>
                </a:tc>
                <a:tc>
                  <a:txBody>
                    <a:bodyPr lIns="27432" tIns="36576" bIns="18288"/>
                    <a:lstStyle/>
                    <a:p>
                      <a:r>
                        <a:rPr sz="800" b="1">
                          <a:solidFill>
                            <a:srgbClr val="FFFFFF"/>
                          </a:solidFill>
                          <a:latin typeface="Calibri"/>
                        </a:rPr>
                        <a:t>P/B</a:t>
                      </a:r>
                    </a:p>
                  </a:txBody>
                  <a:tcPr>
                    <a:solidFill>
                      <a:srgbClr val="1F4690"/>
                    </a:solidFill>
                  </a:tcPr>
                </a:tc>
                <a:tc>
                  <a:txBody>
                    <a:bodyPr lIns="27432" tIns="36576" bIns="18288"/>
                    <a:lstStyle/>
                    <a:p>
                      <a:r>
                        <a:rPr sz="800" b="1">
                          <a:solidFill>
                            <a:srgbClr val="FFFFFF"/>
                          </a:solidFill>
                          <a:latin typeface="Calibri"/>
                        </a:rPr>
                        <a:t>AUM Growth</a:t>
                      </a:r>
                    </a:p>
                  </a:txBody>
                  <a:tcPr>
                    <a:solidFill>
                      <a:srgbClr val="1F4690"/>
                    </a:solidFill>
                  </a:tcPr>
                </a:tc>
                <a:tc>
                  <a:txBody>
                    <a:bodyPr lIns="27432" tIns="36576" bIns="18288"/>
                    <a:lstStyle/>
                    <a:p>
                      <a:r>
                        <a:rPr sz="800" b="1">
                          <a:solidFill>
                            <a:srgbClr val="FFFFFF"/>
                          </a:solidFill>
                          <a:latin typeface="Calibri"/>
                        </a:rPr>
                        <a:t>Comment</a:t>
                      </a:r>
                    </a:p>
                  </a:txBody>
                  <a:tcPr>
                    <a:solidFill>
                      <a:srgbClr val="1F4690"/>
                    </a:solidFill>
                  </a:tcPr>
                </a:tc>
              </a:tr>
              <a:tr h="292608">
                <a:tc>
                  <a:txBody>
                    <a:bodyPr lIns="27432" tIns="18288" bIns="18288"/>
                    <a:lstStyle/>
                    <a:p>
                      <a:r>
                        <a:rPr sz="800" b="1">
                          <a:solidFill>
                            <a:srgbClr val="1F4690"/>
                          </a:solidFill>
                          <a:latin typeface="Calibri"/>
                        </a:rPr>
                        <a:t>Motilal Oswal Financial Services Ltd</a:t>
                      </a:r>
                    </a:p>
                  </a:txBody>
                  <a:tcPr>
                    <a:solidFill>
                      <a:srgbClr val="FFF7E0"/>
                    </a:solidFill>
                  </a:tcPr>
                </a:tc>
                <a:tc>
                  <a:txBody>
                    <a:bodyPr lIns="27432" tIns="18288" bIns="18288"/>
                    <a:lstStyle/>
                    <a:p>
                      <a:r>
                        <a:rPr sz="800" b="1">
                          <a:solidFill>
                            <a:srgbClr val="1F4690"/>
                          </a:solidFill>
                          <a:latin typeface="Calibri"/>
                        </a:rPr>
                        <a:t>24.2x</a:t>
                      </a:r>
                    </a:p>
                  </a:txBody>
                  <a:tcPr>
                    <a:solidFill>
                      <a:srgbClr val="FFF7E0"/>
                    </a:solidFill>
                  </a:tcPr>
                </a:tc>
                <a:tc>
                  <a:txBody>
                    <a:bodyPr lIns="27432" tIns="18288" bIns="18288"/>
                    <a:lstStyle/>
                    <a:p>
                      <a:r>
                        <a:rPr sz="800" b="1">
                          <a:solidFill>
                            <a:srgbClr val="1F4690"/>
                          </a:solidFill>
                          <a:latin typeface="Calibri"/>
                        </a:rPr>
                        <a:t>3.8x</a:t>
                      </a:r>
                    </a:p>
                  </a:txBody>
                  <a:tcPr>
                    <a:solidFill>
                      <a:srgbClr val="FFF7E0"/>
                    </a:solidFill>
                  </a:tcPr>
                </a:tc>
                <a:tc>
                  <a:txBody>
                    <a:bodyPr lIns="27432" tIns="18288" bIns="18288"/>
                    <a:lstStyle/>
                    <a:p>
                      <a:r>
                        <a:rPr sz="800" b="1">
                          <a:solidFill>
                            <a:srgbClr val="1F4690"/>
                          </a:solidFill>
                          <a:latin typeface="Calibri"/>
                        </a:rPr>
                        <a:t>+46% YoY</a:t>
                      </a:r>
                    </a:p>
                  </a:txBody>
                  <a:tcPr>
                    <a:solidFill>
                      <a:srgbClr val="FFF7E0"/>
                    </a:solidFill>
                  </a:tcPr>
                </a:tc>
                <a:tc>
                  <a:txBody>
                    <a:bodyPr lIns="27432" tIns="18288" bIns="18288"/>
                    <a:lstStyle/>
                    <a:p>
                      <a:r>
                        <a:rPr sz="800" b="1">
                          <a:solidFill>
                            <a:srgbClr val="1F4690"/>
                          </a:solidFill>
                          <a:latin typeface="Calibri"/>
                        </a:rPr>
                        <a:t>ARR re-rating pending</a:t>
                      </a:r>
                    </a:p>
                  </a:txBody>
                  <a:tcPr>
                    <a:solidFill>
                      <a:srgbClr val="FFF7E0"/>
                    </a:solidFill>
                  </a:tcPr>
                </a:tc>
              </a:tr>
            </a:tbl>
          </a:graphicData>
        </a:graphic>
      </p:graphicFrame>
      <p:sp>
        <p:nvSpPr>
          <p:cNvPr id="19" name="TextBox 18"/>
          <p:cNvSpPr txBox="1"/>
          <p:nvPr/>
        </p:nvSpPr>
        <p:spPr>
          <a:xfrm>
            <a:off x="292608" y="4059936"/>
            <a:ext cx="7059168" cy="182880"/>
          </a:xfrm>
          <a:prstGeom prst="rect">
            <a:avLst/>
          </a:prstGeom>
          <a:noFill/>
        </p:spPr>
        <p:txBody>
          <a:bodyPr wrap="square" lIns="36576" rIns="36576" tIns="9144" bIns="9144">
            <a:spAutoFit/>
          </a:bodyPr>
          <a:lstStyle/>
          <a:p>
            <a:r>
              <a:rPr sz="1000" b="1">
                <a:solidFill>
                  <a:srgbClr val="1F4690"/>
                </a:solidFill>
                <a:latin typeface="Calibri"/>
              </a:rPr>
              <a:t>Valuation Scenario Summary</a:t>
            </a:r>
          </a:p>
        </p:txBody>
      </p:sp>
      <p:graphicFrame>
        <p:nvGraphicFramePr>
          <p:cNvPr id="20" name="Table 19"/>
          <p:cNvGraphicFramePr>
            <a:graphicFrameLocks noGrp="1"/>
          </p:cNvGraphicFramePr>
          <p:nvPr/>
        </p:nvGraphicFramePr>
        <p:xfrm>
          <a:off x="292608" y="4261104"/>
          <a:ext cx="7059167" cy="1463040"/>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Scenario</a:t>
                      </a:r>
                    </a:p>
                  </a:txBody>
                  <a:tcPr>
                    <a:solidFill>
                      <a:srgbClr val="1F4690"/>
                    </a:solidFill>
                  </a:tcPr>
                </a:tc>
                <a:tc>
                  <a:txBody>
                    <a:bodyPr lIns="27432" tIns="36576" bIns="18288"/>
                    <a:lstStyle/>
                    <a:p>
                      <a:r>
                        <a:rPr sz="800" b="1">
                          <a:solidFill>
                            <a:srgbClr val="FFFFFF"/>
                          </a:solidFill>
                          <a:latin typeface="Calibri"/>
                        </a:rPr>
                        <a:t>Probability</a:t>
                      </a:r>
                    </a:p>
                  </a:txBody>
                  <a:tcPr>
                    <a:solidFill>
                      <a:srgbClr val="1F4690"/>
                    </a:solidFill>
                  </a:tcPr>
                </a:tc>
                <a:tc>
                  <a:txBody>
                    <a:bodyPr lIns="27432" tIns="36576" bIns="18288"/>
                    <a:lstStyle/>
                    <a:p>
                      <a:r>
                        <a:rPr sz="800" b="1">
                          <a:solidFill>
                            <a:srgbClr val="FFFFFF"/>
                          </a:solidFill>
                          <a:latin typeface="Calibri"/>
                        </a:rPr>
                        <a:t>Target Price</a:t>
                      </a:r>
                    </a:p>
                  </a:txBody>
                  <a:tcPr>
                    <a:solidFill>
                      <a:srgbClr val="1F4690"/>
                    </a:solidFill>
                  </a:tcPr>
                </a:tc>
                <a:tc>
                  <a:txBody>
                    <a:bodyPr lIns="27432" tIns="36576" bIns="18288"/>
                    <a:lstStyle/>
                    <a:p>
                      <a:r>
                        <a:rPr sz="800" b="1">
                          <a:solidFill>
                            <a:srgbClr val="FFFFFF"/>
                          </a:solidFill>
                          <a:latin typeface="Calibri"/>
                        </a:rPr>
                        <a:t>Return vs. CMP</a:t>
                      </a:r>
                    </a:p>
                  </a:txBody>
                  <a:tcPr>
                    <a:solidFill>
                      <a:srgbClr val="1F4690"/>
                    </a:solidFill>
                  </a:tcPr>
                </a:tc>
                <a:tc>
                  <a:txBody>
                    <a:bodyPr lIns="27432" tIns="36576" bIns="18288"/>
                    <a:lstStyle/>
                    <a:p>
                      <a:r>
                        <a:rPr sz="800" b="1">
                          <a:solidFill>
                            <a:srgbClr val="FFFFFF"/>
                          </a:solidFill>
                          <a:latin typeface="Calibri"/>
                        </a:rPr>
                        <a:t>Key Assumption</a:t>
                      </a:r>
                    </a:p>
                  </a:txBody>
                  <a:tcPr>
                    <a:solidFill>
                      <a:srgbClr val="1F4690"/>
                    </a:solidFill>
                  </a:tcPr>
                </a:tc>
              </a:tr>
              <a:tr h="292608">
                <a:tc>
                  <a:txBody>
                    <a:bodyPr lIns="27432" tIns="18288" bIns="18288"/>
                    <a:lstStyle/>
                    <a:p>
                      <a:r>
                        <a:rPr sz="800" b="0">
                          <a:solidFill>
                            <a:srgbClr val="111111"/>
                          </a:solidFill>
                          <a:latin typeface="Calibri"/>
                        </a:rPr>
                        <a:t>Bull Case</a:t>
                      </a:r>
                    </a:p>
                  </a:txBody>
                  <a:tcPr>
                    <a:solidFill>
                      <a:srgbClr val="FFFFFF"/>
                    </a:solidFill>
                  </a:tcPr>
                </a:tc>
                <a:tc>
                  <a:txBody>
                    <a:bodyPr lIns="27432" tIns="18288" bIns="18288"/>
                    <a:lstStyle/>
                    <a:p>
                      <a:r>
                        <a:rPr sz="800" b="0">
                          <a:solidFill>
                            <a:srgbClr val="111111"/>
                          </a:solidFill>
                          <a:latin typeface="Calibri"/>
                        </a:rPr>
                        <a:t>30%</a:t>
                      </a:r>
                    </a:p>
                  </a:txBody>
                  <a:tcPr>
                    <a:solidFill>
                      <a:srgbClr val="FFFFFF"/>
                    </a:solidFill>
                  </a:tcPr>
                </a:tc>
                <a:tc>
                  <a:txBody>
                    <a:bodyPr lIns="27432" tIns="18288" bIns="18288"/>
                    <a:lstStyle/>
                    <a:p>
                      <a:r>
                        <a:rPr sz="800" b="0">
                          <a:solidFill>
                            <a:srgbClr val="111111"/>
                          </a:solidFill>
                          <a:latin typeface="Calibri"/>
                        </a:rPr>
                        <a:t>₹1,400</a:t>
                      </a:r>
                    </a:p>
                  </a:txBody>
                  <a:tcPr>
                    <a:solidFill>
                      <a:srgbClr val="FFFFFF"/>
                    </a:solidFill>
                  </a:tcPr>
                </a:tc>
                <a:tc>
                  <a:txBody>
                    <a:bodyPr lIns="27432" tIns="18288" bIns="18288"/>
                    <a:lstStyle/>
                    <a:p>
                      <a:r>
                        <a:rPr sz="800" b="0">
                          <a:solidFill>
                            <a:srgbClr val="111111"/>
                          </a:solidFill>
                          <a:latin typeface="Calibri"/>
                        </a:rPr>
                        <a:t>+70.1%</a:t>
                      </a:r>
                    </a:p>
                  </a:txBody>
                  <a:tcPr>
                    <a:solidFill>
                      <a:srgbClr val="FFFFFF"/>
                    </a:solidFill>
                  </a:tcPr>
                </a:tc>
                <a:tc>
                  <a:txBody>
                    <a:bodyPr lIns="27432" tIns="18288" bIns="18288"/>
                    <a:lstStyle/>
                    <a:p>
                      <a:r>
                        <a:rPr sz="800" b="0">
                          <a:solidFill>
                            <a:srgbClr val="111111"/>
                          </a:solidFill>
                          <a:latin typeface="Calibri"/>
                        </a:rPr>
                        <a:t>ARR &gt; 70%, AMC AUM +40% YoY, regulatory clarity.</a:t>
                      </a:r>
                    </a:p>
                  </a:txBody>
                  <a:tcPr>
                    <a:solidFill>
                      <a:srgbClr val="FFFFFF"/>
                    </a:solidFill>
                  </a:tcPr>
                </a:tc>
              </a:tr>
              <a:tr h="292608">
                <a:tc>
                  <a:txBody>
                    <a:bodyPr lIns="27432" tIns="18288" bIns="18288"/>
                    <a:lstStyle/>
                    <a:p>
                      <a:r>
                        <a:rPr sz="800" b="1">
                          <a:solidFill>
                            <a:srgbClr val="1F4690"/>
                          </a:solidFill>
                          <a:latin typeface="Calibri"/>
                        </a:rPr>
                        <a:t>Base Case</a:t>
                      </a:r>
                    </a:p>
                  </a:txBody>
                  <a:tcPr>
                    <a:solidFill>
                      <a:srgbClr val="FFF7E0"/>
                    </a:solidFill>
                  </a:tcPr>
                </a:tc>
                <a:tc>
                  <a:txBody>
                    <a:bodyPr lIns="27432" tIns="18288" bIns="18288"/>
                    <a:lstStyle/>
                    <a:p>
                      <a:r>
                        <a:rPr sz="800" b="1">
                          <a:solidFill>
                            <a:srgbClr val="1F4690"/>
                          </a:solidFill>
                          <a:latin typeface="Calibri"/>
                        </a:rPr>
                        <a:t>50%</a:t>
                      </a:r>
                    </a:p>
                  </a:txBody>
                  <a:tcPr>
                    <a:solidFill>
                      <a:srgbClr val="FFF7E0"/>
                    </a:solidFill>
                  </a:tcPr>
                </a:tc>
                <a:tc>
                  <a:txBody>
                    <a:bodyPr lIns="27432" tIns="18288" bIns="18288"/>
                    <a:lstStyle/>
                    <a:p>
                      <a:r>
                        <a:rPr sz="800" b="1">
                          <a:solidFill>
                            <a:srgbClr val="1F4690"/>
                          </a:solidFill>
                          <a:latin typeface="Calibri"/>
                        </a:rPr>
                        <a:t>₹1,127</a:t>
                      </a:r>
                    </a:p>
                  </a:txBody>
                  <a:tcPr>
                    <a:solidFill>
                      <a:srgbClr val="FFF7E0"/>
                    </a:solidFill>
                  </a:tcPr>
                </a:tc>
                <a:tc>
                  <a:txBody>
                    <a:bodyPr lIns="27432" tIns="18288" bIns="18288"/>
                    <a:lstStyle/>
                    <a:p>
                      <a:r>
                        <a:rPr sz="800" b="1">
                          <a:solidFill>
                            <a:srgbClr val="1F4690"/>
                          </a:solidFill>
                          <a:latin typeface="Calibri"/>
                        </a:rPr>
                        <a:t>+37.0%</a:t>
                      </a:r>
                    </a:p>
                  </a:txBody>
                  <a:tcPr>
                    <a:solidFill>
                      <a:srgbClr val="FFF7E0"/>
                    </a:solidFill>
                  </a:tcPr>
                </a:tc>
                <a:tc>
                  <a:txBody>
                    <a:bodyPr lIns="27432" tIns="18288" bIns="18288"/>
                    <a:lstStyle/>
                    <a:p>
                      <a:r>
                        <a:rPr sz="800" b="1">
                          <a:solidFill>
                            <a:srgbClr val="1F4690"/>
                          </a:solidFill>
                          <a:latin typeface="Calibri"/>
                        </a:rPr>
                        <a:t>ARR steady at 65%, AUM compounding, stable regulation.</a:t>
                      </a:r>
                    </a:p>
                  </a:txBody>
                  <a:tcPr>
                    <a:solidFill>
                      <a:srgbClr val="FFF7E0"/>
                    </a:solidFill>
                  </a:tcPr>
                </a:tc>
              </a:tr>
              <a:tr h="292608">
                <a:tc>
                  <a:txBody>
                    <a:bodyPr lIns="27432" tIns="18288" bIns="18288"/>
                    <a:lstStyle/>
                    <a:p>
                      <a:r>
                        <a:rPr sz="800" b="0">
                          <a:solidFill>
                            <a:srgbClr val="111111"/>
                          </a:solidFill>
                          <a:latin typeface="Calibri"/>
                        </a:rPr>
                        <a:t>Bear Case</a:t>
                      </a:r>
                    </a:p>
                  </a:txBody>
                  <a:tcPr>
                    <a:solidFill>
                      <a:srgbClr val="FFFFFF"/>
                    </a:solidFill>
                  </a:tcPr>
                </a:tc>
                <a:tc>
                  <a:txBody>
                    <a:bodyPr lIns="27432" tIns="18288" bIns="18288"/>
                    <a:lstStyle/>
                    <a:p>
                      <a:r>
                        <a:rPr sz="800" b="0">
                          <a:solidFill>
                            <a:srgbClr val="111111"/>
                          </a:solidFill>
                          <a:latin typeface="Calibri"/>
                        </a:rPr>
                        <a:t>20%</a:t>
                      </a:r>
                    </a:p>
                  </a:txBody>
                  <a:tcPr>
                    <a:solidFill>
                      <a:srgbClr val="FFFFFF"/>
                    </a:solidFill>
                  </a:tcPr>
                </a:tc>
                <a:tc>
                  <a:txBody>
                    <a:bodyPr lIns="27432" tIns="18288" bIns="18288"/>
                    <a:lstStyle/>
                    <a:p>
                      <a:r>
                        <a:rPr sz="800" b="0">
                          <a:solidFill>
                            <a:srgbClr val="111111"/>
                          </a:solidFill>
                          <a:latin typeface="Calibri"/>
                        </a:rPr>
                        <a:t>₹630</a:t>
                      </a:r>
                    </a:p>
                  </a:txBody>
                  <a:tcPr>
                    <a:solidFill>
                      <a:srgbClr val="FFFFFF"/>
                    </a:solidFill>
                  </a:tcPr>
                </a:tc>
                <a:tc>
                  <a:txBody>
                    <a:bodyPr lIns="27432" tIns="18288" bIns="18288"/>
                    <a:lstStyle/>
                    <a:p>
                      <a:r>
                        <a:rPr sz="800" b="0">
                          <a:solidFill>
                            <a:srgbClr val="111111"/>
                          </a:solidFill>
                          <a:latin typeface="Calibri"/>
                        </a:rPr>
                        <a:t>-23.4%</a:t>
                      </a:r>
                    </a:p>
                  </a:txBody>
                  <a:tcPr>
                    <a:solidFill>
                      <a:srgbClr val="FFFFFF"/>
                    </a:solidFill>
                  </a:tcPr>
                </a:tc>
                <a:tc>
                  <a:txBody>
                    <a:bodyPr lIns="27432" tIns="18288" bIns="18288"/>
                    <a:lstStyle/>
                    <a:p>
                      <a:r>
                        <a:rPr sz="800" b="0">
                          <a:solidFill>
                            <a:srgbClr val="111111"/>
                          </a:solidFill>
                          <a:latin typeface="Calibri"/>
                        </a:rPr>
                        <a:t>Sustained F&amp;O headwinds, fintech share loss.</a:t>
                      </a:r>
                    </a:p>
                  </a:txBody>
                  <a:tcPr>
                    <a:solidFill>
                      <a:srgbClr val="FFFFFF"/>
                    </a:solidFill>
                  </a:tcPr>
                </a:tc>
              </a:tr>
              <a:tr h="292608">
                <a:tc>
                  <a:txBody>
                    <a:bodyPr lIns="27432" tIns="18288" bIns="18288"/>
                    <a:lstStyle/>
                    <a:p>
                      <a:r>
                        <a:rPr sz="800" b="0">
                          <a:solidFill>
                            <a:srgbClr val="111111"/>
                          </a:solidFill>
                          <a:latin typeface="Calibri"/>
                        </a:rPr>
                        <a:t>Prob. Weighted Avg.</a:t>
                      </a:r>
                    </a:p>
                  </a:txBody>
                  <a:tcPr>
                    <a:solidFill>
                      <a:srgbClr val="F5F7FA"/>
                    </a:solidFill>
                  </a:tcPr>
                </a:tc>
                <a:tc>
                  <a:txBody>
                    <a:bodyPr lIns="27432" tIns="18288" bIns="18288"/>
                    <a:lstStyle/>
                    <a:p>
                      <a:r>
                        <a:rPr sz="800" b="0">
                          <a:solidFill>
                            <a:srgbClr val="111111"/>
                          </a:solidFill>
                          <a:latin typeface="Calibri"/>
                        </a:rPr>
                        <a:t>100%</a:t>
                      </a:r>
                    </a:p>
                  </a:txBody>
                  <a:tcPr>
                    <a:solidFill>
                      <a:srgbClr val="F5F7FA"/>
                    </a:solidFill>
                  </a:tcPr>
                </a:tc>
                <a:tc>
                  <a:txBody>
                    <a:bodyPr lIns="27432" tIns="18288" bIns="18288"/>
                    <a:lstStyle/>
                    <a:p>
                      <a:r>
                        <a:rPr sz="800" b="0">
                          <a:solidFill>
                            <a:srgbClr val="111111"/>
                          </a:solidFill>
                          <a:latin typeface="Calibri"/>
                        </a:rPr>
                        <a:t>₹1,109</a:t>
                      </a:r>
                    </a:p>
                  </a:txBody>
                  <a:tcPr>
                    <a:solidFill>
                      <a:srgbClr val="F5F7FA"/>
                    </a:solidFill>
                  </a:tcPr>
                </a:tc>
                <a:tc>
                  <a:txBody>
                    <a:bodyPr lIns="27432" tIns="18288" bIns="18288"/>
                    <a:lstStyle/>
                    <a:p>
                      <a:r>
                        <a:rPr sz="800" b="0">
                          <a:solidFill>
                            <a:srgbClr val="111111"/>
                          </a:solidFill>
                          <a:latin typeface="Calibri"/>
                        </a:rPr>
                        <a:t>+34.8%</a:t>
                      </a:r>
                    </a:p>
                  </a:txBody>
                  <a:tcPr>
                    <a:solidFill>
                      <a:srgbClr val="F5F7FA"/>
                    </a:solidFill>
                  </a:tcPr>
                </a:tc>
                <a:tc>
                  <a:txBody>
                    <a:bodyPr lIns="27432" tIns="18288" bIns="18288"/>
                    <a:lstStyle/>
                    <a:p>
                      <a:r>
                        <a:rPr sz="800" b="0">
                          <a:solidFill>
                            <a:srgbClr val="111111"/>
                          </a:solidFill>
                          <a:latin typeface="Calibri"/>
                        </a:rPr>
                        <a:t>Blended scenario</a:t>
                      </a:r>
                    </a:p>
                  </a:txBody>
                  <a:tcPr>
                    <a:solidFill>
                      <a:srgbClr val="F5F7FA"/>
                    </a:solidFill>
                  </a:tcPr>
                </a:tc>
              </a:tr>
            </a:tbl>
          </a:graphicData>
        </a:graphic>
      </p:graphicFrame>
      <p:sp>
        <p:nvSpPr>
          <p:cNvPr id="21" name="TextBox 20"/>
          <p:cNvSpPr txBox="1"/>
          <p:nvPr/>
        </p:nvSpPr>
        <p:spPr>
          <a:xfrm>
            <a:off x="7516368" y="1078992"/>
            <a:ext cx="4315968" cy="182880"/>
          </a:xfrm>
          <a:prstGeom prst="rect">
            <a:avLst/>
          </a:prstGeom>
          <a:noFill/>
        </p:spPr>
        <p:txBody>
          <a:bodyPr wrap="square" lIns="36576" rIns="36576" tIns="9144" bIns="9144">
            <a:spAutoFit/>
          </a:bodyPr>
          <a:lstStyle/>
          <a:p>
            <a:r>
              <a:rPr sz="1000" b="1">
                <a:solidFill>
                  <a:srgbClr val="1F4690"/>
                </a:solidFill>
                <a:latin typeface="Calibri"/>
              </a:rPr>
              <a:t>Scenario Targets</a:t>
            </a:r>
          </a:p>
        </p:txBody>
      </p:sp>
      <p:sp>
        <p:nvSpPr>
          <p:cNvPr id="22" name="Rounded Rectangle 21"/>
          <p:cNvSpPr/>
          <p:nvPr/>
        </p:nvSpPr>
        <p:spPr>
          <a:xfrm>
            <a:off x="7516368"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16368" y="1335024"/>
            <a:ext cx="1383791" cy="2194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2"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BEAR CASE</a:t>
            </a:r>
          </a:p>
        </p:txBody>
      </p:sp>
      <p:sp>
        <p:nvSpPr>
          <p:cNvPr id="25" name="TextBox 24"/>
          <p:cNvSpPr txBox="1"/>
          <p:nvPr/>
        </p:nvSpPr>
        <p:spPr>
          <a:xfrm>
            <a:off x="7571232" y="1572768"/>
            <a:ext cx="1274063" cy="292608"/>
          </a:xfrm>
          <a:prstGeom prst="rect">
            <a:avLst/>
          </a:prstGeom>
          <a:noFill/>
        </p:spPr>
        <p:txBody>
          <a:bodyPr wrap="square" lIns="36576" rIns="36576" tIns="9144" bIns="9144">
            <a:spAutoFit/>
          </a:bodyPr>
          <a:lstStyle/>
          <a:p>
            <a:pPr algn="ctr"/>
            <a:r>
              <a:rPr sz="1800" b="1">
                <a:solidFill>
                  <a:srgbClr val="B91C1C"/>
                </a:solidFill>
                <a:latin typeface="Calibri"/>
              </a:rPr>
              <a:t>₹630</a:t>
            </a:r>
          </a:p>
        </p:txBody>
      </p:sp>
      <p:sp>
        <p:nvSpPr>
          <p:cNvPr id="26" name="TextBox 25"/>
          <p:cNvSpPr txBox="1"/>
          <p:nvPr/>
        </p:nvSpPr>
        <p:spPr>
          <a:xfrm>
            <a:off x="7571232" y="1874519"/>
            <a:ext cx="1274063" cy="182880"/>
          </a:xfrm>
          <a:prstGeom prst="rect">
            <a:avLst/>
          </a:prstGeom>
          <a:noFill/>
        </p:spPr>
        <p:txBody>
          <a:bodyPr wrap="square" lIns="36576" rIns="36576" tIns="9144" bIns="9144">
            <a:spAutoFit/>
          </a:bodyPr>
          <a:lstStyle/>
          <a:p>
            <a:pPr algn="ctr"/>
            <a:r>
              <a:rPr sz="900" b="1">
                <a:solidFill>
                  <a:srgbClr val="B91C1C"/>
                </a:solidFill>
                <a:latin typeface="Calibri"/>
              </a:rPr>
              <a:t>-23.4% vs CMP</a:t>
            </a:r>
          </a:p>
        </p:txBody>
      </p:sp>
      <p:sp>
        <p:nvSpPr>
          <p:cNvPr id="27" name="TextBox 26"/>
          <p:cNvSpPr txBox="1"/>
          <p:nvPr/>
        </p:nvSpPr>
        <p:spPr>
          <a:xfrm>
            <a:off x="7571232" y="2103120"/>
            <a:ext cx="1274063" cy="960119"/>
          </a:xfrm>
          <a:prstGeom prst="rect">
            <a:avLst/>
          </a:prstGeom>
          <a:noFill/>
        </p:spPr>
        <p:txBody>
          <a:bodyPr wrap="square" lIns="36576" rIns="36576" tIns="9144" bIns="9144">
            <a:spAutoFit/>
          </a:bodyPr>
          <a:lstStyle/>
          <a:p>
            <a:r>
              <a:rPr sz="800" b="0">
                <a:solidFill>
                  <a:srgbClr val="111111"/>
                </a:solidFill>
                <a:latin typeface="Calibri"/>
              </a:rPr>
              <a:t>Sustained F&amp;O headwinds, fintech share loss.</a:t>
            </a:r>
          </a:p>
        </p:txBody>
      </p:sp>
      <p:sp>
        <p:nvSpPr>
          <p:cNvPr id="28" name="Rounded Rectangle 27"/>
          <p:cNvSpPr/>
          <p:nvPr/>
        </p:nvSpPr>
        <p:spPr>
          <a:xfrm>
            <a:off x="8973312"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73312" y="1335024"/>
            <a:ext cx="1383791" cy="2194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28176"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BASE CASE</a:t>
            </a:r>
          </a:p>
        </p:txBody>
      </p:sp>
      <p:sp>
        <p:nvSpPr>
          <p:cNvPr id="31" name="TextBox 30"/>
          <p:cNvSpPr txBox="1"/>
          <p:nvPr/>
        </p:nvSpPr>
        <p:spPr>
          <a:xfrm>
            <a:off x="9028176" y="1572768"/>
            <a:ext cx="1274063" cy="292608"/>
          </a:xfrm>
          <a:prstGeom prst="rect">
            <a:avLst/>
          </a:prstGeom>
          <a:noFill/>
        </p:spPr>
        <p:txBody>
          <a:bodyPr wrap="square" lIns="36576" rIns="36576" tIns="9144" bIns="9144">
            <a:spAutoFit/>
          </a:bodyPr>
          <a:lstStyle/>
          <a:p>
            <a:pPr algn="ctr"/>
            <a:r>
              <a:rPr sz="1800" b="1">
                <a:solidFill>
                  <a:srgbClr val="8A5C00"/>
                </a:solidFill>
                <a:latin typeface="Calibri"/>
              </a:rPr>
              <a:t>₹1,127</a:t>
            </a:r>
          </a:p>
        </p:txBody>
      </p:sp>
      <p:sp>
        <p:nvSpPr>
          <p:cNvPr id="32" name="TextBox 31"/>
          <p:cNvSpPr txBox="1"/>
          <p:nvPr/>
        </p:nvSpPr>
        <p:spPr>
          <a:xfrm>
            <a:off x="9028176" y="1874519"/>
            <a:ext cx="1274063" cy="182880"/>
          </a:xfrm>
          <a:prstGeom prst="rect">
            <a:avLst/>
          </a:prstGeom>
          <a:noFill/>
        </p:spPr>
        <p:txBody>
          <a:bodyPr wrap="square" lIns="36576" rIns="36576" tIns="9144" bIns="9144">
            <a:spAutoFit/>
          </a:bodyPr>
          <a:lstStyle/>
          <a:p>
            <a:pPr algn="ctr"/>
            <a:r>
              <a:rPr sz="900" b="1">
                <a:solidFill>
                  <a:srgbClr val="8A5C00"/>
                </a:solidFill>
                <a:latin typeface="Calibri"/>
              </a:rPr>
              <a:t>+37.0% vs CMP</a:t>
            </a:r>
          </a:p>
        </p:txBody>
      </p:sp>
      <p:sp>
        <p:nvSpPr>
          <p:cNvPr id="33" name="TextBox 32"/>
          <p:cNvSpPr txBox="1"/>
          <p:nvPr/>
        </p:nvSpPr>
        <p:spPr>
          <a:xfrm>
            <a:off x="9028176" y="2103120"/>
            <a:ext cx="1274063" cy="960119"/>
          </a:xfrm>
          <a:prstGeom prst="rect">
            <a:avLst/>
          </a:prstGeom>
          <a:noFill/>
        </p:spPr>
        <p:txBody>
          <a:bodyPr wrap="square" lIns="36576" rIns="36576" tIns="9144" bIns="9144">
            <a:spAutoFit/>
          </a:bodyPr>
          <a:lstStyle/>
          <a:p>
            <a:r>
              <a:rPr sz="800" b="0">
                <a:solidFill>
                  <a:srgbClr val="111111"/>
                </a:solidFill>
                <a:latin typeface="Calibri"/>
              </a:rPr>
              <a:t>ARR steady at 65%, AUM compounding, stable regulation.</a:t>
            </a:r>
          </a:p>
        </p:txBody>
      </p:sp>
      <p:sp>
        <p:nvSpPr>
          <p:cNvPr id="34" name="Rounded Rectangle 33"/>
          <p:cNvSpPr/>
          <p:nvPr/>
        </p:nvSpPr>
        <p:spPr>
          <a:xfrm>
            <a:off x="10430256"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30256" y="1335024"/>
            <a:ext cx="1383791" cy="2194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85120"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BULL CASE</a:t>
            </a:r>
          </a:p>
        </p:txBody>
      </p:sp>
      <p:sp>
        <p:nvSpPr>
          <p:cNvPr id="37" name="TextBox 36"/>
          <p:cNvSpPr txBox="1"/>
          <p:nvPr/>
        </p:nvSpPr>
        <p:spPr>
          <a:xfrm>
            <a:off x="10485120" y="1572768"/>
            <a:ext cx="1274063" cy="292608"/>
          </a:xfrm>
          <a:prstGeom prst="rect">
            <a:avLst/>
          </a:prstGeom>
          <a:noFill/>
        </p:spPr>
        <p:txBody>
          <a:bodyPr wrap="square" lIns="36576" rIns="36576" tIns="9144" bIns="9144">
            <a:spAutoFit/>
          </a:bodyPr>
          <a:lstStyle/>
          <a:p>
            <a:pPr algn="ctr"/>
            <a:r>
              <a:rPr sz="1800" b="1">
                <a:solidFill>
                  <a:srgbClr val="1A7A4A"/>
                </a:solidFill>
                <a:latin typeface="Calibri"/>
              </a:rPr>
              <a:t>₹1,400</a:t>
            </a:r>
          </a:p>
        </p:txBody>
      </p:sp>
      <p:sp>
        <p:nvSpPr>
          <p:cNvPr id="38" name="TextBox 37"/>
          <p:cNvSpPr txBox="1"/>
          <p:nvPr/>
        </p:nvSpPr>
        <p:spPr>
          <a:xfrm>
            <a:off x="10485120" y="1874519"/>
            <a:ext cx="1274063" cy="182880"/>
          </a:xfrm>
          <a:prstGeom prst="rect">
            <a:avLst/>
          </a:prstGeom>
          <a:noFill/>
        </p:spPr>
        <p:txBody>
          <a:bodyPr wrap="square" lIns="36576" rIns="36576" tIns="9144" bIns="9144">
            <a:spAutoFit/>
          </a:bodyPr>
          <a:lstStyle/>
          <a:p>
            <a:pPr algn="ctr"/>
            <a:r>
              <a:rPr sz="900" b="1">
                <a:solidFill>
                  <a:srgbClr val="1A7A4A"/>
                </a:solidFill>
                <a:latin typeface="Calibri"/>
              </a:rPr>
              <a:t>+70.1% vs CMP</a:t>
            </a:r>
          </a:p>
        </p:txBody>
      </p:sp>
      <p:sp>
        <p:nvSpPr>
          <p:cNvPr id="39" name="TextBox 38"/>
          <p:cNvSpPr txBox="1"/>
          <p:nvPr/>
        </p:nvSpPr>
        <p:spPr>
          <a:xfrm>
            <a:off x="10485120" y="2103120"/>
            <a:ext cx="1274063" cy="960119"/>
          </a:xfrm>
          <a:prstGeom prst="rect">
            <a:avLst/>
          </a:prstGeom>
          <a:noFill/>
        </p:spPr>
        <p:txBody>
          <a:bodyPr wrap="square" lIns="36576" rIns="36576" tIns="9144" bIns="9144">
            <a:spAutoFit/>
          </a:bodyPr>
          <a:lstStyle/>
          <a:p>
            <a:r>
              <a:rPr sz="800" b="0">
                <a:solidFill>
                  <a:srgbClr val="111111"/>
                </a:solidFill>
                <a:latin typeface="Calibri"/>
              </a:rPr>
              <a:t>ARR &gt; 70%, AMC AUM +40% YoY, regulatory clarity.</a:t>
            </a:r>
          </a:p>
        </p:txBody>
      </p:sp>
      <p:sp>
        <p:nvSpPr>
          <p:cNvPr id="40" name="Rounded Rectangle 39"/>
          <p:cNvSpPr/>
          <p:nvPr/>
        </p:nvSpPr>
        <p:spPr>
          <a:xfrm>
            <a:off x="7516368" y="3209544"/>
            <a:ext cx="4315968" cy="146304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16368" y="3246120"/>
            <a:ext cx="32004" cy="13898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7808" y="3264408"/>
            <a:ext cx="4169663" cy="164592"/>
          </a:xfrm>
          <a:prstGeom prst="rect">
            <a:avLst/>
          </a:prstGeom>
          <a:noFill/>
        </p:spPr>
        <p:txBody>
          <a:bodyPr wrap="square" lIns="36576" rIns="36576" tIns="9144" bIns="9144">
            <a:spAutoFit/>
          </a:bodyPr>
          <a:lstStyle/>
          <a:p>
            <a:r>
              <a:rPr sz="900" b="1">
                <a:solidFill>
                  <a:srgbClr val="1F4690"/>
                </a:solidFill>
                <a:latin typeface="Calibri"/>
              </a:rPr>
              <a:t>Valuation Conviction: Why 37% Upside Is Conservative</a:t>
            </a:r>
          </a:p>
        </p:txBody>
      </p:sp>
      <p:sp>
        <p:nvSpPr>
          <p:cNvPr id="43" name="TextBox 42"/>
          <p:cNvSpPr txBox="1"/>
          <p:nvPr/>
        </p:nvSpPr>
        <p:spPr>
          <a:xfrm>
            <a:off x="7607808" y="3447288"/>
            <a:ext cx="4169663" cy="1170432"/>
          </a:xfrm>
          <a:prstGeom prst="rect">
            <a:avLst/>
          </a:prstGeom>
          <a:noFill/>
        </p:spPr>
        <p:txBody>
          <a:bodyPr wrap="square" lIns="36576" rIns="36576" tIns="9144" bIns="9144">
            <a:spAutoFit/>
          </a:bodyPr>
          <a:lstStyle/>
          <a:p>
            <a:r>
              <a:rPr sz="800" b="0">
                <a:solidFill>
                  <a:srgbClr val="111111"/>
                </a:solidFill>
                <a:latin typeface="Calibri"/>
              </a:rPr>
              <a:t>At a P/E of 24.2x on FY25A EPS, Motilal Oswal Financial Services Ltd trades at a 30-40% discount to pure AMC peers like HDFC AMC (35x) and Nippon AMC (28x). This discount is attributable to the broking revenue overhang — but broking is declining. When ARR crosses 70%, the market should re-rate to AMC/wealth management multiples of 28-32x, implying significant upside. Our ₹1,127 base case is conse…</a:t>
            </a:r>
          </a:p>
        </p:txBody>
      </p:sp>
      <p:sp>
        <p:nvSpPr>
          <p:cNvPr id="44" name="Rounded Rectangle 43"/>
          <p:cNvSpPr/>
          <p:nvPr/>
        </p:nvSpPr>
        <p:spPr>
          <a:xfrm>
            <a:off x="7516368" y="4764024"/>
            <a:ext cx="4315968" cy="137160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516368" y="4800600"/>
            <a:ext cx="32004" cy="129844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07808" y="4818888"/>
            <a:ext cx="4169663" cy="164592"/>
          </a:xfrm>
          <a:prstGeom prst="rect">
            <a:avLst/>
          </a:prstGeom>
          <a:noFill/>
        </p:spPr>
        <p:txBody>
          <a:bodyPr wrap="square" lIns="36576" rIns="36576" tIns="9144" bIns="9144">
            <a:spAutoFit/>
          </a:bodyPr>
          <a:lstStyle/>
          <a:p>
            <a:r>
              <a:rPr sz="900" b="1">
                <a:solidFill>
                  <a:srgbClr val="1F4690"/>
                </a:solidFill>
                <a:latin typeface="Calibri"/>
              </a:rPr>
              <a:t>Entry Strategy: INR 800-850 Is Optimal Range</a:t>
            </a:r>
          </a:p>
        </p:txBody>
      </p:sp>
      <p:sp>
        <p:nvSpPr>
          <p:cNvPr id="47" name="TextBox 46"/>
          <p:cNvSpPr txBox="1"/>
          <p:nvPr/>
        </p:nvSpPr>
        <p:spPr>
          <a:xfrm>
            <a:off x="7607808" y="5001768"/>
            <a:ext cx="4169663" cy="1078992"/>
          </a:xfrm>
          <a:prstGeom prst="rect">
            <a:avLst/>
          </a:prstGeom>
          <a:noFill/>
        </p:spPr>
        <p:txBody>
          <a:bodyPr wrap="square" lIns="36576" rIns="36576" tIns="9144" bIns="9144">
            <a:spAutoFit/>
          </a:bodyPr>
          <a:lstStyle/>
          <a:p>
            <a:r>
              <a:rPr sz="800" b="0">
                <a:solidFill>
                  <a:srgbClr val="111111"/>
                </a:solidFill>
                <a:latin typeface="Calibri"/>
              </a:rPr>
              <a:t>The INR 800-850 entry range (current CMP ₹823) represents a 15-20% discount to analyst consensus target. 15-20% discount to analyst consensus target — margin of safety. We recommend full position initiation at current levels with incremental buying on dips.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3" name="Rounded Rectangle 12"/>
          <p:cNvSpPr/>
          <p:nvPr/>
        </p:nvSpPr>
        <p:spPr>
          <a:xfrm>
            <a:off x="292608" y="1170432"/>
            <a:ext cx="11612880" cy="475488"/>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280160"/>
            <a:ext cx="1463040" cy="182880"/>
          </a:xfrm>
          <a:prstGeom prst="rect">
            <a:avLst/>
          </a:prstGeom>
          <a:noFill/>
        </p:spPr>
        <p:txBody>
          <a:bodyPr wrap="square" lIns="27432" rIns="27432" tIns="4572" bIns="4572">
            <a:spAutoFit/>
          </a:bodyPr>
          <a:lstStyle/>
          <a:p>
            <a:r>
              <a:rPr sz="1100" b="1">
                <a:solidFill>
                  <a:srgbClr val="1F4690"/>
                </a:solidFill>
                <a:latin typeface="Calibri"/>
              </a:rPr>
              <a:t>SAARTHI Total Score:</a:t>
            </a:r>
          </a:p>
        </p:txBody>
      </p:sp>
      <p:sp>
        <p:nvSpPr>
          <p:cNvPr id="15" name="TextBox 14"/>
          <p:cNvSpPr txBox="1"/>
          <p:nvPr/>
        </p:nvSpPr>
        <p:spPr>
          <a:xfrm>
            <a:off x="1938528" y="1243584"/>
            <a:ext cx="1097280" cy="256032"/>
          </a:xfrm>
          <a:prstGeom prst="rect">
            <a:avLst/>
          </a:prstGeom>
          <a:noFill/>
        </p:spPr>
        <p:txBody>
          <a:bodyPr wrap="square" lIns="27432" rIns="27432" tIns="4572" bIns="4572">
            <a:spAutoFit/>
          </a:bodyPr>
          <a:lstStyle/>
          <a:p>
            <a:r>
              <a:rPr sz="1600" b="1">
                <a:solidFill>
                  <a:srgbClr val="1F4690"/>
                </a:solidFill>
                <a:latin typeface="Calibri"/>
              </a:rPr>
              <a:t>72 / 100</a:t>
            </a:r>
          </a:p>
        </p:txBody>
      </p:sp>
      <p:sp>
        <p:nvSpPr>
          <p:cNvPr id="16" name="Rounded Rectangle 15"/>
          <p:cNvSpPr/>
          <p:nvPr/>
        </p:nvSpPr>
        <p:spPr>
          <a:xfrm>
            <a:off x="3172968" y="1280160"/>
            <a:ext cx="1645920" cy="23774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18688" y="1316736"/>
            <a:ext cx="1554480" cy="128016"/>
          </a:xfrm>
          <a:prstGeom prst="rect">
            <a:avLst/>
          </a:prstGeom>
          <a:noFill/>
        </p:spPr>
        <p:txBody>
          <a:bodyPr wrap="square" lIns="27432" rIns="27432" tIns="4572" bIns="4572">
            <a:spAutoFit/>
          </a:bodyPr>
          <a:lstStyle/>
          <a:p>
            <a:pPr algn="ctr"/>
            <a:r>
              <a:rPr sz="800" b="1">
                <a:solidFill>
                  <a:srgbClr val="1F4690"/>
                </a:solidFill>
                <a:latin typeface="Calibri"/>
              </a:rPr>
              <a:t>BUY (70-84 RANGE)</a:t>
            </a:r>
          </a:p>
        </p:txBody>
      </p:sp>
      <p:sp>
        <p:nvSpPr>
          <p:cNvPr id="18" name="TextBox 17"/>
          <p:cNvSpPr txBox="1"/>
          <p:nvPr/>
        </p:nvSpPr>
        <p:spPr>
          <a:xfrm>
            <a:off x="4956048" y="1307592"/>
            <a:ext cx="3566160" cy="146304"/>
          </a:xfrm>
          <a:prstGeom prst="rect">
            <a:avLst/>
          </a:prstGeom>
          <a:noFill/>
        </p:spPr>
        <p:txBody>
          <a:bodyPr wrap="square" lIns="27432" rIns="27432" tIns="4572" bIns="4572">
            <a:spAutoFit/>
          </a:bodyPr>
          <a:lstStyle/>
          <a:p>
            <a:r>
              <a:rPr sz="800" b="0">
                <a:solidFill>
                  <a:srgbClr val="111111"/>
                </a:solidFill>
                <a:latin typeface="Calibri"/>
              </a:rPr>
              <a:t>Strongest: Addressable Market &amp; Adjacency (9/10)</a:t>
            </a:r>
          </a:p>
        </p:txBody>
      </p:sp>
      <p:sp>
        <p:nvSpPr>
          <p:cNvPr id="19" name="TextBox 18"/>
          <p:cNvSpPr txBox="1"/>
          <p:nvPr/>
        </p:nvSpPr>
        <p:spPr>
          <a:xfrm>
            <a:off x="8385048" y="1307592"/>
            <a:ext cx="3794760" cy="146304"/>
          </a:xfrm>
          <a:prstGeom prst="rect">
            <a:avLst/>
          </a:prstGeom>
          <a:noFill/>
        </p:spPr>
        <p:txBody>
          <a:bodyPr wrap="square" lIns="27432" rIns="27432" tIns="4572" bIns="4572">
            <a:spAutoFit/>
          </a:bodyPr>
          <a:lstStyle/>
          <a:p>
            <a:r>
              <a:rPr sz="800" b="0">
                <a:solidFill>
                  <a:srgbClr val="111111"/>
                </a:solidFill>
                <a:latin typeface="Calibri"/>
              </a:rPr>
              <a:t>Weakest: Asymmetric Pricing Power (10/15)</a:t>
            </a:r>
          </a:p>
        </p:txBody>
      </p:sp>
      <p:sp>
        <p:nvSpPr>
          <p:cNvPr id="20" name="TextBox 19"/>
          <p:cNvSpPr txBox="1"/>
          <p:nvPr/>
        </p:nvSpPr>
        <p:spPr>
          <a:xfrm>
            <a:off x="310896" y="1828800"/>
            <a:ext cx="4937759" cy="164592"/>
          </a:xfrm>
          <a:prstGeom prst="rect">
            <a:avLst/>
          </a:prstGeom>
          <a:noFill/>
        </p:spPr>
        <p:txBody>
          <a:bodyPr wrap="square" lIns="27432" rIns="27432" tIns="4572" bIns="4572">
            <a:spAutoFit/>
          </a:bodyPr>
          <a:lstStyle/>
          <a:p>
            <a:r>
              <a:rPr sz="800" b="1">
                <a:solidFill>
                  <a:srgbClr val="1F4690"/>
                </a:solidFill>
                <a:latin typeface="Calibri"/>
              </a:rPr>
              <a:t>S - Scalability of Core Engine</a:t>
            </a:r>
          </a:p>
        </p:txBody>
      </p:sp>
      <p:sp>
        <p:nvSpPr>
          <p:cNvPr id="21" name="TextBox 20"/>
          <p:cNvSpPr txBox="1"/>
          <p:nvPr/>
        </p:nvSpPr>
        <p:spPr>
          <a:xfrm>
            <a:off x="5266944"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12 / 15</a:t>
            </a:r>
          </a:p>
        </p:txBody>
      </p:sp>
      <p:sp>
        <p:nvSpPr>
          <p:cNvPr id="22" name="Rectangle 21"/>
          <p:cNvSpPr/>
          <p:nvPr/>
        </p:nvSpPr>
        <p:spPr>
          <a:xfrm>
            <a:off x="310896"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 y="2121408"/>
            <a:ext cx="5577840" cy="475488"/>
          </a:xfrm>
          <a:prstGeom prst="rect">
            <a:avLst/>
          </a:prstGeom>
          <a:noFill/>
        </p:spPr>
        <p:txBody>
          <a:bodyPr wrap="square" lIns="27432" rIns="27432" tIns="4572" bIns="4572">
            <a:spAutoFit/>
          </a:bodyPr>
          <a:lstStyle/>
          <a:p>
            <a:r>
              <a:rPr sz="7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5" name="TextBox 24"/>
          <p:cNvSpPr txBox="1"/>
          <p:nvPr/>
        </p:nvSpPr>
        <p:spPr>
          <a:xfrm>
            <a:off x="310896" y="2688336"/>
            <a:ext cx="4937759" cy="164592"/>
          </a:xfrm>
          <a:prstGeom prst="rect">
            <a:avLst/>
          </a:prstGeom>
          <a:noFill/>
        </p:spPr>
        <p:txBody>
          <a:bodyPr wrap="square" lIns="27432" rIns="27432" tIns="4572" bIns="4572">
            <a:spAutoFit/>
          </a:bodyPr>
          <a:lstStyle/>
          <a:p>
            <a:r>
              <a:rPr sz="800" b="1">
                <a:solidFill>
                  <a:srgbClr val="1F4690"/>
                </a:solidFill>
                <a:latin typeface="Calibri"/>
              </a:rPr>
              <a:t>A1 - Addressable Market &amp; Adjacency (Strongest)</a:t>
            </a:r>
          </a:p>
        </p:txBody>
      </p:sp>
      <p:sp>
        <p:nvSpPr>
          <p:cNvPr id="26" name="TextBox 25"/>
          <p:cNvSpPr txBox="1"/>
          <p:nvPr/>
        </p:nvSpPr>
        <p:spPr>
          <a:xfrm>
            <a:off x="5266944"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27" name="Rectangle 26"/>
          <p:cNvSpPr/>
          <p:nvPr/>
        </p:nvSpPr>
        <p:spPr>
          <a:xfrm>
            <a:off x="310896"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0896"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0896" y="2980944"/>
            <a:ext cx="5577840" cy="475488"/>
          </a:xfrm>
          <a:prstGeom prst="rect">
            <a:avLst/>
          </a:prstGeom>
          <a:noFill/>
        </p:spPr>
        <p:txBody>
          <a:bodyPr wrap="square" lIns="27432" rIns="27432" tIns="4572" bIns="4572">
            <a:spAutoFit/>
          </a:bodyPr>
          <a:lstStyle/>
          <a:p>
            <a:r>
              <a:rPr sz="7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0" name="TextBox 29"/>
          <p:cNvSpPr txBox="1"/>
          <p:nvPr/>
        </p:nvSpPr>
        <p:spPr>
          <a:xfrm>
            <a:off x="310896" y="3547872"/>
            <a:ext cx="4937759" cy="164592"/>
          </a:xfrm>
          <a:prstGeom prst="rect">
            <a:avLst/>
          </a:prstGeom>
          <a:noFill/>
        </p:spPr>
        <p:txBody>
          <a:bodyPr wrap="square" lIns="27432" rIns="27432" tIns="4572" bIns="4572">
            <a:spAutoFit/>
          </a:bodyPr>
          <a:lstStyle/>
          <a:p>
            <a:r>
              <a:rPr sz="800" b="1">
                <a:solidFill>
                  <a:srgbClr val="1F4690"/>
                </a:solidFill>
                <a:latin typeface="Calibri"/>
              </a:rPr>
              <a:t>A2 - Asymmetric Pricing Power (Weakest)</a:t>
            </a:r>
          </a:p>
        </p:txBody>
      </p:sp>
      <p:sp>
        <p:nvSpPr>
          <p:cNvPr id="31" name="TextBox 30"/>
          <p:cNvSpPr txBox="1"/>
          <p:nvPr/>
        </p:nvSpPr>
        <p:spPr>
          <a:xfrm>
            <a:off x="5266944"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10 / 15</a:t>
            </a:r>
          </a:p>
        </p:txBody>
      </p:sp>
      <p:sp>
        <p:nvSpPr>
          <p:cNvPr id="32" name="Rectangle 31"/>
          <p:cNvSpPr/>
          <p:nvPr/>
        </p:nvSpPr>
        <p:spPr>
          <a:xfrm>
            <a:off x="310896"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10896" y="3749039"/>
            <a:ext cx="3718560"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 y="3840480"/>
            <a:ext cx="5577840" cy="475488"/>
          </a:xfrm>
          <a:prstGeom prst="rect">
            <a:avLst/>
          </a:prstGeom>
          <a:noFill/>
        </p:spPr>
        <p:txBody>
          <a:bodyPr wrap="square" lIns="27432" rIns="27432" tIns="4572" bIns="4572">
            <a:spAutoFit/>
          </a:bodyPr>
          <a:lstStyle/>
          <a:p>
            <a:r>
              <a:rPr sz="7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5" name="TextBox 34"/>
          <p:cNvSpPr txBox="1"/>
          <p:nvPr/>
        </p:nvSpPr>
        <p:spPr>
          <a:xfrm>
            <a:off x="310896" y="4407408"/>
            <a:ext cx="4937759" cy="164592"/>
          </a:xfrm>
          <a:prstGeom prst="rect">
            <a:avLst/>
          </a:prstGeom>
          <a:noFill/>
        </p:spPr>
        <p:txBody>
          <a:bodyPr wrap="square" lIns="27432" rIns="27432" tIns="4572" bIns="4572">
            <a:spAutoFit/>
          </a:bodyPr>
          <a:lstStyle/>
          <a:p>
            <a:r>
              <a:rPr sz="800" b="1">
                <a:solidFill>
                  <a:srgbClr val="1F4690"/>
                </a:solidFill>
                <a:latin typeface="Calibri"/>
              </a:rPr>
              <a:t>R - Reinvestment Quality</a:t>
            </a:r>
          </a:p>
        </p:txBody>
      </p:sp>
      <p:sp>
        <p:nvSpPr>
          <p:cNvPr id="36" name="TextBox 35"/>
          <p:cNvSpPr txBox="1"/>
          <p:nvPr/>
        </p:nvSpPr>
        <p:spPr>
          <a:xfrm>
            <a:off x="5266944" y="4407408"/>
            <a:ext cx="621792" cy="164592"/>
          </a:xfrm>
          <a:prstGeom prst="rect">
            <a:avLst/>
          </a:prstGeom>
          <a:noFill/>
        </p:spPr>
        <p:txBody>
          <a:bodyPr wrap="square" lIns="27432" rIns="27432" tIns="4572" bIns="4572">
            <a:spAutoFit/>
          </a:bodyPr>
          <a:lstStyle/>
          <a:p>
            <a:pPr algn="r"/>
            <a:r>
              <a:rPr sz="1000" b="1">
                <a:solidFill>
                  <a:srgbClr val="1F4690"/>
                </a:solidFill>
                <a:latin typeface="Calibri"/>
              </a:rPr>
              <a:t>13 / 15</a:t>
            </a:r>
          </a:p>
        </p:txBody>
      </p:sp>
      <p:sp>
        <p:nvSpPr>
          <p:cNvPr id="37" name="Rectangle 36"/>
          <p:cNvSpPr/>
          <p:nvPr/>
        </p:nvSpPr>
        <p:spPr>
          <a:xfrm>
            <a:off x="310896" y="4608576"/>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0896" y="4608576"/>
            <a:ext cx="4834128"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700016"/>
            <a:ext cx="5577840" cy="475488"/>
          </a:xfrm>
          <a:prstGeom prst="rect">
            <a:avLst/>
          </a:prstGeom>
          <a:noFill/>
        </p:spPr>
        <p:txBody>
          <a:bodyPr wrap="square" lIns="27432" rIns="27432" tIns="4572" bIns="4572">
            <a:spAutoFit/>
          </a:bodyPr>
          <a:lstStyle/>
          <a:p>
            <a:r>
              <a:rPr sz="750"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0" name="TextBox 39"/>
          <p:cNvSpPr txBox="1"/>
          <p:nvPr/>
        </p:nvSpPr>
        <p:spPr>
          <a:xfrm>
            <a:off x="6181344" y="1828800"/>
            <a:ext cx="4937759" cy="164592"/>
          </a:xfrm>
          <a:prstGeom prst="rect">
            <a:avLst/>
          </a:prstGeom>
          <a:noFill/>
        </p:spPr>
        <p:txBody>
          <a:bodyPr wrap="square" lIns="27432" rIns="27432" tIns="4572" bIns="4572">
            <a:spAutoFit/>
          </a:bodyPr>
          <a:lstStyle/>
          <a:p>
            <a:r>
              <a:rPr sz="800" b="1">
                <a:solidFill>
                  <a:srgbClr val="1F4690"/>
                </a:solidFill>
                <a:latin typeface="Calibri"/>
              </a:rPr>
              <a:t>T - Track Record Through Adversity</a:t>
            </a:r>
          </a:p>
        </p:txBody>
      </p:sp>
      <p:sp>
        <p:nvSpPr>
          <p:cNvPr id="41" name="TextBox 40"/>
          <p:cNvSpPr txBox="1"/>
          <p:nvPr/>
        </p:nvSpPr>
        <p:spPr>
          <a:xfrm>
            <a:off x="11137392"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8 / 10</a:t>
            </a:r>
          </a:p>
        </p:txBody>
      </p:sp>
      <p:sp>
        <p:nvSpPr>
          <p:cNvPr id="42" name="Rectangle 41"/>
          <p:cNvSpPr/>
          <p:nvPr/>
        </p:nvSpPr>
        <p:spPr>
          <a:xfrm>
            <a:off x="6181344"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81344"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81344" y="2121408"/>
            <a:ext cx="5577840" cy="475488"/>
          </a:xfrm>
          <a:prstGeom prst="rect">
            <a:avLst/>
          </a:prstGeom>
          <a:noFill/>
        </p:spPr>
        <p:txBody>
          <a:bodyPr wrap="square" lIns="27432" rIns="27432" tIns="4572" bIns="4572">
            <a:spAutoFit/>
          </a:bodyPr>
          <a:lstStyle/>
          <a:p>
            <a:r>
              <a:rPr sz="750"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45" name="TextBox 44"/>
          <p:cNvSpPr txBox="1"/>
          <p:nvPr/>
        </p:nvSpPr>
        <p:spPr>
          <a:xfrm>
            <a:off x="6181344" y="2688336"/>
            <a:ext cx="4937759" cy="164592"/>
          </a:xfrm>
          <a:prstGeom prst="rect">
            <a:avLst/>
          </a:prstGeom>
          <a:noFill/>
        </p:spPr>
        <p:txBody>
          <a:bodyPr wrap="square" lIns="27432" rIns="27432" tIns="4572" bIns="4572">
            <a:spAutoFit/>
          </a:bodyPr>
          <a:lstStyle/>
          <a:p>
            <a:r>
              <a:rPr sz="800" b="1">
                <a:solidFill>
                  <a:srgbClr val="1F4690"/>
                </a:solidFill>
                <a:latin typeface="Calibri"/>
              </a:rPr>
              <a:t>H - Human Capital &amp; Institutional DNA</a:t>
            </a:r>
          </a:p>
        </p:txBody>
      </p:sp>
      <p:sp>
        <p:nvSpPr>
          <p:cNvPr id="46" name="TextBox 45"/>
          <p:cNvSpPr txBox="1"/>
          <p:nvPr/>
        </p:nvSpPr>
        <p:spPr>
          <a:xfrm>
            <a:off x="11137392"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47" name="Rectangle 46"/>
          <p:cNvSpPr/>
          <p:nvPr/>
        </p:nvSpPr>
        <p:spPr>
          <a:xfrm>
            <a:off x="6181344"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980944"/>
            <a:ext cx="5577840" cy="475488"/>
          </a:xfrm>
          <a:prstGeom prst="rect">
            <a:avLst/>
          </a:prstGeom>
          <a:noFill/>
        </p:spPr>
        <p:txBody>
          <a:bodyPr wrap="square" lIns="27432" rIns="27432" tIns="4572" bIns="4572">
            <a:spAutoFit/>
          </a:bodyPr>
          <a:lstStyle/>
          <a:p>
            <a:r>
              <a:rPr sz="750"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0" name="TextBox 49"/>
          <p:cNvSpPr txBox="1"/>
          <p:nvPr/>
        </p:nvSpPr>
        <p:spPr>
          <a:xfrm>
            <a:off x="6181344" y="3547872"/>
            <a:ext cx="4937759" cy="164592"/>
          </a:xfrm>
          <a:prstGeom prst="rect">
            <a:avLst/>
          </a:prstGeom>
          <a:noFill/>
        </p:spPr>
        <p:txBody>
          <a:bodyPr wrap="square" lIns="27432" rIns="27432" tIns="4572" bIns="4572">
            <a:spAutoFit/>
          </a:bodyPr>
          <a:lstStyle/>
          <a:p>
            <a:r>
              <a:rPr sz="800" b="1">
                <a:solidFill>
                  <a:srgbClr val="1F4690"/>
                </a:solidFill>
                <a:latin typeface="Calibri"/>
              </a:rPr>
              <a:t>I - Inflection Point Identification</a:t>
            </a:r>
          </a:p>
        </p:txBody>
      </p:sp>
      <p:sp>
        <p:nvSpPr>
          <p:cNvPr id="51" name="TextBox 50"/>
          <p:cNvSpPr txBox="1"/>
          <p:nvPr/>
        </p:nvSpPr>
        <p:spPr>
          <a:xfrm>
            <a:off x="11137392"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11 / 15</a:t>
            </a:r>
          </a:p>
        </p:txBody>
      </p:sp>
      <p:sp>
        <p:nvSpPr>
          <p:cNvPr id="52" name="Rectangle 51"/>
          <p:cNvSpPr/>
          <p:nvPr/>
        </p:nvSpPr>
        <p:spPr>
          <a:xfrm>
            <a:off x="6181344"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81344" y="3749039"/>
            <a:ext cx="4090415"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81344" y="3840480"/>
            <a:ext cx="5577840" cy="475488"/>
          </a:xfrm>
          <a:prstGeom prst="rect">
            <a:avLst/>
          </a:prstGeom>
          <a:noFill/>
        </p:spPr>
        <p:txBody>
          <a:bodyPr wrap="square" lIns="27432" rIns="27432" tIns="4572" bIns="4572">
            <a:spAutoFit/>
          </a:bodyPr>
          <a:lstStyle/>
          <a:p>
            <a:r>
              <a:rPr sz="7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55" name="Rounded Rectangle 54"/>
          <p:cNvSpPr/>
          <p:nvPr/>
        </p:nvSpPr>
        <p:spPr>
          <a:xfrm>
            <a:off x="6181344" y="4462272"/>
            <a:ext cx="5577840" cy="1280160"/>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72783" y="4535424"/>
            <a:ext cx="5394959" cy="182880"/>
          </a:xfrm>
          <a:prstGeom prst="rect">
            <a:avLst/>
          </a:prstGeom>
          <a:noFill/>
        </p:spPr>
        <p:txBody>
          <a:bodyPr wrap="square" lIns="27432" rIns="27432" tIns="4572" bIns="4572">
            <a:spAutoFit/>
          </a:bodyPr>
          <a:lstStyle/>
          <a:p>
            <a:r>
              <a:rPr sz="900" b="1">
                <a:solidFill>
                  <a:srgbClr val="1F4690"/>
                </a:solidFill>
                <a:latin typeface="Calibri"/>
              </a:rPr>
              <a:t>SAARTHI Conviction Statement</a:t>
            </a:r>
          </a:p>
        </p:txBody>
      </p:sp>
      <p:sp>
        <p:nvSpPr>
          <p:cNvPr id="57" name="TextBox 56"/>
          <p:cNvSpPr txBox="1"/>
          <p:nvPr/>
        </p:nvSpPr>
        <p:spPr>
          <a:xfrm>
            <a:off x="6272783" y="4754880"/>
            <a:ext cx="5394959" cy="914399"/>
          </a:xfrm>
          <a:prstGeom prst="rect">
            <a:avLst/>
          </a:prstGeom>
          <a:noFill/>
        </p:spPr>
        <p:txBody>
          <a:bodyPr wrap="square" lIns="27432" rIns="27432" tIns="4572" bIns="4572">
            <a:spAutoFit/>
          </a:bodyPr>
          <a:lstStyle/>
          <a:p>
            <a:r>
              <a:rPr sz="80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58" name="Table 57"/>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5" name="Rectangle 14"/>
          <p:cNvSpPr/>
          <p:nvPr/>
        </p:nvSpPr>
        <p:spPr>
          <a:xfrm>
            <a:off x="457200"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1280160"/>
            <a:ext cx="3675887" cy="256032"/>
          </a:xfrm>
          <a:prstGeom prst="rect">
            <a:avLst/>
          </a:prstGeom>
          <a:noFill/>
        </p:spPr>
        <p:txBody>
          <a:bodyPr wrap="square" lIns="45720" rIns="45720" tIns="18288" bIns="18288">
            <a:spAutoFit/>
          </a:bodyPr>
          <a:lstStyle/>
          <a:p>
            <a:r>
              <a:rPr sz="850" b="1">
                <a:solidFill>
                  <a:srgbClr val="B91C1C"/>
                </a:solidFill>
                <a:latin typeface="Calibri"/>
              </a:rPr>
              <a:t>BEAR CASE - ₹630 (-23.4% vs CMP)</a:t>
            </a:r>
          </a:p>
        </p:txBody>
      </p:sp>
      <p:sp>
        <p:nvSpPr>
          <p:cNvPr id="17" name="Rectangle 16"/>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20" name="TextBox 19"/>
          <p:cNvSpPr txBox="1"/>
          <p:nvPr/>
        </p:nvSpPr>
        <p:spPr>
          <a:xfrm>
            <a:off x="530352" y="1883664"/>
            <a:ext cx="3675887" cy="475488"/>
          </a:xfrm>
          <a:prstGeom prst="rect">
            <a:avLst/>
          </a:prstGeom>
          <a:noFill/>
        </p:spPr>
        <p:txBody>
          <a:bodyPr wrap="square" lIns="45720" rIns="45720" tIns="18288" bIns="18288">
            <a:spAutoFit/>
          </a:bodyPr>
          <a:lstStyle/>
          <a:p>
            <a:r>
              <a:rPr sz="800" b="0">
                <a:solidFill>
                  <a:srgbClr val="111111"/>
                </a:solidFill>
                <a:latin typeface="Calibri"/>
              </a:rPr>
              <a:t>Equity markets remain subdued. Revenue CAGR slows to 6.0%; EBITDA margin compresses to 45.0% as regulation and lower risk appetite pressure activity.</a:t>
            </a:r>
          </a:p>
        </p:txBody>
      </p:sp>
      <p:sp>
        <p:nvSpPr>
          <p:cNvPr id="21" name="Rectangle 20"/>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24" name="TextBox 23"/>
          <p:cNvSpPr txBox="1"/>
          <p:nvPr/>
        </p:nvSpPr>
        <p:spPr>
          <a:xfrm>
            <a:off x="530352" y="2743200"/>
            <a:ext cx="3675887" cy="859536"/>
          </a:xfrm>
          <a:prstGeom prst="rect">
            <a:avLst/>
          </a:prstGeom>
          <a:noFill/>
        </p:spPr>
        <p:txBody>
          <a:bodyPr wrap="square" lIns="45720" rIns="45720" tIns="18288" bIns="18288">
            <a:spAutoFit/>
          </a:bodyPr>
          <a:lstStyle/>
          <a:p>
            <a:r>
              <a:rPr sz="800" b="0">
                <a:solidFill>
                  <a:srgbClr val="111111"/>
                </a:solidFill>
                <a:latin typeface="Calibri"/>
              </a:rPr>
              <a:t>Broking headwinds and fee pressure reduce operating momentum. Sustained F&amp;O headwinds, fintech share loss.</a:t>
            </a:r>
          </a:p>
        </p:txBody>
      </p:sp>
      <p:sp>
        <p:nvSpPr>
          <p:cNvPr id="25" name="Rectangle 24"/>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28" name="TextBox 27"/>
          <p:cNvSpPr txBox="1"/>
          <p:nvPr/>
        </p:nvSpPr>
        <p:spPr>
          <a:xfrm>
            <a:off x="530352" y="3986783"/>
            <a:ext cx="3675887" cy="530352"/>
          </a:xfrm>
          <a:prstGeom prst="rect">
            <a:avLst/>
          </a:prstGeom>
          <a:noFill/>
        </p:spPr>
        <p:txBody>
          <a:bodyPr wrap="square" lIns="45720" rIns="45720" tIns="18288" bIns="18288">
            <a:spAutoFit/>
          </a:bodyPr>
          <a:lstStyle/>
          <a:p>
            <a:r>
              <a:rPr sz="800" b="0">
                <a:solidFill>
                  <a:srgbClr val="111111"/>
                </a:solidFill>
                <a:latin typeface="Calibri"/>
              </a:rPr>
              <a:t>18x P/E on depressed FY27E EPS of INR 35; sustained regulatory headwinds. Target price ₹630, probability 20.0%, vs CMP -23.4%.</a:t>
            </a:r>
          </a:p>
        </p:txBody>
      </p:sp>
      <p:graphicFrame>
        <p:nvGraphicFramePr>
          <p:cNvPr id="29" name="Table 28"/>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Bear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45.0%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B91C1C"/>
                          </a:solidFill>
                          <a:latin typeface="Calibri"/>
                        </a:rPr>
                        <a:t>₹630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20.0%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B91C1C"/>
                          </a:solidFill>
                          <a:latin typeface="Calibri"/>
                        </a:rPr>
                        <a:t>-23.4%</a:t>
                      </a:r>
                    </a:p>
                  </a:txBody>
                  <a:tcPr marL="27432" marR="27432" marT="9144" marB="9144">
                    <a:solidFill>
                      <a:srgbClr val="F4F6F9"/>
                    </a:solidFill>
                  </a:tcPr>
                </a:tc>
              </a:tr>
            </a:tbl>
          </a:graphicData>
        </a:graphic>
      </p:graphicFrame>
      <p:sp>
        <p:nvSpPr>
          <p:cNvPr id="30" name="Rectangle 29"/>
          <p:cNvSpPr/>
          <p:nvPr/>
        </p:nvSpPr>
        <p:spPr>
          <a:xfrm>
            <a:off x="4425696"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98848" y="1280160"/>
            <a:ext cx="3675887" cy="256032"/>
          </a:xfrm>
          <a:prstGeom prst="rect">
            <a:avLst/>
          </a:prstGeom>
          <a:noFill/>
        </p:spPr>
        <p:txBody>
          <a:bodyPr wrap="square" lIns="45720" rIns="45720" tIns="18288" bIns="18288">
            <a:spAutoFit/>
          </a:bodyPr>
          <a:lstStyle/>
          <a:p>
            <a:r>
              <a:rPr sz="850" b="1">
                <a:solidFill>
                  <a:srgbClr val="FFA500"/>
                </a:solidFill>
                <a:latin typeface="Calibri"/>
              </a:rPr>
              <a:t>BASE CASE - ₹1,127 (+37.0% vs CMP) - PRIMARY RECOMMENDATION</a:t>
            </a:r>
          </a:p>
        </p:txBody>
      </p:sp>
      <p:sp>
        <p:nvSpPr>
          <p:cNvPr id="32" name="Rectangle 31"/>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98848"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35" name="TextBox 34"/>
          <p:cNvSpPr txBox="1"/>
          <p:nvPr/>
        </p:nvSpPr>
        <p:spPr>
          <a:xfrm>
            <a:off x="4498848"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Markets normalize and savings flows remain constructive. Revenue compounds at 16.0%; EBITDA margin holds near 51.0% on steady AUM growth.</a:t>
            </a:r>
          </a:p>
        </p:txBody>
      </p:sp>
      <p:sp>
        <p:nvSpPr>
          <p:cNvPr id="36" name="Rectangle 35"/>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98848"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39" name="TextBox 38"/>
          <p:cNvSpPr txBox="1"/>
          <p:nvPr/>
        </p:nvSpPr>
        <p:spPr>
          <a:xfrm>
            <a:off x="4498848"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stability and diversified financial services earnings support the base case. ARR steady at 65%, AUM compounding, stable regulation.</a:t>
            </a:r>
          </a:p>
        </p:txBody>
      </p:sp>
      <p:sp>
        <p:nvSpPr>
          <p:cNvPr id="40" name="Rectangle 39"/>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98848"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43" name="TextBox 42"/>
          <p:cNvSpPr txBox="1"/>
          <p:nvPr/>
        </p:nvSpPr>
        <p:spPr>
          <a:xfrm>
            <a:off x="4498848" y="3986783"/>
            <a:ext cx="3675887" cy="530352"/>
          </a:xfrm>
          <a:prstGeom prst="rect">
            <a:avLst/>
          </a:prstGeom>
          <a:noFill/>
        </p:spPr>
        <p:txBody>
          <a:bodyPr wrap="square" lIns="45720" rIns="45720" tIns="18288" bIns="18288">
            <a:spAutoFit/>
          </a:bodyPr>
          <a:lstStyle/>
          <a:p>
            <a:r>
              <a:rPr sz="800" b="0">
                <a:solidFill>
                  <a:srgbClr val="111111"/>
                </a:solidFill>
                <a:latin typeface="Calibri"/>
              </a:rPr>
              <a:t>24x P/E on FY27E EPS of INR 47; ARR stable at 65%, steady AUM. Target price ₹1,127, probability 50.0%, vs CMP +37.0%.</a:t>
            </a:r>
          </a:p>
        </p:txBody>
      </p:sp>
      <p:graphicFrame>
        <p:nvGraphicFramePr>
          <p:cNvPr id="44" name="Table 43"/>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Base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16.0%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51.0%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FFA500"/>
                          </a:solidFill>
                          <a:latin typeface="Calibri"/>
                        </a:rPr>
                        <a:t>₹1,127</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50.0%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FFA500"/>
                          </a:solidFill>
                          <a:latin typeface="Calibri"/>
                        </a:rPr>
                        <a:t>+37.0%</a:t>
                      </a:r>
                    </a:p>
                  </a:txBody>
                  <a:tcPr marL="27432" marR="27432" marT="9144" marB="9144">
                    <a:solidFill>
                      <a:srgbClr val="F4F6F9"/>
                    </a:solidFill>
                  </a:tcPr>
                </a:tc>
              </a:tr>
            </a:tbl>
          </a:graphicData>
        </a:graphic>
      </p:graphicFrame>
      <p:sp>
        <p:nvSpPr>
          <p:cNvPr id="45" name="Rectangle 44"/>
          <p:cNvSpPr/>
          <p:nvPr/>
        </p:nvSpPr>
        <p:spPr>
          <a:xfrm>
            <a:off x="8394192" y="1234440"/>
            <a:ext cx="3822191" cy="3474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67344" y="1280160"/>
            <a:ext cx="3675887" cy="256032"/>
          </a:xfrm>
          <a:prstGeom prst="rect">
            <a:avLst/>
          </a:prstGeom>
          <a:noFill/>
        </p:spPr>
        <p:txBody>
          <a:bodyPr wrap="square" lIns="45720" rIns="45720" tIns="18288" bIns="18288">
            <a:spAutoFit/>
          </a:bodyPr>
          <a:lstStyle/>
          <a:p>
            <a:r>
              <a:rPr sz="850" b="1">
                <a:solidFill>
                  <a:srgbClr val="FFFFFF"/>
                </a:solidFill>
                <a:latin typeface="Calibri"/>
              </a:rPr>
              <a:t>BULL CASE - ₹1,400 (+70.1% vs CMP)</a:t>
            </a:r>
          </a:p>
        </p:txBody>
      </p:sp>
      <p:sp>
        <p:nvSpPr>
          <p:cNvPr id="47" name="Rectangle 46"/>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7344"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50" name="TextBox 49"/>
          <p:cNvSpPr txBox="1"/>
          <p:nvPr/>
        </p:nvSpPr>
        <p:spPr>
          <a:xfrm>
            <a:off x="8467344"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 participation strengthens and structural savings flows accelerate. Revenue compounds at 27.5%; EBITDA margin expands to 55.0% with operating leverage.</a:t>
            </a:r>
          </a:p>
        </p:txBody>
      </p:sp>
      <p:sp>
        <p:nvSpPr>
          <p:cNvPr id="51" name="Rectangle 50"/>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67344"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54" name="TextBox 53"/>
          <p:cNvSpPr txBox="1"/>
          <p:nvPr/>
        </p:nvSpPr>
        <p:spPr>
          <a:xfrm>
            <a:off x="8467344"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mix, AMC scale, and wealth management momentum trigger re-rating. ARR &gt; 70%, AMC AUM +40% YoY, regulatory clarity.</a:t>
            </a:r>
          </a:p>
        </p:txBody>
      </p:sp>
      <p:sp>
        <p:nvSpPr>
          <p:cNvPr id="55" name="Rectangle 54"/>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67344"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58" name="TextBox 57"/>
          <p:cNvSpPr txBox="1"/>
          <p:nvPr/>
        </p:nvSpPr>
        <p:spPr>
          <a:xfrm>
            <a:off x="8467344" y="3986783"/>
            <a:ext cx="3675887" cy="530352"/>
          </a:xfrm>
          <a:prstGeom prst="rect">
            <a:avLst/>
          </a:prstGeom>
          <a:noFill/>
        </p:spPr>
        <p:txBody>
          <a:bodyPr wrap="square" lIns="45720" rIns="45720" tIns="18288" bIns="18288">
            <a:spAutoFit/>
          </a:bodyPr>
          <a:lstStyle/>
          <a:p>
            <a:r>
              <a:rPr sz="800" b="0">
                <a:solidFill>
                  <a:srgbClr val="111111"/>
                </a:solidFill>
                <a:latin typeface="Calibri"/>
              </a:rPr>
              <a:t>28x P/E on FY27E EPS of INR 50; ARR &gt; 70%, AMC +40% YoY. Target price ₹1,400, probability 30.0%, vs CMP +70.1%.</a:t>
            </a:r>
          </a:p>
        </p:txBody>
      </p:sp>
      <p:graphicFrame>
        <p:nvGraphicFramePr>
          <p:cNvPr id="59" name="Table 58"/>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Bull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27.5%</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1A7A4A"/>
                          </a:solidFill>
                          <a:latin typeface="Calibri"/>
                        </a:rPr>
                        <a:t>₹1,400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30.0%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5" name="TextBox 14"/>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5" name="Rounded Rectangle 14"/>
          <p:cNvSpPr/>
          <p:nvPr/>
        </p:nvSpPr>
        <p:spPr>
          <a:xfrm>
            <a:off x="292608" y="1143000"/>
            <a:ext cx="6446520" cy="777240"/>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 y="114300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1216152"/>
            <a:ext cx="6263640" cy="164592"/>
          </a:xfrm>
          <a:prstGeom prst="rect">
            <a:avLst/>
          </a:prstGeom>
          <a:noFill/>
        </p:spPr>
        <p:txBody>
          <a:bodyPr wrap="square" lIns="36576" rIns="36576" tIns="9144" bIns="9144">
            <a:spAutoFit/>
          </a:bodyPr>
          <a:lstStyle/>
          <a:p>
            <a:r>
              <a:rPr sz="900" b="1">
                <a:solidFill>
                  <a:srgbClr val="1F4690"/>
                </a:solidFill>
                <a:latin typeface="Calibri"/>
              </a:rPr>
              <a:t>Conviction Statement</a:t>
            </a:r>
          </a:p>
        </p:txBody>
      </p:sp>
      <p:sp>
        <p:nvSpPr>
          <p:cNvPr id="18" name="TextBox 17"/>
          <p:cNvSpPr txBox="1"/>
          <p:nvPr/>
        </p:nvSpPr>
        <p:spPr>
          <a:xfrm>
            <a:off x="384048" y="1435608"/>
            <a:ext cx="6263640" cy="411479"/>
          </a:xfrm>
          <a:prstGeom prst="rect">
            <a:avLst/>
          </a:prstGeom>
          <a:noFill/>
        </p:spPr>
        <p:txBody>
          <a:bodyPr wrap="square" lIns="36576" rIns="36576" tIns="9144" bIns="9144">
            <a:spAutoFit/>
          </a:bodyPr>
          <a:lstStyle/>
          <a:p>
            <a:r>
              <a:rPr sz="80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19" name="TextBox 18"/>
          <p:cNvSpPr txBox="1"/>
          <p:nvPr/>
        </p:nvSpPr>
        <p:spPr>
          <a:xfrm>
            <a:off x="292608" y="2011680"/>
            <a:ext cx="6446520" cy="182880"/>
          </a:xfrm>
          <a:prstGeom prst="rect">
            <a:avLst/>
          </a:prstGeom>
          <a:noFill/>
        </p:spPr>
        <p:txBody>
          <a:bodyPr wrap="square" lIns="36576" rIns="36576" tIns="9144" bIns="9144">
            <a:spAutoFit/>
          </a:bodyPr>
          <a:lstStyle/>
          <a:p>
            <a:r>
              <a:rPr sz="900" b="1">
                <a:solidFill>
                  <a:srgbClr val="1F4690"/>
                </a:solidFill>
                <a:latin typeface="Calibri"/>
              </a:rPr>
              <a:t>ENTRY STRATEGY - WHEN TO BUY</a:t>
            </a:r>
          </a:p>
        </p:txBody>
      </p:sp>
      <p:sp>
        <p:nvSpPr>
          <p:cNvPr id="20" name="Rounded Rectangle 19"/>
          <p:cNvSpPr/>
          <p:nvPr/>
        </p:nvSpPr>
        <p:spPr>
          <a:xfrm>
            <a:off x="292608" y="2240280"/>
            <a:ext cx="6446520" cy="77724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2608" y="224028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313432"/>
            <a:ext cx="6263640" cy="164592"/>
          </a:xfrm>
          <a:prstGeom prst="rect">
            <a:avLst/>
          </a:prstGeom>
          <a:noFill/>
        </p:spPr>
        <p:txBody>
          <a:bodyPr wrap="square" lIns="36576" rIns="36576" tIns="9144" bIns="9144">
            <a:spAutoFit/>
          </a:bodyPr>
          <a:lstStyle/>
          <a:p>
            <a:r>
              <a:rPr sz="900" b="1">
                <a:solidFill>
                  <a:srgbClr val="1F4690"/>
                </a:solidFill>
                <a:latin typeface="Calibri"/>
              </a:rPr>
              <a:t>Immediate Entry Zone</a:t>
            </a:r>
          </a:p>
        </p:txBody>
      </p:sp>
      <p:sp>
        <p:nvSpPr>
          <p:cNvPr id="23" name="TextBox 22"/>
          <p:cNvSpPr txBox="1"/>
          <p:nvPr/>
        </p:nvSpPr>
        <p:spPr>
          <a:xfrm>
            <a:off x="384048" y="2532888"/>
            <a:ext cx="6263640" cy="411480"/>
          </a:xfrm>
          <a:prstGeom prst="rect">
            <a:avLst/>
          </a:prstGeom>
          <a:noFill/>
        </p:spPr>
        <p:txBody>
          <a:bodyPr wrap="square" lIns="36576" rIns="36576" tIns="9144" bIns="9144">
            <a:spAutoFit/>
          </a:bodyPr>
          <a:lstStyle/>
          <a:p>
            <a:r>
              <a:rPr sz="800"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4" name="Rounded Rectangle 23"/>
          <p:cNvSpPr/>
          <p:nvPr/>
        </p:nvSpPr>
        <p:spPr>
          <a:xfrm>
            <a:off x="292608" y="3108960"/>
            <a:ext cx="6446520" cy="7315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92608" y="3108960"/>
            <a:ext cx="32004" cy="7315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3182112"/>
            <a:ext cx="6263640" cy="164592"/>
          </a:xfrm>
          <a:prstGeom prst="rect">
            <a:avLst/>
          </a:prstGeom>
          <a:noFill/>
        </p:spPr>
        <p:txBody>
          <a:bodyPr wrap="square" lIns="36576" rIns="36576" tIns="9144" bIns="9144">
            <a:spAutoFit/>
          </a:bodyPr>
          <a:lstStyle/>
          <a:p>
            <a:r>
              <a:rPr sz="900" b="1">
                <a:solidFill>
                  <a:srgbClr val="1F4690"/>
                </a:solidFill>
                <a:latin typeface="Calibri"/>
              </a:rPr>
              <a:t>Add-On Zone</a:t>
            </a:r>
          </a:p>
        </p:txBody>
      </p:sp>
      <p:sp>
        <p:nvSpPr>
          <p:cNvPr id="27" name="TextBox 26"/>
          <p:cNvSpPr txBox="1"/>
          <p:nvPr/>
        </p:nvSpPr>
        <p:spPr>
          <a:xfrm>
            <a:off x="384048" y="3401568"/>
            <a:ext cx="6263640" cy="365760"/>
          </a:xfrm>
          <a:prstGeom prst="rect">
            <a:avLst/>
          </a:prstGeom>
          <a:noFill/>
        </p:spPr>
        <p:txBody>
          <a:bodyPr wrap="square" lIns="36576" rIns="36576" tIns="9144" bIns="9144">
            <a:spAutoFit/>
          </a:bodyPr>
          <a:lstStyle/>
          <a:p>
            <a:r>
              <a:rPr sz="800"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28" name="Rounded Rectangle 27"/>
          <p:cNvSpPr/>
          <p:nvPr/>
        </p:nvSpPr>
        <p:spPr>
          <a:xfrm>
            <a:off x="292608" y="3931920"/>
            <a:ext cx="6446520" cy="77724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2608" y="3931920"/>
            <a:ext cx="32004" cy="7772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4005072"/>
            <a:ext cx="6263640" cy="164592"/>
          </a:xfrm>
          <a:prstGeom prst="rect">
            <a:avLst/>
          </a:prstGeom>
          <a:noFill/>
        </p:spPr>
        <p:txBody>
          <a:bodyPr wrap="square" lIns="36576" rIns="36576" tIns="9144" bIns="9144">
            <a:spAutoFit/>
          </a:bodyPr>
          <a:lstStyle/>
          <a:p>
            <a:r>
              <a:rPr sz="900" b="1">
                <a:solidFill>
                  <a:srgbClr val="1F4690"/>
                </a:solidFill>
                <a:latin typeface="Calibri"/>
              </a:rPr>
              <a:t>Review Points - Thesis Confirmation Milestones</a:t>
            </a:r>
          </a:p>
        </p:txBody>
      </p:sp>
      <p:sp>
        <p:nvSpPr>
          <p:cNvPr id="31" name="TextBox 30"/>
          <p:cNvSpPr txBox="1"/>
          <p:nvPr/>
        </p:nvSpPr>
        <p:spPr>
          <a:xfrm>
            <a:off x="384048" y="4224528"/>
            <a:ext cx="6263640" cy="411479"/>
          </a:xfrm>
          <a:prstGeom prst="rect">
            <a:avLst/>
          </a:prstGeom>
          <a:noFill/>
        </p:spPr>
        <p:txBody>
          <a:bodyPr wrap="square" lIns="36576" rIns="36576" tIns="9144" bIns="9144">
            <a:spAutoFit/>
          </a:bodyPr>
          <a:lstStyle/>
          <a:p>
            <a:r>
              <a:rPr sz="800"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2" name="TextBox 31"/>
          <p:cNvSpPr txBox="1"/>
          <p:nvPr/>
        </p:nvSpPr>
        <p:spPr>
          <a:xfrm>
            <a:off x="292608" y="4800600"/>
            <a:ext cx="6446520" cy="182880"/>
          </a:xfrm>
          <a:prstGeom prst="rect">
            <a:avLst/>
          </a:prstGeom>
          <a:noFill/>
        </p:spPr>
        <p:txBody>
          <a:bodyPr wrap="square" lIns="36576" rIns="36576" tIns="9144" bIns="9144">
            <a:spAutoFit/>
          </a:bodyPr>
          <a:lstStyle/>
          <a:p>
            <a:r>
              <a:rPr sz="900" b="1">
                <a:solidFill>
                  <a:srgbClr val="1F4690"/>
                </a:solidFill>
                <a:latin typeface="Calibri"/>
              </a:rPr>
              <a:t>THESIS INVALIDATION TRIGGERS - WHEN TO EXIT</a:t>
            </a:r>
          </a:p>
        </p:txBody>
      </p:sp>
      <p:sp>
        <p:nvSpPr>
          <p:cNvPr id="33" name="Rectangle 32"/>
          <p:cNvSpPr/>
          <p:nvPr/>
        </p:nvSpPr>
        <p:spPr>
          <a:xfrm>
            <a:off x="292608" y="5074920"/>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9184" y="5102352"/>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35" name="TextBox 34"/>
          <p:cNvSpPr txBox="1"/>
          <p:nvPr/>
        </p:nvSpPr>
        <p:spPr>
          <a:xfrm>
            <a:off x="731520" y="5029200"/>
            <a:ext cx="6007608" cy="274320"/>
          </a:xfrm>
          <a:prstGeom prst="rect">
            <a:avLst/>
          </a:prstGeom>
          <a:noFill/>
        </p:spPr>
        <p:txBody>
          <a:bodyPr wrap="square" lIns="36576" rIns="36576" tIns="9144" bIns="9144">
            <a:spAutoFit/>
          </a:bodyPr>
          <a:lstStyle/>
          <a:p>
            <a:r>
              <a:rPr sz="800" b="0">
                <a:solidFill>
                  <a:srgbClr val="111111"/>
                </a:solidFill>
                <a:latin typeface="Calibri"/>
              </a:rPr>
              <a:t>ARR contribution drops below 55% for two consecutive quarters</a:t>
            </a:r>
          </a:p>
        </p:txBody>
      </p:sp>
      <p:sp>
        <p:nvSpPr>
          <p:cNvPr id="36" name="Rectangle 35"/>
          <p:cNvSpPr/>
          <p:nvPr/>
        </p:nvSpPr>
        <p:spPr>
          <a:xfrm>
            <a:off x="292608" y="5422392"/>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9184" y="5449824"/>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38" name="TextBox 37"/>
          <p:cNvSpPr txBox="1"/>
          <p:nvPr/>
        </p:nvSpPr>
        <p:spPr>
          <a:xfrm>
            <a:off x="731520" y="5376672"/>
            <a:ext cx="6007608" cy="274320"/>
          </a:xfrm>
          <a:prstGeom prst="rect">
            <a:avLst/>
          </a:prstGeom>
          <a:noFill/>
        </p:spPr>
        <p:txBody>
          <a:bodyPr wrap="square" lIns="36576" rIns="36576" tIns="9144" bIns="9144">
            <a:spAutoFit/>
          </a:bodyPr>
          <a:lstStyle/>
          <a:p>
            <a:r>
              <a:rPr sz="800" b="0">
                <a:solidFill>
                  <a:srgbClr val="111111"/>
                </a:solidFill>
                <a:latin typeface="Calibri"/>
              </a:rPr>
              <a:t>Major SEBI enforcement action with direct business impact</a:t>
            </a:r>
          </a:p>
        </p:txBody>
      </p:sp>
      <p:sp>
        <p:nvSpPr>
          <p:cNvPr id="39" name="Rectangle 38"/>
          <p:cNvSpPr/>
          <p:nvPr/>
        </p:nvSpPr>
        <p:spPr>
          <a:xfrm>
            <a:off x="292608" y="5769864"/>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9184" y="5797296"/>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41" name="TextBox 40"/>
          <p:cNvSpPr txBox="1"/>
          <p:nvPr/>
        </p:nvSpPr>
        <p:spPr>
          <a:xfrm>
            <a:off x="731520" y="5724144"/>
            <a:ext cx="6007608" cy="274320"/>
          </a:xfrm>
          <a:prstGeom prst="rect">
            <a:avLst/>
          </a:prstGeom>
          <a:noFill/>
        </p:spPr>
        <p:txBody>
          <a:bodyPr wrap="square" lIns="36576" rIns="36576" tIns="9144" bIns="9144">
            <a:spAutoFit/>
          </a:bodyPr>
          <a:lstStyle/>
          <a:p>
            <a:r>
              <a:rPr sz="800" b="0">
                <a:solidFill>
                  <a:srgbClr val="111111"/>
                </a:solidFill>
                <a:latin typeface="Calibri"/>
              </a:rPr>
              <a:t>AMC AUM declining for two consecutive quarters</a:t>
            </a:r>
          </a:p>
        </p:txBody>
      </p:sp>
      <p:sp>
        <p:nvSpPr>
          <p:cNvPr id="42" name="Rectangle 41"/>
          <p:cNvSpPr/>
          <p:nvPr/>
        </p:nvSpPr>
        <p:spPr>
          <a:xfrm>
            <a:off x="292608" y="6117336"/>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9184" y="6144768"/>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44" name="TextBox 43"/>
          <p:cNvSpPr txBox="1"/>
          <p:nvPr/>
        </p:nvSpPr>
        <p:spPr>
          <a:xfrm>
            <a:off x="731520" y="6071616"/>
            <a:ext cx="6007608" cy="274320"/>
          </a:xfrm>
          <a:prstGeom prst="rect">
            <a:avLst/>
          </a:prstGeom>
          <a:noFill/>
        </p:spPr>
        <p:txBody>
          <a:bodyPr wrap="square" lIns="36576" rIns="36576" tIns="9144" bIns="9144">
            <a:spAutoFit/>
          </a:bodyPr>
          <a:lstStyle/>
          <a:p>
            <a:r>
              <a:rPr sz="800" b="0">
                <a:solidFill>
                  <a:srgbClr val="111111"/>
                </a:solidFill>
                <a:latin typeface="Calibri"/>
              </a:rPr>
              <a:t>Management guidance signaling structural headwinds beyond FY26</a:t>
            </a:r>
          </a:p>
        </p:txBody>
      </p:sp>
      <p:sp>
        <p:nvSpPr>
          <p:cNvPr id="45" name="TextBox 44"/>
          <p:cNvSpPr txBox="1"/>
          <p:nvPr/>
        </p:nvSpPr>
        <p:spPr>
          <a:xfrm>
            <a:off x="6949440" y="969264"/>
            <a:ext cx="4791456" cy="182880"/>
          </a:xfrm>
          <a:prstGeom prst="rect">
            <a:avLst/>
          </a:prstGeom>
          <a:noFill/>
        </p:spPr>
        <p:txBody>
          <a:bodyPr wrap="square" lIns="36576" rIns="36576" tIns="9144" bIns="9144">
            <a:spAutoFit/>
          </a:bodyPr>
          <a:lstStyle/>
          <a:p>
            <a:r>
              <a:rPr sz="900" b="1">
                <a:solidFill>
                  <a:srgbClr val="1F4690"/>
                </a:solidFill>
                <a:latin typeface="Calibri"/>
              </a:rPr>
              <a:t>INVESTMENT SUMMARY SCORECARD</a:t>
            </a:r>
          </a:p>
        </p:txBody>
      </p:sp>
      <p:graphicFrame>
        <p:nvGraphicFramePr>
          <p:cNvPr id="46" name="Table 45"/>
          <p:cNvGraphicFramePr>
            <a:graphicFrameLocks noGrp="1"/>
          </p:cNvGraphicFramePr>
          <p:nvPr/>
        </p:nvGraphicFramePr>
        <p:xfrm>
          <a:off x="6949440" y="1188720"/>
          <a:ext cx="4791454" cy="1645920"/>
        </p:xfrm>
        <a:graphic>
          <a:graphicData uri="http://schemas.openxmlformats.org/drawingml/2006/table">
            <a:tbl>
              <a:tblPr firstRow="1" bandRow="1">
                <a:tableStyleId>{5C22544A-7EE6-4342-B048-85BDC9FD1C3A}</a:tableStyleId>
              </a:tblPr>
              <a:tblGrid>
                <a:gridCol w="2108240"/>
                <a:gridCol w="1677009"/>
                <a:gridCol w="1006205"/>
              </a:tblGrid>
              <a:tr h="164592">
                <a:tc>
                  <a:txBody>
                    <a:bodyPr/>
                    <a:lstStyle/>
                    <a:p>
                      <a:pPr algn="l"/>
                      <a:r>
                        <a:rPr sz="800" b="1">
                          <a:solidFill>
                            <a:srgbClr val="FFFFFF"/>
                          </a:solidFill>
                          <a:latin typeface="Calibri"/>
                        </a:rPr>
                        <a:t>Parameter</a:t>
                      </a:r>
                    </a:p>
                  </a:txBody>
                  <a:tcPr marL="22860" marR="22860" marT="5486" marB="5486">
                    <a:solidFill>
                      <a:srgbClr val="1F4690"/>
                    </a:solidFill>
                  </a:tcPr>
                </a:tc>
                <a:tc>
                  <a:txBody>
                    <a:bodyPr/>
                    <a:lstStyle/>
                    <a:p>
                      <a:pPr algn="r"/>
                      <a:r>
                        <a:rPr sz="800" b="1">
                          <a:solidFill>
                            <a:srgbClr val="FFFFFF"/>
                          </a:solidFill>
                          <a:latin typeface="Calibri"/>
                        </a:rPr>
                        <a:t>Assessment</a:t>
                      </a:r>
                    </a:p>
                  </a:txBody>
                  <a:tcPr marL="22860" marR="22860" marT="5486" marB="5486">
                    <a:solidFill>
                      <a:srgbClr val="1F4690"/>
                    </a:solidFill>
                  </a:tcPr>
                </a:tc>
                <a:tc>
                  <a:txBody>
                    <a:bodyPr/>
                    <a:lstStyle/>
                    <a:p>
                      <a:pPr algn="r"/>
                      <a:r>
                        <a:rPr sz="800" b="1">
                          <a:solidFill>
                            <a:srgbClr val="FFFFFF"/>
                          </a:solidFill>
                          <a:latin typeface="Calibri"/>
                        </a:rPr>
                        <a:t>Score</a:t>
                      </a:r>
                    </a:p>
                  </a:txBody>
                  <a:tcPr marL="22860" marR="22860" marT="5486" marB="5486">
                    <a:solidFill>
                      <a:srgbClr val="1F4690"/>
                    </a:solidFill>
                  </a:tcPr>
                </a:tc>
              </a:tr>
              <a:tr h="164592">
                <a:tc>
                  <a:txBody>
                    <a:bodyPr/>
                    <a:lstStyle/>
                    <a:p>
                      <a:pPr algn="l"/>
                      <a:r>
                        <a:rPr sz="800" b="0">
                          <a:solidFill>
                            <a:srgbClr val="111111"/>
                          </a:solidFill>
                          <a:latin typeface="Calibri"/>
                        </a:rPr>
                        <a:t>SAARTHI Framework</a:t>
                      </a:r>
                    </a:p>
                  </a:txBody>
                  <a:tcPr marL="22860" marR="22860" marT="5486" marB="5486">
                    <a:solidFill>
                      <a:srgbClr val="F4F6F9"/>
                    </a:solidFill>
                  </a:tcPr>
                </a:tc>
                <a:tc>
                  <a:txBody>
                    <a:bodyPr/>
                    <a:lstStyle/>
                    <a:p>
                      <a:pPr algn="r"/>
                      <a:r>
                        <a:rPr sz="800" b="1">
                          <a:solidFill>
                            <a:srgbClr val="1A7A4A"/>
                          </a:solidFill>
                          <a:latin typeface="Calibri"/>
                        </a:rPr>
                        <a:t>BUY Zone</a:t>
                      </a:r>
                    </a:p>
                  </a:txBody>
                  <a:tcPr marL="22860" marR="22860" marT="5486" marB="5486">
                    <a:solidFill>
                      <a:srgbClr val="F4F6F9"/>
                    </a:solidFill>
                  </a:tcPr>
                </a:tc>
                <a:tc>
                  <a:txBody>
                    <a:bodyPr/>
                    <a:lstStyle/>
                    <a:p>
                      <a:pPr algn="r"/>
                      <a:r>
                        <a:rPr sz="800" b="1">
                          <a:solidFill>
                            <a:srgbClr val="1F4690"/>
                          </a:solidFill>
                          <a:latin typeface="Calibri"/>
                        </a:rPr>
                        <a:t>72/100</a:t>
                      </a:r>
                    </a:p>
                  </a:txBody>
                  <a:tcPr marL="22860" marR="22860" marT="5486" marB="5486">
                    <a:solidFill>
                      <a:srgbClr val="F4F6F9"/>
                    </a:solidFill>
                  </a:tcPr>
                </a:tc>
              </a:tr>
              <a:tr h="164592">
                <a:tc>
                  <a:txBody>
                    <a:bodyPr/>
                    <a:lstStyle/>
                    <a:p>
                      <a:pPr algn="l"/>
                      <a:r>
                        <a:rPr sz="800" b="0">
                          <a:solidFill>
                            <a:srgbClr val="111111"/>
                          </a:solidFill>
                          <a:latin typeface="Calibri"/>
                        </a:rPr>
                        <a:t>Valuation Attractiveness</a:t>
                      </a:r>
                    </a:p>
                  </a:txBody>
                  <a:tcPr marL="22860" marR="22860" marT="5486" marB="5486">
                    <a:solidFill>
                      <a:srgbClr val="FFFFFF"/>
                    </a:solidFill>
                  </a:tcPr>
                </a:tc>
                <a:tc>
                  <a:txBody>
                    <a:bodyPr/>
                    <a:lstStyle/>
                    <a:p>
                      <a:pPr algn="r"/>
                      <a:r>
                        <a:rPr sz="800" b="1">
                          <a:solidFill>
                            <a:srgbClr val="111111"/>
                          </a:solidFill>
                          <a:latin typeface="Calibri"/>
                        </a:rPr>
                        <a:t>+37% undervalued</a:t>
                      </a:r>
                    </a:p>
                  </a:txBody>
                  <a:tcPr marL="22860" marR="22860" marT="5486" marB="5486">
                    <a:solidFill>
                      <a:srgbClr val="FFFFFF"/>
                    </a:solidFill>
                  </a:tcPr>
                </a:tc>
                <a:tc>
                  <a:txBody>
                    <a:bodyPr/>
                    <a:lstStyle/>
                    <a:p>
                      <a:pPr algn="r"/>
                      <a:r>
                        <a:rPr sz="800" b="1">
                          <a:solidFill>
                            <a:srgbClr val="1F4690"/>
                          </a:solidFill>
                          <a:latin typeface="Calibri"/>
                        </a:rPr>
                        <a:t>Upside 37%</a:t>
                      </a:r>
                    </a:p>
                  </a:txBody>
                  <a:tcPr marL="22860" marR="22860" marT="5486" marB="5486">
                    <a:solidFill>
                      <a:srgbClr val="FFFFFF"/>
                    </a:solidFill>
                  </a:tcPr>
                </a:tc>
              </a:tr>
              <a:tr h="164592">
                <a:tc>
                  <a:txBody>
                    <a:bodyPr/>
                    <a:lstStyle/>
                    <a:p>
                      <a:pPr algn="l"/>
                      <a:r>
                        <a:rPr sz="800" b="0">
                          <a:solidFill>
                            <a:srgbClr val="111111"/>
                          </a:solidFill>
                          <a:latin typeface="Calibri"/>
                        </a:rPr>
                        <a:t>Revenue Quality</a:t>
                      </a:r>
                    </a:p>
                  </a:txBody>
                  <a:tcPr marL="22860" marR="22860" marT="5486" marB="5486">
                    <a:solidFill>
                      <a:srgbClr val="F4F6F9"/>
                    </a:solidFill>
                  </a:tcPr>
                </a:tc>
                <a:tc>
                  <a:txBody>
                    <a:bodyPr/>
                    <a:lstStyle/>
                    <a:p>
                      <a:pPr algn="r"/>
                      <a:r>
                        <a:rPr sz="800" b="1">
                          <a:solidFill>
                            <a:srgbClr val="111111"/>
                          </a:solidFill>
                          <a:latin typeface="Calibri"/>
                        </a:rPr>
                        <a:t>65% ARR recurring</a:t>
                      </a:r>
                    </a:p>
                  </a:txBody>
                  <a:tcPr marL="22860" marR="22860" marT="5486" marB="5486">
                    <a:solidFill>
                      <a:srgbClr val="F4F6F9"/>
                    </a:solidFill>
                  </a:tcPr>
                </a:tc>
                <a:tc>
                  <a:txBody>
                    <a:bodyPr/>
                    <a:lstStyle/>
                    <a:p>
                      <a:pPr algn="r"/>
                      <a:r>
                        <a:rPr sz="800" b="1">
                          <a:solidFill>
                            <a:srgbClr val="1F4690"/>
                          </a:solidFill>
                          <a:latin typeface="Calibri"/>
                        </a:rPr>
                        <a:t>High quality</a:t>
                      </a:r>
                    </a:p>
                  </a:txBody>
                  <a:tcPr marL="22860" marR="22860" marT="5486" marB="5486">
                    <a:solidFill>
                      <a:srgbClr val="F4F6F9"/>
                    </a:solidFill>
                  </a:tcPr>
                </a:tc>
              </a:tr>
              <a:tr h="164592">
                <a:tc>
                  <a:txBody>
                    <a:bodyPr/>
                    <a:lstStyle/>
                    <a:p>
                      <a:pPr algn="l"/>
                      <a:r>
                        <a:rPr sz="800" b="0">
                          <a:solidFill>
                            <a:srgbClr val="111111"/>
                          </a:solidFill>
                          <a:latin typeface="Calibri"/>
                        </a:rPr>
                        <a:t>AUM Growth Visibility</a:t>
                      </a:r>
                    </a:p>
                  </a:txBody>
                  <a:tcPr marL="22860" marR="22860" marT="5486" marB="5486">
                    <a:solidFill>
                      <a:srgbClr val="FFFFFF"/>
                    </a:solidFill>
                  </a:tcPr>
                </a:tc>
                <a:tc>
                  <a:txBody>
                    <a:bodyPr/>
                    <a:lstStyle/>
                    <a:p>
                      <a:pPr algn="r"/>
                      <a:r>
                        <a:rPr sz="800" b="1">
                          <a:solidFill>
                            <a:srgbClr val="111111"/>
                          </a:solidFill>
                          <a:latin typeface="Calibri"/>
                        </a:rPr>
                        <a:t>High</a:t>
                      </a:r>
                    </a:p>
                  </a:txBody>
                  <a:tcPr marL="22860" marR="22860" marT="5486" marB="5486">
                    <a:solidFill>
                      <a:srgbClr val="FFFFFF"/>
                    </a:solidFill>
                  </a:tcPr>
                </a:tc>
                <a:tc>
                  <a:txBody>
                    <a:bodyPr/>
                    <a:lstStyle/>
                    <a:p>
                      <a:pPr algn="r"/>
                      <a:r>
                        <a:rPr sz="800" b="1">
                          <a:solidFill>
                            <a:srgbClr val="1F4690"/>
                          </a:solidFill>
                          <a:latin typeface="Calibri"/>
                        </a:rPr>
                        <a:t>46% YoY</a:t>
                      </a:r>
                    </a:p>
                  </a:txBody>
                  <a:tcPr marL="22860" marR="22860" marT="5486" marB="5486">
                    <a:solidFill>
                      <a:srgbClr val="FFFFFF"/>
                    </a:solidFill>
                  </a:tcPr>
                </a:tc>
              </a:tr>
              <a:tr h="164592">
                <a:tc>
                  <a:txBody>
                    <a:bodyPr/>
                    <a:lstStyle/>
                    <a:p>
                      <a:pPr algn="l"/>
                      <a:r>
                        <a:rPr sz="800" b="0">
                          <a:solidFill>
                            <a:srgbClr val="111111"/>
                          </a:solidFill>
                          <a:latin typeface="Calibri"/>
                        </a:rPr>
                        <a:t>Management Track Record</a:t>
                      </a:r>
                    </a:p>
                  </a:txBody>
                  <a:tcPr marL="22860" marR="22860" marT="5486" marB="5486">
                    <a:solidFill>
                      <a:srgbClr val="F4F6F9"/>
                    </a:solidFill>
                  </a:tcPr>
                </a:tc>
                <a:tc>
                  <a:txBody>
                    <a:bodyPr/>
                    <a:lstStyle/>
                    <a:p>
                      <a:pPr algn="r"/>
                      <a:r>
                        <a:rPr sz="800" b="1">
                          <a:solidFill>
                            <a:srgbClr val="111111"/>
                          </a:solidFill>
                          <a:latin typeface="Calibri"/>
                        </a:rPr>
                        <a:t>Founder-led</a:t>
                      </a:r>
                    </a:p>
                  </a:txBody>
                  <a:tcPr marL="22860" marR="22860" marT="5486" marB="5486">
                    <a:solidFill>
                      <a:srgbClr val="F4F6F9"/>
                    </a:solidFill>
                  </a:tcPr>
                </a:tc>
                <a:tc>
                  <a:txBody>
                    <a:bodyPr/>
                    <a:lstStyle/>
                    <a:p>
                      <a:pPr algn="r"/>
                      <a:r>
                        <a:rPr sz="800" b="1">
                          <a:solidFill>
                            <a:srgbClr val="1F4690"/>
                          </a:solidFill>
                          <a:latin typeface="Calibri"/>
                        </a:rPr>
                        <a:t>9/10</a:t>
                      </a:r>
                    </a:p>
                  </a:txBody>
                  <a:tcPr marL="22860" marR="22860" marT="5486" marB="5486">
                    <a:solidFill>
                      <a:srgbClr val="F4F6F9"/>
                    </a:solidFill>
                  </a:tcPr>
                </a:tc>
              </a:tr>
              <a:tr h="164592">
                <a:tc>
                  <a:txBody>
                    <a:bodyPr/>
                    <a:lstStyle/>
                    <a:p>
                      <a:pPr algn="l"/>
                      <a:r>
                        <a:rPr sz="800" b="0">
                          <a:solidFill>
                            <a:srgbClr val="111111"/>
                          </a:solidFill>
                          <a:latin typeface="Calibri"/>
                        </a:rPr>
                        <a:t>Governance Risk</a:t>
                      </a:r>
                    </a:p>
                  </a:txBody>
                  <a:tcPr marL="22860" marR="22860" marT="5486" marB="5486">
                    <a:solidFill>
                      <a:srgbClr val="FFFFFF"/>
                    </a:solidFill>
                  </a:tcPr>
                </a:tc>
                <a:tc>
                  <a:txBody>
                    <a:bodyPr/>
                    <a:lstStyle/>
                    <a:p>
                      <a:pPr algn="r"/>
                      <a:r>
                        <a:rPr sz="800" b="1">
                          <a:solidFill>
                            <a:srgbClr val="111111"/>
                          </a:solidFill>
                          <a:latin typeface="Calibri"/>
                        </a:rPr>
                        <a:t>Monitor closely</a:t>
                      </a:r>
                    </a:p>
                  </a:txBody>
                  <a:tcPr marL="22860" marR="22860" marT="5486" marB="5486">
                    <a:solidFill>
                      <a:srgbClr val="FFFFFF"/>
                    </a:solidFill>
                  </a:tcPr>
                </a:tc>
                <a:tc>
                  <a:txBody>
                    <a:bodyPr/>
                    <a:lstStyle/>
                    <a:p>
                      <a:pPr algn="r"/>
                      <a:r>
                        <a:rPr sz="800" b="1">
                          <a:solidFill>
                            <a:srgbClr val="1F4690"/>
                          </a:solidFill>
                          <a:latin typeface="Calibri"/>
                        </a:rPr>
                        <a:t>6/10</a:t>
                      </a:r>
                    </a:p>
                  </a:txBody>
                  <a:tcPr marL="22860" marR="22860" marT="5486" marB="5486">
                    <a:solidFill>
                      <a:srgbClr val="FFFFFF"/>
                    </a:solidFill>
                  </a:tcPr>
                </a:tc>
              </a:tr>
              <a:tr h="164592">
                <a:tc>
                  <a:txBody>
                    <a:bodyPr/>
                    <a:lstStyle/>
                    <a:p>
                      <a:pPr algn="l"/>
                      <a:r>
                        <a:rPr sz="800" b="0">
                          <a:solidFill>
                            <a:srgbClr val="111111"/>
                          </a:solidFill>
                          <a:latin typeface="Calibri"/>
                        </a:rPr>
                        <a:t>Earnings Growth</a:t>
                      </a:r>
                    </a:p>
                  </a:txBody>
                  <a:tcPr marL="22860" marR="22860" marT="5486" marB="5486">
                    <a:solidFill>
                      <a:srgbClr val="F4F6F9"/>
                    </a:solidFill>
                  </a:tcPr>
                </a:tc>
                <a:tc>
                  <a:txBody>
                    <a:bodyPr/>
                    <a:lstStyle/>
                    <a:p>
                      <a:pPr algn="r"/>
                      <a:r>
                        <a:rPr sz="800" b="1">
                          <a:solidFill>
                            <a:srgbClr val="1A7A4A"/>
                          </a:solidFill>
                          <a:latin typeface="Calibri"/>
                        </a:rPr>
                        <a:t>Strong</a:t>
                      </a:r>
                    </a:p>
                  </a:txBody>
                  <a:tcPr marL="22860" marR="22860" marT="5486" marB="5486">
                    <a:solidFill>
                      <a:srgbClr val="F4F6F9"/>
                    </a:solidFill>
                  </a:tcPr>
                </a:tc>
                <a:tc>
                  <a:txBody>
                    <a:bodyPr/>
                    <a:lstStyle/>
                    <a:p>
                      <a:pPr algn="r"/>
                      <a:r>
                        <a:rPr sz="800" b="1">
                          <a:solidFill>
                            <a:srgbClr val="1F4690"/>
                          </a:solidFill>
                          <a:latin typeface="Calibri"/>
                        </a:rPr>
                        <a:t>27% CAGR</a:t>
                      </a:r>
                    </a:p>
                  </a:txBody>
                  <a:tcPr marL="22860" marR="22860" marT="5486" marB="5486">
                    <a:solidFill>
                      <a:srgbClr val="F4F6F9"/>
                    </a:solidFill>
                  </a:tcPr>
                </a:tc>
              </a:tr>
              <a:tr h="164592">
                <a:tc>
                  <a:txBody>
                    <a:bodyPr/>
                    <a:lstStyle/>
                    <a:p>
                      <a:pPr algn="l"/>
                      <a:r>
                        <a:rPr sz="800" b="0">
                          <a:solidFill>
                            <a:srgbClr val="111111"/>
                          </a:solidFill>
                          <a:latin typeface="Calibri"/>
                        </a:rPr>
                        <a:t>Credit Rating</a:t>
                      </a:r>
                    </a:p>
                  </a:txBody>
                  <a:tcPr marL="22860" marR="22860" marT="5486" marB="5486">
                    <a:solidFill>
                      <a:srgbClr val="FFFFFF"/>
                    </a:solidFill>
                  </a:tcPr>
                </a:tc>
                <a:tc>
                  <a:txBody>
                    <a:bodyPr/>
                    <a:lstStyle/>
                    <a:p>
                      <a:pPr algn="r"/>
                      <a:r>
                        <a:rPr sz="800" b="1">
                          <a:solidFill>
                            <a:srgbClr val="1A7A4A"/>
                          </a:solidFill>
                          <a:latin typeface="Calibri"/>
                        </a:rPr>
                        <a:t>AA+</a:t>
                      </a:r>
                    </a:p>
                  </a:txBody>
                  <a:tcPr marL="22860" marR="22860" marT="5486" marB="5486">
                    <a:solidFill>
                      <a:srgbClr val="FFFFFF"/>
                    </a:solidFill>
                  </a:tcPr>
                </a:tc>
                <a:tc>
                  <a:txBody>
                    <a:bodyPr/>
                    <a:lstStyle/>
                    <a:p>
                      <a:pPr algn="r"/>
                      <a:r>
                        <a:rPr sz="800" b="1">
                          <a:solidFill>
                            <a:srgbClr val="1F4690"/>
                          </a:solidFill>
                          <a:latin typeface="Calibri"/>
                        </a:rPr>
                        <a:t>AA+ Stable</a:t>
                      </a:r>
                    </a:p>
                  </a:txBody>
                  <a:tcPr marL="22860" marR="22860" marT="5486" marB="5486">
                    <a:solidFill>
                      <a:srgbClr val="FFFFFF"/>
                    </a:solidFill>
                  </a:tcPr>
                </a:tc>
              </a:tr>
              <a:tr h="164592">
                <a:tc>
                  <a:txBody>
                    <a:bodyPr/>
                    <a:lstStyle/>
                    <a:p>
                      <a:pPr algn="l"/>
                      <a:r>
                        <a:rPr sz="800" b="0">
                          <a:solidFill>
                            <a:srgbClr val="111111"/>
                          </a:solidFill>
                          <a:latin typeface="Calibri"/>
                        </a:rPr>
                        <a:t>Overall Recommendation</a:t>
                      </a:r>
                    </a:p>
                  </a:txBody>
                  <a:tcPr marL="22860" marR="22860" marT="5486" marB="5486">
                    <a:solidFill>
                      <a:srgbClr val="F4F6F9"/>
                    </a:solidFill>
                  </a:tcPr>
                </a:tc>
                <a:tc>
                  <a:txBody>
                    <a:bodyPr/>
                    <a:lstStyle/>
                    <a:p>
                      <a:pPr algn="r"/>
                      <a:r>
                        <a:rPr sz="800" b="1">
                          <a:solidFill>
                            <a:srgbClr val="1A7A4A"/>
                          </a:solidFill>
                          <a:latin typeface="Calibri"/>
                        </a:rPr>
                        <a:t>BUY - High Conviction</a:t>
                      </a:r>
                    </a:p>
                  </a:txBody>
                  <a:tcPr marL="22860" marR="22860" marT="5486" marB="5486">
                    <a:solidFill>
                      <a:srgbClr val="F4F6F9"/>
                    </a:solidFill>
                  </a:tcPr>
                </a:tc>
                <a:tc>
                  <a:txBody>
                    <a:bodyPr/>
                    <a:lstStyle/>
                    <a:p>
                      <a:pPr algn="r"/>
                      <a:r>
                        <a:rPr sz="800" b="1">
                          <a:solidFill>
                            <a:srgbClr val="1F4690"/>
                          </a:solidFill>
                          <a:latin typeface="Calibri"/>
                        </a:rPr>
                        <a:t>TP: ₹1,127</a:t>
                      </a:r>
                    </a:p>
                  </a:txBody>
                  <a:tcPr marL="22860" marR="22860" marT="5486" marB="5486">
                    <a:solidFill>
                      <a:srgbClr val="F4F6F9"/>
                    </a:solidFill>
                  </a:tcPr>
                </a:tc>
              </a:tr>
            </a:tbl>
          </a:graphicData>
        </a:graphic>
      </p:graphicFrame>
      <p:sp>
        <p:nvSpPr>
          <p:cNvPr id="47" name="Rounded Rectangle 46"/>
          <p:cNvSpPr/>
          <p:nvPr/>
        </p:nvSpPr>
        <p:spPr>
          <a:xfrm>
            <a:off x="6949440" y="2971800"/>
            <a:ext cx="4791456" cy="11887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949440" y="2971800"/>
            <a:ext cx="32004" cy="11887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0879" y="3044952"/>
            <a:ext cx="4608576" cy="164592"/>
          </a:xfrm>
          <a:prstGeom prst="rect">
            <a:avLst/>
          </a:prstGeom>
          <a:noFill/>
        </p:spPr>
        <p:txBody>
          <a:bodyPr wrap="square" lIns="36576" rIns="36576" tIns="9144" bIns="9144">
            <a:spAutoFit/>
          </a:bodyPr>
          <a:lstStyle/>
          <a:p>
            <a:r>
              <a:rPr sz="900" b="1">
                <a:solidFill>
                  <a:srgbClr val="1F4690"/>
                </a:solidFill>
                <a:latin typeface="Calibri"/>
              </a:rPr>
              <a:t>Position Summary</a:t>
            </a:r>
          </a:p>
        </p:txBody>
      </p:sp>
      <p:sp>
        <p:nvSpPr>
          <p:cNvPr id="50" name="TextBox 49"/>
          <p:cNvSpPr txBox="1"/>
          <p:nvPr/>
        </p:nvSpPr>
        <p:spPr>
          <a:xfrm>
            <a:off x="7040879" y="3264408"/>
            <a:ext cx="4608576" cy="822960"/>
          </a:xfrm>
          <a:prstGeom prst="rect">
            <a:avLst/>
          </a:prstGeom>
          <a:noFill/>
        </p:spPr>
        <p:txBody>
          <a:bodyPr wrap="square" lIns="36576" rIns="36576" tIns="9144" bIns="9144">
            <a:spAutoFit/>
          </a:bodyPr>
          <a:lstStyle/>
          <a:p>
            <a:r>
              <a:rPr sz="800"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1" name="Rounded Rectangle 50"/>
          <p:cNvSpPr/>
          <p:nvPr/>
        </p:nvSpPr>
        <p:spPr>
          <a:xfrm>
            <a:off x="6949440" y="4297680"/>
            <a:ext cx="4791456" cy="11887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4297680"/>
            <a:ext cx="32004" cy="1188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4361688"/>
            <a:ext cx="4608576" cy="182880"/>
          </a:xfrm>
          <a:prstGeom prst="rect">
            <a:avLst/>
          </a:prstGeom>
          <a:noFill/>
        </p:spPr>
        <p:txBody>
          <a:bodyPr wrap="square" lIns="36576" rIns="36576" tIns="9144" bIns="9144">
            <a:spAutoFit/>
          </a:bodyPr>
          <a:lstStyle/>
          <a:p>
            <a:r>
              <a:rPr sz="900" b="1">
                <a:solidFill>
                  <a:srgbClr val="1F4690"/>
                </a:solidFill>
                <a:latin typeface="Calibri"/>
              </a:rPr>
              <a:t>Exit Strategy - Scaling Out on Gains</a:t>
            </a:r>
          </a:p>
        </p:txBody>
      </p:sp>
      <p:sp>
        <p:nvSpPr>
          <p:cNvPr id="54" name="TextBox 53"/>
          <p:cNvSpPr txBox="1"/>
          <p:nvPr/>
        </p:nvSpPr>
        <p:spPr>
          <a:xfrm>
            <a:off x="7059168" y="4617720"/>
            <a:ext cx="4572000" cy="347472"/>
          </a:xfrm>
          <a:prstGeom prst="rect">
            <a:avLst/>
          </a:prstGeom>
          <a:noFill/>
        </p:spPr>
        <p:txBody>
          <a:bodyPr wrap="square" lIns="36576" rIns="36576" tIns="9144" bIns="9144">
            <a:spAutoFit/>
          </a:bodyPr>
          <a:lstStyle/>
          <a:p>
            <a:r>
              <a:rPr sz="800" b="0">
                <a:solidFill>
                  <a:srgbClr val="111111"/>
                </a:solidFill>
                <a:latin typeface="Calibri"/>
              </a:rPr>
              <a:t>Sell 1: Sell 50% at ₹1,100-1,150 (30-40% gains)</a:t>
            </a:r>
          </a:p>
        </p:txBody>
      </p:sp>
      <p:sp>
        <p:nvSpPr>
          <p:cNvPr id="55" name="TextBox 54"/>
          <p:cNvSpPr txBox="1"/>
          <p:nvPr/>
        </p:nvSpPr>
        <p:spPr>
          <a:xfrm>
            <a:off x="7059168" y="5001768"/>
            <a:ext cx="4572000" cy="347472"/>
          </a:xfrm>
          <a:prstGeom prst="rect">
            <a:avLst/>
          </a:prstGeom>
          <a:noFill/>
        </p:spPr>
        <p:txBody>
          <a:bodyPr wrap="square" lIns="36576" rIns="36576" tIns="9144" bIns="9144">
            <a:spAutoFit/>
          </a:bodyPr>
          <a:lstStyle/>
          <a:p>
            <a:r>
              <a:rPr sz="800" b="0">
                <a:solidFill>
                  <a:srgbClr val="111111"/>
                </a:solidFill>
                <a:latin typeface="Calibri"/>
              </a:rPr>
              <a:t>Sell 2: Sell remaining at ₹1,200+ if multiples expand beyond 25x P/E</a:t>
            </a:r>
          </a:p>
        </p:txBody>
      </p:sp>
      <p:sp>
        <p:nvSpPr>
          <p:cNvPr id="56" name="Rounded Rectangle 55"/>
          <p:cNvSpPr/>
          <p:nvPr/>
        </p:nvSpPr>
        <p:spPr>
          <a:xfrm>
            <a:off x="6949440" y="5623560"/>
            <a:ext cx="4791456" cy="7315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949440" y="5623560"/>
            <a:ext cx="32004" cy="73152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40879" y="5696712"/>
            <a:ext cx="4608576" cy="164592"/>
          </a:xfrm>
          <a:prstGeom prst="rect">
            <a:avLst/>
          </a:prstGeom>
          <a:noFill/>
        </p:spPr>
        <p:txBody>
          <a:bodyPr wrap="square" lIns="36576" rIns="36576" tIns="9144" bIns="9144">
            <a:spAutoFit/>
          </a:bodyPr>
          <a:lstStyle/>
          <a:p>
            <a:r>
              <a:rPr sz="900" b="1">
                <a:solidFill>
                  <a:srgbClr val="1F4690"/>
                </a:solidFill>
                <a:latin typeface="Calibri"/>
              </a:rPr>
              <a:t>Disclaimer</a:t>
            </a:r>
          </a:p>
        </p:txBody>
      </p:sp>
      <p:sp>
        <p:nvSpPr>
          <p:cNvPr id="59" name="TextBox 58"/>
          <p:cNvSpPr txBox="1"/>
          <p:nvPr/>
        </p:nvSpPr>
        <p:spPr>
          <a:xfrm>
            <a:off x="7040879" y="5916168"/>
            <a:ext cx="4608576" cy="365759"/>
          </a:xfrm>
          <a:prstGeom prst="rect">
            <a:avLst/>
          </a:prstGeom>
          <a:noFill/>
        </p:spPr>
        <p:txBody>
          <a:bodyPr wrap="square" lIns="36576" rIns="36576" tIns="9144" bIns="9144">
            <a:spAutoFit/>
          </a:bodyPr>
          <a:lstStyle/>
          <a:p>
            <a:r>
              <a:rPr sz="650"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3" name="TextBox 12"/>
          <p:cNvSpPr txBox="1"/>
          <p:nvPr/>
        </p:nvSpPr>
        <p:spPr>
          <a:xfrm>
            <a:off x="457200" y="731520"/>
            <a:ext cx="11274552" cy="5486400"/>
          </a:xfrm>
          <a:prstGeom prst="rect">
            <a:avLst/>
          </a:prstGeom>
          <a:noFill/>
        </p:spPr>
        <p:txBody>
          <a:bodyPr wrap="square" lIns="73152" rIns="73152" tIns="91440" bIns="91440">
            <a:spAutoFit/>
          </a:bodyPr>
          <a:lstStyle/>
          <a:p>
            <a:pPr>
              <a:lnSpc>
                <a:spcPct val="115000"/>
              </a:lnSpc>
              <a:spcBef>
                <a:spcPts val="0"/>
              </a:spcBef>
              <a:spcAft>
                <a:spcPts val="300"/>
              </a:spcAft>
            </a:pPr>
            <a:r>
              <a:rPr sz="800" b="0">
                <a:solidFill>
                  <a:srgbClr val="111111"/>
                </a:solidFill>
                <a:latin typeface="Calibri"/>
              </a:rPr>
              <a:t>About Us: Research Analyst is registered with SEBI as Research Analyst with Registration No. INH000009807. The firm got its registration on June 13, 2022, and is engaged in research services.</a:t>
            </a:r>
          </a:p>
          <a:p>
            <a:pPr>
              <a:lnSpc>
                <a:spcPct val="115000"/>
              </a:lnSpc>
              <a:spcBef>
                <a:spcPts val="600"/>
              </a:spcBef>
              <a:spcAft>
                <a:spcPts val="300"/>
              </a:spcAft>
            </a:pPr>
            <a:r>
              <a:rPr sz="800" b="0">
                <a:solidFill>
                  <a:srgbClr val="111111"/>
                </a:solidFill>
                <a:latin typeface="Calibri"/>
              </a:rPr>
              <a:t>Disciplinary history: 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p>
          <a:p>
            <a:pPr>
              <a:lnSpc>
                <a:spcPct val="115000"/>
              </a:lnSpc>
              <a:spcBef>
                <a:spcPts val="600"/>
              </a:spcBef>
              <a:spcAft>
                <a:spcPts val="300"/>
              </a:spcAft>
            </a:pPr>
            <a:r>
              <a:rPr sz="800" b="0">
                <a:solidFill>
                  <a:srgbClr val="111111"/>
                </a:solidFill>
                <a:latin typeface="Calibri"/>
              </a:rPr>
              <a:t>Details of its associates: No associates</a:t>
            </a:r>
          </a:p>
          <a:p>
            <a:pPr>
              <a:lnSpc>
                <a:spcPct val="115000"/>
              </a:lnSpc>
              <a:spcBef>
                <a:spcPts val="600"/>
              </a:spcBef>
              <a:spcAft>
                <a:spcPts val="300"/>
              </a:spcAft>
            </a:pPr>
            <a:r>
              <a:rPr sz="800" b="0">
                <a:solidFill>
                  <a:srgbClr val="111111"/>
                </a:solidFill>
                <a:latin typeface="Calibri"/>
              </a:rPr>
              <a:t>Disclosures with respect to Research and Recommendations Services: · Research Analyst may have financial interest or actual / beneficial ownership in the securities recommended in its personal portfolio. Details of the same may be referred through the disclosures made at the time of recommendation. · 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 · Research Analyst or its employee or its associates have not received any compensation from the company in past 12 months. · Research Analyst or its employee or its associates have not managed or co-managed the public offering of Subject company in past 12 months. · Research Analyst or its employee or its associates have not received any compensation for investment banking or merchant banking of brokerage services from the subject company in past 12 months. · Research Analyst or its employee or its associates have not received any compensation for products or services other than above from the subject company in past 12 months. · Research Analyst or its employee or its associates have not received any compensation or other benefits from the Subject Company or 3rd party in connection with the research report/ recommendation. · The subject company was not a client of Research Analyst or its employee or its associates during twelve months preceding the date of distribution of the research report and recommendation services provided. · Research Analysts or its employee or its associates has not served as an officer, director, or employee of the subject company · Registration granted by SEBI, membership of BASL and certification from NISM in no way guarantee performance of the Intermediary or provide any assurance of returns to investors. · Investment in securities market are subject to market risks. Read all the related documents carefully before investing.</a:t>
            </a:r>
          </a:p>
        </p:txBody>
      </p:sp>
      <p:pic>
        <p:nvPicPr>
          <p:cNvPr id="14" name="Picture 13" descr="signature.png"/>
          <p:cNvPicPr>
            <a:picLocks noChangeAspect="1"/>
          </p:cNvPicPr>
          <p:nvPr/>
        </p:nvPicPr>
        <p:blipFill>
          <a:blip r:embed="rId3"/>
          <a:stretch>
            <a:fillRect/>
          </a:stretch>
        </p:blipFill>
        <p:spPr>
          <a:xfrm>
            <a:off x="9445752" y="4937760"/>
            <a:ext cx="109728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