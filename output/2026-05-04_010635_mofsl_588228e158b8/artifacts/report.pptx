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Motilal Oswal Financial Services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INR 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TP</a:t>
            </a:r>
          </a:p>
          <a:p>
            <a:pPr algn="ctr"/>
            <a:r>
              <a:rPr sz="2000" b="1">
                <a:solidFill>
                  <a:srgbClr val="1F4690"/>
                </a:solidFill>
                <a:latin typeface="Calibri"/>
              </a:rPr>
              <a:t>INR 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65% of total net revenues — with management guiding for further increases — fundamentally re-rating the quality of the earnings base. CMP of INR 822.90 offers a 37% discount to analyst consensus target of INR 1,127, with a probability-weighted target of INR 1,109.</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BUY with SAARTHI Score of 72/100. Motilal Oswal Financial Services represents a compelling investment opportunity driven by its acc...</a:t>
            </a:r>
          </a:p>
          <a:p>
            <a:pPr/>
            <a:r>
              <a:rPr sz="1100" b="0">
                <a:solidFill>
                  <a:srgbClr val="111111"/>
                </a:solidFill>
                <a:latin typeface="Calibri"/>
              </a:rPr>
              <a:t>- ARR contribution at 65% of total net revenues, reducing cyclical broking volatility</a:t>
            </a:r>
          </a:p>
          <a:p>
            <a:pPr/>
            <a:r>
              <a:rPr sz="1100" b="0">
                <a:solidFill>
                  <a:srgbClr val="111111"/>
                </a:solidFill>
                <a:latin typeface="Calibri"/>
              </a:rPr>
              <a:t>- Q2FY25 profits up 123% YoY with 46% revenue growth and 48% ROE</a:t>
            </a:r>
          </a:p>
          <a:p>
            <a:pPr/>
            <a:r>
              <a:rPr sz="1100" b="0">
                <a:solidFill>
                  <a:srgbClr val="111111"/>
                </a:solidFill>
                <a:latin typeface="Calibri"/>
              </a:rPr>
              <a:t>- Total AUM at INR 1.77 lakh crore (+46% YoY); 91% of AUM outperforming benchmarks over 3 years</a:t>
            </a:r>
          </a:p>
          <a:p>
            <a:pPr/>
            <a:r>
              <a:rPr sz="1100" b="0">
                <a:solidFill>
                  <a:srgbClr val="111111"/>
                </a:solidFill>
                <a:latin typeface="Calibri"/>
              </a:rPr>
              <a:t>- Private Wealth AUM at INR 1.96 lakh crore (+31% YoY); family count up 41% YoY</a:t>
            </a:r>
          </a:p>
          <a:p>
            <a:pPr/>
            <a:r>
              <a:rPr sz="11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Investment Quality Score — 72/100</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Proprietary 7-dimension framework. Overall score 72/100 (BUY (70-84 range)).</a:t>
            </a:r>
          </a:p>
        </p:txBody>
      </p:sp>
      <p:graphicFrame>
        <p:nvGraphicFramePr>
          <p:cNvPr id="12" name="Table 11"/>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819323"/>
                <a:gridCol w="2819323"/>
                <a:gridCol w="2819323"/>
                <a:gridCol w="2819326"/>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Key 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Motilal Oswal Financial Services Ltd At A Glance</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INR 822.9</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TP INR 1127.0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Indian Financial Services is a strategic shock absorber for the growth story. India is expected to have 16.57 lakh HNWIs by 2027 and become the fourth-largest private wealth market by 2028, with a 58.4% projected rise in UHNWIs. The financial services sector is projected to nearly double profits by FY30, led by NBFCs growing at 16% annually. Mutual fund penetration at just 5–6% reflects substantial latent growth opportunity. Private credit hit a record USD 9.0 billion in H1 2025, up 53% YoY.</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Mutual fund penetration at 5-6% — massive latent opportunity</a:t>
            </a:r>
          </a:p>
          <a:p>
            <a:pPr/>
            <a:r>
              <a:rPr sz="1100" b="0">
                <a:solidFill>
                  <a:srgbClr val="111111"/>
                </a:solidFill>
                <a:latin typeface="Calibri"/>
              </a:rPr>
              <a:t>- Financial savings shifting from gold/real estate to financial assets</a:t>
            </a:r>
          </a:p>
          <a:p>
            <a:pPr/>
            <a:r>
              <a:rPr sz="1100" b="0">
                <a:solidFill>
                  <a:srgbClr val="111111"/>
                </a:solidFill>
                <a:latin typeface="Calibri"/>
              </a:rPr>
              <a:t>- BSE-listed companies grew from 135 (1995) to 5,328 (Feb 2025)</a:t>
            </a:r>
          </a:p>
          <a:p>
            <a:pPr/>
            <a:r>
              <a:rPr sz="1100" b="0">
                <a:solidFill>
                  <a:srgbClr val="111111"/>
                </a:solidFill>
                <a:latin typeface="Calibri"/>
              </a:rPr>
              <a:t>- Private wealth set to be 4th-largest globally by 2028</a:t>
            </a:r>
          </a:p>
          <a:p>
            <a:pPr/>
            <a:r>
              <a:rPr sz="1100" b="0">
                <a:solidFill>
                  <a:srgbClr val="111111"/>
                </a:solidFill>
                <a:latin typeface="Calibri"/>
              </a:rPr>
              <a:t>- NBFCs growing at 16% annually with improving asset quality</a:t>
            </a:r>
          </a:p>
          <a:p>
            <a:pPr/>
            <a:r>
              <a:rPr sz="11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1417320"/>
            <a:ext cx="11277295" cy="548640"/>
          </a:xfrm>
          <a:prstGeom prst="rect">
            <a:avLst/>
          </a:prstGeom>
          <a:noFill/>
        </p:spPr>
        <p:txBody>
          <a:bodyPr wrap="square">
            <a:spAutoFit/>
          </a:bodyPr>
          <a:lstStyle/>
          <a:p>
            <a:r>
              <a:rPr sz="1100" b="0">
                <a:solidFill>
                  <a:srgbClr val="111111"/>
                </a:solidFill>
                <a:latin typeface="Calibri"/>
              </a:rPr>
              <a:t>Six themes underpinning the investment view.</a:t>
            </a:r>
          </a:p>
        </p:txBody>
      </p:sp>
      <p:sp>
        <p:nvSpPr>
          <p:cNvPr id="12" name="TextBox 11"/>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Transformation: ARR at 65% of net revenues (up from 61%); fee-based at 45%. Annuity income reduces transaction-cycle volatility.</a:t>
            </a:r>
          </a:p>
          <a:p>
            <a:pPr/>
            <a:r>
              <a:rPr sz="1100" b="0">
                <a:solidFill>
                  <a:srgbClr val="111111"/>
                </a:solidFill>
                <a:latin typeface="Calibri"/>
              </a:rPr>
              <a:t>- Profitability Momentum: Q2FY25 PAT INR 1,242 Cr (+123% YoY); H1FY26 operating PAT INR 1,088 Cr (+11% YoY); Asset &amp; PWM businesses leading at +32% PAT growth.</a:t>
            </a:r>
          </a:p>
          <a:p>
            <a:pPr/>
            <a:r>
              <a:rPr sz="1100" b="0">
                <a:solidFill>
                  <a:srgbClr val="111111"/>
                </a:solidFill>
                <a:latin typeface="Calibri"/>
              </a:rPr>
              <a:t>- AUM Scale and Outperformance: Total AUM INR 1.77L Cr (+46% YoY). AMC AUM INR 1.89L Cr (+33%) with INR 11,610 Cr net flows. 91% of AUM outperforming benchmarks over 3 years.</a:t>
            </a:r>
          </a:p>
          <a:p>
            <a:pPr/>
            <a:r>
              <a:rPr sz="1100" b="0">
                <a:solidFill>
                  <a:srgbClr val="111111"/>
                </a:solidFill>
                <a:latin typeface="Calibri"/>
              </a:rPr>
              <a:t>- Private Wealth Expansion: PWM AUM INR 1.96L Cr (+31% YoY); family count +41% YoY; PAT +14% (9M). Distribution book +34% YoY to INR 42,775 Cr.</a:t>
            </a:r>
          </a:p>
          <a:p>
            <a:pPr/>
            <a:r>
              <a:rPr sz="1100" b="0">
                <a:solidFill>
                  <a:srgbClr val="111111"/>
                </a:solidFill>
                <a:latin typeface="Calibri"/>
              </a:rPr>
              <a:t>- Valuation Opportunity: CMP INR 822.90 vs consensus TP INR 1,126.67 (max INR 1,200) — 37% upside. Probability-weighted target INR 1,109.</a:t>
            </a:r>
          </a:p>
          <a:p>
            <a:pPr/>
            <a:r>
              <a:rPr sz="1100" b="0">
                <a:solidFill>
                  <a:srgbClr val="111111"/>
                </a:solidFill>
                <a:latin typeface="Calibri"/>
              </a:rPr>
              <a:t>- Credit Upgrade: Long-term credit rating upgraded to AA+ (Stable) by ICRA. Net worth INR 12,871 Cr (+16%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Trend</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Revenue trajectory across the forecast period reflects mix shift and AUM scale-up.</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Annual Financial Summary</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5638647"/>
                <a:gridCol w="5638648"/>
              </a:tblGrid>
              <a:tr h="628650">
                <a:tc>
                  <a:txBody>
                    <a:bodyPr/>
                    <a:lstStyle/>
                    <a:p>
                      <a:r>
                        <a:rPr b="1" sz="1100">
                          <a:solidFill>
                            <a:srgbClr val="FFFFFF"/>
                          </a:solidFill>
                          <a:latin typeface="Calibri"/>
                        </a:rPr>
                        <a:t>Period</a:t>
                      </a:r>
                    </a:p>
                  </a:txBody>
                  <a:tcPr>
                    <a:solidFill>
                      <a:srgbClr val="1F4690"/>
                    </a:solidFill>
                  </a:tcPr>
                </a:tc>
                <a:tc>
                  <a:txBody>
                    <a:bodyPr/>
                    <a:lstStyle/>
                    <a:p>
                      <a:r>
                        <a:rPr b="1" sz="1100">
                          <a:solidFill>
                            <a:srgbClr val="FFFFFF"/>
                          </a:solidFill>
                          <a:latin typeface="Calibri"/>
                        </a:rPr>
                        <a:t>Revenue</a:t>
                      </a:r>
                    </a:p>
                  </a:txBody>
                  <a:tcPr>
                    <a:solidFill>
                      <a:srgbClr val="1F4690"/>
                    </a:solidFill>
                  </a:tcPr>
                </a:tc>
              </a:tr>
              <a:tr h="628650">
                <a:tc>
                  <a:txBody>
                    <a:bodyPr/>
                    <a:lstStyle/>
                    <a:p>
                      <a:r>
                        <a:rPr sz="1100">
                          <a:solidFill>
                            <a:srgbClr val="111111"/>
                          </a:solidFill>
                          <a:latin typeface="Calibri"/>
                        </a:rPr>
                        <a:t>FY22A</a:t>
                      </a:r>
                    </a:p>
                  </a:txBody>
                  <a:tcPr/>
                </a:tc>
                <a:tc>
                  <a:txBody>
                    <a:bodyPr/>
                    <a:lstStyle/>
                    <a:p>
                      <a:r>
                        <a:rPr sz="1100">
                          <a:solidFill>
                            <a:srgbClr val="111111"/>
                          </a:solidFill>
                          <a:latin typeface="Calibri"/>
                        </a:rPr>
                        <a:t>4298.0</a:t>
                      </a:r>
                    </a:p>
                  </a:txBody>
                  <a:tcPr/>
                </a:tc>
              </a:tr>
              <a:tr h="628650">
                <a:tc>
                  <a:txBody>
                    <a:bodyPr/>
                    <a:lstStyle/>
                    <a:p>
                      <a:r>
                        <a:rPr sz="1100">
                          <a:solidFill>
                            <a:srgbClr val="111111"/>
                          </a:solidFill>
                          <a:latin typeface="Calibri"/>
                        </a:rPr>
                        <a:t>FY23A</a:t>
                      </a:r>
                    </a:p>
                  </a:txBody>
                  <a:tcPr>
                    <a:solidFill>
                      <a:srgbClr val="FFFFFF"/>
                    </a:solidFill>
                  </a:tcPr>
                </a:tc>
                <a:tc>
                  <a:txBody>
                    <a:bodyPr/>
                    <a:lstStyle/>
                    <a:p>
                      <a:r>
                        <a:rPr sz="1100">
                          <a:solidFill>
                            <a:srgbClr val="111111"/>
                          </a:solidFill>
                          <a:latin typeface="Calibri"/>
                        </a:rPr>
                        <a:t>4178.0</a:t>
                      </a:r>
                    </a:p>
                  </a:txBody>
                  <a:tcPr>
                    <a:solidFill>
                      <a:srgbClr val="FFFFFF"/>
                    </a:solidFill>
                  </a:tcPr>
                </a:tc>
              </a:tr>
              <a:tr h="628650">
                <a:tc>
                  <a:txBody>
                    <a:bodyPr/>
                    <a:lstStyle/>
                    <a:p>
                      <a:r>
                        <a:rPr sz="1100">
                          <a:solidFill>
                            <a:srgbClr val="111111"/>
                          </a:solidFill>
                          <a:latin typeface="Calibri"/>
                        </a:rPr>
                        <a:t>FY24A</a:t>
                      </a:r>
                    </a:p>
                  </a:txBody>
                  <a:tcPr/>
                </a:tc>
                <a:tc>
                  <a:txBody>
                    <a:bodyPr/>
                    <a:lstStyle/>
                    <a:p>
                      <a:r>
                        <a:rPr sz="1100">
                          <a:solidFill>
                            <a:srgbClr val="111111"/>
                          </a:solidFill>
                          <a:latin typeface="Calibri"/>
                        </a:rPr>
                        <a:t>7106.0</a:t>
                      </a:r>
                    </a:p>
                  </a:txBody>
                  <a:tcPr/>
                </a:tc>
              </a:tr>
              <a:tr h="628650">
                <a:tc>
                  <a:txBody>
                    <a:bodyPr/>
                    <a:lstStyle/>
                    <a:p>
                      <a:r>
                        <a:rPr sz="1100">
                          <a:solidFill>
                            <a:srgbClr val="111111"/>
                          </a:solidFill>
                          <a:latin typeface="Calibri"/>
                        </a:rPr>
                        <a:t>FY25A</a:t>
                      </a:r>
                    </a:p>
                  </a:txBody>
                  <a:tcPr>
                    <a:solidFill>
                      <a:srgbClr val="FFFFFF"/>
                    </a:solidFill>
                  </a:tcPr>
                </a:tc>
                <a:tc>
                  <a:txBody>
                    <a:bodyPr/>
                    <a:lstStyle/>
                    <a:p>
                      <a:r>
                        <a:rPr sz="1100">
                          <a:solidFill>
                            <a:srgbClr val="111111"/>
                          </a:solidFill>
                          <a:latin typeface="Calibri"/>
                        </a:rPr>
                        <a:t>8340.0</a:t>
                      </a:r>
                    </a:p>
                  </a:txBody>
                  <a:tcPr>
                    <a:solidFill>
                      <a:srgbClr val="FFFFFF"/>
                    </a:solidFill>
                  </a:tcPr>
                </a:tc>
              </a:tr>
              <a:tr h="628650">
                <a:tc>
                  <a:txBody>
                    <a:bodyPr/>
                    <a:lstStyle/>
                    <a:p>
                      <a:r>
                        <a:rPr sz="1100">
                          <a:solidFill>
                            <a:srgbClr val="111111"/>
                          </a:solidFill>
                          <a:latin typeface="Calibri"/>
                        </a:rPr>
                        <a:t>FY26E</a:t>
                      </a:r>
                    </a:p>
                  </a:txBody>
                  <a:tcPr/>
                </a:tc>
                <a:tc>
                  <a:txBody>
                    <a:bodyPr/>
                    <a:lstStyle/>
                    <a:p>
                      <a:r>
                        <a:rPr sz="1100">
                          <a:solidFill>
                            <a:srgbClr val="111111"/>
                          </a:solidFill>
                          <a:latin typeface="Calibri"/>
                        </a:rPr>
                        <a:t>10402.0</a:t>
                      </a:r>
                    </a:p>
                  </a:txBody>
                  <a:tcPr/>
                </a:tc>
              </a:tr>
              <a:tr h="628650">
                <a:tc>
                  <a:txBody>
                    <a:bodyPr/>
                    <a:lstStyle/>
                    <a:p>
                      <a:r>
                        <a:rPr sz="1100">
                          <a:solidFill>
                            <a:srgbClr val="111111"/>
                          </a:solidFill>
                          <a:latin typeface="Calibri"/>
                        </a:rPr>
                        <a:t>FY27E</a:t>
                      </a:r>
                    </a:p>
                  </a:txBody>
                  <a:tcPr>
                    <a:solidFill>
                      <a:srgbClr val="FFFFFF"/>
                    </a:solidFill>
                  </a:tcPr>
                </a:tc>
                <a:tc>
                  <a:txBody>
                    <a:bodyPr/>
                    <a:lstStyle/>
                    <a:p>
                      <a:r>
                        <a:rPr sz="1100">
                          <a:solidFill>
                            <a:srgbClr val="111111"/>
                          </a:solidFill>
                          <a:latin typeface="Calibri"/>
                        </a:rPr>
                        <a:t>12973.0</a:t>
                      </a:r>
                    </a:p>
                  </a:txBody>
                  <a:tcPr>
                    <a:solidFill>
                      <a:srgbClr val="FFFFFF"/>
                    </a:solidFill>
                  </a:tcPr>
                </a:tc>
              </a:tr>
              <a:tr h="628650">
                <a:tc>
                  <a:txBody>
                    <a:bodyPr/>
                    <a:lstStyle/>
                    <a:p>
                      <a:r>
                        <a:rPr sz="1100">
                          <a:solidFill>
                            <a:srgbClr val="111111"/>
                          </a:solidFill>
                          <a:latin typeface="Calibri"/>
                        </a:rPr>
                        <a:t>FY28E</a:t>
                      </a:r>
                    </a:p>
                  </a:txBody>
                  <a:tcPr/>
                </a:tc>
                <a:tc>
                  <a:txBody>
                    <a:bodyPr/>
                    <a:lstStyle/>
                    <a:p>
                      <a:r>
                        <a:rPr sz="1100">
                          <a:solidFill>
                            <a:srgbClr val="111111"/>
                          </a:solidFill>
                          <a:latin typeface="Calibri"/>
                        </a:rPr>
                        <a:t>16181.0</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Performance</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Recent quarterly trajectory showing the variability inherent to the cyclical revenue base.</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Mix</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2819323"/>
                <a:gridCol w="2819323"/>
                <a:gridCol w="2819323"/>
                <a:gridCol w="2819326"/>
              </a:tblGrid>
              <a:tr h="83820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Scale Metric</a:t>
                      </a:r>
                    </a:p>
                  </a:txBody>
                  <a:tcPr>
                    <a:solidFill>
                      <a:srgbClr val="1F4690"/>
                    </a:solidFill>
                  </a:tcPr>
                </a:tc>
                <a:tc>
                  <a:txBody>
                    <a:bodyPr/>
                    <a:lstStyle/>
                    <a:p>
                      <a:r>
                        <a:rPr b="1" sz="1100">
                          <a:solidFill>
                            <a:srgbClr val="FFFFFF"/>
                          </a:solidFill>
                          <a:latin typeface="Calibri"/>
                        </a:rPr>
                        <a:t>Latest</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83820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83820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83820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83820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83820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Ratios</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Margin and return profile across the forecast period.</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8"/>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37.5</a:t>
                      </a:r>
                    </a:p>
                  </a:txBody>
                  <a:tcPr>
                    <a:solidFill>
                      <a:srgbClr val="FFFFFF"/>
                    </a:solidFill>
                  </a:tcPr>
                </a:tc>
                <a:tc>
                  <a:txBody>
                    <a:bodyPr/>
                    <a:lstStyle/>
                    <a:p>
                      <a:r>
                        <a:rPr sz="1100">
                          <a:solidFill>
                            <a:srgbClr val="111111"/>
                          </a:solidFill>
                          <a:latin typeface="Calibri"/>
                        </a:rPr>
                        <a:t>52.3</a:t>
                      </a:r>
                    </a:p>
                  </a:txBody>
                  <a:tcPr>
                    <a:solidFill>
                      <a:srgbClr val="FFFFFF"/>
                    </a:solidFill>
                  </a:tcPr>
                </a:tc>
                <a:tc>
                  <a:txBody>
                    <a:bodyPr/>
                    <a:lstStyle/>
                    <a:p>
                      <a:r>
                        <a:rPr sz="1100">
                          <a:solidFill>
                            <a:srgbClr val="111111"/>
                          </a:solidFill>
                          <a:latin typeface="Calibri"/>
                        </a:rPr>
                        <a:t>20.1</a:t>
                      </a:r>
                    </a:p>
                  </a:txBody>
                  <a:tcPr>
                    <a:solidFill>
                      <a:srgbClr val="FFFFFF"/>
                    </a:solidFill>
                  </a:tcPr>
                </a:tc>
                <a:tc>
                  <a:txBody>
                    <a:bodyPr/>
                    <a:lstStyle/>
                    <a:p>
                      <a:r>
                        <a:rPr sz="1100">
                          <a:solidFill>
                            <a:srgbClr val="111111"/>
                          </a:solidFill>
                          <a:latin typeface="Calibri"/>
                        </a:rPr>
                        <a:t>19.7</a:t>
                      </a:r>
                    </a:p>
                  </a:txBody>
                  <a:tcPr>
                    <a:solidFill>
                      <a:srgbClr val="FFFFFF"/>
                    </a:solidFill>
                  </a:tcPr>
                </a:tc>
                <a:tc>
                  <a:txBody>
                    <a:bodyPr/>
                    <a:lstStyle/>
                    <a:p>
                      <a:r>
                        <a:rPr sz="1100">
                          <a:solidFill>
                            <a:srgbClr val="111111"/>
                          </a:solidFill>
                          <a:latin typeface="Calibri"/>
                        </a:rPr>
                        <a:t>16.1</a:t>
                      </a:r>
                    </a:p>
                  </a:txBody>
                  <a:tcPr>
                    <a:solidFill>
                      <a:srgbClr val="FFFFFF"/>
                    </a:solidFill>
                  </a:tcPr>
                </a:tc>
                <a:tc>
                  <a:txBody>
                    <a:bodyPr/>
                    <a:lstStyle/>
                    <a:p>
                      <a:r>
                        <a:rPr sz="1100">
                          <a:solidFill>
                            <a:srgbClr val="111111"/>
                          </a:solidFill>
                          <a:latin typeface="Calibri"/>
                        </a:rPr>
                        <a:t>12.4</a:t>
                      </a:r>
                    </a:p>
                  </a:txBody>
                  <a:tcPr>
                    <a:solidFill>
                      <a:srgbClr val="FFFFFF"/>
                    </a:solidFill>
                  </a:tcPr>
                </a:tc>
                <a:tc>
                  <a:txBody>
                    <a:bodyPr/>
                    <a:lstStyle/>
                    <a:p>
                      <a:r>
                        <a:rPr sz="1100">
                          <a:solidFill>
                            <a:srgbClr val="111111"/>
                          </a:solidFill>
                          <a:latin typeface="Calibri"/>
                        </a:rPr>
                        <a:t>9.6</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8.7</a:t>
                      </a:r>
                    </a:p>
                  </a:txBody>
                  <a:tcPr/>
                </a:tc>
                <a:tc>
                  <a:txBody>
                    <a:bodyPr/>
                    <a:lstStyle/>
                    <a:p>
                      <a:r>
                        <a:rPr sz="1100">
                          <a:solidFill>
                            <a:srgbClr val="111111"/>
                          </a:solidFill>
                          <a:latin typeface="Calibri"/>
                        </a:rPr>
                        <a:t>7.8</a:t>
                      </a:r>
                    </a:p>
                  </a:txBody>
                  <a:tcPr/>
                </a:tc>
                <a:tc>
                  <a:txBody>
                    <a:bodyPr/>
                    <a:lstStyle/>
                    <a:p>
                      <a:r>
                        <a:rPr sz="1100">
                          <a:solidFill>
                            <a:srgbClr val="111111"/>
                          </a:solidFill>
                          <a:latin typeface="Calibri"/>
                        </a:rPr>
                        <a:t>5.6</a:t>
                      </a:r>
                    </a:p>
                  </a:txBody>
                  <a:tcPr/>
                </a:tc>
                <a:tc>
                  <a:txBody>
                    <a:bodyPr/>
                    <a:lstStyle/>
                    <a:p>
                      <a:r>
                        <a:rPr sz="1100">
                          <a:solidFill>
                            <a:srgbClr val="111111"/>
                          </a:solidFill>
                          <a:latin typeface="Calibri"/>
                        </a:rPr>
                        <a:t>4.5</a:t>
                      </a:r>
                    </a:p>
                  </a:txBody>
                  <a:tcPr/>
                </a:tc>
                <a:tc>
                  <a:txBody>
                    <a:bodyPr/>
                    <a:lstStyle/>
                    <a:p>
                      <a:r>
                        <a:rPr sz="1100">
                          <a:solidFill>
                            <a:srgbClr val="111111"/>
                          </a:solidFill>
                          <a:latin typeface="Calibri"/>
                        </a:rPr>
                        <a:t>3.6</a:t>
                      </a:r>
                    </a:p>
                  </a:txBody>
                  <a:tcPr/>
                </a:tc>
                <a:tc>
                  <a:txBody>
                    <a:bodyPr/>
                    <a:lstStyle/>
                    <a:p>
                      <a:r>
                        <a:rPr sz="1100">
                          <a:solidFill>
                            <a:srgbClr val="111111"/>
                          </a:solidFill>
                          <a:latin typeface="Calibri"/>
                        </a:rPr>
                        <a:t>2.9</a:t>
                      </a:r>
                    </a:p>
                  </a:txBody>
                  <a:tcPr/>
                </a:tc>
                <a:tc>
                  <a:txBody>
                    <a:bodyPr/>
                    <a:lstStyle/>
                    <a:p>
                      <a:r>
                        <a:rPr sz="1100">
                          <a:solidFill>
                            <a:srgbClr val="111111"/>
                          </a:solidFill>
                          <a:latin typeface="Calibri"/>
                        </a:rPr>
                        <a:t>2.3</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9.0</a:t>
                      </a:r>
                    </a:p>
                  </a:txBody>
                  <a:tcPr>
                    <a:solidFill>
                      <a:srgbClr val="FFFFFF"/>
                    </a:solidFill>
                  </a:tcPr>
                </a:tc>
                <a:tc>
                  <a:txBody>
                    <a:bodyPr/>
                    <a:lstStyle/>
                    <a:p>
                      <a:r>
                        <a:rPr sz="1100">
                          <a:solidFill>
                            <a:srgbClr val="111111"/>
                          </a:solidFill>
                          <a:latin typeface="Calibri"/>
                        </a:rPr>
                        <a:t>10.3</a:t>
                      </a:r>
                    </a:p>
                  </a:txBody>
                  <a:tcPr>
                    <a:solidFill>
                      <a:srgbClr val="FFFFFF"/>
                    </a:solidFill>
                  </a:tcPr>
                </a:tc>
                <a:tc>
                  <a:txBody>
                    <a:bodyPr/>
                    <a:lstStyle/>
                    <a:p>
                      <a:r>
                        <a:rPr sz="1100">
                          <a:solidFill>
                            <a:srgbClr val="111111"/>
                          </a:solidFill>
                          <a:latin typeface="Calibri"/>
                        </a:rPr>
                        <a:t>9.5</a:t>
                      </a:r>
                    </a:p>
                  </a:txBody>
                  <a:tcPr>
                    <a:solidFill>
                      <a:srgbClr val="FFFFFF"/>
                    </a:solidFill>
                  </a:tcPr>
                </a:tc>
                <a:tc>
                  <a:txBody>
                    <a:bodyPr/>
                    <a:lstStyle/>
                    <a:p>
                      <a:r>
                        <a:rPr sz="1100">
                          <a:solidFill>
                            <a:srgbClr val="111111"/>
                          </a:solidFill>
                          <a:latin typeface="Calibri"/>
                        </a:rPr>
                        <a:t>11.4</a:t>
                      </a:r>
                    </a:p>
                  </a:txBody>
                  <a:tcPr>
                    <a:solidFill>
                      <a:srgbClr val="FFFFFF"/>
                    </a:solidFill>
                  </a:tcPr>
                </a:tc>
                <a:tc>
                  <a:txBody>
                    <a:bodyPr/>
                    <a:lstStyle/>
                    <a:p>
                      <a:r>
                        <a:rPr sz="1100">
                          <a:solidFill>
                            <a:srgbClr val="111111"/>
                          </a:solidFill>
                          <a:latin typeface="Calibri"/>
                        </a:rPr>
                        <a:t>12.7</a:t>
                      </a:r>
                    </a:p>
                  </a:txBody>
                  <a:tcPr>
                    <a:solidFill>
                      <a:srgbClr val="FFFFFF"/>
                    </a:solidFill>
                  </a:tcPr>
                </a:tc>
                <a:tc>
                  <a:txBody>
                    <a:bodyPr/>
                    <a:lstStyle/>
                    <a:p>
                      <a:r>
                        <a:rPr sz="1100">
                          <a:solidFill>
                            <a:srgbClr val="111111"/>
                          </a:solidFill>
                          <a:latin typeface="Calibri"/>
                        </a:rPr>
                        <a:t>10.5</a:t>
                      </a:r>
                    </a:p>
                  </a:txBody>
                  <a:tcPr>
                    <a:solidFill>
                      <a:srgbClr val="FFFFFF"/>
                    </a:solidFill>
                  </a:tcPr>
                </a:tc>
                <a:tc>
                  <a:txBody>
                    <a:bodyPr/>
                    <a:lstStyle/>
                    <a:p>
                      <a:r>
                        <a:rPr sz="1100">
                          <a:solidFill>
                            <a:srgbClr val="111111"/>
                          </a:solidFill>
                          <a:latin typeface="Calibri"/>
                        </a:rPr>
                        <a:t>8.8</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 Methods Summary</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Probability-weighted target price reconciles bull, base, and bear cases.</a:t>
            </a:r>
          </a:p>
        </p:txBody>
      </p:sp>
      <p:graphicFrame>
        <p:nvGraphicFramePr>
          <p:cNvPr id="12" name="Table 11"/>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2819323"/>
                <a:gridCol w="2819323"/>
                <a:gridCol w="2819323"/>
                <a:gridCol w="2819326"/>
              </a:tblGrid>
              <a:tr h="777240">
                <a:tc>
                  <a:txBody>
                    <a:bodyPr/>
                    <a:lstStyle/>
                    <a:p>
                      <a:r>
                        <a:rPr b="1" sz="1100">
                          <a:solidFill>
                            <a:srgbClr val="FFFFFF"/>
                          </a:solidFill>
                          <a:latin typeface="Calibri"/>
                        </a:rPr>
                        <a:t>Case</a:t>
                      </a:r>
                    </a:p>
                  </a:txBody>
                  <a:tcPr>
                    <a:solidFill>
                      <a:srgbClr val="1F4690"/>
                    </a:solidFill>
                  </a:tcPr>
                </a:tc>
                <a:tc>
                  <a:txBody>
                    <a:bodyPr/>
                    <a:lstStyle/>
                    <a:p>
                      <a:r>
                        <a:rPr b="1" sz="1100">
                          <a:solidFill>
                            <a:srgbClr val="FFFFFF"/>
                          </a:solidFill>
                          <a:latin typeface="Calibri"/>
                        </a:rPr>
                        <a:t>Target</a:t>
                      </a:r>
                    </a:p>
                  </a:txBody>
                  <a:tcPr>
                    <a:solidFill>
                      <a:srgbClr val="1F4690"/>
                    </a:solidFill>
                  </a:tcPr>
                </a:tc>
                <a:tc>
                  <a:txBody>
                    <a:bodyPr/>
                    <a:lstStyle/>
                    <a:p>
                      <a:r>
                        <a:rPr b="1" sz="1100">
                          <a:solidFill>
                            <a:srgbClr val="FFFFFF"/>
                          </a:solidFill>
                          <a:latin typeface="Calibri"/>
                        </a:rPr>
                        <a:t>Weight</a:t>
                      </a:r>
                    </a:p>
                  </a:txBody>
                  <a:tcPr>
                    <a:solidFill>
                      <a:srgbClr val="1F4690"/>
                    </a:solidFill>
                  </a:tcPr>
                </a:tc>
                <a:tc>
                  <a:txBody>
                    <a:bodyPr/>
                    <a:lstStyle/>
                    <a:p>
                      <a:r>
                        <a:rPr b="1" sz="1100">
                          <a:solidFill>
                            <a:srgbClr val="FFFFFF"/>
                          </a:solidFill>
                          <a:latin typeface="Calibri"/>
                        </a:rPr>
                        <a:t>Basis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Case</a:t>
                      </a:r>
                    </a:p>
                  </a:txBody>
                  <a:tcPr>
                    <a:solidFill>
                      <a:srgbClr val="1F4690"/>
                    </a:solidFill>
                  </a:tcPr>
                </a:tc>
                <a:tc>
                  <a:txBody>
                    <a:bodyPr/>
                    <a:lstStyle/>
                    <a:p>
                      <a:r>
                        <a:rPr b="1" sz="1100">
                          <a:solidFill>
                            <a:srgbClr val="FFFFFF"/>
                          </a:solidFill>
                          <a:latin typeface="Calibri"/>
                        </a:rPr>
                        <a:t>Rev CAGR</a:t>
                      </a:r>
                    </a:p>
                  </a:txBody>
                  <a:tcPr>
                    <a:solidFill>
                      <a:srgbClr val="1F4690"/>
                    </a:solidFill>
                  </a:tcPr>
                </a:tc>
                <a:tc>
                  <a:txBody>
                    <a:bodyPr/>
                    <a:lstStyle/>
                    <a:p>
                      <a:r>
                        <a:rPr b="1" sz="1100">
                          <a:solidFill>
                            <a:srgbClr val="FFFFFF"/>
                          </a:solidFill>
                          <a:latin typeface="Calibri"/>
                        </a:rPr>
                        <a:t>EBITDA Mgn</a:t>
                      </a:r>
                    </a:p>
                  </a:txBody>
                  <a:tcPr>
                    <a:solidFill>
                      <a:srgbClr val="1F4690"/>
                    </a:solidFill>
                  </a:tcPr>
                </a:tc>
                <a:tc>
                  <a:txBody>
                    <a:bodyPr/>
                    <a:lstStyle/>
                    <a:p>
                      <a:r>
                        <a:rPr b="1" sz="1100">
                          <a:solidFill>
                            <a:srgbClr val="FFFFFF"/>
                          </a:solidFill>
                          <a:latin typeface="Calibri"/>
                        </a:rPr>
                        <a:t>Target Price</a:t>
                      </a:r>
                    </a:p>
                  </a:txBody>
                  <a:tcPr>
                    <a:solidFill>
                      <a:srgbClr val="1F4690"/>
                    </a:solidFill>
                  </a:tcPr>
                </a:tc>
                <a:tc>
                  <a:txBody>
                    <a:bodyPr/>
                    <a:lstStyle/>
                    <a:p>
                      <a:r>
                        <a:rPr b="1" sz="1100">
                          <a:solidFill>
                            <a:srgbClr val="FFFFFF"/>
                          </a:solidFill>
                          <a:latin typeface="Calibri"/>
                        </a:rPr>
                        <a:t>Probability</a:t>
                      </a:r>
                    </a:p>
                  </a:txBody>
                  <a:tcPr>
                    <a:solidFill>
                      <a:srgbClr val="1F4690"/>
                    </a:solidFill>
                  </a:tcPr>
                </a:tc>
                <a:tc>
                  <a:txBody>
                    <a:bodyPr/>
                    <a:lstStyle/>
                    <a:p>
                      <a:r>
                        <a:rPr b="1" sz="1100">
                          <a:solidFill>
                            <a:srgbClr val="FFFFFF"/>
                          </a:solidFill>
                          <a:latin typeface="Calibri"/>
                        </a:rPr>
                        <a:t>Drivers</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Catalysts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 ARR contribution crossing 70% of revenues, triggering valuation re-rating from broking to asset management multiples - Sustained AMC AUM growth above 25% YoY with net flows exceeding INR 10,000 crore annually - Private wealth AUM growth above 25% YoY with family count expansion - Operating leverage improvement with cost-to-income ratio declining - Regulatory clarity on F&amp;O trading norms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contribution crossing 70% of revenues, triggering valuation re-rating from broking to asset management multiples</a:t>
            </a:r>
          </a:p>
          <a:p>
            <a:pPr/>
            <a:r>
              <a:rPr sz="1100" b="0">
                <a:solidFill>
                  <a:srgbClr val="111111"/>
                </a:solidFill>
                <a:latin typeface="Calibri"/>
              </a:rPr>
              <a:t>- Sustained AMC AUM growth above 25% YoY with net flows exceeding INR 10,000 crore annually</a:t>
            </a:r>
          </a:p>
          <a:p>
            <a:pPr/>
            <a:r>
              <a:rPr sz="1100" b="0">
                <a:solidFill>
                  <a:srgbClr val="111111"/>
                </a:solidFill>
                <a:latin typeface="Calibri"/>
              </a:rPr>
              <a:t>- Private wealth AUM growth above 25% YoY with family count expansion</a:t>
            </a:r>
          </a:p>
          <a:p>
            <a:pPr/>
            <a:r>
              <a:rPr sz="1100" b="0">
                <a:solidFill>
                  <a:srgbClr val="111111"/>
                </a:solidFill>
                <a:latin typeface="Calibri"/>
              </a:rPr>
              <a:t>- Operating leverage improvement with cost-to-income ratio declining</a:t>
            </a:r>
          </a:p>
          <a:p>
            <a:pPr/>
            <a:r>
              <a:rPr sz="11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Founder-led leadership with deep institutional DNA.</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 Governance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Entry: INR 800-850. 15-20% discount to analyst consensus target — margin of safety. Position size: 3-5% of portfolio (institutional). Review: Quarterly. Downside exit: Stop-loss at INR 750 (-8% from CMP) on technical break with high volume. Upside exit: Sell 50% at INR 1,100-1,150 (30-40% gains) / Sell remaining at INR 1,200+ if multiples expand beyond 25x P/E.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contribution above 60% of net revenues</a:t>
            </a:r>
          </a:p>
          <a:p>
            <a:pPr/>
            <a:r>
              <a:rPr sz="1100" b="0">
                <a:solidFill>
                  <a:srgbClr val="111111"/>
                </a:solidFill>
                <a:latin typeface="Calibri"/>
              </a:rPr>
              <a:t>- AMC AUM growth above 25% YoY with net flows &gt; INR 10,000 Cr</a:t>
            </a:r>
          </a:p>
          <a:p>
            <a:pPr/>
            <a:r>
              <a:rPr sz="1100" b="0">
                <a:solidFill>
                  <a:srgbClr val="111111"/>
                </a:solidFill>
                <a:latin typeface="Calibri"/>
              </a:rPr>
              <a:t>- PWM AUM growth above 25% YoY with family count expansion</a:t>
            </a:r>
          </a:p>
          <a:p>
            <a:pPr/>
            <a:r>
              <a:rPr sz="1100" b="0">
                <a:solidFill>
                  <a:srgbClr val="111111"/>
                </a:solidFill>
                <a:latin typeface="Calibri"/>
              </a:rPr>
              <a:t>- Cost-to-income ratio declining</a:t>
            </a:r>
          </a:p>
          <a:p>
            <a:pPr/>
            <a:r>
              <a:rPr sz="11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regulatory headwinds on F&amp;O trading norms compressing cyclical broking revenues</a:t>
            </a:r>
          </a:p>
          <a:p>
            <a:pPr/>
            <a:r>
              <a:rPr sz="1100" b="0">
                <a:solidFill>
                  <a:srgbClr val="111111"/>
                </a:solidFill>
                <a:latin typeface="Calibri"/>
              </a:rPr>
              <a:t>- Q2FY26 profit declined 67.6% YoY and revenue 34.9% YoY due to regulatory changes — residual cyclicality</a:t>
            </a:r>
          </a:p>
          <a:p>
            <a:pPr/>
            <a:r>
              <a:rPr sz="1100" b="0">
                <a:solidFill>
                  <a:srgbClr val="111111"/>
                </a:solidFill>
                <a:latin typeface="Calibri"/>
              </a:rPr>
              <a:t>- Competitive intensity from discount brokers and fintech platforms compressing yields</a:t>
            </a:r>
          </a:p>
          <a:p>
            <a:pPr/>
            <a:r>
              <a:rPr sz="1100" b="0">
                <a:solidFill>
                  <a:srgbClr val="111111"/>
                </a:solidFill>
                <a:latin typeface="Calibri"/>
              </a:rPr>
              <a:t>- Forensic / governance: recurring SEBI matters require monitoring (Monitor Closely category)</a:t>
            </a:r>
          </a:p>
          <a:p>
            <a:pPr/>
            <a:r>
              <a:rPr sz="1100" b="0">
                <a:solidFill>
                  <a:srgbClr val="111111"/>
                </a:solidFill>
                <a:latin typeface="Calibri"/>
              </a:rPr>
              <a:t>- Mark-to-market volatility on the proprietary book</a:t>
            </a:r>
          </a:p>
          <a:p>
            <a:pPr/>
            <a:r>
              <a:rPr sz="11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For internal research workflow validation only. Final legal disclaimer copy will be supplied from approved assets.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