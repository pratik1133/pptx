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evolving into a scaled specialty chemicals platform, underpinned by a deliberate shift in product mix toward higher-value formulations, deepening export penetration, and a capex programme that is already translating into earnings conversion. Management has demonstrated execution discipline across prior investment cycles, and the current cycle appears similarly well-governed. The combination of structural mix improvement, export-led volume growth, and backward integration supporting margins creates a multi-year earnings compounding story that we believe the market has not yet fully priced.</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shift away from commodity grades improves both margin quality and earnings resilience across raw-material cycles.</a:t>
            </a:r>
          </a:p>
          <a:p>
            <a:pPr/>
            <a:r>
              <a:rPr sz="1100" b="0">
                <a:solidFill>
                  <a:srgbClr val="111111"/>
                </a:solidFill>
                <a:latin typeface="Calibri"/>
              </a:rPr>
              <a:t>- Export penetration is advancing steadily, diversifying the revenue base and reducing dependence on domestic demand cycles.</a:t>
            </a:r>
          </a:p>
          <a:p>
            <a:pPr/>
            <a:r>
              <a:rPr sz="1100" b="0">
                <a:solidFill>
                  <a:srgbClr val="111111"/>
                </a:solidFill>
                <a:latin typeface="Calibri"/>
              </a:rPr>
              <a:t>- Backward integration into key raw material streams is structurally supporting gross margin expansion over the medium term.</a:t>
            </a:r>
          </a:p>
          <a:p>
            <a:pPr/>
            <a:r>
              <a:rPr sz="1100" b="0">
                <a:solidFill>
                  <a:srgbClr val="111111"/>
                </a:solidFill>
                <a:latin typeface="Calibri"/>
              </a:rPr>
              <a:t>- Demand visibility across core end markets — agrochem, pharma intermediates, and performance chemicals — remains healthy entering FY26.</a:t>
            </a:r>
          </a:p>
          <a:p>
            <a:pPr/>
            <a:r>
              <a:rPr sz="1100" b="0">
                <a:solidFill>
                  <a:srgbClr val="111111"/>
                </a:solidFill>
                <a:latin typeface="Calibri"/>
              </a:rPr>
              <a:t>- Management execution across prior capex cycles has been consistent; capacity additions have historically ramped to target utilisati...</a:t>
            </a:r>
          </a:p>
          <a:p>
            <a:pPr/>
            <a:r>
              <a:rPr sz="1100" b="0">
                <a:solidFill>
                  <a:srgbClr val="111111"/>
                </a:solidFill>
                <a:latin typeface="Calibri"/>
              </a:rPr>
              <a:t>- Upside to our base case is supported by valuation that remains undemanding relative to specialty chemicals peers on forward earnings.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an NSE-listed specialty chemicals manufacturer with operations spanning multiple product segments catering to export and domestic end markets. The company derives revenue primarily from specialty formulations and intermediates, with a growing share of export sales providing geographic diversification. Its business model is built on proprietary chemistry, long-term customer relationships, and ongoing investment in backward integration — factors that collectively create barriers to substitution and support a premium margin profile relative to commodity chemicals peers. The manufacturing infrastructure is designed to serve regulated markets, which sets quality and compliance benchmarks that reinforce competitive positioning.</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industry sits at the intersection of global supply-chain realignment and domestic capacity buildout, making it one of the more structurally attractive segments within the broader chemicals universe. Globally, customers in regulated end markets — including agrochemicals, pharmaceuticals, and advanced materials — have accelerated diversification away from single-source geographies following supply disruptions, creating an enduring demand pool for reliable Indian manufacturers. Domestically, government-backed production-linked incentives and infrastructure investment have improved the competitive economics of domestic manufacturing relative to imports. The competitive landscape is characterised by a mix of large diversified players and focused specialty houses; the latter, including ABC Ltd, are increasingly favoured by multinational customers seeking technical partnership rather than commodity supply. Raw material dynamics, particularly for key petrochemical and chlorine-chemistry feedstocks, remain a variable to monitor, but the structural demand trajectory for specialty segments is firmly upward.</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strategies by global agrochemical and pharma customers are structurally redirecting procurement tow...</a:t>
            </a:r>
          </a:p>
          <a:p>
            <a:pPr/>
            <a:r>
              <a:rPr sz="1100" b="0">
                <a:solidFill>
                  <a:srgbClr val="111111"/>
                </a:solidFill>
                <a:latin typeface="Calibri"/>
              </a:rPr>
              <a:t>- Domestic specialty chemicals demand is growing alongside downstream industrial expansion in crop protection, polymers, and...</a:t>
            </a:r>
          </a:p>
          <a:p>
            <a:pPr/>
            <a:r>
              <a:rPr sz="1100" b="0">
                <a:solidFill>
                  <a:srgbClr val="111111"/>
                </a:solidFill>
                <a:latin typeface="Calibri"/>
              </a:rPr>
              <a:t>- Government policy support — including PLI-adjacent incentives and infrastructure investment — is improving domestic manufac...</a:t>
            </a:r>
          </a:p>
          <a:p>
            <a:pPr/>
            <a:r>
              <a:rPr sz="1100" b="0">
                <a:solidFill>
                  <a:srgbClr val="111111"/>
                </a:solidFill>
                <a:latin typeface="Calibri"/>
              </a:rPr>
              <a:t>- Backward integration across the industry is reducing import dependence on key intermediates, improving supply-chain resilie...</a:t>
            </a:r>
          </a:p>
          <a:p>
            <a:pPr/>
            <a:r>
              <a:rPr sz="1100" b="0">
                <a:solidFill>
                  <a:srgbClr val="111111"/>
                </a:solidFill>
                <a:latin typeface="Calibri"/>
              </a:rPr>
              <a:t>- Rising environmental compliance costs in China are eroding cost competitiveness for certain product categories, widening th...</a:t>
            </a:r>
          </a:p>
          <a:p>
            <a:pPr/>
            <a:r>
              <a:rPr sz="1100" b="0">
                <a:solidFill>
                  <a:srgbClr val="111111"/>
                </a:solidFill>
                <a:latin typeface="Calibri"/>
              </a:rPr>
              <a:t>- Increasing customer preference for multi-year supply agreements with technically capable partners favours established speci...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Improvement: Product portfolio is transitioning toward specialty and value-added grades, structurally lifting blended margin realisation per unit.</a:t>
            </a:r>
          </a:p>
          <a:p>
            <a:pPr/>
            <a:r>
              <a:rPr sz="1100" b="0">
                <a:solidFill>
                  <a:srgbClr val="111111"/>
                </a:solidFill>
                <a:latin typeface="Calibri"/>
              </a:rPr>
              <a:t>- Export Engine: Export penetration is deepening across regulated end markets, providing volume growth visibility that is less cyclically sensitive than domestic-only demand.</a:t>
            </a:r>
          </a:p>
          <a:p>
            <a:pPr/>
            <a:r>
              <a:rPr sz="1100" b="0">
                <a:solidFill>
                  <a:srgbClr val="111111"/>
                </a:solidFill>
                <a:latin typeface="Calibri"/>
              </a:rPr>
              <a:t>- Margin Expansion: EBITDA margin trajectory is on an upward path, driven by operating leverage, mix, and backward integration benefits accruing over the investment horizon.</a:t>
            </a:r>
          </a:p>
          <a:p>
            <a:pPr/>
            <a:r>
              <a:rPr sz="1100" b="0">
                <a:solidFill>
                  <a:srgbClr val="111111"/>
                </a:solidFill>
                <a:latin typeface="Calibri"/>
              </a:rPr>
              <a:t>- Capex Discipline: Management has a track record of on-schedule capacity commissioning and utilisation ramp-up, supporting confidence in earnings conversion from the current cycle.</a:t>
            </a:r>
          </a:p>
          <a:p>
            <a:pPr/>
            <a:r>
              <a:rPr sz="1100" b="0">
                <a:solidFill>
                  <a:srgbClr val="111111"/>
                </a:solidFill>
                <a:latin typeface="Calibri"/>
              </a:rPr>
              <a:t>- Balance Sheet Strength: Net debt levels remain manageable relative to operating cash generation, preserving financial flexibility for incremental investments and shareholder returns.</a:t>
            </a:r>
          </a:p>
          <a:p>
            <a:pPr/>
            <a:r>
              <a:rPr sz="1100" b="0">
                <a:solidFill>
                  <a:srgbClr val="111111"/>
                </a:solidFill>
                <a:latin typeface="Calibri"/>
              </a:rPr>
              <a:t>- Valuation Upside: Current market pricing does not fully reflect the medium-term earnings compounding potential implied by the company's mix, capacity, and export trajectory.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profile reflects the dual engine of domestic specialty demand and accelerating export penetration. Top-line growth over the forecast period is driven primarily by volume expansion from new capacity commissioned in the current capex cycle, augmented by a positive mix effect as higher-value specialty grades account for a growing share of output. The export channel, in particular, provides more durable demand visibility given the long-term supply agreements that underpin much of the international order book. Domestic revenue growth is supported by underlying end-market demand in agrochemicals, pharmaceuticals, and performance materials. The trajectory from FY24 through FY27 captures both the capacity ramp-up phase and the subsequent operating leverage benefits that accrue as utilisation rises toward target levels.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The EBITDA margin trajectory is among the most compelling elements of the investment case. Margin expansion is underpinned by three concurrent drivers: first, the product mix shift toward higher-realisation specialty grades, which carry structurally superior margins relative to standard intermediates; second, backward integration reducing exposure to external raw material volatility and compressing input cost per unit; and third, operating leverage as fixed manufacturing overheads are spread across a growing volume base following capacity commissioning. We model margin improvement across the FY24–FY27 period, with acceleration visible in the outer years as utilisation ramps and integration benefits fully materialise. It is important to note that gross margin and EBITDA margin are both improving, a combination that signals genuine structural improvement rather than accounting or mix optionality.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Snapshot — FY26E</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The FY26 forecast year represents the first full year in which the current capex cycle's capacity additions are operational and utilisation is tracking toward target levels, making it the most representative anchor year for normalised earnings power. Revenue is expected to reflect the combined benefit of volume ramp and mix improvement, while EBITDA should ca...</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FY26E PAT 3,450.0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FY26E ROE 18.4</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Net Debt / EBITDA (FY26E)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is grounded in the company's forward earnings power as capacity additions ramp and the mix shift compounds. We derive our target price using a combination of earnings-based and enterprise-value multiples, cross-checked against peer group trading ranges and the company's own historical valuation band. The current market price, in our vi...</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CMP ₹420.0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Assumptions and Intrinsic Value</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DCF model is constructed on explicit free cash flow forecasts through the primary capex cycle, followed by a terminal value anchored to a long-run growth assumption consistent with India specialty chemicals industry growth rates. The cost of capital reflects the company's current capital structure, sector beta, and a market risk premium appropriate for an NSE-listed mid-cap industrial. The terminal growth assumption is deliberately conservative relative to the near-term forecast, to avoid over-weighting unverifiable long-horizon assumptions. The DCF output serves as a cross-check on our multiples-based target rather than the primary valuation driver, and in the base case the two approaches converge within a narrow range, which we view as a positive indicator of target robustness. Sensitivity analysis around WACC and terminal growth is available in the detailed model; the base case does not require aggressive assumptions to support the target price.</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guidance is designed to assist portfolio managers in translating the research view into actionable position sizing and monitoring. The BUY rating reflects a base-case view over a twelve-month horizon, with the primary return driver being earnings estimate revision as the capacity ramp-up confirms our utilisation assumptions. Position entry at current levels is supported by a favourable risk-reward skew relative to the stated target price. Investors should review the position against the triggers listed below and reassess if thesis-breaking risk events materialise.</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Current market levels offer an attractive entry point for investors with a twelve-to-eighteen month horizon aligned...</a:t>
            </a:r>
          </a:p>
          <a:p>
            <a:pPr/>
            <a:r>
              <a:rPr sz="1100" b="0">
                <a:solidFill>
                  <a:srgbClr val="111111"/>
                </a:solidFill>
                <a:latin typeface="Calibri"/>
              </a:rPr>
              <a:t>- Accumulate: Any material price weakness driven by broader market volatility rather than company-specific developments would...</a:t>
            </a:r>
          </a:p>
          <a:p>
            <a:pPr/>
            <a:r>
              <a:rPr sz="1100" b="0">
                <a:solidFill>
                  <a:srgbClr val="111111"/>
                </a:solidFill>
                <a:latin typeface="Calibri"/>
              </a:rPr>
              <a:t>- Review trigger: A meaningful downward revision to export order flow, or a sustained delay in capacity utilisation ramp, wou...</a:t>
            </a:r>
          </a:p>
          <a:p>
            <a:pPr/>
            <a:r>
              <a:rPr sz="1100" b="0">
                <a:solidFill>
                  <a:srgbClr val="111111"/>
                </a:solidFill>
                <a:latin typeface="Calibri"/>
              </a:rPr>
              <a:t>- Review trigger: Sustained raw material cost escalation that is not recoverable through pricing within two quarters would pr...</a:t>
            </a:r>
          </a:p>
          <a:p>
            <a:pPr/>
            <a:r>
              <a:rPr sz="1100" b="0">
                <a:solidFill>
                  <a:srgbClr val="111111"/>
                </a:solidFill>
                <a:latin typeface="Calibri"/>
              </a:rPr>
              <a:t>- Exit discipline: A rating downgrade to NEUTRAL or below would be triggered if the risk-reward skew compresses materially, o...</a:t>
            </a:r>
          </a:p>
          <a:p>
            <a:pPr/>
            <a:r>
              <a:rPr sz="1100" b="0">
                <a:solidFill>
                  <a:srgbClr val="111111"/>
                </a:solidFill>
                <a:latin typeface="Calibri"/>
              </a:rPr>
              <a:t>- Monitoring cadence: Quarterly results commentary on export mix, utilisation levels, and gross margin trends are the primary...</a:t>
            </a:r>
          </a:p>
        </p:txBody>
      </p:sp>
      <p:sp>
        <p:nvSpPr>
          <p:cNvPr id="13" name="TextBox 12"/>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Positive re-rating catalyst: Above-consensus quarterly earnings driven by export volume surprise or margin outperformance v...</a:t>
            </a:r>
          </a:p>
          <a:p>
            <a:pPr/>
            <a:r>
              <a:rPr sz="1100" b="0">
                <a:solidFill>
                  <a:srgbClr val="111111"/>
                </a:solidFill>
                <a:latin typeface="Calibri"/>
              </a:rPr>
              <a:t>- Positive catalyst: Announcement of new long-term export supply agreements, particularly in regulated end markets such as ph...</a:t>
            </a:r>
          </a:p>
          <a:p>
            <a:pPr/>
            <a:r>
              <a:rPr sz="1100" b="0">
                <a:solidFill>
                  <a:srgbClr val="111111"/>
                </a:solidFill>
                <a:latin typeface="Calibri"/>
              </a:rPr>
              <a:t>- Positive catalyst: Faster-than-modelled utilisation ramp at recently commissioned capacity, providing upside to FY27E earni...</a:t>
            </a:r>
          </a:p>
          <a:p>
            <a:pPr/>
            <a:r>
              <a:rPr sz="1100" b="0">
                <a:solidFill>
                  <a:srgbClr val="111111"/>
                </a:solidFill>
                <a:latin typeface="Calibri"/>
              </a:rPr>
              <a:t>- Negative catalyst: Sequential gross margin deterioration attributable to raw material cost spike without visible pricing of...</a:t>
            </a:r>
          </a:p>
          <a:p>
            <a:pPr/>
            <a:r>
              <a:rPr sz="1100" b="0">
                <a:solidFill>
                  <a:srgbClr val="111111"/>
                </a:solidFill>
                <a:latin typeface="Calibri"/>
              </a:rPr>
              <a:t>- Negative catalyst: Capex overruns or commissioning delays at new facilities that push out the earnings conversion timeline.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Unexpected escalation in key feedstock costs — particularly petrochemical or chlorine-chemistry inputs — could compress gross margins and delay the EBITDA expansion trajectory modelled in our base case.</a:t>
            </a:r>
          </a:p>
          <a:p>
            <a:pPr/>
            <a:r>
              <a:rPr sz="1100" b="0">
                <a:solidFill>
                  <a:srgbClr val="111111"/>
                </a:solidFill>
                <a:latin typeface="Calibri"/>
              </a:rPr>
              <a:t>- Utilisation ramp delay: Any deferral in achieving target capacity utilisation at newly commissioned facilities would push out earnings conversion and potentially trigger negative earnings estimate revisions.</a:t>
            </a:r>
          </a:p>
          <a:p>
            <a:pPr/>
            <a:r>
              <a:rPr sz="1100" b="0">
                <a:solidFill>
                  <a:srgbClr val="111111"/>
                </a:solidFill>
                <a:latin typeface="Calibri"/>
              </a:rPr>
              <a:t>- Export demand softness: A weakening in global demand from key export end markets — agrochem, pharma intermediates — could reduce order flow and compress the export revenue share underpinning our growth assumptions.</a:t>
            </a:r>
          </a:p>
          <a:p>
            <a:pPr/>
            <a:r>
              <a:rPr sz="1100" b="0">
                <a:solidFill>
                  <a:srgbClr val="111111"/>
                </a:solidFill>
                <a:latin typeface="Calibri"/>
              </a:rPr>
              <a:t>- Competitive pressure from imports: A resurgence in competitively priced Chinese chemical imports, driven by domestic overcapacity or currency factors, could pressure domestic realisation and market share.</a:t>
            </a:r>
          </a:p>
          <a:p>
            <a:pPr/>
            <a:r>
              <a:rPr sz="1100" b="0">
                <a:solidFill>
                  <a:srgbClr val="111111"/>
                </a:solidFill>
                <a:latin typeface="Calibri"/>
              </a:rPr>
              <a:t>- Regulatory and compliance risk: Changes in environmental regulations, export control frameworks, or chemical registration requirements in key end markets could impose incremental compliance costs or restrict market access.</a:t>
            </a:r>
          </a:p>
          <a:p>
            <a:pPr/>
            <a:r>
              <a:rPr sz="1100" b="0">
                <a:solidFill>
                  <a:srgbClr val="111111"/>
                </a:solidFill>
                <a:latin typeface="Calibri"/>
              </a:rPr>
              <a:t>- Concentration risk: Dependence on a limited number of large export customers or end-market verticals could amplify earnings volatility if any single relationship or sector softens unexpectedly.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This document is for informational purposes only and does not constitute an offer to sell or a solicitation to buy any security. The information contained herein is based on sources believed to be reliable, but Tikona Capital does not represent or warrant its accuracy, completeness, or timeliness. Past performance of any security or instrument discussed herein is not indicative of future results. Investments in securities are subject to market risks; please read all related documents carefully before investing. This report is not directed at or intended for distribution to or use by any person or entity who is a citizen or resident of or located in any jurisdiction where such distribution, publication, availability, or use would be contrary to applicable law or regulation. Tikona Capital and its affiliates, officers, directors, and employees may hold positions in, or may have had positions in, securities discussed in this report. Analyst certifications: The research analyst(s) responsible for the preparation of this report certify that the views expressed herein accurately reflect their personal views about the subject company and its securities, and that no part of their compensation was, is, or will be directly or indirectly related to the specific recommendation(s) or views expressed in this report. SEBI Registration: The analyst and the firm are registered with the Securities and Exchange Board of India as required under the SEBI (Research Analysts) Regulations, 2014. Readers are advised to independently evaluate the information and seek professional advice before making any investment decision. The renderer may replace this text with approved regulatory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