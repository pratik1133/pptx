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331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905695" y="0"/>
            <a:ext cx="2286000" cy="2331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28600"/>
            <a:ext cx="237744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74320"/>
            <a:ext cx="1869743" cy="457200"/>
          </a:xfrm>
          <a:prstGeom prst="rect">
            <a:avLst/>
          </a:prstGeom>
        </p:spPr>
      </p:pic>
      <p:sp>
        <p:nvSpPr>
          <p:cNvPr id="6" name="TextBox 5"/>
          <p:cNvSpPr txBox="1"/>
          <p:nvPr/>
        </p:nvSpPr>
        <p:spPr>
          <a:xfrm>
            <a:off x="1188720" y="274320"/>
            <a:ext cx="2743200" cy="320040"/>
          </a:xfrm>
          <a:prstGeom prst="rect">
            <a:avLst/>
          </a:prstGeom>
          <a:noFill/>
        </p:spPr>
        <p:txBody>
          <a:bodyPr wrap="none" lIns="45720" rIns="45720" tIns="18288" bIns="18288">
            <a:spAutoFit/>
          </a:bodyPr>
          <a:lstStyle/>
          <a:p>
            <a:pPr algn="l"/>
            <a:r>
              <a:rPr sz="1600" b="1">
                <a:solidFill>
                  <a:srgbClr val="FFFFFF"/>
                </a:solidFill>
                <a:latin typeface="Calibri"/>
              </a:rPr>
              <a:t>Tikona Capital</a:t>
            </a:r>
          </a:p>
        </p:txBody>
      </p:sp>
      <p:sp>
        <p:nvSpPr>
          <p:cNvPr id="7" name="TextBox 6"/>
          <p:cNvSpPr txBox="1"/>
          <p:nvPr/>
        </p:nvSpPr>
        <p:spPr>
          <a:xfrm>
            <a:off x="1188720" y="594360"/>
            <a:ext cx="2743200" cy="182880"/>
          </a:xfrm>
          <a:prstGeom prst="rect">
            <a:avLst/>
          </a:prstGeom>
          <a:noFill/>
        </p:spPr>
        <p:txBody>
          <a:bodyPr wrap="none" lIns="45720" rIns="45720" tIns="18288" bIns="18288">
            <a:spAutoFit/>
          </a:bodyPr>
          <a:lstStyle/>
          <a:p>
            <a:pPr algn="l"/>
            <a:r>
              <a:rPr sz="800" b="0">
                <a:solidFill>
                  <a:srgbClr val="A0B0C8"/>
                </a:solidFill>
                <a:latin typeface="Calibri"/>
              </a:rPr>
              <a:t>INSTITUTIONAL EQUITY RESEARCH</a:t>
            </a:r>
          </a:p>
        </p:txBody>
      </p:sp>
      <p:sp>
        <p:nvSpPr>
          <p:cNvPr id="8" name="Rounded Rectangle 7"/>
          <p:cNvSpPr/>
          <p:nvPr/>
        </p:nvSpPr>
        <p:spPr>
          <a:xfrm>
            <a:off x="8351215" y="274320"/>
            <a:ext cx="3200400" cy="274320"/>
          </a:xfrm>
          <a:prstGeom prst="roundRect">
            <a:avLst/>
          </a:prstGeom>
          <a:solidFill>
            <a:srgbClr val="FFFFFF">
              <a:lumMod val="15000"/>
              <a:lumOff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lIns="45720" tIns="18288"/>
          <a:lstStyle/>
          <a:p>
            <a:pPr algn="ctr"/>
            <a:r>
              <a:rPr sz="900" b="0">
                <a:solidFill>
                  <a:srgbClr val="FFFFFF"/>
                </a:solidFill>
                <a:latin typeface="Calibri"/>
              </a:rPr>
              <a:t>INITIATION</a:t>
            </a:r>
          </a:p>
        </p:txBody>
      </p:sp>
      <p:sp>
        <p:nvSpPr>
          <p:cNvPr id="9" name="TextBox 8"/>
          <p:cNvSpPr txBox="1"/>
          <p:nvPr/>
        </p:nvSpPr>
        <p:spPr>
          <a:xfrm>
            <a:off x="457200" y="914400"/>
            <a:ext cx="7315017" cy="548640"/>
          </a:xfrm>
          <a:prstGeom prst="rect">
            <a:avLst/>
          </a:prstGeom>
          <a:noFill/>
        </p:spPr>
        <p:txBody>
          <a:bodyPr wrap="none" lIns="45720" rIns="45720" tIns="18288" bIns="18288">
            <a:spAutoFit/>
          </a:bodyPr>
          <a:lstStyle/>
          <a:p>
            <a:pPr algn="l"/>
            <a:r>
              <a:rPr sz="3000" b="1">
                <a:solidFill>
                  <a:srgbClr val="FFFFFF"/>
                </a:solidFill>
                <a:latin typeface="Calibri"/>
              </a:rPr>
              <a:t>Motilal Oswal Financial Services Ltd</a:t>
            </a:r>
          </a:p>
        </p:txBody>
      </p:sp>
      <p:sp>
        <p:nvSpPr>
          <p:cNvPr id="10" name="Rounded Rectangle 9"/>
          <p:cNvSpPr/>
          <p:nvPr/>
        </p:nvSpPr>
        <p:spPr>
          <a:xfrm>
            <a:off x="6382512" y="1051560"/>
            <a:ext cx="914400" cy="32004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TextBox 10"/>
          <p:cNvSpPr txBox="1"/>
          <p:nvPr/>
        </p:nvSpPr>
        <p:spPr>
          <a:xfrm>
            <a:off x="457200" y="1463040"/>
            <a:ext cx="11277295" cy="182880"/>
          </a:xfrm>
          <a:prstGeom prst="rect">
            <a:avLst/>
          </a:prstGeom>
          <a:noFill/>
        </p:spPr>
        <p:txBody>
          <a:bodyPr wrap="none" lIns="45720" rIns="45720" tIns="18288" bIns="18288">
            <a:spAutoFit/>
          </a:bodyPr>
          <a:lstStyle/>
          <a:p>
            <a:pPr algn="l"/>
            <a:r>
              <a:rPr sz="900" b="0">
                <a:solidFill>
                  <a:srgbClr val="8899AA"/>
                </a:solidFill>
                <a:latin typeface="Calibri"/>
              </a:rPr>
              <a:t>NSE: MOFSL  |  Financial Services</a:t>
            </a:r>
          </a:p>
        </p:txBody>
      </p:sp>
      <p:sp>
        <p:nvSpPr>
          <p:cNvPr id="12" name="Rectangle 11"/>
          <p:cNvSpPr/>
          <p:nvPr/>
        </p:nvSpPr>
        <p:spPr>
          <a:xfrm>
            <a:off x="457200" y="1764792"/>
            <a:ext cx="11277295" cy="13716"/>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CMP</a:t>
            </a:r>
          </a:p>
        </p:txBody>
      </p:sp>
      <p:sp>
        <p:nvSpPr>
          <p:cNvPr id="14" name="TextBox 13"/>
          <p:cNvSpPr txBox="1"/>
          <p:nvPr/>
        </p:nvSpPr>
        <p:spPr>
          <a:xfrm>
            <a:off x="457200" y="1920240"/>
            <a:ext cx="2636443" cy="274320"/>
          </a:xfrm>
          <a:prstGeom prst="rect">
            <a:avLst/>
          </a:prstGeom>
          <a:noFill/>
        </p:spPr>
        <p:txBody>
          <a:bodyPr wrap="none" lIns="45720" rIns="45720" tIns="18288" bIns="18288">
            <a:spAutoFit/>
          </a:bodyPr>
          <a:lstStyle/>
          <a:p>
            <a:pPr algn="l"/>
            <a:r>
              <a:rPr sz="1600" b="1">
                <a:solidFill>
                  <a:srgbClr val="FFA500"/>
                </a:solidFill>
                <a:latin typeface="Calibri"/>
              </a:rPr>
              <a:t>₹822.90</a:t>
            </a:r>
          </a:p>
        </p:txBody>
      </p:sp>
      <p:sp>
        <p:nvSpPr>
          <p:cNvPr id="15" name="TextBox 14"/>
          <p:cNvSpPr txBox="1"/>
          <p:nvPr/>
        </p:nvSpPr>
        <p:spPr>
          <a:xfrm>
            <a:off x="457200" y="2194560"/>
            <a:ext cx="2636443" cy="137160"/>
          </a:xfrm>
          <a:prstGeom prst="rect">
            <a:avLst/>
          </a:prstGeom>
          <a:noFill/>
        </p:spPr>
        <p:txBody>
          <a:bodyPr wrap="none" lIns="45720" rIns="45720" tIns="18288" bIns="18288">
            <a:spAutoFit/>
          </a:bodyPr>
          <a:lstStyle/>
          <a:p>
            <a:pPr algn="l"/>
            <a:r>
              <a:rPr sz="700" b="0">
                <a:solidFill>
                  <a:srgbClr val="7788AA"/>
                </a:solidFill>
                <a:latin typeface="Calibri"/>
              </a:rPr>
              <a:t>As of 28/04/2026</a:t>
            </a:r>
          </a:p>
        </p:txBody>
      </p:sp>
      <p:sp>
        <p:nvSpPr>
          <p:cNvPr id="16" name="Rectangle 15"/>
          <p:cNvSpPr/>
          <p:nvPr/>
        </p:nvSpPr>
        <p:spPr>
          <a:xfrm>
            <a:off x="3139363" y="1828800"/>
            <a:ext cx="9144" cy="4572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6523"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TARGET PRICE</a:t>
            </a:r>
          </a:p>
        </p:txBody>
      </p:sp>
      <p:sp>
        <p:nvSpPr>
          <p:cNvPr id="18" name="TextBox 17"/>
          <p:cNvSpPr txBox="1"/>
          <p:nvPr/>
        </p:nvSpPr>
        <p:spPr>
          <a:xfrm>
            <a:off x="3276523" y="1920240"/>
            <a:ext cx="2636443" cy="274320"/>
          </a:xfrm>
          <a:prstGeom prst="rect">
            <a:avLst/>
          </a:prstGeom>
          <a:noFill/>
        </p:spPr>
        <p:txBody>
          <a:bodyPr wrap="none" lIns="45720" rIns="45720" tIns="18288" bIns="18288">
            <a:spAutoFit/>
          </a:bodyPr>
          <a:lstStyle/>
          <a:p>
            <a:pPr algn="l"/>
            <a:r>
              <a:rPr sz="1600" b="1">
                <a:solidFill>
                  <a:srgbClr val="FFFFFF"/>
                </a:solidFill>
                <a:latin typeface="Calibri"/>
              </a:rPr>
              <a:t>₹1,127</a:t>
            </a:r>
          </a:p>
        </p:txBody>
      </p:sp>
      <p:sp>
        <p:nvSpPr>
          <p:cNvPr id="19" name="Rectangle 18"/>
          <p:cNvSpPr/>
          <p:nvPr/>
        </p:nvSpPr>
        <p:spPr>
          <a:xfrm>
            <a:off x="5958687" y="1828800"/>
            <a:ext cx="9144" cy="4572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MARKET CAP</a:t>
            </a:r>
          </a:p>
        </p:txBody>
      </p:sp>
      <p:sp>
        <p:nvSpPr>
          <p:cNvPr id="21" name="TextBox 20"/>
          <p:cNvSpPr txBox="1"/>
          <p:nvPr/>
        </p:nvSpPr>
        <p:spPr>
          <a:xfrm>
            <a:off x="6095847" y="1920240"/>
            <a:ext cx="2636443" cy="274320"/>
          </a:xfrm>
          <a:prstGeom prst="rect">
            <a:avLst/>
          </a:prstGeom>
          <a:noFill/>
        </p:spPr>
        <p:txBody>
          <a:bodyPr wrap="none" lIns="45720" rIns="45720" tIns="18288" bIns="18288">
            <a:spAutoFit/>
          </a:bodyPr>
          <a:lstStyle/>
          <a:p>
            <a:pPr algn="l"/>
            <a:r>
              <a:rPr sz="1600" b="1">
                <a:solidFill>
                  <a:srgbClr val="FFFFFF"/>
                </a:solidFill>
                <a:latin typeface="Calibri"/>
              </a:rPr>
              <a:t>₹490,790,000,000 Cr</a:t>
            </a:r>
          </a:p>
        </p:txBody>
      </p:sp>
      <p:sp>
        <p:nvSpPr>
          <p:cNvPr id="22" name="Rectangle 21"/>
          <p:cNvSpPr/>
          <p:nvPr/>
        </p:nvSpPr>
        <p:spPr>
          <a:xfrm>
            <a:off x="8778011" y="1828800"/>
            <a:ext cx="9144" cy="4572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171" y="1783080"/>
            <a:ext cx="2636443" cy="137160"/>
          </a:xfrm>
          <a:prstGeom prst="rect">
            <a:avLst/>
          </a:prstGeom>
          <a:noFill/>
        </p:spPr>
        <p:txBody>
          <a:bodyPr wrap="none" lIns="45720" rIns="45720" tIns="18288" bIns="18288">
            <a:spAutoFit/>
          </a:bodyPr>
          <a:lstStyle/>
          <a:p>
            <a:pPr algn="l"/>
            <a:r>
              <a:rPr sz="700" b="0">
                <a:solidFill>
                  <a:srgbClr val="8899AA"/>
                </a:solidFill>
                <a:latin typeface="Calibri"/>
              </a:rPr>
              <a:t>UPSIDE</a:t>
            </a:r>
          </a:p>
        </p:txBody>
      </p:sp>
      <p:sp>
        <p:nvSpPr>
          <p:cNvPr id="24" name="TextBox 23"/>
          <p:cNvSpPr txBox="1"/>
          <p:nvPr/>
        </p:nvSpPr>
        <p:spPr>
          <a:xfrm>
            <a:off x="8915171" y="1920240"/>
            <a:ext cx="2636443" cy="274320"/>
          </a:xfrm>
          <a:prstGeom prst="rect">
            <a:avLst/>
          </a:prstGeom>
          <a:noFill/>
        </p:spPr>
        <p:txBody>
          <a:bodyPr wrap="none" lIns="45720" rIns="45720" tIns="18288" bIns="18288">
            <a:spAutoFit/>
          </a:bodyPr>
          <a:lstStyle/>
          <a:p>
            <a:pPr algn="l"/>
            <a:r>
              <a:rPr sz="1600" b="1">
                <a:solidFill>
                  <a:srgbClr val="FFFFFF"/>
                </a:solidFill>
                <a:latin typeface="Calibri"/>
              </a:rPr>
              <a:t>+37%</a:t>
            </a:r>
          </a:p>
        </p:txBody>
      </p:sp>
      <p:sp>
        <p:nvSpPr>
          <p:cNvPr id="25" name="TextBox 24"/>
          <p:cNvSpPr txBox="1"/>
          <p:nvPr/>
        </p:nvSpPr>
        <p:spPr>
          <a:xfrm>
            <a:off x="8991295" y="2103120"/>
            <a:ext cx="2743200" cy="182880"/>
          </a:xfrm>
          <a:prstGeom prst="rect">
            <a:avLst/>
          </a:prstGeom>
          <a:noFill/>
        </p:spPr>
        <p:txBody>
          <a:bodyPr wrap="none" lIns="45720" rIns="45720" tIns="18288" bIns="18288">
            <a:spAutoFit/>
          </a:bodyPr>
          <a:lstStyle/>
          <a:p>
            <a:pPr algn="r"/>
            <a:r>
              <a:rPr sz="800" b="0">
                <a:solidFill>
                  <a:srgbClr val="8899AA"/>
                </a:solidFill>
                <a:latin typeface="Calibri"/>
              </a:rPr>
              <a:t>Report: 28/04/2026</a:t>
            </a:r>
          </a:p>
        </p:txBody>
      </p:sp>
      <p:sp>
        <p:nvSpPr>
          <p:cNvPr id="26" name="Rectangle 25"/>
          <p:cNvSpPr/>
          <p:nvPr/>
        </p:nvSpPr>
        <p:spPr>
          <a:xfrm>
            <a:off x="0" y="2331720"/>
            <a:ext cx="12191695"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331720"/>
            <a:ext cx="11277295" cy="365760"/>
          </a:xfrm>
          <a:prstGeom prst="rect">
            <a:avLst/>
          </a:prstGeom>
          <a:noFill/>
        </p:spPr>
        <p:txBody>
          <a:bodyPr wrap="none" lIns="45720" rIns="45720" tIns="18288" bIns="18288">
            <a:spAutoFit/>
          </a:bodyPr>
          <a:lstStyle/>
          <a:p>
            <a:pPr algn="l"/>
            <a:r>
              <a:rPr sz="1200" b="1">
                <a:solidFill>
                  <a:srgbClr val="1F4690"/>
                </a:solidFill>
                <a:latin typeface="Calibri"/>
              </a:rPr>
              <a:t>"Motilal Oswal Financial Services Ltd | BUY"</a:t>
            </a:r>
          </a:p>
        </p:txBody>
      </p:sp>
      <p:sp>
        <p:nvSpPr>
          <p:cNvPr id="28" name="Rounded Rectangle 27"/>
          <p:cNvSpPr/>
          <p:nvPr/>
        </p:nvSpPr>
        <p:spPr>
          <a:xfrm>
            <a:off x="457200" y="2880360"/>
            <a:ext cx="3637178" cy="91440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73152"/>
          <a:lstStyle/>
          <a:p>
            <a:pPr algn="ctr"/>
            <a:r>
              <a:rPr sz="800" b="0">
                <a:solidFill>
                  <a:srgbClr val="C0C8D4"/>
                </a:solidFill>
                <a:latin typeface="Calibri"/>
              </a:rPr>
              <a:t>RATING</a:t>
            </a:r>
          </a:p>
          <a:p>
            <a:pPr algn="ctr"/>
            <a:r>
              <a:rPr sz="1800" b="1">
                <a:solidFill>
                  <a:srgbClr val="FFFFFF"/>
                </a:solidFill>
                <a:latin typeface="Calibri"/>
              </a:rPr>
              <a:t>BUY</a:t>
            </a:r>
          </a:p>
        </p:txBody>
      </p:sp>
      <p:sp>
        <p:nvSpPr>
          <p:cNvPr id="29" name="Rounded Rectangle 28"/>
          <p:cNvSpPr/>
          <p:nvPr/>
        </p:nvSpPr>
        <p:spPr>
          <a:xfrm>
            <a:off x="4277258" y="2880360"/>
            <a:ext cx="3637178" cy="91440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73152"/>
          <a:lstStyle/>
          <a:p>
            <a:pPr algn="ctr"/>
            <a:r>
              <a:rPr sz="800" b="0">
                <a:solidFill>
                  <a:srgbClr val="1F4690"/>
                </a:solidFill>
                <a:latin typeface="Calibri"/>
              </a:rPr>
              <a:t>CMP</a:t>
            </a:r>
          </a:p>
          <a:p>
            <a:pPr algn="ctr"/>
            <a:r>
              <a:rPr sz="1800" b="1">
                <a:solidFill>
                  <a:srgbClr val="1F4690"/>
                </a:solidFill>
                <a:latin typeface="Calibri"/>
              </a:rPr>
              <a:t>₹822.9</a:t>
            </a:r>
          </a:p>
        </p:txBody>
      </p:sp>
      <p:sp>
        <p:nvSpPr>
          <p:cNvPr id="30" name="Rounded Rectangle 29"/>
          <p:cNvSpPr/>
          <p:nvPr/>
        </p:nvSpPr>
        <p:spPr>
          <a:xfrm>
            <a:off x="8097316" y="2880360"/>
            <a:ext cx="3637178" cy="91440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73152"/>
          <a:lstStyle/>
          <a:p>
            <a:pPr algn="ctr"/>
            <a:r>
              <a:rPr sz="800" b="0">
                <a:solidFill>
                  <a:srgbClr val="C0C8D4"/>
                </a:solidFill>
                <a:latin typeface="Calibri"/>
              </a:rPr>
              <a:t>TP</a:t>
            </a:r>
          </a:p>
          <a:p>
            <a:pPr algn="ctr"/>
            <a:r>
              <a:rPr sz="1800" b="1">
                <a:solidFill>
                  <a:srgbClr val="FFFFFF"/>
                </a:solidFill>
                <a:latin typeface="Calibri"/>
              </a:rPr>
              <a:t>₹1,127.0</a:t>
            </a:r>
          </a:p>
        </p:txBody>
      </p:sp>
      <p:sp>
        <p:nvSpPr>
          <p:cNvPr id="31" name="Rectangle 3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37960"/>
            <a:ext cx="3200400"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33" name="TextBox 3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34" name="TextBox 3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SAARTHI Investment Quality Score — 72/100</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SAARTHI Investment Quality Score — 72/100</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Proprietary 7-dimension framework. Overall score 72/100 (BUY (70-84 range)).</a:t>
            </a:r>
          </a:p>
        </p:txBody>
      </p:sp>
      <p:graphicFrame>
        <p:nvGraphicFramePr>
          <p:cNvPr id="19" name="Table 18"/>
          <p:cNvGraphicFramePr>
            <a:graphicFrameLocks noGrp="1"/>
          </p:cNvGraphicFramePr>
          <p:nvPr/>
        </p:nvGraphicFramePr>
        <p:xfrm>
          <a:off x="457200" y="3108960"/>
          <a:ext cx="11277292" cy="3337560"/>
        </p:xfrm>
        <a:graphic>
          <a:graphicData uri="http://schemas.openxmlformats.org/drawingml/2006/table">
            <a:tbl>
              <a:tblPr firstRow="1" bandRow="1">
                <a:tableStyleId>{5C22544A-7EE6-4342-B048-85BDC9FD1C3A}</a:tableStyleId>
              </a:tblPr>
              <a:tblGrid>
                <a:gridCol w="2819323"/>
                <a:gridCol w="2819323"/>
                <a:gridCol w="2819323"/>
                <a:gridCol w="2819323"/>
              </a:tblGrid>
              <a:tr h="417195">
                <a:tc>
                  <a:txBody>
                    <a:bodyPr/>
                    <a:lstStyle/>
                    <a:p>
                      <a:r>
                        <a:rPr b="1" sz="1200">
                          <a:solidFill>
                            <a:srgbClr val="FFFFFF"/>
                          </a:solidFill>
                          <a:latin typeface="Calibri"/>
                        </a:rPr>
                        <a:t>Code</a:t>
                      </a:r>
                    </a:p>
                  </a:txBody>
                  <a:tcPr marL="36576" marR="36576" marT="18288" marB="18288">
                    <a:solidFill>
                      <a:srgbClr val="1F4690"/>
                    </a:solidFill>
                  </a:tcPr>
                </a:tc>
                <a:tc>
                  <a:txBody>
                    <a:bodyPr/>
                    <a:lstStyle/>
                    <a:p>
                      <a:pPr algn="r"/>
                      <a:r>
                        <a:rPr b="1" sz="1200">
                          <a:solidFill>
                            <a:srgbClr val="FFFFFF"/>
                          </a:solidFill>
                          <a:latin typeface="Calibri"/>
                        </a:rPr>
                        <a:t>Dimension</a:t>
                      </a:r>
                    </a:p>
                  </a:txBody>
                  <a:tcPr marL="36576" marR="36576" marT="18288" marB="18288">
                    <a:solidFill>
                      <a:srgbClr val="1F4690"/>
                    </a:solidFill>
                  </a:tcPr>
                </a:tc>
                <a:tc>
                  <a:txBody>
                    <a:bodyPr/>
                    <a:lstStyle/>
                    <a:p>
                      <a:pPr algn="r"/>
                      <a:r>
                        <a:rPr b="1" sz="1200">
                          <a:solidFill>
                            <a:srgbClr val="FFFFFF"/>
                          </a:solidFill>
                          <a:latin typeface="Calibri"/>
                        </a:rPr>
                        <a:t>Score</a:t>
                      </a:r>
                    </a:p>
                  </a:txBody>
                  <a:tcPr marL="36576" marR="36576" marT="18288" marB="18288">
                    <a:solidFill>
                      <a:srgbClr val="1F4690"/>
                    </a:solidFill>
                  </a:tcPr>
                </a:tc>
                <a:tc>
                  <a:txBody>
                    <a:bodyPr/>
                    <a:lstStyle/>
                    <a:p>
                      <a:pPr algn="r"/>
                      <a:r>
                        <a:rPr b="1" sz="1200">
                          <a:solidFill>
                            <a:srgbClr val="FFFFFF"/>
                          </a:solidFill>
                          <a:latin typeface="Calibri"/>
                        </a:rPr>
                        <a:t>Key Evidence</a:t>
                      </a:r>
                    </a:p>
                  </a:txBody>
                  <a:tcPr marL="36576" marR="36576" marT="18288" marB="18288">
                    <a:solidFill>
                      <a:srgbClr val="1F4690"/>
                    </a:solidFill>
                  </a:tcPr>
                </a:tc>
              </a:tr>
              <a:tr h="417195">
                <a:tc>
                  <a:txBody>
                    <a:bodyPr/>
                    <a:lstStyle/>
                    <a:p>
                      <a:r>
                        <a:rPr sz="1200" b="1">
                          <a:solidFill>
                            <a:srgbClr val="5A6573"/>
                          </a:solidFill>
                          <a:latin typeface="Calibri"/>
                        </a:rPr>
                        <a:t>S</a:t>
                      </a:r>
                    </a:p>
                  </a:txBody>
                  <a:tcPr marL="36576" marR="36576" marT="18288" marB="18288">
                    <a:solidFill>
                      <a:srgbClr val="F4F6F9"/>
                    </a:solidFill>
                  </a:tcPr>
                </a:tc>
                <a:tc>
                  <a:txBody>
                    <a:bodyPr/>
                    <a:lstStyle/>
                    <a:p>
                      <a:pPr algn="r"/>
                      <a:r>
                        <a:rPr sz="1200">
                          <a:solidFill>
                            <a:srgbClr val="111111"/>
                          </a:solidFill>
                          <a:latin typeface="Calibri"/>
                        </a:rPr>
                        <a:t>Scalability of Core Engine</a:t>
                      </a:r>
                    </a:p>
                  </a:txBody>
                  <a:tcPr marL="36576" marR="36576" marT="18288" marB="18288">
                    <a:solidFill>
                      <a:srgbClr val="F4F6F9"/>
                    </a:solidFill>
                  </a:tcPr>
                </a:tc>
                <a:tc>
                  <a:txBody>
                    <a:bodyPr/>
                    <a:lstStyle/>
                    <a:p>
                      <a:pPr algn="r"/>
                      <a:r>
                        <a:rPr sz="1200">
                          <a:solidFill>
                            <a:srgbClr val="111111"/>
                          </a:solidFill>
                          <a:latin typeface="Calibri"/>
                        </a:rPr>
                        <a:t>12/15</a:t>
                      </a:r>
                    </a:p>
                  </a:txBody>
                  <a:tcPr marL="36576" marR="36576" marT="18288" marB="18288">
                    <a:solidFill>
                      <a:srgbClr val="F4F6F9"/>
                    </a:solidFill>
                  </a:tcPr>
                </a:tc>
                <a:tc>
                  <a:txBody>
                    <a:bodyPr/>
                    <a:lstStyle/>
                    <a:p>
                      <a:pPr algn="r"/>
                      <a:r>
                        <a:rPr sz="1200">
                          <a:solidFill>
                            <a:srgbClr val="111111"/>
                          </a:solidFill>
                          <a:latin typeface="Calibri"/>
                        </a:rPr>
                        <a:t>AMC AUM +33% YoY to INR 1.89L Cr with INR 11,610 Cr net flows.</a:t>
                      </a:r>
                    </a:p>
                  </a:txBody>
                  <a:tcPr marL="36576" marR="36576" marT="18288" marB="18288">
                    <a:solidFill>
                      <a:srgbClr val="F4F6F9"/>
                    </a:solidFill>
                  </a:tcPr>
                </a:tc>
              </a:tr>
              <a:tr h="417195">
                <a:tc>
                  <a:txBody>
                    <a:bodyPr/>
                    <a:lstStyle/>
                    <a:p>
                      <a:r>
                        <a:rPr sz="1200" b="1">
                          <a:solidFill>
                            <a:srgbClr val="5A6573"/>
                          </a:solidFill>
                          <a:latin typeface="Calibri"/>
                        </a:rPr>
                        <a:t>A1</a:t>
                      </a:r>
                    </a:p>
                  </a:txBody>
                  <a:tcPr marL="36576" marR="36576" marT="18288" marB="18288">
                    <a:solidFill>
                      <a:srgbClr val="FFFFFF"/>
                    </a:solidFill>
                  </a:tcPr>
                </a:tc>
                <a:tc>
                  <a:txBody>
                    <a:bodyPr/>
                    <a:lstStyle/>
                    <a:p>
                      <a:pPr algn="r"/>
                      <a:r>
                        <a:rPr sz="1200">
                          <a:solidFill>
                            <a:srgbClr val="111111"/>
                          </a:solidFill>
                          <a:latin typeface="Calibri"/>
                        </a:rPr>
                        <a:t>Addressable Market &amp; Adjacency</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India private credit hit USD 9.0 Bn in H1 2025 (+53% YoY).</a:t>
                      </a:r>
                    </a:p>
                  </a:txBody>
                  <a:tcPr marL="36576" marR="36576" marT="18288" marB="18288">
                    <a:solidFill>
                      <a:srgbClr val="FFFFFF"/>
                    </a:solidFill>
                  </a:tcPr>
                </a:tc>
              </a:tr>
              <a:tr h="417195">
                <a:tc>
                  <a:txBody>
                    <a:bodyPr/>
                    <a:lstStyle/>
                    <a:p>
                      <a:r>
                        <a:rPr sz="1200" b="1">
                          <a:solidFill>
                            <a:srgbClr val="5A6573"/>
                          </a:solidFill>
                          <a:latin typeface="Calibri"/>
                        </a:rPr>
                        <a:t>A2</a:t>
                      </a:r>
                    </a:p>
                  </a:txBody>
                  <a:tcPr marL="36576" marR="36576" marT="18288" marB="18288">
                    <a:solidFill>
                      <a:srgbClr val="F4F6F9"/>
                    </a:solidFill>
                  </a:tcPr>
                </a:tc>
                <a:tc>
                  <a:txBody>
                    <a:bodyPr/>
                    <a:lstStyle/>
                    <a:p>
                      <a:pPr algn="r"/>
                      <a:r>
                        <a:rPr sz="1200">
                          <a:solidFill>
                            <a:srgbClr val="111111"/>
                          </a:solidFill>
                          <a:latin typeface="Calibri"/>
                        </a:rPr>
                        <a:t>Asymmetric Pricing Power</a:t>
                      </a:r>
                    </a:p>
                  </a:txBody>
                  <a:tcPr marL="36576" marR="36576" marT="18288" marB="18288">
                    <a:solidFill>
                      <a:srgbClr val="F4F6F9"/>
                    </a:solidFill>
                  </a:tcPr>
                </a:tc>
                <a:tc>
                  <a:txBody>
                    <a:bodyPr/>
                    <a:lstStyle/>
                    <a:p>
                      <a:pPr algn="r"/>
                      <a:r>
                        <a:rPr sz="1200">
                          <a:solidFill>
                            <a:srgbClr val="111111"/>
                          </a:solidFill>
                          <a:latin typeface="Calibri"/>
                        </a:rPr>
                        <a:t>10/15</a:t>
                      </a:r>
                    </a:p>
                  </a:txBody>
                  <a:tcPr marL="36576" marR="36576" marT="18288" marB="18288">
                    <a:solidFill>
                      <a:srgbClr val="F4F6F9"/>
                    </a:solidFill>
                  </a:tcPr>
                </a:tc>
                <a:tc>
                  <a:txBody>
                    <a:bodyPr/>
                    <a:lstStyle/>
                    <a:p>
                      <a:pPr algn="r"/>
                      <a:r>
                        <a:rPr sz="1200">
                          <a:solidFill>
                            <a:srgbClr val="111111"/>
                          </a:solidFill>
                          <a:latin typeface="Calibri"/>
                        </a:rPr>
                        <a:t>Diversified mix offset 24% brokerage decline, validating partial pricing-power hedge.</a:t>
                      </a:r>
                    </a:p>
                  </a:txBody>
                  <a:tcPr marL="36576" marR="36576" marT="18288" marB="18288">
                    <a:solidFill>
                      <a:srgbClr val="F4F6F9"/>
                    </a:solidFill>
                  </a:tcPr>
                </a:tc>
              </a:tr>
              <a:tr h="417195">
                <a:tc>
                  <a:txBody>
                    <a:bodyPr/>
                    <a:lstStyle/>
                    <a:p>
                      <a:r>
                        <a:rPr sz="1200" b="1">
                          <a:solidFill>
                            <a:srgbClr val="5A6573"/>
                          </a:solidFill>
                          <a:latin typeface="Calibri"/>
                        </a:rPr>
                        <a:t>R</a:t>
                      </a:r>
                    </a:p>
                  </a:txBody>
                  <a:tcPr marL="36576" marR="36576" marT="18288" marB="18288">
                    <a:solidFill>
                      <a:srgbClr val="FFFFFF"/>
                    </a:solidFill>
                  </a:tcPr>
                </a:tc>
                <a:tc>
                  <a:txBody>
                    <a:bodyPr/>
                    <a:lstStyle/>
                    <a:p>
                      <a:pPr algn="r"/>
                      <a:r>
                        <a:rPr sz="1200">
                          <a:solidFill>
                            <a:srgbClr val="111111"/>
                          </a:solidFill>
                          <a:latin typeface="Calibri"/>
                        </a:rPr>
                        <a:t>Reinvestment Quality</a:t>
                      </a:r>
                    </a:p>
                  </a:txBody>
                  <a:tcPr marL="36576" marR="36576" marT="18288" marB="18288">
                    <a:solidFill>
                      <a:srgbClr val="FFFFFF"/>
                    </a:solidFill>
                  </a:tcPr>
                </a:tc>
                <a:tc>
                  <a:txBody>
                    <a:bodyPr/>
                    <a:lstStyle/>
                    <a:p>
                      <a:pPr algn="r"/>
                      <a:r>
                        <a:rPr sz="1200">
                          <a:solidFill>
                            <a:srgbClr val="111111"/>
                          </a:solidFill>
                          <a:latin typeface="Calibri"/>
                        </a:rPr>
                        <a:t>13/15</a:t>
                      </a:r>
                    </a:p>
                  </a:txBody>
                  <a:tcPr marL="36576" marR="36576" marT="18288" marB="18288">
                    <a:solidFill>
                      <a:srgbClr val="FFFFFF"/>
                    </a:solidFill>
                  </a:tcPr>
                </a:tc>
                <a:tc>
                  <a:txBody>
                    <a:bodyPr/>
                    <a:lstStyle/>
                    <a:p>
                      <a:pPr algn="r"/>
                      <a:r>
                        <a:rPr sz="1200">
                          <a:solidFill>
                            <a:srgbClr val="111111"/>
                          </a:solidFill>
                          <a:latin typeface="Calibri"/>
                        </a:rPr>
                        <a:t>PWM AUM +31% YoY to INR 1.96L Cr; family count +41%; PAT +14% (9M).</a:t>
                      </a:r>
                    </a:p>
                  </a:txBody>
                  <a:tcPr marL="36576" marR="36576" marT="18288" marB="18288">
                    <a:solidFill>
                      <a:srgbClr val="FFFFFF"/>
                    </a:solidFill>
                  </a:tcPr>
                </a:tc>
              </a:tr>
              <a:tr h="417195">
                <a:tc>
                  <a:txBody>
                    <a:bodyPr/>
                    <a:lstStyle/>
                    <a:p>
                      <a:r>
                        <a:rPr sz="1200" b="1">
                          <a:solidFill>
                            <a:srgbClr val="5A6573"/>
                          </a:solidFill>
                          <a:latin typeface="Calibri"/>
                        </a:rPr>
                        <a:t>T</a:t>
                      </a:r>
                    </a:p>
                  </a:txBody>
                  <a:tcPr marL="36576" marR="36576" marT="18288" marB="18288">
                    <a:solidFill>
                      <a:srgbClr val="F4F6F9"/>
                    </a:solidFill>
                  </a:tcPr>
                </a:tc>
                <a:tc>
                  <a:txBody>
                    <a:bodyPr/>
                    <a:lstStyle/>
                    <a:p>
                      <a:pPr algn="r"/>
                      <a:r>
                        <a:rPr sz="1200">
                          <a:solidFill>
                            <a:srgbClr val="111111"/>
                          </a:solidFill>
                          <a:latin typeface="Calibri"/>
                        </a:rPr>
                        <a:t>Track Record Through Adversity</a:t>
                      </a:r>
                    </a:p>
                  </a:txBody>
                  <a:tcPr marL="36576" marR="36576" marT="18288" marB="18288">
                    <a:solidFill>
                      <a:srgbClr val="F4F6F9"/>
                    </a:solidFill>
                  </a:tcPr>
                </a:tc>
                <a:tc>
                  <a:txBody>
                    <a:bodyPr/>
                    <a:lstStyle/>
                    <a:p>
                      <a:pPr algn="r"/>
                      <a:r>
                        <a:rPr sz="1200">
                          <a:solidFill>
                            <a:srgbClr val="111111"/>
                          </a:solidFill>
                          <a:latin typeface="Calibri"/>
                        </a:rPr>
                        <a:t>8/10</a:t>
                      </a:r>
                    </a:p>
                  </a:txBody>
                  <a:tcPr marL="36576" marR="36576" marT="18288" marB="18288">
                    <a:solidFill>
                      <a:srgbClr val="F4F6F9"/>
                    </a:solidFill>
                  </a:tcPr>
                </a:tc>
                <a:tc>
                  <a:txBody>
                    <a:bodyPr/>
                    <a:lstStyle/>
                    <a:p>
                      <a:pPr algn="r"/>
                      <a:r>
                        <a:rPr sz="1200">
                          <a:solidFill>
                            <a:srgbClr val="111111"/>
                          </a:solidFill>
                          <a:latin typeface="Calibri"/>
                        </a:rPr>
                        <a:t>Despite repeated SEBI interventions, AUM and ARR base continue to compound — institutional resilience.</a:t>
                      </a:r>
                    </a:p>
                  </a:txBody>
                  <a:tcPr marL="36576" marR="36576" marT="18288" marB="18288">
                    <a:solidFill>
                      <a:srgbClr val="F4F6F9"/>
                    </a:solidFill>
                  </a:tcPr>
                </a:tc>
              </a:tr>
              <a:tr h="417195">
                <a:tc>
                  <a:txBody>
                    <a:bodyPr/>
                    <a:lstStyle/>
                    <a:p>
                      <a:r>
                        <a:rPr sz="1200" b="1">
                          <a:solidFill>
                            <a:srgbClr val="5A6573"/>
                          </a:solidFill>
                          <a:latin typeface="Calibri"/>
                        </a:rPr>
                        <a:t>H</a:t>
                      </a:r>
                    </a:p>
                  </a:txBody>
                  <a:tcPr marL="36576" marR="36576" marT="18288" marB="18288">
                    <a:solidFill>
                      <a:srgbClr val="FFFFFF"/>
                    </a:solidFill>
                  </a:tcPr>
                </a:tc>
                <a:tc>
                  <a:txBody>
                    <a:bodyPr/>
                    <a:lstStyle/>
                    <a:p>
                      <a:pPr algn="r"/>
                      <a:r>
                        <a:rPr sz="1200">
                          <a:solidFill>
                            <a:srgbClr val="111111"/>
                          </a:solidFill>
                          <a:latin typeface="Calibri"/>
                        </a:rPr>
                        <a:t>Human Capital &amp; Institutional DNA</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Rashtriya Samman Patra recipient (top tax-payer FY95–FY99) signals early ethical commercial success.</a:t>
                      </a:r>
                    </a:p>
                  </a:txBody>
                  <a:tcPr marL="36576" marR="36576" marT="18288" marB="18288">
                    <a:solidFill>
                      <a:srgbClr val="FFFFFF"/>
                    </a:solidFill>
                  </a:tcPr>
                </a:tc>
              </a:tr>
              <a:tr h="417195">
                <a:tc>
                  <a:txBody>
                    <a:bodyPr/>
                    <a:lstStyle/>
                    <a:p>
                      <a:r>
                        <a:rPr sz="1200" b="1">
                          <a:solidFill>
                            <a:srgbClr val="5A6573"/>
                          </a:solidFill>
                          <a:latin typeface="Calibri"/>
                        </a:rPr>
                        <a:t>I</a:t>
                      </a:r>
                    </a:p>
                  </a:txBody>
                  <a:tcPr marL="36576" marR="36576" marT="18288" marB="18288">
                    <a:solidFill>
                      <a:srgbClr val="F4F6F9"/>
                    </a:solidFill>
                  </a:tcPr>
                </a:tc>
                <a:tc>
                  <a:txBody>
                    <a:bodyPr/>
                    <a:lstStyle/>
                    <a:p>
                      <a:pPr algn="r"/>
                      <a:r>
                        <a:rPr sz="1200">
                          <a:solidFill>
                            <a:srgbClr val="111111"/>
                          </a:solidFill>
                          <a:latin typeface="Calibri"/>
                        </a:rPr>
                        <a:t>Inflection Point Identification</a:t>
                      </a:r>
                    </a:p>
                  </a:txBody>
                  <a:tcPr marL="36576" marR="36576" marT="18288" marB="18288">
                    <a:solidFill>
                      <a:srgbClr val="F4F6F9"/>
                    </a:solidFill>
                  </a:tcPr>
                </a:tc>
                <a:tc>
                  <a:txBody>
                    <a:bodyPr/>
                    <a:lstStyle/>
                    <a:p>
                      <a:pPr algn="r"/>
                      <a:r>
                        <a:rPr sz="1200">
                          <a:solidFill>
                            <a:srgbClr val="111111"/>
                          </a:solidFill>
                          <a:latin typeface="Calibri"/>
                        </a:rPr>
                        <a:t>11/15</a:t>
                      </a:r>
                    </a:p>
                  </a:txBody>
                  <a:tcPr marL="36576" marR="36576" marT="18288" marB="18288">
                    <a:solidFill>
                      <a:srgbClr val="F4F6F9"/>
                    </a:solidFill>
                  </a:tcPr>
                </a:tc>
                <a:tc>
                  <a:txBody>
                    <a:bodyPr/>
                    <a:lstStyle/>
                    <a:p>
                      <a:pPr algn="r"/>
                      <a:r>
                        <a:rPr sz="1200">
                          <a:solidFill>
                            <a:srgbClr val="111111"/>
                          </a:solidFill>
                          <a:latin typeface="Calibri"/>
                        </a:rPr>
                        <a:t>ARR at 65% of net revenues (up from 61%); management guiding higher — measurable inflection.</a:t>
                      </a:r>
                    </a:p>
                  </a:txBody>
                  <a:tcPr marL="36576" marR="36576" marT="18288" marB="18288">
                    <a:solidFill>
                      <a:srgbClr val="F4F6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Motilal Oswal Financial Services Ltd At A Glance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Motilal Oswal Financial Services Ltd At A Glance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Industry Overview</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Highlights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Revenue Trend</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Trend</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Annual Financial Summary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Annual Financial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Segment Mix</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Segment Mix</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Ratios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Valuation — Methods Summary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 Methods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125730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Rev CAGR</a:t>
                      </a:r>
                    </a:p>
                  </a:txBody>
                  <a:tcPr marL="36576" marR="36576" marT="18288" marB="18288">
                    <a:solidFill>
                      <a:srgbClr val="1F4690"/>
                    </a:solidFill>
                  </a:tcPr>
                </a:tc>
                <a:tc>
                  <a:txBody>
                    <a:bodyPr/>
                    <a:lstStyle/>
                    <a:p>
                      <a:pPr algn="r"/>
                      <a:r>
                        <a:rPr b="1" sz="1200">
                          <a:solidFill>
                            <a:srgbClr val="FFFFFF"/>
                          </a:solidFill>
                          <a:latin typeface="Calibri"/>
                        </a:rPr>
                        <a:t>EBITDA Mgn</a:t>
                      </a:r>
                    </a:p>
                  </a:txBody>
                  <a:tcPr marL="36576" marR="36576" marT="18288" marB="18288">
                    <a:solidFill>
                      <a:srgbClr val="1F4690"/>
                    </a:solidFill>
                  </a:tcPr>
                </a:tc>
                <a:tc>
                  <a:txBody>
                    <a:bodyPr/>
                    <a:lstStyle/>
                    <a:p>
                      <a:pPr algn="r"/>
                      <a:r>
                        <a:rPr b="1" sz="1200">
                          <a:solidFill>
                            <a:srgbClr val="FFFFFF"/>
                          </a:solidFill>
                          <a:latin typeface="Calibri"/>
                        </a:rPr>
                        <a:t>Target Price</a:t>
                      </a:r>
                    </a:p>
                  </a:txBody>
                  <a:tcPr marL="36576" marR="36576" marT="18288" marB="18288">
                    <a:solidFill>
                      <a:srgbClr val="1F4690"/>
                    </a:solidFill>
                  </a:tcPr>
                </a:tc>
                <a:tc>
                  <a:txBody>
                    <a:bodyPr/>
                    <a:lstStyle/>
                    <a:p>
                      <a:pPr algn="r"/>
                      <a:r>
                        <a:rPr b="1" sz="1200">
                          <a:solidFill>
                            <a:srgbClr val="FFFFFF"/>
                          </a:solidFill>
                          <a:latin typeface="Calibri"/>
                        </a:rPr>
                        <a:t>Probability</a:t>
                      </a:r>
                    </a:p>
                  </a:txBody>
                  <a:tcPr marL="36576" marR="36576" marT="18288" marB="18288">
                    <a:solidFill>
                      <a:srgbClr val="1F4690"/>
                    </a:solidFill>
                  </a:tcPr>
                </a:tc>
                <a:tc>
                  <a:txBody>
                    <a:bodyPr/>
                    <a:lstStyle/>
                    <a:p>
                      <a:pPr algn="r"/>
                      <a:r>
                        <a:rPr b="1" sz="1200">
                          <a:solidFill>
                            <a:srgbClr val="FFFFFF"/>
                          </a:solidFill>
                          <a:latin typeface="Calibri"/>
                        </a:rPr>
                        <a:t>Drivers</a:t>
                      </a:r>
                    </a:p>
                  </a:txBody>
                  <a:tcPr marL="36576" marR="36576" marT="18288" marB="18288">
                    <a:solidFill>
                      <a:srgbClr val="1F4690"/>
                    </a:solidFill>
                  </a:tcPr>
                </a:tc>
              </a:tr>
              <a:tr h="1257300">
                <a:tc>
                  <a:txBody>
                    <a:bodyPr/>
                    <a:lstStyle/>
                    <a:p>
                      <a:r>
                        <a:rPr sz="1200" b="1">
                          <a:solidFill>
                            <a:srgbClr val="5A6573"/>
                          </a:solidFill>
                          <a:latin typeface="Calibri"/>
                        </a:rPr>
                        <a:t>Bull</a:t>
                      </a:r>
                    </a:p>
                  </a:txBody>
                  <a:tcPr marL="36576" marR="36576" marT="18288" marB="18288">
                    <a:solidFill>
                      <a:srgbClr val="F4F6F9"/>
                    </a:solidFill>
                  </a:tcPr>
                </a:tc>
                <a:tc>
                  <a:txBody>
                    <a:bodyPr/>
                    <a:lstStyle/>
                    <a:p>
                      <a:pPr algn="r"/>
                      <a:r>
                        <a:rPr sz="1200" b="1">
                          <a:solidFill>
                            <a:srgbClr val="1A7A4A"/>
                          </a:solidFill>
                          <a:latin typeface="Calibri"/>
                        </a:rPr>
                        <a:t>27.5%</a:t>
                      </a:r>
                    </a:p>
                  </a:txBody>
                  <a:tcPr marL="36576" marR="36576" marT="18288" marB="18288">
                    <a:solidFill>
                      <a:srgbClr val="F4F6F9"/>
                    </a:solidFill>
                  </a:tcPr>
                </a:tc>
                <a:tc>
                  <a:txBody>
                    <a:bodyPr/>
                    <a:lstStyle/>
                    <a:p>
                      <a:pPr algn="r"/>
                      <a:r>
                        <a:rPr sz="1200" b="1">
                          <a:solidFill>
                            <a:srgbClr val="1A7A4A"/>
                          </a:solidFill>
                          <a:latin typeface="Calibri"/>
                        </a:rPr>
                        <a:t>55.0%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a:solidFill>
                            <a:srgbClr val="111111"/>
                          </a:solidFill>
                          <a:latin typeface="Calibri"/>
                        </a:rPr>
                        <a:t>ARR &gt; 70%, AMC AUM +40% YoY, regulatory clarity.</a:t>
                      </a:r>
                    </a:p>
                  </a:txBody>
                  <a:tcPr marL="36576" marR="36576" marT="18288" marB="18288">
                    <a:solidFill>
                      <a:srgbClr val="F4F6F9"/>
                    </a:solidFill>
                  </a:tcPr>
                </a:tc>
              </a:tr>
              <a:tr h="1257300">
                <a:tc>
                  <a:txBody>
                    <a:bodyPr/>
                    <a:lstStyle/>
                    <a:p>
                      <a:r>
                        <a:rPr sz="1200" b="1">
                          <a:solidFill>
                            <a:srgbClr val="5A6573"/>
                          </a:solidFill>
                          <a:latin typeface="Calibri"/>
                        </a:rPr>
                        <a:t>Base</a:t>
                      </a:r>
                    </a:p>
                  </a:txBody>
                  <a:tcPr marL="36576" marR="36576" marT="18288" marB="18288">
                    <a:solidFill>
                      <a:srgbClr val="FFFFFF"/>
                    </a:solidFill>
                  </a:tcPr>
                </a:tc>
                <a:tc>
                  <a:txBody>
                    <a:bodyPr/>
                    <a:lstStyle/>
                    <a:p>
                      <a:pPr algn="r"/>
                      <a:r>
                        <a:rPr sz="1200" b="1">
                          <a:solidFill>
                            <a:srgbClr val="1A7A4A"/>
                          </a:solidFill>
                          <a:latin typeface="Calibri"/>
                        </a:rPr>
                        <a:t>16.0%</a:t>
                      </a:r>
                    </a:p>
                  </a:txBody>
                  <a:tcPr marL="36576" marR="36576" marT="18288" marB="18288">
                    <a:solidFill>
                      <a:srgbClr val="FFFFFF"/>
                    </a:solidFill>
                  </a:tcPr>
                </a:tc>
                <a:tc>
                  <a:txBody>
                    <a:bodyPr/>
                    <a:lstStyle/>
                    <a:p>
                      <a:pPr algn="r"/>
                      <a:r>
                        <a:rPr sz="1200" b="1">
                          <a:solidFill>
                            <a:srgbClr val="1A7A4A"/>
                          </a:solidFill>
                          <a:latin typeface="Calibri"/>
                        </a:rPr>
                        <a:t>51.0%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a:solidFill>
                            <a:srgbClr val="111111"/>
                          </a:solidFill>
                          <a:latin typeface="Calibri"/>
                        </a:rPr>
                        <a:t>ARR steady at 65%, AUM compounding, stable regulation.</a:t>
                      </a:r>
                    </a:p>
                  </a:txBody>
                  <a:tcPr marL="36576" marR="36576" marT="18288" marB="18288">
                    <a:solidFill>
                      <a:srgbClr val="FFFFFF"/>
                    </a:solidFill>
                  </a:tcPr>
                </a:tc>
              </a:tr>
              <a:tr h="1257300">
                <a:tc>
                  <a:txBody>
                    <a:bodyPr/>
                    <a:lstStyle/>
                    <a:p>
                      <a:r>
                        <a:rPr sz="1200" b="1">
                          <a:solidFill>
                            <a:srgbClr val="5A6573"/>
                          </a:solidFill>
                          <a:latin typeface="Calibri"/>
                        </a:rPr>
                        <a:t>Bear</a:t>
                      </a:r>
                    </a:p>
                  </a:txBody>
                  <a:tcPr marL="36576" marR="36576" marT="18288" marB="18288">
                    <a:solidFill>
                      <a:srgbClr val="F4F6F9"/>
                    </a:solidFill>
                  </a:tcPr>
                </a:tc>
                <a:tc>
                  <a:txBody>
                    <a:bodyPr/>
                    <a:lstStyle/>
                    <a:p>
                      <a:pPr algn="r"/>
                      <a:r>
                        <a:rPr sz="1200" b="1">
                          <a:solidFill>
                            <a:srgbClr val="1A7A4A"/>
                          </a:solidFill>
                          <a:latin typeface="Calibri"/>
                        </a:rPr>
                        <a:t>6.0%</a:t>
                      </a:r>
                    </a:p>
                  </a:txBody>
                  <a:tcPr marL="36576" marR="36576" marT="18288" marB="18288">
                    <a:solidFill>
                      <a:srgbClr val="F4F6F9"/>
                    </a:solidFill>
                  </a:tcPr>
                </a:tc>
                <a:tc>
                  <a:txBody>
                    <a:bodyPr/>
                    <a:lstStyle/>
                    <a:p>
                      <a:pPr algn="r"/>
                      <a:r>
                        <a:rPr sz="1200" b="1">
                          <a:solidFill>
                            <a:srgbClr val="1A7A4A"/>
                          </a:solidFill>
                          <a:latin typeface="Calibri"/>
                        </a:rPr>
                        <a:t>45.0%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Sustained F&amp;O headwinds, fintech share loss.</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Catalysts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Management Team</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Forensic / Governance — Monitor Closely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 Governance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Risks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Analyst Certification &amp; Disclosures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 &amp; Disclosures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₹490,790,000,000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