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XYZ Finance Ltd — Equity Research Update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XYZ Finance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₹178.0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₹225.0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XYZ Finance Ltd is a diversified non-banking financial company with a growing secured retail loan franchise spread across multiple geographies. The company generates revenue primarily through interest income on its secured loan book, supplemented by fee income on ancillary financial products. Its business model is anchored in disciplined underwriting — the secured mix is a structural differentiator that limits credit-cost volatility through the cycle. Management has prioritised branch productivity improvements, funding diversification, and measured geographic expansion as the three levers for the next growth phase. The improving return profile reflects the early benefits of these strategic choices.</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₹178.0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₹225.0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26.4%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XYZ Finance is delivering consistent secured-loan growth while preserving balance-sheet discipline and improving profitability. The franchise is at an inflection point where branch productivity improvements, a structurally sound secured mix, and adequate funding access are converging to drive a meaningful step-up in return ratios. We believe the market has not fully priced in the quality and durability of this earnings trajectory, creating a favourable risk-reward at current levels for medium-term investors.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Secured loan mix is structurally higher than peer average, providing a durable buffer against credit-cost volatility across economi...</a:t>
            </a:r>
          </a:p>
          <a:p>
            <a:pPr/>
            <a:r>
              <a:rPr sz="1100" b="0">
                <a:solidFill>
                  <a:srgbClr val="111111"/>
                </a:solidFill>
                <a:latin typeface="Calibri"/>
              </a:rPr>
              <a:t>- Branch productivity is improving in newer cohorts, signalling that the distribution build-out is translating into measurable loan o...</a:t>
            </a:r>
          </a:p>
          <a:p>
            <a:pPr/>
            <a:r>
              <a:rPr sz="1100" b="0">
                <a:solidFill>
                  <a:srgbClr val="111111"/>
                </a:solidFill>
                <a:latin typeface="Calibri"/>
              </a:rPr>
              <a:t>- Funding access remains adequate for the next growth phase, reducing refinancing risk even in a tightened liquidity environment.</a:t>
            </a:r>
          </a:p>
          <a:p>
            <a:pPr/>
            <a:r>
              <a:rPr sz="1100" b="0">
                <a:solidFill>
                  <a:srgbClr val="111111"/>
                </a:solidFill>
                <a:latin typeface="Calibri"/>
              </a:rPr>
              <a:t>- Return ratios are on an improving trajectory — ROE in FY26 reflects early operating leverage benefits from a maturing loan book.</a:t>
            </a:r>
          </a:p>
          <a:p>
            <a:pPr/>
            <a:r>
              <a:rPr sz="1100" b="0">
                <a:solidFill>
                  <a:srgbClr val="111111"/>
                </a:solidFill>
                <a:latin typeface="Calibri"/>
              </a:rPr>
              <a:t>- Upside to target price is supported by re-rating potential as credit-cost normalisation and AUM compounding reduce earnings uncerta...</a:t>
            </a:r>
          </a:p>
          <a:p>
            <a:pPr/>
            <a:r>
              <a:rPr sz="1100" b="0">
                <a:solidFill>
                  <a:srgbClr val="111111"/>
                </a:solidFill>
                <a:latin typeface="Calibri"/>
              </a:rPr>
              <a:t>- Geographic expansion into underpenetrated markets introduces incremental growth optionality with manageable execution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NBFC Sector — Structural Tailwinds Intact</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NBFC sector occupies a critical role in the domestic credit ecosystem, serving retail and small-business borrowers that formal banking channels underserve. The sector's secular growth thesis rests on low household credit penetration relative to GDP, a large informal economy transitioning to formalised financial products, and progressive regulatory frameworks that have improved balance-sheet resilience across the industry. Post the NBFC liquidity stress of the late 2010s, the sector has consolidated around better-capitalised, more transparent players — a structural improvement that has benefited franchises with strong governance and diversified funding. For secured-lending NBFCs specifically, falling cost of funds and improving digital underwriting capabilities are expanding addressable markets while keeping credit costs manageable.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India's retail credit-to-GDP ratio remains well below global comparables, underpinning a long runway for secured consumer a...</a:t>
            </a:r>
          </a:p>
          <a:p>
            <a:pPr/>
            <a:r>
              <a:rPr sz="1100" b="0">
                <a:solidFill>
                  <a:srgbClr val="111111"/>
                </a:solidFill>
                <a:latin typeface="Calibri"/>
              </a:rPr>
              <a:t>- Formalisation of the economy and rising financial inclusion are expanding the addressable borrower base for retail NBFCs be...</a:t>
            </a:r>
          </a:p>
          <a:p>
            <a:pPr/>
            <a:r>
              <a:rPr sz="1100" b="0">
                <a:solidFill>
                  <a:srgbClr val="111111"/>
                </a:solidFill>
                <a:latin typeface="Calibri"/>
              </a:rPr>
              <a:t>- Regulatory strengthening post-2019 (capital adequacy, liquidity coverage, scale-based regulation) has raised the quality ba...</a:t>
            </a:r>
          </a:p>
          <a:p>
            <a:pPr/>
            <a:r>
              <a:rPr sz="1100" b="0">
                <a:solidFill>
                  <a:srgbClr val="111111"/>
                </a:solidFill>
                <a:latin typeface="Calibri"/>
              </a:rPr>
              <a:t>- Secured asset classes — home loans, LAP, vehicle finance — have demonstrated credit resilience through multiple macro stres...</a:t>
            </a:r>
          </a:p>
          <a:p>
            <a:pPr/>
            <a:r>
              <a:rPr sz="1100" b="0">
                <a:solidFill>
                  <a:srgbClr val="111111"/>
                </a:solidFill>
                <a:latin typeface="Calibri"/>
              </a:rPr>
              <a:t>- Digital credit infrastructure (AA framework, OCEN, GST-linked underwriting) is lowering customer acquisition costs and impr...</a:t>
            </a:r>
          </a:p>
          <a:p>
            <a:pPr/>
            <a:r>
              <a:rPr sz="1100" b="0">
                <a:solidFill>
                  <a:srgbClr val="111111"/>
                </a:solidFill>
                <a:latin typeface="Calibri"/>
              </a:rPr>
              <a:t>- Improving bank-NBFC co-lending dynamics are enabling smaller franchises to access lower-cost capital and scale disbursement...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 FY26 Update</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Secured Mix Discipline: The secured proportion of the loan book remains the primary driver of credit-cost stability and supports a structurally lower provisioning run-rate.</a:t>
            </a:r>
          </a:p>
          <a:p>
            <a:pPr/>
            <a:r>
              <a:rPr sz="1100" b="0">
                <a:solidFill>
                  <a:srgbClr val="111111"/>
                </a:solidFill>
                <a:latin typeface="Calibri"/>
              </a:rPr>
              <a:t>- Branch Productivity Recovery: Newer branch cohorts are showing improving per-branch disbursements, validating the distribution investment thesis.</a:t>
            </a:r>
          </a:p>
          <a:p>
            <a:pPr/>
            <a:r>
              <a:rPr sz="1100" b="0">
                <a:solidFill>
                  <a:srgbClr val="111111"/>
                </a:solidFill>
                <a:latin typeface="Calibri"/>
              </a:rPr>
              <a:t>- AUM Compounding: Loan book growth is compounding at a healthy pace through FY26, with the trajectory expected to continue into FY27 as mature branches scale.</a:t>
            </a:r>
          </a:p>
          <a:p>
            <a:pPr/>
            <a:r>
              <a:rPr sz="1100" b="0">
                <a:solidFill>
                  <a:srgbClr val="111111"/>
                </a:solidFill>
                <a:latin typeface="Calibri"/>
              </a:rPr>
              <a:t>- NIM Resilience: Net interest margin in FY26 reflects the benefit of a secured-heavy book and disciplined pricing, partly offsetting modest funding-cost headwinds.</a:t>
            </a:r>
          </a:p>
          <a:p>
            <a:pPr/>
            <a:r>
              <a:rPr sz="1100" b="0">
                <a:solidFill>
                  <a:srgbClr val="111111"/>
                </a:solidFill>
                <a:latin typeface="Calibri"/>
              </a:rPr>
              <a:t>- ROE Inflection: Return on equity is recovering toward through-cycle targets, supported by improving asset quality, operating leverage, and a more productive balance sheet.</a:t>
            </a:r>
          </a:p>
          <a:p>
            <a:pPr/>
            <a:r>
              <a:rPr sz="1100" b="0">
                <a:solidFill>
                  <a:srgbClr val="111111"/>
                </a:solidFill>
                <a:latin typeface="Calibri"/>
              </a:rPr>
              <a:t>- Upside to TP: Our target price implies a meaningful upside to current market price, anchored on a peer-relative valuation and earnings-growth visibility through FY27.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AUM Growth — Compounding the Loan Book</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XYZ Finance's loan book has demonstrated consistent expansion through FY24–FY27, driven by a combination of branch network additions, improving productivity in mature branches, and a deliberate mix shift toward secured asset classes. The growth trajectory is underpinned by a robust disbursement pipeline in existing geographies and incremental contributions from newer markets. Management's focus on quality over volume is evident in the credit-cost profile, which has remained contained even as the book has scaled. Looking ahead to FY27, the compounding effect of a seasoned branch network and a maturing borrower base should sustain the growth momentum, with the secured mix acting as a natural dampener on volatility. The AUM chart reflects this consistent build-up and supports our thesis that the franchise is in a durable growth phase rather than a cyclical upturn.</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Trajectory — PAT Growth</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 after tax has been on a consistent upward trajectory, reflecting the combined effect of loan book scaling, contained credit costs, and early operating leverage in a franchise that has been building fixed infrastructure over the prior years. The secured asset mix has been the single most important driver of credit-cost stability — as the portfolio seasons, the benefit to the P&amp;L is becoming increasingly visible. Funding costs have remained manageable given XYZ Finance's diversified liability franchise, though modest pressure from a tighter market rate environment has been absorbed without meaningful NIM erosion. The FY26 PAT run-rate validates our projection of continued earnings growth into FY27, and the trajectory supports a valuation re-rating as the market gains confidence in the earnings quality and predictability of the franchise.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 Re-Rating Supported by Improving Return...</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BUY rating and target price are anchored on a peer-relative valuation framework that incorporates earnings growth visibility, asset quality trajectory, and the improving return profile of the XYZ Finance franchise. At the current market price, we believe the stock is trading below fair value relative to comparable secured-lending NBFCs with similar growth...</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Target Price ₹225.0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Upside 26.4%</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NIM FY26 7.8</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ROE FY26 16.9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 Monitoring Points for Thesis Integrity</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Competitive intensity in secured retail lending could pressure spreads and NIM, particularly in geographies where multiple well-capitalised NBFCs and banks are deepening their presence simultaneously.</a:t>
            </a:r>
          </a:p>
          <a:p>
            <a:pPr/>
            <a:r>
              <a:rPr sz="1100" b="0">
                <a:solidFill>
                  <a:srgbClr val="111111"/>
                </a:solidFill>
                <a:latin typeface="Calibri"/>
              </a:rPr>
              <a:t>- Asset-quality normalisation may take longer than our base-case assumption — if delinquency trends in newer cohorts or geographies disappoint, credit costs could overshoot our FY27 estimate and compress PAT.</a:t>
            </a:r>
          </a:p>
          <a:p>
            <a:pPr/>
            <a:r>
              <a:rPr sz="1100" b="0">
                <a:solidFill>
                  <a:srgbClr val="111111"/>
                </a:solidFill>
                <a:latin typeface="Calibri"/>
              </a:rPr>
              <a:t>- Execution slippage in new geographic expansions may slow disbursement momentum and delay the productivity improvement that underpins our growth estimates for FY27.</a:t>
            </a:r>
          </a:p>
          <a:p>
            <a:pPr/>
            <a:r>
              <a:rPr sz="1100" b="0">
                <a:solidFill>
                  <a:srgbClr val="111111"/>
                </a:solidFill>
                <a:latin typeface="Calibri"/>
              </a:rPr>
              <a:t>- A sustained tightening of systemic liquidity or regulatory changes affecting NBFC liability access could increase funding costs and exert unexpected pressure on the NIM profile.</a:t>
            </a:r>
          </a:p>
          <a:p>
            <a:pPr/>
            <a:r>
              <a:rPr sz="1100" b="0">
                <a:solidFill>
                  <a:srgbClr val="111111"/>
                </a:solidFill>
                <a:latin typeface="Calibri"/>
              </a:rPr>
              <a:t>- Macro slowdown in key end-markets — particularly informal sector employment — could affect borrower repayment capacity and accelerate the credit-cost normalisation scenario.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This document is for informational purposes only and does not constitute an offer or solicitation to buy or sell any securities. The information and opinions expressed herein are based on sources believed to be reliable and in good faith, but no representation or warranty, express or implied, is made as to its accuracy, completeness, or correctness. Past performance of any security or financial instrument is not indicative of future results. The analyst(s) certify that the views expressed in this report accurately reflect their personal views about the subject company and its securities, and that no part of their compensation was, is, or will be directly or indirectly related to the specific recommendation(s) or views expressed herein. Tikona Capital and/or its affiliates, directors, officers, or employees may have positions or interests in the securities mentioned in this report. Investors should conduct their own due diligence and consult their financial, legal, and tax advisors before making any investment decision. SEBI Registration No.: [To be inserted by compliance]. This report is directed at institutional and professional investors only and is not intended for retail distribution. The renderer may replace this text with firm-approved regulatory boilerplate as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