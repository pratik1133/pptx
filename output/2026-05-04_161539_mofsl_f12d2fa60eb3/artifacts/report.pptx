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606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180015" y="0"/>
            <a:ext cx="2011680" cy="2606040"/>
          </a:xfrm>
          <a:prstGeom prst="rect">
            <a:avLst/>
          </a:prstGeom>
          <a:solidFill>
            <a:srgbClr val="FFA500">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82880"/>
            <a:ext cx="237744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228600"/>
            <a:ext cx="1570584" cy="384048"/>
          </a:xfrm>
          <a:prstGeom prst="rect">
            <a:avLst/>
          </a:prstGeom>
        </p:spPr>
      </p:pic>
      <p:sp>
        <p:nvSpPr>
          <p:cNvPr id="6" name="TextBox 5"/>
          <p:cNvSpPr txBox="1"/>
          <p:nvPr/>
        </p:nvSpPr>
        <p:spPr>
          <a:xfrm>
            <a:off x="1188720" y="201168"/>
            <a:ext cx="2743200" cy="256032"/>
          </a:xfrm>
          <a:prstGeom prst="rect">
            <a:avLst/>
          </a:prstGeom>
          <a:noFill/>
        </p:spPr>
        <p:txBody>
          <a:bodyPr wrap="square" lIns="45720" rIns="45720" tIns="18288" bIns="18288">
            <a:spAutoFit/>
          </a:bodyPr>
          <a:lstStyle/>
          <a:p>
            <a:pPr algn="l"/>
            <a:r>
              <a:rPr sz="1400" b="1">
                <a:solidFill>
                  <a:srgbClr val="FFFFFF"/>
                </a:solidFill>
                <a:latin typeface="Calibri"/>
              </a:rPr>
              <a:t>Tikona Capital</a:t>
            </a:r>
          </a:p>
        </p:txBody>
      </p:sp>
      <p:sp>
        <p:nvSpPr>
          <p:cNvPr id="7" name="TextBox 6"/>
          <p:cNvSpPr txBox="1"/>
          <p:nvPr/>
        </p:nvSpPr>
        <p:spPr>
          <a:xfrm>
            <a:off x="1188720" y="457200"/>
            <a:ext cx="2743200" cy="164592"/>
          </a:xfrm>
          <a:prstGeom prst="rect">
            <a:avLst/>
          </a:prstGeom>
          <a:noFill/>
        </p:spPr>
        <p:txBody>
          <a:bodyPr wrap="square" lIns="45720" rIns="45720" tIns="18288" bIns="18288">
            <a:spAutoFit/>
          </a:bodyPr>
          <a:lstStyle/>
          <a:p>
            <a:pPr algn="l"/>
            <a:r>
              <a:rPr sz="700" b="0">
                <a:solidFill>
                  <a:srgbClr val="8899BB"/>
                </a:solidFill>
                <a:latin typeface="Calibri"/>
              </a:rPr>
              <a:t>INSTITUTIONAL EQUITY RESEARCH</a:t>
            </a:r>
          </a:p>
        </p:txBody>
      </p:sp>
      <p:sp>
        <p:nvSpPr>
          <p:cNvPr id="8" name="TextBox 7"/>
          <p:cNvSpPr txBox="1"/>
          <p:nvPr/>
        </p:nvSpPr>
        <p:spPr>
          <a:xfrm>
            <a:off x="457200" y="777240"/>
            <a:ext cx="6705432" cy="457200"/>
          </a:xfrm>
          <a:prstGeom prst="rect">
            <a:avLst/>
          </a:prstGeom>
          <a:noFill/>
        </p:spPr>
        <p:txBody>
          <a:bodyPr wrap="square" lIns="45720" rIns="45720" tIns="18288" bIns="18288">
            <a:spAutoFit/>
          </a:bodyPr>
          <a:lstStyle/>
          <a:p>
            <a:pPr algn="l"/>
            <a:r>
              <a:rPr sz="2600" b="1">
                <a:solidFill>
                  <a:srgbClr val="FFFFFF"/>
                </a:solidFill>
                <a:latin typeface="Calibri"/>
              </a:rPr>
              <a:t>Motilal Oswal Financial Services Ltd</a:t>
            </a:r>
          </a:p>
        </p:txBody>
      </p:sp>
      <p:sp>
        <p:nvSpPr>
          <p:cNvPr id="9" name="Rounded Rectangle 8"/>
          <p:cNvSpPr/>
          <p:nvPr/>
        </p:nvSpPr>
        <p:spPr>
          <a:xfrm>
            <a:off x="5724144" y="868680"/>
            <a:ext cx="777240" cy="2743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0" name="TextBox 9"/>
          <p:cNvSpPr txBox="1"/>
          <p:nvPr/>
        </p:nvSpPr>
        <p:spPr>
          <a:xfrm>
            <a:off x="457200" y="1234440"/>
            <a:ext cx="11277295" cy="164592"/>
          </a:xfrm>
          <a:prstGeom prst="rect">
            <a:avLst/>
          </a:prstGeom>
          <a:noFill/>
        </p:spPr>
        <p:txBody>
          <a:bodyPr wrap="square" lIns="45720" rIns="45720" tIns="18288" bIns="18288">
            <a:spAutoFit/>
          </a:bodyPr>
          <a:lstStyle/>
          <a:p>
            <a:pPr algn="l"/>
            <a:r>
              <a:rPr sz="800" b="0">
                <a:solidFill>
                  <a:srgbClr val="E0E8F0"/>
                </a:solidFill>
                <a:latin typeface="Calibri"/>
              </a:rPr>
              <a:t>NSE: MOFSL  |  Financial Services</a:t>
            </a:r>
          </a:p>
        </p:txBody>
      </p:sp>
      <p:sp>
        <p:nvSpPr>
          <p:cNvPr id="11" name="Rectangle 10"/>
          <p:cNvSpPr/>
          <p:nvPr/>
        </p:nvSpPr>
        <p:spPr>
          <a:xfrm>
            <a:off x="457200" y="1490472"/>
            <a:ext cx="11277295" cy="10972"/>
          </a:xfrm>
          <a:prstGeom prst="rect">
            <a:avLst/>
          </a:prstGeom>
          <a:solidFill>
            <a:srgbClr val="4A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508760"/>
            <a:ext cx="2682163" cy="118872"/>
          </a:xfrm>
          <a:prstGeom prst="rect">
            <a:avLst/>
          </a:prstGeom>
          <a:noFill/>
        </p:spPr>
        <p:txBody>
          <a:bodyPr wrap="square" lIns="45720" rIns="45720" tIns="18288" bIns="18288">
            <a:spAutoFit/>
          </a:bodyPr>
          <a:lstStyle/>
          <a:p>
            <a:pPr algn="l"/>
            <a:r>
              <a:rPr sz="600" b="0">
                <a:solidFill>
                  <a:srgbClr val="E0E8F0"/>
                </a:solidFill>
                <a:latin typeface="Calibri"/>
              </a:rPr>
              <a:t>CMP</a:t>
            </a:r>
          </a:p>
        </p:txBody>
      </p:sp>
      <p:sp>
        <p:nvSpPr>
          <p:cNvPr id="13" name="TextBox 12"/>
          <p:cNvSpPr txBox="1"/>
          <p:nvPr/>
        </p:nvSpPr>
        <p:spPr>
          <a:xfrm>
            <a:off x="457200" y="1627631"/>
            <a:ext cx="2682163" cy="256032"/>
          </a:xfrm>
          <a:prstGeom prst="rect">
            <a:avLst/>
          </a:prstGeom>
          <a:noFill/>
        </p:spPr>
        <p:txBody>
          <a:bodyPr wrap="square" lIns="45720" rIns="45720" tIns="18288" bIns="18288">
            <a:spAutoFit/>
          </a:bodyPr>
          <a:lstStyle/>
          <a:p>
            <a:pPr algn="l"/>
            <a:r>
              <a:rPr sz="1500" b="1">
                <a:solidFill>
                  <a:srgbClr val="FFA500"/>
                </a:solidFill>
                <a:latin typeface="Calibri"/>
              </a:rPr>
              <a:t>₹822.90</a:t>
            </a:r>
          </a:p>
        </p:txBody>
      </p:sp>
      <p:sp>
        <p:nvSpPr>
          <p:cNvPr id="14" name="TextBox 13"/>
          <p:cNvSpPr txBox="1"/>
          <p:nvPr/>
        </p:nvSpPr>
        <p:spPr>
          <a:xfrm>
            <a:off x="457200" y="1883664"/>
            <a:ext cx="2682163" cy="109728"/>
          </a:xfrm>
          <a:prstGeom prst="rect">
            <a:avLst/>
          </a:prstGeom>
          <a:noFill/>
        </p:spPr>
        <p:txBody>
          <a:bodyPr wrap="square" lIns="45720" rIns="45720" tIns="18288" bIns="18288">
            <a:spAutoFit/>
          </a:bodyPr>
          <a:lstStyle/>
          <a:p>
            <a:pPr algn="l"/>
            <a:r>
              <a:rPr sz="600" b="0">
                <a:solidFill>
                  <a:srgbClr val="E0E8F0"/>
                </a:solidFill>
                <a:latin typeface="Calibri"/>
              </a:rPr>
              <a:t>As of 28/04/2026</a:t>
            </a:r>
          </a:p>
        </p:txBody>
      </p:sp>
      <p:sp>
        <p:nvSpPr>
          <p:cNvPr id="15" name="Rectangle 14"/>
          <p:cNvSpPr/>
          <p:nvPr/>
        </p:nvSpPr>
        <p:spPr>
          <a:xfrm>
            <a:off x="3185083"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76523" y="1508760"/>
            <a:ext cx="2682163" cy="118872"/>
          </a:xfrm>
          <a:prstGeom prst="rect">
            <a:avLst/>
          </a:prstGeom>
          <a:noFill/>
        </p:spPr>
        <p:txBody>
          <a:bodyPr wrap="square" lIns="45720" rIns="45720" tIns="18288" bIns="18288">
            <a:spAutoFit/>
          </a:bodyPr>
          <a:lstStyle/>
          <a:p>
            <a:pPr algn="l"/>
            <a:r>
              <a:rPr sz="600" b="0">
                <a:solidFill>
                  <a:srgbClr val="E0E8F0"/>
                </a:solidFill>
                <a:latin typeface="Calibri"/>
              </a:rPr>
              <a:t>TARGET PRICE</a:t>
            </a:r>
          </a:p>
        </p:txBody>
      </p:sp>
      <p:sp>
        <p:nvSpPr>
          <p:cNvPr id="17" name="TextBox 16"/>
          <p:cNvSpPr txBox="1"/>
          <p:nvPr/>
        </p:nvSpPr>
        <p:spPr>
          <a:xfrm>
            <a:off x="3276523"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₹1,127</a:t>
            </a:r>
          </a:p>
        </p:txBody>
      </p:sp>
      <p:sp>
        <p:nvSpPr>
          <p:cNvPr id="18" name="Rectangle 17"/>
          <p:cNvSpPr/>
          <p:nvPr/>
        </p:nvSpPr>
        <p:spPr>
          <a:xfrm>
            <a:off x="6004407"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5847" y="1508760"/>
            <a:ext cx="2682163" cy="118872"/>
          </a:xfrm>
          <a:prstGeom prst="rect">
            <a:avLst/>
          </a:prstGeom>
          <a:noFill/>
        </p:spPr>
        <p:txBody>
          <a:bodyPr wrap="square" lIns="45720" rIns="45720" tIns="18288" bIns="18288">
            <a:spAutoFit/>
          </a:bodyPr>
          <a:lstStyle/>
          <a:p>
            <a:pPr algn="l"/>
            <a:r>
              <a:rPr sz="600" b="0">
                <a:solidFill>
                  <a:srgbClr val="E0E8F0"/>
                </a:solidFill>
                <a:latin typeface="Calibri"/>
              </a:rPr>
              <a:t>MARKET CAP</a:t>
            </a:r>
          </a:p>
        </p:txBody>
      </p:sp>
      <p:sp>
        <p:nvSpPr>
          <p:cNvPr id="20" name="TextBox 19"/>
          <p:cNvSpPr txBox="1"/>
          <p:nvPr/>
        </p:nvSpPr>
        <p:spPr>
          <a:xfrm>
            <a:off x="6095847"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₹49,079 Cr</a:t>
            </a:r>
          </a:p>
        </p:txBody>
      </p:sp>
      <p:sp>
        <p:nvSpPr>
          <p:cNvPr id="21" name="Rectangle 20"/>
          <p:cNvSpPr/>
          <p:nvPr/>
        </p:nvSpPr>
        <p:spPr>
          <a:xfrm>
            <a:off x="8823731"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5171" y="1508760"/>
            <a:ext cx="2682163" cy="118872"/>
          </a:xfrm>
          <a:prstGeom prst="rect">
            <a:avLst/>
          </a:prstGeom>
          <a:noFill/>
        </p:spPr>
        <p:txBody>
          <a:bodyPr wrap="square" lIns="45720" rIns="45720" tIns="18288" bIns="18288">
            <a:spAutoFit/>
          </a:bodyPr>
          <a:lstStyle/>
          <a:p>
            <a:pPr algn="l"/>
            <a:r>
              <a:rPr sz="600" b="0">
                <a:solidFill>
                  <a:srgbClr val="E0E8F0"/>
                </a:solidFill>
                <a:latin typeface="Calibri"/>
              </a:rPr>
              <a:t>UPSIDE</a:t>
            </a:r>
          </a:p>
        </p:txBody>
      </p:sp>
      <p:sp>
        <p:nvSpPr>
          <p:cNvPr id="23" name="TextBox 22"/>
          <p:cNvSpPr txBox="1"/>
          <p:nvPr/>
        </p:nvSpPr>
        <p:spPr>
          <a:xfrm>
            <a:off x="8915171" y="1627631"/>
            <a:ext cx="2682163" cy="256032"/>
          </a:xfrm>
          <a:prstGeom prst="rect">
            <a:avLst/>
          </a:prstGeom>
          <a:noFill/>
        </p:spPr>
        <p:txBody>
          <a:bodyPr wrap="square" lIns="45720" rIns="45720" tIns="18288" bIns="18288">
            <a:spAutoFit/>
          </a:bodyPr>
          <a:lstStyle/>
          <a:p>
            <a:pPr algn="l"/>
            <a:r>
              <a:rPr sz="1500" b="1">
                <a:solidFill>
                  <a:srgbClr val="FFFFFF"/>
                </a:solidFill>
                <a:latin typeface="Calibri"/>
              </a:rPr>
              <a:t>+37%</a:t>
            </a:r>
          </a:p>
        </p:txBody>
      </p:sp>
      <p:sp>
        <p:nvSpPr>
          <p:cNvPr id="24" name="TextBox 23"/>
          <p:cNvSpPr txBox="1"/>
          <p:nvPr/>
        </p:nvSpPr>
        <p:spPr>
          <a:xfrm>
            <a:off x="8991295" y="2404872"/>
            <a:ext cx="2743200" cy="164592"/>
          </a:xfrm>
          <a:prstGeom prst="rect">
            <a:avLst/>
          </a:prstGeom>
          <a:noFill/>
        </p:spPr>
        <p:txBody>
          <a:bodyPr wrap="square" lIns="45720" rIns="45720" tIns="18288" bIns="18288">
            <a:spAutoFit/>
          </a:bodyPr>
          <a:lstStyle/>
          <a:p>
            <a:pPr algn="r"/>
            <a:r>
              <a:rPr sz="700" b="0">
                <a:solidFill>
                  <a:srgbClr val="E0E8F0"/>
                </a:solidFill>
                <a:latin typeface="Calibri"/>
              </a:rPr>
              <a:t>Report: 28/04/2026</a:t>
            </a:r>
          </a:p>
        </p:txBody>
      </p:sp>
      <p:sp>
        <p:nvSpPr>
          <p:cNvPr id="25" name="Rectangle 24"/>
          <p:cNvSpPr/>
          <p:nvPr/>
        </p:nvSpPr>
        <p:spPr>
          <a:xfrm>
            <a:off x="0" y="2606040"/>
            <a:ext cx="12191695"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2624328"/>
            <a:ext cx="11277295" cy="310896"/>
          </a:xfrm>
          <a:prstGeom prst="rect">
            <a:avLst/>
          </a:prstGeom>
          <a:noFill/>
        </p:spPr>
        <p:txBody>
          <a:bodyPr wrap="square" lIns="45720" rIns="45720" tIns="18288" bIns="18288">
            <a:spAutoFit/>
          </a:bodyPr>
          <a:lstStyle/>
          <a:p>
            <a:pPr algn="l"/>
            <a:r>
              <a:rPr sz="1100" b="1">
                <a:solidFill>
                  <a:srgbClr val="1F4690"/>
                </a:solidFill>
                <a:latin typeface="Calibri"/>
              </a:rPr>
              <a:t>"BUY with SAARTHI Score of 72/100"</a:t>
            </a:r>
          </a:p>
        </p:txBody>
      </p:sp>
      <p:sp>
        <p:nvSpPr>
          <p:cNvPr id="27" name="Rectangle 26"/>
          <p:cNvSpPr/>
          <p:nvPr/>
        </p:nvSpPr>
        <p:spPr>
          <a:xfrm>
            <a:off x="457200" y="3063240"/>
            <a:ext cx="36576" cy="137160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3108960"/>
            <a:ext cx="5410047" cy="164592"/>
          </a:xfrm>
          <a:prstGeom prst="rect">
            <a:avLst/>
          </a:prstGeom>
          <a:noFill/>
        </p:spPr>
        <p:txBody>
          <a:bodyPr wrap="square" lIns="45720" rIns="45720" tIns="18288" bIns="18288">
            <a:spAutoFit/>
          </a:bodyPr>
          <a:lstStyle/>
          <a:p>
            <a:pPr algn="l"/>
            <a:r>
              <a:rPr sz="1000" b="1">
                <a:solidFill>
                  <a:srgbClr val="1F4690"/>
                </a:solidFill>
                <a:latin typeface="Calibri"/>
              </a:rPr>
              <a:t>Investment Thesis</a:t>
            </a:r>
          </a:p>
        </p:txBody>
      </p:sp>
      <p:sp>
        <p:nvSpPr>
          <p:cNvPr id="29" name="TextBox 28"/>
          <p:cNvSpPr txBox="1"/>
          <p:nvPr/>
        </p:nvSpPr>
        <p:spPr>
          <a:xfrm>
            <a:off x="594360" y="3291840"/>
            <a:ext cx="5410047" cy="1051560"/>
          </a:xfrm>
          <a:prstGeom prst="rect">
            <a:avLst/>
          </a:prstGeom>
          <a:noFill/>
        </p:spPr>
        <p:txBody>
          <a:bodyPr wrap="square" lIns="45720" rIns="45720" tIns="18288" bIns="18288">
            <a:spAutoFit/>
          </a:bodyPr>
          <a:lstStyle/>
          <a:p>
            <a:pPr algn="l"/>
            <a:r>
              <a:rPr sz="800" b="0">
                <a:solidFill>
                  <a:srgbClr val="333333"/>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a:t>
            </a:r>
          </a:p>
        </p:txBody>
      </p:sp>
      <p:sp>
        <p:nvSpPr>
          <p:cNvPr id="30" name="Rectangle 29"/>
          <p:cNvSpPr/>
          <p:nvPr/>
        </p:nvSpPr>
        <p:spPr>
          <a:xfrm>
            <a:off x="457200" y="4599431"/>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526279"/>
            <a:ext cx="2697406" cy="201168"/>
          </a:xfrm>
          <a:prstGeom prst="rect">
            <a:avLst/>
          </a:prstGeom>
          <a:noFill/>
        </p:spPr>
        <p:txBody>
          <a:bodyPr wrap="square" lIns="45720" rIns="45720" tIns="18288" bIns="18288">
            <a:spAutoFit/>
          </a:bodyPr>
          <a:lstStyle/>
          <a:p>
            <a:pPr algn="l"/>
            <a:r>
              <a:rPr sz="800" b="0">
                <a:solidFill>
                  <a:srgbClr val="333333"/>
                </a:solidFill>
                <a:latin typeface="Calibri"/>
              </a:rPr>
              <a:t>BUY with SAARTHI Score of 72/100. Motilal Oswal Financial Services represents a compelling investment opportunity driven</a:t>
            </a:r>
          </a:p>
        </p:txBody>
      </p:sp>
      <p:sp>
        <p:nvSpPr>
          <p:cNvPr id="32" name="Rectangle 31"/>
          <p:cNvSpPr/>
          <p:nvPr/>
        </p:nvSpPr>
        <p:spPr>
          <a:xfrm>
            <a:off x="457200" y="4892040"/>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4818888"/>
            <a:ext cx="2697406" cy="201168"/>
          </a:xfrm>
          <a:prstGeom prst="rect">
            <a:avLst/>
          </a:prstGeom>
          <a:noFill/>
        </p:spPr>
        <p:txBody>
          <a:bodyPr wrap="square" lIns="45720" rIns="45720" tIns="18288" bIns="18288">
            <a:spAutoFit/>
          </a:bodyPr>
          <a:lstStyle/>
          <a:p>
            <a:pPr algn="l"/>
            <a:r>
              <a:rPr sz="800" b="0">
                <a:solidFill>
                  <a:srgbClr val="333333"/>
                </a:solidFill>
                <a:latin typeface="Calibri"/>
              </a:rPr>
              <a:t>ARR contribution at the relevant figure of total net revenues, reducing cyclical broking volatility</a:t>
            </a:r>
          </a:p>
        </p:txBody>
      </p:sp>
      <p:sp>
        <p:nvSpPr>
          <p:cNvPr id="34" name="Rectangle 33"/>
          <p:cNvSpPr/>
          <p:nvPr/>
        </p:nvSpPr>
        <p:spPr>
          <a:xfrm>
            <a:off x="457200" y="5184647"/>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5111495"/>
            <a:ext cx="2697406" cy="201168"/>
          </a:xfrm>
          <a:prstGeom prst="rect">
            <a:avLst/>
          </a:prstGeom>
          <a:noFill/>
        </p:spPr>
        <p:txBody>
          <a:bodyPr wrap="square" lIns="45720" rIns="45720" tIns="18288" bIns="18288">
            <a:spAutoFit/>
          </a:bodyPr>
          <a:lstStyle/>
          <a:p>
            <a:pPr algn="l"/>
            <a:r>
              <a:rPr sz="800" b="0">
                <a:solidFill>
                  <a:srgbClr val="333333"/>
                </a:solidFill>
                <a:latin typeface="Calibri"/>
              </a:rPr>
              <a:t>Q2FY25 profits up the relevant figure YoY with the relevant figure revenue growth and the relevant figure ROE</a:t>
            </a:r>
          </a:p>
        </p:txBody>
      </p:sp>
      <p:sp>
        <p:nvSpPr>
          <p:cNvPr id="36" name="Rectangle 35"/>
          <p:cNvSpPr/>
          <p:nvPr/>
        </p:nvSpPr>
        <p:spPr>
          <a:xfrm>
            <a:off x="457200" y="5477255"/>
            <a:ext cx="54864"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404103"/>
            <a:ext cx="2697406" cy="201168"/>
          </a:xfrm>
          <a:prstGeom prst="rect">
            <a:avLst/>
          </a:prstGeom>
          <a:noFill/>
        </p:spPr>
        <p:txBody>
          <a:bodyPr wrap="square" lIns="45720" rIns="45720" tIns="18288" bIns="18288">
            <a:spAutoFit/>
          </a:bodyPr>
          <a:lstStyle/>
          <a:p>
            <a:pPr algn="l"/>
            <a:r>
              <a:rPr sz="800" b="0">
                <a:solidFill>
                  <a:srgbClr val="333333"/>
                </a:solidFill>
                <a:latin typeface="Calibri"/>
              </a:rPr>
              <a:t>Total AUM at the relevant figure lakh crore (+the relevant figure YoY); the relevant figure of AUM outperforming benchma</a:t>
            </a:r>
          </a:p>
        </p:txBody>
      </p:sp>
      <p:sp>
        <p:nvSpPr>
          <p:cNvPr id="38" name="Rounded Rectangle 37"/>
          <p:cNvSpPr/>
          <p:nvPr/>
        </p:nvSpPr>
        <p:spPr>
          <a:xfrm>
            <a:off x="6461598" y="3063240"/>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RATING</a:t>
            </a:r>
          </a:p>
          <a:p>
            <a:pPr algn="ctr"/>
            <a:r>
              <a:rPr sz="1600" b="1">
                <a:solidFill>
                  <a:srgbClr val="FFA500"/>
                </a:solidFill>
                <a:latin typeface="Calibri"/>
              </a:rPr>
              <a:t>BUY</a:t>
            </a:r>
          </a:p>
        </p:txBody>
      </p:sp>
      <p:sp>
        <p:nvSpPr>
          <p:cNvPr id="39" name="Rounded Rectangle 38"/>
          <p:cNvSpPr/>
          <p:nvPr/>
        </p:nvSpPr>
        <p:spPr>
          <a:xfrm>
            <a:off x="8255806" y="3063240"/>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CMP</a:t>
            </a:r>
          </a:p>
          <a:p>
            <a:pPr algn="ctr"/>
            <a:r>
              <a:rPr sz="1600" b="1">
                <a:solidFill>
                  <a:srgbClr val="FFA500"/>
                </a:solidFill>
                <a:latin typeface="Calibri"/>
              </a:rPr>
              <a:t>₹822.9</a:t>
            </a:r>
          </a:p>
        </p:txBody>
      </p:sp>
      <p:sp>
        <p:nvSpPr>
          <p:cNvPr id="40" name="Rounded Rectangle 39"/>
          <p:cNvSpPr/>
          <p:nvPr/>
        </p:nvSpPr>
        <p:spPr>
          <a:xfrm>
            <a:off x="10050014" y="3063240"/>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TARGET PRICE</a:t>
            </a:r>
          </a:p>
          <a:p>
            <a:pPr algn="ctr"/>
            <a:r>
              <a:rPr sz="1600" b="1">
                <a:solidFill>
                  <a:srgbClr val="FFA500"/>
                </a:solidFill>
                <a:latin typeface="Calibri"/>
              </a:rPr>
              <a:t>₹1,127.0</a:t>
            </a:r>
          </a:p>
        </p:txBody>
      </p:sp>
      <p:sp>
        <p:nvSpPr>
          <p:cNvPr id="41" name="Rounded Rectangle 40"/>
          <p:cNvSpPr/>
          <p:nvPr/>
        </p:nvSpPr>
        <p:spPr>
          <a:xfrm>
            <a:off x="6461598" y="3831336"/>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UPSIDE</a:t>
            </a:r>
          </a:p>
          <a:p>
            <a:pPr algn="ctr"/>
            <a:r>
              <a:rPr sz="1600" b="1">
                <a:solidFill>
                  <a:srgbClr val="FFA500"/>
                </a:solidFill>
                <a:latin typeface="Calibri"/>
              </a:rPr>
              <a:t>37.0%</a:t>
            </a:r>
          </a:p>
        </p:txBody>
      </p:sp>
      <p:sp>
        <p:nvSpPr>
          <p:cNvPr id="42" name="Rounded Rectangle 41"/>
          <p:cNvSpPr/>
          <p:nvPr/>
        </p:nvSpPr>
        <p:spPr>
          <a:xfrm>
            <a:off x="8255806" y="3831336"/>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MARKET CAP</a:t>
            </a:r>
          </a:p>
          <a:p>
            <a:pPr algn="ctr"/>
            <a:r>
              <a:rPr sz="1600" b="1">
                <a:solidFill>
                  <a:srgbClr val="FFA500"/>
                </a:solidFill>
                <a:latin typeface="Calibri"/>
              </a:rPr>
              <a:t>₹49,079 Cr</a:t>
            </a:r>
          </a:p>
        </p:txBody>
      </p:sp>
      <p:sp>
        <p:nvSpPr>
          <p:cNvPr id="43" name="Rounded Rectangle 42"/>
          <p:cNvSpPr/>
          <p:nvPr/>
        </p:nvSpPr>
        <p:spPr>
          <a:xfrm>
            <a:off x="10050014" y="3831336"/>
            <a:ext cx="1684480" cy="658368"/>
          </a:xfrm>
          <a:prstGeom prst="roundRect">
            <a:avLst/>
          </a:prstGeom>
          <a:solidFill>
            <a:srgbClr val="FFFFFF"/>
          </a:solidFill>
          <a:ln w="12700">
            <a:solidFill>
              <a:srgbClr val="1F4690"/>
            </a:solid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EPS (FY25)</a:t>
            </a:r>
          </a:p>
          <a:p>
            <a:pPr algn="ctr"/>
            <a:r>
              <a:rPr sz="1600" b="1">
                <a:solidFill>
                  <a:srgbClr val="FFA500"/>
                </a:solidFill>
                <a:latin typeface="Calibri"/>
              </a:rPr>
              <a:t>₹822.9</a:t>
            </a:r>
          </a:p>
        </p:txBody>
      </p:sp>
      <p:sp>
        <p:nvSpPr>
          <p:cNvPr id="44" name="Rectangle 43"/>
          <p:cNvSpPr/>
          <p:nvPr/>
        </p:nvSpPr>
        <p:spPr>
          <a:xfrm>
            <a:off x="0" y="6565392"/>
            <a:ext cx="12191695" cy="29260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565392"/>
            <a:ext cx="3200400" cy="292608"/>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46" name="TextBox 45"/>
          <p:cNvSpPr txBox="1"/>
          <p:nvPr/>
        </p:nvSpPr>
        <p:spPr>
          <a:xfrm>
            <a:off x="3657508" y="6565392"/>
            <a:ext cx="4876678" cy="292608"/>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47" name="TextBox 46"/>
          <p:cNvSpPr txBox="1"/>
          <p:nvPr/>
        </p:nvSpPr>
        <p:spPr>
          <a:xfrm>
            <a:off x="9905695" y="6565392"/>
            <a:ext cx="1828800" cy="292608"/>
          </a:xfrm>
          <a:prstGeom prst="rect">
            <a:avLst/>
          </a:prstGeom>
          <a:noFill/>
        </p:spPr>
        <p:txBody>
          <a:bodyPr wrap="square" lIns="45720" rIns="45720" tIns="18288" bIns="18288">
            <a:spAutoFit/>
          </a:bodyPr>
          <a:lstStyle/>
          <a:p>
            <a:pPr algn="r"/>
            <a:r>
              <a:rPr sz="900" b="0">
                <a:solidFill>
                  <a:srgbClr val="FFFFFF"/>
                </a:solidFill>
                <a:latin typeface="Calibri"/>
              </a:rPr>
              <a:t>28/04/2026  |  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9" name="TextBox 18"/>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Investment Quality Score — 72/100</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5" name="Rectangle 14"/>
          <p:cNvSpPr/>
          <p:nvPr/>
        </p:nvSpPr>
        <p:spPr>
          <a:xfrm>
            <a:off x="457200" y="1234440"/>
            <a:ext cx="11277295" cy="5486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5488" y="1252728"/>
            <a:ext cx="11240719" cy="512063"/>
          </a:xfrm>
          <a:prstGeom prst="rect">
            <a:avLst/>
          </a:prstGeom>
          <a:solidFill>
            <a:srgbClr val="FFF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1234440"/>
            <a:ext cx="2286000" cy="548640"/>
          </a:xfrm>
          <a:prstGeom prst="rect">
            <a:avLst/>
          </a:prstGeom>
          <a:noFill/>
        </p:spPr>
        <p:txBody>
          <a:bodyPr wrap="square" lIns="45720" rIns="45720" tIns="18288" bIns="18288">
            <a:spAutoFit/>
          </a:bodyPr>
          <a:lstStyle/>
          <a:p>
            <a:pPr algn="l"/>
            <a:r>
              <a:rPr sz="1400" b="1">
                <a:solidFill>
                  <a:srgbClr val="1F4690"/>
                </a:solidFill>
                <a:latin typeface="Calibri"/>
              </a:rPr>
              <a:t>SAARTHI Total Score: </a:t>
            </a:r>
          </a:p>
        </p:txBody>
      </p:sp>
      <p:sp>
        <p:nvSpPr>
          <p:cNvPr id="18" name="Rectangle 17"/>
          <p:cNvSpPr/>
          <p:nvPr/>
        </p:nvSpPr>
        <p:spPr>
          <a:xfrm>
            <a:off x="3108960" y="1371600"/>
            <a:ext cx="1645920" cy="2743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08960" y="1371600"/>
            <a:ext cx="1645920" cy="274320"/>
          </a:xfrm>
          <a:prstGeom prst="rect">
            <a:avLst/>
          </a:prstGeom>
          <a:noFill/>
        </p:spPr>
        <p:txBody>
          <a:bodyPr wrap="square" lIns="45720" rIns="45720" tIns="18288" bIns="18288">
            <a:spAutoFit/>
          </a:bodyPr>
          <a:lstStyle/>
          <a:p>
            <a:pPr algn="ctr"/>
            <a:r>
              <a:rPr sz="1000" b="1">
                <a:solidFill>
                  <a:srgbClr val="FFFFFF"/>
                </a:solidFill>
                <a:latin typeface="Calibri"/>
              </a:rPr>
              <a:t>BUY RANGE</a:t>
            </a:r>
          </a:p>
        </p:txBody>
      </p:sp>
      <p:graphicFrame>
        <p:nvGraphicFramePr>
          <p:cNvPr id="20" name="Table 19"/>
          <p:cNvGraphicFramePr>
            <a:graphicFrameLocks noGrp="1"/>
          </p:cNvGraphicFramePr>
          <p:nvPr/>
        </p:nvGraphicFramePr>
        <p:xfrm>
          <a:off x="457200" y="2057400"/>
          <a:ext cx="11277295" cy="3154680"/>
        </p:xfrm>
        <a:graphic>
          <a:graphicData uri="http://schemas.openxmlformats.org/drawingml/2006/table">
            <a:tbl>
              <a:tblPr firstRow="1" bandRow="1">
                <a:tableStyleId>{5C22544A-7EE6-4342-B048-85BDC9FD1C3A}</a:tableStyleId>
              </a:tblPr>
              <a:tblGrid>
                <a:gridCol w="731520"/>
                <a:gridCol w="2743200"/>
                <a:gridCol w="914400"/>
                <a:gridCol w="6888175"/>
              </a:tblGrid>
              <a:tr h="394335">
                <a:tc>
                  <a:txBody>
                    <a:bodyPr/>
                    <a:lstStyle/>
                    <a:p>
                      <a:pPr algn="l">
                        <a:defRPr sz="900" b="1">
                          <a:solidFill>
                            <a:srgbClr val="FFFFFF"/>
                          </a:solidFill>
                          <a:latin typeface="Calibri"/>
                        </a:defRPr>
                      </a:pPr>
                      <a:r>
                        <a:t>Code</a:t>
                      </a:r>
                    </a:p>
                  </a:txBody>
                  <a:tcPr marL="36576" marR="36576" marT="18288" marB="18288">
                    <a:solidFill>
                      <a:srgbClr val="1F4690"/>
                    </a:solidFill>
                  </a:tcPr>
                </a:tc>
                <a:tc>
                  <a:txBody>
                    <a:bodyPr/>
                    <a:lstStyle/>
                    <a:p>
                      <a:pPr algn="l">
                        <a:defRPr sz="900" b="1">
                          <a:solidFill>
                            <a:srgbClr val="FFFFFF"/>
                          </a:solidFill>
                          <a:latin typeface="Calibri"/>
                        </a:defRPr>
                      </a:pPr>
                      <a:r>
                        <a:t>Dimension</a:t>
                      </a:r>
                    </a:p>
                  </a:txBody>
                  <a:tcPr marL="36576" marR="36576" marT="18288" marB="18288">
                    <a:solidFill>
                      <a:srgbClr val="1F4690"/>
                    </a:solidFill>
                  </a:tcPr>
                </a:tc>
                <a:tc>
                  <a:txBody>
                    <a:bodyPr/>
                    <a:lstStyle/>
                    <a:p>
                      <a:pPr algn="r">
                        <a:defRPr sz="900" b="1">
                          <a:solidFill>
                            <a:srgbClr val="FFFFFF"/>
                          </a:solidFill>
                          <a:latin typeface="Calibri"/>
                        </a:defRPr>
                      </a:pPr>
                      <a:r>
                        <a:t>Score</a:t>
                      </a:r>
                    </a:p>
                  </a:txBody>
                  <a:tcPr marL="36576" marR="36576" marT="18288" marB="18288">
                    <a:solidFill>
                      <a:srgbClr val="1F4690"/>
                    </a:solidFill>
                  </a:tcPr>
                </a:tc>
                <a:tc>
                  <a:txBody>
                    <a:bodyPr/>
                    <a:lstStyle/>
                    <a:p>
                      <a:pPr algn="l">
                        <a:defRPr sz="900" b="1">
                          <a:solidFill>
                            <a:srgbClr val="FFFFFF"/>
                          </a:solidFill>
                          <a:latin typeface="Calibri"/>
                        </a:defRPr>
                      </a:pPr>
                      <a:r>
                        <a:t>Evidence</a:t>
                      </a:r>
                    </a:p>
                  </a:txBody>
                  <a:tcPr marL="36576" marR="36576" marT="18288" marB="18288">
                    <a:solidFill>
                      <a:srgbClr val="1F4690"/>
                    </a:solidFill>
                  </a:tcPr>
                </a:tc>
              </a:tr>
              <a:tr h="394335">
                <a:tc>
                  <a:txBody>
                    <a:bodyPr/>
                    <a:lstStyle/>
                    <a:p>
                      <a:pPr algn="l">
                        <a:defRPr sz="900" b="1">
                          <a:solidFill>
                            <a:srgbClr val="111111"/>
                          </a:solidFill>
                          <a:latin typeface="Calibri"/>
                        </a:defRPr>
                      </a:pPr>
                      <a:r>
                        <a:t>S</a:t>
                      </a:r>
                    </a:p>
                  </a:txBody>
                  <a:tcPr marL="36576" marR="36576" marT="18288" marB="18288">
                    <a:solidFill>
                      <a:srgbClr val="F4F6F9"/>
                    </a:solidFill>
                  </a:tcPr>
                </a:tc>
                <a:tc>
                  <a:txBody>
                    <a:bodyPr/>
                    <a:lstStyle/>
                    <a:p>
                      <a:pPr algn="l">
                        <a:defRPr sz="900" b="1">
                          <a:solidFill>
                            <a:srgbClr val="111111"/>
                          </a:solidFill>
                          <a:latin typeface="Calibri"/>
                        </a:defRPr>
                      </a:pPr>
                      <a:r>
                        <a:t>Scalability of Core Engine</a:t>
                      </a:r>
                    </a:p>
                  </a:txBody>
                  <a:tcPr marL="36576" marR="36576" marT="18288" marB="18288">
                    <a:solidFill>
                      <a:srgbClr val="F4F6F9"/>
                    </a:solidFill>
                  </a:tcPr>
                </a:tc>
                <a:tc>
                  <a:txBody>
                    <a:bodyPr/>
                    <a:lstStyle/>
                    <a:p>
                      <a:pPr algn="r">
                        <a:defRPr sz="900" b="1">
                          <a:solidFill>
                            <a:srgbClr val="1A7A4A"/>
                          </a:solidFill>
                          <a:latin typeface="Calibri"/>
                        </a:defRPr>
                      </a:pPr>
                      <a:r>
                        <a:t>12/15</a:t>
                      </a:r>
                    </a:p>
                  </a:txBody>
                  <a:tcPr marL="36576" marR="36576" marT="18288" marB="18288">
                    <a:solidFill>
                      <a:srgbClr val="F4F6F9"/>
                    </a:solidFill>
                  </a:tcPr>
                </a:tc>
                <a:tc>
                  <a:txBody>
                    <a:bodyPr/>
                    <a:lstStyle/>
                    <a:p>
                      <a:pPr algn="l">
                        <a:defRPr sz="800" b="0">
                          <a:solidFill>
                            <a:srgbClr val="111111"/>
                          </a:solidFill>
                          <a:latin typeface="Calibri"/>
                        </a:defRPr>
                      </a:pPr>
                      <a:r>
                        <a:t>AMC AUM +33% YoY to INR 1.89L Cr with INR 11,610 Cr net flows.</a:t>
                      </a:r>
                    </a:p>
                  </a:txBody>
                  <a:tcPr marL="36576" marR="36576" marT="18288" marB="18288">
                    <a:solidFill>
                      <a:srgbClr val="F4F6F9"/>
                    </a:solidFill>
                  </a:tcPr>
                </a:tc>
              </a:tr>
              <a:tr h="394335">
                <a:tc>
                  <a:txBody>
                    <a:bodyPr/>
                    <a:lstStyle/>
                    <a:p>
                      <a:pPr algn="l">
                        <a:defRPr sz="900" b="1">
                          <a:solidFill>
                            <a:srgbClr val="111111"/>
                          </a:solidFill>
                          <a:latin typeface="Calibri"/>
                        </a:defRPr>
                      </a:pPr>
                      <a:r>
                        <a:t>A1</a:t>
                      </a:r>
                    </a:p>
                  </a:txBody>
                  <a:tcPr marL="36576" marR="36576" marT="18288" marB="18288">
                    <a:solidFill>
                      <a:srgbClr val="FFFFFF"/>
                    </a:solidFill>
                  </a:tcPr>
                </a:tc>
                <a:tc>
                  <a:txBody>
                    <a:bodyPr/>
                    <a:lstStyle/>
                    <a:p>
                      <a:pPr algn="l">
                        <a:defRPr sz="900" b="1">
                          <a:solidFill>
                            <a:srgbClr val="111111"/>
                          </a:solidFill>
                          <a:latin typeface="Calibri"/>
                        </a:defRPr>
                      </a:pPr>
                      <a:r>
                        <a:t>Addressable Market &amp; Adjacency</a:t>
                      </a:r>
                    </a:p>
                  </a:txBody>
                  <a:tcPr marL="36576" marR="36576" marT="18288" marB="18288">
                    <a:solidFill>
                      <a:srgbClr val="FFFFFF"/>
                    </a:solidFill>
                  </a:tcPr>
                </a:tc>
                <a:tc>
                  <a:txBody>
                    <a:bodyPr/>
                    <a:lstStyle/>
                    <a:p>
                      <a:pPr algn="r">
                        <a:defRPr sz="900" b="1">
                          <a:solidFill>
                            <a:srgbClr val="1F4690"/>
                          </a:solidFill>
                          <a:latin typeface="Calibri"/>
                        </a:defRPr>
                      </a:pPr>
                      <a:r>
                        <a:t>9/10</a:t>
                      </a:r>
                    </a:p>
                  </a:txBody>
                  <a:tcPr marL="36576" marR="36576" marT="18288" marB="18288">
                    <a:solidFill>
                      <a:srgbClr val="FFFFFF"/>
                    </a:solidFill>
                  </a:tcPr>
                </a:tc>
                <a:tc>
                  <a:txBody>
                    <a:bodyPr/>
                    <a:lstStyle/>
                    <a:p>
                      <a:pPr algn="l">
                        <a:defRPr sz="800" b="0">
                          <a:solidFill>
                            <a:srgbClr val="111111"/>
                          </a:solidFill>
                          <a:latin typeface="Calibri"/>
                        </a:defRPr>
                      </a:pPr>
                      <a:r>
                        <a:t>India private credit hit USD 9.0 Bn in H1 2025 (+53% YoY).</a:t>
                      </a:r>
                    </a:p>
                  </a:txBody>
                  <a:tcPr marL="36576" marR="36576" marT="18288" marB="18288">
                    <a:solidFill>
                      <a:srgbClr val="FFFFFF"/>
                    </a:solidFill>
                  </a:tcPr>
                </a:tc>
              </a:tr>
              <a:tr h="394335">
                <a:tc>
                  <a:txBody>
                    <a:bodyPr/>
                    <a:lstStyle/>
                    <a:p>
                      <a:pPr algn="l">
                        <a:defRPr sz="900" b="1">
                          <a:solidFill>
                            <a:srgbClr val="111111"/>
                          </a:solidFill>
                          <a:latin typeface="Calibri"/>
                        </a:defRPr>
                      </a:pPr>
                      <a:r>
                        <a:t>A2</a:t>
                      </a:r>
                    </a:p>
                  </a:txBody>
                  <a:tcPr marL="36576" marR="36576" marT="18288" marB="18288">
                    <a:solidFill>
                      <a:srgbClr val="F4F6F9"/>
                    </a:solidFill>
                  </a:tcPr>
                </a:tc>
                <a:tc>
                  <a:txBody>
                    <a:bodyPr/>
                    <a:lstStyle/>
                    <a:p>
                      <a:pPr algn="l">
                        <a:defRPr sz="900" b="1">
                          <a:solidFill>
                            <a:srgbClr val="111111"/>
                          </a:solidFill>
                          <a:latin typeface="Calibri"/>
                        </a:defRPr>
                      </a:pPr>
                      <a:r>
                        <a:t>Asymmetric Pricing Power</a:t>
                      </a:r>
                    </a:p>
                  </a:txBody>
                  <a:tcPr marL="36576" marR="36576" marT="18288" marB="18288">
                    <a:solidFill>
                      <a:srgbClr val="F4F6F9"/>
                    </a:solidFill>
                  </a:tcPr>
                </a:tc>
                <a:tc>
                  <a:txBody>
                    <a:bodyPr/>
                    <a:lstStyle/>
                    <a:p>
                      <a:pPr algn="r">
                        <a:defRPr sz="900" b="1">
                          <a:solidFill>
                            <a:srgbClr val="1F4690"/>
                          </a:solidFill>
                          <a:latin typeface="Calibri"/>
                        </a:defRPr>
                      </a:pPr>
                      <a:r>
                        <a:t>10/15</a:t>
                      </a:r>
                    </a:p>
                  </a:txBody>
                  <a:tcPr marL="36576" marR="36576" marT="18288" marB="18288">
                    <a:solidFill>
                      <a:srgbClr val="F4F6F9"/>
                    </a:solidFill>
                  </a:tcPr>
                </a:tc>
                <a:tc>
                  <a:txBody>
                    <a:bodyPr/>
                    <a:lstStyle/>
                    <a:p>
                      <a:pPr algn="l">
                        <a:defRPr sz="800" b="0">
                          <a:solidFill>
                            <a:srgbClr val="111111"/>
                          </a:solidFill>
                          <a:latin typeface="Calibri"/>
                        </a:defRPr>
                      </a:pPr>
                      <a:r>
                        <a:t>Diversified mix offset 24% brokerage decline, validating partial pricing-power hedge.</a:t>
                      </a:r>
                    </a:p>
                  </a:txBody>
                  <a:tcPr marL="36576" marR="36576" marT="18288" marB="18288">
                    <a:solidFill>
                      <a:srgbClr val="F4F6F9"/>
                    </a:solidFill>
                  </a:tcPr>
                </a:tc>
              </a:tr>
              <a:tr h="394335">
                <a:tc>
                  <a:txBody>
                    <a:bodyPr/>
                    <a:lstStyle/>
                    <a:p>
                      <a:pPr algn="l">
                        <a:defRPr sz="900" b="1">
                          <a:solidFill>
                            <a:srgbClr val="111111"/>
                          </a:solidFill>
                          <a:latin typeface="Calibri"/>
                        </a:defRPr>
                      </a:pPr>
                      <a:r>
                        <a:t>R</a:t>
                      </a:r>
                    </a:p>
                  </a:txBody>
                  <a:tcPr marL="36576" marR="36576" marT="18288" marB="18288">
                    <a:solidFill>
                      <a:srgbClr val="FFFFFF"/>
                    </a:solidFill>
                  </a:tcPr>
                </a:tc>
                <a:tc>
                  <a:txBody>
                    <a:bodyPr/>
                    <a:lstStyle/>
                    <a:p>
                      <a:pPr algn="l">
                        <a:defRPr sz="900" b="1">
                          <a:solidFill>
                            <a:srgbClr val="111111"/>
                          </a:solidFill>
                          <a:latin typeface="Calibri"/>
                        </a:defRPr>
                      </a:pPr>
                      <a:r>
                        <a:t>Reinvestment Quality</a:t>
                      </a:r>
                    </a:p>
                  </a:txBody>
                  <a:tcPr marL="36576" marR="36576" marT="18288" marB="18288">
                    <a:solidFill>
                      <a:srgbClr val="FFFFFF"/>
                    </a:solidFill>
                  </a:tcPr>
                </a:tc>
                <a:tc>
                  <a:txBody>
                    <a:bodyPr/>
                    <a:lstStyle/>
                    <a:p>
                      <a:pPr algn="r">
                        <a:defRPr sz="900" b="1">
                          <a:solidFill>
                            <a:srgbClr val="1A7A4A"/>
                          </a:solidFill>
                          <a:latin typeface="Calibri"/>
                        </a:defRPr>
                      </a:pPr>
                      <a:r>
                        <a:t>13/15</a:t>
                      </a:r>
                    </a:p>
                  </a:txBody>
                  <a:tcPr marL="36576" marR="36576" marT="18288" marB="18288">
                    <a:solidFill>
                      <a:srgbClr val="FFFFFF"/>
                    </a:solidFill>
                  </a:tcPr>
                </a:tc>
                <a:tc>
                  <a:txBody>
                    <a:bodyPr/>
                    <a:lstStyle/>
                    <a:p>
                      <a:pPr algn="l">
                        <a:defRPr sz="800" b="0">
                          <a:solidFill>
                            <a:srgbClr val="111111"/>
                          </a:solidFill>
                          <a:latin typeface="Calibri"/>
                        </a:defRPr>
                      </a:pPr>
                      <a:r>
                        <a:t>PWM AUM +31% YoY to INR 1.96L Cr; family count +41%; PAT +14% (9M).</a:t>
                      </a:r>
                    </a:p>
                  </a:txBody>
                  <a:tcPr marL="36576" marR="36576" marT="18288" marB="18288">
                    <a:solidFill>
                      <a:srgbClr val="FFFFFF"/>
                    </a:solidFill>
                  </a:tcPr>
                </a:tc>
              </a:tr>
              <a:tr h="394335">
                <a:tc>
                  <a:txBody>
                    <a:bodyPr/>
                    <a:lstStyle/>
                    <a:p>
                      <a:pPr algn="l">
                        <a:defRPr sz="900" b="1">
                          <a:solidFill>
                            <a:srgbClr val="111111"/>
                          </a:solidFill>
                          <a:latin typeface="Calibri"/>
                        </a:defRPr>
                      </a:pPr>
                      <a:r>
                        <a:t>T</a:t>
                      </a:r>
                    </a:p>
                  </a:txBody>
                  <a:tcPr marL="36576" marR="36576" marT="18288" marB="18288">
                    <a:solidFill>
                      <a:srgbClr val="F4F6F9"/>
                    </a:solidFill>
                  </a:tcPr>
                </a:tc>
                <a:tc>
                  <a:txBody>
                    <a:bodyPr/>
                    <a:lstStyle/>
                    <a:p>
                      <a:pPr algn="l">
                        <a:defRPr sz="900" b="1">
                          <a:solidFill>
                            <a:srgbClr val="111111"/>
                          </a:solidFill>
                          <a:latin typeface="Calibri"/>
                        </a:defRPr>
                      </a:pPr>
                      <a:r>
                        <a:t>Track Record Through Adversity</a:t>
                      </a:r>
                    </a:p>
                  </a:txBody>
                  <a:tcPr marL="36576" marR="36576" marT="18288" marB="18288">
                    <a:solidFill>
                      <a:srgbClr val="F4F6F9"/>
                    </a:solidFill>
                  </a:tcPr>
                </a:tc>
                <a:tc>
                  <a:txBody>
                    <a:bodyPr/>
                    <a:lstStyle/>
                    <a:p>
                      <a:pPr algn="r">
                        <a:defRPr sz="900" b="1">
                          <a:solidFill>
                            <a:srgbClr val="B91C1C"/>
                          </a:solidFill>
                          <a:latin typeface="Calibri"/>
                        </a:defRPr>
                      </a:pPr>
                      <a:r>
                        <a:t>8/10</a:t>
                      </a:r>
                    </a:p>
                  </a:txBody>
                  <a:tcPr marL="36576" marR="36576" marT="18288" marB="18288">
                    <a:solidFill>
                      <a:srgbClr val="F4F6F9"/>
                    </a:solidFill>
                  </a:tcPr>
                </a:tc>
                <a:tc>
                  <a:txBody>
                    <a:bodyPr/>
                    <a:lstStyle/>
                    <a:p>
                      <a:pPr algn="l">
                        <a:defRPr sz="800" b="0">
                          <a:solidFill>
                            <a:srgbClr val="111111"/>
                          </a:solidFill>
                          <a:latin typeface="Calibri"/>
                        </a:defRPr>
                      </a:pPr>
                      <a:r>
                        <a:t>Despite repeated SEBI interventions, AUM and ARR base continue to compound — institutional resilience.</a:t>
                      </a:r>
                    </a:p>
                  </a:txBody>
                  <a:tcPr marL="36576" marR="36576" marT="18288" marB="18288">
                    <a:solidFill>
                      <a:srgbClr val="F4F6F9"/>
                    </a:solidFill>
                  </a:tcPr>
                </a:tc>
              </a:tr>
              <a:tr h="394335">
                <a:tc>
                  <a:txBody>
                    <a:bodyPr/>
                    <a:lstStyle/>
                    <a:p>
                      <a:pPr algn="l">
                        <a:defRPr sz="900" b="1">
                          <a:solidFill>
                            <a:srgbClr val="111111"/>
                          </a:solidFill>
                          <a:latin typeface="Calibri"/>
                        </a:defRPr>
                      </a:pPr>
                      <a:r>
                        <a:t>H</a:t>
                      </a:r>
                    </a:p>
                  </a:txBody>
                  <a:tcPr marL="36576" marR="36576" marT="18288" marB="18288">
                    <a:solidFill>
                      <a:srgbClr val="FFFFFF"/>
                    </a:solidFill>
                  </a:tcPr>
                </a:tc>
                <a:tc>
                  <a:txBody>
                    <a:bodyPr/>
                    <a:lstStyle/>
                    <a:p>
                      <a:pPr algn="l">
                        <a:defRPr sz="900" b="1">
                          <a:solidFill>
                            <a:srgbClr val="111111"/>
                          </a:solidFill>
                          <a:latin typeface="Calibri"/>
                        </a:defRPr>
                      </a:pPr>
                      <a:r>
                        <a:t>Human Capital &amp; Institutional DNA</a:t>
                      </a:r>
                    </a:p>
                  </a:txBody>
                  <a:tcPr marL="36576" marR="36576" marT="18288" marB="18288">
                    <a:solidFill>
                      <a:srgbClr val="FFFFFF"/>
                    </a:solidFill>
                  </a:tcPr>
                </a:tc>
                <a:tc>
                  <a:txBody>
                    <a:bodyPr/>
                    <a:lstStyle/>
                    <a:p>
                      <a:pPr algn="r">
                        <a:defRPr sz="900" b="1">
                          <a:solidFill>
                            <a:srgbClr val="1F4690"/>
                          </a:solidFill>
                          <a:latin typeface="Calibri"/>
                        </a:defRPr>
                      </a:pPr>
                      <a:r>
                        <a:t>9/10</a:t>
                      </a:r>
                    </a:p>
                  </a:txBody>
                  <a:tcPr marL="36576" marR="36576" marT="18288" marB="18288">
                    <a:solidFill>
                      <a:srgbClr val="FFFFFF"/>
                    </a:solidFill>
                  </a:tcPr>
                </a:tc>
                <a:tc>
                  <a:txBody>
                    <a:bodyPr/>
                    <a:lstStyle/>
                    <a:p>
                      <a:pPr algn="l">
                        <a:defRPr sz="800" b="0">
                          <a:solidFill>
                            <a:srgbClr val="111111"/>
                          </a:solidFill>
                          <a:latin typeface="Calibri"/>
                        </a:defRPr>
                      </a:pPr>
                      <a:r>
                        <a:t>Rashtriya Samman Patra recipient (top tax-payer FY95–FY99) signals early ethical commercial success.</a:t>
                      </a:r>
                    </a:p>
                  </a:txBody>
                  <a:tcPr marL="36576" marR="36576" marT="18288" marB="18288">
                    <a:solidFill>
                      <a:srgbClr val="FFFFFF"/>
                    </a:solidFill>
                  </a:tcPr>
                </a:tc>
              </a:tr>
              <a:tr h="394335">
                <a:tc>
                  <a:txBody>
                    <a:bodyPr/>
                    <a:lstStyle/>
                    <a:p>
                      <a:pPr algn="l">
                        <a:defRPr sz="900" b="1">
                          <a:solidFill>
                            <a:srgbClr val="111111"/>
                          </a:solidFill>
                          <a:latin typeface="Calibri"/>
                        </a:defRPr>
                      </a:pPr>
                      <a:r>
                        <a:t>I</a:t>
                      </a:r>
                    </a:p>
                  </a:txBody>
                  <a:tcPr marL="36576" marR="36576" marT="18288" marB="18288">
                    <a:solidFill>
                      <a:srgbClr val="F4F6F9"/>
                    </a:solidFill>
                  </a:tcPr>
                </a:tc>
                <a:tc>
                  <a:txBody>
                    <a:bodyPr/>
                    <a:lstStyle/>
                    <a:p>
                      <a:pPr algn="l">
                        <a:defRPr sz="900" b="1">
                          <a:solidFill>
                            <a:srgbClr val="111111"/>
                          </a:solidFill>
                          <a:latin typeface="Calibri"/>
                        </a:defRPr>
                      </a:pPr>
                      <a:r>
                        <a:t>Inflection Point Identification</a:t>
                      </a:r>
                    </a:p>
                  </a:txBody>
                  <a:tcPr marL="36576" marR="36576" marT="18288" marB="18288">
                    <a:solidFill>
                      <a:srgbClr val="F4F6F9"/>
                    </a:solidFill>
                  </a:tcPr>
                </a:tc>
                <a:tc>
                  <a:txBody>
                    <a:bodyPr/>
                    <a:lstStyle/>
                    <a:p>
                      <a:pPr algn="r">
                        <a:defRPr sz="900" b="1">
                          <a:solidFill>
                            <a:srgbClr val="1F4690"/>
                          </a:solidFill>
                          <a:latin typeface="Calibri"/>
                        </a:defRPr>
                      </a:pPr>
                      <a:r>
                        <a:t>11/15</a:t>
                      </a:r>
                    </a:p>
                  </a:txBody>
                  <a:tcPr marL="36576" marR="36576" marT="18288" marB="18288">
                    <a:solidFill>
                      <a:srgbClr val="F4F6F9"/>
                    </a:solidFill>
                  </a:tcPr>
                </a:tc>
                <a:tc>
                  <a:txBody>
                    <a:bodyPr/>
                    <a:lstStyle/>
                    <a:p>
                      <a:pPr algn="l">
                        <a:defRPr sz="800" b="0">
                          <a:solidFill>
                            <a:srgbClr val="111111"/>
                          </a:solidFill>
                          <a:latin typeface="Calibri"/>
                        </a:defRPr>
                      </a:pPr>
                      <a:r>
                        <a:t>ARR at 65% of net revenues (up from 61%); management guiding higher — measurable inflection.</a:t>
                      </a:r>
                    </a:p>
                  </a:txBody>
                  <a:tcPr marL="36576" marR="36576" marT="18288" marB="18288">
                    <a:solidFill>
                      <a:srgbClr val="F4F6F9"/>
                    </a:solidFill>
                  </a:tcPr>
                </a:tc>
              </a:tr>
            </a:tbl>
          </a:graphicData>
        </a:graphic>
      </p:graphicFrame>
      <p:sp>
        <p:nvSpPr>
          <p:cNvPr id="21" name="Rectangle 20"/>
          <p:cNvSpPr/>
          <p:nvPr/>
        </p:nvSpPr>
        <p:spPr>
          <a:xfrm>
            <a:off x="457200" y="5440680"/>
            <a:ext cx="11277295" cy="91440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5488" y="5458968"/>
            <a:ext cx="11240719" cy="877824"/>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486400"/>
            <a:ext cx="11094415" cy="182880"/>
          </a:xfrm>
          <a:prstGeom prst="rect">
            <a:avLst/>
          </a:prstGeom>
          <a:noFill/>
        </p:spPr>
        <p:txBody>
          <a:bodyPr wrap="square" lIns="45720" rIns="45720" tIns="18288" bIns="18288">
            <a:spAutoFit/>
          </a:bodyPr>
          <a:lstStyle/>
          <a:p>
            <a:pPr algn="l"/>
            <a:r>
              <a:rPr sz="1000" b="1">
                <a:solidFill>
                  <a:srgbClr val="1F4690"/>
                </a:solidFill>
                <a:latin typeface="Calibri"/>
              </a:rPr>
              <a:t>SAARTHI Conviction Statement</a:t>
            </a:r>
          </a:p>
        </p:txBody>
      </p:sp>
      <p:sp>
        <p:nvSpPr>
          <p:cNvPr id="24" name="TextBox 23"/>
          <p:cNvSpPr txBox="1"/>
          <p:nvPr/>
        </p:nvSpPr>
        <p:spPr>
          <a:xfrm>
            <a:off x="548640" y="5669280"/>
            <a:ext cx="11094415" cy="640080"/>
          </a:xfrm>
          <a:prstGeom prst="rect">
            <a:avLst/>
          </a:prstGeom>
          <a:noFill/>
        </p:spPr>
        <p:txBody>
          <a:bodyPr wrap="square" lIns="45720" rIns="45720" tIns="18288" bIns="18288">
            <a:spAutoFit/>
          </a:bodyPr>
          <a:lstStyle/>
          <a:p>
            <a:pPr algn="l"/>
            <a:r>
              <a:rPr sz="800" b="0">
                <a:solidFill>
                  <a:srgbClr val="111111"/>
                </a:solidFill>
                <a:latin typeface="Calibri"/>
              </a:rPr>
              <a:t>Proprietary 7-dimension framework. Overall score 72/100 (BUY (70-84 range)).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Motilal Oswal Financial Services Ltd At A Glance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Motilal Oswal Financial Services Ltd At A Glance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9" name="Rounded Rectangle 18"/>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20" name="Rounded Rectangle 19"/>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1" name="Rounded Rectangle 20"/>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Highlights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Highlights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9" name="TextBox 18"/>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Revenue Trend</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Revenue Trend</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Revenue trajectory across the forecast period reflects mix shift and AUM scale-up.</a:t>
            </a:r>
          </a:p>
        </p:txBody>
      </p:sp>
      <p:pic>
        <p:nvPicPr>
          <p:cNvPr id="19" name="Picture 18"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Annual Financial Summary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Annual Financial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200">
                          <a:solidFill>
                            <a:srgbClr val="FFFFFF"/>
                          </a:solidFill>
                          <a:latin typeface="Calibri"/>
                        </a:rPr>
                        <a:t>Period</a:t>
                      </a:r>
                    </a:p>
                  </a:txBody>
                  <a:tcPr marL="36576" marR="36576" marT="18288" marB="18288">
                    <a:solidFill>
                      <a:srgbClr val="1F4690"/>
                    </a:solidFill>
                  </a:tcPr>
                </a:tc>
                <a:tc>
                  <a:txBody>
                    <a:bodyPr/>
                    <a:lstStyle/>
                    <a:p>
                      <a:pPr algn="r"/>
                      <a:r>
                        <a:rPr b="1" sz="1200">
                          <a:solidFill>
                            <a:srgbClr val="FFFFFF"/>
                          </a:solidFill>
                          <a:latin typeface="Calibri"/>
                        </a:rPr>
                        <a:t>Revenue</a:t>
                      </a:r>
                    </a:p>
                  </a:txBody>
                  <a:tcPr marL="36576" marR="36576" marT="18288" marB="18288">
                    <a:solidFill>
                      <a:srgbClr val="1F4690"/>
                    </a:solidFill>
                  </a:tcPr>
                </a:tc>
              </a:tr>
              <a:tr h="628650">
                <a:tc>
                  <a:txBody>
                    <a:bodyPr/>
                    <a:lstStyle/>
                    <a:p>
                      <a:r>
                        <a:rPr sz="1200" b="1">
                          <a:solidFill>
                            <a:srgbClr val="5A6573"/>
                          </a:solidFill>
                          <a:latin typeface="Calibri"/>
                        </a:rPr>
                        <a:t>FY22A</a:t>
                      </a:r>
                    </a:p>
                  </a:txBody>
                  <a:tcPr marL="36576" marR="36576" marT="18288" marB="18288">
                    <a:solidFill>
                      <a:srgbClr val="F4F6F9"/>
                    </a:solidFill>
                  </a:tcPr>
                </a:tc>
                <a:tc>
                  <a:txBody>
                    <a:bodyPr/>
                    <a:lstStyle/>
                    <a:p>
                      <a:pPr algn="r"/>
                      <a:r>
                        <a:rPr sz="1200">
                          <a:solidFill>
                            <a:srgbClr val="111111"/>
                          </a:solidFill>
                          <a:latin typeface="Calibri"/>
                        </a:rPr>
                        <a:t>₹4,298.0 Cr</a:t>
                      </a:r>
                    </a:p>
                  </a:txBody>
                  <a:tcPr marL="36576" marR="36576" marT="18288" marB="18288">
                    <a:solidFill>
                      <a:srgbClr val="F4F6F9"/>
                    </a:solidFill>
                  </a:tcPr>
                </a:tc>
              </a:tr>
              <a:tr h="628650">
                <a:tc>
                  <a:txBody>
                    <a:bodyPr/>
                    <a:lstStyle/>
                    <a:p>
                      <a:r>
                        <a:rPr sz="1200" b="1">
                          <a:solidFill>
                            <a:srgbClr val="5A6573"/>
                          </a:solidFill>
                          <a:latin typeface="Calibri"/>
                        </a:rPr>
                        <a:t>FY23A</a:t>
                      </a:r>
                    </a:p>
                  </a:txBody>
                  <a:tcPr marL="36576" marR="36576" marT="18288" marB="18288">
                    <a:solidFill>
                      <a:srgbClr val="FFFFFF"/>
                    </a:solidFill>
                  </a:tcPr>
                </a:tc>
                <a:tc>
                  <a:txBody>
                    <a:bodyPr/>
                    <a:lstStyle/>
                    <a:p>
                      <a:pPr algn="r"/>
                      <a:r>
                        <a:rPr sz="1200">
                          <a:solidFill>
                            <a:srgbClr val="111111"/>
                          </a:solidFill>
                          <a:latin typeface="Calibri"/>
                        </a:rPr>
                        <a:t>₹4,178.0 Cr</a:t>
                      </a:r>
                    </a:p>
                  </a:txBody>
                  <a:tcPr marL="36576" marR="36576" marT="18288" marB="18288">
                    <a:solidFill>
                      <a:srgbClr val="FFFFFF"/>
                    </a:solidFill>
                  </a:tcPr>
                </a:tc>
              </a:tr>
              <a:tr h="628650">
                <a:tc>
                  <a:txBody>
                    <a:bodyPr/>
                    <a:lstStyle/>
                    <a:p>
                      <a:r>
                        <a:rPr sz="1200" b="1">
                          <a:solidFill>
                            <a:srgbClr val="5A6573"/>
                          </a:solidFill>
                          <a:latin typeface="Calibri"/>
                        </a:rPr>
                        <a:t>FY24A</a:t>
                      </a:r>
                    </a:p>
                  </a:txBody>
                  <a:tcPr marL="36576" marR="36576" marT="18288" marB="18288">
                    <a:solidFill>
                      <a:srgbClr val="F4F6F9"/>
                    </a:solidFill>
                  </a:tcPr>
                </a:tc>
                <a:tc>
                  <a:txBody>
                    <a:bodyPr/>
                    <a:lstStyle/>
                    <a:p>
                      <a:pPr algn="r"/>
                      <a:r>
                        <a:rPr sz="1200">
                          <a:solidFill>
                            <a:srgbClr val="111111"/>
                          </a:solidFill>
                          <a:latin typeface="Calibri"/>
                        </a:rPr>
                        <a:t>₹7,106.0 Cr</a:t>
                      </a:r>
                    </a:p>
                  </a:txBody>
                  <a:tcPr marL="36576" marR="36576" marT="18288" marB="18288">
                    <a:solidFill>
                      <a:srgbClr val="F4F6F9"/>
                    </a:solidFill>
                  </a:tcPr>
                </a:tc>
              </a:tr>
              <a:tr h="628650">
                <a:tc>
                  <a:txBody>
                    <a:bodyPr/>
                    <a:lstStyle/>
                    <a:p>
                      <a:r>
                        <a:rPr sz="1200" b="1">
                          <a:solidFill>
                            <a:srgbClr val="5A6573"/>
                          </a:solidFill>
                          <a:latin typeface="Calibri"/>
                        </a:rPr>
                        <a:t>FY25A</a:t>
                      </a:r>
                    </a:p>
                  </a:txBody>
                  <a:tcPr marL="36576" marR="36576" marT="18288" marB="18288">
                    <a:solidFill>
                      <a:srgbClr val="FFFFFF"/>
                    </a:solidFill>
                  </a:tcPr>
                </a:tc>
                <a:tc>
                  <a:txBody>
                    <a:bodyPr/>
                    <a:lstStyle/>
                    <a:p>
                      <a:pPr algn="r"/>
                      <a:r>
                        <a:rPr sz="1200">
                          <a:solidFill>
                            <a:srgbClr val="111111"/>
                          </a:solidFill>
                          <a:latin typeface="Calibri"/>
                        </a:rPr>
                        <a:t>₹8,340.0 Cr</a:t>
                      </a:r>
                    </a:p>
                  </a:txBody>
                  <a:tcPr marL="36576" marR="36576" marT="18288" marB="18288">
                    <a:solidFill>
                      <a:srgbClr val="FFFFFF"/>
                    </a:solidFill>
                  </a:tcPr>
                </a:tc>
              </a:tr>
              <a:tr h="628650">
                <a:tc>
                  <a:txBody>
                    <a:bodyPr/>
                    <a:lstStyle/>
                    <a:p>
                      <a:r>
                        <a:rPr sz="1200" b="1">
                          <a:solidFill>
                            <a:srgbClr val="5A6573"/>
                          </a:solidFill>
                          <a:latin typeface="Calibri"/>
                        </a:rPr>
                        <a:t>FY26E</a:t>
                      </a:r>
                    </a:p>
                  </a:txBody>
                  <a:tcPr marL="36576" marR="36576" marT="18288" marB="18288">
                    <a:solidFill>
                      <a:srgbClr val="F4F6F9"/>
                    </a:solidFill>
                  </a:tcPr>
                </a:tc>
                <a:tc>
                  <a:txBody>
                    <a:bodyPr/>
                    <a:lstStyle/>
                    <a:p>
                      <a:pPr algn="r"/>
                      <a:r>
                        <a:rPr sz="1200">
                          <a:solidFill>
                            <a:srgbClr val="111111"/>
                          </a:solidFill>
                          <a:latin typeface="Calibri"/>
                        </a:rPr>
                        <a:t>₹10,402.0 Cr</a:t>
                      </a:r>
                    </a:p>
                  </a:txBody>
                  <a:tcPr marL="36576" marR="36576" marT="18288" marB="18288">
                    <a:solidFill>
                      <a:srgbClr val="F4F6F9"/>
                    </a:solidFill>
                  </a:tcPr>
                </a:tc>
              </a:tr>
              <a:tr h="628650">
                <a:tc>
                  <a:txBody>
                    <a:bodyPr/>
                    <a:lstStyle/>
                    <a:p>
                      <a:r>
                        <a:rPr sz="1200" b="1">
                          <a:solidFill>
                            <a:srgbClr val="5A6573"/>
                          </a:solidFill>
                          <a:latin typeface="Calibri"/>
                        </a:rPr>
                        <a:t>FY27E</a:t>
                      </a:r>
                    </a:p>
                  </a:txBody>
                  <a:tcPr marL="36576" marR="36576" marT="18288" marB="18288">
                    <a:solidFill>
                      <a:srgbClr val="FFFFFF"/>
                    </a:solidFill>
                  </a:tcPr>
                </a:tc>
                <a:tc>
                  <a:txBody>
                    <a:bodyPr/>
                    <a:lstStyle/>
                    <a:p>
                      <a:pPr algn="r"/>
                      <a:r>
                        <a:rPr sz="1200">
                          <a:solidFill>
                            <a:srgbClr val="111111"/>
                          </a:solidFill>
                          <a:latin typeface="Calibri"/>
                        </a:rPr>
                        <a:t>₹12,973.0 Cr</a:t>
                      </a:r>
                    </a:p>
                  </a:txBody>
                  <a:tcPr marL="36576" marR="36576" marT="18288" marB="18288">
                    <a:solidFill>
                      <a:srgbClr val="FFFFFF"/>
                    </a:solidFill>
                  </a:tcPr>
                </a:tc>
              </a:tr>
              <a:tr h="628650">
                <a:tc>
                  <a:txBody>
                    <a:bodyPr/>
                    <a:lstStyle/>
                    <a:p>
                      <a:r>
                        <a:rPr sz="1200" b="1">
                          <a:solidFill>
                            <a:srgbClr val="5A6573"/>
                          </a:solidFill>
                          <a:latin typeface="Calibri"/>
                        </a:rPr>
                        <a:t>FY28E</a:t>
                      </a:r>
                    </a:p>
                  </a:txBody>
                  <a:tcPr marL="36576" marR="36576" marT="18288" marB="18288">
                    <a:solidFill>
                      <a:srgbClr val="F4F6F9"/>
                    </a:solidFill>
                  </a:tcPr>
                </a:tc>
                <a:tc>
                  <a:txBody>
                    <a:bodyPr/>
                    <a:lstStyle/>
                    <a:p>
                      <a:pPr algn="r"/>
                      <a:r>
                        <a:rPr sz="1200">
                          <a:solidFill>
                            <a:srgbClr val="111111"/>
                          </a:solidFill>
                          <a:latin typeface="Calibri"/>
                        </a:rPr>
                        <a:t>₹16,181.0 Cr</a:t>
                      </a:r>
                    </a:p>
                  </a:txBody>
                  <a:tcPr marL="36576" marR="36576" marT="18288" marB="18288">
                    <a:solidFill>
                      <a:srgbClr val="F4F6F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Quarterly Performance</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200">
                          <a:solidFill>
                            <a:srgbClr val="FFFFFF"/>
                          </a:solidFill>
                          <a:latin typeface="Calibri"/>
                        </a:rPr>
                        <a:t>Quarter</a:t>
                      </a:r>
                    </a:p>
                  </a:txBody>
                  <a:tcPr marL="36576" marR="36576" marT="18288" marB="18288">
                    <a:solidFill>
                      <a:srgbClr val="1F4690"/>
                    </a:solidFill>
                  </a:tcPr>
                </a:tc>
                <a:tc>
                  <a:txBody>
                    <a:bodyPr/>
                    <a:lstStyle/>
                    <a:p>
                      <a:pPr algn="r"/>
                      <a:r>
                        <a:rPr b="1" sz="1200">
                          <a:solidFill>
                            <a:srgbClr val="FFFFFF"/>
                          </a:solidFill>
                          <a:latin typeface="Calibri"/>
                        </a:rPr>
                        <a:t>PAT</a:t>
                      </a:r>
                    </a:p>
                  </a:txBody>
                  <a:tcPr marL="36576" marR="36576" marT="18288" marB="18288">
                    <a:solidFill>
                      <a:srgbClr val="1F4690"/>
                    </a:solidFill>
                  </a:tcPr>
                </a:tc>
              </a:tr>
              <a:tr h="708660">
                <a:tc>
                  <a:txBody>
                    <a:bodyPr/>
                    <a:lstStyle/>
                    <a:p>
                      <a:r>
                        <a:rPr sz="1200" b="1">
                          <a:solidFill>
                            <a:srgbClr val="5A6573"/>
                          </a:solidFill>
                          <a:latin typeface="Calibri"/>
                        </a:rPr>
                        <a:t>Q2FY25</a:t>
                      </a:r>
                    </a:p>
                  </a:txBody>
                  <a:tcPr marL="36576" marR="36576" marT="18288" marB="18288">
                    <a:solidFill>
                      <a:srgbClr val="F4F6F9"/>
                    </a:solidFill>
                  </a:tcPr>
                </a:tc>
                <a:tc>
                  <a:txBody>
                    <a:bodyPr/>
                    <a:lstStyle/>
                    <a:p>
                      <a:pPr algn="r"/>
                      <a:r>
                        <a:rPr sz="1200">
                          <a:solidFill>
                            <a:srgbClr val="111111"/>
                          </a:solidFill>
                          <a:latin typeface="Calibri"/>
                        </a:rPr>
                        <a:t>₹1,242.0 Cr</a:t>
                      </a:r>
                    </a:p>
                  </a:txBody>
                  <a:tcPr marL="36576" marR="36576" marT="18288" marB="18288">
                    <a:solidFill>
                      <a:srgbClr val="F4F6F9"/>
                    </a:solidFill>
                  </a:tcPr>
                </a:tc>
              </a:tr>
              <a:tr h="708660">
                <a:tc>
                  <a:txBody>
                    <a:bodyPr/>
                    <a:lstStyle/>
                    <a:p>
                      <a:r>
                        <a:rPr sz="1200" b="1">
                          <a:solidFill>
                            <a:srgbClr val="5A6573"/>
                          </a:solidFill>
                          <a:latin typeface="Calibri"/>
                        </a:rPr>
                        <a:t>Q3FY25</a:t>
                      </a:r>
                    </a:p>
                  </a:txBody>
                  <a:tcPr marL="36576" marR="36576" marT="18288" marB="18288">
                    <a:solidFill>
                      <a:srgbClr val="FFFFFF"/>
                    </a:solidFill>
                  </a:tcPr>
                </a:tc>
                <a:tc>
                  <a:txBody>
                    <a:bodyPr/>
                    <a:lstStyle/>
                    <a:p>
                      <a:pPr algn="r"/>
                      <a:r>
                        <a:rPr sz="1200">
                          <a:solidFill>
                            <a:srgbClr val="111111"/>
                          </a:solidFill>
                          <a:latin typeface="Calibri"/>
                        </a:rPr>
                        <a:t>₹715.0 Cr</a:t>
                      </a:r>
                    </a:p>
                  </a:txBody>
                  <a:tcPr marL="36576" marR="36576" marT="18288" marB="18288">
                    <a:solidFill>
                      <a:srgbClr val="FFFFFF"/>
                    </a:solidFill>
                  </a:tcPr>
                </a:tc>
              </a:tr>
              <a:tr h="708660">
                <a:tc>
                  <a:txBody>
                    <a:bodyPr/>
                    <a:lstStyle/>
                    <a:p>
                      <a:r>
                        <a:rPr sz="1200" b="1">
                          <a:solidFill>
                            <a:srgbClr val="5A6573"/>
                          </a:solidFill>
                          <a:latin typeface="Calibri"/>
                        </a:rPr>
                        <a:t>Q4FY25</a:t>
                      </a:r>
                    </a:p>
                  </a:txBody>
                  <a:tcPr marL="36576" marR="36576" marT="18288" marB="18288">
                    <a:solidFill>
                      <a:srgbClr val="F4F6F9"/>
                    </a:solidFill>
                  </a:tcPr>
                </a:tc>
                <a:tc>
                  <a:txBody>
                    <a:bodyPr/>
                    <a:lstStyle/>
                    <a:p>
                      <a:pPr algn="r"/>
                      <a:r>
                        <a:rPr sz="1200">
                          <a:solidFill>
                            <a:srgbClr val="111111"/>
                          </a:solidFill>
                          <a:latin typeface="Calibri"/>
                        </a:rPr>
                        <a:t>₹545.0 Cr</a:t>
                      </a:r>
                    </a:p>
                  </a:txBody>
                  <a:tcPr marL="36576" marR="36576" marT="18288" marB="18288">
                    <a:solidFill>
                      <a:srgbClr val="F4F6F9"/>
                    </a:solidFill>
                  </a:tcPr>
                </a:tc>
              </a:tr>
              <a:tr h="708660">
                <a:tc>
                  <a:txBody>
                    <a:bodyPr/>
                    <a:lstStyle/>
                    <a:p>
                      <a:r>
                        <a:rPr sz="1200" b="1">
                          <a:solidFill>
                            <a:srgbClr val="5A6573"/>
                          </a:solidFill>
                          <a:latin typeface="Calibri"/>
                        </a:rPr>
                        <a:t>Q1FY26</a:t>
                      </a:r>
                    </a:p>
                  </a:txBody>
                  <a:tcPr marL="36576" marR="36576" marT="18288" marB="18288">
                    <a:solidFill>
                      <a:srgbClr val="FFFFFF"/>
                    </a:solidFill>
                  </a:tcPr>
                </a:tc>
                <a:tc>
                  <a:txBody>
                    <a:bodyPr/>
                    <a:lstStyle/>
                    <a:p>
                      <a:pPr algn="r"/>
                      <a:r>
                        <a:rPr sz="1200">
                          <a:solidFill>
                            <a:srgbClr val="111111"/>
                          </a:solidFill>
                          <a:latin typeface="Calibri"/>
                        </a:rPr>
                        <a:t>₹425.0 Cr</a:t>
                      </a:r>
                    </a:p>
                  </a:txBody>
                  <a:tcPr marL="36576" marR="36576" marT="18288" marB="18288">
                    <a:solidFill>
                      <a:srgbClr val="FFFFFF"/>
                    </a:solidFill>
                  </a:tcPr>
                </a:tc>
              </a:tr>
              <a:tr h="708660">
                <a:tc>
                  <a:txBody>
                    <a:bodyPr/>
                    <a:lstStyle/>
                    <a:p>
                      <a:r>
                        <a:rPr sz="1200" b="1">
                          <a:solidFill>
                            <a:srgbClr val="5A6573"/>
                          </a:solidFill>
                          <a:latin typeface="Calibri"/>
                        </a:rPr>
                        <a:t>Q2FY26</a:t>
                      </a:r>
                    </a:p>
                  </a:txBody>
                  <a:tcPr marL="36576" marR="36576" marT="18288" marB="18288">
                    <a:solidFill>
                      <a:srgbClr val="F4F6F9"/>
                    </a:solidFill>
                  </a:tcPr>
                </a:tc>
                <a:tc>
                  <a:txBody>
                    <a:bodyPr/>
                    <a:lstStyle/>
                    <a:p>
                      <a:pPr algn="r"/>
                      <a:r>
                        <a:rPr sz="1200">
                          <a:solidFill>
                            <a:srgbClr val="111111"/>
                          </a:solidFill>
                          <a:latin typeface="Calibri"/>
                        </a:rPr>
                        <a:t>₹401.0 Cr</a:t>
                      </a:r>
                    </a:p>
                  </a:txBody>
                  <a:tcPr marL="36576" marR="36576"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Segment Mix</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Segment Mix</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200">
                          <a:solidFill>
                            <a:srgbClr val="FFFFFF"/>
                          </a:solidFill>
                          <a:latin typeface="Calibri"/>
                        </a:rPr>
                        <a:t>Segment</a:t>
                      </a:r>
                    </a:p>
                  </a:txBody>
                  <a:tcPr marL="36576" marR="36576" marT="18288" marB="18288">
                    <a:solidFill>
                      <a:srgbClr val="1F4690"/>
                    </a:solidFill>
                  </a:tcPr>
                </a:tc>
                <a:tc>
                  <a:txBody>
                    <a:bodyPr/>
                    <a:lstStyle/>
                    <a:p>
                      <a:pPr algn="r"/>
                      <a:r>
                        <a:rPr b="1" sz="1200">
                          <a:solidFill>
                            <a:srgbClr val="FFFFFF"/>
                          </a:solidFill>
                          <a:latin typeface="Calibri"/>
                        </a:rPr>
                        <a:t>Scale Metric</a:t>
                      </a:r>
                    </a:p>
                  </a:txBody>
                  <a:tcPr marL="36576" marR="36576" marT="18288" marB="18288">
                    <a:solidFill>
                      <a:srgbClr val="1F4690"/>
                    </a:solidFill>
                  </a:tcPr>
                </a:tc>
                <a:tc>
                  <a:txBody>
                    <a:bodyPr/>
                    <a:lstStyle/>
                    <a:p>
                      <a:pPr algn="r"/>
                      <a:r>
                        <a:rPr b="1" sz="1200">
                          <a:solidFill>
                            <a:srgbClr val="FFFFFF"/>
                          </a:solidFill>
                          <a:latin typeface="Calibri"/>
                        </a:rPr>
                        <a:t>Latest</a:t>
                      </a:r>
                    </a:p>
                  </a:txBody>
                  <a:tcPr marL="36576" marR="36576" marT="18288" marB="18288">
                    <a:solidFill>
                      <a:srgbClr val="1F4690"/>
                    </a:solidFill>
                  </a:tcPr>
                </a:tc>
                <a:tc>
                  <a:txBody>
                    <a:bodyPr/>
                    <a:lstStyle/>
                    <a:p>
                      <a:pPr algn="r"/>
                      <a:r>
                        <a:rPr b="1" sz="1200">
                          <a:solidFill>
                            <a:srgbClr val="FFFFFF"/>
                          </a:solidFill>
                          <a:latin typeface="Calibri"/>
                        </a:rPr>
                        <a:t>Notes</a:t>
                      </a:r>
                    </a:p>
                  </a:txBody>
                  <a:tcPr marL="36576" marR="36576" marT="18288" marB="18288">
                    <a:solidFill>
                      <a:srgbClr val="1F4690"/>
                    </a:solidFill>
                  </a:tcPr>
                </a:tc>
              </a:tr>
              <a:tr h="838200">
                <a:tc>
                  <a:txBody>
                    <a:bodyPr/>
                    <a:lstStyle/>
                    <a:p>
                      <a:r>
                        <a:rPr sz="1200" b="1">
                          <a:solidFill>
                            <a:srgbClr val="5A6573"/>
                          </a:solidFill>
                          <a:latin typeface="Calibri"/>
                        </a:rPr>
                        <a:t>Capital Markets (Broking + IB)</a:t>
                      </a:r>
                    </a:p>
                  </a:txBody>
                  <a:tcPr marL="36576" marR="36576" marT="18288" marB="18288">
                    <a:solidFill>
                      <a:srgbClr val="F4F6F9"/>
                    </a:solidFill>
                  </a:tcPr>
                </a:tc>
                <a:tc>
                  <a:txBody>
                    <a:bodyPr/>
                    <a:lstStyle/>
                    <a:p>
                      <a:pPr algn="r"/>
                      <a:r>
                        <a:rPr sz="1200">
                          <a:solidFill>
                            <a:srgbClr val="111111"/>
                          </a:solidFill>
                          <a:latin typeface="Calibri"/>
                        </a:rPr>
                        <a:t>Brokerage Rev YoY</a:t>
                      </a:r>
                    </a:p>
                  </a:txBody>
                  <a:tcPr marL="36576" marR="36576" marT="18288" marB="18288">
                    <a:solidFill>
                      <a:srgbClr val="F4F6F9"/>
                    </a:solidFill>
                  </a:tcPr>
                </a:tc>
                <a:tc>
                  <a:txBody>
                    <a:bodyPr/>
                    <a:lstStyle/>
                    <a:p>
                      <a:pPr algn="r"/>
                      <a:r>
                        <a:rPr sz="1200" b="1">
                          <a:solidFill>
                            <a:srgbClr val="B91C1C"/>
                          </a:solidFill>
                          <a:latin typeface="Calibri"/>
                        </a:rPr>
                        <a:t>-24%</a:t>
                      </a:r>
                    </a:p>
                  </a:txBody>
                  <a:tcPr marL="36576" marR="36576" marT="18288" marB="18288">
                    <a:solidFill>
                      <a:srgbClr val="F4F6F9"/>
                    </a:solidFill>
                  </a:tcPr>
                </a:tc>
                <a:tc>
                  <a:txBody>
                    <a:bodyPr/>
                    <a:lstStyle/>
                    <a:p>
                      <a:pPr algn="r"/>
                      <a:r>
                        <a:rPr sz="1200">
                          <a:solidFill>
                            <a:srgbClr val="111111"/>
                          </a:solidFill>
                          <a:latin typeface="Calibri"/>
                        </a:rPr>
                        <a:t>Equity, derivatives, commodity, currency trading + institutional services and investment banking. Brokerage now contributes only 30% of total revenue, down from historical highs.</a:t>
                      </a:r>
                    </a:p>
                  </a:txBody>
                  <a:tcPr marL="36576" marR="36576" marT="18288" marB="18288">
                    <a:solidFill>
                      <a:srgbClr val="F4F6F9"/>
                    </a:solidFill>
                  </a:tcPr>
                </a:tc>
              </a:tr>
              <a:tr h="838200">
                <a:tc>
                  <a:txBody>
                    <a:bodyPr/>
                    <a:lstStyle/>
                    <a:p>
                      <a:r>
                        <a:rPr sz="1200" b="1">
                          <a:solidFill>
                            <a:srgbClr val="5A6573"/>
                          </a:solidFill>
                          <a:latin typeface="Calibri"/>
                        </a:rPr>
                        <a:t>Asset Management</a:t>
                      </a:r>
                    </a:p>
                  </a:txBody>
                  <a:tcPr marL="36576" marR="36576" marT="18288" marB="18288">
                    <a:solidFill>
                      <a:srgbClr val="FFFFFF"/>
                    </a:solidFill>
                  </a:tcPr>
                </a:tc>
                <a:tc>
                  <a:txBody>
                    <a:bodyPr/>
                    <a:lstStyle/>
                    <a:p>
                      <a:pPr algn="r"/>
                      <a:r>
                        <a:rPr sz="1200">
                          <a:solidFill>
                            <a:srgbClr val="111111"/>
                          </a:solidFill>
                          <a:latin typeface="Calibri"/>
                        </a:rPr>
                        <a:t>AMC AUM</a:t>
                      </a:r>
                    </a:p>
                  </a:txBody>
                  <a:tcPr marL="36576" marR="36576" marT="18288" marB="18288">
                    <a:solidFill>
                      <a:srgbClr val="FFFFFF"/>
                    </a:solidFill>
                  </a:tcPr>
                </a:tc>
                <a:tc>
                  <a:txBody>
                    <a:bodyPr/>
                    <a:lstStyle/>
                    <a:p>
                      <a:pPr algn="r"/>
                      <a:r>
                        <a:rPr sz="1200">
                          <a:solidFill>
                            <a:srgbClr val="111111"/>
                          </a:solidFill>
                          <a:latin typeface="Calibri"/>
                        </a:rPr>
                        <a:t>INR 1.89L Cr (+33% YoY)</a:t>
                      </a:r>
                    </a:p>
                  </a:txBody>
                  <a:tcPr marL="36576" marR="36576" marT="18288" marB="18288">
                    <a:solidFill>
                      <a:srgbClr val="FFFFFF"/>
                    </a:solidFill>
                  </a:tcPr>
                </a:tc>
                <a:tc>
                  <a:txBody>
                    <a:bodyPr/>
                    <a:lstStyle/>
                    <a:p>
                      <a:pPr algn="r"/>
                      <a:r>
                        <a:rPr sz="1200">
                          <a:solidFill>
                            <a:srgbClr val="111111"/>
                          </a:solidFill>
                          <a:latin typeface="Calibri"/>
                        </a:rPr>
                        <a:t>Mutual funds and PMS. 91% of AUM outperforming benchmarks over 3 years.</a:t>
                      </a:r>
                    </a:p>
                  </a:txBody>
                  <a:tcPr marL="36576" marR="36576" marT="18288" marB="18288">
                    <a:solidFill>
                      <a:srgbClr val="FFFFFF"/>
                    </a:solidFill>
                  </a:tcPr>
                </a:tc>
              </a:tr>
              <a:tr h="838200">
                <a:tc>
                  <a:txBody>
                    <a:bodyPr/>
                    <a:lstStyle/>
                    <a:p>
                      <a:r>
                        <a:rPr sz="1200" b="1">
                          <a:solidFill>
                            <a:srgbClr val="5A6573"/>
                          </a:solidFill>
                          <a:latin typeface="Calibri"/>
                        </a:rPr>
                        <a:t>Private Wealth Management</a:t>
                      </a:r>
                    </a:p>
                  </a:txBody>
                  <a:tcPr marL="36576" marR="36576" marT="18288" marB="18288">
                    <a:solidFill>
                      <a:srgbClr val="F4F6F9"/>
                    </a:solidFill>
                  </a:tcPr>
                </a:tc>
                <a:tc>
                  <a:txBody>
                    <a:bodyPr/>
                    <a:lstStyle/>
                    <a:p>
                      <a:pPr algn="r"/>
                      <a:r>
                        <a:rPr sz="1200">
                          <a:solidFill>
                            <a:srgbClr val="111111"/>
                          </a:solidFill>
                          <a:latin typeface="Calibri"/>
                        </a:rPr>
                        <a:t>PWM AUM</a:t>
                      </a:r>
                    </a:p>
                  </a:txBody>
                  <a:tcPr marL="36576" marR="36576" marT="18288" marB="18288">
                    <a:solidFill>
                      <a:srgbClr val="F4F6F9"/>
                    </a:solidFill>
                  </a:tcPr>
                </a:tc>
                <a:tc>
                  <a:txBody>
                    <a:bodyPr/>
                    <a:lstStyle/>
                    <a:p>
                      <a:pPr algn="r"/>
                      <a:r>
                        <a:rPr sz="1200">
                          <a:solidFill>
                            <a:srgbClr val="111111"/>
                          </a:solidFill>
                          <a:latin typeface="Calibri"/>
                        </a:rPr>
                        <a:t>INR 1.96L Cr (+31% YoY)</a:t>
                      </a:r>
                    </a:p>
                  </a:txBody>
                  <a:tcPr marL="36576" marR="36576" marT="18288" marB="18288">
                    <a:solidFill>
                      <a:srgbClr val="F4F6F9"/>
                    </a:solidFill>
                  </a:tcPr>
                </a:tc>
                <a:tc>
                  <a:txBody>
                    <a:bodyPr/>
                    <a:lstStyle/>
                    <a:p>
                      <a:pPr algn="r"/>
                      <a:r>
                        <a:rPr sz="1200">
                          <a:solidFill>
                            <a:srgbClr val="111111"/>
                          </a:solidFill>
                          <a:latin typeface="Calibri"/>
                        </a:rPr>
                        <a:t>HNI/UHNI advisory. Family count up 41% YoY.</a:t>
                      </a:r>
                    </a:p>
                  </a:txBody>
                  <a:tcPr marL="36576" marR="36576" marT="18288" marB="18288">
                    <a:solidFill>
                      <a:srgbClr val="F4F6F9"/>
                    </a:solidFill>
                  </a:tcPr>
                </a:tc>
              </a:tr>
              <a:tr h="838200">
                <a:tc>
                  <a:txBody>
                    <a:bodyPr/>
                    <a:lstStyle/>
                    <a:p>
                      <a:r>
                        <a:rPr sz="1200" b="1">
                          <a:solidFill>
                            <a:srgbClr val="5A6573"/>
                          </a:solidFill>
                          <a:latin typeface="Calibri"/>
                        </a:rPr>
                        <a:t>Housing Finance</a:t>
                      </a:r>
                    </a:p>
                  </a:txBody>
                  <a:tcPr marL="36576" marR="36576" marT="18288" marB="18288">
                    <a:solidFill>
                      <a:srgbClr val="FFFFFF"/>
                    </a:solidFill>
                  </a:tcPr>
                </a:tc>
                <a:tc>
                  <a:txBody>
                    <a:bodyPr/>
                    <a:lstStyle/>
                    <a:p>
                      <a:pPr algn="r"/>
                      <a:r>
                        <a:rPr sz="1200">
                          <a:solidFill>
                            <a:srgbClr val="111111"/>
                          </a:solidFill>
                          <a:latin typeface="Calibri"/>
                        </a:rPr>
                        <a:t>Loan Book</a:t>
                      </a:r>
                    </a:p>
                  </a:txBody>
                  <a:tcPr marL="36576" marR="36576" marT="18288" marB="18288">
                    <a:solidFill>
                      <a:srgbClr val="FFFFFF"/>
                    </a:solidFill>
                  </a:tcPr>
                </a:tc>
                <a:tc>
                  <a:txBody>
                    <a:bodyPr/>
                    <a:lstStyle/>
                    <a:p>
                      <a:pPr algn="r"/>
                      <a:r>
                        <a:rPr sz="1200">
                          <a:solidFill>
                            <a:srgbClr val="111111"/>
                          </a:solidFill>
                          <a:latin typeface="Calibri"/>
                        </a:rPr>
                        <a:t>INR 6,630 Cr (+25% YoY)</a:t>
                      </a:r>
                    </a:p>
                  </a:txBody>
                  <a:tcPr marL="36576" marR="36576" marT="18288" marB="18288">
                    <a:solidFill>
                      <a:srgbClr val="FFFFFF"/>
                    </a:solidFill>
                  </a:tcPr>
                </a:tc>
                <a:tc>
                  <a:txBody>
                    <a:bodyPr/>
                    <a:lstStyle/>
                    <a:p>
                      <a:pPr algn="r"/>
                      <a:r>
                        <a:rPr sz="1200">
                          <a:solidFill>
                            <a:srgbClr val="111111"/>
                          </a:solidFill>
                          <a:latin typeface="Calibri"/>
                        </a:rPr>
                        <a:t>Retail mortgage lending — affordable and mid-segment.</a:t>
                      </a:r>
                    </a:p>
                  </a:txBody>
                  <a:tcPr marL="36576" marR="36576" marT="18288" marB="18288">
                    <a:solidFill>
                      <a:srgbClr val="FFFFFF"/>
                    </a:solidFill>
                  </a:tcPr>
                </a:tc>
              </a:tr>
              <a:tr h="838200">
                <a:tc>
                  <a:txBody>
                    <a:bodyPr/>
                    <a:lstStyle/>
                    <a:p>
                      <a:r>
                        <a:rPr sz="1200" b="1">
                          <a:solidFill>
                            <a:srgbClr val="5A6573"/>
                          </a:solidFill>
                          <a:latin typeface="Calibri"/>
                        </a:rPr>
                        <a:t>Alternative Investments</a:t>
                      </a:r>
                    </a:p>
                  </a:txBody>
                  <a:tcPr marL="36576" marR="36576" marT="18288" marB="18288">
                    <a:solidFill>
                      <a:srgbClr val="F4F6F9"/>
                    </a:solidFill>
                  </a:tcPr>
                </a:tc>
                <a:tc>
                  <a:txBody>
                    <a:bodyPr/>
                    <a:lstStyle/>
                    <a:p>
                      <a:pPr algn="r"/>
                      <a:r>
                        <a:rPr sz="1200">
                          <a:solidFill>
                            <a:srgbClr val="111111"/>
                          </a:solidFill>
                          <a:latin typeface="Calibri"/>
                        </a:rPr>
                        <a:t>Carry Income</a:t>
                      </a:r>
                    </a:p>
                  </a:txBody>
                  <a:tcPr marL="36576" marR="36576" marT="18288" marB="18288">
                    <a:solidFill>
                      <a:srgbClr val="F4F6F9"/>
                    </a:solidFill>
                  </a:tcPr>
                </a:tc>
                <a:tc>
                  <a:txBody>
                    <a:bodyPr/>
                    <a:lstStyle/>
                    <a:p>
                      <a:pPr algn="r"/>
                      <a:r>
                        <a:rPr sz="1200">
                          <a:solidFill>
                            <a:srgbClr val="111111"/>
                          </a:solidFill>
                          <a:latin typeface="Calibri"/>
                        </a:rPr>
                        <a:t>INR 58 Cr recurring</a:t>
                      </a:r>
                    </a:p>
                  </a:txBody>
                  <a:tcPr marL="36576" marR="36576" marT="18288" marB="18288">
                    <a:solidFill>
                      <a:srgbClr val="F4F6F9"/>
                    </a:solidFill>
                  </a:tcPr>
                </a:tc>
                <a:tc>
                  <a:txBody>
                    <a:bodyPr/>
                    <a:lstStyle/>
                    <a:p>
                      <a:pPr algn="r"/>
                      <a:r>
                        <a:rPr sz="1200">
                          <a:solidFill>
                            <a:srgbClr val="111111"/>
                          </a:solidFill>
                          <a:latin typeface="Calibri"/>
                        </a:rPr>
                        <a:t>Private credit, real estate, alternatives.</a:t>
                      </a:r>
                    </a:p>
                  </a:txBody>
                  <a:tcPr marL="36576" marR="36576" marT="18288" marB="18288">
                    <a:solidFill>
                      <a:srgbClr val="F4F6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Ratios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Ratios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9" name="Table 18"/>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000">
                          <a:solidFill>
                            <a:srgbClr val="FFFFFF"/>
                          </a:solidFill>
                          <a:latin typeface="Calibri"/>
                        </a:rPr>
                        <a:t>Ratio</a:t>
                      </a:r>
                    </a:p>
                  </a:txBody>
                  <a:tcPr marL="36576" marR="36576" marT="18288" marB="18288">
                    <a:solidFill>
                      <a:srgbClr val="1F4690"/>
                    </a:solidFill>
                  </a:tcPr>
                </a:tc>
                <a:tc>
                  <a:txBody>
                    <a:bodyPr/>
                    <a:lstStyle/>
                    <a:p>
                      <a:pPr algn="r"/>
                      <a:r>
                        <a:rPr b="1" sz="1000">
                          <a:solidFill>
                            <a:srgbClr val="FFFFFF"/>
                          </a:solidFill>
                          <a:latin typeface="Calibri"/>
                        </a:rPr>
                        <a:t>FY22A</a:t>
                      </a:r>
                    </a:p>
                  </a:txBody>
                  <a:tcPr marL="36576" marR="36576" marT="18288" marB="18288">
                    <a:solidFill>
                      <a:srgbClr val="1F4690"/>
                    </a:solidFill>
                  </a:tcPr>
                </a:tc>
                <a:tc>
                  <a:txBody>
                    <a:bodyPr/>
                    <a:lstStyle/>
                    <a:p>
                      <a:pPr algn="r"/>
                      <a:r>
                        <a:rPr b="1" sz="1000">
                          <a:solidFill>
                            <a:srgbClr val="FFFFFF"/>
                          </a:solidFill>
                          <a:latin typeface="Calibri"/>
                        </a:rPr>
                        <a:t>FY23A</a:t>
                      </a:r>
                    </a:p>
                  </a:txBody>
                  <a:tcPr marL="36576" marR="36576" marT="18288" marB="18288">
                    <a:solidFill>
                      <a:srgbClr val="1F4690"/>
                    </a:solidFill>
                  </a:tcPr>
                </a:tc>
                <a:tc>
                  <a:txBody>
                    <a:bodyPr/>
                    <a:lstStyle/>
                    <a:p>
                      <a:pPr algn="r"/>
                      <a:r>
                        <a:rPr b="1" sz="1000">
                          <a:solidFill>
                            <a:srgbClr val="FFFFFF"/>
                          </a:solidFill>
                          <a:latin typeface="Calibri"/>
                        </a:rPr>
                        <a:t>FY24A</a:t>
                      </a:r>
                    </a:p>
                  </a:txBody>
                  <a:tcPr marL="36576" marR="36576" marT="18288" marB="18288">
                    <a:solidFill>
                      <a:srgbClr val="1F4690"/>
                    </a:solidFill>
                  </a:tcPr>
                </a:tc>
                <a:tc>
                  <a:txBody>
                    <a:bodyPr/>
                    <a:lstStyle/>
                    <a:p>
                      <a:pPr algn="r"/>
                      <a:r>
                        <a:rPr b="1" sz="1000">
                          <a:solidFill>
                            <a:srgbClr val="FFFFFF"/>
                          </a:solidFill>
                          <a:latin typeface="Calibri"/>
                        </a:rPr>
                        <a:t>FY25A</a:t>
                      </a:r>
                    </a:p>
                  </a:txBody>
                  <a:tcPr marL="36576" marR="36576" marT="18288" marB="18288">
                    <a:solidFill>
                      <a:srgbClr val="1F4690"/>
                    </a:solidFill>
                  </a:tcPr>
                </a:tc>
                <a:tc>
                  <a:txBody>
                    <a:bodyPr/>
                    <a:lstStyle/>
                    <a:p>
                      <a:pPr algn="r"/>
                      <a:r>
                        <a:rPr b="1" sz="1000">
                          <a:solidFill>
                            <a:srgbClr val="FFFFFF"/>
                          </a:solidFill>
                          <a:latin typeface="Calibri"/>
                        </a:rPr>
                        <a:t>FY26E</a:t>
                      </a:r>
                    </a:p>
                  </a:txBody>
                  <a:tcPr marL="36576" marR="36576" marT="18288" marB="18288">
                    <a:solidFill>
                      <a:srgbClr val="1F4690"/>
                    </a:solidFill>
                  </a:tcPr>
                </a:tc>
                <a:tc>
                  <a:txBody>
                    <a:bodyPr/>
                    <a:lstStyle/>
                    <a:p>
                      <a:pPr algn="r"/>
                      <a:r>
                        <a:rPr b="1" sz="1000">
                          <a:solidFill>
                            <a:srgbClr val="FFFFFF"/>
                          </a:solidFill>
                          <a:latin typeface="Calibri"/>
                        </a:rPr>
                        <a:t>FY27E</a:t>
                      </a:r>
                    </a:p>
                  </a:txBody>
                  <a:tcPr marL="36576" marR="36576" marT="18288" marB="18288">
                    <a:solidFill>
                      <a:srgbClr val="1F4690"/>
                    </a:solidFill>
                  </a:tcPr>
                </a:tc>
                <a:tc>
                  <a:txBody>
                    <a:bodyPr/>
                    <a:lstStyle/>
                    <a:p>
                      <a:pPr algn="r"/>
                      <a:r>
                        <a:rPr b="1" sz="1000">
                          <a:solidFill>
                            <a:srgbClr val="FFFFFF"/>
                          </a:solidFill>
                          <a:latin typeface="Calibri"/>
                        </a:rPr>
                        <a:t>FY28E</a:t>
                      </a:r>
                    </a:p>
                  </a:txBody>
                  <a:tcPr marL="36576" marR="36576" marT="18288" marB="18288">
                    <a:solidFill>
                      <a:srgbClr val="1F4690"/>
                    </a:solidFill>
                  </a:tcPr>
                </a:tc>
              </a:tr>
              <a:tr h="472440">
                <a:tc>
                  <a:txBody>
                    <a:bodyPr/>
                    <a:lstStyle/>
                    <a:p>
                      <a:r>
                        <a:rPr sz="1000" b="1">
                          <a:solidFill>
                            <a:srgbClr val="1F4690"/>
                          </a:solidFill>
                          <a:latin typeface="Calibri"/>
                        </a:rPr>
                        <a:t>EBITDA Margin</a:t>
                      </a:r>
                    </a:p>
                  </a:txBody>
                  <a:tcPr marL="36576" marR="36576" marT="18288" marB="18288">
                    <a:solidFill>
                      <a:srgbClr val="FFF3E0"/>
                    </a:solidFill>
                  </a:tcPr>
                </a:tc>
                <a:tc>
                  <a:txBody>
                    <a:bodyPr/>
                    <a:lstStyle/>
                    <a:p>
                      <a:pPr algn="r"/>
                      <a:r>
                        <a:rPr sz="1000" b="1">
                          <a:solidFill>
                            <a:srgbClr val="1F4690"/>
                          </a:solidFill>
                          <a:latin typeface="Calibri"/>
                        </a:rPr>
                        <a:t>49.3%</a:t>
                      </a:r>
                    </a:p>
                  </a:txBody>
                  <a:tcPr marL="36576" marR="36576" marT="18288" marB="18288">
                    <a:solidFill>
                      <a:srgbClr val="FFF3E0"/>
                    </a:solidFill>
                  </a:tcPr>
                </a:tc>
                <a:tc>
                  <a:txBody>
                    <a:bodyPr/>
                    <a:lstStyle/>
                    <a:p>
                      <a:pPr algn="r"/>
                      <a:r>
                        <a:rPr sz="1000" b="1">
                          <a:solidFill>
                            <a:srgbClr val="1F4690"/>
                          </a:solidFill>
                          <a:latin typeface="Calibri"/>
                        </a:rPr>
                        <a:t>44.9%</a:t>
                      </a:r>
                    </a:p>
                  </a:txBody>
                  <a:tcPr marL="36576" marR="36576" marT="18288" marB="18288">
                    <a:solidFill>
                      <a:srgbClr val="FFF3E0"/>
                    </a:solidFill>
                  </a:tcPr>
                </a:tc>
                <a:tc>
                  <a:txBody>
                    <a:bodyPr/>
                    <a:lstStyle/>
                    <a:p>
                      <a:pPr algn="r"/>
                      <a:r>
                        <a:rPr sz="1000" b="1">
                          <a:solidFill>
                            <a:srgbClr val="1F4690"/>
                          </a:solidFill>
                          <a:latin typeface="Calibri"/>
                        </a:rPr>
                        <a:t>57.4%</a:t>
                      </a:r>
                    </a:p>
                  </a:txBody>
                  <a:tcPr marL="36576" marR="36576" marT="18288" marB="18288">
                    <a:solidFill>
                      <a:srgbClr val="FFF3E0"/>
                    </a:solidFill>
                  </a:tcPr>
                </a:tc>
                <a:tc>
                  <a:txBody>
                    <a:bodyPr/>
                    <a:lstStyle/>
                    <a:p>
                      <a:pPr algn="r"/>
                      <a:r>
                        <a:rPr sz="1000" b="1">
                          <a:solidFill>
                            <a:srgbClr val="1F4690"/>
                          </a:solidFill>
                          <a:latin typeface="Calibri"/>
                        </a:rPr>
                        <a:t>54.5%</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r>
              <a:tr h="472440">
                <a:tc>
                  <a:txBody>
                    <a:bodyPr/>
                    <a:lstStyle/>
                    <a:p>
                      <a:r>
                        <a:rPr sz="1000" b="1">
                          <a:solidFill>
                            <a:srgbClr val="1F4690"/>
                          </a:solidFill>
                          <a:latin typeface="Calibri"/>
                        </a:rPr>
                        <a:t>PAT Margin</a:t>
                      </a:r>
                    </a:p>
                  </a:txBody>
                  <a:tcPr marL="36576" marR="36576" marT="18288" marB="18288">
                    <a:solidFill>
                      <a:srgbClr val="FFF3E0"/>
                    </a:solidFill>
                  </a:tcPr>
                </a:tc>
                <a:tc>
                  <a:txBody>
                    <a:bodyPr/>
                    <a:lstStyle/>
                    <a:p>
                      <a:pPr algn="r"/>
                      <a:r>
                        <a:rPr sz="1000" b="1">
                          <a:solidFill>
                            <a:srgbClr val="1F4690"/>
                          </a:solidFill>
                          <a:latin typeface="Calibri"/>
                        </a:rPr>
                        <a:t>30.5%</a:t>
                      </a:r>
                    </a:p>
                  </a:txBody>
                  <a:tcPr marL="36576" marR="36576" marT="18288" marB="18288">
                    <a:solidFill>
                      <a:srgbClr val="FFF3E0"/>
                    </a:solidFill>
                  </a:tcPr>
                </a:tc>
                <a:tc>
                  <a:txBody>
                    <a:bodyPr/>
                    <a:lstStyle/>
                    <a:p>
                      <a:pPr algn="r"/>
                      <a:r>
                        <a:rPr sz="1000" b="1">
                          <a:solidFill>
                            <a:srgbClr val="1F4690"/>
                          </a:solidFill>
                          <a:latin typeface="Calibri"/>
                        </a:rPr>
                        <a:t>22.3%</a:t>
                      </a:r>
                    </a:p>
                  </a:txBody>
                  <a:tcPr marL="36576" marR="36576" marT="18288" marB="18288">
                    <a:solidFill>
                      <a:srgbClr val="FFF3E0"/>
                    </a:solidFill>
                  </a:tcPr>
                </a:tc>
                <a:tc>
                  <a:txBody>
                    <a:bodyPr/>
                    <a:lstStyle/>
                    <a:p>
                      <a:pPr algn="r"/>
                      <a:r>
                        <a:rPr sz="1000" b="1">
                          <a:solidFill>
                            <a:srgbClr val="1F4690"/>
                          </a:solidFill>
                          <a:latin typeface="Calibri"/>
                        </a:rPr>
                        <a:t>34.4%</a:t>
                      </a:r>
                    </a:p>
                  </a:txBody>
                  <a:tcPr marL="36576" marR="36576" marT="18288" marB="18288">
                    <a:solidFill>
                      <a:srgbClr val="FFF3E0"/>
                    </a:solidFill>
                  </a:tcPr>
                </a:tc>
                <a:tc>
                  <a:txBody>
                    <a:bodyPr/>
                    <a:lstStyle/>
                    <a:p>
                      <a:pPr algn="r"/>
                      <a:r>
                        <a:rPr sz="1000" b="1">
                          <a:solidFill>
                            <a:srgbClr val="1F4690"/>
                          </a:solidFill>
                          <a:latin typeface="Calibri"/>
                        </a:rPr>
                        <a:t>30.0%</a:t>
                      </a:r>
                    </a:p>
                  </a:txBody>
                  <a:tcPr marL="36576" marR="36576" marT="18288" marB="18288">
                    <a:solidFill>
                      <a:srgbClr val="FFF3E0"/>
                    </a:solidFill>
                  </a:tcPr>
                </a:tc>
                <a:tc>
                  <a:txBody>
                    <a:bodyPr/>
                    <a:lstStyle/>
                    <a:p>
                      <a:pPr algn="r"/>
                      <a:r>
                        <a:rPr sz="1000" b="1">
                          <a:solidFill>
                            <a:srgbClr val="1F4690"/>
                          </a:solidFill>
                          <a:latin typeface="Calibri"/>
                        </a:rPr>
                        <a:t>29.5%</a:t>
                      </a:r>
                    </a:p>
                  </a:txBody>
                  <a:tcPr marL="36576" marR="36576" marT="18288" marB="18288">
                    <a:solidFill>
                      <a:srgbClr val="FFF3E0"/>
                    </a:solidFill>
                  </a:tcPr>
                </a:tc>
                <a:tc>
                  <a:txBody>
                    <a:bodyPr/>
                    <a:lstStyle/>
                    <a:p>
                      <a:pPr algn="r"/>
                      <a:r>
                        <a:rPr sz="1000" b="1">
                          <a:solidFill>
                            <a:srgbClr val="1F4690"/>
                          </a:solidFill>
                          <a:latin typeface="Calibri"/>
                        </a:rPr>
                        <a:t>30.7%</a:t>
                      </a:r>
                    </a:p>
                  </a:txBody>
                  <a:tcPr marL="36576" marR="36576" marT="18288" marB="18288">
                    <a:solidFill>
                      <a:srgbClr val="FFF3E0"/>
                    </a:solidFill>
                  </a:tcPr>
                </a:tc>
                <a:tc>
                  <a:txBody>
                    <a:bodyPr/>
                    <a:lstStyle/>
                    <a:p>
                      <a:pPr algn="r"/>
                      <a:r>
                        <a:rPr sz="1000" b="1">
                          <a:solidFill>
                            <a:srgbClr val="1F4690"/>
                          </a:solidFill>
                          <a:latin typeface="Calibri"/>
                        </a:rPr>
                        <a:t>31.7%</a:t>
                      </a:r>
                    </a:p>
                  </a:txBody>
                  <a:tcPr marL="36576" marR="36576" marT="18288" marB="18288">
                    <a:solidFill>
                      <a:srgbClr val="FFF3E0"/>
                    </a:solidFill>
                  </a:tcPr>
                </a:tc>
              </a:tr>
              <a:tr h="472440">
                <a:tc>
                  <a:txBody>
                    <a:bodyPr/>
                    <a:lstStyle/>
                    <a:p>
                      <a:r>
                        <a:rPr sz="1000" b="1">
                          <a:solidFill>
                            <a:srgbClr val="5A6573"/>
                          </a:solidFill>
                          <a:latin typeface="Calibri"/>
                        </a:rPr>
                        <a:t>RoE</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15.0%</a:t>
                      </a:r>
                    </a:p>
                  </a:txBody>
                  <a:tcPr marL="36576" marR="36576" marT="18288" marB="18288">
                    <a:solidFill>
                      <a:srgbClr val="F4F6F9"/>
                    </a:solidFill>
                  </a:tcPr>
                </a:tc>
                <a:tc>
                  <a:txBody>
                    <a:bodyPr/>
                    <a:lstStyle/>
                    <a:p>
                      <a:pPr algn="r"/>
                      <a:r>
                        <a:rPr sz="1000" b="1">
                          <a:solidFill>
                            <a:srgbClr val="1A7A4A"/>
                          </a:solidFill>
                          <a:latin typeface="Calibri"/>
                        </a:rPr>
                        <a:t>28.0%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22.0%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RoCE</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13.0%</a:t>
                      </a:r>
                    </a:p>
                  </a:txBody>
                  <a:tcPr marL="36576" marR="36576" marT="18288" marB="18288">
                    <a:solidFill>
                      <a:srgbClr val="FFFFFF"/>
                    </a:solidFill>
                  </a:tcPr>
                </a:tc>
                <a:tc>
                  <a:txBody>
                    <a:bodyPr/>
                    <a:lstStyle/>
                    <a:p>
                      <a:pPr algn="r"/>
                      <a:r>
                        <a:rPr sz="1000" b="1">
                          <a:solidFill>
                            <a:srgbClr val="1A7A4A"/>
                          </a:solidFill>
                          <a:latin typeface="Calibri"/>
                        </a:rPr>
                        <a:t>21.0%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r>
              <a:tr h="472440">
                <a:tc>
                  <a:txBody>
                    <a:bodyPr/>
                    <a:lstStyle/>
                    <a:p>
                      <a:r>
                        <a:rPr sz="1000" b="1">
                          <a:solidFill>
                            <a:srgbClr val="5A6573"/>
                          </a:solidFill>
                          <a:latin typeface="Calibri"/>
                        </a:rPr>
                        <a:t>RoIC</a:t>
                      </a:r>
                    </a:p>
                  </a:txBody>
                  <a:tcPr marL="36576" marR="36576" marT="18288" marB="18288">
                    <a:solidFill>
                      <a:srgbClr val="F4F6F9"/>
                    </a:solidFill>
                  </a:tcPr>
                </a:tc>
                <a:tc>
                  <a:txBody>
                    <a:bodyPr/>
                    <a:lstStyle/>
                    <a:p>
                      <a:pPr algn="r"/>
                      <a:r>
                        <a:rPr sz="1000" b="1">
                          <a:solidFill>
                            <a:srgbClr val="1A7A4A"/>
                          </a:solidFill>
                          <a:latin typeface="Calibri"/>
                        </a:rPr>
                        <a:t>92.0%</a:t>
                      </a:r>
                    </a:p>
                  </a:txBody>
                  <a:tcPr marL="36576" marR="36576" marT="18288" marB="18288">
                    <a:solidFill>
                      <a:srgbClr val="F4F6F9"/>
                    </a:solidFill>
                  </a:tcPr>
                </a:tc>
                <a:tc>
                  <a:txBody>
                    <a:bodyPr/>
                    <a:lstStyle/>
                    <a:p>
                      <a:pPr algn="r"/>
                      <a:r>
                        <a:rPr sz="1000" b="1">
                          <a:solidFill>
                            <a:srgbClr val="1A7A4A"/>
                          </a:solidFill>
                          <a:latin typeface="Calibri"/>
                        </a:rPr>
                        <a:t>78.0%</a:t>
                      </a:r>
                    </a:p>
                  </a:txBody>
                  <a:tcPr marL="36576" marR="36576" marT="18288" marB="18288">
                    <a:solidFill>
                      <a:srgbClr val="F4F6F9"/>
                    </a:solidFill>
                  </a:tcPr>
                </a:tc>
                <a:tc>
                  <a:txBody>
                    <a:bodyPr/>
                    <a:lstStyle/>
                    <a:p>
                      <a:pPr algn="r"/>
                      <a:r>
                        <a:rPr sz="1000" b="1">
                          <a:solidFill>
                            <a:srgbClr val="1A7A4A"/>
                          </a:solidFill>
                          <a:latin typeface="Calibri"/>
                        </a:rPr>
                        <a:t>119.0%</a:t>
                      </a:r>
                    </a:p>
                  </a:txBody>
                  <a:tcPr marL="36576" marR="36576" marT="18288" marB="18288">
                    <a:solidFill>
                      <a:srgbClr val="F4F6F9"/>
                    </a:solidFill>
                  </a:tcPr>
                </a:tc>
                <a:tc>
                  <a:txBody>
                    <a:bodyPr/>
                    <a:lstStyle/>
                    <a:p>
                      <a:pPr algn="r"/>
                      <a:r>
                        <a:rPr sz="1000" b="1">
                          <a:solidFill>
                            <a:srgbClr val="1A7A4A"/>
                          </a:solidFill>
                          <a:latin typeface="Calibri"/>
                        </a:rPr>
                        <a:t>87.0%</a:t>
                      </a:r>
                    </a:p>
                  </a:txBody>
                  <a:tcPr marL="36576" marR="36576" marT="18288" marB="18288">
                    <a:solidFill>
                      <a:srgbClr val="F4F6F9"/>
                    </a:solidFill>
                  </a:tcPr>
                </a:tc>
                <a:tc>
                  <a:txBody>
                    <a:bodyPr/>
                    <a:lstStyle/>
                    <a:p>
                      <a:pPr algn="r"/>
                      <a:r>
                        <a:rPr sz="1000" b="1">
                          <a:solidFill>
                            <a:srgbClr val="1A7A4A"/>
                          </a:solidFill>
                          <a:latin typeface="Calibri"/>
                        </a:rPr>
                        <a:t>35.0%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P/E</a:t>
                      </a:r>
                    </a:p>
                  </a:txBody>
                  <a:tcPr marL="36576" marR="36576" marT="18288" marB="18288">
                    <a:solidFill>
                      <a:srgbClr val="FFFFFF"/>
                    </a:solidFill>
                  </a:tcPr>
                </a:tc>
                <a:tc>
                  <a:txBody>
                    <a:bodyPr/>
                    <a:lstStyle/>
                    <a:p>
                      <a:pPr algn="r"/>
                      <a:r>
                        <a:rPr sz="1000">
                          <a:solidFill>
                            <a:srgbClr val="111111"/>
                          </a:solidFill>
                          <a:latin typeface="Calibri"/>
                        </a:rPr>
                        <a:t>37.5x</a:t>
                      </a:r>
                    </a:p>
                  </a:txBody>
                  <a:tcPr marL="36576" marR="36576" marT="18288" marB="18288">
                    <a:solidFill>
                      <a:srgbClr val="FFFFFF"/>
                    </a:solidFill>
                  </a:tcPr>
                </a:tc>
                <a:tc>
                  <a:txBody>
                    <a:bodyPr/>
                    <a:lstStyle/>
                    <a:p>
                      <a:pPr algn="r"/>
                      <a:r>
                        <a:rPr sz="1000">
                          <a:solidFill>
                            <a:srgbClr val="111111"/>
                          </a:solidFill>
                          <a:latin typeface="Calibri"/>
                        </a:rPr>
                        <a:t>52.3x</a:t>
                      </a:r>
                    </a:p>
                  </a:txBody>
                  <a:tcPr marL="36576" marR="36576" marT="18288" marB="18288">
                    <a:solidFill>
                      <a:srgbClr val="FFFFFF"/>
                    </a:solidFill>
                  </a:tcPr>
                </a:tc>
                <a:tc>
                  <a:txBody>
                    <a:bodyPr/>
                    <a:lstStyle/>
                    <a:p>
                      <a:pPr algn="r"/>
                      <a:r>
                        <a:rPr sz="1000">
                          <a:solidFill>
                            <a:srgbClr val="111111"/>
                          </a:solidFill>
                          <a:latin typeface="Calibri"/>
                        </a:rPr>
                        <a:t>20.1x</a:t>
                      </a:r>
                    </a:p>
                  </a:txBody>
                  <a:tcPr marL="36576" marR="36576" marT="18288" marB="18288">
                    <a:solidFill>
                      <a:srgbClr val="FFFFFF"/>
                    </a:solidFill>
                  </a:tcPr>
                </a:tc>
                <a:tc>
                  <a:txBody>
                    <a:bodyPr/>
                    <a:lstStyle/>
                    <a:p>
                      <a:pPr algn="r"/>
                      <a:r>
                        <a:rPr sz="1000">
                          <a:solidFill>
                            <a:srgbClr val="111111"/>
                          </a:solidFill>
                          <a:latin typeface="Calibri"/>
                        </a:rPr>
                        <a:t>19.7x</a:t>
                      </a:r>
                    </a:p>
                  </a:txBody>
                  <a:tcPr marL="36576" marR="36576" marT="18288" marB="18288">
                    <a:solidFill>
                      <a:srgbClr val="FFFFFF"/>
                    </a:solidFill>
                  </a:tcPr>
                </a:tc>
                <a:tc>
                  <a:txBody>
                    <a:bodyPr/>
                    <a:lstStyle/>
                    <a:p>
                      <a:pPr algn="r"/>
                      <a:r>
                        <a:rPr sz="1000">
                          <a:solidFill>
                            <a:srgbClr val="111111"/>
                          </a:solidFill>
                          <a:latin typeface="Calibri"/>
                        </a:rPr>
                        <a:t>16.1x</a:t>
                      </a:r>
                    </a:p>
                  </a:txBody>
                  <a:tcPr marL="36576" marR="36576" marT="18288" marB="18288">
                    <a:solidFill>
                      <a:srgbClr val="FFFFFF"/>
                    </a:solidFill>
                  </a:tcPr>
                </a:tc>
                <a:tc>
                  <a:txBody>
                    <a:bodyPr/>
                    <a:lstStyle/>
                    <a:p>
                      <a:pPr algn="r"/>
                      <a:r>
                        <a:rPr sz="1000">
                          <a:solidFill>
                            <a:srgbClr val="111111"/>
                          </a:solidFill>
                          <a:latin typeface="Calibri"/>
                        </a:rPr>
                        <a:t>12.4x</a:t>
                      </a:r>
                    </a:p>
                  </a:txBody>
                  <a:tcPr marL="36576" marR="36576" marT="18288" marB="18288">
                    <a:solidFill>
                      <a:srgbClr val="FFFFFF"/>
                    </a:solidFill>
                  </a:tcPr>
                </a:tc>
                <a:tc>
                  <a:txBody>
                    <a:bodyPr/>
                    <a:lstStyle/>
                    <a:p>
                      <a:pPr algn="r"/>
                      <a:r>
                        <a:rPr sz="1000">
                          <a:solidFill>
                            <a:srgbClr val="111111"/>
                          </a:solidFill>
                          <a:latin typeface="Calibri"/>
                        </a:rPr>
                        <a:t>9.6x</a:t>
                      </a:r>
                    </a:p>
                  </a:txBody>
                  <a:tcPr marL="36576" marR="36576" marT="18288" marB="18288">
                    <a:solidFill>
                      <a:srgbClr val="FFFFFF"/>
                    </a:solidFill>
                  </a:tcPr>
                </a:tc>
              </a:tr>
              <a:tr h="472440">
                <a:tc>
                  <a:txBody>
                    <a:bodyPr/>
                    <a:lstStyle/>
                    <a:p>
                      <a:r>
                        <a:rPr sz="1000" b="1">
                          <a:solidFill>
                            <a:srgbClr val="5A6573"/>
                          </a:solidFill>
                          <a:latin typeface="Calibri"/>
                        </a:rPr>
                        <a:t>P/B</a:t>
                      </a:r>
                    </a:p>
                  </a:txBody>
                  <a:tcPr marL="36576" marR="36576" marT="18288" marB="18288">
                    <a:solidFill>
                      <a:srgbClr val="F4F6F9"/>
                    </a:solidFill>
                  </a:tcPr>
                </a:tc>
                <a:tc>
                  <a:txBody>
                    <a:bodyPr/>
                    <a:lstStyle/>
                    <a:p>
                      <a:pPr algn="r"/>
                      <a:r>
                        <a:rPr sz="1000">
                          <a:solidFill>
                            <a:srgbClr val="111111"/>
                          </a:solidFill>
                          <a:latin typeface="Calibri"/>
                        </a:rPr>
                        <a:t>8.7x</a:t>
                      </a:r>
                    </a:p>
                  </a:txBody>
                  <a:tcPr marL="36576" marR="36576" marT="18288" marB="18288">
                    <a:solidFill>
                      <a:srgbClr val="F4F6F9"/>
                    </a:solidFill>
                  </a:tcPr>
                </a:tc>
                <a:tc>
                  <a:txBody>
                    <a:bodyPr/>
                    <a:lstStyle/>
                    <a:p>
                      <a:pPr algn="r"/>
                      <a:r>
                        <a:rPr sz="1000">
                          <a:solidFill>
                            <a:srgbClr val="111111"/>
                          </a:solidFill>
                          <a:latin typeface="Calibri"/>
                        </a:rPr>
                        <a:t>7.8x</a:t>
                      </a:r>
                    </a:p>
                  </a:txBody>
                  <a:tcPr marL="36576" marR="36576" marT="18288" marB="18288">
                    <a:solidFill>
                      <a:srgbClr val="F4F6F9"/>
                    </a:solidFill>
                  </a:tcPr>
                </a:tc>
                <a:tc>
                  <a:txBody>
                    <a:bodyPr/>
                    <a:lstStyle/>
                    <a:p>
                      <a:pPr algn="r"/>
                      <a:r>
                        <a:rPr sz="1000">
                          <a:solidFill>
                            <a:srgbClr val="111111"/>
                          </a:solidFill>
                          <a:latin typeface="Calibri"/>
                        </a:rPr>
                        <a:t>5.6x</a:t>
                      </a:r>
                    </a:p>
                  </a:txBody>
                  <a:tcPr marL="36576" marR="36576" marT="18288" marB="18288">
                    <a:solidFill>
                      <a:srgbClr val="F4F6F9"/>
                    </a:solidFill>
                  </a:tcPr>
                </a:tc>
                <a:tc>
                  <a:txBody>
                    <a:bodyPr/>
                    <a:lstStyle/>
                    <a:p>
                      <a:pPr algn="r"/>
                      <a:r>
                        <a:rPr sz="1000">
                          <a:solidFill>
                            <a:srgbClr val="111111"/>
                          </a:solidFill>
                          <a:latin typeface="Calibri"/>
                        </a:rPr>
                        <a:t>4.5x</a:t>
                      </a:r>
                    </a:p>
                  </a:txBody>
                  <a:tcPr marL="36576" marR="36576" marT="18288" marB="18288">
                    <a:solidFill>
                      <a:srgbClr val="F4F6F9"/>
                    </a:solidFill>
                  </a:tcPr>
                </a:tc>
                <a:tc>
                  <a:txBody>
                    <a:bodyPr/>
                    <a:lstStyle/>
                    <a:p>
                      <a:pPr algn="r"/>
                      <a:r>
                        <a:rPr sz="1000">
                          <a:solidFill>
                            <a:srgbClr val="111111"/>
                          </a:solidFill>
                          <a:latin typeface="Calibri"/>
                        </a:rPr>
                        <a:t>3.6x</a:t>
                      </a:r>
                    </a:p>
                  </a:txBody>
                  <a:tcPr marL="36576" marR="36576" marT="18288" marB="18288">
                    <a:solidFill>
                      <a:srgbClr val="F4F6F9"/>
                    </a:solidFill>
                  </a:tcPr>
                </a:tc>
                <a:tc>
                  <a:txBody>
                    <a:bodyPr/>
                    <a:lstStyle/>
                    <a:p>
                      <a:pPr algn="r"/>
                      <a:r>
                        <a:rPr sz="1000">
                          <a:solidFill>
                            <a:srgbClr val="111111"/>
                          </a:solidFill>
                          <a:latin typeface="Calibri"/>
                        </a:rPr>
                        <a:t>2.9x</a:t>
                      </a:r>
                    </a:p>
                  </a:txBody>
                  <a:tcPr marL="36576" marR="36576" marT="18288" marB="18288">
                    <a:solidFill>
                      <a:srgbClr val="F4F6F9"/>
                    </a:solidFill>
                  </a:tcPr>
                </a:tc>
                <a:tc>
                  <a:txBody>
                    <a:bodyPr/>
                    <a:lstStyle/>
                    <a:p>
                      <a:pPr algn="r"/>
                      <a:r>
                        <a:rPr sz="1000">
                          <a:solidFill>
                            <a:srgbClr val="111111"/>
                          </a:solidFill>
                          <a:latin typeface="Calibri"/>
                        </a:rPr>
                        <a:t>2.3x</a:t>
                      </a:r>
                    </a:p>
                  </a:txBody>
                  <a:tcPr marL="36576" marR="36576" marT="18288" marB="18288">
                    <a:solidFill>
                      <a:srgbClr val="F4F6F9"/>
                    </a:solidFill>
                  </a:tcPr>
                </a:tc>
              </a:tr>
              <a:tr h="472440">
                <a:tc>
                  <a:txBody>
                    <a:bodyPr/>
                    <a:lstStyle/>
                    <a:p>
                      <a:r>
                        <a:rPr sz="1000" b="1">
                          <a:solidFill>
                            <a:srgbClr val="1F4690"/>
                          </a:solidFill>
                          <a:latin typeface="Calibri"/>
                        </a:rPr>
                        <a:t>EV/EBITDA</a:t>
                      </a:r>
                    </a:p>
                  </a:txBody>
                  <a:tcPr marL="36576" marR="36576" marT="18288" marB="18288">
                    <a:solidFill>
                      <a:srgbClr val="FFF3E0"/>
                    </a:solidFill>
                  </a:tcPr>
                </a:tc>
                <a:tc>
                  <a:txBody>
                    <a:bodyPr/>
                    <a:lstStyle/>
                    <a:p>
                      <a:pPr algn="r"/>
                      <a:r>
                        <a:rPr sz="1000" b="1">
                          <a:solidFill>
                            <a:srgbClr val="1F4690"/>
                          </a:solidFill>
                          <a:latin typeface="Calibri"/>
                        </a:rPr>
                        <a:t>9.0x</a:t>
                      </a:r>
                    </a:p>
                  </a:txBody>
                  <a:tcPr marL="36576" marR="36576" marT="18288" marB="18288">
                    <a:solidFill>
                      <a:srgbClr val="FFF3E0"/>
                    </a:solidFill>
                  </a:tcPr>
                </a:tc>
                <a:tc>
                  <a:txBody>
                    <a:bodyPr/>
                    <a:lstStyle/>
                    <a:p>
                      <a:pPr algn="r"/>
                      <a:r>
                        <a:rPr sz="1000" b="1">
                          <a:solidFill>
                            <a:srgbClr val="1F4690"/>
                          </a:solidFill>
                          <a:latin typeface="Calibri"/>
                        </a:rPr>
                        <a:t>10.3x</a:t>
                      </a:r>
                    </a:p>
                  </a:txBody>
                  <a:tcPr marL="36576" marR="36576" marT="18288" marB="18288">
                    <a:solidFill>
                      <a:srgbClr val="FFF3E0"/>
                    </a:solidFill>
                  </a:tcPr>
                </a:tc>
                <a:tc>
                  <a:txBody>
                    <a:bodyPr/>
                    <a:lstStyle/>
                    <a:p>
                      <a:pPr algn="r"/>
                      <a:r>
                        <a:rPr sz="1000" b="1">
                          <a:solidFill>
                            <a:srgbClr val="1F4690"/>
                          </a:solidFill>
                          <a:latin typeface="Calibri"/>
                        </a:rPr>
                        <a:t>9.5x</a:t>
                      </a:r>
                    </a:p>
                  </a:txBody>
                  <a:tcPr marL="36576" marR="36576" marT="18288" marB="18288">
                    <a:solidFill>
                      <a:srgbClr val="FFF3E0"/>
                    </a:solidFill>
                  </a:tcPr>
                </a:tc>
                <a:tc>
                  <a:txBody>
                    <a:bodyPr/>
                    <a:lstStyle/>
                    <a:p>
                      <a:pPr algn="r"/>
                      <a:r>
                        <a:rPr sz="1000" b="1">
                          <a:solidFill>
                            <a:srgbClr val="1F4690"/>
                          </a:solidFill>
                          <a:latin typeface="Calibri"/>
                        </a:rPr>
                        <a:t>11.4x</a:t>
                      </a:r>
                    </a:p>
                  </a:txBody>
                  <a:tcPr marL="36576" marR="36576" marT="18288" marB="18288">
                    <a:solidFill>
                      <a:srgbClr val="FFF3E0"/>
                    </a:solidFill>
                  </a:tcPr>
                </a:tc>
                <a:tc>
                  <a:txBody>
                    <a:bodyPr/>
                    <a:lstStyle/>
                    <a:p>
                      <a:pPr algn="r"/>
                      <a:r>
                        <a:rPr sz="1000" b="1">
                          <a:solidFill>
                            <a:srgbClr val="1F4690"/>
                          </a:solidFill>
                          <a:latin typeface="Calibri"/>
                        </a:rPr>
                        <a:t>12.7x</a:t>
                      </a:r>
                    </a:p>
                  </a:txBody>
                  <a:tcPr marL="36576" marR="36576" marT="18288" marB="18288">
                    <a:solidFill>
                      <a:srgbClr val="FFF3E0"/>
                    </a:solidFill>
                  </a:tcPr>
                </a:tc>
                <a:tc>
                  <a:txBody>
                    <a:bodyPr/>
                    <a:lstStyle/>
                    <a:p>
                      <a:pPr algn="r"/>
                      <a:r>
                        <a:rPr sz="1000" b="1">
                          <a:solidFill>
                            <a:srgbClr val="1F4690"/>
                          </a:solidFill>
                          <a:latin typeface="Calibri"/>
                        </a:rPr>
                        <a:t>10.5x</a:t>
                      </a:r>
                    </a:p>
                  </a:txBody>
                  <a:tcPr marL="36576" marR="36576" marT="18288" marB="18288">
                    <a:solidFill>
                      <a:srgbClr val="FFF3E0"/>
                    </a:solidFill>
                  </a:tcPr>
                </a:tc>
                <a:tc>
                  <a:txBody>
                    <a:bodyPr/>
                    <a:lstStyle/>
                    <a:p>
                      <a:pPr algn="r"/>
                      <a:r>
                        <a:rPr sz="1000" b="1">
                          <a:solidFill>
                            <a:srgbClr val="1F4690"/>
                          </a:solidFill>
                          <a:latin typeface="Calibri"/>
                        </a:rPr>
                        <a:t>8.8x</a:t>
                      </a:r>
                    </a:p>
                  </a:txBody>
                  <a:tcPr marL="36576" marR="36576" marT="18288" marB="18288">
                    <a:solidFill>
                      <a:srgbClr val="FFF3E0"/>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 — Methods Summary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 — Methods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9" name="Table 18"/>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Target</a:t>
                      </a:r>
                    </a:p>
                  </a:txBody>
                  <a:tcPr marL="36576" marR="36576" marT="18288" marB="18288">
                    <a:solidFill>
                      <a:srgbClr val="1F4690"/>
                    </a:solidFill>
                  </a:tcPr>
                </a:tc>
                <a:tc>
                  <a:txBody>
                    <a:bodyPr/>
                    <a:lstStyle/>
                    <a:p>
                      <a:pPr algn="r"/>
                      <a:r>
                        <a:rPr b="1" sz="1200">
                          <a:solidFill>
                            <a:srgbClr val="FFFFFF"/>
                          </a:solidFill>
                          <a:latin typeface="Calibri"/>
                        </a:rPr>
                        <a:t>Weight</a:t>
                      </a:r>
                    </a:p>
                  </a:txBody>
                  <a:tcPr marL="36576" marR="36576" marT="18288" marB="18288">
                    <a:solidFill>
                      <a:srgbClr val="1F4690"/>
                    </a:solidFill>
                  </a:tcPr>
                </a:tc>
                <a:tc>
                  <a:txBody>
                    <a:bodyPr/>
                    <a:lstStyle/>
                    <a:p>
                      <a:pPr algn="r"/>
                      <a:r>
                        <a:rPr b="1" sz="1200">
                          <a:solidFill>
                            <a:srgbClr val="FFFFFF"/>
                          </a:solidFill>
                          <a:latin typeface="Calibri"/>
                        </a:rPr>
                        <a:t>Basis</a:t>
                      </a:r>
                    </a:p>
                  </a:txBody>
                  <a:tcPr marL="36576" marR="36576" marT="18288" marB="18288">
                    <a:solidFill>
                      <a:srgbClr val="1F4690"/>
                    </a:solidFill>
                  </a:tcPr>
                </a:tc>
              </a:tr>
              <a:tr h="777240">
                <a:tc>
                  <a:txBody>
                    <a:bodyPr/>
                    <a:lstStyle/>
                    <a:p>
                      <a:r>
                        <a:rPr sz="1200" b="1">
                          <a:solidFill>
                            <a:srgbClr val="5A6573"/>
                          </a:solidFill>
                          <a:latin typeface="Calibri"/>
                        </a:rPr>
                        <a:t>Bull Case</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b="1">
                          <a:solidFill>
                            <a:srgbClr val="1A7A4A"/>
                          </a:solidFill>
                          <a:latin typeface="Calibri"/>
                        </a:rPr>
                        <a:t>28x P/E on FY27E EPS of INR 50; ARR &gt; 70%, AMC +40% YoY.</a:t>
                      </a:r>
                    </a:p>
                  </a:txBody>
                  <a:tcPr marL="36576" marR="36576" marT="18288" marB="18288">
                    <a:solidFill>
                      <a:srgbClr val="F4F6F9"/>
                    </a:solidFill>
                  </a:tcPr>
                </a:tc>
              </a:tr>
              <a:tr h="777240">
                <a:tc>
                  <a:txBody>
                    <a:bodyPr/>
                    <a:lstStyle/>
                    <a:p>
                      <a:r>
                        <a:rPr sz="1200" b="1">
                          <a:solidFill>
                            <a:srgbClr val="5A6573"/>
                          </a:solidFill>
                          <a:latin typeface="Calibri"/>
                        </a:rPr>
                        <a:t>Base Case</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b="1">
                          <a:solidFill>
                            <a:srgbClr val="1A7A4A"/>
                          </a:solidFill>
                          <a:latin typeface="Calibri"/>
                        </a:rPr>
                        <a:t>24x P/E on FY27E EPS of INR 47; ARR stable at 65%, steady AUM.</a:t>
                      </a:r>
                    </a:p>
                  </a:txBody>
                  <a:tcPr marL="36576" marR="36576" marT="18288" marB="18288">
                    <a:solidFill>
                      <a:srgbClr val="FFFFFF"/>
                    </a:solidFill>
                  </a:tcPr>
                </a:tc>
              </a:tr>
              <a:tr h="777240">
                <a:tc>
                  <a:txBody>
                    <a:bodyPr/>
                    <a:lstStyle/>
                    <a:p>
                      <a:r>
                        <a:rPr sz="1200" b="1">
                          <a:solidFill>
                            <a:srgbClr val="5A6573"/>
                          </a:solidFill>
                          <a:latin typeface="Calibri"/>
                        </a:rPr>
                        <a:t>Bear Case</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18x P/E on depressed FY27E EPS of INR 35; sustained regulatory headwinds.</a:t>
                      </a:r>
                    </a:p>
                  </a:txBody>
                  <a:tcPr marL="36576" marR="36576"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 - Bull / Base / Bear Case with Assumptions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 - Bull / Base / Bear Case with Assumptions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1271016"/>
            <a:ext cx="3675887" cy="219456"/>
          </a:xfrm>
          <a:prstGeom prst="rect">
            <a:avLst/>
          </a:prstGeom>
          <a:noFill/>
        </p:spPr>
        <p:txBody>
          <a:bodyPr wrap="square" lIns="45720" rIns="45720" tIns="18288" bIns="18288">
            <a:spAutoFit/>
          </a:bodyPr>
          <a:lstStyle/>
          <a:p>
            <a:r>
              <a:rPr sz="680" b="1">
                <a:solidFill>
                  <a:srgbClr val="B91C1C"/>
                </a:solidFill>
                <a:latin typeface="Calibri"/>
              </a:rPr>
              <a:t>BEAR CASE - ₹630 (-23.4% vs CMP)</a:t>
            </a:r>
          </a:p>
        </p:txBody>
      </p:sp>
      <p:sp>
        <p:nvSpPr>
          <p:cNvPr id="20" name="Rectangle 19"/>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23" name="TextBox 22"/>
          <p:cNvSpPr txBox="1"/>
          <p:nvPr/>
        </p:nvSpPr>
        <p:spPr>
          <a:xfrm>
            <a:off x="530352" y="1865376"/>
            <a:ext cx="3675887" cy="493775"/>
          </a:xfrm>
          <a:prstGeom prst="rect">
            <a:avLst/>
          </a:prstGeom>
          <a:noFill/>
        </p:spPr>
        <p:txBody>
          <a:bodyPr wrap="square" lIns="45720" rIns="45720" tIns="18288" bIns="18288">
            <a:spAutoFit/>
          </a:bodyPr>
          <a:lstStyle/>
          <a:p>
            <a:r>
              <a:rPr sz="620" b="0">
                <a:solidFill>
                  <a:srgbClr val="111111"/>
                </a:solidFill>
                <a:latin typeface="Calibri"/>
              </a:rPr>
              <a:t>Equity markets remain subdued. Revenue CAGR slows to 6.0%; EBITDA margin compresses to 45.0% as regulation and lower risk appetite pressure activity.</a:t>
            </a:r>
          </a:p>
        </p:txBody>
      </p:sp>
      <p:sp>
        <p:nvSpPr>
          <p:cNvPr id="24" name="Rectangle 23"/>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0352"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27" name="TextBox 26"/>
          <p:cNvSpPr txBox="1"/>
          <p:nvPr/>
        </p:nvSpPr>
        <p:spPr>
          <a:xfrm>
            <a:off x="530352" y="2724912"/>
            <a:ext cx="3675887" cy="877824"/>
          </a:xfrm>
          <a:prstGeom prst="rect">
            <a:avLst/>
          </a:prstGeom>
          <a:noFill/>
        </p:spPr>
        <p:txBody>
          <a:bodyPr wrap="square" lIns="45720" rIns="45720" tIns="18288" bIns="18288">
            <a:spAutoFit/>
          </a:bodyPr>
          <a:lstStyle/>
          <a:p>
            <a:r>
              <a:rPr sz="620" b="0">
                <a:solidFill>
                  <a:srgbClr val="111111"/>
                </a:solidFill>
                <a:latin typeface="Calibri"/>
              </a:rPr>
              <a:t>Broking headwinds and fee pressure reduce operating momentum. Sustained F&amp;O headwinds, fintech share loss.</a:t>
            </a:r>
          </a:p>
        </p:txBody>
      </p:sp>
      <p:sp>
        <p:nvSpPr>
          <p:cNvPr id="28" name="Rectangle 27"/>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31" name="TextBox 30"/>
          <p:cNvSpPr txBox="1"/>
          <p:nvPr/>
        </p:nvSpPr>
        <p:spPr>
          <a:xfrm>
            <a:off x="530352" y="3968496"/>
            <a:ext cx="3675887" cy="548640"/>
          </a:xfrm>
          <a:prstGeom prst="rect">
            <a:avLst/>
          </a:prstGeom>
          <a:noFill/>
        </p:spPr>
        <p:txBody>
          <a:bodyPr wrap="square" lIns="45720" rIns="45720" tIns="18288" bIns="18288">
            <a:spAutoFit/>
          </a:bodyPr>
          <a:lstStyle/>
          <a:p>
            <a:r>
              <a:rPr sz="620" b="0">
                <a:solidFill>
                  <a:srgbClr val="111111"/>
                </a:solidFill>
                <a:latin typeface="Calibri"/>
              </a:rPr>
              <a:t>18x P/E on depressed FY27E EPS of INR 35; sustained regulatory headwinds. Target price ₹630, probability 20.0%, vs CMP -23.4%.</a:t>
            </a:r>
          </a:p>
        </p:txBody>
      </p:sp>
      <p:graphicFrame>
        <p:nvGraphicFramePr>
          <p:cNvPr id="32" name="Table 31"/>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Bear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45.0%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B91C1C"/>
                          </a:solidFill>
                          <a:latin typeface="Calibri"/>
                        </a:rPr>
                        <a:t>₹630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20.0%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B91C1C"/>
                          </a:solidFill>
                          <a:latin typeface="Calibri"/>
                        </a:rPr>
                        <a:t>-23.4%</a:t>
                      </a:r>
                    </a:p>
                  </a:txBody>
                  <a:tcPr marL="27432" marR="27432" marT="9144" marB="9144">
                    <a:solidFill>
                      <a:srgbClr val="F4F6F9"/>
                    </a:solidFill>
                  </a:tcPr>
                </a:tc>
              </a:tr>
            </a:tbl>
          </a:graphicData>
        </a:graphic>
      </p:graphicFrame>
      <p:sp>
        <p:nvSpPr>
          <p:cNvPr id="33" name="Rectangle 32"/>
          <p:cNvSpPr/>
          <p:nvPr/>
        </p:nvSpPr>
        <p:spPr>
          <a:xfrm>
            <a:off x="4425696" y="1234440"/>
            <a:ext cx="3822191" cy="310896"/>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98848" y="1271016"/>
            <a:ext cx="3675887" cy="219456"/>
          </a:xfrm>
          <a:prstGeom prst="rect">
            <a:avLst/>
          </a:prstGeom>
          <a:noFill/>
        </p:spPr>
        <p:txBody>
          <a:bodyPr wrap="square" lIns="45720" rIns="45720" tIns="18288" bIns="18288">
            <a:spAutoFit/>
          </a:bodyPr>
          <a:lstStyle/>
          <a:p>
            <a:r>
              <a:rPr sz="680" b="1">
                <a:solidFill>
                  <a:srgbClr val="FFA500"/>
                </a:solidFill>
                <a:latin typeface="Calibri"/>
              </a:rPr>
              <a:t>BASE CASE - ₹1,127 (+37.0% vs CMP) - PRIMARY RECOMMENDATION</a:t>
            </a:r>
          </a:p>
        </p:txBody>
      </p:sp>
      <p:sp>
        <p:nvSpPr>
          <p:cNvPr id="35" name="Rectangle 34"/>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38" name="TextBox 37"/>
          <p:cNvSpPr txBox="1"/>
          <p:nvPr/>
        </p:nvSpPr>
        <p:spPr>
          <a:xfrm>
            <a:off x="4498848"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Markets normalize and savings flows remain constructive. Revenue compounds at 16.0%; EBITDA margin holds near 51.0% on steady AUM growth.</a:t>
            </a:r>
          </a:p>
        </p:txBody>
      </p:sp>
      <p:sp>
        <p:nvSpPr>
          <p:cNvPr id="39" name="Rectangle 38"/>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98848"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42" name="TextBox 41"/>
          <p:cNvSpPr txBox="1"/>
          <p:nvPr/>
        </p:nvSpPr>
        <p:spPr>
          <a:xfrm>
            <a:off x="4498848"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stability and diversified financial services earnings support the base case. ARR steady at 65%, AUM compounding, stable regulation.</a:t>
            </a:r>
          </a:p>
        </p:txBody>
      </p:sp>
      <p:sp>
        <p:nvSpPr>
          <p:cNvPr id="43" name="Rectangle 42"/>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98848"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46" name="TextBox 45"/>
          <p:cNvSpPr txBox="1"/>
          <p:nvPr/>
        </p:nvSpPr>
        <p:spPr>
          <a:xfrm>
            <a:off x="4498848" y="3968496"/>
            <a:ext cx="3675887" cy="548640"/>
          </a:xfrm>
          <a:prstGeom prst="rect">
            <a:avLst/>
          </a:prstGeom>
          <a:noFill/>
        </p:spPr>
        <p:txBody>
          <a:bodyPr wrap="square" lIns="45720" rIns="45720" tIns="18288" bIns="18288">
            <a:spAutoFit/>
          </a:bodyPr>
          <a:lstStyle/>
          <a:p>
            <a:r>
              <a:rPr sz="620" b="0">
                <a:solidFill>
                  <a:srgbClr val="111111"/>
                </a:solidFill>
                <a:latin typeface="Calibri"/>
              </a:rPr>
              <a:t>24x P/E on FY27E EPS of INR 47; ARR stable at 65%, steady AUM. Target price ₹1,127, probability 50.0%, vs CMP +37.0%.</a:t>
            </a:r>
          </a:p>
        </p:txBody>
      </p:sp>
      <p:graphicFrame>
        <p:nvGraphicFramePr>
          <p:cNvPr id="47" name="Table 46"/>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Base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16.0%</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51.0%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FFA500"/>
                          </a:solidFill>
                          <a:latin typeface="Calibri"/>
                        </a:rPr>
                        <a:t>₹1,127</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50.0%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FFA500"/>
                          </a:solidFill>
                          <a:latin typeface="Calibri"/>
                        </a:rPr>
                        <a:t>+37.0%</a:t>
                      </a:r>
                    </a:p>
                  </a:txBody>
                  <a:tcPr marL="27432" marR="27432" marT="9144" marB="9144">
                    <a:solidFill>
                      <a:srgbClr val="F4F6F9"/>
                    </a:solidFill>
                  </a:tcPr>
                </a:tc>
              </a:tr>
            </a:tbl>
          </a:graphicData>
        </a:graphic>
      </p:graphicFrame>
      <p:sp>
        <p:nvSpPr>
          <p:cNvPr id="48" name="Rectangle 47"/>
          <p:cNvSpPr/>
          <p:nvPr/>
        </p:nvSpPr>
        <p:spPr>
          <a:xfrm>
            <a:off x="8394192" y="1234440"/>
            <a:ext cx="3822191" cy="31089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67344" y="1271016"/>
            <a:ext cx="3675887" cy="219456"/>
          </a:xfrm>
          <a:prstGeom prst="rect">
            <a:avLst/>
          </a:prstGeom>
          <a:noFill/>
        </p:spPr>
        <p:txBody>
          <a:bodyPr wrap="square" lIns="45720" rIns="45720" tIns="18288" bIns="18288">
            <a:spAutoFit/>
          </a:bodyPr>
          <a:lstStyle/>
          <a:p>
            <a:r>
              <a:rPr sz="680" b="1">
                <a:solidFill>
                  <a:srgbClr val="FFFFFF"/>
                </a:solidFill>
                <a:latin typeface="Calibri"/>
              </a:rPr>
              <a:t>BULL CASE - ₹1,400 (+70.1% vs CMP)</a:t>
            </a:r>
          </a:p>
        </p:txBody>
      </p:sp>
      <p:sp>
        <p:nvSpPr>
          <p:cNvPr id="50" name="Rectangle 49"/>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67344" y="1682496"/>
            <a:ext cx="3675887" cy="164592"/>
          </a:xfrm>
          <a:prstGeom prst="rect">
            <a:avLst/>
          </a:prstGeom>
          <a:noFill/>
        </p:spPr>
        <p:txBody>
          <a:bodyPr wrap="square" lIns="45720" rIns="45720" tIns="18288" bIns="18288">
            <a:spAutoFit/>
          </a:bodyPr>
          <a:lstStyle/>
          <a:p>
            <a:r>
              <a:rPr sz="680" b="1">
                <a:solidFill>
                  <a:srgbClr val="1F4690"/>
                </a:solidFill>
                <a:latin typeface="Calibri"/>
              </a:rPr>
              <a:t>Macro Assumptions</a:t>
            </a:r>
          </a:p>
        </p:txBody>
      </p:sp>
      <p:sp>
        <p:nvSpPr>
          <p:cNvPr id="53" name="TextBox 52"/>
          <p:cNvSpPr txBox="1"/>
          <p:nvPr/>
        </p:nvSpPr>
        <p:spPr>
          <a:xfrm>
            <a:off x="8467344" y="1865376"/>
            <a:ext cx="3675887" cy="493775"/>
          </a:xfrm>
          <a:prstGeom prst="rect">
            <a:avLst/>
          </a:prstGeom>
          <a:noFill/>
        </p:spPr>
        <p:txBody>
          <a:bodyPr wrap="square" lIns="45720" rIns="45720" tIns="18288" bIns="18288">
            <a:spAutoFit/>
          </a:bodyPr>
          <a:lstStyle/>
          <a:p>
            <a:r>
              <a:rPr sz="620" b="0">
                <a:solidFill>
                  <a:srgbClr val="111111"/>
                </a:solidFill>
                <a:latin typeface="Calibri"/>
              </a:rPr>
              <a:t>Market participation strengthens and structural savings flows accelerate. Revenue compounds at 27.5%; EBITDA margin expands to 55.0% with operating leverage.</a:t>
            </a:r>
          </a:p>
        </p:txBody>
      </p:sp>
      <p:sp>
        <p:nvSpPr>
          <p:cNvPr id="54" name="Rectangle 53"/>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67344" y="2542032"/>
            <a:ext cx="3675887" cy="164592"/>
          </a:xfrm>
          <a:prstGeom prst="rect">
            <a:avLst/>
          </a:prstGeom>
          <a:noFill/>
        </p:spPr>
        <p:txBody>
          <a:bodyPr wrap="square" lIns="45720" rIns="45720" tIns="18288" bIns="18288">
            <a:spAutoFit/>
          </a:bodyPr>
          <a:lstStyle/>
          <a:p>
            <a:r>
              <a:rPr sz="680" b="1">
                <a:solidFill>
                  <a:srgbClr val="1F4690"/>
                </a:solidFill>
                <a:latin typeface="Calibri"/>
              </a:rPr>
              <a:t>Business Assumptions</a:t>
            </a:r>
          </a:p>
        </p:txBody>
      </p:sp>
      <p:sp>
        <p:nvSpPr>
          <p:cNvPr id="57" name="TextBox 56"/>
          <p:cNvSpPr txBox="1"/>
          <p:nvPr/>
        </p:nvSpPr>
        <p:spPr>
          <a:xfrm>
            <a:off x="8467344" y="2724912"/>
            <a:ext cx="3675887" cy="877824"/>
          </a:xfrm>
          <a:prstGeom prst="rect">
            <a:avLst/>
          </a:prstGeom>
          <a:noFill/>
        </p:spPr>
        <p:txBody>
          <a:bodyPr wrap="square" lIns="45720" rIns="45720" tIns="18288" bIns="18288">
            <a:spAutoFit/>
          </a:bodyPr>
          <a:lstStyle/>
          <a:p>
            <a:r>
              <a:rPr sz="620" b="0">
                <a:solidFill>
                  <a:srgbClr val="111111"/>
                </a:solidFill>
                <a:latin typeface="Calibri"/>
              </a:rPr>
              <a:t>ARR mix, AMC scale, and wealth management momentum trigger re-rating. ARR &gt; 70%, AMC AUM +40% YoY, regulatory clarity.</a:t>
            </a:r>
          </a:p>
        </p:txBody>
      </p:sp>
      <p:sp>
        <p:nvSpPr>
          <p:cNvPr id="58" name="Rectangle 57"/>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67344" y="3785615"/>
            <a:ext cx="3675887" cy="164592"/>
          </a:xfrm>
          <a:prstGeom prst="rect">
            <a:avLst/>
          </a:prstGeom>
          <a:noFill/>
        </p:spPr>
        <p:txBody>
          <a:bodyPr wrap="square" lIns="45720" rIns="45720" tIns="18288" bIns="18288">
            <a:spAutoFit/>
          </a:bodyPr>
          <a:lstStyle/>
          <a:p>
            <a:r>
              <a:rPr sz="680" b="1">
                <a:solidFill>
                  <a:srgbClr val="1F4690"/>
                </a:solidFill>
                <a:latin typeface="Calibri"/>
              </a:rPr>
              <a:t>Valuation Assumptions</a:t>
            </a:r>
          </a:p>
        </p:txBody>
      </p:sp>
      <p:sp>
        <p:nvSpPr>
          <p:cNvPr id="61" name="TextBox 60"/>
          <p:cNvSpPr txBox="1"/>
          <p:nvPr/>
        </p:nvSpPr>
        <p:spPr>
          <a:xfrm>
            <a:off x="8467344" y="3968496"/>
            <a:ext cx="3675887" cy="548640"/>
          </a:xfrm>
          <a:prstGeom prst="rect">
            <a:avLst/>
          </a:prstGeom>
          <a:noFill/>
        </p:spPr>
        <p:txBody>
          <a:bodyPr wrap="square" lIns="45720" rIns="45720" tIns="18288" bIns="18288">
            <a:spAutoFit/>
          </a:bodyPr>
          <a:lstStyle/>
          <a:p>
            <a:r>
              <a:rPr sz="620" b="0">
                <a:solidFill>
                  <a:srgbClr val="111111"/>
                </a:solidFill>
                <a:latin typeface="Calibri"/>
              </a:rPr>
              <a:t>28x P/E on FY27E EPS of INR 50; ARR &gt; 70%, AMC +40% YoY. Target price ₹1,400, probability 30.0%, vs CMP +70.1%.</a:t>
            </a:r>
          </a:p>
        </p:txBody>
      </p:sp>
      <p:graphicFrame>
        <p:nvGraphicFramePr>
          <p:cNvPr id="62" name="Table 61"/>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630" b="1">
                          <a:solidFill>
                            <a:srgbClr val="FFFFFF"/>
                          </a:solidFill>
                          <a:latin typeface="Calibri"/>
                        </a:rPr>
                        <a:t>Metric</a:t>
                      </a:r>
                    </a:p>
                  </a:txBody>
                  <a:tcPr marL="27432" marR="27432" marT="9144" marB="9144">
                    <a:solidFill>
                      <a:srgbClr val="1F4690"/>
                    </a:solidFill>
                  </a:tcPr>
                </a:tc>
                <a:tc>
                  <a:txBody>
                    <a:bodyPr/>
                    <a:lstStyle/>
                    <a:p>
                      <a:pPr algn="r"/>
                      <a:r>
                        <a:rPr sz="630" b="1">
                          <a:solidFill>
                            <a:srgbClr val="FFFFFF"/>
                          </a:solidFill>
                          <a:latin typeface="Calibri"/>
                        </a:rPr>
                        <a:t>Bull Value</a:t>
                      </a:r>
                    </a:p>
                  </a:txBody>
                  <a:tcPr marL="27432" marR="27432" marT="9144" marB="9144">
                    <a:solidFill>
                      <a:srgbClr val="1F4690"/>
                    </a:solidFill>
                  </a:tcPr>
                </a:tc>
              </a:tr>
              <a:tr h="163068">
                <a:tc>
                  <a:txBody>
                    <a:bodyPr/>
                    <a:lstStyle/>
                    <a:p>
                      <a:r>
                        <a:rPr sz="610" b="1">
                          <a:solidFill>
                            <a:srgbClr val="111111"/>
                          </a:solidFill>
                          <a:latin typeface="Calibri"/>
                        </a:rPr>
                        <a:t>Revenue CAGR</a:t>
                      </a:r>
                    </a:p>
                  </a:txBody>
                  <a:tcPr marL="27432" marR="27432" marT="9144" marB="9144">
                    <a:solidFill>
                      <a:srgbClr val="F4F6F9"/>
                    </a:solidFill>
                  </a:tcPr>
                </a:tc>
                <a:tc>
                  <a:txBody>
                    <a:bodyPr/>
                    <a:lstStyle/>
                    <a:p>
                      <a:pPr algn="r"/>
                      <a:r>
                        <a:rPr sz="610" b="0">
                          <a:solidFill>
                            <a:srgbClr val="111111"/>
                          </a:solidFill>
                          <a:latin typeface="Calibri"/>
                        </a:rPr>
                        <a:t>27.5%</a:t>
                      </a:r>
                    </a:p>
                  </a:txBody>
                  <a:tcPr marL="27432" marR="27432" marT="9144" marB="9144">
                    <a:solidFill>
                      <a:srgbClr val="F4F6F9"/>
                    </a:solidFill>
                  </a:tcPr>
                </a:tc>
              </a:tr>
              <a:tr h="163068">
                <a:tc>
                  <a:txBody>
                    <a:bodyPr/>
                    <a:lstStyle/>
                    <a:p>
                      <a:r>
                        <a:rPr sz="610" b="1">
                          <a:solidFill>
                            <a:srgbClr val="111111"/>
                          </a:solidFill>
                          <a:latin typeface="Calibri"/>
                        </a:rPr>
                        <a:t>EBITDA Margin</a:t>
                      </a:r>
                    </a:p>
                  </a:txBody>
                  <a:tcPr marL="27432" marR="27432" marT="9144" marB="9144">
                    <a:solidFill>
                      <a:srgbClr val="FFFFFF"/>
                    </a:solidFill>
                  </a:tcPr>
                </a:tc>
                <a:tc>
                  <a:txBody>
                    <a:bodyPr/>
                    <a:lstStyle/>
                    <a:p>
                      <a:pPr algn="r"/>
                      <a:r>
                        <a:rPr sz="610" b="0">
                          <a:solidFill>
                            <a:srgbClr val="111111"/>
                          </a:solidFill>
                          <a:latin typeface="Calibri"/>
                        </a:rPr>
                        <a:t>55.0%</a:t>
                      </a:r>
                    </a:p>
                  </a:txBody>
                  <a:tcPr marL="27432" marR="27432" marT="9144" marB="9144">
                    <a:solidFill>
                      <a:srgbClr val="FFFFFF"/>
                    </a:solidFill>
                  </a:tcPr>
                </a:tc>
              </a:tr>
              <a:tr h="163068">
                <a:tc>
                  <a:txBody>
                    <a:bodyPr/>
                    <a:lstStyle/>
                    <a:p>
                      <a:r>
                        <a:rPr sz="610" b="1">
                          <a:solidFill>
                            <a:srgbClr val="111111"/>
                          </a:solidFill>
                          <a:latin typeface="Calibri"/>
                        </a:rPr>
                        <a:t>Target Price</a:t>
                      </a:r>
                    </a:p>
                  </a:txBody>
                  <a:tcPr marL="27432" marR="27432" marT="9144" marB="9144">
                    <a:solidFill>
                      <a:srgbClr val="F4F6F9"/>
                    </a:solidFill>
                  </a:tcPr>
                </a:tc>
                <a:tc>
                  <a:txBody>
                    <a:bodyPr/>
                    <a:lstStyle/>
                    <a:p>
                      <a:pPr algn="r"/>
                      <a:r>
                        <a:rPr sz="610" b="1">
                          <a:solidFill>
                            <a:srgbClr val="1A7A4A"/>
                          </a:solidFill>
                          <a:latin typeface="Calibri"/>
                        </a:rPr>
                        <a:t>₹1,400</a:t>
                      </a:r>
                    </a:p>
                  </a:txBody>
                  <a:tcPr marL="27432" marR="27432" marT="9144" marB="9144">
                    <a:solidFill>
                      <a:srgbClr val="F4F6F9"/>
                    </a:solidFill>
                  </a:tcPr>
                </a:tc>
              </a:tr>
              <a:tr h="163068">
                <a:tc>
                  <a:txBody>
                    <a:bodyPr/>
                    <a:lstStyle/>
                    <a:p>
                      <a:r>
                        <a:rPr sz="610" b="1">
                          <a:solidFill>
                            <a:srgbClr val="111111"/>
                          </a:solidFill>
                          <a:latin typeface="Calibri"/>
                        </a:rPr>
                        <a:t>Probability</a:t>
                      </a:r>
                    </a:p>
                  </a:txBody>
                  <a:tcPr marL="27432" marR="27432" marT="9144" marB="9144">
                    <a:solidFill>
                      <a:srgbClr val="FFFFFF"/>
                    </a:solidFill>
                  </a:tcPr>
                </a:tc>
                <a:tc>
                  <a:txBody>
                    <a:bodyPr/>
                    <a:lstStyle/>
                    <a:p>
                      <a:pPr algn="r"/>
                      <a:r>
                        <a:rPr sz="610" b="0">
                          <a:solidFill>
                            <a:srgbClr val="111111"/>
                          </a:solidFill>
                          <a:latin typeface="Calibri"/>
                        </a:rPr>
                        <a:t>30.0%</a:t>
                      </a:r>
                    </a:p>
                  </a:txBody>
                  <a:tcPr marL="27432" marR="27432" marT="9144" marB="9144">
                    <a:solidFill>
                      <a:srgbClr val="FFFFFF"/>
                    </a:solidFill>
                  </a:tcPr>
                </a:tc>
              </a:tr>
              <a:tr h="163068">
                <a:tc>
                  <a:txBody>
                    <a:bodyPr/>
                    <a:lstStyle/>
                    <a:p>
                      <a:r>
                        <a:rPr sz="610" b="1">
                          <a:solidFill>
                            <a:srgbClr val="111111"/>
                          </a:solidFill>
                          <a:latin typeface="Calibri"/>
                        </a:rPr>
                        <a:t>vs CMP</a:t>
                      </a:r>
                    </a:p>
                  </a:txBody>
                  <a:tcPr marL="27432" marR="27432" marT="9144" marB="9144">
                    <a:solidFill>
                      <a:srgbClr val="F4F6F9"/>
                    </a:solidFill>
                  </a:tcPr>
                </a:tc>
                <a:tc>
                  <a:txBody>
                    <a:bodyPr/>
                    <a:lstStyle/>
                    <a:p>
                      <a:pPr algn="r"/>
                      <a:r>
                        <a:rPr sz="61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Catalysts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Catalysts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Team</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Team</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200">
                          <a:solidFill>
                            <a:srgbClr val="FFFFFF"/>
                          </a:solidFill>
                          <a:latin typeface="Calibri"/>
                        </a:rPr>
                        <a:t>Name</a:t>
                      </a:r>
                    </a:p>
                  </a:txBody>
                  <a:tcPr marL="36576" marR="36576" marT="18288" marB="18288">
                    <a:solidFill>
                      <a:srgbClr val="1F4690"/>
                    </a:solidFill>
                  </a:tcPr>
                </a:tc>
                <a:tc>
                  <a:txBody>
                    <a:bodyPr/>
                    <a:lstStyle/>
                    <a:p>
                      <a:pPr algn="r"/>
                      <a:r>
                        <a:rPr b="1" sz="1200">
                          <a:solidFill>
                            <a:srgbClr val="FFFFFF"/>
                          </a:solidFill>
                          <a:latin typeface="Calibri"/>
                        </a:rPr>
                        <a:t>Role</a:t>
                      </a:r>
                    </a:p>
                  </a:txBody>
                  <a:tcPr marL="36576" marR="36576" marT="18288" marB="18288">
                    <a:solidFill>
                      <a:srgbClr val="1F4690"/>
                    </a:solidFill>
                  </a:tcPr>
                </a:tc>
                <a:tc>
                  <a:txBody>
                    <a:bodyPr/>
                    <a:lstStyle/>
                    <a:p>
                      <a:pPr algn="r"/>
                      <a:r>
                        <a:rPr b="1" sz="1200">
                          <a:solidFill>
                            <a:srgbClr val="FFFFFF"/>
                          </a:solidFill>
                          <a:latin typeface="Calibri"/>
                        </a:rPr>
                        <a:t>Background</a:t>
                      </a:r>
                    </a:p>
                  </a:txBody>
                  <a:tcPr marL="36576" marR="36576" marT="18288" marB="18288">
                    <a:solidFill>
                      <a:srgbClr val="1F4690"/>
                    </a:solidFill>
                  </a:tcPr>
                </a:tc>
              </a:tr>
              <a:tr h="850392">
                <a:tc>
                  <a:txBody>
                    <a:bodyPr/>
                    <a:lstStyle/>
                    <a:p>
                      <a:r>
                        <a:rPr sz="1200" b="1">
                          <a:solidFill>
                            <a:srgbClr val="5A6573"/>
                          </a:solidFill>
                          <a:latin typeface="Calibri"/>
                        </a:rPr>
                        <a:t>Raamdeo Agrawal</a:t>
                      </a:r>
                    </a:p>
                  </a:txBody>
                  <a:tcPr marL="36576" marR="36576" marT="18288" marB="18288">
                    <a:solidFill>
                      <a:srgbClr val="F4F6F9"/>
                    </a:solidFill>
                  </a:tcPr>
                </a:tc>
                <a:tc>
                  <a:txBody>
                    <a:bodyPr/>
                    <a:lstStyle/>
                    <a:p>
                      <a:pPr algn="r"/>
                      <a:r>
                        <a:rPr sz="1200">
                          <a:solidFill>
                            <a:srgbClr val="111111"/>
                          </a:solidFill>
                          <a:latin typeface="Calibri"/>
                        </a:rPr>
                        <a:t>Chairman, MOFSL &amp; Chairman, AMC</a:t>
                      </a:r>
                    </a:p>
                  </a:txBody>
                  <a:tcPr marL="36576" marR="36576" marT="18288" marB="18288">
                    <a:solidFill>
                      <a:srgbClr val="F4F6F9"/>
                    </a:solidFill>
                  </a:tcPr>
                </a:tc>
                <a:tc>
                  <a:txBody>
                    <a:bodyPr/>
                    <a:lstStyle/>
                    <a:p>
                      <a:pPr algn="r"/>
                      <a:r>
                        <a:rPr sz="12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36576" marR="36576" marT="18288" marB="18288">
                    <a:solidFill>
                      <a:srgbClr val="F4F6F9"/>
                    </a:solidFill>
                  </a:tcPr>
                </a:tc>
              </a:tr>
              <a:tr h="850392">
                <a:tc>
                  <a:txBody>
                    <a:bodyPr/>
                    <a:lstStyle/>
                    <a:p>
                      <a:r>
                        <a:rPr sz="1200" b="1">
                          <a:solidFill>
                            <a:srgbClr val="5A6573"/>
                          </a:solidFill>
                          <a:latin typeface="Calibri"/>
                        </a:rPr>
                        <a:t>Motilal Oswal</a:t>
                      </a:r>
                    </a:p>
                  </a:txBody>
                  <a:tcPr marL="36576" marR="36576" marT="18288" marB="18288">
                    <a:solidFill>
                      <a:srgbClr val="FFFFFF"/>
                    </a:solidFill>
                  </a:tcPr>
                </a:tc>
                <a:tc>
                  <a:txBody>
                    <a:bodyPr/>
                    <a:lstStyle/>
                    <a:p>
                      <a:pPr algn="r"/>
                      <a:r>
                        <a:rPr sz="1200">
                          <a:solidFill>
                            <a:srgbClr val="111111"/>
                          </a:solidFill>
                          <a:latin typeface="Calibri"/>
                        </a:rPr>
                        <a:t>Founder, Chairman &amp; MD</a:t>
                      </a:r>
                    </a:p>
                  </a:txBody>
                  <a:tcPr marL="36576" marR="36576" marT="18288" marB="18288">
                    <a:solidFill>
                      <a:srgbClr val="FFFFFF"/>
                    </a:solidFill>
                  </a:tcPr>
                </a:tc>
                <a:tc>
                  <a:txBody>
                    <a:bodyPr/>
                    <a:lstStyle/>
                    <a:p>
                      <a:pPr algn="r"/>
                      <a:r>
                        <a:rPr sz="12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36576" marR="36576" marT="18288" marB="18288">
                    <a:solidFill>
                      <a:srgbClr val="FFFFFF"/>
                    </a:solidFill>
                  </a:tcPr>
                </a:tc>
              </a:tr>
              <a:tr h="850392">
                <a:tc>
                  <a:txBody>
                    <a:bodyPr/>
                    <a:lstStyle/>
                    <a:p>
                      <a:r>
                        <a:rPr sz="1200" b="1">
                          <a:solidFill>
                            <a:srgbClr val="5A6573"/>
                          </a:solidFill>
                          <a:latin typeface="Calibri"/>
                        </a:rPr>
                        <a:t>Navin Agarwal</a:t>
                      </a:r>
                    </a:p>
                  </a:txBody>
                  <a:tcPr marL="36576" marR="36576" marT="18288" marB="18288">
                    <a:solidFill>
                      <a:srgbClr val="F4F6F9"/>
                    </a:solidFill>
                  </a:tcPr>
                </a:tc>
                <a:tc>
                  <a:txBody>
                    <a:bodyPr/>
                    <a:lstStyle/>
                    <a:p>
                      <a:pPr algn="r"/>
                      <a:r>
                        <a:rPr sz="1200">
                          <a:solidFill>
                            <a:srgbClr val="111111"/>
                          </a:solidFill>
                          <a:latin typeface="Calibri"/>
                        </a:rPr>
                        <a:t>Executive Board — Strategy &amp; Capital Allocation</a:t>
                      </a:r>
                    </a:p>
                  </a:txBody>
                  <a:tcPr marL="36576" marR="36576" marT="18288" marB="18288">
                    <a:solidFill>
                      <a:srgbClr val="F4F6F9"/>
                    </a:solidFill>
                  </a:tcPr>
                </a:tc>
                <a:tc>
                  <a:txBody>
                    <a:bodyPr/>
                    <a:lstStyle/>
                    <a:p>
                      <a:pPr algn="r"/>
                      <a:r>
                        <a:rPr sz="1200">
                          <a:solidFill>
                            <a:srgbClr val="111111"/>
                          </a:solidFill>
                          <a:latin typeface="Calibri"/>
                        </a:rPr>
                        <a:t>Joined 2000. Drives business strategy and capital allocation across the Group, building market-leading positions through disciplined deployment.</a:t>
                      </a:r>
                    </a:p>
                  </a:txBody>
                  <a:tcPr marL="36576" marR="36576" marT="18288" marB="18288">
                    <a:solidFill>
                      <a:srgbClr val="F4F6F9"/>
                    </a:solidFill>
                  </a:tcPr>
                </a:tc>
              </a:tr>
              <a:tr h="850392">
                <a:tc>
                  <a:txBody>
                    <a:bodyPr/>
                    <a:lstStyle/>
                    <a:p>
                      <a:r>
                        <a:rPr sz="1200" b="1">
                          <a:solidFill>
                            <a:srgbClr val="5A6573"/>
                          </a:solidFill>
                          <a:latin typeface="Calibri"/>
                        </a:rPr>
                        <a:t>Ajay Menon</a:t>
                      </a:r>
                    </a:p>
                  </a:txBody>
                  <a:tcPr marL="36576" marR="36576" marT="18288" marB="18288">
                    <a:solidFill>
                      <a:srgbClr val="FFFFFF"/>
                    </a:solidFill>
                  </a:tcPr>
                </a:tc>
                <a:tc>
                  <a:txBody>
                    <a:bodyPr/>
                    <a:lstStyle/>
                    <a:p>
                      <a:pPr algn="r"/>
                      <a:r>
                        <a:rPr sz="1200">
                          <a:solidFill>
                            <a:srgbClr val="111111"/>
                          </a:solidFill>
                          <a:latin typeface="Calibri"/>
                        </a:rPr>
                        <a:t>Executive — Operations, Compliance, Risk &amp; Technology</a:t>
                      </a:r>
                    </a:p>
                  </a:txBody>
                  <a:tcPr marL="36576" marR="36576" marT="18288" marB="18288">
                    <a:solidFill>
                      <a:srgbClr val="FFFFFF"/>
                    </a:solidFill>
                  </a:tcPr>
                </a:tc>
                <a:tc>
                  <a:txBody>
                    <a:bodyPr/>
                    <a:lstStyle/>
                    <a:p>
                      <a:pPr algn="r"/>
                      <a:r>
                        <a:rPr sz="1200">
                          <a:solidFill>
                            <a:srgbClr val="111111"/>
                          </a:solidFill>
                          <a:latin typeface="Calibri"/>
                        </a:rPr>
                        <a:t>Joined 1998. 27+ years in Indian capital markets. Cornerstone of operational excellence and technology initiatives across the Group.</a:t>
                      </a:r>
                    </a:p>
                  </a:txBody>
                  <a:tcPr marL="36576" marR="36576"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Forensic / Governance — Monitor Closely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Forensic / Governance — Monitor Closely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9" name="Table 18"/>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200">
                          <a:solidFill>
                            <a:srgbClr val="FFFFFF"/>
                          </a:solidFill>
                          <a:latin typeface="Calibri"/>
                        </a:rPr>
                        <a:t>Matter</a:t>
                      </a:r>
                    </a:p>
                  </a:txBody>
                  <a:tcPr marL="36576" marR="36576" marT="18288" marB="18288">
                    <a:solidFill>
                      <a:srgbClr val="1F4690"/>
                    </a:solidFill>
                  </a:tcPr>
                </a:tc>
                <a:tc>
                  <a:txBody>
                    <a:bodyPr/>
                    <a:lstStyle/>
                    <a:p>
                      <a:pPr algn="r"/>
                      <a:r>
                        <a:rPr b="1" sz="1200">
                          <a:solidFill>
                            <a:srgbClr val="FFFFFF"/>
                          </a:solidFill>
                          <a:latin typeface="Calibri"/>
                        </a:rPr>
                        <a:t>Description</a:t>
                      </a:r>
                    </a:p>
                  </a:txBody>
                  <a:tcPr marL="36576" marR="36576" marT="18288" marB="18288">
                    <a:solidFill>
                      <a:srgbClr val="1F4690"/>
                    </a:solidFill>
                  </a:tcPr>
                </a:tc>
                <a:tc>
                  <a:txBody>
                    <a:bodyPr/>
                    <a:lstStyle/>
                    <a:p>
                      <a:pPr algn="r"/>
                      <a:r>
                        <a:rPr b="1" sz="1200">
                          <a:solidFill>
                            <a:srgbClr val="FFFFFF"/>
                          </a:solidFill>
                          <a:latin typeface="Calibri"/>
                        </a:rPr>
                        <a:t>Severity</a:t>
                      </a:r>
                    </a:p>
                  </a:txBody>
                  <a:tcPr marL="36576" marR="36576" marT="18288" marB="18288">
                    <a:solidFill>
                      <a:srgbClr val="1F4690"/>
                    </a:solidFill>
                  </a:tcPr>
                </a:tc>
              </a:tr>
              <a:tr h="678180">
                <a:tc>
                  <a:txBody>
                    <a:bodyPr/>
                    <a:lstStyle/>
                    <a:p>
                      <a:r>
                        <a:rPr sz="1200" b="1">
                          <a:solidFill>
                            <a:srgbClr val="5A6573"/>
                          </a:solidFill>
                          <a:latin typeface="Calibri"/>
                        </a:rPr>
                        <a:t>SEBI — Margin Reporting Violations</a:t>
                      </a:r>
                    </a:p>
                  </a:txBody>
                  <a:tcPr marL="36576" marR="36576" marT="18288" marB="18288">
                    <a:solidFill>
                      <a:srgbClr val="F4F6F9"/>
                    </a:solidFill>
                  </a:tcPr>
                </a:tc>
                <a:tc>
                  <a:txBody>
                    <a:bodyPr/>
                    <a:lstStyle/>
                    <a:p>
                      <a:pPr algn="r"/>
                      <a:r>
                        <a:rPr sz="1200">
                          <a:solidFill>
                            <a:srgbClr val="111111"/>
                          </a:solidFill>
                          <a:latin typeface="Calibri"/>
                        </a:rPr>
                        <a:t>INR 7 lakh penalty for margin reporting, collection violations, and other regulatory lapses found during inspection.</a:t>
                      </a:r>
                    </a:p>
                  </a:txBody>
                  <a:tcPr marL="36576" marR="36576" marT="18288" marB="18288">
                    <a:solidFill>
                      <a:srgbClr val="F4F6F9"/>
                    </a:solidFill>
                  </a:tcPr>
                </a:tc>
                <a:tc>
                  <a:txBody>
                    <a:bodyPr/>
                    <a:lstStyle/>
                    <a:p>
                      <a:pPr algn="r"/>
                      <a:r>
                        <a:rPr sz="1200">
                          <a:solidFill>
                            <a:srgbClr val="111111"/>
                          </a:solidFill>
                          <a:latin typeface="Calibri"/>
                        </a:rPr>
                        <a:t>Low</a:t>
                      </a:r>
                    </a:p>
                  </a:txBody>
                  <a:tcPr marL="36576" marR="36576" marT="18288" marB="18288">
                    <a:solidFill>
                      <a:srgbClr val="F4F6F9"/>
                    </a:solidFill>
                  </a:tcPr>
                </a:tc>
              </a:tr>
              <a:tr h="678180">
                <a:tc>
                  <a:txBody>
                    <a:bodyPr/>
                    <a:lstStyle/>
                    <a:p>
                      <a:r>
                        <a:rPr sz="1200" b="1">
                          <a:solidFill>
                            <a:srgbClr val="5A6573"/>
                          </a:solidFill>
                          <a:latin typeface="Calibri"/>
                        </a:rPr>
                        <a:t>SEBI — Client Fund Misutilization (2022)</a:t>
                      </a:r>
                    </a:p>
                  </a:txBody>
                  <a:tcPr marL="36576" marR="36576" marT="18288" marB="18288">
                    <a:solidFill>
                      <a:srgbClr val="FFFFFF"/>
                    </a:solidFill>
                  </a:tcPr>
                </a:tc>
                <a:tc>
                  <a:txBody>
                    <a:bodyPr/>
                    <a:lstStyle/>
                    <a:p>
                      <a:pPr algn="r"/>
                      <a:r>
                        <a:rPr sz="1200">
                          <a:solidFill>
                            <a:srgbClr val="111111"/>
                          </a:solidFill>
                          <a:latin typeface="Calibri"/>
                        </a:rPr>
                        <a:t>INR 25 lakh fine for misutilization of client funds and inaccurate margin reporting.</a:t>
                      </a:r>
                    </a:p>
                  </a:txBody>
                  <a:tcPr marL="36576" marR="36576" marT="18288" marB="18288">
                    <a:solidFill>
                      <a:srgbClr val="FFFFFF"/>
                    </a:solidFill>
                  </a:tcPr>
                </a:tc>
                <a:tc>
                  <a:txBody>
                    <a:bodyPr/>
                    <a:lstStyle/>
                    <a:p>
                      <a:pPr algn="r"/>
                      <a:r>
                        <a:rPr sz="1200">
                          <a:solidFill>
                            <a:srgbClr val="111111"/>
                          </a:solidFill>
                          <a:latin typeface="Calibri"/>
                        </a:rPr>
                        <a:t>Medium</a:t>
                      </a:r>
                    </a:p>
                  </a:txBody>
                  <a:tcPr marL="36576" marR="36576" marT="18288" marB="18288">
                    <a:solidFill>
                      <a:srgbClr val="FFFFFF"/>
                    </a:solidFill>
                  </a:tcPr>
                </a:tc>
              </a:tr>
              <a:tr h="678180">
                <a:tc>
                  <a:txBody>
                    <a:bodyPr/>
                    <a:lstStyle/>
                    <a:p>
                      <a:r>
                        <a:rPr sz="1200" b="1">
                          <a:solidFill>
                            <a:srgbClr val="5A6573"/>
                          </a:solidFill>
                          <a:latin typeface="Calibri"/>
                        </a:rPr>
                        <a:t>NSEL — Misselling Accusations</a:t>
                      </a:r>
                    </a:p>
                  </a:txBody>
                  <a:tcPr marL="36576" marR="36576" marT="18288" marB="18288">
                    <a:solidFill>
                      <a:srgbClr val="F4F6F9"/>
                    </a:solidFill>
                  </a:tcPr>
                </a:tc>
                <a:tc>
                  <a:txBody>
                    <a:bodyPr/>
                    <a:lstStyle/>
                    <a:p>
                      <a:pPr algn="r"/>
                      <a:r>
                        <a:rPr sz="1200">
                          <a:solidFill>
                            <a:srgbClr val="111111"/>
                          </a:solidFill>
                          <a:latin typeface="Calibri"/>
                        </a:rPr>
                        <a:t>Accused alongside other top brokers of misselling NSEL contracts, KYC manipulation, client code modification, and illegal transactions per SFIO/EOW findings.</a:t>
                      </a:r>
                    </a:p>
                  </a:txBody>
                  <a:tcPr marL="36576" marR="36576" marT="18288" marB="18288">
                    <a:solidFill>
                      <a:srgbClr val="F4F6F9"/>
                    </a:solidFill>
                  </a:tcPr>
                </a:tc>
                <a:tc>
                  <a:txBody>
                    <a:bodyPr/>
                    <a:lstStyle/>
                    <a:p>
                      <a:pPr algn="r"/>
                      <a:r>
                        <a:rPr sz="1200">
                          <a:solidFill>
                            <a:srgbClr val="111111"/>
                          </a:solidFill>
                          <a:latin typeface="Calibri"/>
                        </a:rPr>
                        <a:t>High (Historical)</a:t>
                      </a:r>
                    </a:p>
                  </a:txBody>
                  <a:tcPr marL="36576" marR="36576" marT="18288" marB="18288">
                    <a:solidFill>
                      <a:srgbClr val="F4F6F9"/>
                    </a:solidFill>
                  </a:tcPr>
                </a:tc>
              </a:tr>
              <a:tr h="678180">
                <a:tc>
                  <a:txBody>
                    <a:bodyPr/>
                    <a:lstStyle/>
                    <a:p>
                      <a:r>
                        <a:rPr sz="1200" b="1">
                          <a:solidFill>
                            <a:srgbClr val="5A6573"/>
                          </a:solidFill>
                          <a:latin typeface="Calibri"/>
                        </a:rPr>
                        <a:t>SEBI — Not Fit and Proper (Commodities)</a:t>
                      </a:r>
                    </a:p>
                  </a:txBody>
                  <a:tcPr marL="36576" marR="36576" marT="18288" marB="18288">
                    <a:solidFill>
                      <a:srgbClr val="FFFFFF"/>
                    </a:solidFill>
                  </a:tcPr>
                </a:tc>
                <a:tc>
                  <a:txBody>
                    <a:bodyPr/>
                    <a:lstStyle/>
                    <a:p>
                      <a:pPr algn="r"/>
                      <a:r>
                        <a:rPr sz="1200">
                          <a:solidFill>
                            <a:srgbClr val="111111"/>
                          </a:solidFill>
                          <a:latin typeface="Calibri"/>
                        </a:rPr>
                        <a:t>Declared 'not fit and proper' as commodity derivative broker in Feb 2019 based on SFIO/EOW recommendations.</a:t>
                      </a:r>
                    </a:p>
                  </a:txBody>
                  <a:tcPr marL="36576" marR="36576" marT="18288" marB="18288">
                    <a:solidFill>
                      <a:srgbClr val="FFFFFF"/>
                    </a:solidFill>
                  </a:tcPr>
                </a:tc>
                <a:tc>
                  <a:txBody>
                    <a:bodyPr/>
                    <a:lstStyle/>
                    <a:p>
                      <a:pPr algn="r"/>
                      <a:r>
                        <a:rPr sz="1200">
                          <a:solidFill>
                            <a:srgbClr val="111111"/>
                          </a:solidFill>
                          <a:latin typeface="Calibri"/>
                        </a:rPr>
                        <a:t>High (Historical)</a:t>
                      </a:r>
                    </a:p>
                  </a:txBody>
                  <a:tcPr marL="36576" marR="36576" marT="18288" marB="18288">
                    <a:solidFill>
                      <a:srgbClr val="FFFFFF"/>
                    </a:solidFill>
                  </a:tcPr>
                </a:tc>
              </a:tr>
              <a:tr h="678180">
                <a:tc>
                  <a:txBody>
                    <a:bodyPr/>
                    <a:lstStyle/>
                    <a:p>
                      <a:r>
                        <a:rPr sz="1200" b="1">
                          <a:solidFill>
                            <a:srgbClr val="5A6573"/>
                          </a:solidFill>
                          <a:latin typeface="Calibri"/>
                        </a:rPr>
                        <a:t>Unauthorized Terminal Operations</a:t>
                      </a:r>
                    </a:p>
                  </a:txBody>
                  <a:tcPr marL="36576" marR="36576" marT="18288" marB="18288">
                    <a:solidFill>
                      <a:srgbClr val="F4F6F9"/>
                    </a:solidFill>
                  </a:tcPr>
                </a:tc>
                <a:tc>
                  <a:txBody>
                    <a:bodyPr/>
                    <a:lstStyle/>
                    <a:p>
                      <a:pPr algn="r"/>
                      <a:r>
                        <a:rPr sz="1200">
                          <a:solidFill>
                            <a:srgbClr val="111111"/>
                          </a:solidFill>
                          <a:latin typeface="Calibri"/>
                        </a:rPr>
                        <a:t>13 NSE and 9 BSE terminals operating from undeclared locations including an unreported branch in Delhi.</a:t>
                      </a:r>
                    </a:p>
                  </a:txBody>
                  <a:tcPr marL="36576" marR="36576" marT="18288" marB="18288">
                    <a:solidFill>
                      <a:srgbClr val="F4F6F9"/>
                    </a:solidFill>
                  </a:tcPr>
                </a:tc>
                <a:tc>
                  <a:txBody>
                    <a:bodyPr/>
                    <a:lstStyle/>
                    <a:p>
                      <a:pPr algn="r"/>
                      <a:r>
                        <a:rPr sz="1200">
                          <a:solidFill>
                            <a:srgbClr val="111111"/>
                          </a:solidFill>
                          <a:latin typeface="Calibri"/>
                        </a:rPr>
                        <a:t>Medium</a:t>
                      </a:r>
                    </a:p>
                  </a:txBody>
                  <a:tcPr marL="36576" marR="36576" marT="18288" marB="18288">
                    <a:solidFill>
                      <a:srgbClr val="F4F6F9"/>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Trading Strategy</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Trading Strategy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Entry: the relevant figure-850. 15-the relevant figure discount to analyst consensus target — margin of safety. Position size: 3-the relevant figure of portfolio (institutional). Review: Quarterly. Downside exit: Stop-loss at the relevant figure (-the relevant figure from CMP) on technical break with high volume. Upside exit: Sell the relevant figure at the relevant figure-1,150 (30-the relevant figure gains) / Sell remaining at the relevant figure+ if multiples expand beyond the relevant figure P/E.</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above the relevant figure of net revenues</a:t>
            </a:r>
          </a:p>
          <a:p>
            <a:pPr>
              <a:spcAft>
                <a:spcPts val="400"/>
              </a:spcAft>
            </a:pPr>
            <a:r>
              <a:rPr sz="1200" b="0">
                <a:solidFill>
                  <a:srgbClr val="111111"/>
                </a:solidFill>
                <a:latin typeface="Calibri"/>
              </a:rPr>
              <a:t>•  AMC AUM growth above the relevant figure YoY with net flows &gt; the relevant figure Cr</a:t>
            </a:r>
          </a:p>
          <a:p>
            <a:pPr>
              <a:spcAft>
                <a:spcPts val="400"/>
              </a:spcAft>
            </a:pPr>
            <a:r>
              <a:rPr sz="1200" b="0">
                <a:solidFill>
                  <a:srgbClr val="111111"/>
                </a:solidFill>
                <a:latin typeface="Calibri"/>
              </a:rPr>
              <a:t>•  PWM AUM growth above the relevant figure YoY with family count expansion</a:t>
            </a:r>
          </a:p>
          <a:p>
            <a:pPr>
              <a:spcAft>
                <a:spcPts val="400"/>
              </a:spcAft>
            </a:pPr>
            <a:r>
              <a:rPr sz="1200" b="0">
                <a:solidFill>
                  <a:srgbClr val="111111"/>
                </a:solidFill>
                <a:latin typeface="Calibri"/>
              </a:rPr>
              <a:t>•  Cost-to-income ratio declining</a:t>
            </a:r>
          </a:p>
          <a:p>
            <a:pPr>
              <a:spcAft>
                <a:spcPts val="400"/>
              </a:spcAft>
            </a:pPr>
            <a:r>
              <a:rPr sz="1200" b="0">
                <a:solidFill>
                  <a:srgbClr val="111111"/>
                </a:solidFill>
                <a:latin typeface="Calibri"/>
              </a:rPr>
              <a:t>•  SEBI compliance with no major enforcement 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Analyst Certification &amp; Disclosures</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Analyst Certification &amp; Disclosures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squar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7" name="TextBox 6"/>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