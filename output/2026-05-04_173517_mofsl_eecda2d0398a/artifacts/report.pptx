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TextBox 13"/>
          <p:cNvSpPr txBox="1"/>
          <p:nvPr/>
        </p:nvSpPr>
        <p:spPr>
          <a:xfrm>
            <a:off x="292608" y="1078992"/>
            <a:ext cx="7059168" cy="164592"/>
          </a:xfrm>
          <a:prstGeom prst="rect">
            <a:avLst/>
          </a:prstGeom>
          <a:noFill/>
        </p:spPr>
        <p:txBody>
          <a:bodyPr wrap="square" lIns="36576" rIns="36576" tIns="9144" bIns="9144">
            <a:spAutoFit/>
          </a:bodyPr>
          <a:lstStyle/>
          <a:p>
            <a:r>
              <a:rPr sz="800" b="1">
                <a:solidFill>
                  <a:srgbClr val="1F4690"/>
                </a:solidFill>
                <a:latin typeface="Calibri"/>
              </a:rPr>
              <a:t>P/E-Based Valuation — Primary Method</a:t>
            </a:r>
          </a:p>
        </p:txBody>
      </p:sp>
      <p:sp>
        <p:nvSpPr>
          <p:cNvPr id="15" name="Rectangle 14"/>
          <p:cNvSpPr/>
          <p:nvPr/>
        </p:nvSpPr>
        <p:spPr>
          <a:xfrm>
            <a:off x="292608" y="1280160"/>
            <a:ext cx="7059168" cy="1828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1298448"/>
            <a:ext cx="6949440" cy="146304"/>
          </a:xfrm>
          <a:prstGeom prst="rect">
            <a:avLst/>
          </a:prstGeom>
          <a:noFill/>
        </p:spPr>
        <p:txBody>
          <a:bodyPr wrap="square" lIns="36576" rIns="36576" tIns="9144" bIns="9144">
            <a:spAutoFit/>
          </a:bodyPr>
          <a:lstStyle/>
          <a:p>
            <a:r>
              <a:rPr sz="600" b="1">
                <a:solidFill>
                  <a:srgbClr val="FFFFFF"/>
                </a:solidFill>
                <a:latin typeface="Calibri"/>
              </a:rPr>
              <a:t>Target Price Derivation — Tikona Capital Base Case</a:t>
            </a:r>
          </a:p>
        </p:txBody>
      </p:sp>
      <p:graphicFrame>
        <p:nvGraphicFramePr>
          <p:cNvPr id="17" name="Table 16"/>
          <p:cNvGraphicFramePr>
            <a:graphicFrameLocks noGrp="1"/>
          </p:cNvGraphicFramePr>
          <p:nvPr/>
        </p:nvGraphicFramePr>
        <p:xfrm>
          <a:off x="292608" y="1463039"/>
          <a:ext cx="7059166" cy="1005840"/>
        </p:xfrm>
        <a:graphic>
          <a:graphicData uri="http://schemas.openxmlformats.org/drawingml/2006/table">
            <a:tbl>
              <a:tblPr firstRow="1" bandRow="1">
                <a:tableStyleId>{5C22544A-7EE6-4342-B048-85BDC9FD1C3A}</a:tableStyleId>
              </a:tblPr>
              <a:tblGrid>
                <a:gridCol w="2329525"/>
                <a:gridCol w="1576547"/>
                <a:gridCol w="1576547"/>
                <a:gridCol w="1576547"/>
              </a:tblGrid>
              <a:tr h="201168">
                <a:tc>
                  <a:txBody>
                    <a:bodyPr lIns="27432" tIns="9144" bIns="9144"/>
                    <a:lstStyle/>
                    <a:p>
                      <a:r>
                        <a:rPr sz="580" b="1">
                          <a:solidFill>
                            <a:srgbClr val="FFFFFF"/>
                          </a:solidFill>
                          <a:latin typeface="Calibri"/>
                        </a:rPr>
                        <a:t>Method</a:t>
                      </a:r>
                    </a:p>
                  </a:txBody>
                  <a:tcPr>
                    <a:solidFill>
                      <a:srgbClr val="1F4690"/>
                    </a:solidFill>
                  </a:tcPr>
                </a:tc>
                <a:tc>
                  <a:txBody>
                    <a:bodyPr lIns="27432" tIns="9144" bIns="9144"/>
                    <a:lstStyle/>
                    <a:p>
                      <a:r>
                        <a:rPr sz="580" b="1">
                          <a:solidFill>
                            <a:srgbClr val="FFFFFF"/>
                          </a:solidFill>
                          <a:latin typeface="Calibri"/>
                        </a:rPr>
                        <a:t>Multiple Applied</a:t>
                      </a:r>
                    </a:p>
                  </a:txBody>
                  <a:tcPr>
                    <a:solidFill>
                      <a:srgbClr val="1F4690"/>
                    </a:solidFill>
                  </a:tcPr>
                </a:tc>
                <a:tc>
                  <a:txBody>
                    <a:bodyPr lIns="27432" tIns="9144" bIns="9144"/>
                    <a:lstStyle/>
                    <a:p>
                      <a:r>
                        <a:rPr sz="580" b="1">
                          <a:solidFill>
                            <a:srgbClr val="FFFFFF"/>
                          </a:solidFill>
                          <a:latin typeface="Calibri"/>
                        </a:rPr>
                        <a:t>Earnings Base</a:t>
                      </a:r>
                    </a:p>
                  </a:txBody>
                  <a:tcPr>
                    <a:solidFill>
                      <a:srgbClr val="1F4690"/>
                    </a:solidFill>
                  </a:tcPr>
                </a:tc>
                <a:tc>
                  <a:txBody>
                    <a:bodyPr lIns="27432" tIns="9144" bIns="9144"/>
                    <a:lstStyle/>
                    <a:p>
                      <a:r>
                        <a:rPr sz="580" b="1">
                          <a:solidFill>
                            <a:srgbClr val="FFFFFF"/>
                          </a:solidFill>
                          <a:latin typeface="Calibri"/>
                        </a:rPr>
                        <a:t>Value Per Share (₹)</a:t>
                      </a:r>
                    </a:p>
                  </a:txBody>
                  <a:tcPr>
                    <a:solidFill>
                      <a:srgbClr val="1F4690"/>
                    </a:solidFill>
                  </a:tcPr>
                </a:tc>
              </a:tr>
              <a:tr h="201168">
                <a:tc>
                  <a:txBody>
                    <a:bodyPr lIns="27432" tIns="9144" bIns="9144"/>
                    <a:lstStyle/>
                    <a:p>
                      <a:r>
                        <a:rPr sz="560" b="0">
                          <a:solidFill>
                            <a:srgbClr val="111111"/>
                          </a:solidFill>
                          <a:latin typeface="Calibri"/>
                        </a:rPr>
                        <a:t>Base Case P/E</a:t>
                      </a:r>
                    </a:p>
                  </a:txBody>
                  <a:tcPr>
                    <a:solidFill>
                      <a:srgbClr val="FFFFFF"/>
                    </a:solidFill>
                  </a:tcPr>
                </a:tc>
                <a:tc>
                  <a:txBody>
                    <a:bodyPr lIns="27432" tIns="9144" bIns="9144"/>
                    <a:lstStyle/>
                    <a:p>
                      <a:r>
                        <a:rPr sz="560" b="0">
                          <a:solidFill>
                            <a:srgbClr val="111111"/>
                          </a:solidFill>
                          <a:latin typeface="Calibri"/>
                        </a:rPr>
                        <a:t>24x P/E</a:t>
                      </a:r>
                    </a:p>
                  </a:txBody>
                  <a:tcPr>
                    <a:solidFill>
                      <a:srgbClr val="FFFFFF"/>
                    </a:solidFill>
                  </a:tcPr>
                </a:tc>
                <a:tc>
                  <a:txBody>
                    <a:bodyPr lIns="27432" tIns="9144" bIns="9144"/>
                    <a:lstStyle/>
                    <a:p>
                      <a:r>
                        <a:rPr sz="560" b="0">
                          <a:solidFill>
                            <a:srgbClr val="111111"/>
                          </a:solidFill>
                          <a:latin typeface="Calibri"/>
                        </a:rPr>
                        <a:t>FY27E EPS of ₹66.5</a:t>
                      </a:r>
                    </a:p>
                  </a:txBody>
                  <a:tcPr>
                    <a:solidFill>
                      <a:srgbClr val="FFFFFF"/>
                    </a:solidFill>
                  </a:tcPr>
                </a:tc>
                <a:tc>
                  <a:txBody>
                    <a:bodyPr lIns="27432" tIns="9144" bIns="9144"/>
                    <a:lstStyle/>
                    <a:p>
                      <a:r>
                        <a:rPr sz="560" b="0">
                          <a:solidFill>
                            <a:srgbClr val="111111"/>
                          </a:solidFill>
                          <a:latin typeface="Calibri"/>
                        </a:rPr>
                        <a:t>₹1,596 (unadjusted)</a:t>
                      </a:r>
                    </a:p>
                  </a:txBody>
                  <a:tcPr>
                    <a:solidFill>
                      <a:srgbClr val="FFFFFF"/>
                    </a:solidFill>
                  </a:tcPr>
                </a:tc>
              </a:tr>
              <a:tr h="201168">
                <a:tc>
                  <a:txBody>
                    <a:bodyPr lIns="27432" tIns="9144" bIns="9144"/>
                    <a:lstStyle/>
                    <a:p>
                      <a:r>
                        <a:rPr sz="560" b="0">
                          <a:solidFill>
                            <a:srgbClr val="111111"/>
                          </a:solidFill>
                          <a:latin typeface="Calibri"/>
                        </a:rPr>
                        <a:t>Discounted Target (1Y)</a:t>
                      </a:r>
                    </a:p>
                  </a:txBody>
                  <a:tcPr>
                    <a:solidFill>
                      <a:srgbClr val="F5F7FA"/>
                    </a:solidFill>
                  </a:tcPr>
                </a:tc>
                <a:tc>
                  <a:txBody>
                    <a:bodyPr lIns="27432" tIns="9144" bIns="9144"/>
                    <a:lstStyle/>
                    <a:p>
                      <a:r>
                        <a:rPr sz="560" b="0">
                          <a:solidFill>
                            <a:srgbClr val="111111"/>
                          </a:solidFill>
                          <a:latin typeface="Calibri"/>
                        </a:rPr>
                        <a:t>12% discount rate</a:t>
                      </a:r>
                    </a:p>
                  </a:txBody>
                  <a:tcPr>
                    <a:solidFill>
                      <a:srgbClr val="F5F7FA"/>
                    </a:solidFill>
                  </a:tcPr>
                </a:tc>
                <a:tc>
                  <a:txBody>
                    <a:bodyPr lIns="27432" tIns="9144" bIns="9144"/>
                    <a:lstStyle/>
                    <a:p>
                      <a:r>
                        <a:rPr sz="560" b="0">
                          <a:solidFill>
                            <a:srgbClr val="111111"/>
                          </a:solidFill>
                          <a:latin typeface="Calibri"/>
                        </a:rPr>
                        <a:t>12-month forward</a:t>
                      </a:r>
                    </a:p>
                  </a:txBody>
                  <a:tcPr>
                    <a:solidFill>
                      <a:srgbClr val="F5F7FA"/>
                    </a:solidFill>
                  </a:tcPr>
                </a:tc>
                <a:tc>
                  <a:txBody>
                    <a:bodyPr lIns="27432" tIns="9144" bIns="9144"/>
                    <a:lstStyle/>
                    <a:p>
                      <a:r>
                        <a:rPr sz="560" b="0">
                          <a:solidFill>
                            <a:srgbClr val="111111"/>
                          </a:solidFill>
                          <a:latin typeface="Calibri"/>
                        </a:rPr>
                        <a:t>₹1,127 (Base TP)</a:t>
                      </a:r>
                    </a:p>
                  </a:txBody>
                  <a:tcPr>
                    <a:solidFill>
                      <a:srgbClr val="F5F7FA"/>
                    </a:solidFill>
                  </a:tcPr>
                </a:tc>
              </a:tr>
              <a:tr h="201168">
                <a:tc>
                  <a:txBody>
                    <a:bodyPr lIns="27432" tIns="9144" bIns="9144"/>
                    <a:lstStyle/>
                    <a:p>
                      <a:r>
                        <a:rPr sz="560" b="0">
                          <a:solidFill>
                            <a:srgbClr val="111111"/>
                          </a:solidFill>
                          <a:latin typeface="Calibri"/>
                        </a:rPr>
                        <a:t>Analyst Consensus</a:t>
                      </a:r>
                    </a:p>
                  </a:txBody>
                  <a:tcPr>
                    <a:solidFill>
                      <a:srgbClr val="FFFFFF"/>
                    </a:solidFill>
                  </a:tcPr>
                </a:tc>
                <a:tc>
                  <a:txBody>
                    <a:bodyPr lIns="27432" tIns="9144" bIns="9144"/>
                    <a:lstStyle/>
                    <a:p>
                      <a:r>
                        <a:rPr sz="560" b="0">
                          <a:solidFill>
                            <a:srgbClr val="111111"/>
                          </a:solidFill>
                          <a:latin typeface="Calibri"/>
                        </a:rPr>
                        <a:t>Market implied</a:t>
                      </a:r>
                    </a:p>
                  </a:txBody>
                  <a:tcPr>
                    <a:solidFill>
                      <a:srgbClr val="FFFFFF"/>
                    </a:solidFill>
                  </a:tcPr>
                </a:tc>
                <a:tc>
                  <a:txBody>
                    <a:bodyPr lIns="27432" tIns="9144" bIns="9144"/>
                    <a:lstStyle/>
                    <a:p>
                      <a:r>
                        <a:rPr sz="560" b="0">
                          <a:solidFill>
                            <a:srgbClr val="111111"/>
                          </a:solidFill>
                          <a:latin typeface="Calibri"/>
                        </a:rPr>
                        <a:t>Current consensus view</a:t>
                      </a:r>
                    </a:p>
                  </a:txBody>
                  <a:tcPr>
                    <a:solidFill>
                      <a:srgbClr val="FFFFFF"/>
                    </a:solidFill>
                  </a:tcPr>
                </a:tc>
                <a:tc>
                  <a:txBody>
                    <a:bodyPr lIns="27432" tIns="9144" bIns="9144"/>
                    <a:lstStyle/>
                    <a:p>
                      <a:r>
                        <a:rPr sz="560" b="0">
                          <a:solidFill>
                            <a:srgbClr val="111111"/>
                          </a:solidFill>
                          <a:latin typeface="Calibri"/>
                        </a:rPr>
                        <a:t>₹1,126.67</a:t>
                      </a:r>
                    </a:p>
                  </a:txBody>
                  <a:tcPr>
                    <a:solidFill>
                      <a:srgbClr val="FFFFFF"/>
                    </a:solidFill>
                  </a:tcPr>
                </a:tc>
              </a:tr>
              <a:tr h="201168">
                <a:tc>
                  <a:txBody>
                    <a:bodyPr lIns="27432" tIns="9144" bIns="9144"/>
                    <a:lstStyle/>
                    <a:p>
                      <a:r>
                        <a:rPr sz="560" b="1">
                          <a:solidFill>
                            <a:srgbClr val="1F4690"/>
                          </a:solidFill>
                          <a:latin typeface="Calibri"/>
                        </a:rPr>
                        <a:t>Probability-Weighted TP</a:t>
                      </a:r>
                    </a:p>
                  </a:txBody>
                  <a:tcPr>
                    <a:solidFill>
                      <a:srgbClr val="FFF7E0"/>
                    </a:solidFill>
                  </a:tcPr>
                </a:tc>
                <a:tc>
                  <a:txBody>
                    <a:bodyPr lIns="27432" tIns="9144" bIns="9144"/>
                    <a:lstStyle/>
                    <a:p>
                      <a:r>
                        <a:rPr sz="560" b="1">
                          <a:solidFill>
                            <a:srgbClr val="1F4690"/>
                          </a:solidFill>
                          <a:latin typeface="Calibri"/>
                        </a:rPr>
                        <a:t>Scenario blend</a:t>
                      </a:r>
                    </a:p>
                  </a:txBody>
                  <a:tcPr>
                    <a:solidFill>
                      <a:srgbClr val="FFF7E0"/>
                    </a:solidFill>
                  </a:tcPr>
                </a:tc>
                <a:tc>
                  <a:txBody>
                    <a:bodyPr lIns="27432" tIns="9144" bIns="9144"/>
                    <a:lstStyle/>
                    <a:p>
                      <a:r>
                        <a:rPr sz="560" b="1">
                          <a:solidFill>
                            <a:srgbClr val="1F4690"/>
                          </a:solidFill>
                          <a:latin typeface="Calibri"/>
                        </a:rPr>
                        <a:t>30%×Bull + 50%×Base + 20%×Bear</a:t>
                      </a:r>
                    </a:p>
                  </a:txBody>
                  <a:tcPr>
                    <a:solidFill>
                      <a:srgbClr val="FFF7E0"/>
                    </a:solidFill>
                  </a:tcPr>
                </a:tc>
                <a:tc>
                  <a:txBody>
                    <a:bodyPr lIns="27432" tIns="9144" bIns="9144"/>
                    <a:lstStyle/>
                    <a:p>
                      <a:r>
                        <a:rPr sz="560" b="1">
                          <a:solidFill>
                            <a:srgbClr val="1F4690"/>
                          </a:solidFill>
                          <a:latin typeface="Calibri"/>
                        </a:rPr>
                        <a:t>₹1,109</a:t>
                      </a:r>
                    </a:p>
                  </a:txBody>
                  <a:tcPr>
                    <a:solidFill>
                      <a:srgbClr val="FFF7E0"/>
                    </a:solidFill>
                  </a:tcPr>
                </a:tc>
              </a:tr>
            </a:tbl>
          </a:graphicData>
        </a:graphic>
      </p:graphicFrame>
      <p:sp>
        <p:nvSpPr>
          <p:cNvPr id="18" name="TextBox 17"/>
          <p:cNvSpPr txBox="1"/>
          <p:nvPr/>
        </p:nvSpPr>
        <p:spPr>
          <a:xfrm>
            <a:off x="292608" y="2560320"/>
            <a:ext cx="7059168" cy="146304"/>
          </a:xfrm>
          <a:prstGeom prst="rect">
            <a:avLst/>
          </a:prstGeom>
          <a:noFill/>
        </p:spPr>
        <p:txBody>
          <a:bodyPr wrap="square" lIns="36576" rIns="36576" tIns="9144" bIns="9144">
            <a:spAutoFit/>
          </a:bodyPr>
          <a:lstStyle/>
          <a:p>
            <a:r>
              <a:rPr sz="700" b="1">
                <a:solidFill>
                  <a:srgbClr val="1F4690"/>
                </a:solidFill>
                <a:latin typeface="Calibri"/>
              </a:rPr>
              <a:t>Relative Valuation vs. Peers</a:t>
            </a:r>
          </a:p>
        </p:txBody>
      </p:sp>
      <p:graphicFrame>
        <p:nvGraphicFramePr>
          <p:cNvPr id="19" name="Table 18"/>
          <p:cNvGraphicFramePr>
            <a:graphicFrameLocks noGrp="1"/>
          </p:cNvGraphicFramePr>
          <p:nvPr/>
        </p:nvGraphicFramePr>
        <p:xfrm>
          <a:off x="292608" y="2724912"/>
          <a:ext cx="7059167" cy="40233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01168">
                <a:tc>
                  <a:txBody>
                    <a:bodyPr lIns="27432" tIns="9144" bIns="9144"/>
                    <a:lstStyle/>
                    <a:p>
                      <a:r>
                        <a:rPr sz="580" b="1">
                          <a:solidFill>
                            <a:srgbClr val="FFFFFF"/>
                          </a:solidFill>
                          <a:latin typeface="Calibri"/>
                        </a:rPr>
                        <a:t>Company</a:t>
                      </a:r>
                    </a:p>
                  </a:txBody>
                  <a:tcPr>
                    <a:solidFill>
                      <a:srgbClr val="1F4690"/>
                    </a:solidFill>
                  </a:tcPr>
                </a:tc>
                <a:tc>
                  <a:txBody>
                    <a:bodyPr lIns="27432" tIns="9144" bIns="9144"/>
                    <a:lstStyle/>
                    <a:p>
                      <a:r>
                        <a:rPr sz="580" b="1">
                          <a:solidFill>
                            <a:srgbClr val="FFFFFF"/>
                          </a:solidFill>
                          <a:latin typeface="Calibri"/>
                        </a:rPr>
                        <a:t>P/E (TTM)</a:t>
                      </a:r>
                    </a:p>
                  </a:txBody>
                  <a:tcPr>
                    <a:solidFill>
                      <a:srgbClr val="1F4690"/>
                    </a:solidFill>
                  </a:tcPr>
                </a:tc>
                <a:tc>
                  <a:txBody>
                    <a:bodyPr lIns="27432" tIns="9144" bIns="9144"/>
                    <a:lstStyle/>
                    <a:p>
                      <a:r>
                        <a:rPr sz="580" b="1">
                          <a:solidFill>
                            <a:srgbClr val="FFFFFF"/>
                          </a:solidFill>
                          <a:latin typeface="Calibri"/>
                        </a:rPr>
                        <a:t>P/B</a:t>
                      </a:r>
                    </a:p>
                  </a:txBody>
                  <a:tcPr>
                    <a:solidFill>
                      <a:srgbClr val="1F4690"/>
                    </a:solidFill>
                  </a:tcPr>
                </a:tc>
                <a:tc>
                  <a:txBody>
                    <a:bodyPr lIns="27432" tIns="9144" bIns="9144"/>
                    <a:lstStyle/>
                    <a:p>
                      <a:r>
                        <a:rPr sz="580" b="1">
                          <a:solidFill>
                            <a:srgbClr val="FFFFFF"/>
                          </a:solidFill>
                          <a:latin typeface="Calibri"/>
                        </a:rPr>
                        <a:t>AUM Growth</a:t>
                      </a:r>
                    </a:p>
                  </a:txBody>
                  <a:tcPr>
                    <a:solidFill>
                      <a:srgbClr val="1F4690"/>
                    </a:solidFill>
                  </a:tcPr>
                </a:tc>
                <a:tc>
                  <a:txBody>
                    <a:bodyPr lIns="27432" tIns="9144" bIns="9144"/>
                    <a:lstStyle/>
                    <a:p>
                      <a:r>
                        <a:rPr sz="580" b="1">
                          <a:solidFill>
                            <a:srgbClr val="FFFFFF"/>
                          </a:solidFill>
                          <a:latin typeface="Calibri"/>
                        </a:rPr>
                        <a:t>Comment</a:t>
                      </a:r>
                    </a:p>
                  </a:txBody>
                  <a:tcPr>
                    <a:solidFill>
                      <a:srgbClr val="1F4690"/>
                    </a:solidFill>
                  </a:tcPr>
                </a:tc>
              </a:tr>
              <a:tr h="201168">
                <a:tc>
                  <a:txBody>
                    <a:bodyPr lIns="27432" tIns="9144" bIns="9144"/>
                    <a:lstStyle/>
                    <a:p>
                      <a:r>
                        <a:rPr sz="560" b="1">
                          <a:solidFill>
                            <a:srgbClr val="1F4690"/>
                          </a:solidFill>
                          <a:latin typeface="Calibri"/>
                        </a:rPr>
                        <a:t>Motilal Oswal Financial Services Ltd</a:t>
                      </a:r>
                    </a:p>
                  </a:txBody>
                  <a:tcPr>
                    <a:solidFill>
                      <a:srgbClr val="FFF7E0"/>
                    </a:solidFill>
                  </a:tcPr>
                </a:tc>
                <a:tc>
                  <a:txBody>
                    <a:bodyPr lIns="27432" tIns="9144" bIns="9144"/>
                    <a:lstStyle/>
                    <a:p>
                      <a:r>
                        <a:rPr sz="560" b="1">
                          <a:solidFill>
                            <a:srgbClr val="1F4690"/>
                          </a:solidFill>
                          <a:latin typeface="Calibri"/>
                        </a:rPr>
                        <a:t>24.2x</a:t>
                      </a:r>
                    </a:p>
                  </a:txBody>
                  <a:tcPr>
                    <a:solidFill>
                      <a:srgbClr val="FFF7E0"/>
                    </a:solidFill>
                  </a:tcPr>
                </a:tc>
                <a:tc>
                  <a:txBody>
                    <a:bodyPr lIns="27432" tIns="9144" bIns="9144"/>
                    <a:lstStyle/>
                    <a:p>
                      <a:r>
                        <a:rPr sz="560" b="1">
                          <a:solidFill>
                            <a:srgbClr val="1F4690"/>
                          </a:solidFill>
                          <a:latin typeface="Calibri"/>
                        </a:rPr>
                        <a:t>3.8x</a:t>
                      </a:r>
                    </a:p>
                  </a:txBody>
                  <a:tcPr>
                    <a:solidFill>
                      <a:srgbClr val="FFF7E0"/>
                    </a:solidFill>
                  </a:tcPr>
                </a:tc>
                <a:tc>
                  <a:txBody>
                    <a:bodyPr lIns="27432" tIns="9144" bIns="9144"/>
                    <a:lstStyle/>
                    <a:p>
                      <a:r>
                        <a:rPr sz="560" b="1">
                          <a:solidFill>
                            <a:srgbClr val="1F4690"/>
                          </a:solidFill>
                          <a:latin typeface="Calibri"/>
                        </a:rPr>
                        <a:t>+46% YoY</a:t>
                      </a:r>
                    </a:p>
                  </a:txBody>
                  <a:tcPr>
                    <a:solidFill>
                      <a:srgbClr val="FFF7E0"/>
                    </a:solidFill>
                  </a:tcPr>
                </a:tc>
                <a:tc>
                  <a:txBody>
                    <a:bodyPr lIns="27432" tIns="9144" bIns="9144"/>
                    <a:lstStyle/>
                    <a:p>
                      <a:r>
                        <a:rPr sz="560" b="1">
                          <a:solidFill>
                            <a:srgbClr val="1F4690"/>
                          </a:solidFill>
                          <a:latin typeface="Calibri"/>
                        </a:rPr>
                        <a:t>ARR re-rating pending</a:t>
                      </a:r>
                    </a:p>
                  </a:txBody>
                  <a:tcPr>
                    <a:solidFill>
                      <a:srgbClr val="FFF7E0"/>
                    </a:solidFill>
                  </a:tcPr>
                </a:tc>
              </a:tr>
            </a:tbl>
          </a:graphicData>
        </a:graphic>
      </p:graphicFrame>
      <p:sp>
        <p:nvSpPr>
          <p:cNvPr id="20" name="TextBox 19"/>
          <p:cNvSpPr txBox="1"/>
          <p:nvPr/>
        </p:nvSpPr>
        <p:spPr>
          <a:xfrm>
            <a:off x="292608" y="3218688"/>
            <a:ext cx="7059168" cy="146304"/>
          </a:xfrm>
          <a:prstGeom prst="rect">
            <a:avLst/>
          </a:prstGeom>
          <a:noFill/>
        </p:spPr>
        <p:txBody>
          <a:bodyPr wrap="square" lIns="36576" rIns="36576" tIns="9144" bIns="9144">
            <a:spAutoFit/>
          </a:bodyPr>
          <a:lstStyle/>
          <a:p>
            <a:r>
              <a:rPr sz="700" b="1">
                <a:solidFill>
                  <a:srgbClr val="1F4690"/>
                </a:solidFill>
                <a:latin typeface="Calibri"/>
              </a:rPr>
              <a:t>Valuation Scenario Summary</a:t>
            </a:r>
          </a:p>
        </p:txBody>
      </p:sp>
      <p:graphicFrame>
        <p:nvGraphicFramePr>
          <p:cNvPr id="21" name="Table 20"/>
          <p:cNvGraphicFramePr>
            <a:graphicFrameLocks noGrp="1"/>
          </p:cNvGraphicFramePr>
          <p:nvPr/>
        </p:nvGraphicFramePr>
        <p:xfrm>
          <a:off x="292608" y="3383280"/>
          <a:ext cx="7059167" cy="10058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01168">
                <a:tc>
                  <a:txBody>
                    <a:bodyPr lIns="27432" tIns="9144" bIns="9144"/>
                    <a:lstStyle/>
                    <a:p>
                      <a:r>
                        <a:rPr sz="580" b="1">
                          <a:solidFill>
                            <a:srgbClr val="FFFFFF"/>
                          </a:solidFill>
                          <a:latin typeface="Calibri"/>
                        </a:rPr>
                        <a:t>Scenario</a:t>
                      </a:r>
                    </a:p>
                  </a:txBody>
                  <a:tcPr>
                    <a:solidFill>
                      <a:srgbClr val="1F4690"/>
                    </a:solidFill>
                  </a:tcPr>
                </a:tc>
                <a:tc>
                  <a:txBody>
                    <a:bodyPr lIns="27432" tIns="9144" bIns="9144"/>
                    <a:lstStyle/>
                    <a:p>
                      <a:r>
                        <a:rPr sz="580" b="1">
                          <a:solidFill>
                            <a:srgbClr val="FFFFFF"/>
                          </a:solidFill>
                          <a:latin typeface="Calibri"/>
                        </a:rPr>
                        <a:t>Probability</a:t>
                      </a:r>
                    </a:p>
                  </a:txBody>
                  <a:tcPr>
                    <a:solidFill>
                      <a:srgbClr val="1F4690"/>
                    </a:solidFill>
                  </a:tcPr>
                </a:tc>
                <a:tc>
                  <a:txBody>
                    <a:bodyPr lIns="27432" tIns="9144" bIns="9144"/>
                    <a:lstStyle/>
                    <a:p>
                      <a:r>
                        <a:rPr sz="580" b="1">
                          <a:solidFill>
                            <a:srgbClr val="FFFFFF"/>
                          </a:solidFill>
                          <a:latin typeface="Calibri"/>
                        </a:rPr>
                        <a:t>Target Price</a:t>
                      </a:r>
                    </a:p>
                  </a:txBody>
                  <a:tcPr>
                    <a:solidFill>
                      <a:srgbClr val="1F4690"/>
                    </a:solidFill>
                  </a:tcPr>
                </a:tc>
                <a:tc>
                  <a:txBody>
                    <a:bodyPr lIns="27432" tIns="9144" bIns="9144"/>
                    <a:lstStyle/>
                    <a:p>
                      <a:r>
                        <a:rPr sz="580" b="1">
                          <a:solidFill>
                            <a:srgbClr val="FFFFFF"/>
                          </a:solidFill>
                          <a:latin typeface="Calibri"/>
                        </a:rPr>
                        <a:t>Return vs. CMP</a:t>
                      </a:r>
                    </a:p>
                  </a:txBody>
                  <a:tcPr>
                    <a:solidFill>
                      <a:srgbClr val="1F4690"/>
                    </a:solidFill>
                  </a:tcPr>
                </a:tc>
                <a:tc>
                  <a:txBody>
                    <a:bodyPr lIns="27432" tIns="9144" bIns="9144"/>
                    <a:lstStyle/>
                    <a:p>
                      <a:r>
                        <a:rPr sz="580" b="1">
                          <a:solidFill>
                            <a:srgbClr val="FFFFFF"/>
                          </a:solidFill>
                          <a:latin typeface="Calibri"/>
                        </a:rPr>
                        <a:t>Key Assumption</a:t>
                      </a:r>
                    </a:p>
                  </a:txBody>
                  <a:tcPr>
                    <a:solidFill>
                      <a:srgbClr val="1F4690"/>
                    </a:solidFill>
                  </a:tcPr>
                </a:tc>
              </a:tr>
              <a:tr h="201168">
                <a:tc>
                  <a:txBody>
                    <a:bodyPr lIns="27432" tIns="9144" bIns="9144"/>
                    <a:lstStyle/>
                    <a:p>
                      <a:r>
                        <a:rPr sz="560" b="0">
                          <a:solidFill>
                            <a:srgbClr val="111111"/>
                          </a:solidFill>
                          <a:latin typeface="Calibri"/>
                        </a:rPr>
                        <a:t>Bull Case</a:t>
                      </a:r>
                    </a:p>
                  </a:txBody>
                  <a:tcPr>
                    <a:solidFill>
                      <a:srgbClr val="FFFFFF"/>
                    </a:solidFill>
                  </a:tcPr>
                </a:tc>
                <a:tc>
                  <a:txBody>
                    <a:bodyPr lIns="27432" tIns="9144" bIns="9144"/>
                    <a:lstStyle/>
                    <a:p>
                      <a:r>
                        <a:rPr sz="560" b="0">
                          <a:solidFill>
                            <a:srgbClr val="111111"/>
                          </a:solidFill>
                          <a:latin typeface="Calibri"/>
                        </a:rPr>
                        <a:t>30%</a:t>
                      </a:r>
                    </a:p>
                  </a:txBody>
                  <a:tcPr>
                    <a:solidFill>
                      <a:srgbClr val="FFFFFF"/>
                    </a:solidFill>
                  </a:tcPr>
                </a:tc>
                <a:tc>
                  <a:txBody>
                    <a:bodyPr lIns="27432" tIns="9144" bIns="9144"/>
                    <a:lstStyle/>
                    <a:p>
                      <a:r>
                        <a:rPr sz="560" b="0">
                          <a:solidFill>
                            <a:srgbClr val="111111"/>
                          </a:solidFill>
                          <a:latin typeface="Calibri"/>
                        </a:rPr>
                        <a:t>₹1,400</a:t>
                      </a:r>
                    </a:p>
                  </a:txBody>
                  <a:tcPr>
                    <a:solidFill>
                      <a:srgbClr val="FFFFFF"/>
                    </a:solidFill>
                  </a:tcPr>
                </a:tc>
                <a:tc>
                  <a:txBody>
                    <a:bodyPr lIns="27432" tIns="9144" bIns="9144"/>
                    <a:lstStyle/>
                    <a:p>
                      <a:r>
                        <a:rPr sz="560" b="0">
                          <a:solidFill>
                            <a:srgbClr val="111111"/>
                          </a:solidFill>
                          <a:latin typeface="Calibri"/>
                        </a:rPr>
                        <a:t>+70.1%</a:t>
                      </a:r>
                    </a:p>
                  </a:txBody>
                  <a:tcPr>
                    <a:solidFill>
                      <a:srgbClr val="FFFFFF"/>
                    </a:solidFill>
                  </a:tcPr>
                </a:tc>
                <a:tc>
                  <a:txBody>
                    <a:bodyPr lIns="27432" tIns="9144" bIns="9144"/>
                    <a:lstStyle/>
                    <a:p>
                      <a:r>
                        <a:rPr sz="560" b="0">
                          <a:solidFill>
                            <a:srgbClr val="111111"/>
                          </a:solidFill>
                          <a:latin typeface="Calibri"/>
                        </a:rPr>
                        <a:t>ARR &gt; 70%, AMC AUM +40% YoY, regulatory clarity.</a:t>
                      </a:r>
                    </a:p>
                  </a:txBody>
                  <a:tcPr>
                    <a:solidFill>
                      <a:srgbClr val="FFFFFF"/>
                    </a:solidFill>
                  </a:tcPr>
                </a:tc>
              </a:tr>
              <a:tr h="201168">
                <a:tc>
                  <a:txBody>
                    <a:bodyPr lIns="27432" tIns="9144" bIns="9144"/>
                    <a:lstStyle/>
                    <a:p>
                      <a:r>
                        <a:rPr sz="560" b="1">
                          <a:solidFill>
                            <a:srgbClr val="1F4690"/>
                          </a:solidFill>
                          <a:latin typeface="Calibri"/>
                        </a:rPr>
                        <a:t>Base Case</a:t>
                      </a:r>
                    </a:p>
                  </a:txBody>
                  <a:tcPr>
                    <a:solidFill>
                      <a:srgbClr val="FFF7E0"/>
                    </a:solidFill>
                  </a:tcPr>
                </a:tc>
                <a:tc>
                  <a:txBody>
                    <a:bodyPr lIns="27432" tIns="9144" bIns="9144"/>
                    <a:lstStyle/>
                    <a:p>
                      <a:r>
                        <a:rPr sz="560" b="1">
                          <a:solidFill>
                            <a:srgbClr val="1F4690"/>
                          </a:solidFill>
                          <a:latin typeface="Calibri"/>
                        </a:rPr>
                        <a:t>50%</a:t>
                      </a:r>
                    </a:p>
                  </a:txBody>
                  <a:tcPr>
                    <a:solidFill>
                      <a:srgbClr val="FFF7E0"/>
                    </a:solidFill>
                  </a:tcPr>
                </a:tc>
                <a:tc>
                  <a:txBody>
                    <a:bodyPr lIns="27432" tIns="9144" bIns="9144"/>
                    <a:lstStyle/>
                    <a:p>
                      <a:r>
                        <a:rPr sz="560" b="1">
                          <a:solidFill>
                            <a:srgbClr val="1F4690"/>
                          </a:solidFill>
                          <a:latin typeface="Calibri"/>
                        </a:rPr>
                        <a:t>₹1,127</a:t>
                      </a:r>
                    </a:p>
                  </a:txBody>
                  <a:tcPr>
                    <a:solidFill>
                      <a:srgbClr val="FFF7E0"/>
                    </a:solidFill>
                  </a:tcPr>
                </a:tc>
                <a:tc>
                  <a:txBody>
                    <a:bodyPr lIns="27432" tIns="9144" bIns="9144"/>
                    <a:lstStyle/>
                    <a:p>
                      <a:r>
                        <a:rPr sz="560" b="1">
                          <a:solidFill>
                            <a:srgbClr val="1F4690"/>
                          </a:solidFill>
                          <a:latin typeface="Calibri"/>
                        </a:rPr>
                        <a:t>+37.0%</a:t>
                      </a:r>
                    </a:p>
                  </a:txBody>
                  <a:tcPr>
                    <a:solidFill>
                      <a:srgbClr val="FFF7E0"/>
                    </a:solidFill>
                  </a:tcPr>
                </a:tc>
                <a:tc>
                  <a:txBody>
                    <a:bodyPr lIns="27432" tIns="9144" bIns="9144"/>
                    <a:lstStyle/>
                    <a:p>
                      <a:r>
                        <a:rPr sz="560" b="1">
                          <a:solidFill>
                            <a:srgbClr val="1F4690"/>
                          </a:solidFill>
                          <a:latin typeface="Calibri"/>
                        </a:rPr>
                        <a:t>ARR steady at 65%, AUM compounding, stable regulation.</a:t>
                      </a:r>
                    </a:p>
                  </a:txBody>
                  <a:tcPr>
                    <a:solidFill>
                      <a:srgbClr val="FFF7E0"/>
                    </a:solidFill>
                  </a:tcPr>
                </a:tc>
              </a:tr>
              <a:tr h="201168">
                <a:tc>
                  <a:txBody>
                    <a:bodyPr lIns="27432" tIns="9144" bIns="9144"/>
                    <a:lstStyle/>
                    <a:p>
                      <a:r>
                        <a:rPr sz="560" b="0">
                          <a:solidFill>
                            <a:srgbClr val="111111"/>
                          </a:solidFill>
                          <a:latin typeface="Calibri"/>
                        </a:rPr>
                        <a:t>Bear Case</a:t>
                      </a:r>
                    </a:p>
                  </a:txBody>
                  <a:tcPr>
                    <a:solidFill>
                      <a:srgbClr val="FFFFFF"/>
                    </a:solidFill>
                  </a:tcPr>
                </a:tc>
                <a:tc>
                  <a:txBody>
                    <a:bodyPr lIns="27432" tIns="9144" bIns="9144"/>
                    <a:lstStyle/>
                    <a:p>
                      <a:r>
                        <a:rPr sz="560" b="0">
                          <a:solidFill>
                            <a:srgbClr val="111111"/>
                          </a:solidFill>
                          <a:latin typeface="Calibri"/>
                        </a:rPr>
                        <a:t>20%</a:t>
                      </a:r>
                    </a:p>
                  </a:txBody>
                  <a:tcPr>
                    <a:solidFill>
                      <a:srgbClr val="FFFFFF"/>
                    </a:solidFill>
                  </a:tcPr>
                </a:tc>
                <a:tc>
                  <a:txBody>
                    <a:bodyPr lIns="27432" tIns="9144" bIns="9144"/>
                    <a:lstStyle/>
                    <a:p>
                      <a:r>
                        <a:rPr sz="560" b="0">
                          <a:solidFill>
                            <a:srgbClr val="111111"/>
                          </a:solidFill>
                          <a:latin typeface="Calibri"/>
                        </a:rPr>
                        <a:t>₹630</a:t>
                      </a:r>
                    </a:p>
                  </a:txBody>
                  <a:tcPr>
                    <a:solidFill>
                      <a:srgbClr val="FFFFFF"/>
                    </a:solidFill>
                  </a:tcPr>
                </a:tc>
                <a:tc>
                  <a:txBody>
                    <a:bodyPr lIns="27432" tIns="9144" bIns="9144"/>
                    <a:lstStyle/>
                    <a:p>
                      <a:r>
                        <a:rPr sz="560" b="0">
                          <a:solidFill>
                            <a:srgbClr val="111111"/>
                          </a:solidFill>
                          <a:latin typeface="Calibri"/>
                        </a:rPr>
                        <a:t>-23.4%</a:t>
                      </a:r>
                    </a:p>
                  </a:txBody>
                  <a:tcPr>
                    <a:solidFill>
                      <a:srgbClr val="FFFFFF"/>
                    </a:solidFill>
                  </a:tcPr>
                </a:tc>
                <a:tc>
                  <a:txBody>
                    <a:bodyPr lIns="27432" tIns="9144" bIns="9144"/>
                    <a:lstStyle/>
                    <a:p>
                      <a:r>
                        <a:rPr sz="560" b="0">
                          <a:solidFill>
                            <a:srgbClr val="111111"/>
                          </a:solidFill>
                          <a:latin typeface="Calibri"/>
                        </a:rPr>
                        <a:t>Sustained F&amp;O headwinds, fintech share loss.</a:t>
                      </a:r>
                    </a:p>
                  </a:txBody>
                  <a:tcPr>
                    <a:solidFill>
                      <a:srgbClr val="FFFFFF"/>
                    </a:solidFill>
                  </a:tcPr>
                </a:tc>
              </a:tr>
              <a:tr h="201168">
                <a:tc>
                  <a:txBody>
                    <a:bodyPr lIns="27432" tIns="9144" bIns="9144"/>
                    <a:lstStyle/>
                    <a:p>
                      <a:r>
                        <a:rPr sz="560" b="0">
                          <a:solidFill>
                            <a:srgbClr val="111111"/>
                          </a:solidFill>
                          <a:latin typeface="Calibri"/>
                        </a:rPr>
                        <a:t>Prob. Weighted Avg.</a:t>
                      </a:r>
                    </a:p>
                  </a:txBody>
                  <a:tcPr>
                    <a:solidFill>
                      <a:srgbClr val="F5F7FA"/>
                    </a:solidFill>
                  </a:tcPr>
                </a:tc>
                <a:tc>
                  <a:txBody>
                    <a:bodyPr lIns="27432" tIns="9144" bIns="9144"/>
                    <a:lstStyle/>
                    <a:p>
                      <a:r>
                        <a:rPr sz="560" b="0">
                          <a:solidFill>
                            <a:srgbClr val="111111"/>
                          </a:solidFill>
                          <a:latin typeface="Calibri"/>
                        </a:rPr>
                        <a:t>100%</a:t>
                      </a:r>
                    </a:p>
                  </a:txBody>
                  <a:tcPr>
                    <a:solidFill>
                      <a:srgbClr val="F5F7FA"/>
                    </a:solidFill>
                  </a:tcPr>
                </a:tc>
                <a:tc>
                  <a:txBody>
                    <a:bodyPr lIns="27432" tIns="9144" bIns="9144"/>
                    <a:lstStyle/>
                    <a:p>
                      <a:r>
                        <a:rPr sz="560" b="0">
                          <a:solidFill>
                            <a:srgbClr val="111111"/>
                          </a:solidFill>
                          <a:latin typeface="Calibri"/>
                        </a:rPr>
                        <a:t>₹1,109</a:t>
                      </a:r>
                    </a:p>
                  </a:txBody>
                  <a:tcPr>
                    <a:solidFill>
                      <a:srgbClr val="F5F7FA"/>
                    </a:solidFill>
                  </a:tcPr>
                </a:tc>
                <a:tc>
                  <a:txBody>
                    <a:bodyPr lIns="27432" tIns="9144" bIns="9144"/>
                    <a:lstStyle/>
                    <a:p>
                      <a:r>
                        <a:rPr sz="560" b="0">
                          <a:solidFill>
                            <a:srgbClr val="111111"/>
                          </a:solidFill>
                          <a:latin typeface="Calibri"/>
                        </a:rPr>
                        <a:t>+34.8%</a:t>
                      </a:r>
                    </a:p>
                  </a:txBody>
                  <a:tcPr>
                    <a:solidFill>
                      <a:srgbClr val="F5F7FA"/>
                    </a:solidFill>
                  </a:tcPr>
                </a:tc>
                <a:tc>
                  <a:txBody>
                    <a:bodyPr lIns="27432" tIns="9144" bIns="9144"/>
                    <a:lstStyle/>
                    <a:p>
                      <a:r>
                        <a:rPr sz="560" b="0">
                          <a:solidFill>
                            <a:srgbClr val="111111"/>
                          </a:solidFill>
                          <a:latin typeface="Calibri"/>
                        </a:rPr>
                        <a:t>Blended scenario</a:t>
                      </a:r>
                    </a:p>
                  </a:txBody>
                  <a:tcPr>
                    <a:solidFill>
                      <a:srgbClr val="F5F7FA"/>
                    </a:solidFill>
                  </a:tcPr>
                </a:tc>
              </a:tr>
            </a:tbl>
          </a:graphicData>
        </a:graphic>
      </p:graphicFrame>
      <p:sp>
        <p:nvSpPr>
          <p:cNvPr id="22" name="TextBox 21"/>
          <p:cNvSpPr txBox="1"/>
          <p:nvPr/>
        </p:nvSpPr>
        <p:spPr>
          <a:xfrm>
            <a:off x="7516368" y="1078992"/>
            <a:ext cx="4315968" cy="164592"/>
          </a:xfrm>
          <a:prstGeom prst="rect">
            <a:avLst/>
          </a:prstGeom>
          <a:noFill/>
        </p:spPr>
        <p:txBody>
          <a:bodyPr wrap="square" lIns="36576" rIns="36576" tIns="9144" bIns="9144">
            <a:spAutoFit/>
          </a:bodyPr>
          <a:lstStyle/>
          <a:p>
            <a:r>
              <a:rPr sz="800" b="1">
                <a:solidFill>
                  <a:srgbClr val="1F4690"/>
                </a:solidFill>
                <a:latin typeface="Calibri"/>
              </a:rPr>
              <a:t>Scenario Targets</a:t>
            </a:r>
          </a:p>
        </p:txBody>
      </p:sp>
      <p:sp>
        <p:nvSpPr>
          <p:cNvPr id="23" name="Rounded Rectangle 22"/>
          <p:cNvSpPr/>
          <p:nvPr/>
        </p:nvSpPr>
        <p:spPr>
          <a:xfrm>
            <a:off x="7516368" y="1298448"/>
            <a:ext cx="1383791" cy="146304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16368" y="1298448"/>
            <a:ext cx="1383791" cy="16459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1232" y="1316736"/>
            <a:ext cx="1274063" cy="128015"/>
          </a:xfrm>
          <a:prstGeom prst="rect">
            <a:avLst/>
          </a:prstGeom>
          <a:noFill/>
        </p:spPr>
        <p:txBody>
          <a:bodyPr wrap="square" lIns="36576" rIns="36576" tIns="9144" bIns="9144">
            <a:spAutoFit/>
          </a:bodyPr>
          <a:lstStyle/>
          <a:p>
            <a:pPr algn="ctr"/>
            <a:r>
              <a:rPr sz="550" b="1">
                <a:solidFill>
                  <a:srgbClr val="FFFFFF"/>
                </a:solidFill>
                <a:latin typeface="Calibri"/>
              </a:rPr>
              <a:t>BEAR CASE</a:t>
            </a:r>
          </a:p>
        </p:txBody>
      </p:sp>
      <p:sp>
        <p:nvSpPr>
          <p:cNvPr id="26" name="TextBox 25"/>
          <p:cNvSpPr txBox="1"/>
          <p:nvPr/>
        </p:nvSpPr>
        <p:spPr>
          <a:xfrm>
            <a:off x="7571232" y="1481328"/>
            <a:ext cx="1274063" cy="219456"/>
          </a:xfrm>
          <a:prstGeom prst="rect">
            <a:avLst/>
          </a:prstGeom>
          <a:noFill/>
        </p:spPr>
        <p:txBody>
          <a:bodyPr wrap="square" lIns="36576" rIns="36576" tIns="9144" bIns="9144">
            <a:spAutoFit/>
          </a:bodyPr>
          <a:lstStyle/>
          <a:p>
            <a:pPr algn="ctr"/>
            <a:r>
              <a:rPr sz="1400" b="1">
                <a:solidFill>
                  <a:srgbClr val="B91C1C"/>
                </a:solidFill>
                <a:latin typeface="Calibri"/>
              </a:rPr>
              <a:t>₹630</a:t>
            </a:r>
          </a:p>
        </p:txBody>
      </p:sp>
      <p:sp>
        <p:nvSpPr>
          <p:cNvPr id="27" name="TextBox 26"/>
          <p:cNvSpPr txBox="1"/>
          <p:nvPr/>
        </p:nvSpPr>
        <p:spPr>
          <a:xfrm>
            <a:off x="7571232" y="1700784"/>
            <a:ext cx="1274063" cy="128016"/>
          </a:xfrm>
          <a:prstGeom prst="rect">
            <a:avLst/>
          </a:prstGeom>
          <a:noFill/>
        </p:spPr>
        <p:txBody>
          <a:bodyPr wrap="square" lIns="36576" rIns="36576" tIns="9144" bIns="9144">
            <a:spAutoFit/>
          </a:bodyPr>
          <a:lstStyle/>
          <a:p>
            <a:pPr algn="ctr"/>
            <a:r>
              <a:rPr sz="650" b="1">
                <a:solidFill>
                  <a:srgbClr val="B91C1C"/>
                </a:solidFill>
                <a:latin typeface="Calibri"/>
              </a:rPr>
              <a:t>-23.4% vs CMP</a:t>
            </a:r>
          </a:p>
        </p:txBody>
      </p:sp>
      <p:sp>
        <p:nvSpPr>
          <p:cNvPr id="28" name="TextBox 27"/>
          <p:cNvSpPr txBox="1"/>
          <p:nvPr/>
        </p:nvSpPr>
        <p:spPr>
          <a:xfrm>
            <a:off x="7571232" y="1847088"/>
            <a:ext cx="1274063" cy="859536"/>
          </a:xfrm>
          <a:prstGeom prst="rect">
            <a:avLst/>
          </a:prstGeom>
          <a:noFill/>
        </p:spPr>
        <p:txBody>
          <a:bodyPr wrap="square" lIns="36576" rIns="36576" tIns="9144" bIns="9144">
            <a:spAutoFit/>
          </a:bodyPr>
          <a:lstStyle/>
          <a:p>
            <a:r>
              <a:rPr sz="520" b="0">
                <a:solidFill>
                  <a:srgbClr val="111111"/>
                </a:solidFill>
                <a:latin typeface="Calibri"/>
              </a:rPr>
              <a:t>Sustained F&amp;O headwinds, fintech share loss.</a:t>
            </a:r>
          </a:p>
        </p:txBody>
      </p:sp>
      <p:sp>
        <p:nvSpPr>
          <p:cNvPr id="29" name="Rounded Rectangle 28"/>
          <p:cNvSpPr/>
          <p:nvPr/>
        </p:nvSpPr>
        <p:spPr>
          <a:xfrm>
            <a:off x="8973312" y="1298448"/>
            <a:ext cx="1383791" cy="146304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73312" y="1298448"/>
            <a:ext cx="1383791" cy="1645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28176" y="1316736"/>
            <a:ext cx="1274063" cy="128015"/>
          </a:xfrm>
          <a:prstGeom prst="rect">
            <a:avLst/>
          </a:prstGeom>
          <a:noFill/>
        </p:spPr>
        <p:txBody>
          <a:bodyPr wrap="square" lIns="36576" rIns="36576" tIns="9144" bIns="9144">
            <a:spAutoFit/>
          </a:bodyPr>
          <a:lstStyle/>
          <a:p>
            <a:pPr algn="ctr"/>
            <a:r>
              <a:rPr sz="550" b="1">
                <a:solidFill>
                  <a:srgbClr val="FFFFFF"/>
                </a:solidFill>
                <a:latin typeface="Calibri"/>
              </a:rPr>
              <a:t>BASE CASE</a:t>
            </a:r>
          </a:p>
        </p:txBody>
      </p:sp>
      <p:sp>
        <p:nvSpPr>
          <p:cNvPr id="32" name="TextBox 31"/>
          <p:cNvSpPr txBox="1"/>
          <p:nvPr/>
        </p:nvSpPr>
        <p:spPr>
          <a:xfrm>
            <a:off x="9028176" y="1481328"/>
            <a:ext cx="1274063" cy="219456"/>
          </a:xfrm>
          <a:prstGeom prst="rect">
            <a:avLst/>
          </a:prstGeom>
          <a:noFill/>
        </p:spPr>
        <p:txBody>
          <a:bodyPr wrap="square" lIns="36576" rIns="36576" tIns="9144" bIns="9144">
            <a:spAutoFit/>
          </a:bodyPr>
          <a:lstStyle/>
          <a:p>
            <a:pPr algn="ctr"/>
            <a:r>
              <a:rPr sz="1400" b="1">
                <a:solidFill>
                  <a:srgbClr val="8A5C00"/>
                </a:solidFill>
                <a:latin typeface="Calibri"/>
              </a:rPr>
              <a:t>₹1,127</a:t>
            </a:r>
          </a:p>
        </p:txBody>
      </p:sp>
      <p:sp>
        <p:nvSpPr>
          <p:cNvPr id="33" name="TextBox 32"/>
          <p:cNvSpPr txBox="1"/>
          <p:nvPr/>
        </p:nvSpPr>
        <p:spPr>
          <a:xfrm>
            <a:off x="9028176" y="1700784"/>
            <a:ext cx="1274063" cy="128016"/>
          </a:xfrm>
          <a:prstGeom prst="rect">
            <a:avLst/>
          </a:prstGeom>
          <a:noFill/>
        </p:spPr>
        <p:txBody>
          <a:bodyPr wrap="square" lIns="36576" rIns="36576" tIns="9144" bIns="9144">
            <a:spAutoFit/>
          </a:bodyPr>
          <a:lstStyle/>
          <a:p>
            <a:pPr algn="ctr"/>
            <a:r>
              <a:rPr sz="650" b="1">
                <a:solidFill>
                  <a:srgbClr val="8A5C00"/>
                </a:solidFill>
                <a:latin typeface="Calibri"/>
              </a:rPr>
              <a:t>+37.0% vs CMP</a:t>
            </a:r>
          </a:p>
        </p:txBody>
      </p:sp>
      <p:sp>
        <p:nvSpPr>
          <p:cNvPr id="34" name="TextBox 33"/>
          <p:cNvSpPr txBox="1"/>
          <p:nvPr/>
        </p:nvSpPr>
        <p:spPr>
          <a:xfrm>
            <a:off x="9028176" y="1847088"/>
            <a:ext cx="1274063" cy="859536"/>
          </a:xfrm>
          <a:prstGeom prst="rect">
            <a:avLst/>
          </a:prstGeom>
          <a:noFill/>
        </p:spPr>
        <p:txBody>
          <a:bodyPr wrap="square" lIns="36576" rIns="36576" tIns="9144" bIns="9144">
            <a:spAutoFit/>
          </a:bodyPr>
          <a:lstStyle/>
          <a:p>
            <a:r>
              <a:rPr sz="520" b="0">
                <a:solidFill>
                  <a:srgbClr val="111111"/>
                </a:solidFill>
                <a:latin typeface="Calibri"/>
              </a:rPr>
              <a:t>ARR steady at 65%, AUM compounding, stable regulation.</a:t>
            </a:r>
          </a:p>
        </p:txBody>
      </p:sp>
      <p:sp>
        <p:nvSpPr>
          <p:cNvPr id="35" name="Rounded Rectangle 34"/>
          <p:cNvSpPr/>
          <p:nvPr/>
        </p:nvSpPr>
        <p:spPr>
          <a:xfrm>
            <a:off x="10430256" y="1298448"/>
            <a:ext cx="1383791" cy="146304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30256" y="1298448"/>
            <a:ext cx="1383791" cy="1645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85120" y="1316736"/>
            <a:ext cx="1274063" cy="128015"/>
          </a:xfrm>
          <a:prstGeom prst="rect">
            <a:avLst/>
          </a:prstGeom>
          <a:noFill/>
        </p:spPr>
        <p:txBody>
          <a:bodyPr wrap="square" lIns="36576" rIns="36576" tIns="9144" bIns="9144">
            <a:spAutoFit/>
          </a:bodyPr>
          <a:lstStyle/>
          <a:p>
            <a:pPr algn="ctr"/>
            <a:r>
              <a:rPr sz="550" b="1">
                <a:solidFill>
                  <a:srgbClr val="FFFFFF"/>
                </a:solidFill>
                <a:latin typeface="Calibri"/>
              </a:rPr>
              <a:t>BULL CASE</a:t>
            </a:r>
          </a:p>
        </p:txBody>
      </p:sp>
      <p:sp>
        <p:nvSpPr>
          <p:cNvPr id="38" name="TextBox 37"/>
          <p:cNvSpPr txBox="1"/>
          <p:nvPr/>
        </p:nvSpPr>
        <p:spPr>
          <a:xfrm>
            <a:off x="10485120" y="1481328"/>
            <a:ext cx="1274063" cy="219456"/>
          </a:xfrm>
          <a:prstGeom prst="rect">
            <a:avLst/>
          </a:prstGeom>
          <a:noFill/>
        </p:spPr>
        <p:txBody>
          <a:bodyPr wrap="square" lIns="36576" rIns="36576" tIns="9144" bIns="9144">
            <a:spAutoFit/>
          </a:bodyPr>
          <a:lstStyle/>
          <a:p>
            <a:pPr algn="ctr"/>
            <a:r>
              <a:rPr sz="1400" b="1">
                <a:solidFill>
                  <a:srgbClr val="1A7A4A"/>
                </a:solidFill>
                <a:latin typeface="Calibri"/>
              </a:rPr>
              <a:t>₹1,400</a:t>
            </a:r>
          </a:p>
        </p:txBody>
      </p:sp>
      <p:sp>
        <p:nvSpPr>
          <p:cNvPr id="39" name="TextBox 38"/>
          <p:cNvSpPr txBox="1"/>
          <p:nvPr/>
        </p:nvSpPr>
        <p:spPr>
          <a:xfrm>
            <a:off x="10485120" y="1700784"/>
            <a:ext cx="1274063" cy="128016"/>
          </a:xfrm>
          <a:prstGeom prst="rect">
            <a:avLst/>
          </a:prstGeom>
          <a:noFill/>
        </p:spPr>
        <p:txBody>
          <a:bodyPr wrap="square" lIns="36576" rIns="36576" tIns="9144" bIns="9144">
            <a:spAutoFit/>
          </a:bodyPr>
          <a:lstStyle/>
          <a:p>
            <a:pPr algn="ctr"/>
            <a:r>
              <a:rPr sz="650" b="1">
                <a:solidFill>
                  <a:srgbClr val="1A7A4A"/>
                </a:solidFill>
                <a:latin typeface="Calibri"/>
              </a:rPr>
              <a:t>+70.1% vs CMP</a:t>
            </a:r>
          </a:p>
        </p:txBody>
      </p:sp>
      <p:sp>
        <p:nvSpPr>
          <p:cNvPr id="40" name="TextBox 39"/>
          <p:cNvSpPr txBox="1"/>
          <p:nvPr/>
        </p:nvSpPr>
        <p:spPr>
          <a:xfrm>
            <a:off x="10485120" y="1847088"/>
            <a:ext cx="1274063" cy="859536"/>
          </a:xfrm>
          <a:prstGeom prst="rect">
            <a:avLst/>
          </a:prstGeom>
          <a:noFill/>
        </p:spPr>
        <p:txBody>
          <a:bodyPr wrap="square" lIns="36576" rIns="36576" tIns="9144" bIns="9144">
            <a:spAutoFit/>
          </a:bodyPr>
          <a:lstStyle/>
          <a:p>
            <a:r>
              <a:rPr sz="520" b="0">
                <a:solidFill>
                  <a:srgbClr val="111111"/>
                </a:solidFill>
                <a:latin typeface="Calibri"/>
              </a:rPr>
              <a:t>ARR &gt; 70%, AMC AUM +40% YoY, regulatory clarity.</a:t>
            </a:r>
          </a:p>
        </p:txBody>
      </p:sp>
      <p:sp>
        <p:nvSpPr>
          <p:cNvPr id="41" name="Rounded Rectangle 40"/>
          <p:cNvSpPr/>
          <p:nvPr/>
        </p:nvSpPr>
        <p:spPr>
          <a:xfrm>
            <a:off x="7516368" y="2852928"/>
            <a:ext cx="4315968" cy="1243584"/>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516368" y="2889504"/>
            <a:ext cx="32004" cy="11704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07808" y="2907792"/>
            <a:ext cx="4169663" cy="128016"/>
          </a:xfrm>
          <a:prstGeom prst="rect">
            <a:avLst/>
          </a:prstGeom>
          <a:noFill/>
        </p:spPr>
        <p:txBody>
          <a:bodyPr wrap="square" lIns="36576" rIns="36576" tIns="9144" bIns="9144">
            <a:spAutoFit/>
          </a:bodyPr>
          <a:lstStyle/>
          <a:p>
            <a:r>
              <a:rPr sz="650" b="1">
                <a:solidFill>
                  <a:srgbClr val="1F4690"/>
                </a:solidFill>
                <a:latin typeface="Calibri"/>
              </a:rPr>
              <a:t>Valuation Conviction: Why 37% Upside Is Conservative</a:t>
            </a:r>
          </a:p>
        </p:txBody>
      </p:sp>
      <p:sp>
        <p:nvSpPr>
          <p:cNvPr id="44" name="TextBox 43"/>
          <p:cNvSpPr txBox="1"/>
          <p:nvPr/>
        </p:nvSpPr>
        <p:spPr>
          <a:xfrm>
            <a:off x="7607808" y="3054096"/>
            <a:ext cx="4169663" cy="987552"/>
          </a:xfrm>
          <a:prstGeom prst="rect">
            <a:avLst/>
          </a:prstGeom>
          <a:noFill/>
        </p:spPr>
        <p:txBody>
          <a:bodyPr wrap="square" lIns="36576" rIns="36576" tIns="9144" bIns="9144">
            <a:spAutoFit/>
          </a:bodyPr>
          <a:lstStyle/>
          <a:p>
            <a:r>
              <a:rPr sz="54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conservative relative to the re-rating potential.</a:t>
            </a:r>
          </a:p>
        </p:txBody>
      </p:sp>
      <p:sp>
        <p:nvSpPr>
          <p:cNvPr id="45" name="Rounded Rectangle 44"/>
          <p:cNvSpPr/>
          <p:nvPr/>
        </p:nvSpPr>
        <p:spPr>
          <a:xfrm>
            <a:off x="7516368" y="4187952"/>
            <a:ext cx="4315968" cy="1243584"/>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16368" y="4224528"/>
            <a:ext cx="32004" cy="117043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07808" y="4242816"/>
            <a:ext cx="4169663" cy="128016"/>
          </a:xfrm>
          <a:prstGeom prst="rect">
            <a:avLst/>
          </a:prstGeom>
          <a:noFill/>
        </p:spPr>
        <p:txBody>
          <a:bodyPr wrap="square" lIns="36576" rIns="36576" tIns="9144" bIns="9144">
            <a:spAutoFit/>
          </a:bodyPr>
          <a:lstStyle/>
          <a:p>
            <a:r>
              <a:rPr sz="650" b="1">
                <a:solidFill>
                  <a:srgbClr val="1F4690"/>
                </a:solidFill>
                <a:latin typeface="Calibri"/>
              </a:rPr>
              <a:t>Entry Strategy: INR 800-850 Is Optimal Range</a:t>
            </a:r>
          </a:p>
        </p:txBody>
      </p:sp>
      <p:sp>
        <p:nvSpPr>
          <p:cNvPr id="48" name="TextBox 47"/>
          <p:cNvSpPr txBox="1"/>
          <p:nvPr/>
        </p:nvSpPr>
        <p:spPr>
          <a:xfrm>
            <a:off x="7607808" y="4389120"/>
            <a:ext cx="4169663" cy="987552"/>
          </a:xfrm>
          <a:prstGeom prst="rect">
            <a:avLst/>
          </a:prstGeom>
          <a:noFill/>
        </p:spPr>
        <p:txBody>
          <a:bodyPr wrap="square" lIns="36576" rIns="36576" tIns="9144" bIns="9144">
            <a:spAutoFit/>
          </a:bodyPr>
          <a:lstStyle/>
          <a:p>
            <a:r>
              <a:rPr sz="54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6" name="TextBox 15"/>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7" name="Rounded Rectangle 16"/>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9" name="TextBox 18"/>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20" name="TextBox 19"/>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1" name="TextBox 20"/>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2" name="TextBox 21"/>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3" name="Rectangle 22"/>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61518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8" name="TextBox 27"/>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9" name="Rectangle 28"/>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474720"/>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4" name="TextBox 33"/>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5" name="Rectangle 34"/>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433425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40" name="TextBox 39"/>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41" name="Rectangle 40"/>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51937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6" name="TextBox 45"/>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7" name="Rectangle 46"/>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61518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52" name="TextBox 51"/>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53" name="Rectangle 52"/>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474720"/>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8" name="TextBox 57"/>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9" name="Rectangle 58"/>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433425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462272"/>
            <a:ext cx="32004"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66" name="TextBox 65"/>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2" name="TextBox 21"/>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6" name="TextBox 25"/>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30" name="TextBox 29"/>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7" name="TextBox 36"/>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41" name="TextBox 40"/>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5" name="TextBox 44"/>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2" name="TextBox 51"/>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6" name="TextBox 55"/>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60" name="TextBox 59"/>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ectangle 13"/>
          <p:cNvSpPr/>
          <p:nvPr/>
        </p:nvSpPr>
        <p:spPr>
          <a:xfrm>
            <a:off x="457200" y="1188720"/>
            <a:ext cx="11274552" cy="228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371600"/>
            <a:ext cx="11274552" cy="5029200"/>
          </a:xfrm>
          <a:prstGeom prst="rect">
            <a:avLst/>
          </a:prstGeom>
          <a:noFill/>
        </p:spPr>
        <p:txBody>
          <a:bodyPr wrap="square" lIns="73152" rIns="73152" tIns="91440" bIns="91440">
            <a:spAutoFit/>
          </a:bodyPr>
          <a:lstStyle/>
          <a:p>
            <a:pPr>
              <a:lnSpc>
                <a:spcPct val="135000"/>
              </a:lnSpc>
              <a:spcBef>
                <a:spcPts val="0"/>
              </a:spcBef>
              <a:spcAft>
                <a:spcPts val="600"/>
              </a:spcAft>
            </a:pPr>
            <a:r>
              <a:rPr sz="2000" b="0">
                <a:solidFill>
                  <a:srgbClr val="111111"/>
                </a:solidFill>
                <a:latin typeface="Calibri"/>
              </a:rPr>
              <a:t>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a:t>
            </a:r>
          </a:p>
          <a:p>
            <a:pPr>
              <a:lnSpc>
                <a:spcPct val="135000"/>
              </a:lnSpc>
              <a:spcBef>
                <a:spcPts val="1400"/>
              </a:spcBef>
              <a:spcAft>
                <a:spcPts val="600"/>
              </a:spcAft>
            </a:pPr>
            <a:r>
              <a:rPr sz="2000" b="0">
                <a:solidFill>
                  <a:srgbClr val="111111"/>
                </a:solidFill>
                <a:latin typeface="Calibri"/>
              </a:rPr>
              <a:t>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a:t>
            </a:r>
          </a:p>
          <a:p>
            <a:pPr>
              <a:lnSpc>
                <a:spcPct val="135000"/>
              </a:lnSpc>
              <a:spcBef>
                <a:spcPts val="1400"/>
              </a:spcBef>
              <a:spcAft>
                <a:spcPts val="600"/>
              </a:spcAft>
            </a:pPr>
            <a:r>
              <a:rPr sz="2000" b="0">
                <a:solidFill>
                  <a:srgbClr val="111111"/>
                </a:solidFill>
                <a:latin typeface="Calibri"/>
              </a:rPr>
              <a:t>Tikona Capital, its affiliates, directors, employees, or research analysts may, from time to time, hold positions in the securities mentioned, or in instruments related to such securities, and may transact in them in a manner inconsistent with the views expressed herein.</a:t>
            </a:r>
          </a:p>
          <a:p>
            <a:pPr>
              <a:lnSpc>
                <a:spcPct val="135000"/>
              </a:lnSpc>
              <a:spcBef>
                <a:spcPts val="1400"/>
              </a:spcBef>
              <a:spcAft>
                <a:spcPts val="600"/>
              </a:spcAft>
            </a:pPr>
            <a:r>
              <a:rPr sz="2000" b="0">
                <a:solidFill>
                  <a:srgbClr val="111111"/>
                </a:solidFill>
                <a:latin typeface="Calibri"/>
              </a:rPr>
              <a:t>This document is the intellectual property of Tikona Capital. No part of it may be reproduced, distributed, or transmitted without prior written consent. Unauthorized use is prohibited.</a:t>
            </a:r>
          </a:p>
          <a:p>
            <a:pPr>
              <a:lnSpc>
                <a:spcPct val="135000"/>
              </a:lnSpc>
              <a:spcBef>
                <a:spcPts val="1400"/>
              </a:spcBef>
              <a:spcAft>
                <a:spcPts val="600"/>
              </a:spcAft>
            </a:pPr>
            <a:r>
              <a:rPr sz="2000" b="0">
                <a:solidFill>
                  <a:srgbClr val="111111"/>
                </a:solidFill>
                <a:latin typeface="Calibri"/>
              </a:rPr>
              <a:t>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