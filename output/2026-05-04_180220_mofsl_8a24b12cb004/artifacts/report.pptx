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7373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28016" y="54864"/>
            <a:ext cx="1700784" cy="43891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201168" y="109728"/>
            <a:ext cx="1346215" cy="329184"/>
          </a:xfrm>
          <a:prstGeom prst="rect">
            <a:avLst/>
          </a:prstGeom>
        </p:spPr>
      </p:pic>
      <p:sp>
        <p:nvSpPr>
          <p:cNvPr id="5" name="TextBox 4"/>
          <p:cNvSpPr txBox="1"/>
          <p:nvPr/>
        </p:nvSpPr>
        <p:spPr>
          <a:xfrm>
            <a:off x="9585655" y="91440"/>
            <a:ext cx="2331720" cy="201168"/>
          </a:xfrm>
          <a:prstGeom prst="rect">
            <a:avLst/>
          </a:prstGeom>
          <a:noFill/>
        </p:spPr>
        <p:txBody>
          <a:bodyPr wrap="square" lIns="36576" rIns="36576" tIns="9144" bIns="9144">
            <a:spAutoFit/>
          </a:bodyPr>
          <a:lstStyle/>
          <a:p>
            <a:pPr algn="ctr"/>
            <a:r>
              <a:rPr sz="800" b="1">
                <a:solidFill>
                  <a:srgbClr val="FFFFFF"/>
                </a:solidFill>
                <a:latin typeface="Calibri"/>
              </a:rPr>
              <a:t>INITIATION COVERAGE - Q2 FY25-26</a:t>
            </a:r>
          </a:p>
        </p:txBody>
      </p:sp>
      <p:sp>
        <p:nvSpPr>
          <p:cNvPr id="6" name="TextBox 5"/>
          <p:cNvSpPr txBox="1"/>
          <p:nvPr/>
        </p:nvSpPr>
        <p:spPr>
          <a:xfrm>
            <a:off x="201168" y="502920"/>
            <a:ext cx="4709160" cy="411480"/>
          </a:xfrm>
          <a:prstGeom prst="rect">
            <a:avLst/>
          </a:prstGeom>
          <a:noFill/>
        </p:spPr>
        <p:txBody>
          <a:bodyPr wrap="square" lIns="36576" rIns="36576" tIns="9144" bIns="9144">
            <a:spAutoFit/>
          </a:bodyPr>
          <a:lstStyle/>
          <a:p>
            <a:r>
              <a:rPr sz="2400" b="1">
                <a:solidFill>
                  <a:srgbClr val="FFFFFF"/>
                </a:solidFill>
                <a:latin typeface="Calibri"/>
              </a:rPr>
              <a:t>Motilal Oswal Financial Services Ltd</a:t>
            </a:r>
          </a:p>
        </p:txBody>
      </p:sp>
      <p:sp>
        <p:nvSpPr>
          <p:cNvPr id="7" name="Rounded Rectangle 6"/>
          <p:cNvSpPr/>
          <p:nvPr/>
        </p:nvSpPr>
        <p:spPr>
          <a:xfrm>
            <a:off x="4937760" y="566928"/>
            <a:ext cx="566928" cy="256032"/>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56048" y="585216"/>
            <a:ext cx="530352" cy="201168"/>
          </a:xfrm>
          <a:prstGeom prst="rect">
            <a:avLst/>
          </a:prstGeom>
          <a:noFill/>
        </p:spPr>
        <p:txBody>
          <a:bodyPr wrap="square" lIns="36576" rIns="36576" tIns="9144" bIns="9144">
            <a:spAutoFit/>
          </a:bodyPr>
          <a:lstStyle/>
          <a:p>
            <a:pPr algn="ctr"/>
            <a:r>
              <a:rPr sz="800" b="1">
                <a:solidFill>
                  <a:srgbClr val="1F4690"/>
                </a:solidFill>
                <a:latin typeface="Calibri"/>
              </a:rPr>
              <a:t>BUY</a:t>
            </a:r>
          </a:p>
        </p:txBody>
      </p:sp>
      <p:sp>
        <p:nvSpPr>
          <p:cNvPr id="9" name="TextBox 8"/>
          <p:cNvSpPr txBox="1"/>
          <p:nvPr/>
        </p:nvSpPr>
        <p:spPr>
          <a:xfrm>
            <a:off x="5577840" y="640080"/>
            <a:ext cx="4087368" cy="146304"/>
          </a:xfrm>
          <a:prstGeom prst="rect">
            <a:avLst/>
          </a:prstGeom>
          <a:noFill/>
        </p:spPr>
        <p:txBody>
          <a:bodyPr wrap="square" lIns="36576" rIns="36576" tIns="9144" bIns="9144">
            <a:spAutoFit/>
          </a:bodyPr>
          <a:lstStyle/>
          <a:p>
            <a:r>
              <a:rPr sz="750" b="0">
                <a:solidFill>
                  <a:srgbClr val="D9E2F2"/>
                </a:solidFill>
                <a:latin typeface="Calibri"/>
              </a:rPr>
              <a:t>NSE: MOFSL  |  Financial Services / Capital Markets</a:t>
            </a:r>
          </a:p>
        </p:txBody>
      </p:sp>
      <p:sp>
        <p:nvSpPr>
          <p:cNvPr id="10" name="Rectangle 9"/>
          <p:cNvSpPr/>
          <p:nvPr/>
        </p:nvSpPr>
        <p:spPr>
          <a:xfrm>
            <a:off x="201168" y="932688"/>
            <a:ext cx="11789359" cy="9144"/>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1168" y="987552"/>
            <a:ext cx="1919173" cy="128016"/>
          </a:xfrm>
          <a:prstGeom prst="rect">
            <a:avLst/>
          </a:prstGeom>
          <a:noFill/>
        </p:spPr>
        <p:txBody>
          <a:bodyPr wrap="square" lIns="36576" rIns="36576" tIns="9144" bIns="9144">
            <a:spAutoFit/>
          </a:bodyPr>
          <a:lstStyle/>
          <a:p>
            <a:r>
              <a:rPr sz="700" b="1">
                <a:solidFill>
                  <a:srgbClr val="BFD0EA"/>
                </a:solidFill>
                <a:latin typeface="Calibri"/>
              </a:rPr>
              <a:t>CMP</a:t>
            </a:r>
          </a:p>
        </p:txBody>
      </p:sp>
      <p:sp>
        <p:nvSpPr>
          <p:cNvPr id="12" name="TextBox 11"/>
          <p:cNvSpPr txBox="1"/>
          <p:nvPr/>
        </p:nvSpPr>
        <p:spPr>
          <a:xfrm>
            <a:off x="201168" y="1133856"/>
            <a:ext cx="1919173" cy="201168"/>
          </a:xfrm>
          <a:prstGeom prst="rect">
            <a:avLst/>
          </a:prstGeom>
          <a:noFill/>
        </p:spPr>
        <p:txBody>
          <a:bodyPr wrap="square" lIns="36576" rIns="36576" tIns="9144" bIns="9144">
            <a:spAutoFit/>
          </a:bodyPr>
          <a:lstStyle/>
          <a:p>
            <a:r>
              <a:rPr sz="1200" b="1">
                <a:solidFill>
                  <a:srgbClr val="FFA500"/>
                </a:solidFill>
                <a:latin typeface="Calibri"/>
              </a:rPr>
              <a:t>₹822.90</a:t>
            </a:r>
          </a:p>
        </p:txBody>
      </p:sp>
      <p:sp>
        <p:nvSpPr>
          <p:cNvPr id="13" name="TextBox 12"/>
          <p:cNvSpPr txBox="1"/>
          <p:nvPr/>
        </p:nvSpPr>
        <p:spPr>
          <a:xfrm>
            <a:off x="201168" y="1353312"/>
            <a:ext cx="1919173" cy="128016"/>
          </a:xfrm>
          <a:prstGeom prst="rect">
            <a:avLst/>
          </a:prstGeom>
          <a:noFill/>
        </p:spPr>
        <p:txBody>
          <a:bodyPr wrap="square" lIns="36576" rIns="36576" tIns="9144" bIns="9144">
            <a:spAutoFit/>
          </a:bodyPr>
          <a:lstStyle/>
          <a:p>
            <a:r>
              <a:rPr sz="600" b="0">
                <a:solidFill>
                  <a:srgbClr val="C8D2E3"/>
                </a:solidFill>
                <a:latin typeface="Calibri"/>
              </a:rPr>
              <a:t>As of 28/04/2026</a:t>
            </a:r>
          </a:p>
        </p:txBody>
      </p:sp>
      <p:sp>
        <p:nvSpPr>
          <p:cNvPr id="14" name="Rectangle 13"/>
          <p:cNvSpPr/>
          <p:nvPr/>
        </p:nvSpPr>
        <p:spPr>
          <a:xfrm>
            <a:off x="2129485"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66061" y="987552"/>
            <a:ext cx="1919173" cy="128016"/>
          </a:xfrm>
          <a:prstGeom prst="rect">
            <a:avLst/>
          </a:prstGeom>
          <a:noFill/>
        </p:spPr>
        <p:txBody>
          <a:bodyPr wrap="square" lIns="36576" rIns="36576" tIns="9144" bIns="9144">
            <a:spAutoFit/>
          </a:bodyPr>
          <a:lstStyle/>
          <a:p>
            <a:r>
              <a:rPr sz="700" b="1">
                <a:solidFill>
                  <a:srgbClr val="BFD0EA"/>
                </a:solidFill>
                <a:latin typeface="Calibri"/>
              </a:rPr>
              <a:t>TARGET PRICE</a:t>
            </a:r>
          </a:p>
        </p:txBody>
      </p:sp>
      <p:sp>
        <p:nvSpPr>
          <p:cNvPr id="16" name="TextBox 15"/>
          <p:cNvSpPr txBox="1"/>
          <p:nvPr/>
        </p:nvSpPr>
        <p:spPr>
          <a:xfrm>
            <a:off x="2166061" y="1133856"/>
            <a:ext cx="1919173" cy="201168"/>
          </a:xfrm>
          <a:prstGeom prst="rect">
            <a:avLst/>
          </a:prstGeom>
          <a:noFill/>
        </p:spPr>
        <p:txBody>
          <a:bodyPr wrap="square" lIns="36576" rIns="36576" tIns="9144" bIns="9144">
            <a:spAutoFit/>
          </a:bodyPr>
          <a:lstStyle/>
          <a:p>
            <a:r>
              <a:rPr sz="1200" b="1">
                <a:solidFill>
                  <a:srgbClr val="FFA500"/>
                </a:solidFill>
                <a:latin typeface="Calibri"/>
              </a:rPr>
              <a:t>₹1,127</a:t>
            </a:r>
          </a:p>
        </p:txBody>
      </p:sp>
      <p:sp>
        <p:nvSpPr>
          <p:cNvPr id="17" name="TextBox 16"/>
          <p:cNvSpPr txBox="1"/>
          <p:nvPr/>
        </p:nvSpPr>
        <p:spPr>
          <a:xfrm>
            <a:off x="2166061" y="1353312"/>
            <a:ext cx="1919173" cy="128016"/>
          </a:xfrm>
          <a:prstGeom prst="rect">
            <a:avLst/>
          </a:prstGeom>
          <a:noFill/>
        </p:spPr>
        <p:txBody>
          <a:bodyPr wrap="square" lIns="36576" rIns="36576" tIns="9144" bIns="9144">
            <a:spAutoFit/>
          </a:bodyPr>
          <a:lstStyle/>
          <a:p>
            <a:r>
              <a:rPr sz="600" b="0">
                <a:solidFill>
                  <a:srgbClr val="C8D2E3"/>
                </a:solidFill>
                <a:latin typeface="Calibri"/>
              </a:rPr>
              <a:t>12M upside case</a:t>
            </a:r>
          </a:p>
        </p:txBody>
      </p:sp>
      <p:sp>
        <p:nvSpPr>
          <p:cNvPr id="18" name="Rectangle 17"/>
          <p:cNvSpPr/>
          <p:nvPr/>
        </p:nvSpPr>
        <p:spPr>
          <a:xfrm>
            <a:off x="409437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30954"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a:t>
            </a:r>
          </a:p>
        </p:txBody>
      </p:sp>
      <p:sp>
        <p:nvSpPr>
          <p:cNvPr id="20" name="TextBox 19"/>
          <p:cNvSpPr txBox="1"/>
          <p:nvPr/>
        </p:nvSpPr>
        <p:spPr>
          <a:xfrm>
            <a:off x="4130954" y="1133856"/>
            <a:ext cx="1919173" cy="201168"/>
          </a:xfrm>
          <a:prstGeom prst="rect">
            <a:avLst/>
          </a:prstGeom>
          <a:noFill/>
        </p:spPr>
        <p:txBody>
          <a:bodyPr wrap="square" lIns="36576" rIns="36576" tIns="9144" bIns="9144">
            <a:spAutoFit/>
          </a:bodyPr>
          <a:lstStyle/>
          <a:p>
            <a:r>
              <a:rPr sz="1200" b="1">
                <a:solidFill>
                  <a:srgbClr val="FFFFFF"/>
                </a:solidFill>
                <a:latin typeface="Calibri"/>
              </a:rPr>
              <a:t>₹49,079 Cr</a:t>
            </a:r>
          </a:p>
        </p:txBody>
      </p:sp>
      <p:sp>
        <p:nvSpPr>
          <p:cNvPr id="21" name="Rectangle 20"/>
          <p:cNvSpPr/>
          <p:nvPr/>
        </p:nvSpPr>
        <p:spPr>
          <a:xfrm>
            <a:off x="6059271"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5847" y="987552"/>
            <a:ext cx="1919173" cy="128016"/>
          </a:xfrm>
          <a:prstGeom prst="rect">
            <a:avLst/>
          </a:prstGeom>
          <a:noFill/>
        </p:spPr>
        <p:txBody>
          <a:bodyPr wrap="square" lIns="36576" rIns="36576" tIns="9144" bIns="9144">
            <a:spAutoFit/>
          </a:bodyPr>
          <a:lstStyle/>
          <a:p>
            <a:r>
              <a:rPr sz="700" b="1">
                <a:solidFill>
                  <a:srgbClr val="BFD0EA"/>
                </a:solidFill>
                <a:latin typeface="Calibri"/>
              </a:rPr>
              <a:t>MARKET CAP CATEGORY</a:t>
            </a:r>
          </a:p>
        </p:txBody>
      </p:sp>
      <p:sp>
        <p:nvSpPr>
          <p:cNvPr id="23" name="TextBox 22"/>
          <p:cNvSpPr txBox="1"/>
          <p:nvPr/>
        </p:nvSpPr>
        <p:spPr>
          <a:xfrm>
            <a:off x="6095847" y="1133856"/>
            <a:ext cx="1919173" cy="201168"/>
          </a:xfrm>
          <a:prstGeom prst="rect">
            <a:avLst/>
          </a:prstGeom>
          <a:noFill/>
        </p:spPr>
        <p:txBody>
          <a:bodyPr wrap="square" lIns="36576" rIns="36576" tIns="9144" bIns="9144">
            <a:spAutoFit/>
          </a:bodyPr>
          <a:lstStyle/>
          <a:p>
            <a:r>
              <a:rPr sz="1200" b="1">
                <a:solidFill>
                  <a:srgbClr val="FFFFFF"/>
                </a:solidFill>
                <a:latin typeface="Calibri"/>
              </a:rPr>
              <a:t>Mid Cap</a:t>
            </a:r>
          </a:p>
        </p:txBody>
      </p:sp>
      <p:sp>
        <p:nvSpPr>
          <p:cNvPr id="24" name="TextBox 23"/>
          <p:cNvSpPr txBox="1"/>
          <p:nvPr/>
        </p:nvSpPr>
        <p:spPr>
          <a:xfrm>
            <a:off x="6095847" y="1353312"/>
            <a:ext cx="1919173" cy="128016"/>
          </a:xfrm>
          <a:prstGeom prst="rect">
            <a:avLst/>
          </a:prstGeom>
          <a:noFill/>
        </p:spPr>
        <p:txBody>
          <a:bodyPr wrap="square" lIns="36576" rIns="36576" tIns="9144" bIns="9144">
            <a:spAutoFit/>
          </a:bodyPr>
          <a:lstStyle/>
          <a:p>
            <a:r>
              <a:rPr sz="600" b="0">
                <a:solidFill>
                  <a:srgbClr val="C8D2E3"/>
                </a:solidFill>
                <a:latin typeface="Calibri"/>
              </a:rPr>
              <a:t>Financial Services leader</a:t>
            </a:r>
          </a:p>
        </p:txBody>
      </p:sp>
      <p:sp>
        <p:nvSpPr>
          <p:cNvPr id="25" name="Rectangle 24"/>
          <p:cNvSpPr/>
          <p:nvPr/>
        </p:nvSpPr>
        <p:spPr>
          <a:xfrm>
            <a:off x="8024164"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60740" y="987552"/>
            <a:ext cx="1919173" cy="128016"/>
          </a:xfrm>
          <a:prstGeom prst="rect">
            <a:avLst/>
          </a:prstGeom>
          <a:noFill/>
        </p:spPr>
        <p:txBody>
          <a:bodyPr wrap="square" lIns="36576" rIns="36576" tIns="9144" bIns="9144">
            <a:spAutoFit/>
          </a:bodyPr>
          <a:lstStyle/>
          <a:p>
            <a:r>
              <a:rPr sz="700" b="1">
                <a:solidFill>
                  <a:srgbClr val="BFD0EA"/>
                </a:solidFill>
                <a:latin typeface="Calibri"/>
              </a:rPr>
              <a:t>SAARTHI SCORE</a:t>
            </a:r>
          </a:p>
        </p:txBody>
      </p:sp>
      <p:sp>
        <p:nvSpPr>
          <p:cNvPr id="27" name="TextBox 26"/>
          <p:cNvSpPr txBox="1"/>
          <p:nvPr/>
        </p:nvSpPr>
        <p:spPr>
          <a:xfrm>
            <a:off x="8060740" y="1133856"/>
            <a:ext cx="1919173" cy="201168"/>
          </a:xfrm>
          <a:prstGeom prst="rect">
            <a:avLst/>
          </a:prstGeom>
          <a:noFill/>
        </p:spPr>
        <p:txBody>
          <a:bodyPr wrap="square" lIns="36576" rIns="36576" tIns="9144" bIns="9144">
            <a:spAutoFit/>
          </a:bodyPr>
          <a:lstStyle/>
          <a:p>
            <a:r>
              <a:rPr sz="1200" b="1">
                <a:solidFill>
                  <a:srgbClr val="FFA500"/>
                </a:solidFill>
                <a:latin typeface="Calibri"/>
              </a:rPr>
              <a:t>72/100</a:t>
            </a:r>
          </a:p>
        </p:txBody>
      </p:sp>
      <p:sp>
        <p:nvSpPr>
          <p:cNvPr id="28" name="TextBox 27"/>
          <p:cNvSpPr txBox="1"/>
          <p:nvPr/>
        </p:nvSpPr>
        <p:spPr>
          <a:xfrm>
            <a:off x="8060740" y="1353312"/>
            <a:ext cx="1919173" cy="128016"/>
          </a:xfrm>
          <a:prstGeom prst="rect">
            <a:avLst/>
          </a:prstGeom>
          <a:noFill/>
        </p:spPr>
        <p:txBody>
          <a:bodyPr wrap="square" lIns="36576" rIns="36576" tIns="9144" bIns="9144">
            <a:spAutoFit/>
          </a:bodyPr>
          <a:lstStyle/>
          <a:p>
            <a:r>
              <a:rPr sz="600" b="0">
                <a:solidFill>
                  <a:srgbClr val="C8D2E3"/>
                </a:solidFill>
                <a:latin typeface="Calibri"/>
              </a:rPr>
              <a:t>BUY (70-84 range)</a:t>
            </a:r>
          </a:p>
        </p:txBody>
      </p:sp>
      <p:sp>
        <p:nvSpPr>
          <p:cNvPr id="29" name="Rectangle 28"/>
          <p:cNvSpPr/>
          <p:nvPr/>
        </p:nvSpPr>
        <p:spPr>
          <a:xfrm>
            <a:off x="9989058" y="1024128"/>
            <a:ext cx="5486" cy="36576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25634" y="987552"/>
            <a:ext cx="1919173" cy="128016"/>
          </a:xfrm>
          <a:prstGeom prst="rect">
            <a:avLst/>
          </a:prstGeom>
          <a:noFill/>
        </p:spPr>
        <p:txBody>
          <a:bodyPr wrap="square" lIns="36576" rIns="36576" tIns="9144" bIns="9144">
            <a:spAutoFit/>
          </a:bodyPr>
          <a:lstStyle/>
          <a:p>
            <a:r>
              <a:rPr sz="700" b="1">
                <a:solidFill>
                  <a:srgbClr val="BFD0EA"/>
                </a:solidFill>
                <a:latin typeface="Calibri"/>
              </a:rPr>
              <a:t>PROB. WEIGHTED TP</a:t>
            </a:r>
          </a:p>
        </p:txBody>
      </p:sp>
      <p:sp>
        <p:nvSpPr>
          <p:cNvPr id="31" name="TextBox 30"/>
          <p:cNvSpPr txBox="1"/>
          <p:nvPr/>
        </p:nvSpPr>
        <p:spPr>
          <a:xfrm>
            <a:off x="10025634" y="1133856"/>
            <a:ext cx="1919173" cy="201168"/>
          </a:xfrm>
          <a:prstGeom prst="rect">
            <a:avLst/>
          </a:prstGeom>
          <a:noFill/>
        </p:spPr>
        <p:txBody>
          <a:bodyPr wrap="square" lIns="36576" rIns="36576" tIns="9144" bIns="9144">
            <a:spAutoFit/>
          </a:bodyPr>
          <a:lstStyle/>
          <a:p>
            <a:r>
              <a:rPr sz="1200" b="1">
                <a:solidFill>
                  <a:srgbClr val="FFFFFF"/>
                </a:solidFill>
                <a:latin typeface="Calibri"/>
              </a:rPr>
              <a:t>₹1,109</a:t>
            </a:r>
          </a:p>
        </p:txBody>
      </p:sp>
      <p:sp>
        <p:nvSpPr>
          <p:cNvPr id="32" name="TextBox 31"/>
          <p:cNvSpPr txBox="1"/>
          <p:nvPr/>
        </p:nvSpPr>
        <p:spPr>
          <a:xfrm>
            <a:off x="9265615" y="1572768"/>
            <a:ext cx="2697480" cy="128016"/>
          </a:xfrm>
          <a:prstGeom prst="rect">
            <a:avLst/>
          </a:prstGeom>
          <a:noFill/>
        </p:spPr>
        <p:txBody>
          <a:bodyPr wrap="square" lIns="36576" rIns="36576" tIns="9144" bIns="9144">
            <a:spAutoFit/>
          </a:bodyPr>
          <a:lstStyle/>
          <a:p>
            <a:pPr algn="r"/>
            <a:r>
              <a:rPr sz="650" b="0">
                <a:solidFill>
                  <a:srgbClr val="E8EEF8"/>
                </a:solidFill>
                <a:latin typeface="Calibri"/>
              </a:rPr>
              <a:t>Report Reference: Q2 FY2025-26 | 28/04/2026</a:t>
            </a:r>
          </a:p>
        </p:txBody>
      </p:sp>
      <p:sp>
        <p:nvSpPr>
          <p:cNvPr id="33" name="Rectangle 32"/>
          <p:cNvSpPr/>
          <p:nvPr/>
        </p:nvSpPr>
        <p:spPr>
          <a:xfrm>
            <a:off x="0" y="1737360"/>
            <a:ext cx="12191695" cy="5029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1168" y="1810512"/>
            <a:ext cx="11789359" cy="320040"/>
          </a:xfrm>
          <a:prstGeom prst="rect">
            <a:avLst/>
          </a:prstGeom>
          <a:noFill/>
        </p:spPr>
        <p:txBody>
          <a:bodyPr wrap="square" lIns="36576" rIns="36576" tIns="9144" bIns="9144">
            <a:spAutoFit/>
          </a:bodyPr>
          <a:lstStyle/>
          <a:p>
            <a:r>
              <a:rPr sz="1300" b="1">
                <a:solidFill>
                  <a:srgbClr val="1F4690"/>
                </a:solidFill>
                <a:latin typeface="Calibri"/>
              </a:rPr>
              <a:t>"BUY with SAARTHI Score of 72/100"</a:t>
            </a:r>
          </a:p>
        </p:txBody>
      </p:sp>
      <p:sp>
        <p:nvSpPr>
          <p:cNvPr id="35" name="Rounded Rectangle 34"/>
          <p:cNvSpPr/>
          <p:nvPr/>
        </p:nvSpPr>
        <p:spPr>
          <a:xfrm>
            <a:off x="201168" y="2359152"/>
            <a:ext cx="6272784" cy="1243584"/>
          </a:xfrm>
          <a:prstGeom prst="roundRect">
            <a:avLst/>
          </a:prstGeom>
          <a:solidFill>
            <a:srgbClr val="FFF0CC"/>
          </a:solidFill>
          <a:ln w="8890">
            <a:solidFill>
              <a:srgbClr val="F3C6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01168" y="2359152"/>
            <a:ext cx="32004" cy="124358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0896" y="2432304"/>
            <a:ext cx="6053328" cy="182880"/>
          </a:xfrm>
          <a:prstGeom prst="rect">
            <a:avLst/>
          </a:prstGeom>
          <a:noFill/>
        </p:spPr>
        <p:txBody>
          <a:bodyPr wrap="square" lIns="36576" rIns="36576" tIns="9144" bIns="9144">
            <a:spAutoFit/>
          </a:bodyPr>
          <a:lstStyle/>
          <a:p>
            <a:r>
              <a:rPr sz="900" b="1">
                <a:solidFill>
                  <a:srgbClr val="1F4690"/>
                </a:solidFill>
                <a:latin typeface="Calibri"/>
              </a:rPr>
              <a:t>Investment Thesis</a:t>
            </a:r>
          </a:p>
        </p:txBody>
      </p:sp>
      <p:sp>
        <p:nvSpPr>
          <p:cNvPr id="38" name="TextBox 37"/>
          <p:cNvSpPr txBox="1"/>
          <p:nvPr/>
        </p:nvSpPr>
        <p:spPr>
          <a:xfrm>
            <a:off x="310896" y="2633472"/>
            <a:ext cx="6053328" cy="896112"/>
          </a:xfrm>
          <a:prstGeom prst="rect">
            <a:avLst/>
          </a:prstGeom>
          <a:noFill/>
        </p:spPr>
        <p:txBody>
          <a:bodyPr wrap="square" lIns="36576" rIns="36576" tIns="9144" bIns="9144">
            <a:spAutoFit/>
          </a:bodyPr>
          <a:lstStyle/>
          <a:p>
            <a:r>
              <a:rPr sz="800" b="1">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39" name="Rounded Rectangle 38"/>
          <p:cNvSpPr/>
          <p:nvPr/>
        </p:nvSpPr>
        <p:spPr>
          <a:xfrm>
            <a:off x="2011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01168" y="3712464"/>
            <a:ext cx="32004" cy="8046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2608" y="3767328"/>
            <a:ext cx="2907792" cy="182880"/>
          </a:xfrm>
          <a:prstGeom prst="rect">
            <a:avLst/>
          </a:prstGeom>
          <a:noFill/>
        </p:spPr>
        <p:txBody>
          <a:bodyPr wrap="square" lIns="36576" rIns="36576" tIns="9144" bIns="9144">
            <a:spAutoFit/>
          </a:bodyPr>
          <a:lstStyle/>
          <a:p>
            <a:r>
              <a:rPr sz="850" b="1">
                <a:solidFill>
                  <a:srgbClr val="1F4690"/>
                </a:solidFill>
                <a:latin typeface="Calibri"/>
              </a:rPr>
              <a:t>ARR Transformation</a:t>
            </a:r>
          </a:p>
        </p:txBody>
      </p:sp>
      <p:sp>
        <p:nvSpPr>
          <p:cNvPr id="42" name="TextBox 41"/>
          <p:cNvSpPr txBox="1"/>
          <p:nvPr/>
        </p:nvSpPr>
        <p:spPr>
          <a:xfrm>
            <a:off x="292608" y="3968496"/>
            <a:ext cx="2907792" cy="493776"/>
          </a:xfrm>
          <a:prstGeom prst="rect">
            <a:avLst/>
          </a:prstGeom>
          <a:noFill/>
        </p:spPr>
        <p:txBody>
          <a:bodyPr wrap="square" lIns="36576" rIns="36576" tIns="9144" bIns="9144">
            <a:spAutoFit/>
          </a:bodyPr>
          <a:lstStyle/>
          <a:p>
            <a:r>
              <a:rPr sz="750" b="0">
                <a:solidFill>
                  <a:srgbClr val="111111"/>
                </a:solidFill>
                <a:latin typeface="Calibri"/>
              </a:rPr>
              <a:t>ARR at 65% of net revenues (up from 61%); fee-based at 45%. Annuity income reduces transaction-cycle volatility.</a:t>
            </a:r>
          </a:p>
        </p:txBody>
      </p:sp>
      <p:sp>
        <p:nvSpPr>
          <p:cNvPr id="43" name="Rounded Rectangle 42"/>
          <p:cNvSpPr/>
          <p:nvPr/>
        </p:nvSpPr>
        <p:spPr>
          <a:xfrm>
            <a:off x="3401568" y="3712464"/>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401568" y="3712464"/>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493008" y="3767328"/>
            <a:ext cx="2907792" cy="182880"/>
          </a:xfrm>
          <a:prstGeom prst="rect">
            <a:avLst/>
          </a:prstGeom>
          <a:noFill/>
        </p:spPr>
        <p:txBody>
          <a:bodyPr wrap="square" lIns="36576" rIns="36576" tIns="9144" bIns="9144">
            <a:spAutoFit/>
          </a:bodyPr>
          <a:lstStyle/>
          <a:p>
            <a:r>
              <a:rPr sz="850" b="1">
                <a:solidFill>
                  <a:srgbClr val="1F4690"/>
                </a:solidFill>
                <a:latin typeface="Calibri"/>
              </a:rPr>
              <a:t>Profitability Momentum</a:t>
            </a:r>
          </a:p>
        </p:txBody>
      </p:sp>
      <p:sp>
        <p:nvSpPr>
          <p:cNvPr id="46" name="TextBox 45"/>
          <p:cNvSpPr txBox="1"/>
          <p:nvPr/>
        </p:nvSpPr>
        <p:spPr>
          <a:xfrm>
            <a:off x="3493008" y="3968496"/>
            <a:ext cx="2907792" cy="493776"/>
          </a:xfrm>
          <a:prstGeom prst="rect">
            <a:avLst/>
          </a:prstGeom>
          <a:noFill/>
        </p:spPr>
        <p:txBody>
          <a:bodyPr wrap="square" lIns="36576" rIns="36576" tIns="9144" bIns="9144">
            <a:spAutoFit/>
          </a:bodyPr>
          <a:lstStyle/>
          <a:p>
            <a:r>
              <a:rPr sz="750" b="0">
                <a:solidFill>
                  <a:srgbClr val="111111"/>
                </a:solidFill>
                <a:latin typeface="Calibri"/>
              </a:rPr>
              <a:t>Q2FY25 PAT INR 1,242 Cr (+123% YoY); H1FY26 operating PAT INR 1,088 Cr (+11% YoY); Asset &amp; PWM businesses leading at +32% PAT growth.</a:t>
            </a:r>
          </a:p>
        </p:txBody>
      </p:sp>
      <p:sp>
        <p:nvSpPr>
          <p:cNvPr id="47" name="Rounded Rectangle 46"/>
          <p:cNvSpPr/>
          <p:nvPr/>
        </p:nvSpPr>
        <p:spPr>
          <a:xfrm>
            <a:off x="2011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01168" y="4608576"/>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2608" y="4663440"/>
            <a:ext cx="2907792" cy="182880"/>
          </a:xfrm>
          <a:prstGeom prst="rect">
            <a:avLst/>
          </a:prstGeom>
          <a:noFill/>
        </p:spPr>
        <p:txBody>
          <a:bodyPr wrap="square" lIns="36576" rIns="36576" tIns="9144" bIns="9144">
            <a:spAutoFit/>
          </a:bodyPr>
          <a:lstStyle/>
          <a:p>
            <a:r>
              <a:rPr sz="850" b="1">
                <a:solidFill>
                  <a:srgbClr val="1F4690"/>
                </a:solidFill>
                <a:latin typeface="Calibri"/>
              </a:rPr>
              <a:t>AUM Scale and Outperformance</a:t>
            </a:r>
          </a:p>
        </p:txBody>
      </p:sp>
      <p:sp>
        <p:nvSpPr>
          <p:cNvPr id="50" name="TextBox 49"/>
          <p:cNvSpPr txBox="1"/>
          <p:nvPr/>
        </p:nvSpPr>
        <p:spPr>
          <a:xfrm>
            <a:off x="292608" y="4864608"/>
            <a:ext cx="2907792" cy="493776"/>
          </a:xfrm>
          <a:prstGeom prst="rect">
            <a:avLst/>
          </a:prstGeom>
          <a:noFill/>
        </p:spPr>
        <p:txBody>
          <a:bodyPr wrap="square" lIns="36576" rIns="36576" tIns="9144" bIns="9144">
            <a:spAutoFit/>
          </a:bodyPr>
          <a:lstStyle/>
          <a:p>
            <a:r>
              <a:rPr sz="750" b="0">
                <a:solidFill>
                  <a:srgbClr val="111111"/>
                </a:solidFill>
                <a:latin typeface="Calibri"/>
              </a:rPr>
              <a:t>Total AUM INR 1.77L Cr (+46% YoY). AMC AUM INR 1.89L Cr (+33%) with INR 11,610 Cr net flows. 91% of AUM outperforming benchmarks over 3 years.</a:t>
            </a:r>
          </a:p>
        </p:txBody>
      </p:sp>
      <p:sp>
        <p:nvSpPr>
          <p:cNvPr id="51" name="Rounded Rectangle 50"/>
          <p:cNvSpPr/>
          <p:nvPr/>
        </p:nvSpPr>
        <p:spPr>
          <a:xfrm>
            <a:off x="3401568" y="4608576"/>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401568" y="4608576"/>
            <a:ext cx="32004" cy="804672"/>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93008" y="4663440"/>
            <a:ext cx="2907792" cy="182880"/>
          </a:xfrm>
          <a:prstGeom prst="rect">
            <a:avLst/>
          </a:prstGeom>
          <a:noFill/>
        </p:spPr>
        <p:txBody>
          <a:bodyPr wrap="square" lIns="36576" rIns="36576" tIns="9144" bIns="9144">
            <a:spAutoFit/>
          </a:bodyPr>
          <a:lstStyle/>
          <a:p>
            <a:r>
              <a:rPr sz="850" b="1">
                <a:solidFill>
                  <a:srgbClr val="1F4690"/>
                </a:solidFill>
                <a:latin typeface="Calibri"/>
              </a:rPr>
              <a:t>Private Wealth Expansion</a:t>
            </a:r>
          </a:p>
        </p:txBody>
      </p:sp>
      <p:sp>
        <p:nvSpPr>
          <p:cNvPr id="54" name="TextBox 53"/>
          <p:cNvSpPr txBox="1"/>
          <p:nvPr/>
        </p:nvSpPr>
        <p:spPr>
          <a:xfrm>
            <a:off x="3493008" y="4864608"/>
            <a:ext cx="2907792" cy="493776"/>
          </a:xfrm>
          <a:prstGeom prst="rect">
            <a:avLst/>
          </a:prstGeom>
          <a:noFill/>
        </p:spPr>
        <p:txBody>
          <a:bodyPr wrap="square" lIns="36576" rIns="36576" tIns="9144" bIns="9144">
            <a:spAutoFit/>
          </a:bodyPr>
          <a:lstStyle/>
          <a:p>
            <a:r>
              <a:rPr sz="750" b="0">
                <a:solidFill>
                  <a:srgbClr val="111111"/>
                </a:solidFill>
                <a:latin typeface="Calibri"/>
              </a:rPr>
              <a:t>PWM AUM INR 1.96L Cr (+31% YoY); family count +41% YoY; PAT +14% (9M). Distribution book +34% YoY to INR 42,775 Cr.</a:t>
            </a:r>
          </a:p>
        </p:txBody>
      </p:sp>
      <p:sp>
        <p:nvSpPr>
          <p:cNvPr id="55" name="Rounded Rectangle 54"/>
          <p:cNvSpPr/>
          <p:nvPr/>
        </p:nvSpPr>
        <p:spPr>
          <a:xfrm>
            <a:off x="2011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201168" y="5504688"/>
            <a:ext cx="32004" cy="80467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92608" y="5559552"/>
            <a:ext cx="2907792" cy="182880"/>
          </a:xfrm>
          <a:prstGeom prst="rect">
            <a:avLst/>
          </a:prstGeom>
          <a:noFill/>
        </p:spPr>
        <p:txBody>
          <a:bodyPr wrap="square" lIns="36576" rIns="36576" tIns="9144" bIns="9144">
            <a:spAutoFit/>
          </a:bodyPr>
          <a:lstStyle/>
          <a:p>
            <a:r>
              <a:rPr sz="850" b="1">
                <a:solidFill>
                  <a:srgbClr val="1F4690"/>
                </a:solidFill>
                <a:latin typeface="Calibri"/>
              </a:rPr>
              <a:t>Valuation Opportunity</a:t>
            </a:r>
          </a:p>
        </p:txBody>
      </p:sp>
      <p:sp>
        <p:nvSpPr>
          <p:cNvPr id="58" name="TextBox 57"/>
          <p:cNvSpPr txBox="1"/>
          <p:nvPr/>
        </p:nvSpPr>
        <p:spPr>
          <a:xfrm>
            <a:off x="292608" y="5760720"/>
            <a:ext cx="2907792" cy="493776"/>
          </a:xfrm>
          <a:prstGeom prst="rect">
            <a:avLst/>
          </a:prstGeom>
          <a:noFill/>
        </p:spPr>
        <p:txBody>
          <a:bodyPr wrap="square" lIns="36576" rIns="36576" tIns="9144" bIns="9144">
            <a:spAutoFit/>
          </a:bodyPr>
          <a:lstStyle/>
          <a:p>
            <a:r>
              <a:rPr sz="750" b="0">
                <a:solidFill>
                  <a:srgbClr val="111111"/>
                </a:solidFill>
                <a:latin typeface="Calibri"/>
              </a:rPr>
              <a:t>CMP INR 822.90 vs consensus TP INR 1,126.67 (max INR 1,200) — 37% upside. Probability-weighted target INR 1,109.</a:t>
            </a:r>
          </a:p>
        </p:txBody>
      </p:sp>
      <p:sp>
        <p:nvSpPr>
          <p:cNvPr id="59" name="Rounded Rectangle 58"/>
          <p:cNvSpPr/>
          <p:nvPr/>
        </p:nvSpPr>
        <p:spPr>
          <a:xfrm>
            <a:off x="3401568" y="5504688"/>
            <a:ext cx="3072384" cy="804672"/>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401568" y="5504688"/>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493008" y="5559552"/>
            <a:ext cx="2907792" cy="182880"/>
          </a:xfrm>
          <a:prstGeom prst="rect">
            <a:avLst/>
          </a:prstGeom>
          <a:noFill/>
        </p:spPr>
        <p:txBody>
          <a:bodyPr wrap="square" lIns="36576" rIns="36576" tIns="9144" bIns="9144">
            <a:spAutoFit/>
          </a:bodyPr>
          <a:lstStyle/>
          <a:p>
            <a:r>
              <a:rPr sz="850" b="1">
                <a:solidFill>
                  <a:srgbClr val="1F4690"/>
                </a:solidFill>
                <a:latin typeface="Calibri"/>
              </a:rPr>
              <a:t>Credit Upgrade</a:t>
            </a:r>
          </a:p>
        </p:txBody>
      </p:sp>
      <p:sp>
        <p:nvSpPr>
          <p:cNvPr id="62" name="TextBox 61"/>
          <p:cNvSpPr txBox="1"/>
          <p:nvPr/>
        </p:nvSpPr>
        <p:spPr>
          <a:xfrm>
            <a:off x="3493008" y="5760720"/>
            <a:ext cx="2907792" cy="493776"/>
          </a:xfrm>
          <a:prstGeom prst="rect">
            <a:avLst/>
          </a:prstGeom>
          <a:noFill/>
        </p:spPr>
        <p:txBody>
          <a:bodyPr wrap="square" lIns="36576" rIns="36576" tIns="9144" bIns="9144">
            <a:spAutoFit/>
          </a:bodyPr>
          <a:lstStyle/>
          <a:p>
            <a:r>
              <a:rPr sz="750" b="0">
                <a:solidFill>
                  <a:srgbClr val="111111"/>
                </a:solidFill>
                <a:latin typeface="Calibri"/>
              </a:rPr>
              <a:t>Long-term credit rating upgraded to AA+ (Stable) by ICRA. Net worth INR 12,871 Cr (+16% YoY).</a:t>
            </a:r>
          </a:p>
        </p:txBody>
      </p:sp>
      <p:sp>
        <p:nvSpPr>
          <p:cNvPr id="63" name="TextBox 62"/>
          <p:cNvSpPr txBox="1"/>
          <p:nvPr/>
        </p:nvSpPr>
        <p:spPr>
          <a:xfrm>
            <a:off x="6601968" y="2359152"/>
            <a:ext cx="3182112" cy="164592"/>
          </a:xfrm>
          <a:prstGeom prst="rect">
            <a:avLst/>
          </a:prstGeom>
          <a:noFill/>
        </p:spPr>
        <p:txBody>
          <a:bodyPr wrap="square" lIns="36576" rIns="36576" tIns="9144" bIns="9144">
            <a:spAutoFit/>
          </a:bodyPr>
          <a:lstStyle/>
          <a:p>
            <a:r>
              <a:rPr sz="800" b="1">
                <a:solidFill>
                  <a:srgbClr val="1F4690"/>
                </a:solidFill>
                <a:latin typeface="Calibri"/>
              </a:rPr>
              <a:t>FINANCIAL SUMMARY (INR CRORE)</a:t>
            </a:r>
          </a:p>
        </p:txBody>
      </p:sp>
      <p:graphicFrame>
        <p:nvGraphicFramePr>
          <p:cNvPr id="64" name="Table 63"/>
          <p:cNvGraphicFramePr>
            <a:graphicFrameLocks noGrp="1"/>
          </p:cNvGraphicFramePr>
          <p:nvPr/>
        </p:nvGraphicFramePr>
        <p:xfrm>
          <a:off x="6601968" y="2569464"/>
          <a:ext cx="3182112" cy="2331720"/>
        </p:xfrm>
        <a:graphic>
          <a:graphicData uri="http://schemas.openxmlformats.org/drawingml/2006/table">
            <a:tbl>
              <a:tblPr firstRow="1" bandRow="1">
                <a:tableStyleId>{5C22544A-7EE6-4342-B048-85BDC9FD1C3A}</a:tableStyleId>
              </a:tblPr>
              <a:tblGrid>
                <a:gridCol w="786384"/>
                <a:gridCol w="598932"/>
                <a:gridCol w="598932"/>
                <a:gridCol w="598932"/>
                <a:gridCol w="598932"/>
              </a:tblGrid>
              <a:tr h="233172">
                <a:tc>
                  <a:txBody>
                    <a:bodyPr/>
                    <a:lstStyle/>
                    <a:p>
                      <a:pPr algn="l"/>
                      <a:r>
                        <a:rPr sz="700" b="1">
                          <a:solidFill>
                            <a:srgbClr val="FFFFFF"/>
                          </a:solidFill>
                          <a:latin typeface="Calibri"/>
                        </a:rPr>
                        <a:t>Metric</a:t>
                      </a:r>
                    </a:p>
                  </a:txBody>
                  <a:tcPr marL="22860" marR="22860" marT="5486" marB="5486">
                    <a:solidFill>
                      <a:srgbClr val="1F4690"/>
                    </a:solidFill>
                  </a:tcPr>
                </a:tc>
                <a:tc>
                  <a:txBody>
                    <a:bodyPr/>
                    <a:lstStyle/>
                    <a:p>
                      <a:pPr algn="r"/>
                      <a:r>
                        <a:rPr sz="700" b="1">
                          <a:solidFill>
                            <a:srgbClr val="FFFFFF"/>
                          </a:solidFill>
                          <a:latin typeface="Calibri"/>
                        </a:rPr>
                        <a:t>FY24A</a:t>
                      </a:r>
                    </a:p>
                  </a:txBody>
                  <a:tcPr marL="22860" marR="22860" marT="5486" marB="5486">
                    <a:solidFill>
                      <a:srgbClr val="1F4690"/>
                    </a:solidFill>
                  </a:tcPr>
                </a:tc>
                <a:tc>
                  <a:txBody>
                    <a:bodyPr/>
                    <a:lstStyle/>
                    <a:p>
                      <a:pPr algn="r"/>
                      <a:r>
                        <a:rPr sz="700" b="1">
                          <a:solidFill>
                            <a:srgbClr val="FFFFFF"/>
                          </a:solidFill>
                          <a:latin typeface="Calibri"/>
                        </a:rPr>
                        <a:t>FY25A</a:t>
                      </a:r>
                    </a:p>
                  </a:txBody>
                  <a:tcPr marL="22860" marR="22860" marT="5486" marB="5486">
                    <a:solidFill>
                      <a:srgbClr val="1F4690"/>
                    </a:solidFill>
                  </a:tcPr>
                </a:tc>
                <a:tc>
                  <a:txBody>
                    <a:bodyPr/>
                    <a:lstStyle/>
                    <a:p>
                      <a:pPr algn="r"/>
                      <a:r>
                        <a:rPr sz="700" b="1">
                          <a:solidFill>
                            <a:srgbClr val="FFFFFF"/>
                          </a:solidFill>
                          <a:latin typeface="Calibri"/>
                        </a:rPr>
                        <a:t>FY26E</a:t>
                      </a:r>
                    </a:p>
                  </a:txBody>
                  <a:tcPr marL="22860" marR="22860" marT="5486" marB="5486">
                    <a:solidFill>
                      <a:srgbClr val="1F4690"/>
                    </a:solidFill>
                  </a:tcPr>
                </a:tc>
                <a:tc>
                  <a:txBody>
                    <a:bodyPr/>
                    <a:lstStyle/>
                    <a:p>
                      <a:pPr algn="r"/>
                      <a:r>
                        <a:rPr sz="700" b="1">
                          <a:solidFill>
                            <a:srgbClr val="FFFFFF"/>
                          </a:solidFill>
                          <a:latin typeface="Calibri"/>
                        </a:rPr>
                        <a:t>FY27E</a:t>
                      </a:r>
                    </a:p>
                  </a:txBody>
                  <a:tcPr marL="22860" marR="22860" marT="5486" marB="5486">
                    <a:solidFill>
                      <a:srgbClr val="1F4690"/>
                    </a:solidFill>
                  </a:tcPr>
                </a:tc>
              </a:tr>
              <a:tr h="233172">
                <a:tc>
                  <a:txBody>
                    <a:bodyPr/>
                    <a:lstStyle/>
                    <a:p>
                      <a:r>
                        <a:rPr sz="700" b="1">
                          <a:solidFill>
                            <a:srgbClr val="111111"/>
                          </a:solidFill>
                          <a:latin typeface="Calibri"/>
                        </a:rPr>
                        <a:t>Revenue</a:t>
                      </a:r>
                    </a:p>
                  </a:txBody>
                  <a:tcPr marL="22860" marR="22860" marT="5486" marB="5486">
                    <a:solidFill>
                      <a:srgbClr val="F4F6F9"/>
                    </a:solidFill>
                  </a:tcPr>
                </a:tc>
                <a:tc>
                  <a:txBody>
                    <a:bodyPr/>
                    <a:lstStyle/>
                    <a:p>
                      <a:pPr algn="r"/>
                      <a:r>
                        <a:rPr sz="700" b="0">
                          <a:solidFill>
                            <a:srgbClr val="111111"/>
                          </a:solidFill>
                          <a:latin typeface="Calibri"/>
                        </a:rPr>
                        <a:t>₹7,106.0</a:t>
                      </a:r>
                    </a:p>
                  </a:txBody>
                  <a:tcPr marL="22860" marR="22860" marT="5486" marB="5486">
                    <a:solidFill>
                      <a:srgbClr val="F4F6F9"/>
                    </a:solidFill>
                  </a:tcPr>
                </a:tc>
                <a:tc>
                  <a:txBody>
                    <a:bodyPr/>
                    <a:lstStyle/>
                    <a:p>
                      <a:pPr algn="r"/>
                      <a:r>
                        <a:rPr sz="700" b="0">
                          <a:solidFill>
                            <a:srgbClr val="111111"/>
                          </a:solidFill>
                          <a:latin typeface="Calibri"/>
                        </a:rPr>
                        <a:t>₹8,340.0</a:t>
                      </a:r>
                    </a:p>
                  </a:txBody>
                  <a:tcPr marL="22860" marR="22860" marT="5486" marB="5486">
                    <a:solidFill>
                      <a:srgbClr val="F4F6F9"/>
                    </a:solidFill>
                  </a:tcPr>
                </a:tc>
                <a:tc>
                  <a:txBody>
                    <a:bodyPr/>
                    <a:lstStyle/>
                    <a:p>
                      <a:pPr algn="r"/>
                      <a:r>
                        <a:rPr sz="700" b="1">
                          <a:solidFill>
                            <a:srgbClr val="111111"/>
                          </a:solidFill>
                          <a:latin typeface="Calibri"/>
                        </a:rPr>
                        <a:t>₹10,402.0</a:t>
                      </a:r>
                    </a:p>
                  </a:txBody>
                  <a:tcPr marL="22860" marR="22860" marT="5486" marB="5486">
                    <a:solidFill>
                      <a:srgbClr val="F4F6F9"/>
                    </a:solidFill>
                  </a:tcPr>
                </a:tc>
                <a:tc>
                  <a:txBody>
                    <a:bodyPr/>
                    <a:lstStyle/>
                    <a:p>
                      <a:pPr algn="r"/>
                      <a:r>
                        <a:rPr sz="700" b="1">
                          <a:solidFill>
                            <a:srgbClr val="111111"/>
                          </a:solidFill>
                          <a:latin typeface="Calibri"/>
                        </a:rPr>
                        <a:t>₹12,973.0</a:t>
                      </a:r>
                    </a:p>
                  </a:txBody>
                  <a:tcPr marL="22860" marR="22860" marT="5486" marB="5486">
                    <a:solidFill>
                      <a:srgbClr val="F4F6F9"/>
                    </a:solidFill>
                  </a:tcPr>
                </a:tc>
              </a:tr>
              <a:tr h="233172">
                <a:tc>
                  <a:txBody>
                    <a:bodyPr/>
                    <a:lstStyle/>
                    <a:p>
                      <a:r>
                        <a:rPr sz="700" b="1">
                          <a:solidFill>
                            <a:srgbClr val="111111"/>
                          </a:solidFill>
                          <a:latin typeface="Calibri"/>
                        </a:rPr>
                        <a:t>EBITDA</a:t>
                      </a:r>
                    </a:p>
                  </a:txBody>
                  <a:tcPr marL="22860" marR="22860" marT="5486" marB="5486">
                    <a:solidFill>
                      <a:srgbClr val="FFFFFF"/>
                    </a:solidFill>
                  </a:tcPr>
                </a:tc>
                <a:tc>
                  <a:txBody>
                    <a:bodyPr/>
                    <a:lstStyle/>
                    <a:p>
                      <a:pPr algn="r"/>
                      <a:r>
                        <a:rPr sz="700" b="0">
                          <a:solidFill>
                            <a:srgbClr val="111111"/>
                          </a:solidFill>
                          <a:latin typeface="Calibri"/>
                        </a:rPr>
                        <a:t>₹4,082.0</a:t>
                      </a:r>
                    </a:p>
                  </a:txBody>
                  <a:tcPr marL="22860" marR="22860" marT="5486" marB="5486">
                    <a:solidFill>
                      <a:srgbClr val="FFFFFF"/>
                    </a:solidFill>
                  </a:tcPr>
                </a:tc>
                <a:tc>
                  <a:txBody>
                    <a:bodyPr/>
                    <a:lstStyle/>
                    <a:p>
                      <a:pPr algn="r"/>
                      <a:r>
                        <a:rPr sz="700" b="0">
                          <a:solidFill>
                            <a:srgbClr val="111111"/>
                          </a:solidFill>
                          <a:latin typeface="Calibri"/>
                        </a:rPr>
                        <a:t>₹4,546.0</a:t>
                      </a:r>
                    </a:p>
                  </a:txBody>
                  <a:tcPr marL="22860" marR="22860" marT="5486" marB="5486">
                    <a:solidFill>
                      <a:srgbClr val="FFFFFF"/>
                    </a:solidFill>
                  </a:tcPr>
                </a:tc>
                <a:tc>
                  <a:txBody>
                    <a:bodyPr/>
                    <a:lstStyle/>
                    <a:p>
                      <a:pPr algn="r"/>
                      <a:r>
                        <a:rPr sz="700" b="1">
                          <a:solidFill>
                            <a:srgbClr val="111111"/>
                          </a:solidFill>
                          <a:latin typeface="Calibri"/>
                        </a:rPr>
                        <a:t>₹5,439.0</a:t>
                      </a:r>
                    </a:p>
                  </a:txBody>
                  <a:tcPr marL="22860" marR="22860" marT="5486" marB="5486">
                    <a:solidFill>
                      <a:srgbClr val="FFFFFF"/>
                    </a:solidFill>
                  </a:tcPr>
                </a:tc>
                <a:tc>
                  <a:txBody>
                    <a:bodyPr/>
                    <a:lstStyle/>
                    <a:p>
                      <a:pPr algn="r"/>
                      <a:r>
                        <a:rPr sz="700" b="1">
                          <a:solidFill>
                            <a:srgbClr val="111111"/>
                          </a:solidFill>
                          <a:latin typeface="Calibri"/>
                        </a:rPr>
                        <a:t>₹6,784.0</a:t>
                      </a:r>
                    </a:p>
                  </a:txBody>
                  <a:tcPr marL="22860" marR="22860" marT="5486" marB="5486">
                    <a:solidFill>
                      <a:srgbClr val="FFFFFF"/>
                    </a:solidFill>
                  </a:tcPr>
                </a:tc>
              </a:tr>
              <a:tr h="233172">
                <a:tc>
                  <a:txBody>
                    <a:bodyPr/>
                    <a:lstStyle/>
                    <a:p>
                      <a:r>
                        <a:rPr sz="700" b="1">
                          <a:solidFill>
                            <a:srgbClr val="111111"/>
                          </a:solidFill>
                          <a:latin typeface="Calibri"/>
                        </a:rPr>
                        <a:t>EBITDA Mgn</a:t>
                      </a:r>
                    </a:p>
                  </a:txBody>
                  <a:tcPr marL="22860" marR="22860" marT="5486" marB="5486">
                    <a:solidFill>
                      <a:srgbClr val="F4F6F9"/>
                    </a:solidFill>
                  </a:tcPr>
                </a:tc>
                <a:tc>
                  <a:txBody>
                    <a:bodyPr/>
                    <a:lstStyle/>
                    <a:p>
                      <a:pPr algn="r"/>
                      <a:r>
                        <a:rPr sz="700" b="0">
                          <a:solidFill>
                            <a:srgbClr val="111111"/>
                          </a:solidFill>
                          <a:latin typeface="Calibri"/>
                        </a:rPr>
                        <a:t>57.4%</a:t>
                      </a:r>
                    </a:p>
                  </a:txBody>
                  <a:tcPr marL="22860" marR="22860" marT="5486" marB="5486">
                    <a:solidFill>
                      <a:srgbClr val="F4F6F9"/>
                    </a:solidFill>
                  </a:tcPr>
                </a:tc>
                <a:tc>
                  <a:txBody>
                    <a:bodyPr/>
                    <a:lstStyle/>
                    <a:p>
                      <a:pPr algn="r"/>
                      <a:r>
                        <a:rPr sz="700" b="0">
                          <a:solidFill>
                            <a:srgbClr val="111111"/>
                          </a:solidFill>
                          <a:latin typeface="Calibri"/>
                        </a:rPr>
                        <a:t>54.5%</a:t>
                      </a:r>
                    </a:p>
                  </a:txBody>
                  <a:tcPr marL="22860" marR="22860" marT="5486" marB="5486">
                    <a:solidFill>
                      <a:srgbClr val="F4F6F9"/>
                    </a:solidFill>
                  </a:tcPr>
                </a:tc>
                <a:tc>
                  <a:txBody>
                    <a:bodyPr/>
                    <a:lstStyle/>
                    <a:p>
                      <a:pPr algn="r"/>
                      <a:r>
                        <a:rPr sz="700" b="1">
                          <a:solidFill>
                            <a:srgbClr val="111111"/>
                          </a:solidFill>
                          <a:latin typeface="Calibri"/>
                        </a:rPr>
                        <a:t>52.3%</a:t>
                      </a:r>
                    </a:p>
                  </a:txBody>
                  <a:tcPr marL="22860" marR="22860" marT="5486" marB="5486">
                    <a:solidFill>
                      <a:srgbClr val="F4F6F9"/>
                    </a:solidFill>
                  </a:tcPr>
                </a:tc>
                <a:tc>
                  <a:txBody>
                    <a:bodyPr/>
                    <a:lstStyle/>
                    <a:p>
                      <a:pPr algn="r"/>
                      <a:r>
                        <a:rPr sz="700" b="1">
                          <a:solidFill>
                            <a:srgbClr val="111111"/>
                          </a:solidFill>
                          <a:latin typeface="Calibri"/>
                        </a:rPr>
                        <a:t>52.3%</a:t>
                      </a:r>
                    </a:p>
                  </a:txBody>
                  <a:tcPr marL="22860" marR="22860" marT="5486" marB="5486">
                    <a:solidFill>
                      <a:srgbClr val="F4F6F9"/>
                    </a:solidFill>
                  </a:tcPr>
                </a:tc>
              </a:tr>
              <a:tr h="233172">
                <a:tc>
                  <a:txBody>
                    <a:bodyPr/>
                    <a:lstStyle/>
                    <a:p>
                      <a:r>
                        <a:rPr sz="700" b="1">
                          <a:solidFill>
                            <a:srgbClr val="111111"/>
                          </a:solidFill>
                          <a:latin typeface="Calibri"/>
                        </a:rPr>
                        <a:t>PAT</a:t>
                      </a:r>
                    </a:p>
                  </a:txBody>
                  <a:tcPr marL="22860" marR="22860" marT="5486" marB="5486">
                    <a:solidFill>
                      <a:srgbClr val="FFFFFF"/>
                    </a:solidFill>
                  </a:tcPr>
                </a:tc>
                <a:tc>
                  <a:txBody>
                    <a:bodyPr/>
                    <a:lstStyle/>
                    <a:p>
                      <a:pPr algn="r"/>
                      <a:r>
                        <a:rPr sz="700" b="0">
                          <a:solidFill>
                            <a:srgbClr val="111111"/>
                          </a:solidFill>
                          <a:latin typeface="Calibri"/>
                        </a:rPr>
                        <a:t>₹2,441.0</a:t>
                      </a:r>
                    </a:p>
                  </a:txBody>
                  <a:tcPr marL="22860" marR="22860" marT="5486" marB="5486">
                    <a:solidFill>
                      <a:srgbClr val="FFFFFF"/>
                    </a:solidFill>
                  </a:tcPr>
                </a:tc>
                <a:tc>
                  <a:txBody>
                    <a:bodyPr/>
                    <a:lstStyle/>
                    <a:p>
                      <a:pPr algn="r"/>
                      <a:r>
                        <a:rPr sz="700" b="0">
                          <a:solidFill>
                            <a:srgbClr val="111111"/>
                          </a:solidFill>
                          <a:latin typeface="Calibri"/>
                        </a:rPr>
                        <a:t>₹2,502.0</a:t>
                      </a:r>
                    </a:p>
                  </a:txBody>
                  <a:tcPr marL="22860" marR="22860" marT="5486" marB="5486">
                    <a:solidFill>
                      <a:srgbClr val="FFFFFF"/>
                    </a:solidFill>
                  </a:tcPr>
                </a:tc>
                <a:tc>
                  <a:txBody>
                    <a:bodyPr/>
                    <a:lstStyle/>
                    <a:p>
                      <a:pPr algn="r"/>
                      <a:r>
                        <a:rPr sz="700" b="1">
                          <a:solidFill>
                            <a:srgbClr val="111111"/>
                          </a:solidFill>
                          <a:latin typeface="Calibri"/>
                        </a:rPr>
                        <a:t>₹3,066.0</a:t>
                      </a:r>
                    </a:p>
                  </a:txBody>
                  <a:tcPr marL="22860" marR="22860" marT="5486" marB="5486">
                    <a:solidFill>
                      <a:srgbClr val="FFFFFF"/>
                    </a:solidFill>
                  </a:tcPr>
                </a:tc>
                <a:tc>
                  <a:txBody>
                    <a:bodyPr/>
                    <a:lstStyle/>
                    <a:p>
                      <a:pPr algn="r"/>
                      <a:r>
                        <a:rPr sz="700" b="1">
                          <a:solidFill>
                            <a:srgbClr val="111111"/>
                          </a:solidFill>
                          <a:latin typeface="Calibri"/>
                        </a:rPr>
                        <a:t>₹3,983.0</a:t>
                      </a:r>
                    </a:p>
                  </a:txBody>
                  <a:tcPr marL="22860" marR="22860" marT="5486" marB="5486">
                    <a:solidFill>
                      <a:srgbClr val="FFFFFF"/>
                    </a:solidFill>
                  </a:tcPr>
                </a:tc>
              </a:tr>
              <a:tr h="233172">
                <a:tc>
                  <a:txBody>
                    <a:bodyPr/>
                    <a:lstStyle/>
                    <a:p>
                      <a:r>
                        <a:rPr sz="700" b="1">
                          <a:solidFill>
                            <a:srgbClr val="111111"/>
                          </a:solidFill>
                          <a:latin typeface="Calibri"/>
                        </a:rPr>
                        <a:t>PAT Mgn</a:t>
                      </a:r>
                    </a:p>
                  </a:txBody>
                  <a:tcPr marL="22860" marR="22860" marT="5486" marB="5486">
                    <a:solidFill>
                      <a:srgbClr val="F4F6F9"/>
                    </a:solidFill>
                  </a:tcPr>
                </a:tc>
                <a:tc>
                  <a:txBody>
                    <a:bodyPr/>
                    <a:lstStyle/>
                    <a:p>
                      <a:pPr algn="r"/>
                      <a:r>
                        <a:rPr sz="700" b="0">
                          <a:solidFill>
                            <a:srgbClr val="111111"/>
                          </a:solidFill>
                          <a:latin typeface="Calibri"/>
                        </a:rPr>
                        <a:t>34.4%</a:t>
                      </a:r>
                    </a:p>
                  </a:txBody>
                  <a:tcPr marL="22860" marR="22860" marT="5486" marB="5486">
                    <a:solidFill>
                      <a:srgbClr val="F4F6F9"/>
                    </a:solidFill>
                  </a:tcPr>
                </a:tc>
                <a:tc>
                  <a:txBody>
                    <a:bodyPr/>
                    <a:lstStyle/>
                    <a:p>
                      <a:pPr algn="r"/>
                      <a:r>
                        <a:rPr sz="700" b="0">
                          <a:solidFill>
                            <a:srgbClr val="111111"/>
                          </a:solidFill>
                          <a:latin typeface="Calibri"/>
                        </a:rPr>
                        <a:t>30.0%</a:t>
                      </a:r>
                    </a:p>
                  </a:txBody>
                  <a:tcPr marL="22860" marR="22860" marT="5486" marB="5486">
                    <a:solidFill>
                      <a:srgbClr val="F4F6F9"/>
                    </a:solidFill>
                  </a:tcPr>
                </a:tc>
                <a:tc>
                  <a:txBody>
                    <a:bodyPr/>
                    <a:lstStyle/>
                    <a:p>
                      <a:pPr algn="r"/>
                      <a:r>
                        <a:rPr sz="700" b="1">
                          <a:solidFill>
                            <a:srgbClr val="111111"/>
                          </a:solidFill>
                          <a:latin typeface="Calibri"/>
                        </a:rPr>
                        <a:t>29.5%</a:t>
                      </a:r>
                    </a:p>
                  </a:txBody>
                  <a:tcPr marL="22860" marR="22860" marT="5486" marB="5486">
                    <a:solidFill>
                      <a:srgbClr val="F4F6F9"/>
                    </a:solidFill>
                  </a:tcPr>
                </a:tc>
                <a:tc>
                  <a:txBody>
                    <a:bodyPr/>
                    <a:lstStyle/>
                    <a:p>
                      <a:pPr algn="r"/>
                      <a:r>
                        <a:rPr sz="700" b="1">
                          <a:solidFill>
                            <a:srgbClr val="111111"/>
                          </a:solidFill>
                          <a:latin typeface="Calibri"/>
                        </a:rPr>
                        <a:t>30.7%</a:t>
                      </a:r>
                    </a:p>
                  </a:txBody>
                  <a:tcPr marL="22860" marR="22860" marT="5486" marB="5486">
                    <a:solidFill>
                      <a:srgbClr val="F4F6F9"/>
                    </a:solidFill>
                  </a:tcPr>
                </a:tc>
              </a:tr>
              <a:tr h="233172">
                <a:tc>
                  <a:txBody>
                    <a:bodyPr/>
                    <a:lstStyle/>
                    <a:p>
                      <a:r>
                        <a:rPr sz="700" b="1">
                          <a:solidFill>
                            <a:srgbClr val="111111"/>
                          </a:solidFill>
                          <a:latin typeface="Calibri"/>
                        </a:rPr>
                        <a:t>EPS</a:t>
                      </a:r>
                    </a:p>
                  </a:txBody>
                  <a:tcPr marL="22860" marR="22860" marT="5486" marB="5486">
                    <a:solidFill>
                      <a:srgbClr val="FFFFFF"/>
                    </a:solidFill>
                  </a:tcPr>
                </a:tc>
                <a:tc>
                  <a:txBody>
                    <a:bodyPr/>
                    <a:lstStyle/>
                    <a:p>
                      <a:pPr algn="r"/>
                      <a:r>
                        <a:rPr sz="700" b="0">
                          <a:solidFill>
                            <a:srgbClr val="111111"/>
                          </a:solidFill>
                          <a:latin typeface="Calibri"/>
                        </a:rPr>
                        <a:t>₹41.0</a:t>
                      </a:r>
                    </a:p>
                  </a:txBody>
                  <a:tcPr marL="22860" marR="22860" marT="5486" marB="5486">
                    <a:solidFill>
                      <a:srgbClr val="FFFFFF"/>
                    </a:solidFill>
                  </a:tcPr>
                </a:tc>
                <a:tc>
                  <a:txBody>
                    <a:bodyPr/>
                    <a:lstStyle/>
                    <a:p>
                      <a:pPr algn="r"/>
                      <a:r>
                        <a:rPr sz="700" b="0">
                          <a:solidFill>
                            <a:srgbClr val="111111"/>
                          </a:solidFill>
                          <a:latin typeface="Calibri"/>
                        </a:rPr>
                        <a:t>₹41.7</a:t>
                      </a:r>
                    </a:p>
                  </a:txBody>
                  <a:tcPr marL="22860" marR="22860" marT="5486" marB="5486">
                    <a:solidFill>
                      <a:srgbClr val="FFFFFF"/>
                    </a:solidFill>
                  </a:tcPr>
                </a:tc>
                <a:tc>
                  <a:txBody>
                    <a:bodyPr/>
                    <a:lstStyle/>
                    <a:p>
                      <a:pPr algn="r"/>
                      <a:r>
                        <a:rPr sz="700" b="1">
                          <a:solidFill>
                            <a:srgbClr val="1A7A4A"/>
                          </a:solidFill>
                          <a:latin typeface="Calibri"/>
                        </a:rPr>
                        <a:t>₹51.2</a:t>
                      </a:r>
                    </a:p>
                  </a:txBody>
                  <a:tcPr marL="22860" marR="22860" marT="5486" marB="5486">
                    <a:solidFill>
                      <a:srgbClr val="FFFFFF"/>
                    </a:solidFill>
                  </a:tcPr>
                </a:tc>
                <a:tc>
                  <a:txBody>
                    <a:bodyPr/>
                    <a:lstStyle/>
                    <a:p>
                      <a:pPr algn="r"/>
                      <a:r>
                        <a:rPr sz="700" b="1">
                          <a:solidFill>
                            <a:srgbClr val="1A7A4A"/>
                          </a:solidFill>
                          <a:latin typeface="Calibri"/>
                        </a:rPr>
                        <a:t>₹66.5</a:t>
                      </a:r>
                    </a:p>
                  </a:txBody>
                  <a:tcPr marL="22860" marR="22860" marT="5486" marB="5486">
                    <a:solidFill>
                      <a:srgbClr val="FFFFFF"/>
                    </a:solidFill>
                  </a:tcPr>
                </a:tc>
              </a:tr>
              <a:tr h="233172">
                <a:tc>
                  <a:txBody>
                    <a:bodyPr/>
                    <a:lstStyle/>
                    <a:p>
                      <a:r>
                        <a:rPr sz="700" b="1">
                          <a:solidFill>
                            <a:srgbClr val="111111"/>
                          </a:solidFill>
                          <a:latin typeface="Calibri"/>
                        </a:rPr>
                        <a:t>P/E</a:t>
                      </a:r>
                    </a:p>
                  </a:txBody>
                  <a:tcPr marL="22860" marR="22860" marT="5486" marB="5486">
                    <a:solidFill>
                      <a:srgbClr val="F4F6F9"/>
                    </a:solidFill>
                  </a:tcPr>
                </a:tc>
                <a:tc>
                  <a:txBody>
                    <a:bodyPr/>
                    <a:lstStyle/>
                    <a:p>
                      <a:pPr algn="r"/>
                      <a:r>
                        <a:rPr sz="700" b="0">
                          <a:solidFill>
                            <a:srgbClr val="111111"/>
                          </a:solidFill>
                          <a:latin typeface="Calibri"/>
                        </a:rPr>
                        <a:t>20.1x</a:t>
                      </a:r>
                    </a:p>
                  </a:txBody>
                  <a:tcPr marL="22860" marR="22860" marT="5486" marB="5486">
                    <a:solidFill>
                      <a:srgbClr val="F4F6F9"/>
                    </a:solidFill>
                  </a:tcPr>
                </a:tc>
                <a:tc>
                  <a:txBody>
                    <a:bodyPr/>
                    <a:lstStyle/>
                    <a:p>
                      <a:pPr algn="r"/>
                      <a:r>
                        <a:rPr sz="700" b="0">
                          <a:solidFill>
                            <a:srgbClr val="111111"/>
                          </a:solidFill>
                          <a:latin typeface="Calibri"/>
                        </a:rPr>
                        <a:t>19.7x</a:t>
                      </a:r>
                    </a:p>
                  </a:txBody>
                  <a:tcPr marL="22860" marR="22860" marT="5486" marB="5486">
                    <a:solidFill>
                      <a:srgbClr val="F4F6F9"/>
                    </a:solidFill>
                  </a:tcPr>
                </a:tc>
                <a:tc>
                  <a:txBody>
                    <a:bodyPr/>
                    <a:lstStyle/>
                    <a:p>
                      <a:pPr algn="r"/>
                      <a:r>
                        <a:rPr sz="700" b="1">
                          <a:solidFill>
                            <a:srgbClr val="1A7A4A"/>
                          </a:solidFill>
                          <a:latin typeface="Calibri"/>
                        </a:rPr>
                        <a:t>16.1x</a:t>
                      </a:r>
                    </a:p>
                  </a:txBody>
                  <a:tcPr marL="22860" marR="22860" marT="5486" marB="5486">
                    <a:solidFill>
                      <a:srgbClr val="F4F6F9"/>
                    </a:solidFill>
                  </a:tcPr>
                </a:tc>
                <a:tc>
                  <a:txBody>
                    <a:bodyPr/>
                    <a:lstStyle/>
                    <a:p>
                      <a:pPr algn="r"/>
                      <a:r>
                        <a:rPr sz="700" b="1">
                          <a:solidFill>
                            <a:srgbClr val="1A7A4A"/>
                          </a:solidFill>
                          <a:latin typeface="Calibri"/>
                        </a:rPr>
                        <a:t>12.4x</a:t>
                      </a:r>
                    </a:p>
                  </a:txBody>
                  <a:tcPr marL="22860" marR="22860" marT="5486" marB="5486">
                    <a:solidFill>
                      <a:srgbClr val="F4F6F9"/>
                    </a:solidFill>
                  </a:tcPr>
                </a:tc>
              </a:tr>
              <a:tr h="233172">
                <a:tc>
                  <a:txBody>
                    <a:bodyPr/>
                    <a:lstStyle/>
                    <a:p>
                      <a:r>
                        <a:rPr sz="700" b="1">
                          <a:solidFill>
                            <a:srgbClr val="111111"/>
                          </a:solidFill>
                          <a:latin typeface="Calibri"/>
                        </a:rPr>
                        <a:t>P/B</a:t>
                      </a:r>
                    </a:p>
                  </a:txBody>
                  <a:tcPr marL="22860" marR="22860" marT="5486" marB="5486">
                    <a:solidFill>
                      <a:srgbClr val="FFFFFF"/>
                    </a:solidFill>
                  </a:tcPr>
                </a:tc>
                <a:tc>
                  <a:txBody>
                    <a:bodyPr/>
                    <a:lstStyle/>
                    <a:p>
                      <a:pPr algn="r"/>
                      <a:r>
                        <a:rPr sz="700" b="0">
                          <a:solidFill>
                            <a:srgbClr val="111111"/>
                          </a:solidFill>
                          <a:latin typeface="Calibri"/>
                        </a:rPr>
                        <a:t>5.6x</a:t>
                      </a:r>
                    </a:p>
                  </a:txBody>
                  <a:tcPr marL="22860" marR="22860" marT="5486" marB="5486">
                    <a:solidFill>
                      <a:srgbClr val="FFFFFF"/>
                    </a:solidFill>
                  </a:tcPr>
                </a:tc>
                <a:tc>
                  <a:txBody>
                    <a:bodyPr/>
                    <a:lstStyle/>
                    <a:p>
                      <a:pPr algn="r"/>
                      <a:r>
                        <a:rPr sz="700" b="0">
                          <a:solidFill>
                            <a:srgbClr val="111111"/>
                          </a:solidFill>
                          <a:latin typeface="Calibri"/>
                        </a:rPr>
                        <a:t>4.5x</a:t>
                      </a:r>
                    </a:p>
                  </a:txBody>
                  <a:tcPr marL="22860" marR="22860" marT="5486" marB="5486">
                    <a:solidFill>
                      <a:srgbClr val="FFFFFF"/>
                    </a:solidFill>
                  </a:tcPr>
                </a:tc>
                <a:tc>
                  <a:txBody>
                    <a:bodyPr/>
                    <a:lstStyle/>
                    <a:p>
                      <a:pPr algn="r"/>
                      <a:r>
                        <a:rPr sz="700" b="1">
                          <a:solidFill>
                            <a:srgbClr val="1A7A4A"/>
                          </a:solidFill>
                          <a:latin typeface="Calibri"/>
                        </a:rPr>
                        <a:t>3.6x</a:t>
                      </a:r>
                    </a:p>
                  </a:txBody>
                  <a:tcPr marL="22860" marR="22860" marT="5486" marB="5486">
                    <a:solidFill>
                      <a:srgbClr val="FFFFFF"/>
                    </a:solidFill>
                  </a:tcPr>
                </a:tc>
                <a:tc>
                  <a:txBody>
                    <a:bodyPr/>
                    <a:lstStyle/>
                    <a:p>
                      <a:pPr algn="r"/>
                      <a:r>
                        <a:rPr sz="700" b="1">
                          <a:solidFill>
                            <a:srgbClr val="1A7A4A"/>
                          </a:solidFill>
                          <a:latin typeface="Calibri"/>
                        </a:rPr>
                        <a:t>2.9x</a:t>
                      </a:r>
                    </a:p>
                  </a:txBody>
                  <a:tcPr marL="22860" marR="22860" marT="5486" marB="5486">
                    <a:solidFill>
                      <a:srgbClr val="FFFFFF"/>
                    </a:solidFill>
                  </a:tcPr>
                </a:tc>
              </a:tr>
              <a:tr h="233172">
                <a:tc>
                  <a:txBody>
                    <a:bodyPr/>
                    <a:lstStyle/>
                    <a:p>
                      <a:r>
                        <a:rPr sz="700" b="1">
                          <a:solidFill>
                            <a:srgbClr val="111111"/>
                          </a:solidFill>
                          <a:latin typeface="Calibri"/>
                        </a:rPr>
                        <a:t>EV/EBITDA</a:t>
                      </a:r>
                    </a:p>
                  </a:txBody>
                  <a:tcPr marL="22860" marR="22860" marT="5486" marB="5486">
                    <a:solidFill>
                      <a:srgbClr val="F4F6F9"/>
                    </a:solidFill>
                  </a:tcPr>
                </a:tc>
                <a:tc>
                  <a:txBody>
                    <a:bodyPr/>
                    <a:lstStyle/>
                    <a:p>
                      <a:pPr algn="r"/>
                      <a:r>
                        <a:rPr sz="700" b="0">
                          <a:solidFill>
                            <a:srgbClr val="111111"/>
                          </a:solidFill>
                          <a:latin typeface="Calibri"/>
                        </a:rPr>
                        <a:t>9.5x</a:t>
                      </a:r>
                    </a:p>
                  </a:txBody>
                  <a:tcPr marL="22860" marR="22860" marT="5486" marB="5486">
                    <a:solidFill>
                      <a:srgbClr val="F4F6F9"/>
                    </a:solidFill>
                  </a:tcPr>
                </a:tc>
                <a:tc>
                  <a:txBody>
                    <a:bodyPr/>
                    <a:lstStyle/>
                    <a:p>
                      <a:pPr algn="r"/>
                      <a:r>
                        <a:rPr sz="700" b="0">
                          <a:solidFill>
                            <a:srgbClr val="111111"/>
                          </a:solidFill>
                          <a:latin typeface="Calibri"/>
                        </a:rPr>
                        <a:t>11.4x</a:t>
                      </a:r>
                    </a:p>
                  </a:txBody>
                  <a:tcPr marL="22860" marR="22860" marT="5486" marB="5486">
                    <a:solidFill>
                      <a:srgbClr val="F4F6F9"/>
                    </a:solidFill>
                  </a:tcPr>
                </a:tc>
                <a:tc>
                  <a:txBody>
                    <a:bodyPr/>
                    <a:lstStyle/>
                    <a:p>
                      <a:pPr algn="r"/>
                      <a:r>
                        <a:rPr sz="700" b="1">
                          <a:solidFill>
                            <a:srgbClr val="1A7A4A"/>
                          </a:solidFill>
                          <a:latin typeface="Calibri"/>
                        </a:rPr>
                        <a:t>12.7x</a:t>
                      </a:r>
                    </a:p>
                  </a:txBody>
                  <a:tcPr marL="22860" marR="22860" marT="5486" marB="5486">
                    <a:solidFill>
                      <a:srgbClr val="F4F6F9"/>
                    </a:solidFill>
                  </a:tcPr>
                </a:tc>
                <a:tc>
                  <a:txBody>
                    <a:bodyPr/>
                    <a:lstStyle/>
                    <a:p>
                      <a:pPr algn="r"/>
                      <a:r>
                        <a:rPr sz="700" b="1">
                          <a:solidFill>
                            <a:srgbClr val="1A7A4A"/>
                          </a:solidFill>
                          <a:latin typeface="Calibri"/>
                        </a:rPr>
                        <a:t>10.5x</a:t>
                      </a:r>
                    </a:p>
                  </a:txBody>
                  <a:tcPr marL="22860" marR="22860" marT="5486" marB="5486">
                    <a:solidFill>
                      <a:srgbClr val="F4F6F9"/>
                    </a:solidFill>
                  </a:tcPr>
                </a:tc>
              </a:tr>
            </a:tbl>
          </a:graphicData>
        </a:graphic>
      </p:graphicFrame>
      <p:sp>
        <p:nvSpPr>
          <p:cNvPr id="65" name="TextBox 64"/>
          <p:cNvSpPr txBox="1"/>
          <p:nvPr/>
        </p:nvSpPr>
        <p:spPr>
          <a:xfrm>
            <a:off x="6601968" y="5056632"/>
            <a:ext cx="3182112" cy="164592"/>
          </a:xfrm>
          <a:prstGeom prst="rect">
            <a:avLst/>
          </a:prstGeom>
          <a:noFill/>
        </p:spPr>
        <p:txBody>
          <a:bodyPr wrap="square" lIns="36576" rIns="36576" tIns="9144" bIns="9144">
            <a:spAutoFit/>
          </a:bodyPr>
          <a:lstStyle/>
          <a:p>
            <a:r>
              <a:rPr sz="800" b="1">
                <a:solidFill>
                  <a:srgbClr val="1F4690"/>
                </a:solidFill>
                <a:latin typeface="Calibri"/>
              </a:rPr>
              <a:t>H1 FY26 SNAPSHOT</a:t>
            </a:r>
          </a:p>
        </p:txBody>
      </p:sp>
      <p:graphicFrame>
        <p:nvGraphicFramePr>
          <p:cNvPr id="66" name="Table 65"/>
          <p:cNvGraphicFramePr>
            <a:graphicFrameLocks noGrp="1"/>
          </p:cNvGraphicFramePr>
          <p:nvPr/>
        </p:nvGraphicFramePr>
        <p:xfrm>
          <a:off x="6601968" y="5248656"/>
          <a:ext cx="3182111" cy="932688"/>
        </p:xfrm>
        <a:graphic>
          <a:graphicData uri="http://schemas.openxmlformats.org/drawingml/2006/table">
            <a:tbl>
              <a:tblPr firstRow="1" bandRow="1">
                <a:tableStyleId>{5C22544A-7EE6-4342-B048-85BDC9FD1C3A}</a:tableStyleId>
              </a:tblPr>
              <a:tblGrid>
                <a:gridCol w="2004730"/>
                <a:gridCol w="1177381"/>
              </a:tblGrid>
              <a:tr h="186537">
                <a:tc>
                  <a:txBody>
                    <a:bodyPr/>
                    <a:lstStyle/>
                    <a:p>
                      <a:r>
                        <a:rPr sz="700" b="0">
                          <a:solidFill>
                            <a:srgbClr val="111111"/>
                          </a:solidFill>
                          <a:latin typeface="Calibri"/>
                        </a:rPr>
                        <a:t>Consol. Net Revenue</a:t>
                      </a:r>
                    </a:p>
                  </a:txBody>
                  <a:tcPr marL="22860" marR="22860" marT="5486" marB="5486">
                    <a:solidFill>
                      <a:srgbClr val="F4F6F9"/>
                    </a:solidFill>
                  </a:tcPr>
                </a:tc>
                <a:tc>
                  <a:txBody>
                    <a:bodyPr/>
                    <a:lstStyle/>
                    <a:p>
                      <a:pPr algn="r"/>
                      <a:r>
                        <a:rPr sz="700" b="1">
                          <a:solidFill>
                            <a:srgbClr val="1F4690"/>
                          </a:solidFill>
                          <a:latin typeface="Calibri"/>
                        </a:rPr>
                        <a:t>₹2,888 Cr</a:t>
                      </a:r>
                    </a:p>
                  </a:txBody>
                  <a:tcPr marL="22860" marR="22860" marT="5486" marB="5486">
                    <a:solidFill>
                      <a:srgbClr val="F4F6F9"/>
                    </a:solidFill>
                  </a:tcPr>
                </a:tc>
              </a:tr>
              <a:tr h="186537">
                <a:tc>
                  <a:txBody>
                    <a:bodyPr/>
                    <a:lstStyle/>
                    <a:p>
                      <a:r>
                        <a:rPr sz="700" b="0">
                          <a:solidFill>
                            <a:srgbClr val="111111"/>
                          </a:solidFill>
                          <a:latin typeface="Calibri"/>
                        </a:rPr>
                        <a:t>Operating PAT</a:t>
                      </a:r>
                    </a:p>
                  </a:txBody>
                  <a:tcPr marL="22860" marR="22860" marT="5486" marB="5486">
                    <a:solidFill>
                      <a:srgbClr val="FFFFFF"/>
                    </a:solidFill>
                  </a:tcPr>
                </a:tc>
                <a:tc>
                  <a:txBody>
                    <a:bodyPr/>
                    <a:lstStyle/>
                    <a:p>
                      <a:pPr algn="r"/>
                      <a:r>
                        <a:rPr sz="700" b="1">
                          <a:solidFill>
                            <a:srgbClr val="1F4690"/>
                          </a:solidFill>
                          <a:latin typeface="Calibri"/>
                        </a:rPr>
                        <a:t>₹1,088 Cr (+11% YoY)</a:t>
                      </a:r>
                    </a:p>
                  </a:txBody>
                  <a:tcPr marL="22860" marR="22860" marT="5486" marB="5486">
                    <a:solidFill>
                      <a:srgbClr val="FFFFFF"/>
                    </a:solidFill>
                  </a:tcPr>
                </a:tc>
              </a:tr>
              <a:tr h="186537">
                <a:tc>
                  <a:txBody>
                    <a:bodyPr/>
                    <a:lstStyle/>
                    <a:p>
                      <a:r>
                        <a:rPr sz="700" b="0">
                          <a:solidFill>
                            <a:srgbClr val="111111"/>
                          </a:solidFill>
                          <a:latin typeface="Calibri"/>
                        </a:rPr>
                        <a:t>ARR % of Net Revenue</a:t>
                      </a:r>
                    </a:p>
                  </a:txBody>
                  <a:tcPr marL="22860" marR="22860" marT="5486" marB="5486">
                    <a:solidFill>
                      <a:srgbClr val="F4F6F9"/>
                    </a:solidFill>
                  </a:tcPr>
                </a:tc>
                <a:tc>
                  <a:txBody>
                    <a:bodyPr/>
                    <a:lstStyle/>
                    <a:p>
                      <a:pPr algn="r"/>
                      <a:r>
                        <a:rPr sz="700" b="1">
                          <a:solidFill>
                            <a:srgbClr val="1F4690"/>
                          </a:solidFill>
                          <a:latin typeface="Calibri"/>
                        </a:rPr>
                        <a:t>65%</a:t>
                      </a:r>
                    </a:p>
                  </a:txBody>
                  <a:tcPr marL="22860" marR="22860" marT="5486" marB="5486">
                    <a:solidFill>
                      <a:srgbClr val="F4F6F9"/>
                    </a:solidFill>
                  </a:tcPr>
                </a:tc>
              </a:tr>
              <a:tr h="186537">
                <a:tc>
                  <a:txBody>
                    <a:bodyPr/>
                    <a:lstStyle/>
                    <a:p>
                      <a:r>
                        <a:rPr sz="700" b="0">
                          <a:solidFill>
                            <a:srgbClr val="111111"/>
                          </a:solidFill>
                          <a:latin typeface="Calibri"/>
                        </a:rPr>
                        <a:t>Fee-Based % of Revenue</a:t>
                      </a:r>
                    </a:p>
                  </a:txBody>
                  <a:tcPr marL="22860" marR="22860" marT="5486" marB="5486">
                    <a:solidFill>
                      <a:srgbClr val="FFFFFF"/>
                    </a:solidFill>
                  </a:tcPr>
                </a:tc>
                <a:tc>
                  <a:txBody>
                    <a:bodyPr/>
                    <a:lstStyle/>
                    <a:p>
                      <a:pPr algn="r"/>
                      <a:r>
                        <a:rPr sz="700" b="1">
                          <a:solidFill>
                            <a:srgbClr val="1F4690"/>
                          </a:solidFill>
                          <a:latin typeface="Calibri"/>
                        </a:rPr>
                        <a:t>45%</a:t>
                      </a:r>
                    </a:p>
                  </a:txBody>
                  <a:tcPr marL="22860" marR="22860" marT="5486" marB="5486">
                    <a:solidFill>
                      <a:srgbClr val="FFFFFF"/>
                    </a:solidFill>
                  </a:tcPr>
                </a:tc>
              </a:tr>
              <a:tr h="186540">
                <a:tc>
                  <a:txBody>
                    <a:bodyPr/>
                    <a:lstStyle/>
                    <a:p>
                      <a:r>
                        <a:rPr sz="700" b="0">
                          <a:solidFill>
                            <a:srgbClr val="111111"/>
                          </a:solidFill>
                          <a:latin typeface="Calibri"/>
                        </a:rPr>
                        <a:t>EPS FY25 Annual</a:t>
                      </a:r>
                    </a:p>
                  </a:txBody>
                  <a:tcPr marL="22860" marR="22860" marT="5486" marB="5486">
                    <a:solidFill>
                      <a:srgbClr val="F4F6F9"/>
                    </a:solidFill>
                  </a:tcPr>
                </a:tc>
                <a:tc>
                  <a:txBody>
                    <a:bodyPr/>
                    <a:lstStyle/>
                    <a:p>
                      <a:pPr algn="r"/>
                      <a:r>
                        <a:rPr sz="700" b="1">
                          <a:solidFill>
                            <a:srgbClr val="1F4690"/>
                          </a:solidFill>
                          <a:latin typeface="Calibri"/>
                        </a:rPr>
                        <a:t>₹51.2</a:t>
                      </a:r>
                    </a:p>
                  </a:txBody>
                  <a:tcPr marL="22860" marR="22860" marT="5486" marB="5486">
                    <a:solidFill>
                      <a:srgbClr val="F4F6F9"/>
                    </a:solidFill>
                  </a:tcPr>
                </a:tc>
              </a:tr>
            </a:tbl>
          </a:graphicData>
        </a:graphic>
      </p:graphicFrame>
      <p:sp>
        <p:nvSpPr>
          <p:cNvPr id="67" name="Rounded Rectangle 66"/>
          <p:cNvSpPr/>
          <p:nvPr/>
        </p:nvSpPr>
        <p:spPr>
          <a:xfrm>
            <a:off x="9930384" y="2359152"/>
            <a:ext cx="2057400" cy="93268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012680" y="2414016"/>
            <a:ext cx="1892807" cy="164592"/>
          </a:xfrm>
          <a:prstGeom prst="rect">
            <a:avLst/>
          </a:prstGeom>
          <a:noFill/>
        </p:spPr>
        <p:txBody>
          <a:bodyPr wrap="square" lIns="36576" rIns="36576" tIns="9144" bIns="9144">
            <a:spAutoFit/>
          </a:bodyPr>
          <a:lstStyle/>
          <a:p>
            <a:r>
              <a:rPr sz="750" b="1">
                <a:solidFill>
                  <a:srgbClr val="FFA500"/>
                </a:solidFill>
                <a:latin typeface="Calibri"/>
              </a:rPr>
              <a:t>KEY VALUATION METRICS</a:t>
            </a:r>
          </a:p>
        </p:txBody>
      </p:sp>
      <p:sp>
        <p:nvSpPr>
          <p:cNvPr id="69" name="TextBox 68"/>
          <p:cNvSpPr txBox="1"/>
          <p:nvPr/>
        </p:nvSpPr>
        <p:spPr>
          <a:xfrm>
            <a:off x="10021824" y="2606040"/>
            <a:ext cx="1131570" cy="128016"/>
          </a:xfrm>
          <a:prstGeom prst="rect">
            <a:avLst/>
          </a:prstGeom>
          <a:noFill/>
        </p:spPr>
        <p:txBody>
          <a:bodyPr wrap="square" lIns="36576" rIns="36576" tIns="9144" bIns="9144">
            <a:spAutoFit/>
          </a:bodyPr>
          <a:lstStyle/>
          <a:p>
            <a:r>
              <a:rPr sz="700" b="0">
                <a:solidFill>
                  <a:srgbClr val="E8EEF8"/>
                </a:solidFill>
                <a:latin typeface="Calibri"/>
              </a:rPr>
              <a:t>P/E (TTM)</a:t>
            </a:r>
          </a:p>
        </p:txBody>
      </p:sp>
      <p:sp>
        <p:nvSpPr>
          <p:cNvPr id="70" name="TextBox 69"/>
          <p:cNvSpPr txBox="1"/>
          <p:nvPr/>
        </p:nvSpPr>
        <p:spPr>
          <a:xfrm>
            <a:off x="11061954" y="2606040"/>
            <a:ext cx="822960" cy="128016"/>
          </a:xfrm>
          <a:prstGeom prst="rect">
            <a:avLst/>
          </a:prstGeom>
          <a:noFill/>
        </p:spPr>
        <p:txBody>
          <a:bodyPr wrap="square" lIns="36576" rIns="36576" tIns="9144" bIns="9144">
            <a:spAutoFit/>
          </a:bodyPr>
          <a:lstStyle/>
          <a:p>
            <a:pPr algn="r"/>
            <a:r>
              <a:rPr sz="750" b="1">
                <a:solidFill>
                  <a:srgbClr val="FFFFFF"/>
                </a:solidFill>
                <a:latin typeface="Calibri"/>
              </a:rPr>
              <a:t>24.20x</a:t>
            </a:r>
          </a:p>
        </p:txBody>
      </p:sp>
      <p:sp>
        <p:nvSpPr>
          <p:cNvPr id="71" name="TextBox 70"/>
          <p:cNvSpPr txBox="1"/>
          <p:nvPr/>
        </p:nvSpPr>
        <p:spPr>
          <a:xfrm>
            <a:off x="10021824" y="2788920"/>
            <a:ext cx="1131570" cy="128016"/>
          </a:xfrm>
          <a:prstGeom prst="rect">
            <a:avLst/>
          </a:prstGeom>
          <a:noFill/>
        </p:spPr>
        <p:txBody>
          <a:bodyPr wrap="square" lIns="36576" rIns="36576" tIns="9144" bIns="9144">
            <a:spAutoFit/>
          </a:bodyPr>
          <a:lstStyle/>
          <a:p>
            <a:r>
              <a:rPr sz="700" b="0">
                <a:solidFill>
                  <a:srgbClr val="E8EEF8"/>
                </a:solidFill>
                <a:latin typeface="Calibri"/>
              </a:rPr>
              <a:t>P/B Ratio</a:t>
            </a:r>
          </a:p>
        </p:txBody>
      </p:sp>
      <p:sp>
        <p:nvSpPr>
          <p:cNvPr id="72" name="TextBox 71"/>
          <p:cNvSpPr txBox="1"/>
          <p:nvPr/>
        </p:nvSpPr>
        <p:spPr>
          <a:xfrm>
            <a:off x="11061954" y="2788920"/>
            <a:ext cx="822960" cy="128016"/>
          </a:xfrm>
          <a:prstGeom prst="rect">
            <a:avLst/>
          </a:prstGeom>
          <a:noFill/>
        </p:spPr>
        <p:txBody>
          <a:bodyPr wrap="square" lIns="36576" rIns="36576" tIns="9144" bIns="9144">
            <a:spAutoFit/>
          </a:bodyPr>
          <a:lstStyle/>
          <a:p>
            <a:pPr algn="r"/>
            <a:r>
              <a:rPr sz="750" b="1">
                <a:solidFill>
                  <a:srgbClr val="FFFFFF"/>
                </a:solidFill>
                <a:latin typeface="Calibri"/>
              </a:rPr>
              <a:t>3.82x</a:t>
            </a:r>
          </a:p>
        </p:txBody>
      </p:sp>
      <p:sp>
        <p:nvSpPr>
          <p:cNvPr id="73" name="TextBox 72"/>
          <p:cNvSpPr txBox="1"/>
          <p:nvPr/>
        </p:nvSpPr>
        <p:spPr>
          <a:xfrm>
            <a:off x="10021824" y="2971800"/>
            <a:ext cx="1131570" cy="128016"/>
          </a:xfrm>
          <a:prstGeom prst="rect">
            <a:avLst/>
          </a:prstGeom>
          <a:noFill/>
        </p:spPr>
        <p:txBody>
          <a:bodyPr wrap="square" lIns="36576" rIns="36576" tIns="9144" bIns="9144">
            <a:spAutoFit/>
          </a:bodyPr>
          <a:lstStyle/>
          <a:p>
            <a:r>
              <a:rPr sz="700" b="0">
                <a:solidFill>
                  <a:srgbClr val="E8EEF8"/>
                </a:solidFill>
                <a:latin typeface="Calibri"/>
              </a:rPr>
              <a:t>EPS (FY25A)</a:t>
            </a:r>
          </a:p>
        </p:txBody>
      </p:sp>
      <p:sp>
        <p:nvSpPr>
          <p:cNvPr id="74" name="TextBox 73"/>
          <p:cNvSpPr txBox="1"/>
          <p:nvPr/>
        </p:nvSpPr>
        <p:spPr>
          <a:xfrm>
            <a:off x="11061954" y="2971800"/>
            <a:ext cx="822960" cy="128016"/>
          </a:xfrm>
          <a:prstGeom prst="rect">
            <a:avLst/>
          </a:prstGeom>
          <a:noFill/>
        </p:spPr>
        <p:txBody>
          <a:bodyPr wrap="square" lIns="36576" rIns="36576" tIns="9144" bIns="9144">
            <a:spAutoFit/>
          </a:bodyPr>
          <a:lstStyle/>
          <a:p>
            <a:pPr algn="r"/>
            <a:r>
              <a:rPr sz="750" b="1">
                <a:solidFill>
                  <a:srgbClr val="FFFFFF"/>
                </a:solidFill>
                <a:latin typeface="Calibri"/>
              </a:rPr>
              <a:t>₹41.7</a:t>
            </a:r>
          </a:p>
        </p:txBody>
      </p:sp>
      <p:sp>
        <p:nvSpPr>
          <p:cNvPr id="75" name="TextBox 74"/>
          <p:cNvSpPr txBox="1"/>
          <p:nvPr/>
        </p:nvSpPr>
        <p:spPr>
          <a:xfrm>
            <a:off x="10021824" y="3154680"/>
            <a:ext cx="1131570" cy="128016"/>
          </a:xfrm>
          <a:prstGeom prst="rect">
            <a:avLst/>
          </a:prstGeom>
          <a:noFill/>
        </p:spPr>
        <p:txBody>
          <a:bodyPr wrap="square" lIns="36576" rIns="36576" tIns="9144" bIns="9144">
            <a:spAutoFit/>
          </a:bodyPr>
          <a:lstStyle/>
          <a:p>
            <a:r>
              <a:rPr sz="700" b="0">
                <a:solidFill>
                  <a:srgbClr val="E8EEF8"/>
                </a:solidFill>
                <a:latin typeface="Calibri"/>
              </a:rPr>
              <a:t>EPS (FY27E)</a:t>
            </a:r>
          </a:p>
        </p:txBody>
      </p:sp>
      <p:sp>
        <p:nvSpPr>
          <p:cNvPr id="76" name="TextBox 75"/>
          <p:cNvSpPr txBox="1"/>
          <p:nvPr/>
        </p:nvSpPr>
        <p:spPr>
          <a:xfrm>
            <a:off x="11061954" y="3154680"/>
            <a:ext cx="822960" cy="128016"/>
          </a:xfrm>
          <a:prstGeom prst="rect">
            <a:avLst/>
          </a:prstGeom>
          <a:noFill/>
        </p:spPr>
        <p:txBody>
          <a:bodyPr wrap="square" lIns="36576" rIns="36576" tIns="9144" bIns="9144">
            <a:spAutoFit/>
          </a:bodyPr>
          <a:lstStyle/>
          <a:p>
            <a:pPr algn="r"/>
            <a:r>
              <a:rPr sz="750" b="1">
                <a:solidFill>
                  <a:srgbClr val="FFFFFF"/>
                </a:solidFill>
                <a:latin typeface="Calibri"/>
              </a:rPr>
              <a:t>₹66.5</a:t>
            </a:r>
          </a:p>
        </p:txBody>
      </p:sp>
      <p:sp>
        <p:nvSpPr>
          <p:cNvPr id="77" name="Rounded Rectangle 76"/>
          <p:cNvSpPr/>
          <p:nvPr/>
        </p:nvSpPr>
        <p:spPr>
          <a:xfrm>
            <a:off x="9930384" y="3364992"/>
            <a:ext cx="2057400" cy="621792"/>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012680" y="3419856"/>
            <a:ext cx="1892807" cy="164592"/>
          </a:xfrm>
          <a:prstGeom prst="rect">
            <a:avLst/>
          </a:prstGeom>
          <a:noFill/>
        </p:spPr>
        <p:txBody>
          <a:bodyPr wrap="square" lIns="36576" rIns="36576" tIns="9144" bIns="9144">
            <a:spAutoFit/>
          </a:bodyPr>
          <a:lstStyle/>
          <a:p>
            <a:r>
              <a:rPr sz="750" b="1">
                <a:solidFill>
                  <a:srgbClr val="FFA500"/>
                </a:solidFill>
                <a:latin typeface="Calibri"/>
              </a:rPr>
              <a:t>ANALYST CONSENSUS</a:t>
            </a:r>
          </a:p>
        </p:txBody>
      </p:sp>
      <p:sp>
        <p:nvSpPr>
          <p:cNvPr id="79" name="TextBox 78"/>
          <p:cNvSpPr txBox="1"/>
          <p:nvPr/>
        </p:nvSpPr>
        <p:spPr>
          <a:xfrm>
            <a:off x="10021824" y="3611880"/>
            <a:ext cx="1131570" cy="128016"/>
          </a:xfrm>
          <a:prstGeom prst="rect">
            <a:avLst/>
          </a:prstGeom>
          <a:noFill/>
        </p:spPr>
        <p:txBody>
          <a:bodyPr wrap="square" lIns="36576" rIns="36576" tIns="9144" bIns="9144">
            <a:spAutoFit/>
          </a:bodyPr>
          <a:lstStyle/>
          <a:p>
            <a:r>
              <a:rPr sz="700" b="0">
                <a:solidFill>
                  <a:srgbClr val="E8EEF8"/>
                </a:solidFill>
                <a:latin typeface="Calibri"/>
              </a:rPr>
              <a:t>Consensus TP</a:t>
            </a:r>
          </a:p>
        </p:txBody>
      </p:sp>
      <p:sp>
        <p:nvSpPr>
          <p:cNvPr id="80" name="TextBox 79"/>
          <p:cNvSpPr txBox="1"/>
          <p:nvPr/>
        </p:nvSpPr>
        <p:spPr>
          <a:xfrm>
            <a:off x="11061954" y="3611880"/>
            <a:ext cx="822960" cy="128016"/>
          </a:xfrm>
          <a:prstGeom prst="rect">
            <a:avLst/>
          </a:prstGeom>
          <a:noFill/>
        </p:spPr>
        <p:txBody>
          <a:bodyPr wrap="square" lIns="36576" rIns="36576" tIns="9144" bIns="9144">
            <a:spAutoFit/>
          </a:bodyPr>
          <a:lstStyle/>
          <a:p>
            <a:pPr algn="r"/>
            <a:r>
              <a:rPr sz="750" b="1">
                <a:solidFill>
                  <a:srgbClr val="FFFFFF"/>
                </a:solidFill>
                <a:latin typeface="Calibri"/>
              </a:rPr>
              <a:t>₹1,127</a:t>
            </a:r>
          </a:p>
        </p:txBody>
      </p:sp>
      <p:sp>
        <p:nvSpPr>
          <p:cNvPr id="81" name="TextBox 80"/>
          <p:cNvSpPr txBox="1"/>
          <p:nvPr/>
        </p:nvSpPr>
        <p:spPr>
          <a:xfrm>
            <a:off x="10021824" y="3794760"/>
            <a:ext cx="1131570" cy="128016"/>
          </a:xfrm>
          <a:prstGeom prst="rect">
            <a:avLst/>
          </a:prstGeom>
          <a:noFill/>
        </p:spPr>
        <p:txBody>
          <a:bodyPr wrap="square" lIns="36576" rIns="36576" tIns="9144" bIns="9144">
            <a:spAutoFit/>
          </a:bodyPr>
          <a:lstStyle/>
          <a:p>
            <a:r>
              <a:rPr sz="700" b="0">
                <a:solidFill>
                  <a:srgbClr val="E8EEF8"/>
                </a:solidFill>
                <a:latin typeface="Calibri"/>
              </a:rPr>
              <a:t>Max Target</a:t>
            </a:r>
          </a:p>
        </p:txBody>
      </p:sp>
      <p:sp>
        <p:nvSpPr>
          <p:cNvPr id="82" name="TextBox 81"/>
          <p:cNvSpPr txBox="1"/>
          <p:nvPr/>
        </p:nvSpPr>
        <p:spPr>
          <a:xfrm>
            <a:off x="11061954" y="3794760"/>
            <a:ext cx="822960" cy="128016"/>
          </a:xfrm>
          <a:prstGeom prst="rect">
            <a:avLst/>
          </a:prstGeom>
          <a:noFill/>
        </p:spPr>
        <p:txBody>
          <a:bodyPr wrap="square" lIns="36576" rIns="36576" tIns="9144" bIns="9144">
            <a:spAutoFit/>
          </a:bodyPr>
          <a:lstStyle/>
          <a:p>
            <a:pPr algn="r"/>
            <a:r>
              <a:rPr sz="750" b="1">
                <a:solidFill>
                  <a:srgbClr val="FFFFFF"/>
                </a:solidFill>
                <a:latin typeface="Calibri"/>
              </a:rPr>
              <a:t>₹1,200</a:t>
            </a:r>
          </a:p>
        </p:txBody>
      </p:sp>
      <p:sp>
        <p:nvSpPr>
          <p:cNvPr id="83" name="TextBox 82"/>
          <p:cNvSpPr txBox="1"/>
          <p:nvPr/>
        </p:nvSpPr>
        <p:spPr>
          <a:xfrm>
            <a:off x="10021824" y="3977640"/>
            <a:ext cx="1131570" cy="128016"/>
          </a:xfrm>
          <a:prstGeom prst="rect">
            <a:avLst/>
          </a:prstGeom>
          <a:noFill/>
        </p:spPr>
        <p:txBody>
          <a:bodyPr wrap="square" lIns="36576" rIns="36576" tIns="9144" bIns="9144">
            <a:spAutoFit/>
          </a:bodyPr>
          <a:lstStyle/>
          <a:p>
            <a:r>
              <a:rPr sz="700" b="0">
                <a:solidFill>
                  <a:srgbClr val="E8EEF8"/>
                </a:solidFill>
                <a:latin typeface="Calibri"/>
              </a:rPr>
              <a:t>Upside to Cons.</a:t>
            </a:r>
          </a:p>
        </p:txBody>
      </p:sp>
      <p:sp>
        <p:nvSpPr>
          <p:cNvPr id="84" name="TextBox 83"/>
          <p:cNvSpPr txBox="1"/>
          <p:nvPr/>
        </p:nvSpPr>
        <p:spPr>
          <a:xfrm>
            <a:off x="11061954" y="3977640"/>
            <a:ext cx="822960" cy="128016"/>
          </a:xfrm>
          <a:prstGeom prst="rect">
            <a:avLst/>
          </a:prstGeom>
          <a:noFill/>
        </p:spPr>
        <p:txBody>
          <a:bodyPr wrap="square" lIns="36576" rIns="36576" tIns="9144" bIns="9144">
            <a:spAutoFit/>
          </a:bodyPr>
          <a:lstStyle/>
          <a:p>
            <a:pPr algn="r"/>
            <a:r>
              <a:rPr sz="750" b="1">
                <a:solidFill>
                  <a:srgbClr val="FFFFFF"/>
                </a:solidFill>
                <a:latin typeface="Calibri"/>
              </a:rPr>
              <a:t>+37%</a:t>
            </a:r>
          </a:p>
        </p:txBody>
      </p:sp>
      <p:sp>
        <p:nvSpPr>
          <p:cNvPr id="85" name="Rounded Rectangle 84"/>
          <p:cNvSpPr/>
          <p:nvPr/>
        </p:nvSpPr>
        <p:spPr>
          <a:xfrm>
            <a:off x="9930384" y="4059936"/>
            <a:ext cx="2057400" cy="73152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0012680" y="4114800"/>
            <a:ext cx="1892807" cy="164592"/>
          </a:xfrm>
          <a:prstGeom prst="rect">
            <a:avLst/>
          </a:prstGeom>
          <a:noFill/>
        </p:spPr>
        <p:txBody>
          <a:bodyPr wrap="square" lIns="36576" rIns="36576" tIns="9144" bIns="9144">
            <a:spAutoFit/>
          </a:bodyPr>
          <a:lstStyle/>
          <a:p>
            <a:r>
              <a:rPr sz="750" b="1">
                <a:solidFill>
                  <a:srgbClr val="1F4690"/>
                </a:solidFill>
                <a:latin typeface="Calibri"/>
              </a:rPr>
              <a:t>KEY OPERATING STATS</a:t>
            </a:r>
          </a:p>
        </p:txBody>
      </p:sp>
      <p:sp>
        <p:nvSpPr>
          <p:cNvPr id="87" name="TextBox 86"/>
          <p:cNvSpPr txBox="1"/>
          <p:nvPr/>
        </p:nvSpPr>
        <p:spPr>
          <a:xfrm>
            <a:off x="10021824" y="4315968"/>
            <a:ext cx="1131570" cy="128016"/>
          </a:xfrm>
          <a:prstGeom prst="rect">
            <a:avLst/>
          </a:prstGeom>
          <a:noFill/>
        </p:spPr>
        <p:txBody>
          <a:bodyPr wrap="square" lIns="36576" rIns="36576" tIns="9144" bIns="9144">
            <a:spAutoFit/>
          </a:bodyPr>
          <a:lstStyle/>
          <a:p>
            <a:r>
              <a:rPr sz="700" b="0">
                <a:solidFill>
                  <a:srgbClr val="111111"/>
                </a:solidFill>
                <a:latin typeface="Calibri"/>
              </a:rPr>
              <a:t>Total AUM</a:t>
            </a:r>
          </a:p>
        </p:txBody>
      </p:sp>
      <p:sp>
        <p:nvSpPr>
          <p:cNvPr id="88" name="TextBox 87"/>
          <p:cNvSpPr txBox="1"/>
          <p:nvPr/>
        </p:nvSpPr>
        <p:spPr>
          <a:xfrm>
            <a:off x="11061954" y="4315968"/>
            <a:ext cx="822960" cy="128016"/>
          </a:xfrm>
          <a:prstGeom prst="rect">
            <a:avLst/>
          </a:prstGeom>
          <a:noFill/>
        </p:spPr>
        <p:txBody>
          <a:bodyPr wrap="square" lIns="36576" rIns="36576" tIns="9144" bIns="9144">
            <a:spAutoFit/>
          </a:bodyPr>
          <a:lstStyle/>
          <a:p>
            <a:pPr algn="r"/>
            <a:r>
              <a:rPr sz="750" b="1">
                <a:solidFill>
                  <a:srgbClr val="1F4690"/>
                </a:solidFill>
                <a:latin typeface="Calibri"/>
              </a:rPr>
              <a:t>₹1.77L Cr</a:t>
            </a:r>
          </a:p>
        </p:txBody>
      </p:sp>
      <p:sp>
        <p:nvSpPr>
          <p:cNvPr id="89" name="TextBox 88"/>
          <p:cNvSpPr txBox="1"/>
          <p:nvPr/>
        </p:nvSpPr>
        <p:spPr>
          <a:xfrm>
            <a:off x="10021824" y="4498848"/>
            <a:ext cx="1131570" cy="128016"/>
          </a:xfrm>
          <a:prstGeom prst="rect">
            <a:avLst/>
          </a:prstGeom>
          <a:noFill/>
        </p:spPr>
        <p:txBody>
          <a:bodyPr wrap="square" lIns="36576" rIns="36576" tIns="9144" bIns="9144">
            <a:spAutoFit/>
          </a:bodyPr>
          <a:lstStyle/>
          <a:p>
            <a:r>
              <a:rPr sz="700" b="0">
                <a:solidFill>
                  <a:srgbClr val="111111"/>
                </a:solidFill>
                <a:latin typeface="Calibri"/>
              </a:rPr>
              <a:t>AMC AUM</a:t>
            </a:r>
          </a:p>
        </p:txBody>
      </p:sp>
      <p:sp>
        <p:nvSpPr>
          <p:cNvPr id="90" name="TextBox 89"/>
          <p:cNvSpPr txBox="1"/>
          <p:nvPr/>
        </p:nvSpPr>
        <p:spPr>
          <a:xfrm>
            <a:off x="11061954" y="4498848"/>
            <a:ext cx="822960" cy="128016"/>
          </a:xfrm>
          <a:prstGeom prst="rect">
            <a:avLst/>
          </a:prstGeom>
          <a:noFill/>
        </p:spPr>
        <p:txBody>
          <a:bodyPr wrap="square" lIns="36576" rIns="36576" tIns="9144" bIns="9144">
            <a:spAutoFit/>
          </a:bodyPr>
          <a:lstStyle/>
          <a:p>
            <a:pPr algn="r"/>
            <a:r>
              <a:rPr sz="750" b="1">
                <a:solidFill>
                  <a:srgbClr val="1F4690"/>
                </a:solidFill>
                <a:latin typeface="Calibri"/>
              </a:rPr>
              <a:t>₹1.89L Cr</a:t>
            </a:r>
          </a:p>
        </p:txBody>
      </p:sp>
      <p:sp>
        <p:nvSpPr>
          <p:cNvPr id="91" name="TextBox 90"/>
          <p:cNvSpPr txBox="1"/>
          <p:nvPr/>
        </p:nvSpPr>
        <p:spPr>
          <a:xfrm>
            <a:off x="10021824" y="4681728"/>
            <a:ext cx="1131570" cy="128016"/>
          </a:xfrm>
          <a:prstGeom prst="rect">
            <a:avLst/>
          </a:prstGeom>
          <a:noFill/>
        </p:spPr>
        <p:txBody>
          <a:bodyPr wrap="square" lIns="36576" rIns="36576" tIns="9144" bIns="9144">
            <a:spAutoFit/>
          </a:bodyPr>
          <a:lstStyle/>
          <a:p>
            <a:r>
              <a:rPr sz="700" b="0">
                <a:solidFill>
                  <a:srgbClr val="111111"/>
                </a:solidFill>
                <a:latin typeface="Calibri"/>
              </a:rPr>
              <a:t>Pvt Wealth AUM</a:t>
            </a:r>
          </a:p>
        </p:txBody>
      </p:sp>
      <p:sp>
        <p:nvSpPr>
          <p:cNvPr id="92" name="TextBox 91"/>
          <p:cNvSpPr txBox="1"/>
          <p:nvPr/>
        </p:nvSpPr>
        <p:spPr>
          <a:xfrm>
            <a:off x="11061954" y="4681728"/>
            <a:ext cx="822960" cy="128016"/>
          </a:xfrm>
          <a:prstGeom prst="rect">
            <a:avLst/>
          </a:prstGeom>
          <a:noFill/>
        </p:spPr>
        <p:txBody>
          <a:bodyPr wrap="square" lIns="36576" rIns="36576" tIns="9144" bIns="9144">
            <a:spAutoFit/>
          </a:bodyPr>
          <a:lstStyle/>
          <a:p>
            <a:pPr algn="r"/>
            <a:r>
              <a:rPr sz="750" b="1">
                <a:solidFill>
                  <a:srgbClr val="1F4690"/>
                </a:solidFill>
                <a:latin typeface="Calibri"/>
              </a:rPr>
              <a:t>₹1.96L Cr</a:t>
            </a:r>
          </a:p>
        </p:txBody>
      </p:sp>
      <p:sp>
        <p:nvSpPr>
          <p:cNvPr id="93" name="Rounded Rectangle 92"/>
          <p:cNvSpPr/>
          <p:nvPr/>
        </p:nvSpPr>
        <p:spPr>
          <a:xfrm>
            <a:off x="9930384" y="4864608"/>
            <a:ext cx="2057400" cy="594360"/>
          </a:xfrm>
          <a:prstGeom prst="round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0012680" y="4919472"/>
            <a:ext cx="1892807" cy="164592"/>
          </a:xfrm>
          <a:prstGeom prst="rect">
            <a:avLst/>
          </a:prstGeom>
          <a:noFill/>
        </p:spPr>
        <p:txBody>
          <a:bodyPr wrap="square" lIns="36576" rIns="36576" tIns="9144" bIns="9144">
            <a:spAutoFit/>
          </a:bodyPr>
          <a:lstStyle/>
          <a:p>
            <a:r>
              <a:rPr sz="750" b="1">
                <a:solidFill>
                  <a:srgbClr val="1F4690"/>
                </a:solidFill>
                <a:latin typeface="Calibri"/>
              </a:rPr>
              <a:t>CREDIT RATING</a:t>
            </a:r>
          </a:p>
        </p:txBody>
      </p:sp>
      <p:sp>
        <p:nvSpPr>
          <p:cNvPr id="95" name="TextBox 94"/>
          <p:cNvSpPr txBox="1"/>
          <p:nvPr/>
        </p:nvSpPr>
        <p:spPr>
          <a:xfrm>
            <a:off x="10021824" y="5120640"/>
            <a:ext cx="1131570" cy="128016"/>
          </a:xfrm>
          <a:prstGeom prst="rect">
            <a:avLst/>
          </a:prstGeom>
          <a:noFill/>
        </p:spPr>
        <p:txBody>
          <a:bodyPr wrap="square" lIns="36576" rIns="36576" tIns="9144" bIns="9144">
            <a:spAutoFit/>
          </a:bodyPr>
          <a:lstStyle/>
          <a:p>
            <a:r>
              <a:rPr sz="700" b="0">
                <a:solidFill>
                  <a:srgbClr val="111111"/>
                </a:solidFill>
                <a:latin typeface="Calibri"/>
              </a:rPr>
              <a:t>ICRA Rating</a:t>
            </a:r>
          </a:p>
        </p:txBody>
      </p:sp>
      <p:sp>
        <p:nvSpPr>
          <p:cNvPr id="96" name="TextBox 95"/>
          <p:cNvSpPr txBox="1"/>
          <p:nvPr/>
        </p:nvSpPr>
        <p:spPr>
          <a:xfrm>
            <a:off x="11061954" y="5120640"/>
            <a:ext cx="822960" cy="128016"/>
          </a:xfrm>
          <a:prstGeom prst="rect">
            <a:avLst/>
          </a:prstGeom>
          <a:noFill/>
        </p:spPr>
        <p:txBody>
          <a:bodyPr wrap="square" lIns="36576" rIns="36576" tIns="9144" bIns="9144">
            <a:spAutoFit/>
          </a:bodyPr>
          <a:lstStyle/>
          <a:p>
            <a:pPr algn="r"/>
            <a:r>
              <a:rPr sz="750" b="1">
                <a:solidFill>
                  <a:srgbClr val="FFA500"/>
                </a:solidFill>
                <a:latin typeface="Calibri"/>
              </a:rPr>
              <a:t>AA+</a:t>
            </a:r>
          </a:p>
        </p:txBody>
      </p:sp>
      <p:sp>
        <p:nvSpPr>
          <p:cNvPr id="97" name="TextBox 96"/>
          <p:cNvSpPr txBox="1"/>
          <p:nvPr/>
        </p:nvSpPr>
        <p:spPr>
          <a:xfrm>
            <a:off x="10021824" y="5303520"/>
            <a:ext cx="1131570" cy="128016"/>
          </a:xfrm>
          <a:prstGeom prst="rect">
            <a:avLst/>
          </a:prstGeom>
          <a:noFill/>
        </p:spPr>
        <p:txBody>
          <a:bodyPr wrap="square" lIns="36576" rIns="36576" tIns="9144" bIns="9144">
            <a:spAutoFit/>
          </a:bodyPr>
          <a:lstStyle/>
          <a:p>
            <a:r>
              <a:rPr sz="700" b="0">
                <a:solidFill>
                  <a:srgbClr val="111111"/>
                </a:solidFill>
                <a:latin typeface="Calibri"/>
              </a:rPr>
              <a:t>Outlook</a:t>
            </a:r>
          </a:p>
        </p:txBody>
      </p:sp>
      <p:sp>
        <p:nvSpPr>
          <p:cNvPr id="98" name="TextBox 97"/>
          <p:cNvSpPr txBox="1"/>
          <p:nvPr/>
        </p:nvSpPr>
        <p:spPr>
          <a:xfrm>
            <a:off x="11061954" y="5303520"/>
            <a:ext cx="822960" cy="128016"/>
          </a:xfrm>
          <a:prstGeom prst="rect">
            <a:avLst/>
          </a:prstGeom>
          <a:noFill/>
        </p:spPr>
        <p:txBody>
          <a:bodyPr wrap="square" lIns="36576" rIns="36576" tIns="9144" bIns="9144">
            <a:spAutoFit/>
          </a:bodyPr>
          <a:lstStyle/>
          <a:p>
            <a:pPr algn="r"/>
            <a:r>
              <a:rPr sz="750" b="1">
                <a:solidFill>
                  <a:srgbClr val="FFA500"/>
                </a:solidFill>
                <a:latin typeface="Calibri"/>
              </a:rPr>
              <a:t>Stable</a:t>
            </a:r>
          </a:p>
        </p:txBody>
      </p:sp>
      <p:sp>
        <p:nvSpPr>
          <p:cNvPr id="99" name="TextBox 98"/>
          <p:cNvSpPr txBox="1"/>
          <p:nvPr/>
        </p:nvSpPr>
        <p:spPr>
          <a:xfrm>
            <a:off x="10021824" y="5486400"/>
            <a:ext cx="1131570" cy="128016"/>
          </a:xfrm>
          <a:prstGeom prst="rect">
            <a:avLst/>
          </a:prstGeom>
          <a:noFill/>
        </p:spPr>
        <p:txBody>
          <a:bodyPr wrap="square" lIns="36576" rIns="36576" tIns="9144" bIns="9144">
            <a:spAutoFit/>
          </a:bodyPr>
          <a:lstStyle/>
          <a:p>
            <a:r>
              <a:rPr sz="700" b="0">
                <a:solidFill>
                  <a:srgbClr val="111111"/>
                </a:solidFill>
                <a:latin typeface="Calibri"/>
              </a:rPr>
              <a:t>Net Worth</a:t>
            </a:r>
          </a:p>
        </p:txBody>
      </p:sp>
      <p:sp>
        <p:nvSpPr>
          <p:cNvPr id="100" name="TextBox 99"/>
          <p:cNvSpPr txBox="1"/>
          <p:nvPr/>
        </p:nvSpPr>
        <p:spPr>
          <a:xfrm>
            <a:off x="11061954" y="5486400"/>
            <a:ext cx="822960" cy="128016"/>
          </a:xfrm>
          <a:prstGeom prst="rect">
            <a:avLst/>
          </a:prstGeom>
          <a:noFill/>
        </p:spPr>
        <p:txBody>
          <a:bodyPr wrap="square" lIns="36576" rIns="36576" tIns="9144" bIns="9144">
            <a:spAutoFit/>
          </a:bodyPr>
          <a:lstStyle/>
          <a:p>
            <a:pPr algn="r"/>
            <a:r>
              <a:rPr sz="750" b="1">
                <a:solidFill>
                  <a:srgbClr val="FFA500"/>
                </a:solidFill>
                <a:latin typeface="Calibri"/>
              </a:rPr>
              <a:t>₹12871 Cr</a:t>
            </a:r>
          </a:p>
        </p:txBody>
      </p:sp>
      <p:sp>
        <p:nvSpPr>
          <p:cNvPr id="101" name="Rounded Rectangle 100"/>
          <p:cNvSpPr/>
          <p:nvPr/>
        </p:nvSpPr>
        <p:spPr>
          <a:xfrm>
            <a:off x="9930384" y="5532120"/>
            <a:ext cx="2057400" cy="713232"/>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021824" y="5586983"/>
            <a:ext cx="1874519" cy="146304"/>
          </a:xfrm>
          <a:prstGeom prst="rect">
            <a:avLst/>
          </a:prstGeom>
          <a:noFill/>
        </p:spPr>
        <p:txBody>
          <a:bodyPr wrap="square" lIns="36576" rIns="36576" tIns="9144" bIns="9144">
            <a:spAutoFit/>
          </a:bodyPr>
          <a:lstStyle/>
          <a:p>
            <a:r>
              <a:rPr sz="750" b="1">
                <a:solidFill>
                  <a:srgbClr val="FFA500"/>
                </a:solidFill>
                <a:latin typeface="Calibri"/>
              </a:rPr>
              <a:t>ARR INFLECTION WATCH</a:t>
            </a:r>
          </a:p>
        </p:txBody>
      </p:sp>
      <p:sp>
        <p:nvSpPr>
          <p:cNvPr id="103" name="TextBox 102"/>
          <p:cNvSpPr txBox="1"/>
          <p:nvPr/>
        </p:nvSpPr>
        <p:spPr>
          <a:xfrm>
            <a:off x="10021824" y="5760720"/>
            <a:ext cx="1874519" cy="237744"/>
          </a:xfrm>
          <a:prstGeom prst="rect">
            <a:avLst/>
          </a:prstGeom>
          <a:noFill/>
        </p:spPr>
        <p:txBody>
          <a:bodyPr wrap="square" lIns="36576" rIns="36576" tIns="9144" bIns="9144">
            <a:spAutoFit/>
          </a:bodyPr>
          <a:lstStyle/>
          <a:p>
            <a:r>
              <a:rPr sz="2000" b="1">
                <a:solidFill>
                  <a:srgbClr val="FFA500"/>
                </a:solidFill>
                <a:latin typeface="Calibri"/>
              </a:rPr>
              <a:t>65%</a:t>
            </a:r>
          </a:p>
        </p:txBody>
      </p:sp>
      <p:sp>
        <p:nvSpPr>
          <p:cNvPr id="104" name="TextBox 103"/>
          <p:cNvSpPr txBox="1"/>
          <p:nvPr/>
        </p:nvSpPr>
        <p:spPr>
          <a:xfrm>
            <a:off x="10021824" y="6016752"/>
            <a:ext cx="1874519" cy="164592"/>
          </a:xfrm>
          <a:prstGeom prst="rect">
            <a:avLst/>
          </a:prstGeom>
          <a:noFill/>
        </p:spPr>
        <p:txBody>
          <a:bodyPr wrap="square" lIns="36576" rIns="36576" tIns="9144" bIns="9144">
            <a:spAutoFit/>
          </a:bodyPr>
          <a:lstStyle/>
          <a:p>
            <a:r>
              <a:rPr sz="650" b="0">
                <a:solidFill>
                  <a:srgbClr val="FFFFFF"/>
                </a:solidFill>
                <a:latin typeface="Calibri"/>
              </a:rPr>
              <a:t>ARR of total net revenues. Re-rating trigger: 70%+ ARR.</a:t>
            </a:r>
          </a:p>
        </p:txBody>
      </p:sp>
      <p:sp>
        <p:nvSpPr>
          <p:cNvPr id="105" name="Rectangle 104"/>
          <p:cNvSpPr/>
          <p:nvPr/>
        </p:nvSpPr>
        <p:spPr>
          <a:xfrm>
            <a:off x="0" y="6693408"/>
            <a:ext cx="12191695" cy="164592"/>
          </a:xfrm>
          <a:prstGeom prst="rect">
            <a:avLst/>
          </a:prstGeom>
          <a:solidFill>
            <a:srgbClr val="F7F9FC"/>
          </a:solidFill>
          <a:ln w="889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01168" y="6711696"/>
            <a:ext cx="2743200" cy="109728"/>
          </a:xfrm>
          <a:prstGeom prst="rect">
            <a:avLst/>
          </a:prstGeom>
          <a:noFill/>
        </p:spPr>
        <p:txBody>
          <a:bodyPr wrap="square" lIns="36576" rIns="36576" tIns="9144" bIns="9144">
            <a:spAutoFit/>
          </a:bodyPr>
          <a:lstStyle/>
          <a:p>
            <a:r>
              <a:rPr sz="650" b="0">
                <a:solidFill>
                  <a:srgbClr val="5A6573"/>
                </a:solidFill>
                <a:latin typeface="Calibri"/>
              </a:rPr>
              <a:t>SEBI Reg. No.: INH000069807</a:t>
            </a:r>
          </a:p>
        </p:txBody>
      </p:sp>
      <p:sp>
        <p:nvSpPr>
          <p:cNvPr id="107" name="TextBox 106"/>
          <p:cNvSpPr txBox="1"/>
          <p:nvPr/>
        </p:nvSpPr>
        <p:spPr>
          <a:xfrm>
            <a:off x="3901342" y="6711696"/>
            <a:ext cx="4389010" cy="109728"/>
          </a:xfrm>
          <a:prstGeom prst="rect">
            <a:avLst/>
          </a:prstGeom>
          <a:noFill/>
        </p:spPr>
        <p:txBody>
          <a:bodyPr wrap="square" lIns="36576" rIns="36576" tIns="9144" bIns="9144">
            <a:spAutoFit/>
          </a:bodyPr>
          <a:lstStyle/>
          <a:p>
            <a:pPr algn="ctr"/>
            <a:r>
              <a:rPr sz="650" b="1">
                <a:solidFill>
                  <a:srgbClr val="1F4690"/>
                </a:solidFill>
                <a:latin typeface="Calibri"/>
              </a:rPr>
              <a:t>Motilal Oswal Financial Services Ltd - Equity Research</a:t>
            </a:r>
          </a:p>
        </p:txBody>
      </p:sp>
      <p:sp>
        <p:nvSpPr>
          <p:cNvPr id="108" name="TextBox 107"/>
          <p:cNvSpPr txBox="1"/>
          <p:nvPr/>
        </p:nvSpPr>
        <p:spPr>
          <a:xfrm>
            <a:off x="11231575" y="6711696"/>
            <a:ext cx="777240" cy="109728"/>
          </a:xfrm>
          <a:prstGeom prst="rect">
            <a:avLst/>
          </a:prstGeom>
          <a:noFill/>
        </p:spPr>
        <p:txBody>
          <a:bodyPr wrap="square" lIns="36576" rIns="36576" tIns="9144" bIns="9144">
            <a:spAutoFit/>
          </a:bodyPr>
          <a:lstStyle/>
          <a:p>
            <a:pPr algn="r"/>
            <a:r>
              <a:rPr sz="650" b="0">
                <a:solidFill>
                  <a:srgbClr val="5A6573"/>
                </a:solidFill>
                <a:latin typeface="Calibri"/>
              </a:rPr>
              <a:t>Page 1 of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Story in Charts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02</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Story in Charts - MOFSL's Financial &amp; Operational Journey</a:t>
            </a:r>
          </a:p>
        </p:txBody>
      </p:sp>
      <p:sp>
        <p:nvSpPr>
          <p:cNvPr id="15" name="Rectangle 14"/>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92608"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mage.png"/>
          <p:cNvPicPr>
            <a:picLocks noChangeAspect="1"/>
          </p:cNvPicPr>
          <p:nvPr/>
        </p:nvPicPr>
        <p:blipFill>
          <a:blip r:embed="rId3"/>
          <a:stretch>
            <a:fillRect/>
          </a:stretch>
        </p:blipFill>
        <p:spPr>
          <a:xfrm>
            <a:off x="384048" y="1298448"/>
            <a:ext cx="3590543" cy="1828800"/>
          </a:xfrm>
          <a:prstGeom prst="rect">
            <a:avLst/>
          </a:prstGeom>
        </p:spPr>
      </p:pic>
      <p:sp>
        <p:nvSpPr>
          <p:cNvPr id="18" name="Rectangle 17"/>
          <p:cNvSpPr/>
          <p:nvPr/>
        </p:nvSpPr>
        <p:spPr>
          <a:xfrm>
            <a:off x="402336"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203192"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4"/>
          <a:stretch>
            <a:fillRect/>
          </a:stretch>
        </p:blipFill>
        <p:spPr>
          <a:xfrm>
            <a:off x="4294632" y="1298448"/>
            <a:ext cx="3590543" cy="1828800"/>
          </a:xfrm>
          <a:prstGeom prst="rect">
            <a:avLst/>
          </a:prstGeom>
        </p:spPr>
      </p:pic>
      <p:sp>
        <p:nvSpPr>
          <p:cNvPr id="21" name="Rectangle 20"/>
          <p:cNvSpPr/>
          <p:nvPr/>
        </p:nvSpPr>
        <p:spPr>
          <a:xfrm>
            <a:off x="4312920"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113776" y="1207008"/>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5"/>
          <a:stretch>
            <a:fillRect/>
          </a:stretch>
        </p:blipFill>
        <p:spPr>
          <a:xfrm>
            <a:off x="8205215" y="1298448"/>
            <a:ext cx="3590543" cy="1828800"/>
          </a:xfrm>
          <a:prstGeom prst="rect">
            <a:avLst/>
          </a:prstGeom>
        </p:spPr>
      </p:pic>
      <p:sp>
        <p:nvSpPr>
          <p:cNvPr id="24" name="Rectangle 23"/>
          <p:cNvSpPr/>
          <p:nvPr/>
        </p:nvSpPr>
        <p:spPr>
          <a:xfrm>
            <a:off x="8223503" y="1389888"/>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92608"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6"/>
          <a:stretch>
            <a:fillRect/>
          </a:stretch>
        </p:blipFill>
        <p:spPr>
          <a:xfrm>
            <a:off x="384048" y="3438144"/>
            <a:ext cx="3590543" cy="1828800"/>
          </a:xfrm>
          <a:prstGeom prst="rect">
            <a:avLst/>
          </a:prstGeom>
        </p:spPr>
      </p:pic>
      <p:sp>
        <p:nvSpPr>
          <p:cNvPr id="27" name="Rectangle 26"/>
          <p:cNvSpPr/>
          <p:nvPr/>
        </p:nvSpPr>
        <p:spPr>
          <a:xfrm>
            <a:off x="402336"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203192"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7"/>
          <a:stretch>
            <a:fillRect/>
          </a:stretch>
        </p:blipFill>
        <p:spPr>
          <a:xfrm>
            <a:off x="4294632" y="3438144"/>
            <a:ext cx="3590543" cy="1828800"/>
          </a:xfrm>
          <a:prstGeom prst="rect">
            <a:avLst/>
          </a:prstGeom>
        </p:spPr>
      </p:pic>
      <p:sp>
        <p:nvSpPr>
          <p:cNvPr id="30" name="Rectangle 29"/>
          <p:cNvSpPr/>
          <p:nvPr/>
        </p:nvSpPr>
        <p:spPr>
          <a:xfrm>
            <a:off x="4312920"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113776" y="3346704"/>
            <a:ext cx="3773423" cy="2011680"/>
          </a:xfrm>
          <a:prstGeom prst="roundRect">
            <a:avLst/>
          </a:prstGeom>
          <a:solidFill>
            <a:srgbClr val="FFFFFF"/>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8"/>
          <a:stretch>
            <a:fillRect/>
          </a:stretch>
        </p:blipFill>
        <p:spPr>
          <a:xfrm>
            <a:off x="8205215" y="3438144"/>
            <a:ext cx="3590543" cy="1828800"/>
          </a:xfrm>
          <a:prstGeom prst="rect">
            <a:avLst/>
          </a:prstGeom>
        </p:spPr>
      </p:pic>
      <p:sp>
        <p:nvSpPr>
          <p:cNvPr id="33" name="Rectangle 32"/>
          <p:cNvSpPr/>
          <p:nvPr/>
        </p:nvSpPr>
        <p:spPr>
          <a:xfrm>
            <a:off x="8223503" y="3529584"/>
            <a:ext cx="32004"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Investment Thesis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3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03</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a:t>
            </a:r>
          </a:p>
        </p:txBody>
      </p:sp>
      <p:sp>
        <p:nvSpPr>
          <p:cNvPr id="15" name="Rectangle 14"/>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417320"/>
            <a:ext cx="5120640" cy="5029200"/>
          </a:xfrm>
          <a:prstGeom prst="rect">
            <a:avLst/>
          </a:prstGeom>
          <a:noFill/>
        </p:spPr>
        <p:txBody>
          <a:bodyPr wrap="square" anchor="t" lIns="45720" rIns="45720" tIns="18288" bIns="18288">
            <a:spAutoFit/>
          </a:bodyPr>
          <a:lstStyle/>
          <a:p>
            <a:r>
              <a:rPr sz="12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7" name="TextBox 16"/>
          <p:cNvSpPr txBox="1"/>
          <p:nvPr/>
        </p:nvSpPr>
        <p:spPr>
          <a:xfrm>
            <a:off x="5852160" y="1417320"/>
            <a:ext cx="588233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BUY with SAARTHI Score of 72/100. Motilal Oswal Financial Services represents a compelling investment opportunity driven...</a:t>
            </a:r>
          </a:p>
          <a:p>
            <a:pPr>
              <a:spcAft>
                <a:spcPts val="400"/>
              </a:spcAft>
            </a:pPr>
            <a:r>
              <a:rPr sz="1200" b="0">
                <a:solidFill>
                  <a:srgbClr val="111111"/>
                </a:solidFill>
                <a:latin typeface="Calibri"/>
              </a:rPr>
              <a:t>•  ARR contribution at the relevant figure of total net revenues, reducing cyclical broking volatility</a:t>
            </a:r>
          </a:p>
          <a:p>
            <a:pPr>
              <a:spcAft>
                <a:spcPts val="400"/>
              </a:spcAft>
            </a:pPr>
            <a:r>
              <a:rPr sz="1200" b="0">
                <a:solidFill>
                  <a:srgbClr val="111111"/>
                </a:solidFill>
                <a:latin typeface="Calibri"/>
              </a:rPr>
              <a:t>•  Q2FY25 profits up the relevant figure YoY with the relevant figure revenue growth and the relevant figure ROE</a:t>
            </a:r>
          </a:p>
          <a:p>
            <a:pPr>
              <a:spcAft>
                <a:spcPts val="400"/>
              </a:spcAft>
            </a:pPr>
            <a:r>
              <a:rPr sz="1200" b="0">
                <a:solidFill>
                  <a:srgbClr val="111111"/>
                </a:solidFill>
                <a:latin typeface="Calibri"/>
              </a:rPr>
              <a:t>•  Total AUM at the relevant figure lakh crore (+the relevant figure YoY); the relevant figure of AUM outperforming benchmar...</a:t>
            </a:r>
          </a:p>
          <a:p>
            <a:pPr>
              <a:spcAft>
                <a:spcPts val="400"/>
              </a:spcAft>
            </a:pPr>
            <a:r>
              <a:rPr sz="1200" b="0">
                <a:solidFill>
                  <a:srgbClr val="111111"/>
                </a:solidFill>
                <a:latin typeface="Calibri"/>
              </a:rPr>
              <a:t>•  Private Wealth AUM at the relevant figure lakh crore (+the relevant figure YoY); family count up the relevant figure YoY</a:t>
            </a:r>
          </a:p>
          <a:p>
            <a:pPr>
              <a:spcAft>
                <a:spcPts val="400"/>
              </a:spcAft>
            </a:pPr>
            <a:r>
              <a:rPr sz="1200" b="0">
                <a:solidFill>
                  <a:srgbClr val="111111"/>
                </a:solidFill>
                <a:latin typeface="Calibri"/>
              </a:rPr>
              <a:t>•  Long-term credit rating upgraded to AA+ (Stable) by ICRA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Industry Overview - Tailwinds / Risks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4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04</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Overview - Tailwinds / Risks</a:t>
            </a:r>
          </a:p>
        </p:txBody>
      </p:sp>
      <p:sp>
        <p:nvSpPr>
          <p:cNvPr id="15" name="Rectangle 14"/>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2025, up the relevant figure YoY.</a:t>
            </a:r>
          </a:p>
        </p:txBody>
      </p:sp>
      <p:sp>
        <p:nvSpPr>
          <p:cNvPr id="17" name="TextBox 16"/>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Mutual fund penetration at 5-the relevant figure — massive latent opportunity</a:t>
            </a:r>
          </a:p>
          <a:p>
            <a:pPr>
              <a:spcAft>
                <a:spcPts val="400"/>
              </a:spcAft>
            </a:pPr>
            <a:r>
              <a:rPr sz="1200" b="0">
                <a:solidFill>
                  <a:srgbClr val="111111"/>
                </a:solidFill>
                <a:latin typeface="Calibri"/>
              </a:rPr>
              <a:t>•  Financial savings shifting from gold/real estate to financial assets</a:t>
            </a:r>
          </a:p>
          <a:p>
            <a:pPr>
              <a:spcAft>
                <a:spcPts val="400"/>
              </a:spcAft>
            </a:pPr>
            <a:r>
              <a:rPr sz="1200" b="0">
                <a:solidFill>
                  <a:srgbClr val="111111"/>
                </a:solidFill>
                <a:latin typeface="Calibri"/>
              </a:rPr>
              <a:t>•  BSE-listed companies grew from 135 (1995) to 5,328 (Feb 2025)</a:t>
            </a:r>
          </a:p>
          <a:p>
            <a:pPr>
              <a:spcAft>
                <a:spcPts val="400"/>
              </a:spcAft>
            </a:pPr>
            <a:r>
              <a:rPr sz="1200" b="0">
                <a:solidFill>
                  <a:srgbClr val="111111"/>
                </a:solidFill>
                <a:latin typeface="Calibri"/>
              </a:rPr>
              <a:t>•  Private wealth set to be 4th-largest globally by 2028</a:t>
            </a:r>
          </a:p>
          <a:p>
            <a:pPr>
              <a:spcAft>
                <a:spcPts val="400"/>
              </a:spcAft>
            </a:pPr>
            <a:r>
              <a:rPr sz="1200" b="0">
                <a:solidFill>
                  <a:srgbClr val="111111"/>
                </a:solidFill>
                <a:latin typeface="Calibri"/>
              </a:rPr>
              <a:t>•  NBFCs growing at the relevant figure annually with improving asset quality</a:t>
            </a:r>
          </a:p>
          <a:p>
            <a:pPr>
              <a:spcAft>
                <a:spcPts val="400"/>
              </a:spcAft>
            </a:pPr>
            <a:r>
              <a:rPr sz="1200" b="0">
                <a:solidFill>
                  <a:srgbClr val="111111"/>
                </a:solidFill>
                <a:latin typeface="Calibri"/>
              </a:rPr>
              <a:t>•  Demographic dividend — large working-age population entering peak earning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Company Overview</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5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05</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Company Overview</a:t>
            </a:r>
          </a:p>
        </p:txBody>
      </p:sp>
      <p:sp>
        <p:nvSpPr>
          <p:cNvPr id="15" name="Rectangle 14"/>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417320"/>
            <a:ext cx="5943600" cy="5029200"/>
          </a:xfrm>
          <a:prstGeom prst="rect">
            <a:avLst/>
          </a:prstGeom>
          <a:noFill/>
        </p:spPr>
        <p:txBody>
          <a:bodyPr wrap="square" anchor="t" lIns="45720" rIns="45720" tIns="18288" bIns="18288">
            <a:spAutoFit/>
          </a:bodyPr>
          <a:lstStyle/>
          <a:p>
            <a:r>
              <a:rPr sz="1200" b="0">
                <a:solidFill>
                  <a:srgbClr val="111111"/>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7" name="Rounded Rectangle 16"/>
          <p:cNvSpPr/>
          <p:nvPr/>
        </p:nvSpPr>
        <p:spPr>
          <a:xfrm>
            <a:off x="6675120" y="1417320"/>
            <a:ext cx="1613306" cy="100584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CMP</a:t>
            </a:r>
          </a:p>
          <a:p>
            <a:pPr algn="ctr"/>
            <a:r>
              <a:rPr sz="1600" b="1">
                <a:solidFill>
                  <a:srgbClr val="FFFFFF"/>
                </a:solidFill>
                <a:latin typeface="Calibri"/>
              </a:rPr>
              <a:t>₹822.9</a:t>
            </a:r>
          </a:p>
        </p:txBody>
      </p:sp>
      <p:sp>
        <p:nvSpPr>
          <p:cNvPr id="18" name="Rounded Rectangle 17"/>
          <p:cNvSpPr/>
          <p:nvPr/>
        </p:nvSpPr>
        <p:spPr>
          <a:xfrm>
            <a:off x="8398154" y="1417320"/>
            <a:ext cx="1613306" cy="100584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TP</a:t>
            </a:r>
          </a:p>
          <a:p>
            <a:pPr algn="ctr"/>
            <a:r>
              <a:rPr sz="1600" b="1">
                <a:solidFill>
                  <a:srgbClr val="1F4690"/>
                </a:solidFill>
                <a:latin typeface="Calibri"/>
              </a:rPr>
              <a:t>₹1,127.0</a:t>
            </a:r>
          </a:p>
        </p:txBody>
      </p:sp>
      <p:sp>
        <p:nvSpPr>
          <p:cNvPr id="19" name="Rounded Rectangle 18"/>
          <p:cNvSpPr/>
          <p:nvPr/>
        </p:nvSpPr>
        <p:spPr>
          <a:xfrm>
            <a:off x="10121188" y="1417320"/>
            <a:ext cx="1613306" cy="100584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UPSIDE</a:t>
            </a:r>
          </a:p>
          <a:p>
            <a:pPr algn="ctr"/>
            <a:r>
              <a:rPr sz="1600" b="1">
                <a:solidFill>
                  <a:srgbClr val="FFFFFF"/>
                </a:solidFill>
                <a:latin typeface="Calibri"/>
              </a:rPr>
              <a:t>37.0%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Investment Idea - Thesis Detail</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6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06</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Investment Idea - Thesis Detail</a:t>
            </a:r>
          </a:p>
        </p:txBody>
      </p:sp>
      <p:sp>
        <p:nvSpPr>
          <p:cNvPr id="15" name="Rectangle 14"/>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417320"/>
            <a:ext cx="11277295" cy="548640"/>
          </a:xfrm>
          <a:prstGeom prst="rect">
            <a:avLst/>
          </a:prstGeom>
          <a:noFill/>
        </p:spPr>
        <p:txBody>
          <a:bodyPr wrap="square" anchor="t" lIns="45720" rIns="45720" tIns="18288" bIns="18288">
            <a:spAutoFit/>
          </a:bodyPr>
          <a:lstStyle/>
          <a:p>
            <a:r>
              <a:rPr sz="1200" b="0">
                <a:solidFill>
                  <a:srgbClr val="111111"/>
                </a:solidFill>
                <a:latin typeface="Calibri"/>
              </a:rPr>
              <a:t>Six themes underpinning the investment view.</a:t>
            </a:r>
          </a:p>
        </p:txBody>
      </p:sp>
      <p:sp>
        <p:nvSpPr>
          <p:cNvPr id="17" name="TextBox 16"/>
          <p:cNvSpPr txBox="1"/>
          <p:nvPr/>
        </p:nvSpPr>
        <p:spPr>
          <a:xfrm>
            <a:off x="457200" y="2103120"/>
            <a:ext cx="11277295" cy="43434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Transformation: ARR at the relevant figure of net revenues (up from the relevant figure); fee-based at the relevant figure. Annuity income reduces transaction-cycle volatility.</a:t>
            </a:r>
          </a:p>
          <a:p>
            <a:pPr>
              <a:spcAft>
                <a:spcPts val="400"/>
              </a:spcAft>
            </a:pPr>
            <a:r>
              <a:rPr sz="1200" b="0">
                <a:solidFill>
                  <a:srgbClr val="111111"/>
                </a:solidFill>
                <a:latin typeface="Calibri"/>
              </a:rPr>
              <a:t>•  Profitability Momentum: Q2FY25 PAT the relevant figure Cr (+the relevant figure YoY); H1FY26 operating PAT the relevant figure Cr (+the relevant figure YoY); Asset &amp; PWM businesses leading at +the rel</a:t>
            </a:r>
          </a:p>
          <a:p>
            <a:pPr>
              <a:spcAft>
                <a:spcPts val="400"/>
              </a:spcAft>
            </a:pPr>
            <a:r>
              <a:rPr sz="1200" b="0">
                <a:solidFill>
                  <a:srgbClr val="111111"/>
                </a:solidFill>
                <a:latin typeface="Calibri"/>
              </a:rPr>
              <a:t>•  AUM Scale and Outperformance: Total AUM the relevant figureL Cr (+the relevant figure YoY). AMC AUM the relevant figureL Cr (+the relevant figure) with the relevant figure Cr net flows. the relevant f</a:t>
            </a:r>
          </a:p>
          <a:p>
            <a:pPr>
              <a:spcAft>
                <a:spcPts val="400"/>
              </a:spcAft>
            </a:pPr>
            <a:r>
              <a:rPr sz="1200" b="0">
                <a:solidFill>
                  <a:srgbClr val="111111"/>
                </a:solidFill>
                <a:latin typeface="Calibri"/>
              </a:rPr>
              <a:t>•  Private Wealth Expansion: PWM AUM the relevant figureL Cr (+the relevant figure YoY); family count +the relevant figure YoY; PAT +the relevant figure (9M). Distribution book +the relevant figure YoY t</a:t>
            </a:r>
          </a:p>
          <a:p>
            <a:pPr>
              <a:spcAft>
                <a:spcPts val="400"/>
              </a:spcAft>
            </a:pPr>
            <a:r>
              <a:rPr sz="1200" b="0">
                <a:solidFill>
                  <a:srgbClr val="111111"/>
                </a:solidFill>
                <a:latin typeface="Calibri"/>
              </a:rPr>
              <a:t>•  Valuation Opportunity: CMP the relevant figure vs consensus TP the relevant figure (max the relevant figure) — the relevant figure upside. Probability-weighted target the relevant figure.</a:t>
            </a:r>
          </a:p>
          <a:p>
            <a:pPr>
              <a:spcAft>
                <a:spcPts val="400"/>
              </a:spcAft>
            </a:pPr>
            <a:r>
              <a:rPr sz="1200" b="0">
                <a:solidFill>
                  <a:srgbClr val="111111"/>
                </a:solidFill>
                <a:latin typeface="Calibri"/>
              </a:rPr>
              <a:t>•  Credit Upgrade: 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Competitive Landscape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7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07</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Competitive Landscape</a:t>
            </a:r>
          </a:p>
        </p:txBody>
      </p:sp>
      <p:sp>
        <p:nvSpPr>
          <p:cNvPr id="15" name="Rectangle 14"/>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Competitive advantage rests on research depth, integrated distribution, and fee-led platform breadth.</a:t>
            </a:r>
          </a:p>
        </p:txBody>
      </p:sp>
      <p:sp>
        <p:nvSpPr>
          <p:cNvPr id="17" name="TextBox 16"/>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Research franchise covering 300+ companies — institutional moat</a:t>
            </a:r>
          </a:p>
          <a:p>
            <a:pPr>
              <a:spcAft>
                <a:spcPts val="400"/>
              </a:spcAft>
            </a:pPr>
            <a:r>
              <a:rPr sz="1200" b="0">
                <a:solidFill>
                  <a:srgbClr val="111111"/>
                </a:solidFill>
                <a:latin typeface="Calibri"/>
              </a:rPr>
              <a:t>•  QGLP investment philosophy with 'Buy Right, Sit Tight' framework</a:t>
            </a:r>
          </a:p>
          <a:p>
            <a:pPr>
              <a:spcAft>
                <a:spcPts val="400"/>
              </a:spcAft>
            </a:pPr>
            <a:r>
              <a:rPr sz="1200" b="0">
                <a:solidFill>
                  <a:srgbClr val="111111"/>
                </a:solidFill>
                <a:latin typeface="Calibri"/>
              </a:rPr>
              <a:t>•  the relevant figure ARR contribution — structural revenue-quality improvement vs broking peers</a:t>
            </a:r>
          </a:p>
          <a:p>
            <a:pPr>
              <a:spcAft>
                <a:spcPts val="400"/>
              </a:spcAft>
            </a:pPr>
            <a:r>
              <a:rPr sz="1200" b="0">
                <a:solidFill>
                  <a:srgbClr val="111111"/>
                </a:solidFill>
                <a:latin typeface="Calibri"/>
              </a:rPr>
              <a:t>•  the relevant figure of AUM outperforming benchmarks over 3 years</a:t>
            </a:r>
          </a:p>
          <a:p>
            <a:pPr>
              <a:spcAft>
                <a:spcPts val="400"/>
              </a:spcAft>
            </a:pPr>
            <a:r>
              <a:rPr sz="1200" b="0">
                <a:solidFill>
                  <a:srgbClr val="111111"/>
                </a:solidFill>
                <a:latin typeface="Calibri"/>
              </a:rPr>
              <a:t>•  550+ cities and 2,500+ business locations — deep distribution</a:t>
            </a:r>
          </a:p>
          <a:p>
            <a:pPr>
              <a:spcAft>
                <a:spcPts val="400"/>
              </a:spcAft>
            </a:pPr>
            <a:r>
              <a:rPr sz="1200" b="0">
                <a:solidFill>
                  <a:srgbClr val="111111"/>
                </a:solidFill>
                <a:latin typeface="Calibri"/>
              </a:rPr>
              <a:t>•  Integrated platform: broking → PMS → wealth → IB cross-sell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Demand Drivers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8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08</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Demand Drivers</a:t>
            </a:r>
          </a:p>
        </p:txBody>
      </p:sp>
      <p:sp>
        <p:nvSpPr>
          <p:cNvPr id="15" name="Rectangle 14"/>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7" name="TextBox 16"/>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crossing the relevant figure of revenues, triggering valuation re-rating from broking to asset m...</a:t>
            </a:r>
          </a:p>
          <a:p>
            <a:pPr>
              <a:spcAft>
                <a:spcPts val="400"/>
              </a:spcAft>
            </a:pPr>
            <a:r>
              <a:rPr sz="1200" b="0">
                <a:solidFill>
                  <a:srgbClr val="111111"/>
                </a:solidFill>
                <a:latin typeface="Calibri"/>
              </a:rPr>
              <a:t>•  Sustained AMC AUM growth above the relevant figure YoY with net flows exceeding the relevant figure crore annually</a:t>
            </a:r>
          </a:p>
          <a:p>
            <a:pPr>
              <a:spcAft>
                <a:spcPts val="400"/>
              </a:spcAft>
            </a:pPr>
            <a:r>
              <a:rPr sz="1200" b="0">
                <a:solidFill>
                  <a:srgbClr val="111111"/>
                </a:solidFill>
                <a:latin typeface="Calibri"/>
              </a:rPr>
              <a:t>•  Private wealth AUM growth above the relevant figure YoY with family count expansion</a:t>
            </a:r>
          </a:p>
          <a:p>
            <a:pPr>
              <a:spcAft>
                <a:spcPts val="400"/>
              </a:spcAft>
            </a:pPr>
            <a:r>
              <a:rPr sz="1200" b="0">
                <a:solidFill>
                  <a:srgbClr val="111111"/>
                </a:solidFill>
                <a:latin typeface="Calibri"/>
              </a:rPr>
              <a:t>•  Operating leverage improvement with cost-to-income ratio declining</a:t>
            </a:r>
          </a:p>
          <a:p>
            <a:pPr>
              <a:spcAft>
                <a:spcPts val="400"/>
              </a:spcAft>
            </a:pPr>
            <a:r>
              <a:rPr sz="1200" b="0">
                <a:solidFill>
                  <a:srgbClr val="111111"/>
                </a:solidFill>
                <a:latin typeface="Calibri"/>
              </a:rPr>
              <a:t>•  Regulatory clarity on F&amp;O trading norms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Business Model</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9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09</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Business Model</a:t>
            </a:r>
          </a:p>
        </p:txBody>
      </p:sp>
      <p:sp>
        <p:nvSpPr>
          <p:cNvPr id="15" name="Rectangle 14"/>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6" name="Table 15"/>
          <p:cNvGraphicFramePr>
            <a:graphicFrameLocks noGrp="1"/>
          </p:cNvGraphicFramePr>
          <p:nvPr/>
        </p:nvGraphicFramePr>
        <p:xfrm>
          <a:off x="457200" y="1417320"/>
          <a:ext cx="11277292" cy="5029200"/>
        </p:xfrm>
        <a:graphic>
          <a:graphicData uri="http://schemas.openxmlformats.org/drawingml/2006/table">
            <a:tbl>
              <a:tblPr firstRow="1" bandRow="1">
                <a:tableStyleId>{5C22544A-7EE6-4342-B048-85BDC9FD1C3A}</a:tableStyleId>
              </a:tblPr>
              <a:tblGrid>
                <a:gridCol w="2819323"/>
                <a:gridCol w="2819323"/>
                <a:gridCol w="2819323"/>
                <a:gridCol w="2819323"/>
              </a:tblGrid>
              <a:tr h="838200">
                <a:tc>
                  <a:txBody>
                    <a:bodyPr/>
                    <a:lstStyle/>
                    <a:p>
                      <a:r>
                        <a:rPr b="1" sz="1400">
                          <a:solidFill>
                            <a:srgbClr val="FFFFFF"/>
                          </a:solidFill>
                          <a:latin typeface="Calibri"/>
                        </a:rPr>
                        <a:t>Segment</a:t>
                      </a:r>
                    </a:p>
                  </a:txBody>
                  <a:tcPr marL="45720" marR="45720" marT="18288" marB="18288">
                    <a:solidFill>
                      <a:srgbClr val="1F4690"/>
                    </a:solidFill>
                  </a:tcPr>
                </a:tc>
                <a:tc>
                  <a:txBody>
                    <a:bodyPr/>
                    <a:lstStyle/>
                    <a:p>
                      <a:pPr algn="r"/>
                      <a:r>
                        <a:rPr b="1" sz="1400">
                          <a:solidFill>
                            <a:srgbClr val="FFFFFF"/>
                          </a:solidFill>
                          <a:latin typeface="Calibri"/>
                        </a:rPr>
                        <a:t>Scale Metric</a:t>
                      </a:r>
                    </a:p>
                  </a:txBody>
                  <a:tcPr marL="45720" marR="45720" marT="18288" marB="18288">
                    <a:solidFill>
                      <a:srgbClr val="1F4690"/>
                    </a:solidFill>
                  </a:tcPr>
                </a:tc>
                <a:tc>
                  <a:txBody>
                    <a:bodyPr/>
                    <a:lstStyle/>
                    <a:p>
                      <a:pPr algn="r"/>
                      <a:r>
                        <a:rPr b="1" sz="1400">
                          <a:solidFill>
                            <a:srgbClr val="FFFFFF"/>
                          </a:solidFill>
                          <a:latin typeface="Calibri"/>
                        </a:rPr>
                        <a:t>Latest</a:t>
                      </a:r>
                    </a:p>
                  </a:txBody>
                  <a:tcPr marL="45720" marR="45720" marT="18288" marB="18288">
                    <a:solidFill>
                      <a:srgbClr val="1F4690"/>
                    </a:solidFill>
                  </a:tcPr>
                </a:tc>
                <a:tc>
                  <a:txBody>
                    <a:bodyPr/>
                    <a:lstStyle/>
                    <a:p>
                      <a:pPr algn="r"/>
                      <a:r>
                        <a:rPr b="1" sz="1400">
                          <a:solidFill>
                            <a:srgbClr val="FFFFFF"/>
                          </a:solidFill>
                          <a:latin typeface="Calibri"/>
                        </a:rPr>
                        <a:t>Notes</a:t>
                      </a:r>
                    </a:p>
                  </a:txBody>
                  <a:tcPr marL="45720" marR="45720" marT="18288" marB="18288">
                    <a:solidFill>
                      <a:srgbClr val="1F4690"/>
                    </a:solidFill>
                  </a:tcPr>
                </a:tc>
              </a:tr>
              <a:tr h="838200">
                <a:tc>
                  <a:txBody>
                    <a:bodyPr/>
                    <a:lstStyle/>
                    <a:p>
                      <a:r>
                        <a:rPr sz="1400" b="1">
                          <a:solidFill>
                            <a:srgbClr val="5A6573"/>
                          </a:solidFill>
                          <a:latin typeface="Calibri"/>
                        </a:rPr>
                        <a:t>Capital Markets (Broking + IB)</a:t>
                      </a:r>
                    </a:p>
                  </a:txBody>
                  <a:tcPr marL="45720" marR="45720" marT="18288" marB="18288">
                    <a:solidFill>
                      <a:srgbClr val="F4F6F9"/>
                    </a:solidFill>
                  </a:tcPr>
                </a:tc>
                <a:tc>
                  <a:txBody>
                    <a:bodyPr/>
                    <a:lstStyle/>
                    <a:p>
                      <a:pPr algn="r"/>
                      <a:r>
                        <a:rPr sz="1400">
                          <a:solidFill>
                            <a:srgbClr val="111111"/>
                          </a:solidFill>
                          <a:latin typeface="Calibri"/>
                        </a:rPr>
                        <a:t>Brokerage Rev YoY</a:t>
                      </a:r>
                    </a:p>
                  </a:txBody>
                  <a:tcPr marL="45720" marR="45720" marT="18288" marB="18288">
                    <a:solidFill>
                      <a:srgbClr val="F4F6F9"/>
                    </a:solidFill>
                  </a:tcPr>
                </a:tc>
                <a:tc>
                  <a:txBody>
                    <a:bodyPr/>
                    <a:lstStyle/>
                    <a:p>
                      <a:pPr algn="r"/>
                      <a:r>
                        <a:rPr sz="1400" b="1">
                          <a:solidFill>
                            <a:srgbClr val="B91C1C"/>
                          </a:solidFill>
                          <a:latin typeface="Calibri"/>
                        </a:rPr>
                        <a:t>-24%</a:t>
                      </a:r>
                    </a:p>
                  </a:txBody>
                  <a:tcPr marL="45720" marR="45720" marT="18288" marB="18288">
                    <a:solidFill>
                      <a:srgbClr val="F4F6F9"/>
                    </a:solidFill>
                  </a:tcPr>
                </a:tc>
                <a:tc>
                  <a:txBody>
                    <a:bodyPr/>
                    <a:lstStyle/>
                    <a:p>
                      <a:pPr algn="r"/>
                      <a:r>
                        <a:rPr sz="1400">
                          <a:solidFill>
                            <a:srgbClr val="111111"/>
                          </a:solidFill>
                          <a:latin typeface="Calibri"/>
                        </a:rPr>
                        <a:t>Equity, derivatives, commodity, currency trading + institutional services and investment banking. Brokerage now contributes only 30% of total revenue, down from historical highs.</a:t>
                      </a:r>
                    </a:p>
                  </a:txBody>
                  <a:tcPr marL="45720" marR="45720" marT="18288" marB="18288">
                    <a:solidFill>
                      <a:srgbClr val="F4F6F9"/>
                    </a:solidFill>
                  </a:tcPr>
                </a:tc>
              </a:tr>
              <a:tr h="838200">
                <a:tc>
                  <a:txBody>
                    <a:bodyPr/>
                    <a:lstStyle/>
                    <a:p>
                      <a:r>
                        <a:rPr sz="1400" b="1">
                          <a:solidFill>
                            <a:srgbClr val="5A6573"/>
                          </a:solidFill>
                          <a:latin typeface="Calibri"/>
                        </a:rPr>
                        <a:t>Asset Management</a:t>
                      </a:r>
                    </a:p>
                  </a:txBody>
                  <a:tcPr marL="45720" marR="45720" marT="18288" marB="18288">
                    <a:solidFill>
                      <a:srgbClr val="FFFFFF"/>
                    </a:solidFill>
                  </a:tcPr>
                </a:tc>
                <a:tc>
                  <a:txBody>
                    <a:bodyPr/>
                    <a:lstStyle/>
                    <a:p>
                      <a:pPr algn="r"/>
                      <a:r>
                        <a:rPr sz="1400">
                          <a:solidFill>
                            <a:srgbClr val="111111"/>
                          </a:solidFill>
                          <a:latin typeface="Calibri"/>
                        </a:rPr>
                        <a:t>AMC AUM</a:t>
                      </a:r>
                    </a:p>
                  </a:txBody>
                  <a:tcPr marL="45720" marR="45720" marT="18288" marB="18288">
                    <a:solidFill>
                      <a:srgbClr val="FFFFFF"/>
                    </a:solidFill>
                  </a:tcPr>
                </a:tc>
                <a:tc>
                  <a:txBody>
                    <a:bodyPr/>
                    <a:lstStyle/>
                    <a:p>
                      <a:pPr algn="r"/>
                      <a:r>
                        <a:rPr sz="1400">
                          <a:solidFill>
                            <a:srgbClr val="111111"/>
                          </a:solidFill>
                          <a:latin typeface="Calibri"/>
                        </a:rPr>
                        <a:t>INR 1.89L Cr (+33% YoY)</a:t>
                      </a:r>
                    </a:p>
                  </a:txBody>
                  <a:tcPr marL="45720" marR="45720" marT="18288" marB="18288">
                    <a:solidFill>
                      <a:srgbClr val="FFFFFF"/>
                    </a:solidFill>
                  </a:tcPr>
                </a:tc>
                <a:tc>
                  <a:txBody>
                    <a:bodyPr/>
                    <a:lstStyle/>
                    <a:p>
                      <a:pPr algn="r"/>
                      <a:r>
                        <a:rPr sz="1400">
                          <a:solidFill>
                            <a:srgbClr val="111111"/>
                          </a:solidFill>
                          <a:latin typeface="Calibri"/>
                        </a:rPr>
                        <a:t>Mutual funds and PMS. 91% of AUM outperforming benchmarks over 3 years.</a:t>
                      </a:r>
                    </a:p>
                  </a:txBody>
                  <a:tcPr marL="45720" marR="45720" marT="18288" marB="18288">
                    <a:solidFill>
                      <a:srgbClr val="FFFFFF"/>
                    </a:solidFill>
                  </a:tcPr>
                </a:tc>
              </a:tr>
              <a:tr h="838200">
                <a:tc>
                  <a:txBody>
                    <a:bodyPr/>
                    <a:lstStyle/>
                    <a:p>
                      <a:r>
                        <a:rPr sz="1400" b="1">
                          <a:solidFill>
                            <a:srgbClr val="5A6573"/>
                          </a:solidFill>
                          <a:latin typeface="Calibri"/>
                        </a:rPr>
                        <a:t>Private Wealth Management</a:t>
                      </a:r>
                    </a:p>
                  </a:txBody>
                  <a:tcPr marL="45720" marR="45720" marT="18288" marB="18288">
                    <a:solidFill>
                      <a:srgbClr val="F4F6F9"/>
                    </a:solidFill>
                  </a:tcPr>
                </a:tc>
                <a:tc>
                  <a:txBody>
                    <a:bodyPr/>
                    <a:lstStyle/>
                    <a:p>
                      <a:pPr algn="r"/>
                      <a:r>
                        <a:rPr sz="1400">
                          <a:solidFill>
                            <a:srgbClr val="111111"/>
                          </a:solidFill>
                          <a:latin typeface="Calibri"/>
                        </a:rPr>
                        <a:t>PWM AUM</a:t>
                      </a:r>
                    </a:p>
                  </a:txBody>
                  <a:tcPr marL="45720" marR="45720" marT="18288" marB="18288">
                    <a:solidFill>
                      <a:srgbClr val="F4F6F9"/>
                    </a:solidFill>
                  </a:tcPr>
                </a:tc>
                <a:tc>
                  <a:txBody>
                    <a:bodyPr/>
                    <a:lstStyle/>
                    <a:p>
                      <a:pPr algn="r"/>
                      <a:r>
                        <a:rPr sz="1400">
                          <a:solidFill>
                            <a:srgbClr val="111111"/>
                          </a:solidFill>
                          <a:latin typeface="Calibri"/>
                        </a:rPr>
                        <a:t>INR 1.96L Cr (+31% YoY)</a:t>
                      </a:r>
                    </a:p>
                  </a:txBody>
                  <a:tcPr marL="45720" marR="45720" marT="18288" marB="18288">
                    <a:solidFill>
                      <a:srgbClr val="F4F6F9"/>
                    </a:solidFill>
                  </a:tcPr>
                </a:tc>
                <a:tc>
                  <a:txBody>
                    <a:bodyPr/>
                    <a:lstStyle/>
                    <a:p>
                      <a:pPr algn="r"/>
                      <a:r>
                        <a:rPr sz="1400">
                          <a:solidFill>
                            <a:srgbClr val="111111"/>
                          </a:solidFill>
                          <a:latin typeface="Calibri"/>
                        </a:rPr>
                        <a:t>HNI/UHNI advisory. Family count up 41% YoY.</a:t>
                      </a:r>
                    </a:p>
                  </a:txBody>
                  <a:tcPr marL="45720" marR="45720" marT="18288" marB="18288">
                    <a:solidFill>
                      <a:srgbClr val="F4F6F9"/>
                    </a:solidFill>
                  </a:tcPr>
                </a:tc>
              </a:tr>
              <a:tr h="838200">
                <a:tc>
                  <a:txBody>
                    <a:bodyPr/>
                    <a:lstStyle/>
                    <a:p>
                      <a:r>
                        <a:rPr sz="1400" b="1">
                          <a:solidFill>
                            <a:srgbClr val="5A6573"/>
                          </a:solidFill>
                          <a:latin typeface="Calibri"/>
                        </a:rPr>
                        <a:t>Housing Finance</a:t>
                      </a:r>
                    </a:p>
                  </a:txBody>
                  <a:tcPr marL="45720" marR="45720" marT="18288" marB="18288">
                    <a:solidFill>
                      <a:srgbClr val="FFFFFF"/>
                    </a:solidFill>
                  </a:tcPr>
                </a:tc>
                <a:tc>
                  <a:txBody>
                    <a:bodyPr/>
                    <a:lstStyle/>
                    <a:p>
                      <a:pPr algn="r"/>
                      <a:r>
                        <a:rPr sz="1400">
                          <a:solidFill>
                            <a:srgbClr val="111111"/>
                          </a:solidFill>
                          <a:latin typeface="Calibri"/>
                        </a:rPr>
                        <a:t>Loan Book</a:t>
                      </a:r>
                    </a:p>
                  </a:txBody>
                  <a:tcPr marL="45720" marR="45720" marT="18288" marB="18288">
                    <a:solidFill>
                      <a:srgbClr val="FFFFFF"/>
                    </a:solidFill>
                  </a:tcPr>
                </a:tc>
                <a:tc>
                  <a:txBody>
                    <a:bodyPr/>
                    <a:lstStyle/>
                    <a:p>
                      <a:pPr algn="r"/>
                      <a:r>
                        <a:rPr sz="1400">
                          <a:solidFill>
                            <a:srgbClr val="111111"/>
                          </a:solidFill>
                          <a:latin typeface="Calibri"/>
                        </a:rPr>
                        <a:t>INR 6,630 Cr (+25% YoY)</a:t>
                      </a:r>
                    </a:p>
                  </a:txBody>
                  <a:tcPr marL="45720" marR="45720" marT="18288" marB="18288">
                    <a:solidFill>
                      <a:srgbClr val="FFFFFF"/>
                    </a:solidFill>
                  </a:tcPr>
                </a:tc>
                <a:tc>
                  <a:txBody>
                    <a:bodyPr/>
                    <a:lstStyle/>
                    <a:p>
                      <a:pPr algn="r"/>
                      <a:r>
                        <a:rPr sz="1400">
                          <a:solidFill>
                            <a:srgbClr val="111111"/>
                          </a:solidFill>
                          <a:latin typeface="Calibri"/>
                        </a:rPr>
                        <a:t>Retail mortgage lending — affordable and mid-segment.</a:t>
                      </a:r>
                    </a:p>
                  </a:txBody>
                  <a:tcPr marL="45720" marR="45720" marT="18288" marB="18288">
                    <a:solidFill>
                      <a:srgbClr val="FFFFFF"/>
                    </a:solidFill>
                  </a:tcPr>
                </a:tc>
              </a:tr>
              <a:tr h="838200">
                <a:tc>
                  <a:txBody>
                    <a:bodyPr/>
                    <a:lstStyle/>
                    <a:p>
                      <a:r>
                        <a:rPr sz="1400" b="1">
                          <a:solidFill>
                            <a:srgbClr val="5A6573"/>
                          </a:solidFill>
                          <a:latin typeface="Calibri"/>
                        </a:rPr>
                        <a:t>Alternative Investments</a:t>
                      </a:r>
                    </a:p>
                  </a:txBody>
                  <a:tcPr marL="45720" marR="45720" marT="18288" marB="18288">
                    <a:solidFill>
                      <a:srgbClr val="F4F6F9"/>
                    </a:solidFill>
                  </a:tcPr>
                </a:tc>
                <a:tc>
                  <a:txBody>
                    <a:bodyPr/>
                    <a:lstStyle/>
                    <a:p>
                      <a:pPr algn="r"/>
                      <a:r>
                        <a:rPr sz="1400">
                          <a:solidFill>
                            <a:srgbClr val="111111"/>
                          </a:solidFill>
                          <a:latin typeface="Calibri"/>
                        </a:rPr>
                        <a:t>Carry Income</a:t>
                      </a:r>
                    </a:p>
                  </a:txBody>
                  <a:tcPr marL="45720" marR="45720" marT="18288" marB="18288">
                    <a:solidFill>
                      <a:srgbClr val="F4F6F9"/>
                    </a:solidFill>
                  </a:tcPr>
                </a:tc>
                <a:tc>
                  <a:txBody>
                    <a:bodyPr/>
                    <a:lstStyle/>
                    <a:p>
                      <a:pPr algn="r"/>
                      <a:r>
                        <a:rPr sz="1400">
                          <a:solidFill>
                            <a:srgbClr val="111111"/>
                          </a:solidFill>
                          <a:latin typeface="Calibri"/>
                        </a:rPr>
                        <a:t>INR 58 Cr recurring</a:t>
                      </a:r>
                    </a:p>
                  </a:txBody>
                  <a:tcPr marL="45720" marR="45720" marT="18288" marB="18288">
                    <a:solidFill>
                      <a:srgbClr val="F4F6F9"/>
                    </a:solidFill>
                  </a:tcPr>
                </a:tc>
                <a:tc>
                  <a:txBody>
                    <a:bodyPr/>
                    <a:lstStyle/>
                    <a:p>
                      <a:pPr algn="r"/>
                      <a:r>
                        <a:rPr sz="1400">
                          <a:solidFill>
                            <a:srgbClr val="111111"/>
                          </a:solidFill>
                          <a:latin typeface="Calibri"/>
                        </a:rPr>
                        <a:t>Private credit, real estate, alternatives.</a:t>
                      </a:r>
                    </a:p>
                  </a:txBody>
                  <a:tcPr marL="45720" marR="45720" marT="18288" marB="18288">
                    <a:solidFill>
                      <a:srgbClr val="F4F6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Management Analysis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10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10</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Analysis</a:t>
            </a:r>
          </a:p>
        </p:txBody>
      </p:sp>
      <p:sp>
        <p:nvSpPr>
          <p:cNvPr id="15" name="Rectangle 14"/>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Founder-led leadership with deep institutional DNA.</a:t>
            </a:r>
          </a:p>
        </p:txBody>
      </p:sp>
      <p:graphicFrame>
        <p:nvGraphicFramePr>
          <p:cNvPr id="17" name="Table 16"/>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400">
                          <a:solidFill>
                            <a:srgbClr val="FFFFFF"/>
                          </a:solidFill>
                          <a:latin typeface="Calibri"/>
                        </a:rPr>
                        <a:t>Name</a:t>
                      </a:r>
                    </a:p>
                  </a:txBody>
                  <a:tcPr marL="45720" marR="45720" marT="18288" marB="18288">
                    <a:solidFill>
                      <a:srgbClr val="1F4690"/>
                    </a:solidFill>
                  </a:tcPr>
                </a:tc>
                <a:tc>
                  <a:txBody>
                    <a:bodyPr/>
                    <a:lstStyle/>
                    <a:p>
                      <a:pPr algn="r"/>
                      <a:r>
                        <a:rPr b="1" sz="1400">
                          <a:solidFill>
                            <a:srgbClr val="FFFFFF"/>
                          </a:solidFill>
                          <a:latin typeface="Calibri"/>
                        </a:rPr>
                        <a:t>Role</a:t>
                      </a:r>
                    </a:p>
                  </a:txBody>
                  <a:tcPr marL="45720" marR="45720" marT="18288" marB="18288">
                    <a:solidFill>
                      <a:srgbClr val="1F4690"/>
                    </a:solidFill>
                  </a:tcPr>
                </a:tc>
                <a:tc>
                  <a:txBody>
                    <a:bodyPr/>
                    <a:lstStyle/>
                    <a:p>
                      <a:pPr algn="r"/>
                      <a:r>
                        <a:rPr b="1" sz="1400">
                          <a:solidFill>
                            <a:srgbClr val="FFFFFF"/>
                          </a:solidFill>
                          <a:latin typeface="Calibri"/>
                        </a:rPr>
                        <a:t>Background</a:t>
                      </a:r>
                    </a:p>
                  </a:txBody>
                  <a:tcPr marL="45720" marR="45720" marT="18288" marB="18288">
                    <a:solidFill>
                      <a:srgbClr val="1F4690"/>
                    </a:solidFill>
                  </a:tcPr>
                </a:tc>
              </a:tr>
              <a:tr h="850392">
                <a:tc>
                  <a:txBody>
                    <a:bodyPr/>
                    <a:lstStyle/>
                    <a:p>
                      <a:r>
                        <a:rPr sz="1400" b="1">
                          <a:solidFill>
                            <a:srgbClr val="5A6573"/>
                          </a:solidFill>
                          <a:latin typeface="Calibri"/>
                        </a:rPr>
                        <a:t>Raamdeo Agrawal</a:t>
                      </a:r>
                    </a:p>
                  </a:txBody>
                  <a:tcPr marL="45720" marR="45720" marT="18288" marB="18288">
                    <a:solidFill>
                      <a:srgbClr val="F4F6F9"/>
                    </a:solidFill>
                  </a:tcPr>
                </a:tc>
                <a:tc>
                  <a:txBody>
                    <a:bodyPr/>
                    <a:lstStyle/>
                    <a:p>
                      <a:pPr algn="r"/>
                      <a:r>
                        <a:rPr sz="1400">
                          <a:solidFill>
                            <a:srgbClr val="111111"/>
                          </a:solidFill>
                          <a:latin typeface="Calibri"/>
                        </a:rPr>
                        <a:t>Chairman, MOFSL &amp; Chairman, AMC</a:t>
                      </a:r>
                    </a:p>
                  </a:txBody>
                  <a:tcPr marL="45720" marR="45720" marT="18288" marB="18288">
                    <a:solidFill>
                      <a:srgbClr val="F4F6F9"/>
                    </a:solidFill>
                  </a:tcPr>
                </a:tc>
                <a:tc>
                  <a:txBody>
                    <a:bodyPr/>
                    <a:lstStyle/>
                    <a:p>
                      <a:pPr algn="r"/>
                      <a:r>
                        <a:rPr sz="14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45720" marR="45720" marT="18288" marB="18288">
                    <a:solidFill>
                      <a:srgbClr val="F4F6F9"/>
                    </a:solidFill>
                  </a:tcPr>
                </a:tc>
              </a:tr>
              <a:tr h="850392">
                <a:tc>
                  <a:txBody>
                    <a:bodyPr/>
                    <a:lstStyle/>
                    <a:p>
                      <a:r>
                        <a:rPr sz="1400" b="1">
                          <a:solidFill>
                            <a:srgbClr val="5A6573"/>
                          </a:solidFill>
                          <a:latin typeface="Calibri"/>
                        </a:rPr>
                        <a:t>Motilal Oswal</a:t>
                      </a:r>
                    </a:p>
                  </a:txBody>
                  <a:tcPr marL="45720" marR="45720" marT="18288" marB="18288">
                    <a:solidFill>
                      <a:srgbClr val="FFFFFF"/>
                    </a:solidFill>
                  </a:tcPr>
                </a:tc>
                <a:tc>
                  <a:txBody>
                    <a:bodyPr/>
                    <a:lstStyle/>
                    <a:p>
                      <a:pPr algn="r"/>
                      <a:r>
                        <a:rPr sz="1400">
                          <a:solidFill>
                            <a:srgbClr val="111111"/>
                          </a:solidFill>
                          <a:latin typeface="Calibri"/>
                        </a:rPr>
                        <a:t>Founder, Chairman &amp; MD</a:t>
                      </a:r>
                    </a:p>
                  </a:txBody>
                  <a:tcPr marL="45720" marR="45720" marT="18288" marB="18288">
                    <a:solidFill>
                      <a:srgbClr val="FFFFFF"/>
                    </a:solidFill>
                  </a:tcPr>
                </a:tc>
                <a:tc>
                  <a:txBody>
                    <a:bodyPr/>
                    <a:lstStyle/>
                    <a:p>
                      <a:pPr algn="r"/>
                      <a:r>
                        <a:rPr sz="14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45720" marR="45720" marT="18288" marB="18288">
                    <a:solidFill>
                      <a:srgbClr val="FFFFFF"/>
                    </a:solidFill>
                  </a:tcPr>
                </a:tc>
              </a:tr>
              <a:tr h="850392">
                <a:tc>
                  <a:txBody>
                    <a:bodyPr/>
                    <a:lstStyle/>
                    <a:p>
                      <a:r>
                        <a:rPr sz="1400" b="1">
                          <a:solidFill>
                            <a:srgbClr val="5A6573"/>
                          </a:solidFill>
                          <a:latin typeface="Calibri"/>
                        </a:rPr>
                        <a:t>Navin Agarwal</a:t>
                      </a:r>
                    </a:p>
                  </a:txBody>
                  <a:tcPr marL="45720" marR="45720" marT="18288" marB="18288">
                    <a:solidFill>
                      <a:srgbClr val="F4F6F9"/>
                    </a:solidFill>
                  </a:tcPr>
                </a:tc>
                <a:tc>
                  <a:txBody>
                    <a:bodyPr/>
                    <a:lstStyle/>
                    <a:p>
                      <a:pPr algn="r"/>
                      <a:r>
                        <a:rPr sz="1400">
                          <a:solidFill>
                            <a:srgbClr val="111111"/>
                          </a:solidFill>
                          <a:latin typeface="Calibri"/>
                        </a:rPr>
                        <a:t>Executive Board — Strategy &amp; Capital Allocation</a:t>
                      </a:r>
                    </a:p>
                  </a:txBody>
                  <a:tcPr marL="45720" marR="45720" marT="18288" marB="18288">
                    <a:solidFill>
                      <a:srgbClr val="F4F6F9"/>
                    </a:solidFill>
                  </a:tcPr>
                </a:tc>
                <a:tc>
                  <a:txBody>
                    <a:bodyPr/>
                    <a:lstStyle/>
                    <a:p>
                      <a:pPr algn="r"/>
                      <a:r>
                        <a:rPr sz="1400">
                          <a:solidFill>
                            <a:srgbClr val="111111"/>
                          </a:solidFill>
                          <a:latin typeface="Calibri"/>
                        </a:rPr>
                        <a:t>Joined 2000. Drives business strategy and capital allocation across the Group, building market-leading positions through disciplined deployment.</a:t>
                      </a:r>
                    </a:p>
                  </a:txBody>
                  <a:tcPr marL="45720" marR="45720" marT="18288" marB="18288">
                    <a:solidFill>
                      <a:srgbClr val="F4F6F9"/>
                    </a:solidFill>
                  </a:tcPr>
                </a:tc>
              </a:tr>
              <a:tr h="850392">
                <a:tc>
                  <a:txBody>
                    <a:bodyPr/>
                    <a:lstStyle/>
                    <a:p>
                      <a:r>
                        <a:rPr sz="1400" b="1">
                          <a:solidFill>
                            <a:srgbClr val="5A6573"/>
                          </a:solidFill>
                          <a:latin typeface="Calibri"/>
                        </a:rPr>
                        <a:t>Ajay Menon</a:t>
                      </a:r>
                    </a:p>
                  </a:txBody>
                  <a:tcPr marL="45720" marR="45720" marT="18288" marB="18288">
                    <a:solidFill>
                      <a:srgbClr val="FFFFFF"/>
                    </a:solidFill>
                  </a:tcPr>
                </a:tc>
                <a:tc>
                  <a:txBody>
                    <a:bodyPr/>
                    <a:lstStyle/>
                    <a:p>
                      <a:pPr algn="r"/>
                      <a:r>
                        <a:rPr sz="1400">
                          <a:solidFill>
                            <a:srgbClr val="111111"/>
                          </a:solidFill>
                          <a:latin typeface="Calibri"/>
                        </a:rPr>
                        <a:t>Executive — Operations, Compliance, Risk &amp; Technology</a:t>
                      </a:r>
                    </a:p>
                  </a:txBody>
                  <a:tcPr marL="45720" marR="45720" marT="18288" marB="18288">
                    <a:solidFill>
                      <a:srgbClr val="FFFFFF"/>
                    </a:solidFill>
                  </a:tcPr>
                </a:tc>
                <a:tc>
                  <a:txBody>
                    <a:bodyPr/>
                    <a:lstStyle/>
                    <a:p>
                      <a:pPr algn="r"/>
                      <a:r>
                        <a:rPr sz="1400">
                          <a:solidFill>
                            <a:srgbClr val="111111"/>
                          </a:solidFill>
                          <a:latin typeface="Calibri"/>
                        </a:rPr>
                        <a:t>Joined 1998. 27+ years in Indian capital markets. Cornerstone of operational excellence and technology initiatives across the Group.</a:t>
                      </a:r>
                    </a:p>
                  </a:txBody>
                  <a:tcPr marL="45720" marR="45720" marT="18288" marB="18288">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Corporate Governance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11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11</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Corporate Governance</a:t>
            </a:r>
          </a:p>
        </p:txBody>
      </p:sp>
      <p:sp>
        <p:nvSpPr>
          <p:cNvPr id="15" name="Rectangle 14"/>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417320"/>
            <a:ext cx="11277295" cy="822960"/>
          </a:xfrm>
          <a:prstGeom prst="rect">
            <a:avLst/>
          </a:prstGeom>
          <a:noFill/>
        </p:spPr>
        <p:txBody>
          <a:bodyPr wrap="square" anchor="t" lIns="45720" rIns="45720" tIns="18288" bIns="18288">
            <a:spAutoFit/>
          </a:bodyPr>
          <a:lstStyle/>
          <a:p>
            <a:r>
              <a:rPr sz="12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7" name="Table 16"/>
          <p:cNvGraphicFramePr>
            <a:graphicFrameLocks noGrp="1"/>
          </p:cNvGraphicFramePr>
          <p:nvPr/>
        </p:nvGraphicFramePr>
        <p:xfrm>
          <a:off x="457200" y="2377440"/>
          <a:ext cx="11277294" cy="4069080"/>
        </p:xfrm>
        <a:graphic>
          <a:graphicData uri="http://schemas.openxmlformats.org/drawingml/2006/table">
            <a:tbl>
              <a:tblPr firstRow="1" bandRow="1">
                <a:tableStyleId>{5C22544A-7EE6-4342-B048-85BDC9FD1C3A}</a:tableStyleId>
              </a:tblPr>
              <a:tblGrid>
                <a:gridCol w="3759098"/>
                <a:gridCol w="3759098"/>
                <a:gridCol w="3759098"/>
              </a:tblGrid>
              <a:tr h="678180">
                <a:tc>
                  <a:txBody>
                    <a:bodyPr/>
                    <a:lstStyle/>
                    <a:p>
                      <a:r>
                        <a:rPr b="1" sz="1400">
                          <a:solidFill>
                            <a:srgbClr val="FFFFFF"/>
                          </a:solidFill>
                          <a:latin typeface="Calibri"/>
                        </a:rPr>
                        <a:t>Matter</a:t>
                      </a:r>
                    </a:p>
                  </a:txBody>
                  <a:tcPr marL="45720" marR="45720" marT="18288" marB="18288">
                    <a:solidFill>
                      <a:srgbClr val="1F4690"/>
                    </a:solidFill>
                  </a:tcPr>
                </a:tc>
                <a:tc>
                  <a:txBody>
                    <a:bodyPr/>
                    <a:lstStyle/>
                    <a:p>
                      <a:pPr algn="r"/>
                      <a:r>
                        <a:rPr b="1" sz="1400">
                          <a:solidFill>
                            <a:srgbClr val="FFFFFF"/>
                          </a:solidFill>
                          <a:latin typeface="Calibri"/>
                        </a:rPr>
                        <a:t>Description</a:t>
                      </a:r>
                    </a:p>
                  </a:txBody>
                  <a:tcPr marL="45720" marR="45720" marT="18288" marB="18288">
                    <a:solidFill>
                      <a:srgbClr val="1F4690"/>
                    </a:solidFill>
                  </a:tcPr>
                </a:tc>
                <a:tc>
                  <a:txBody>
                    <a:bodyPr/>
                    <a:lstStyle/>
                    <a:p>
                      <a:pPr algn="r"/>
                      <a:r>
                        <a:rPr b="1" sz="1400">
                          <a:solidFill>
                            <a:srgbClr val="FFFFFF"/>
                          </a:solidFill>
                          <a:latin typeface="Calibri"/>
                        </a:rPr>
                        <a:t>Severity</a:t>
                      </a:r>
                    </a:p>
                  </a:txBody>
                  <a:tcPr marL="45720" marR="45720" marT="18288" marB="18288">
                    <a:solidFill>
                      <a:srgbClr val="1F4690"/>
                    </a:solidFill>
                  </a:tcPr>
                </a:tc>
              </a:tr>
              <a:tr h="678180">
                <a:tc>
                  <a:txBody>
                    <a:bodyPr/>
                    <a:lstStyle/>
                    <a:p>
                      <a:r>
                        <a:rPr sz="1400" b="1">
                          <a:solidFill>
                            <a:srgbClr val="5A6573"/>
                          </a:solidFill>
                          <a:latin typeface="Calibri"/>
                        </a:rPr>
                        <a:t>SEBI — Margin Reporting Violations</a:t>
                      </a:r>
                    </a:p>
                  </a:txBody>
                  <a:tcPr marL="45720" marR="45720" marT="18288" marB="18288">
                    <a:solidFill>
                      <a:srgbClr val="F4F6F9"/>
                    </a:solidFill>
                  </a:tcPr>
                </a:tc>
                <a:tc>
                  <a:txBody>
                    <a:bodyPr/>
                    <a:lstStyle/>
                    <a:p>
                      <a:pPr algn="r"/>
                      <a:r>
                        <a:rPr sz="1400">
                          <a:solidFill>
                            <a:srgbClr val="111111"/>
                          </a:solidFill>
                          <a:latin typeface="Calibri"/>
                        </a:rPr>
                        <a:t>INR 7 lakh penalty for margin reporting, collection violations, and other regulatory lapses found during inspection.</a:t>
                      </a:r>
                    </a:p>
                  </a:txBody>
                  <a:tcPr marL="45720" marR="45720" marT="18288" marB="18288">
                    <a:solidFill>
                      <a:srgbClr val="F4F6F9"/>
                    </a:solidFill>
                  </a:tcPr>
                </a:tc>
                <a:tc>
                  <a:txBody>
                    <a:bodyPr/>
                    <a:lstStyle/>
                    <a:p>
                      <a:pPr algn="r"/>
                      <a:r>
                        <a:rPr sz="1400">
                          <a:solidFill>
                            <a:srgbClr val="111111"/>
                          </a:solidFill>
                          <a:latin typeface="Calibri"/>
                        </a:rPr>
                        <a:t>Low</a:t>
                      </a:r>
                    </a:p>
                  </a:txBody>
                  <a:tcPr marL="45720" marR="45720" marT="18288" marB="18288">
                    <a:solidFill>
                      <a:srgbClr val="F4F6F9"/>
                    </a:solidFill>
                  </a:tcPr>
                </a:tc>
              </a:tr>
              <a:tr h="678180">
                <a:tc>
                  <a:txBody>
                    <a:bodyPr/>
                    <a:lstStyle/>
                    <a:p>
                      <a:r>
                        <a:rPr sz="1400" b="1">
                          <a:solidFill>
                            <a:srgbClr val="5A6573"/>
                          </a:solidFill>
                          <a:latin typeface="Calibri"/>
                        </a:rPr>
                        <a:t>SEBI — Client Fund Misutilization (2022)</a:t>
                      </a:r>
                    </a:p>
                  </a:txBody>
                  <a:tcPr marL="45720" marR="45720" marT="18288" marB="18288">
                    <a:solidFill>
                      <a:srgbClr val="FFFFFF"/>
                    </a:solidFill>
                  </a:tcPr>
                </a:tc>
                <a:tc>
                  <a:txBody>
                    <a:bodyPr/>
                    <a:lstStyle/>
                    <a:p>
                      <a:pPr algn="r"/>
                      <a:r>
                        <a:rPr sz="1400">
                          <a:solidFill>
                            <a:srgbClr val="111111"/>
                          </a:solidFill>
                          <a:latin typeface="Calibri"/>
                        </a:rPr>
                        <a:t>INR 25 lakh fine for misutilization of client funds and inaccurate margin reporting.</a:t>
                      </a:r>
                    </a:p>
                  </a:txBody>
                  <a:tcPr marL="45720" marR="45720" marT="18288" marB="18288">
                    <a:solidFill>
                      <a:srgbClr val="FFFFFF"/>
                    </a:solidFill>
                  </a:tcPr>
                </a:tc>
                <a:tc>
                  <a:txBody>
                    <a:bodyPr/>
                    <a:lstStyle/>
                    <a:p>
                      <a:pPr algn="r"/>
                      <a:r>
                        <a:rPr sz="1400">
                          <a:solidFill>
                            <a:srgbClr val="111111"/>
                          </a:solidFill>
                          <a:latin typeface="Calibri"/>
                        </a:rPr>
                        <a:t>Medium</a:t>
                      </a:r>
                    </a:p>
                  </a:txBody>
                  <a:tcPr marL="45720" marR="45720" marT="18288" marB="18288">
                    <a:solidFill>
                      <a:srgbClr val="FFFFFF"/>
                    </a:solidFill>
                  </a:tcPr>
                </a:tc>
              </a:tr>
              <a:tr h="678180">
                <a:tc>
                  <a:txBody>
                    <a:bodyPr/>
                    <a:lstStyle/>
                    <a:p>
                      <a:r>
                        <a:rPr sz="1400" b="1">
                          <a:solidFill>
                            <a:srgbClr val="5A6573"/>
                          </a:solidFill>
                          <a:latin typeface="Calibri"/>
                        </a:rPr>
                        <a:t>NSEL — Misselling Accusations</a:t>
                      </a:r>
                    </a:p>
                  </a:txBody>
                  <a:tcPr marL="45720" marR="45720" marT="18288" marB="18288">
                    <a:solidFill>
                      <a:srgbClr val="F4F6F9"/>
                    </a:solidFill>
                  </a:tcPr>
                </a:tc>
                <a:tc>
                  <a:txBody>
                    <a:bodyPr/>
                    <a:lstStyle/>
                    <a:p>
                      <a:pPr algn="r"/>
                      <a:r>
                        <a:rPr sz="1400">
                          <a:solidFill>
                            <a:srgbClr val="111111"/>
                          </a:solidFill>
                          <a:latin typeface="Calibri"/>
                        </a:rPr>
                        <a:t>Accused alongside other top brokers of misselling NSEL contracts, KYC manipulation, client code modification, and illegal transactions per SFIO/EOW findings.</a:t>
                      </a:r>
                    </a:p>
                  </a:txBody>
                  <a:tcPr marL="45720" marR="45720" marT="18288" marB="18288">
                    <a:solidFill>
                      <a:srgbClr val="F4F6F9"/>
                    </a:solidFill>
                  </a:tcPr>
                </a:tc>
                <a:tc>
                  <a:txBody>
                    <a:bodyPr/>
                    <a:lstStyle/>
                    <a:p>
                      <a:pPr algn="r"/>
                      <a:r>
                        <a:rPr sz="1400">
                          <a:solidFill>
                            <a:srgbClr val="111111"/>
                          </a:solidFill>
                          <a:latin typeface="Calibri"/>
                        </a:rPr>
                        <a:t>High (Historical)</a:t>
                      </a:r>
                    </a:p>
                  </a:txBody>
                  <a:tcPr marL="45720" marR="45720" marT="18288" marB="18288">
                    <a:solidFill>
                      <a:srgbClr val="F4F6F9"/>
                    </a:solidFill>
                  </a:tcPr>
                </a:tc>
              </a:tr>
              <a:tr h="678180">
                <a:tc>
                  <a:txBody>
                    <a:bodyPr/>
                    <a:lstStyle/>
                    <a:p>
                      <a:r>
                        <a:rPr sz="1400" b="1">
                          <a:solidFill>
                            <a:srgbClr val="5A6573"/>
                          </a:solidFill>
                          <a:latin typeface="Calibri"/>
                        </a:rPr>
                        <a:t>SEBI — Not Fit and Proper (Commodities)</a:t>
                      </a:r>
                    </a:p>
                  </a:txBody>
                  <a:tcPr marL="45720" marR="45720" marT="18288" marB="18288">
                    <a:solidFill>
                      <a:srgbClr val="FFFFFF"/>
                    </a:solidFill>
                  </a:tcPr>
                </a:tc>
                <a:tc>
                  <a:txBody>
                    <a:bodyPr/>
                    <a:lstStyle/>
                    <a:p>
                      <a:pPr algn="r"/>
                      <a:r>
                        <a:rPr sz="1400">
                          <a:solidFill>
                            <a:srgbClr val="111111"/>
                          </a:solidFill>
                          <a:latin typeface="Calibri"/>
                        </a:rPr>
                        <a:t>Declared 'not fit and proper' as commodity derivative broker in Feb 2019 based on SFIO/EOW recommendations.</a:t>
                      </a:r>
                    </a:p>
                  </a:txBody>
                  <a:tcPr marL="45720" marR="45720" marT="18288" marB="18288">
                    <a:solidFill>
                      <a:srgbClr val="FFFFFF"/>
                    </a:solidFill>
                  </a:tcPr>
                </a:tc>
                <a:tc>
                  <a:txBody>
                    <a:bodyPr/>
                    <a:lstStyle/>
                    <a:p>
                      <a:pPr algn="r"/>
                      <a:r>
                        <a:rPr sz="1400">
                          <a:solidFill>
                            <a:srgbClr val="111111"/>
                          </a:solidFill>
                          <a:latin typeface="Calibri"/>
                        </a:rPr>
                        <a:t>High (Historical)</a:t>
                      </a:r>
                    </a:p>
                  </a:txBody>
                  <a:tcPr marL="45720" marR="45720" marT="18288" marB="18288">
                    <a:solidFill>
                      <a:srgbClr val="FFFFFF"/>
                    </a:solidFill>
                  </a:tcPr>
                </a:tc>
              </a:tr>
              <a:tr h="678180">
                <a:tc>
                  <a:txBody>
                    <a:bodyPr/>
                    <a:lstStyle/>
                    <a:p>
                      <a:r>
                        <a:rPr sz="1400" b="1">
                          <a:solidFill>
                            <a:srgbClr val="5A6573"/>
                          </a:solidFill>
                          <a:latin typeface="Calibri"/>
                        </a:rPr>
                        <a:t>Unauthorized Terminal Operations</a:t>
                      </a:r>
                    </a:p>
                  </a:txBody>
                  <a:tcPr marL="45720" marR="45720" marT="18288" marB="18288">
                    <a:solidFill>
                      <a:srgbClr val="F4F6F9"/>
                    </a:solidFill>
                  </a:tcPr>
                </a:tc>
                <a:tc>
                  <a:txBody>
                    <a:bodyPr/>
                    <a:lstStyle/>
                    <a:p>
                      <a:pPr algn="r"/>
                      <a:r>
                        <a:rPr sz="1400">
                          <a:solidFill>
                            <a:srgbClr val="111111"/>
                          </a:solidFill>
                          <a:latin typeface="Calibri"/>
                        </a:rPr>
                        <a:t>13 NSE and 9 BSE terminals operating from undeclared locations including an unreported branch in Delhi.</a:t>
                      </a:r>
                    </a:p>
                  </a:txBody>
                  <a:tcPr marL="45720" marR="45720" marT="18288" marB="18288">
                    <a:solidFill>
                      <a:srgbClr val="F4F6F9"/>
                    </a:solidFill>
                  </a:tcPr>
                </a:tc>
                <a:tc>
                  <a:txBody>
                    <a:bodyPr/>
                    <a:lstStyle/>
                    <a:p>
                      <a:pPr algn="r"/>
                      <a:r>
                        <a:rPr sz="1400">
                          <a:solidFill>
                            <a:srgbClr val="111111"/>
                          </a:solidFill>
                          <a:latin typeface="Calibri"/>
                        </a:rPr>
                        <a:t>Medium</a:t>
                      </a:r>
                    </a:p>
                  </a:txBody>
                  <a:tcPr marL="45720" marR="45720" marT="18288" marB="18288">
                    <a:solidFill>
                      <a:srgbClr val="F4F6F9"/>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Earnings Forecast</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12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12</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Earnings Forecast</a:t>
            </a:r>
          </a:p>
        </p:txBody>
      </p:sp>
      <p:sp>
        <p:nvSpPr>
          <p:cNvPr id="15" name="Rectangle 14"/>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6" name="Table 15"/>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5638647"/>
                <a:gridCol w="5638647"/>
              </a:tblGrid>
              <a:tr h="628650">
                <a:tc>
                  <a:txBody>
                    <a:bodyPr/>
                    <a:lstStyle/>
                    <a:p>
                      <a:r>
                        <a:rPr b="1" sz="1400">
                          <a:solidFill>
                            <a:srgbClr val="FFFFFF"/>
                          </a:solidFill>
                          <a:latin typeface="Calibri"/>
                        </a:rPr>
                        <a:t>Period</a:t>
                      </a:r>
                    </a:p>
                  </a:txBody>
                  <a:tcPr marL="45720" marR="45720" marT="18288" marB="18288">
                    <a:solidFill>
                      <a:srgbClr val="1F4690"/>
                    </a:solidFill>
                  </a:tcPr>
                </a:tc>
                <a:tc>
                  <a:txBody>
                    <a:bodyPr/>
                    <a:lstStyle/>
                    <a:p>
                      <a:pPr algn="r"/>
                      <a:r>
                        <a:rPr b="1" sz="1400">
                          <a:solidFill>
                            <a:srgbClr val="FFFFFF"/>
                          </a:solidFill>
                          <a:latin typeface="Calibri"/>
                        </a:rPr>
                        <a:t>Revenue</a:t>
                      </a:r>
                    </a:p>
                  </a:txBody>
                  <a:tcPr marL="45720" marR="45720" marT="18288" marB="18288">
                    <a:solidFill>
                      <a:srgbClr val="1F4690"/>
                    </a:solidFill>
                  </a:tcPr>
                </a:tc>
              </a:tr>
              <a:tr h="628650">
                <a:tc>
                  <a:txBody>
                    <a:bodyPr/>
                    <a:lstStyle/>
                    <a:p>
                      <a:r>
                        <a:rPr sz="1400" b="1">
                          <a:solidFill>
                            <a:srgbClr val="5A6573"/>
                          </a:solidFill>
                          <a:latin typeface="Calibri"/>
                        </a:rPr>
                        <a:t>FY22A</a:t>
                      </a:r>
                    </a:p>
                  </a:txBody>
                  <a:tcPr marL="45720" marR="45720" marT="18288" marB="18288">
                    <a:solidFill>
                      <a:srgbClr val="F4F6F9"/>
                    </a:solidFill>
                  </a:tcPr>
                </a:tc>
                <a:tc>
                  <a:txBody>
                    <a:bodyPr/>
                    <a:lstStyle/>
                    <a:p>
                      <a:pPr algn="r"/>
                      <a:r>
                        <a:rPr sz="1400">
                          <a:solidFill>
                            <a:srgbClr val="111111"/>
                          </a:solidFill>
                          <a:latin typeface="Calibri"/>
                        </a:rPr>
                        <a:t>₹4,298.0 Cr</a:t>
                      </a:r>
                    </a:p>
                  </a:txBody>
                  <a:tcPr marL="45720" marR="45720" marT="18288" marB="18288">
                    <a:solidFill>
                      <a:srgbClr val="F4F6F9"/>
                    </a:solidFill>
                  </a:tcPr>
                </a:tc>
              </a:tr>
              <a:tr h="628650">
                <a:tc>
                  <a:txBody>
                    <a:bodyPr/>
                    <a:lstStyle/>
                    <a:p>
                      <a:r>
                        <a:rPr sz="1400" b="1">
                          <a:solidFill>
                            <a:srgbClr val="5A6573"/>
                          </a:solidFill>
                          <a:latin typeface="Calibri"/>
                        </a:rPr>
                        <a:t>FY23A</a:t>
                      </a:r>
                    </a:p>
                  </a:txBody>
                  <a:tcPr marL="45720" marR="45720" marT="18288" marB="18288">
                    <a:solidFill>
                      <a:srgbClr val="FFFFFF"/>
                    </a:solidFill>
                  </a:tcPr>
                </a:tc>
                <a:tc>
                  <a:txBody>
                    <a:bodyPr/>
                    <a:lstStyle/>
                    <a:p>
                      <a:pPr algn="r"/>
                      <a:r>
                        <a:rPr sz="1400">
                          <a:solidFill>
                            <a:srgbClr val="111111"/>
                          </a:solidFill>
                          <a:latin typeface="Calibri"/>
                        </a:rPr>
                        <a:t>₹4,178.0 Cr</a:t>
                      </a:r>
                    </a:p>
                  </a:txBody>
                  <a:tcPr marL="45720" marR="45720" marT="18288" marB="18288">
                    <a:solidFill>
                      <a:srgbClr val="FFFFFF"/>
                    </a:solidFill>
                  </a:tcPr>
                </a:tc>
              </a:tr>
              <a:tr h="628650">
                <a:tc>
                  <a:txBody>
                    <a:bodyPr/>
                    <a:lstStyle/>
                    <a:p>
                      <a:r>
                        <a:rPr sz="1400" b="1">
                          <a:solidFill>
                            <a:srgbClr val="5A6573"/>
                          </a:solidFill>
                          <a:latin typeface="Calibri"/>
                        </a:rPr>
                        <a:t>FY24A</a:t>
                      </a:r>
                    </a:p>
                  </a:txBody>
                  <a:tcPr marL="45720" marR="45720" marT="18288" marB="18288">
                    <a:solidFill>
                      <a:srgbClr val="F4F6F9"/>
                    </a:solidFill>
                  </a:tcPr>
                </a:tc>
                <a:tc>
                  <a:txBody>
                    <a:bodyPr/>
                    <a:lstStyle/>
                    <a:p>
                      <a:pPr algn="r"/>
                      <a:r>
                        <a:rPr sz="1400">
                          <a:solidFill>
                            <a:srgbClr val="111111"/>
                          </a:solidFill>
                          <a:latin typeface="Calibri"/>
                        </a:rPr>
                        <a:t>₹7,106.0 Cr</a:t>
                      </a:r>
                    </a:p>
                  </a:txBody>
                  <a:tcPr marL="45720" marR="45720" marT="18288" marB="18288">
                    <a:solidFill>
                      <a:srgbClr val="F4F6F9"/>
                    </a:solidFill>
                  </a:tcPr>
                </a:tc>
              </a:tr>
              <a:tr h="628650">
                <a:tc>
                  <a:txBody>
                    <a:bodyPr/>
                    <a:lstStyle/>
                    <a:p>
                      <a:r>
                        <a:rPr sz="1400" b="1">
                          <a:solidFill>
                            <a:srgbClr val="5A6573"/>
                          </a:solidFill>
                          <a:latin typeface="Calibri"/>
                        </a:rPr>
                        <a:t>FY25A</a:t>
                      </a:r>
                    </a:p>
                  </a:txBody>
                  <a:tcPr marL="45720" marR="45720" marT="18288" marB="18288">
                    <a:solidFill>
                      <a:srgbClr val="FFFFFF"/>
                    </a:solidFill>
                  </a:tcPr>
                </a:tc>
                <a:tc>
                  <a:txBody>
                    <a:bodyPr/>
                    <a:lstStyle/>
                    <a:p>
                      <a:pPr algn="r"/>
                      <a:r>
                        <a:rPr sz="1400">
                          <a:solidFill>
                            <a:srgbClr val="111111"/>
                          </a:solidFill>
                          <a:latin typeface="Calibri"/>
                        </a:rPr>
                        <a:t>₹8,340.0 Cr</a:t>
                      </a:r>
                    </a:p>
                  </a:txBody>
                  <a:tcPr marL="45720" marR="45720" marT="18288" marB="18288">
                    <a:solidFill>
                      <a:srgbClr val="FFFFFF"/>
                    </a:solidFill>
                  </a:tcPr>
                </a:tc>
              </a:tr>
              <a:tr h="628650">
                <a:tc>
                  <a:txBody>
                    <a:bodyPr/>
                    <a:lstStyle/>
                    <a:p>
                      <a:r>
                        <a:rPr sz="1400" b="1">
                          <a:solidFill>
                            <a:srgbClr val="5A6573"/>
                          </a:solidFill>
                          <a:latin typeface="Calibri"/>
                        </a:rPr>
                        <a:t>FY26E</a:t>
                      </a:r>
                    </a:p>
                  </a:txBody>
                  <a:tcPr marL="45720" marR="45720" marT="18288" marB="18288">
                    <a:solidFill>
                      <a:srgbClr val="F4F6F9"/>
                    </a:solidFill>
                  </a:tcPr>
                </a:tc>
                <a:tc>
                  <a:txBody>
                    <a:bodyPr/>
                    <a:lstStyle/>
                    <a:p>
                      <a:pPr algn="r"/>
                      <a:r>
                        <a:rPr sz="1400">
                          <a:solidFill>
                            <a:srgbClr val="111111"/>
                          </a:solidFill>
                          <a:latin typeface="Calibri"/>
                        </a:rPr>
                        <a:t>₹10,402.0 Cr</a:t>
                      </a:r>
                    </a:p>
                  </a:txBody>
                  <a:tcPr marL="45720" marR="45720" marT="18288" marB="18288">
                    <a:solidFill>
                      <a:srgbClr val="F4F6F9"/>
                    </a:solidFill>
                  </a:tcPr>
                </a:tc>
              </a:tr>
              <a:tr h="628650">
                <a:tc>
                  <a:txBody>
                    <a:bodyPr/>
                    <a:lstStyle/>
                    <a:p>
                      <a:r>
                        <a:rPr sz="1400" b="1">
                          <a:solidFill>
                            <a:srgbClr val="5A6573"/>
                          </a:solidFill>
                          <a:latin typeface="Calibri"/>
                        </a:rPr>
                        <a:t>FY27E</a:t>
                      </a:r>
                    </a:p>
                  </a:txBody>
                  <a:tcPr marL="45720" marR="45720" marT="18288" marB="18288">
                    <a:solidFill>
                      <a:srgbClr val="FFFFFF"/>
                    </a:solidFill>
                  </a:tcPr>
                </a:tc>
                <a:tc>
                  <a:txBody>
                    <a:bodyPr/>
                    <a:lstStyle/>
                    <a:p>
                      <a:pPr algn="r"/>
                      <a:r>
                        <a:rPr sz="1400">
                          <a:solidFill>
                            <a:srgbClr val="111111"/>
                          </a:solidFill>
                          <a:latin typeface="Calibri"/>
                        </a:rPr>
                        <a:t>₹12,973.0 Cr</a:t>
                      </a:r>
                    </a:p>
                  </a:txBody>
                  <a:tcPr marL="45720" marR="45720" marT="18288" marB="18288">
                    <a:solidFill>
                      <a:srgbClr val="FFFFFF"/>
                    </a:solidFill>
                  </a:tcPr>
                </a:tc>
              </a:tr>
              <a:tr h="628650">
                <a:tc>
                  <a:txBody>
                    <a:bodyPr/>
                    <a:lstStyle/>
                    <a:p>
                      <a:r>
                        <a:rPr sz="1400" b="1">
                          <a:solidFill>
                            <a:srgbClr val="5A6573"/>
                          </a:solidFill>
                          <a:latin typeface="Calibri"/>
                        </a:rPr>
                        <a:t>FY28E</a:t>
                      </a:r>
                    </a:p>
                  </a:txBody>
                  <a:tcPr marL="45720" marR="45720" marT="18288" marB="18288">
                    <a:solidFill>
                      <a:srgbClr val="F4F6F9"/>
                    </a:solidFill>
                  </a:tcPr>
                </a:tc>
                <a:tc>
                  <a:txBody>
                    <a:bodyPr/>
                    <a:lstStyle/>
                    <a:p>
                      <a:pPr algn="r"/>
                      <a:r>
                        <a:rPr sz="1400">
                          <a:solidFill>
                            <a:srgbClr val="111111"/>
                          </a:solidFill>
                          <a:latin typeface="Calibri"/>
                        </a:rPr>
                        <a:t>₹16,181.0 Cr</a:t>
                      </a:r>
                    </a:p>
                  </a:txBody>
                  <a:tcPr marL="45720" marR="45720" marT="18288" marB="18288">
                    <a:solidFill>
                      <a:srgbClr val="F4F6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Quarterly Performance</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13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13</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Quarterly Performance</a:t>
            </a:r>
          </a:p>
        </p:txBody>
      </p:sp>
      <p:sp>
        <p:nvSpPr>
          <p:cNvPr id="15" name="Rectangle 14"/>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Recent quarterly trajectory showing the variability inherent to the cyclical revenue base.</a:t>
            </a:r>
          </a:p>
        </p:txBody>
      </p:sp>
      <p:graphicFrame>
        <p:nvGraphicFramePr>
          <p:cNvPr id="17" name="Table 16"/>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5638647"/>
                <a:gridCol w="5638647"/>
              </a:tblGrid>
              <a:tr h="708660">
                <a:tc>
                  <a:txBody>
                    <a:bodyPr/>
                    <a:lstStyle/>
                    <a:p>
                      <a:r>
                        <a:rPr b="1" sz="1400">
                          <a:solidFill>
                            <a:srgbClr val="FFFFFF"/>
                          </a:solidFill>
                          <a:latin typeface="Calibri"/>
                        </a:rPr>
                        <a:t>Quarter</a:t>
                      </a:r>
                    </a:p>
                  </a:txBody>
                  <a:tcPr marL="45720" marR="45720" marT="18288" marB="18288">
                    <a:solidFill>
                      <a:srgbClr val="1F4690"/>
                    </a:solidFill>
                  </a:tcPr>
                </a:tc>
                <a:tc>
                  <a:txBody>
                    <a:bodyPr/>
                    <a:lstStyle/>
                    <a:p>
                      <a:pPr algn="r"/>
                      <a:r>
                        <a:rPr b="1" sz="1400">
                          <a:solidFill>
                            <a:srgbClr val="FFFFFF"/>
                          </a:solidFill>
                          <a:latin typeface="Calibri"/>
                        </a:rPr>
                        <a:t>PAT</a:t>
                      </a:r>
                    </a:p>
                  </a:txBody>
                  <a:tcPr marL="45720" marR="45720" marT="18288" marB="18288">
                    <a:solidFill>
                      <a:srgbClr val="1F4690"/>
                    </a:solidFill>
                  </a:tcPr>
                </a:tc>
              </a:tr>
              <a:tr h="708660">
                <a:tc>
                  <a:txBody>
                    <a:bodyPr/>
                    <a:lstStyle/>
                    <a:p>
                      <a:r>
                        <a:rPr sz="1400" b="1">
                          <a:solidFill>
                            <a:srgbClr val="5A6573"/>
                          </a:solidFill>
                          <a:latin typeface="Calibri"/>
                        </a:rPr>
                        <a:t>Q2FY25</a:t>
                      </a:r>
                    </a:p>
                  </a:txBody>
                  <a:tcPr marL="45720" marR="45720" marT="18288" marB="18288">
                    <a:solidFill>
                      <a:srgbClr val="F4F6F9"/>
                    </a:solidFill>
                  </a:tcPr>
                </a:tc>
                <a:tc>
                  <a:txBody>
                    <a:bodyPr/>
                    <a:lstStyle/>
                    <a:p>
                      <a:pPr algn="r"/>
                      <a:r>
                        <a:rPr sz="1400">
                          <a:solidFill>
                            <a:srgbClr val="111111"/>
                          </a:solidFill>
                          <a:latin typeface="Calibri"/>
                        </a:rPr>
                        <a:t>₹1,242.0 Cr</a:t>
                      </a:r>
                    </a:p>
                  </a:txBody>
                  <a:tcPr marL="45720" marR="45720" marT="18288" marB="18288">
                    <a:solidFill>
                      <a:srgbClr val="F4F6F9"/>
                    </a:solidFill>
                  </a:tcPr>
                </a:tc>
              </a:tr>
              <a:tr h="708660">
                <a:tc>
                  <a:txBody>
                    <a:bodyPr/>
                    <a:lstStyle/>
                    <a:p>
                      <a:r>
                        <a:rPr sz="1400" b="1">
                          <a:solidFill>
                            <a:srgbClr val="5A6573"/>
                          </a:solidFill>
                          <a:latin typeface="Calibri"/>
                        </a:rPr>
                        <a:t>Q3FY25</a:t>
                      </a:r>
                    </a:p>
                  </a:txBody>
                  <a:tcPr marL="45720" marR="45720" marT="18288" marB="18288">
                    <a:solidFill>
                      <a:srgbClr val="FFFFFF"/>
                    </a:solidFill>
                  </a:tcPr>
                </a:tc>
                <a:tc>
                  <a:txBody>
                    <a:bodyPr/>
                    <a:lstStyle/>
                    <a:p>
                      <a:pPr algn="r"/>
                      <a:r>
                        <a:rPr sz="1400">
                          <a:solidFill>
                            <a:srgbClr val="111111"/>
                          </a:solidFill>
                          <a:latin typeface="Calibri"/>
                        </a:rPr>
                        <a:t>₹715.0 Cr</a:t>
                      </a:r>
                    </a:p>
                  </a:txBody>
                  <a:tcPr marL="45720" marR="45720" marT="18288" marB="18288">
                    <a:solidFill>
                      <a:srgbClr val="FFFFFF"/>
                    </a:solidFill>
                  </a:tcPr>
                </a:tc>
              </a:tr>
              <a:tr h="708660">
                <a:tc>
                  <a:txBody>
                    <a:bodyPr/>
                    <a:lstStyle/>
                    <a:p>
                      <a:r>
                        <a:rPr sz="1400" b="1">
                          <a:solidFill>
                            <a:srgbClr val="5A6573"/>
                          </a:solidFill>
                          <a:latin typeface="Calibri"/>
                        </a:rPr>
                        <a:t>Q4FY25</a:t>
                      </a:r>
                    </a:p>
                  </a:txBody>
                  <a:tcPr marL="45720" marR="45720" marT="18288" marB="18288">
                    <a:solidFill>
                      <a:srgbClr val="F4F6F9"/>
                    </a:solidFill>
                  </a:tcPr>
                </a:tc>
                <a:tc>
                  <a:txBody>
                    <a:bodyPr/>
                    <a:lstStyle/>
                    <a:p>
                      <a:pPr algn="r"/>
                      <a:r>
                        <a:rPr sz="1400">
                          <a:solidFill>
                            <a:srgbClr val="111111"/>
                          </a:solidFill>
                          <a:latin typeface="Calibri"/>
                        </a:rPr>
                        <a:t>₹545.0 Cr</a:t>
                      </a:r>
                    </a:p>
                  </a:txBody>
                  <a:tcPr marL="45720" marR="45720" marT="18288" marB="18288">
                    <a:solidFill>
                      <a:srgbClr val="F4F6F9"/>
                    </a:solidFill>
                  </a:tcPr>
                </a:tc>
              </a:tr>
              <a:tr h="708660">
                <a:tc>
                  <a:txBody>
                    <a:bodyPr/>
                    <a:lstStyle/>
                    <a:p>
                      <a:r>
                        <a:rPr sz="1400" b="1">
                          <a:solidFill>
                            <a:srgbClr val="5A6573"/>
                          </a:solidFill>
                          <a:latin typeface="Calibri"/>
                        </a:rPr>
                        <a:t>Q1FY26</a:t>
                      </a:r>
                    </a:p>
                  </a:txBody>
                  <a:tcPr marL="45720" marR="45720" marT="18288" marB="18288">
                    <a:solidFill>
                      <a:srgbClr val="FFFFFF"/>
                    </a:solidFill>
                  </a:tcPr>
                </a:tc>
                <a:tc>
                  <a:txBody>
                    <a:bodyPr/>
                    <a:lstStyle/>
                    <a:p>
                      <a:pPr algn="r"/>
                      <a:r>
                        <a:rPr sz="1400">
                          <a:solidFill>
                            <a:srgbClr val="111111"/>
                          </a:solidFill>
                          <a:latin typeface="Calibri"/>
                        </a:rPr>
                        <a:t>₹425.0 Cr</a:t>
                      </a:r>
                    </a:p>
                  </a:txBody>
                  <a:tcPr marL="45720" marR="45720" marT="18288" marB="18288">
                    <a:solidFill>
                      <a:srgbClr val="FFFFFF"/>
                    </a:solidFill>
                  </a:tcPr>
                </a:tc>
              </a:tr>
              <a:tr h="708660">
                <a:tc>
                  <a:txBody>
                    <a:bodyPr/>
                    <a:lstStyle/>
                    <a:p>
                      <a:r>
                        <a:rPr sz="1400" b="1">
                          <a:solidFill>
                            <a:srgbClr val="5A6573"/>
                          </a:solidFill>
                          <a:latin typeface="Calibri"/>
                        </a:rPr>
                        <a:t>Q2FY26</a:t>
                      </a:r>
                    </a:p>
                  </a:txBody>
                  <a:tcPr marL="45720" marR="45720" marT="18288" marB="18288">
                    <a:solidFill>
                      <a:srgbClr val="F4F6F9"/>
                    </a:solidFill>
                  </a:tcPr>
                </a:tc>
                <a:tc>
                  <a:txBody>
                    <a:bodyPr/>
                    <a:lstStyle/>
                    <a:p>
                      <a:pPr algn="r"/>
                      <a:r>
                        <a:rPr sz="1400">
                          <a:solidFill>
                            <a:srgbClr val="111111"/>
                          </a:solidFill>
                          <a:latin typeface="Calibri"/>
                        </a:rPr>
                        <a:t>₹401.0 Cr</a:t>
                      </a:r>
                    </a:p>
                  </a:txBody>
                  <a:tcPr marL="45720" marR="45720" marT="18288" marB="18288">
                    <a:solidFill>
                      <a:srgbClr val="F4F6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Financials - Key Ratios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14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14</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Financials - Key Ratios</a:t>
            </a:r>
          </a:p>
        </p:txBody>
      </p:sp>
      <p:sp>
        <p:nvSpPr>
          <p:cNvPr id="15" name="Rectangle 14"/>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Margin and return profile across the forecast period.</a:t>
            </a:r>
          </a:p>
        </p:txBody>
      </p:sp>
      <p:graphicFrame>
        <p:nvGraphicFramePr>
          <p:cNvPr id="17" name="Table 16"/>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1"/>
              </a:tblGrid>
              <a:tr h="472440">
                <a:tc>
                  <a:txBody>
                    <a:bodyPr/>
                    <a:lstStyle/>
                    <a:p>
                      <a:r>
                        <a:rPr b="1" sz="1200">
                          <a:solidFill>
                            <a:srgbClr val="FFFFFF"/>
                          </a:solidFill>
                          <a:latin typeface="Calibri"/>
                        </a:rPr>
                        <a:t>Ratio</a:t>
                      </a:r>
                    </a:p>
                  </a:txBody>
                  <a:tcPr marL="45720" marR="45720" marT="18288" marB="18288">
                    <a:solidFill>
                      <a:srgbClr val="1F4690"/>
                    </a:solidFill>
                  </a:tcPr>
                </a:tc>
                <a:tc>
                  <a:txBody>
                    <a:bodyPr/>
                    <a:lstStyle/>
                    <a:p>
                      <a:pPr algn="r"/>
                      <a:r>
                        <a:rPr b="1" sz="1200">
                          <a:solidFill>
                            <a:srgbClr val="FFFFFF"/>
                          </a:solidFill>
                          <a:latin typeface="Calibri"/>
                        </a:rPr>
                        <a:t>FY22A</a:t>
                      </a:r>
                    </a:p>
                  </a:txBody>
                  <a:tcPr marL="45720" marR="45720" marT="18288" marB="18288">
                    <a:solidFill>
                      <a:srgbClr val="1F4690"/>
                    </a:solidFill>
                  </a:tcPr>
                </a:tc>
                <a:tc>
                  <a:txBody>
                    <a:bodyPr/>
                    <a:lstStyle/>
                    <a:p>
                      <a:pPr algn="r"/>
                      <a:r>
                        <a:rPr b="1" sz="1200">
                          <a:solidFill>
                            <a:srgbClr val="FFFFFF"/>
                          </a:solidFill>
                          <a:latin typeface="Calibri"/>
                        </a:rPr>
                        <a:t>FY23A</a:t>
                      </a:r>
                    </a:p>
                  </a:txBody>
                  <a:tcPr marL="45720" marR="45720" marT="18288" marB="18288">
                    <a:solidFill>
                      <a:srgbClr val="1F4690"/>
                    </a:solidFill>
                  </a:tcPr>
                </a:tc>
                <a:tc>
                  <a:txBody>
                    <a:bodyPr/>
                    <a:lstStyle/>
                    <a:p>
                      <a:pPr algn="r"/>
                      <a:r>
                        <a:rPr b="1" sz="1200">
                          <a:solidFill>
                            <a:srgbClr val="FFFFFF"/>
                          </a:solidFill>
                          <a:latin typeface="Calibri"/>
                        </a:rPr>
                        <a:t>FY24A</a:t>
                      </a:r>
                    </a:p>
                  </a:txBody>
                  <a:tcPr marL="45720" marR="45720" marT="18288" marB="18288">
                    <a:solidFill>
                      <a:srgbClr val="1F4690"/>
                    </a:solidFill>
                  </a:tcPr>
                </a:tc>
                <a:tc>
                  <a:txBody>
                    <a:bodyPr/>
                    <a:lstStyle/>
                    <a:p>
                      <a:pPr algn="r"/>
                      <a:r>
                        <a:rPr b="1" sz="1200">
                          <a:solidFill>
                            <a:srgbClr val="FFFFFF"/>
                          </a:solidFill>
                          <a:latin typeface="Calibri"/>
                        </a:rPr>
                        <a:t>FY25A</a:t>
                      </a:r>
                    </a:p>
                  </a:txBody>
                  <a:tcPr marL="45720" marR="45720" marT="18288" marB="18288">
                    <a:solidFill>
                      <a:srgbClr val="1F4690"/>
                    </a:solidFill>
                  </a:tcPr>
                </a:tc>
                <a:tc>
                  <a:txBody>
                    <a:bodyPr/>
                    <a:lstStyle/>
                    <a:p>
                      <a:pPr algn="r"/>
                      <a:r>
                        <a:rPr b="1" sz="1200">
                          <a:solidFill>
                            <a:srgbClr val="FFFFFF"/>
                          </a:solidFill>
                          <a:latin typeface="Calibri"/>
                        </a:rPr>
                        <a:t>FY26E</a:t>
                      </a:r>
                    </a:p>
                  </a:txBody>
                  <a:tcPr marL="45720" marR="45720" marT="18288" marB="18288">
                    <a:solidFill>
                      <a:srgbClr val="1F4690"/>
                    </a:solidFill>
                  </a:tcPr>
                </a:tc>
                <a:tc>
                  <a:txBody>
                    <a:bodyPr/>
                    <a:lstStyle/>
                    <a:p>
                      <a:pPr algn="r"/>
                      <a:r>
                        <a:rPr b="1" sz="1200">
                          <a:solidFill>
                            <a:srgbClr val="FFFFFF"/>
                          </a:solidFill>
                          <a:latin typeface="Calibri"/>
                        </a:rPr>
                        <a:t>FY27E</a:t>
                      </a:r>
                    </a:p>
                  </a:txBody>
                  <a:tcPr marL="45720" marR="45720" marT="18288" marB="18288">
                    <a:solidFill>
                      <a:srgbClr val="1F4690"/>
                    </a:solidFill>
                  </a:tcPr>
                </a:tc>
                <a:tc>
                  <a:txBody>
                    <a:bodyPr/>
                    <a:lstStyle/>
                    <a:p>
                      <a:pPr algn="r"/>
                      <a:r>
                        <a:rPr b="1" sz="1200">
                          <a:solidFill>
                            <a:srgbClr val="FFFFFF"/>
                          </a:solidFill>
                          <a:latin typeface="Calibri"/>
                        </a:rPr>
                        <a:t>FY28E</a:t>
                      </a:r>
                    </a:p>
                  </a:txBody>
                  <a:tcPr marL="45720" marR="45720" marT="18288" marB="18288">
                    <a:solidFill>
                      <a:srgbClr val="1F4690"/>
                    </a:solidFill>
                  </a:tcPr>
                </a:tc>
              </a:tr>
              <a:tr h="472440">
                <a:tc>
                  <a:txBody>
                    <a:bodyPr/>
                    <a:lstStyle/>
                    <a:p>
                      <a:r>
                        <a:rPr sz="1200" b="1">
                          <a:solidFill>
                            <a:srgbClr val="1F4690"/>
                          </a:solidFill>
                          <a:latin typeface="Calibri"/>
                        </a:rPr>
                        <a:t>EBITDA Margin</a:t>
                      </a:r>
                    </a:p>
                  </a:txBody>
                  <a:tcPr marL="45720" marR="45720" marT="18288" marB="18288">
                    <a:solidFill>
                      <a:srgbClr val="FFF3E0"/>
                    </a:solidFill>
                  </a:tcPr>
                </a:tc>
                <a:tc>
                  <a:txBody>
                    <a:bodyPr/>
                    <a:lstStyle/>
                    <a:p>
                      <a:pPr algn="r"/>
                      <a:r>
                        <a:rPr sz="1200" b="1">
                          <a:solidFill>
                            <a:srgbClr val="1F4690"/>
                          </a:solidFill>
                          <a:latin typeface="Calibri"/>
                        </a:rPr>
                        <a:t>49.3%</a:t>
                      </a:r>
                    </a:p>
                  </a:txBody>
                  <a:tcPr marL="45720" marR="45720" marT="18288" marB="18288">
                    <a:solidFill>
                      <a:srgbClr val="FFF3E0"/>
                    </a:solidFill>
                  </a:tcPr>
                </a:tc>
                <a:tc>
                  <a:txBody>
                    <a:bodyPr/>
                    <a:lstStyle/>
                    <a:p>
                      <a:pPr algn="r"/>
                      <a:r>
                        <a:rPr sz="1200" b="1">
                          <a:solidFill>
                            <a:srgbClr val="1F4690"/>
                          </a:solidFill>
                          <a:latin typeface="Calibri"/>
                        </a:rPr>
                        <a:t>44.9%</a:t>
                      </a:r>
                    </a:p>
                  </a:txBody>
                  <a:tcPr marL="45720" marR="45720" marT="18288" marB="18288">
                    <a:solidFill>
                      <a:srgbClr val="FFF3E0"/>
                    </a:solidFill>
                  </a:tcPr>
                </a:tc>
                <a:tc>
                  <a:txBody>
                    <a:bodyPr/>
                    <a:lstStyle/>
                    <a:p>
                      <a:pPr algn="r"/>
                      <a:r>
                        <a:rPr sz="1200" b="1">
                          <a:solidFill>
                            <a:srgbClr val="1F4690"/>
                          </a:solidFill>
                          <a:latin typeface="Calibri"/>
                        </a:rPr>
                        <a:t>57.4%</a:t>
                      </a:r>
                    </a:p>
                  </a:txBody>
                  <a:tcPr marL="45720" marR="45720" marT="18288" marB="18288">
                    <a:solidFill>
                      <a:srgbClr val="FFF3E0"/>
                    </a:solidFill>
                  </a:tcPr>
                </a:tc>
                <a:tc>
                  <a:txBody>
                    <a:bodyPr/>
                    <a:lstStyle/>
                    <a:p>
                      <a:pPr algn="r"/>
                      <a:r>
                        <a:rPr sz="1200" b="1">
                          <a:solidFill>
                            <a:srgbClr val="1F4690"/>
                          </a:solidFill>
                          <a:latin typeface="Calibri"/>
                        </a:rPr>
                        <a:t>54.5%</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c>
                  <a:txBody>
                    <a:bodyPr/>
                    <a:lstStyle/>
                    <a:p>
                      <a:pPr algn="r"/>
                      <a:r>
                        <a:rPr sz="1200" b="1">
                          <a:solidFill>
                            <a:srgbClr val="1F4690"/>
                          </a:solidFill>
                          <a:latin typeface="Calibri"/>
                        </a:rPr>
                        <a:t>52.3%</a:t>
                      </a:r>
                    </a:p>
                  </a:txBody>
                  <a:tcPr marL="45720" marR="45720" marT="18288" marB="18288">
                    <a:solidFill>
                      <a:srgbClr val="FFF3E0"/>
                    </a:solidFill>
                  </a:tcPr>
                </a:tc>
              </a:tr>
              <a:tr h="472440">
                <a:tc>
                  <a:txBody>
                    <a:bodyPr/>
                    <a:lstStyle/>
                    <a:p>
                      <a:r>
                        <a:rPr sz="1200" b="1">
                          <a:solidFill>
                            <a:srgbClr val="1F4690"/>
                          </a:solidFill>
                          <a:latin typeface="Calibri"/>
                        </a:rPr>
                        <a:t>PAT Margin</a:t>
                      </a:r>
                    </a:p>
                  </a:txBody>
                  <a:tcPr marL="45720" marR="45720" marT="18288" marB="18288">
                    <a:solidFill>
                      <a:srgbClr val="FFF3E0"/>
                    </a:solidFill>
                  </a:tcPr>
                </a:tc>
                <a:tc>
                  <a:txBody>
                    <a:bodyPr/>
                    <a:lstStyle/>
                    <a:p>
                      <a:pPr algn="r"/>
                      <a:r>
                        <a:rPr sz="1200" b="1">
                          <a:solidFill>
                            <a:srgbClr val="1F4690"/>
                          </a:solidFill>
                          <a:latin typeface="Calibri"/>
                        </a:rPr>
                        <a:t>30.5%</a:t>
                      </a:r>
                    </a:p>
                  </a:txBody>
                  <a:tcPr marL="45720" marR="45720" marT="18288" marB="18288">
                    <a:solidFill>
                      <a:srgbClr val="FFF3E0"/>
                    </a:solidFill>
                  </a:tcPr>
                </a:tc>
                <a:tc>
                  <a:txBody>
                    <a:bodyPr/>
                    <a:lstStyle/>
                    <a:p>
                      <a:pPr algn="r"/>
                      <a:r>
                        <a:rPr sz="1200" b="1">
                          <a:solidFill>
                            <a:srgbClr val="1F4690"/>
                          </a:solidFill>
                          <a:latin typeface="Calibri"/>
                        </a:rPr>
                        <a:t>22.3%</a:t>
                      </a:r>
                    </a:p>
                  </a:txBody>
                  <a:tcPr marL="45720" marR="45720" marT="18288" marB="18288">
                    <a:solidFill>
                      <a:srgbClr val="FFF3E0"/>
                    </a:solidFill>
                  </a:tcPr>
                </a:tc>
                <a:tc>
                  <a:txBody>
                    <a:bodyPr/>
                    <a:lstStyle/>
                    <a:p>
                      <a:pPr algn="r"/>
                      <a:r>
                        <a:rPr sz="1200" b="1">
                          <a:solidFill>
                            <a:srgbClr val="1F4690"/>
                          </a:solidFill>
                          <a:latin typeface="Calibri"/>
                        </a:rPr>
                        <a:t>34.4%</a:t>
                      </a:r>
                    </a:p>
                  </a:txBody>
                  <a:tcPr marL="45720" marR="45720" marT="18288" marB="18288">
                    <a:solidFill>
                      <a:srgbClr val="FFF3E0"/>
                    </a:solidFill>
                  </a:tcPr>
                </a:tc>
                <a:tc>
                  <a:txBody>
                    <a:bodyPr/>
                    <a:lstStyle/>
                    <a:p>
                      <a:pPr algn="r"/>
                      <a:r>
                        <a:rPr sz="1200" b="1">
                          <a:solidFill>
                            <a:srgbClr val="1F4690"/>
                          </a:solidFill>
                          <a:latin typeface="Calibri"/>
                        </a:rPr>
                        <a:t>30.0%</a:t>
                      </a:r>
                    </a:p>
                  </a:txBody>
                  <a:tcPr marL="45720" marR="45720" marT="18288" marB="18288">
                    <a:solidFill>
                      <a:srgbClr val="FFF3E0"/>
                    </a:solidFill>
                  </a:tcPr>
                </a:tc>
                <a:tc>
                  <a:txBody>
                    <a:bodyPr/>
                    <a:lstStyle/>
                    <a:p>
                      <a:pPr algn="r"/>
                      <a:r>
                        <a:rPr sz="1200" b="1">
                          <a:solidFill>
                            <a:srgbClr val="1F4690"/>
                          </a:solidFill>
                          <a:latin typeface="Calibri"/>
                        </a:rPr>
                        <a:t>29.5%</a:t>
                      </a:r>
                    </a:p>
                  </a:txBody>
                  <a:tcPr marL="45720" marR="45720" marT="18288" marB="18288">
                    <a:solidFill>
                      <a:srgbClr val="FFF3E0"/>
                    </a:solidFill>
                  </a:tcPr>
                </a:tc>
                <a:tc>
                  <a:txBody>
                    <a:bodyPr/>
                    <a:lstStyle/>
                    <a:p>
                      <a:pPr algn="r"/>
                      <a:r>
                        <a:rPr sz="1200" b="1">
                          <a:solidFill>
                            <a:srgbClr val="1F4690"/>
                          </a:solidFill>
                          <a:latin typeface="Calibri"/>
                        </a:rPr>
                        <a:t>30.7%</a:t>
                      </a:r>
                    </a:p>
                  </a:txBody>
                  <a:tcPr marL="45720" marR="45720" marT="18288" marB="18288">
                    <a:solidFill>
                      <a:srgbClr val="FFF3E0"/>
                    </a:solidFill>
                  </a:tcPr>
                </a:tc>
                <a:tc>
                  <a:txBody>
                    <a:bodyPr/>
                    <a:lstStyle/>
                    <a:p>
                      <a:pPr algn="r"/>
                      <a:r>
                        <a:rPr sz="1200" b="1">
                          <a:solidFill>
                            <a:srgbClr val="1F4690"/>
                          </a:solidFill>
                          <a:latin typeface="Calibri"/>
                        </a:rPr>
                        <a:t>31.7%</a:t>
                      </a:r>
                    </a:p>
                  </a:txBody>
                  <a:tcPr marL="45720" marR="45720" marT="18288" marB="18288">
                    <a:solidFill>
                      <a:srgbClr val="FFF3E0"/>
                    </a:solidFill>
                  </a:tcPr>
                </a:tc>
              </a:tr>
              <a:tr h="472440">
                <a:tc>
                  <a:txBody>
                    <a:bodyPr/>
                    <a:lstStyle/>
                    <a:p>
                      <a:r>
                        <a:rPr sz="1200" b="1">
                          <a:solidFill>
                            <a:srgbClr val="5A6573"/>
                          </a:solidFill>
                          <a:latin typeface="Calibri"/>
                        </a:rPr>
                        <a:t>RoE</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15.0%</a:t>
                      </a:r>
                    </a:p>
                  </a:txBody>
                  <a:tcPr marL="45720" marR="45720" marT="18288" marB="18288">
                    <a:solidFill>
                      <a:srgbClr val="F4F6F9"/>
                    </a:solidFill>
                  </a:tcPr>
                </a:tc>
                <a:tc>
                  <a:txBody>
                    <a:bodyPr/>
                    <a:lstStyle/>
                    <a:p>
                      <a:pPr algn="r"/>
                      <a:r>
                        <a:rPr sz="1200" b="1">
                          <a:solidFill>
                            <a:srgbClr val="1A7A4A"/>
                          </a:solidFill>
                          <a:latin typeface="Calibri"/>
                        </a:rPr>
                        <a:t>28.0%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22.0%</a:t>
                      </a:r>
                    </a:p>
                  </a:txBody>
                  <a:tcPr marL="45720" marR="45720" marT="18288" marB="18288">
                    <a:solidFill>
                      <a:srgbClr val="F4F6F9"/>
                    </a:solidFill>
                  </a:tcPr>
                </a:tc>
                <a:tc>
                  <a:txBody>
                    <a:bodyPr/>
                    <a:lstStyle/>
                    <a:p>
                      <a:pPr algn="r"/>
                      <a:r>
                        <a:rPr sz="1200" b="1">
                          <a:solidFill>
                            <a:srgbClr val="1A7A4A"/>
                          </a:solidFill>
                          <a:latin typeface="Calibri"/>
                        </a:rPr>
                        <a:t>23.0%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r>
              <a:tr h="472440">
                <a:tc>
                  <a:txBody>
                    <a:bodyPr/>
                    <a:lstStyle/>
                    <a:p>
                      <a:r>
                        <a:rPr sz="1200" b="1">
                          <a:solidFill>
                            <a:srgbClr val="5A6573"/>
                          </a:solidFill>
                          <a:latin typeface="Calibri"/>
                        </a:rPr>
                        <a:t>RoCE</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13.0%</a:t>
                      </a:r>
                    </a:p>
                  </a:txBody>
                  <a:tcPr marL="45720" marR="45720" marT="18288" marB="18288">
                    <a:solidFill>
                      <a:srgbClr val="FFFFFF"/>
                    </a:solidFill>
                  </a:tcPr>
                </a:tc>
                <a:tc>
                  <a:txBody>
                    <a:bodyPr/>
                    <a:lstStyle/>
                    <a:p>
                      <a:pPr algn="r"/>
                      <a:r>
                        <a:rPr sz="1200" b="1">
                          <a:solidFill>
                            <a:srgbClr val="1A7A4A"/>
                          </a:solidFill>
                          <a:latin typeface="Calibri"/>
                        </a:rPr>
                        <a:t>21.0%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18.0%</a:t>
                      </a:r>
                    </a:p>
                  </a:txBody>
                  <a:tcPr marL="45720" marR="45720" marT="18288" marB="18288">
                    <a:solidFill>
                      <a:srgbClr val="FFFFFF"/>
                    </a:solidFill>
                  </a:tcPr>
                </a:tc>
                <a:tc>
                  <a:txBody>
                    <a:bodyPr/>
                    <a:lstStyle/>
                    <a:p>
                      <a:pPr algn="r"/>
                      <a:r>
                        <a:rPr sz="1200" b="1">
                          <a:solidFill>
                            <a:srgbClr val="1A7A4A"/>
                          </a:solidFill>
                          <a:latin typeface="Calibri"/>
                        </a:rPr>
                        <a:t>19.0%</a:t>
                      </a:r>
                    </a:p>
                  </a:txBody>
                  <a:tcPr marL="45720" marR="45720" marT="18288" marB="18288">
                    <a:solidFill>
                      <a:srgbClr val="FFFFFF"/>
                    </a:solidFill>
                  </a:tcPr>
                </a:tc>
              </a:tr>
              <a:tr h="472440">
                <a:tc>
                  <a:txBody>
                    <a:bodyPr/>
                    <a:lstStyle/>
                    <a:p>
                      <a:r>
                        <a:rPr sz="1200" b="1">
                          <a:solidFill>
                            <a:srgbClr val="5A6573"/>
                          </a:solidFill>
                          <a:latin typeface="Calibri"/>
                        </a:rPr>
                        <a:t>RoIC</a:t>
                      </a:r>
                    </a:p>
                  </a:txBody>
                  <a:tcPr marL="45720" marR="45720" marT="18288" marB="18288">
                    <a:solidFill>
                      <a:srgbClr val="F4F6F9"/>
                    </a:solidFill>
                  </a:tcPr>
                </a:tc>
                <a:tc>
                  <a:txBody>
                    <a:bodyPr/>
                    <a:lstStyle/>
                    <a:p>
                      <a:pPr algn="r"/>
                      <a:r>
                        <a:rPr sz="1200" b="1">
                          <a:solidFill>
                            <a:srgbClr val="1A7A4A"/>
                          </a:solidFill>
                          <a:latin typeface="Calibri"/>
                        </a:rPr>
                        <a:t>92.0%</a:t>
                      </a:r>
                    </a:p>
                  </a:txBody>
                  <a:tcPr marL="45720" marR="45720" marT="18288" marB="18288">
                    <a:solidFill>
                      <a:srgbClr val="F4F6F9"/>
                    </a:solidFill>
                  </a:tcPr>
                </a:tc>
                <a:tc>
                  <a:txBody>
                    <a:bodyPr/>
                    <a:lstStyle/>
                    <a:p>
                      <a:pPr algn="r"/>
                      <a:r>
                        <a:rPr sz="1200" b="1">
                          <a:solidFill>
                            <a:srgbClr val="1A7A4A"/>
                          </a:solidFill>
                          <a:latin typeface="Calibri"/>
                        </a:rPr>
                        <a:t>78.0%</a:t>
                      </a:r>
                    </a:p>
                  </a:txBody>
                  <a:tcPr marL="45720" marR="45720" marT="18288" marB="18288">
                    <a:solidFill>
                      <a:srgbClr val="F4F6F9"/>
                    </a:solidFill>
                  </a:tcPr>
                </a:tc>
                <a:tc>
                  <a:txBody>
                    <a:bodyPr/>
                    <a:lstStyle/>
                    <a:p>
                      <a:pPr algn="r"/>
                      <a:r>
                        <a:rPr sz="1200" b="1">
                          <a:solidFill>
                            <a:srgbClr val="1A7A4A"/>
                          </a:solidFill>
                          <a:latin typeface="Calibri"/>
                        </a:rPr>
                        <a:t>119.0%</a:t>
                      </a:r>
                    </a:p>
                  </a:txBody>
                  <a:tcPr marL="45720" marR="45720" marT="18288" marB="18288">
                    <a:solidFill>
                      <a:srgbClr val="F4F6F9"/>
                    </a:solidFill>
                  </a:tcPr>
                </a:tc>
                <a:tc>
                  <a:txBody>
                    <a:bodyPr/>
                    <a:lstStyle/>
                    <a:p>
                      <a:pPr algn="r"/>
                      <a:r>
                        <a:rPr sz="1200" b="1">
                          <a:solidFill>
                            <a:srgbClr val="1A7A4A"/>
                          </a:solidFill>
                          <a:latin typeface="Calibri"/>
                        </a:rPr>
                        <a:t>87.0%</a:t>
                      </a:r>
                    </a:p>
                  </a:txBody>
                  <a:tcPr marL="45720" marR="45720" marT="18288" marB="18288">
                    <a:solidFill>
                      <a:srgbClr val="F4F6F9"/>
                    </a:solidFill>
                  </a:tcPr>
                </a:tc>
                <a:tc>
                  <a:txBody>
                    <a:bodyPr/>
                    <a:lstStyle/>
                    <a:p>
                      <a:pPr algn="r"/>
                      <a:r>
                        <a:rPr sz="1200" b="1">
                          <a:solidFill>
                            <a:srgbClr val="1A7A4A"/>
                          </a:solidFill>
                          <a:latin typeface="Calibri"/>
                        </a:rPr>
                        <a:t>35.0%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c>
                  <a:txBody>
                    <a:bodyPr/>
                    <a:lstStyle/>
                    <a:p>
                      <a:pPr algn="r"/>
                      <a:r>
                        <a:rPr sz="1200" b="1">
                          <a:solidFill>
                            <a:srgbClr val="1A7A4A"/>
                          </a:solidFill>
                          <a:latin typeface="Calibri"/>
                        </a:rPr>
                        <a:t>24.0%</a:t>
                      </a:r>
                    </a:p>
                  </a:txBody>
                  <a:tcPr marL="45720" marR="45720" marT="18288" marB="18288">
                    <a:solidFill>
                      <a:srgbClr val="F4F6F9"/>
                    </a:solidFill>
                  </a:tcPr>
                </a:tc>
              </a:tr>
              <a:tr h="472440">
                <a:tc>
                  <a:txBody>
                    <a:bodyPr/>
                    <a:lstStyle/>
                    <a:p>
                      <a:r>
                        <a:rPr sz="1200" b="1">
                          <a:solidFill>
                            <a:srgbClr val="5A6573"/>
                          </a:solidFill>
                          <a:latin typeface="Calibri"/>
                        </a:rPr>
                        <a:t>P/E</a:t>
                      </a:r>
                    </a:p>
                  </a:txBody>
                  <a:tcPr marL="45720" marR="45720" marT="18288" marB="18288">
                    <a:solidFill>
                      <a:srgbClr val="FFFFFF"/>
                    </a:solidFill>
                  </a:tcPr>
                </a:tc>
                <a:tc>
                  <a:txBody>
                    <a:bodyPr/>
                    <a:lstStyle/>
                    <a:p>
                      <a:pPr algn="r"/>
                      <a:r>
                        <a:rPr sz="1200">
                          <a:solidFill>
                            <a:srgbClr val="111111"/>
                          </a:solidFill>
                          <a:latin typeface="Calibri"/>
                        </a:rPr>
                        <a:t>37.5x</a:t>
                      </a:r>
                    </a:p>
                  </a:txBody>
                  <a:tcPr marL="45720" marR="45720" marT="18288" marB="18288">
                    <a:solidFill>
                      <a:srgbClr val="FFFFFF"/>
                    </a:solidFill>
                  </a:tcPr>
                </a:tc>
                <a:tc>
                  <a:txBody>
                    <a:bodyPr/>
                    <a:lstStyle/>
                    <a:p>
                      <a:pPr algn="r"/>
                      <a:r>
                        <a:rPr sz="1200">
                          <a:solidFill>
                            <a:srgbClr val="111111"/>
                          </a:solidFill>
                          <a:latin typeface="Calibri"/>
                        </a:rPr>
                        <a:t>52.3x</a:t>
                      </a:r>
                    </a:p>
                  </a:txBody>
                  <a:tcPr marL="45720" marR="45720" marT="18288" marB="18288">
                    <a:solidFill>
                      <a:srgbClr val="FFFFFF"/>
                    </a:solidFill>
                  </a:tcPr>
                </a:tc>
                <a:tc>
                  <a:txBody>
                    <a:bodyPr/>
                    <a:lstStyle/>
                    <a:p>
                      <a:pPr algn="r"/>
                      <a:r>
                        <a:rPr sz="1200">
                          <a:solidFill>
                            <a:srgbClr val="111111"/>
                          </a:solidFill>
                          <a:latin typeface="Calibri"/>
                        </a:rPr>
                        <a:t>20.1x</a:t>
                      </a:r>
                    </a:p>
                  </a:txBody>
                  <a:tcPr marL="45720" marR="45720" marT="18288" marB="18288">
                    <a:solidFill>
                      <a:srgbClr val="FFFFFF"/>
                    </a:solidFill>
                  </a:tcPr>
                </a:tc>
                <a:tc>
                  <a:txBody>
                    <a:bodyPr/>
                    <a:lstStyle/>
                    <a:p>
                      <a:pPr algn="r"/>
                      <a:r>
                        <a:rPr sz="1200">
                          <a:solidFill>
                            <a:srgbClr val="111111"/>
                          </a:solidFill>
                          <a:latin typeface="Calibri"/>
                        </a:rPr>
                        <a:t>19.7x</a:t>
                      </a:r>
                    </a:p>
                  </a:txBody>
                  <a:tcPr marL="45720" marR="45720" marT="18288" marB="18288">
                    <a:solidFill>
                      <a:srgbClr val="FFFFFF"/>
                    </a:solidFill>
                  </a:tcPr>
                </a:tc>
                <a:tc>
                  <a:txBody>
                    <a:bodyPr/>
                    <a:lstStyle/>
                    <a:p>
                      <a:pPr algn="r"/>
                      <a:r>
                        <a:rPr sz="1200">
                          <a:solidFill>
                            <a:srgbClr val="111111"/>
                          </a:solidFill>
                          <a:latin typeface="Calibri"/>
                        </a:rPr>
                        <a:t>16.1x</a:t>
                      </a:r>
                    </a:p>
                  </a:txBody>
                  <a:tcPr marL="45720" marR="45720" marT="18288" marB="18288">
                    <a:solidFill>
                      <a:srgbClr val="FFFFFF"/>
                    </a:solidFill>
                  </a:tcPr>
                </a:tc>
                <a:tc>
                  <a:txBody>
                    <a:bodyPr/>
                    <a:lstStyle/>
                    <a:p>
                      <a:pPr algn="r"/>
                      <a:r>
                        <a:rPr sz="1200">
                          <a:solidFill>
                            <a:srgbClr val="111111"/>
                          </a:solidFill>
                          <a:latin typeface="Calibri"/>
                        </a:rPr>
                        <a:t>12.4x</a:t>
                      </a:r>
                    </a:p>
                  </a:txBody>
                  <a:tcPr marL="45720" marR="45720" marT="18288" marB="18288">
                    <a:solidFill>
                      <a:srgbClr val="FFFFFF"/>
                    </a:solidFill>
                  </a:tcPr>
                </a:tc>
                <a:tc>
                  <a:txBody>
                    <a:bodyPr/>
                    <a:lstStyle/>
                    <a:p>
                      <a:pPr algn="r"/>
                      <a:r>
                        <a:rPr sz="1200">
                          <a:solidFill>
                            <a:srgbClr val="111111"/>
                          </a:solidFill>
                          <a:latin typeface="Calibri"/>
                        </a:rPr>
                        <a:t>9.6x</a:t>
                      </a:r>
                    </a:p>
                  </a:txBody>
                  <a:tcPr marL="45720" marR="45720" marT="18288" marB="18288">
                    <a:solidFill>
                      <a:srgbClr val="FFFFFF"/>
                    </a:solidFill>
                  </a:tcPr>
                </a:tc>
              </a:tr>
              <a:tr h="472440">
                <a:tc>
                  <a:txBody>
                    <a:bodyPr/>
                    <a:lstStyle/>
                    <a:p>
                      <a:r>
                        <a:rPr sz="1200" b="1">
                          <a:solidFill>
                            <a:srgbClr val="5A6573"/>
                          </a:solidFill>
                          <a:latin typeface="Calibri"/>
                        </a:rPr>
                        <a:t>P/B</a:t>
                      </a:r>
                    </a:p>
                  </a:txBody>
                  <a:tcPr marL="45720" marR="45720" marT="18288" marB="18288">
                    <a:solidFill>
                      <a:srgbClr val="F4F6F9"/>
                    </a:solidFill>
                  </a:tcPr>
                </a:tc>
                <a:tc>
                  <a:txBody>
                    <a:bodyPr/>
                    <a:lstStyle/>
                    <a:p>
                      <a:pPr algn="r"/>
                      <a:r>
                        <a:rPr sz="1200">
                          <a:solidFill>
                            <a:srgbClr val="111111"/>
                          </a:solidFill>
                          <a:latin typeface="Calibri"/>
                        </a:rPr>
                        <a:t>8.7x</a:t>
                      </a:r>
                    </a:p>
                  </a:txBody>
                  <a:tcPr marL="45720" marR="45720" marT="18288" marB="18288">
                    <a:solidFill>
                      <a:srgbClr val="F4F6F9"/>
                    </a:solidFill>
                  </a:tcPr>
                </a:tc>
                <a:tc>
                  <a:txBody>
                    <a:bodyPr/>
                    <a:lstStyle/>
                    <a:p>
                      <a:pPr algn="r"/>
                      <a:r>
                        <a:rPr sz="1200">
                          <a:solidFill>
                            <a:srgbClr val="111111"/>
                          </a:solidFill>
                          <a:latin typeface="Calibri"/>
                        </a:rPr>
                        <a:t>7.8x</a:t>
                      </a:r>
                    </a:p>
                  </a:txBody>
                  <a:tcPr marL="45720" marR="45720" marT="18288" marB="18288">
                    <a:solidFill>
                      <a:srgbClr val="F4F6F9"/>
                    </a:solidFill>
                  </a:tcPr>
                </a:tc>
                <a:tc>
                  <a:txBody>
                    <a:bodyPr/>
                    <a:lstStyle/>
                    <a:p>
                      <a:pPr algn="r"/>
                      <a:r>
                        <a:rPr sz="1200">
                          <a:solidFill>
                            <a:srgbClr val="111111"/>
                          </a:solidFill>
                          <a:latin typeface="Calibri"/>
                        </a:rPr>
                        <a:t>5.6x</a:t>
                      </a:r>
                    </a:p>
                  </a:txBody>
                  <a:tcPr marL="45720" marR="45720" marT="18288" marB="18288">
                    <a:solidFill>
                      <a:srgbClr val="F4F6F9"/>
                    </a:solidFill>
                  </a:tcPr>
                </a:tc>
                <a:tc>
                  <a:txBody>
                    <a:bodyPr/>
                    <a:lstStyle/>
                    <a:p>
                      <a:pPr algn="r"/>
                      <a:r>
                        <a:rPr sz="1200">
                          <a:solidFill>
                            <a:srgbClr val="111111"/>
                          </a:solidFill>
                          <a:latin typeface="Calibri"/>
                        </a:rPr>
                        <a:t>4.5x</a:t>
                      </a:r>
                    </a:p>
                  </a:txBody>
                  <a:tcPr marL="45720" marR="45720" marT="18288" marB="18288">
                    <a:solidFill>
                      <a:srgbClr val="F4F6F9"/>
                    </a:solidFill>
                  </a:tcPr>
                </a:tc>
                <a:tc>
                  <a:txBody>
                    <a:bodyPr/>
                    <a:lstStyle/>
                    <a:p>
                      <a:pPr algn="r"/>
                      <a:r>
                        <a:rPr sz="1200">
                          <a:solidFill>
                            <a:srgbClr val="111111"/>
                          </a:solidFill>
                          <a:latin typeface="Calibri"/>
                        </a:rPr>
                        <a:t>3.6x</a:t>
                      </a:r>
                    </a:p>
                  </a:txBody>
                  <a:tcPr marL="45720" marR="45720" marT="18288" marB="18288">
                    <a:solidFill>
                      <a:srgbClr val="F4F6F9"/>
                    </a:solidFill>
                  </a:tcPr>
                </a:tc>
                <a:tc>
                  <a:txBody>
                    <a:bodyPr/>
                    <a:lstStyle/>
                    <a:p>
                      <a:pPr algn="r"/>
                      <a:r>
                        <a:rPr sz="1200">
                          <a:solidFill>
                            <a:srgbClr val="111111"/>
                          </a:solidFill>
                          <a:latin typeface="Calibri"/>
                        </a:rPr>
                        <a:t>2.9x</a:t>
                      </a:r>
                    </a:p>
                  </a:txBody>
                  <a:tcPr marL="45720" marR="45720" marT="18288" marB="18288">
                    <a:solidFill>
                      <a:srgbClr val="F4F6F9"/>
                    </a:solidFill>
                  </a:tcPr>
                </a:tc>
                <a:tc>
                  <a:txBody>
                    <a:bodyPr/>
                    <a:lstStyle/>
                    <a:p>
                      <a:pPr algn="r"/>
                      <a:r>
                        <a:rPr sz="1200">
                          <a:solidFill>
                            <a:srgbClr val="111111"/>
                          </a:solidFill>
                          <a:latin typeface="Calibri"/>
                        </a:rPr>
                        <a:t>2.3x</a:t>
                      </a:r>
                    </a:p>
                  </a:txBody>
                  <a:tcPr marL="45720" marR="45720" marT="18288" marB="18288">
                    <a:solidFill>
                      <a:srgbClr val="F4F6F9"/>
                    </a:solidFill>
                  </a:tcPr>
                </a:tc>
              </a:tr>
              <a:tr h="472440">
                <a:tc>
                  <a:txBody>
                    <a:bodyPr/>
                    <a:lstStyle/>
                    <a:p>
                      <a:r>
                        <a:rPr sz="1200" b="1">
                          <a:solidFill>
                            <a:srgbClr val="1F4690"/>
                          </a:solidFill>
                          <a:latin typeface="Calibri"/>
                        </a:rPr>
                        <a:t>EV/EBITDA</a:t>
                      </a:r>
                    </a:p>
                  </a:txBody>
                  <a:tcPr marL="45720" marR="45720" marT="18288" marB="18288">
                    <a:solidFill>
                      <a:srgbClr val="FFF3E0"/>
                    </a:solidFill>
                  </a:tcPr>
                </a:tc>
                <a:tc>
                  <a:txBody>
                    <a:bodyPr/>
                    <a:lstStyle/>
                    <a:p>
                      <a:pPr algn="r"/>
                      <a:r>
                        <a:rPr sz="1200" b="1">
                          <a:solidFill>
                            <a:srgbClr val="1F4690"/>
                          </a:solidFill>
                          <a:latin typeface="Calibri"/>
                        </a:rPr>
                        <a:t>9.0x</a:t>
                      </a:r>
                    </a:p>
                  </a:txBody>
                  <a:tcPr marL="45720" marR="45720" marT="18288" marB="18288">
                    <a:solidFill>
                      <a:srgbClr val="FFF3E0"/>
                    </a:solidFill>
                  </a:tcPr>
                </a:tc>
                <a:tc>
                  <a:txBody>
                    <a:bodyPr/>
                    <a:lstStyle/>
                    <a:p>
                      <a:pPr algn="r"/>
                      <a:r>
                        <a:rPr sz="1200" b="1">
                          <a:solidFill>
                            <a:srgbClr val="1F4690"/>
                          </a:solidFill>
                          <a:latin typeface="Calibri"/>
                        </a:rPr>
                        <a:t>10.3x</a:t>
                      </a:r>
                    </a:p>
                  </a:txBody>
                  <a:tcPr marL="45720" marR="45720" marT="18288" marB="18288">
                    <a:solidFill>
                      <a:srgbClr val="FFF3E0"/>
                    </a:solidFill>
                  </a:tcPr>
                </a:tc>
                <a:tc>
                  <a:txBody>
                    <a:bodyPr/>
                    <a:lstStyle/>
                    <a:p>
                      <a:pPr algn="r"/>
                      <a:r>
                        <a:rPr sz="1200" b="1">
                          <a:solidFill>
                            <a:srgbClr val="1F4690"/>
                          </a:solidFill>
                          <a:latin typeface="Calibri"/>
                        </a:rPr>
                        <a:t>9.5x</a:t>
                      </a:r>
                    </a:p>
                  </a:txBody>
                  <a:tcPr marL="45720" marR="45720" marT="18288" marB="18288">
                    <a:solidFill>
                      <a:srgbClr val="FFF3E0"/>
                    </a:solidFill>
                  </a:tcPr>
                </a:tc>
                <a:tc>
                  <a:txBody>
                    <a:bodyPr/>
                    <a:lstStyle/>
                    <a:p>
                      <a:pPr algn="r"/>
                      <a:r>
                        <a:rPr sz="1200" b="1">
                          <a:solidFill>
                            <a:srgbClr val="1F4690"/>
                          </a:solidFill>
                          <a:latin typeface="Calibri"/>
                        </a:rPr>
                        <a:t>11.4x</a:t>
                      </a:r>
                    </a:p>
                  </a:txBody>
                  <a:tcPr marL="45720" marR="45720" marT="18288" marB="18288">
                    <a:solidFill>
                      <a:srgbClr val="FFF3E0"/>
                    </a:solidFill>
                  </a:tcPr>
                </a:tc>
                <a:tc>
                  <a:txBody>
                    <a:bodyPr/>
                    <a:lstStyle/>
                    <a:p>
                      <a:pPr algn="r"/>
                      <a:r>
                        <a:rPr sz="1200" b="1">
                          <a:solidFill>
                            <a:srgbClr val="1F4690"/>
                          </a:solidFill>
                          <a:latin typeface="Calibri"/>
                        </a:rPr>
                        <a:t>12.7x</a:t>
                      </a:r>
                    </a:p>
                  </a:txBody>
                  <a:tcPr marL="45720" marR="45720" marT="18288" marB="18288">
                    <a:solidFill>
                      <a:srgbClr val="FFF3E0"/>
                    </a:solidFill>
                  </a:tcPr>
                </a:tc>
                <a:tc>
                  <a:txBody>
                    <a:bodyPr/>
                    <a:lstStyle/>
                    <a:p>
                      <a:pPr algn="r"/>
                      <a:r>
                        <a:rPr sz="1200" b="1">
                          <a:solidFill>
                            <a:srgbClr val="1F4690"/>
                          </a:solidFill>
                          <a:latin typeface="Calibri"/>
                        </a:rPr>
                        <a:t>10.5x</a:t>
                      </a:r>
                    </a:p>
                  </a:txBody>
                  <a:tcPr marL="45720" marR="45720" marT="18288" marB="18288">
                    <a:solidFill>
                      <a:srgbClr val="FFF3E0"/>
                    </a:solidFill>
                  </a:tcPr>
                </a:tc>
                <a:tc>
                  <a:txBody>
                    <a:bodyPr/>
                    <a:lstStyle/>
                    <a:p>
                      <a:pPr algn="r"/>
                      <a:r>
                        <a:rPr sz="1200" b="1">
                          <a:solidFill>
                            <a:srgbClr val="1F4690"/>
                          </a:solidFill>
                          <a:latin typeface="Calibri"/>
                        </a:rPr>
                        <a:t>8.8x</a:t>
                      </a:r>
                    </a:p>
                  </a:txBody>
                  <a:tcPr marL="45720" marR="45720" marT="18288" marB="18288">
                    <a:solidFill>
                      <a:srgbClr val="FFF3E0"/>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Valuations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15 of 20</a:t>
            </a:r>
          </a:p>
        </p:txBody>
      </p:sp>
      <p:sp>
        <p:nvSpPr>
          <p:cNvPr id="13" name="TextBox 12"/>
          <p:cNvSpPr txBox="1"/>
          <p:nvPr/>
        </p:nvSpPr>
        <p:spPr>
          <a:xfrm>
            <a:off x="292608" y="1078992"/>
            <a:ext cx="7059168" cy="182880"/>
          </a:xfrm>
          <a:prstGeom prst="rect">
            <a:avLst/>
          </a:prstGeom>
          <a:noFill/>
        </p:spPr>
        <p:txBody>
          <a:bodyPr wrap="square" lIns="36576" rIns="36576" tIns="9144" bIns="9144">
            <a:spAutoFit/>
          </a:bodyPr>
          <a:lstStyle/>
          <a:p>
            <a:r>
              <a:rPr sz="1000" b="1">
                <a:solidFill>
                  <a:srgbClr val="1F4690"/>
                </a:solidFill>
                <a:latin typeface="Calibri"/>
              </a:rPr>
              <a:t>P/E-Based Valuation — Primary Method</a:t>
            </a:r>
          </a:p>
        </p:txBody>
      </p:sp>
      <p:sp>
        <p:nvSpPr>
          <p:cNvPr id="14" name="Rectangle 13"/>
          <p:cNvSpPr/>
          <p:nvPr/>
        </p:nvSpPr>
        <p:spPr>
          <a:xfrm>
            <a:off x="292608" y="1280160"/>
            <a:ext cx="7059168" cy="25603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 y="1316736"/>
            <a:ext cx="6949440" cy="182880"/>
          </a:xfrm>
          <a:prstGeom prst="rect">
            <a:avLst/>
          </a:prstGeom>
          <a:noFill/>
        </p:spPr>
        <p:txBody>
          <a:bodyPr wrap="square" lIns="36576" rIns="36576" tIns="9144" bIns="9144">
            <a:spAutoFit/>
          </a:bodyPr>
          <a:lstStyle/>
          <a:p>
            <a:r>
              <a:rPr sz="850" b="1">
                <a:solidFill>
                  <a:srgbClr val="FFFFFF"/>
                </a:solidFill>
                <a:latin typeface="Calibri"/>
              </a:rPr>
              <a:t>Target Price Derivation — Tikona Capital Base Case</a:t>
            </a:r>
          </a:p>
        </p:txBody>
      </p:sp>
      <p:graphicFrame>
        <p:nvGraphicFramePr>
          <p:cNvPr id="16" name="Table 15"/>
          <p:cNvGraphicFramePr>
            <a:graphicFrameLocks noGrp="1"/>
          </p:cNvGraphicFramePr>
          <p:nvPr/>
        </p:nvGraphicFramePr>
        <p:xfrm>
          <a:off x="292608" y="1536192"/>
          <a:ext cx="7059166" cy="1463040"/>
        </p:xfrm>
        <a:graphic>
          <a:graphicData uri="http://schemas.openxmlformats.org/drawingml/2006/table">
            <a:tbl>
              <a:tblPr firstRow="1" bandRow="1">
                <a:tableStyleId>{5C22544A-7EE6-4342-B048-85BDC9FD1C3A}</a:tableStyleId>
              </a:tblPr>
              <a:tblGrid>
                <a:gridCol w="2329525"/>
                <a:gridCol w="1576547"/>
                <a:gridCol w="1576547"/>
                <a:gridCol w="1576547"/>
              </a:tblGrid>
              <a:tr h="292608">
                <a:tc>
                  <a:txBody>
                    <a:bodyPr lIns="27432" tIns="36576" bIns="18288"/>
                    <a:lstStyle/>
                    <a:p>
                      <a:r>
                        <a:rPr sz="800" b="1">
                          <a:solidFill>
                            <a:srgbClr val="FFFFFF"/>
                          </a:solidFill>
                          <a:latin typeface="Calibri"/>
                        </a:rPr>
                        <a:t>Method</a:t>
                      </a:r>
                    </a:p>
                  </a:txBody>
                  <a:tcPr>
                    <a:solidFill>
                      <a:srgbClr val="1F4690"/>
                    </a:solidFill>
                  </a:tcPr>
                </a:tc>
                <a:tc>
                  <a:txBody>
                    <a:bodyPr lIns="27432" tIns="36576" bIns="18288"/>
                    <a:lstStyle/>
                    <a:p>
                      <a:r>
                        <a:rPr sz="800" b="1">
                          <a:solidFill>
                            <a:srgbClr val="FFFFFF"/>
                          </a:solidFill>
                          <a:latin typeface="Calibri"/>
                        </a:rPr>
                        <a:t>Multiple Applied</a:t>
                      </a:r>
                    </a:p>
                  </a:txBody>
                  <a:tcPr>
                    <a:solidFill>
                      <a:srgbClr val="1F4690"/>
                    </a:solidFill>
                  </a:tcPr>
                </a:tc>
                <a:tc>
                  <a:txBody>
                    <a:bodyPr lIns="27432" tIns="36576" bIns="18288"/>
                    <a:lstStyle/>
                    <a:p>
                      <a:r>
                        <a:rPr sz="800" b="1">
                          <a:solidFill>
                            <a:srgbClr val="FFFFFF"/>
                          </a:solidFill>
                          <a:latin typeface="Calibri"/>
                        </a:rPr>
                        <a:t>Earnings Base</a:t>
                      </a:r>
                    </a:p>
                  </a:txBody>
                  <a:tcPr>
                    <a:solidFill>
                      <a:srgbClr val="1F4690"/>
                    </a:solidFill>
                  </a:tcPr>
                </a:tc>
                <a:tc>
                  <a:txBody>
                    <a:bodyPr lIns="27432" tIns="36576" bIns="18288"/>
                    <a:lstStyle/>
                    <a:p>
                      <a:r>
                        <a:rPr sz="800" b="1">
                          <a:solidFill>
                            <a:srgbClr val="FFFFFF"/>
                          </a:solidFill>
                          <a:latin typeface="Calibri"/>
                        </a:rPr>
                        <a:t>Value Per Share (₹)</a:t>
                      </a:r>
                    </a:p>
                  </a:txBody>
                  <a:tcPr>
                    <a:solidFill>
                      <a:srgbClr val="1F4690"/>
                    </a:solidFill>
                  </a:tcPr>
                </a:tc>
              </a:tr>
              <a:tr h="292608">
                <a:tc>
                  <a:txBody>
                    <a:bodyPr lIns="27432" tIns="18288" bIns="18288"/>
                    <a:lstStyle/>
                    <a:p>
                      <a:r>
                        <a:rPr sz="800" b="0">
                          <a:solidFill>
                            <a:srgbClr val="111111"/>
                          </a:solidFill>
                          <a:latin typeface="Calibri"/>
                        </a:rPr>
                        <a:t>Base Case P/E</a:t>
                      </a:r>
                    </a:p>
                  </a:txBody>
                  <a:tcPr>
                    <a:solidFill>
                      <a:srgbClr val="FFFFFF"/>
                    </a:solidFill>
                  </a:tcPr>
                </a:tc>
                <a:tc>
                  <a:txBody>
                    <a:bodyPr lIns="27432" tIns="18288" bIns="18288"/>
                    <a:lstStyle/>
                    <a:p>
                      <a:r>
                        <a:rPr sz="800" b="0">
                          <a:solidFill>
                            <a:srgbClr val="111111"/>
                          </a:solidFill>
                          <a:latin typeface="Calibri"/>
                        </a:rPr>
                        <a:t>24x P/E</a:t>
                      </a:r>
                    </a:p>
                  </a:txBody>
                  <a:tcPr>
                    <a:solidFill>
                      <a:srgbClr val="FFFFFF"/>
                    </a:solidFill>
                  </a:tcPr>
                </a:tc>
                <a:tc>
                  <a:txBody>
                    <a:bodyPr lIns="27432" tIns="18288" bIns="18288"/>
                    <a:lstStyle/>
                    <a:p>
                      <a:r>
                        <a:rPr sz="800" b="0">
                          <a:solidFill>
                            <a:srgbClr val="111111"/>
                          </a:solidFill>
                          <a:latin typeface="Calibri"/>
                        </a:rPr>
                        <a:t>FY27E EPS of ₹66.5</a:t>
                      </a:r>
                    </a:p>
                  </a:txBody>
                  <a:tcPr>
                    <a:solidFill>
                      <a:srgbClr val="FFFFFF"/>
                    </a:solidFill>
                  </a:tcPr>
                </a:tc>
                <a:tc>
                  <a:txBody>
                    <a:bodyPr lIns="27432" tIns="18288" bIns="18288"/>
                    <a:lstStyle/>
                    <a:p>
                      <a:r>
                        <a:rPr sz="800" b="0">
                          <a:solidFill>
                            <a:srgbClr val="111111"/>
                          </a:solidFill>
                          <a:latin typeface="Calibri"/>
                        </a:rPr>
                        <a:t>₹1,596 (unadjusted)</a:t>
                      </a:r>
                    </a:p>
                  </a:txBody>
                  <a:tcPr>
                    <a:solidFill>
                      <a:srgbClr val="FFFFFF"/>
                    </a:solidFill>
                  </a:tcPr>
                </a:tc>
              </a:tr>
              <a:tr h="292608">
                <a:tc>
                  <a:txBody>
                    <a:bodyPr lIns="27432" tIns="18288" bIns="18288"/>
                    <a:lstStyle/>
                    <a:p>
                      <a:r>
                        <a:rPr sz="800" b="0">
                          <a:solidFill>
                            <a:srgbClr val="111111"/>
                          </a:solidFill>
                          <a:latin typeface="Calibri"/>
                        </a:rPr>
                        <a:t>Discounted Target (1Y)</a:t>
                      </a:r>
                    </a:p>
                  </a:txBody>
                  <a:tcPr>
                    <a:solidFill>
                      <a:srgbClr val="F5F7FA"/>
                    </a:solidFill>
                  </a:tcPr>
                </a:tc>
                <a:tc>
                  <a:txBody>
                    <a:bodyPr lIns="27432" tIns="18288" bIns="18288"/>
                    <a:lstStyle/>
                    <a:p>
                      <a:r>
                        <a:rPr sz="800" b="0">
                          <a:solidFill>
                            <a:srgbClr val="111111"/>
                          </a:solidFill>
                          <a:latin typeface="Calibri"/>
                        </a:rPr>
                        <a:t>12% discount rate</a:t>
                      </a:r>
                    </a:p>
                  </a:txBody>
                  <a:tcPr>
                    <a:solidFill>
                      <a:srgbClr val="F5F7FA"/>
                    </a:solidFill>
                  </a:tcPr>
                </a:tc>
                <a:tc>
                  <a:txBody>
                    <a:bodyPr lIns="27432" tIns="18288" bIns="18288"/>
                    <a:lstStyle/>
                    <a:p>
                      <a:r>
                        <a:rPr sz="800" b="0">
                          <a:solidFill>
                            <a:srgbClr val="111111"/>
                          </a:solidFill>
                          <a:latin typeface="Calibri"/>
                        </a:rPr>
                        <a:t>12-month forward</a:t>
                      </a:r>
                    </a:p>
                  </a:txBody>
                  <a:tcPr>
                    <a:solidFill>
                      <a:srgbClr val="F5F7FA"/>
                    </a:solidFill>
                  </a:tcPr>
                </a:tc>
                <a:tc>
                  <a:txBody>
                    <a:bodyPr lIns="27432" tIns="18288" bIns="18288"/>
                    <a:lstStyle/>
                    <a:p>
                      <a:r>
                        <a:rPr sz="800" b="0">
                          <a:solidFill>
                            <a:srgbClr val="111111"/>
                          </a:solidFill>
                          <a:latin typeface="Calibri"/>
                        </a:rPr>
                        <a:t>₹1,127 (Base TP)</a:t>
                      </a:r>
                    </a:p>
                  </a:txBody>
                  <a:tcPr>
                    <a:solidFill>
                      <a:srgbClr val="F5F7FA"/>
                    </a:solidFill>
                  </a:tcPr>
                </a:tc>
              </a:tr>
              <a:tr h="292608">
                <a:tc>
                  <a:txBody>
                    <a:bodyPr lIns="27432" tIns="18288" bIns="18288"/>
                    <a:lstStyle/>
                    <a:p>
                      <a:r>
                        <a:rPr sz="800" b="0">
                          <a:solidFill>
                            <a:srgbClr val="111111"/>
                          </a:solidFill>
                          <a:latin typeface="Calibri"/>
                        </a:rPr>
                        <a:t>Analyst Consensus</a:t>
                      </a:r>
                    </a:p>
                  </a:txBody>
                  <a:tcPr>
                    <a:solidFill>
                      <a:srgbClr val="FFFFFF"/>
                    </a:solidFill>
                  </a:tcPr>
                </a:tc>
                <a:tc>
                  <a:txBody>
                    <a:bodyPr lIns="27432" tIns="18288" bIns="18288"/>
                    <a:lstStyle/>
                    <a:p>
                      <a:r>
                        <a:rPr sz="800" b="0">
                          <a:solidFill>
                            <a:srgbClr val="111111"/>
                          </a:solidFill>
                          <a:latin typeface="Calibri"/>
                        </a:rPr>
                        <a:t>Market implied</a:t>
                      </a:r>
                    </a:p>
                  </a:txBody>
                  <a:tcPr>
                    <a:solidFill>
                      <a:srgbClr val="FFFFFF"/>
                    </a:solidFill>
                  </a:tcPr>
                </a:tc>
                <a:tc>
                  <a:txBody>
                    <a:bodyPr lIns="27432" tIns="18288" bIns="18288"/>
                    <a:lstStyle/>
                    <a:p>
                      <a:r>
                        <a:rPr sz="800" b="0">
                          <a:solidFill>
                            <a:srgbClr val="111111"/>
                          </a:solidFill>
                          <a:latin typeface="Calibri"/>
                        </a:rPr>
                        <a:t>Current consensus view</a:t>
                      </a:r>
                    </a:p>
                  </a:txBody>
                  <a:tcPr>
                    <a:solidFill>
                      <a:srgbClr val="FFFFFF"/>
                    </a:solidFill>
                  </a:tcPr>
                </a:tc>
                <a:tc>
                  <a:txBody>
                    <a:bodyPr lIns="27432" tIns="18288" bIns="18288"/>
                    <a:lstStyle/>
                    <a:p>
                      <a:r>
                        <a:rPr sz="800" b="0">
                          <a:solidFill>
                            <a:srgbClr val="111111"/>
                          </a:solidFill>
                          <a:latin typeface="Calibri"/>
                        </a:rPr>
                        <a:t>₹1,126.67</a:t>
                      </a:r>
                    </a:p>
                  </a:txBody>
                  <a:tcPr>
                    <a:solidFill>
                      <a:srgbClr val="FFFFFF"/>
                    </a:solidFill>
                  </a:tcPr>
                </a:tc>
              </a:tr>
              <a:tr h="292608">
                <a:tc>
                  <a:txBody>
                    <a:bodyPr lIns="27432" tIns="18288" bIns="18288"/>
                    <a:lstStyle/>
                    <a:p>
                      <a:r>
                        <a:rPr sz="800" b="1">
                          <a:solidFill>
                            <a:srgbClr val="1F4690"/>
                          </a:solidFill>
                          <a:latin typeface="Calibri"/>
                        </a:rPr>
                        <a:t>Probability-Weighted TP</a:t>
                      </a:r>
                    </a:p>
                  </a:txBody>
                  <a:tcPr>
                    <a:solidFill>
                      <a:srgbClr val="FFF7E0"/>
                    </a:solidFill>
                  </a:tcPr>
                </a:tc>
                <a:tc>
                  <a:txBody>
                    <a:bodyPr lIns="27432" tIns="18288" bIns="18288"/>
                    <a:lstStyle/>
                    <a:p>
                      <a:r>
                        <a:rPr sz="800" b="1">
                          <a:solidFill>
                            <a:srgbClr val="1F4690"/>
                          </a:solidFill>
                          <a:latin typeface="Calibri"/>
                        </a:rPr>
                        <a:t>Scenario blend</a:t>
                      </a:r>
                    </a:p>
                  </a:txBody>
                  <a:tcPr>
                    <a:solidFill>
                      <a:srgbClr val="FFF7E0"/>
                    </a:solidFill>
                  </a:tcPr>
                </a:tc>
                <a:tc>
                  <a:txBody>
                    <a:bodyPr lIns="27432" tIns="18288" bIns="18288"/>
                    <a:lstStyle/>
                    <a:p>
                      <a:r>
                        <a:rPr sz="800" b="1">
                          <a:solidFill>
                            <a:srgbClr val="1F4690"/>
                          </a:solidFill>
                          <a:latin typeface="Calibri"/>
                        </a:rPr>
                        <a:t>30%×Bull + 50%×Base + 20%×Bear</a:t>
                      </a:r>
                    </a:p>
                  </a:txBody>
                  <a:tcPr>
                    <a:solidFill>
                      <a:srgbClr val="FFF7E0"/>
                    </a:solidFill>
                  </a:tcPr>
                </a:tc>
                <a:tc>
                  <a:txBody>
                    <a:bodyPr lIns="27432" tIns="18288" bIns="18288"/>
                    <a:lstStyle/>
                    <a:p>
                      <a:r>
                        <a:rPr sz="800" b="1">
                          <a:solidFill>
                            <a:srgbClr val="1F4690"/>
                          </a:solidFill>
                          <a:latin typeface="Calibri"/>
                        </a:rPr>
                        <a:t>₹1,109</a:t>
                      </a:r>
                    </a:p>
                  </a:txBody>
                  <a:tcPr>
                    <a:solidFill>
                      <a:srgbClr val="FFF7E0"/>
                    </a:solidFill>
                  </a:tcPr>
                </a:tc>
              </a:tr>
            </a:tbl>
          </a:graphicData>
        </a:graphic>
      </p:graphicFrame>
      <p:sp>
        <p:nvSpPr>
          <p:cNvPr id="17" name="TextBox 16"/>
          <p:cNvSpPr txBox="1"/>
          <p:nvPr/>
        </p:nvSpPr>
        <p:spPr>
          <a:xfrm>
            <a:off x="292608" y="3136392"/>
            <a:ext cx="7059168" cy="182880"/>
          </a:xfrm>
          <a:prstGeom prst="rect">
            <a:avLst/>
          </a:prstGeom>
          <a:noFill/>
        </p:spPr>
        <p:txBody>
          <a:bodyPr wrap="square" lIns="36576" rIns="36576" tIns="9144" bIns="9144">
            <a:spAutoFit/>
          </a:bodyPr>
          <a:lstStyle/>
          <a:p>
            <a:r>
              <a:rPr sz="1000" b="1">
                <a:solidFill>
                  <a:srgbClr val="1F4690"/>
                </a:solidFill>
                <a:latin typeface="Calibri"/>
              </a:rPr>
              <a:t>Relative Valuation vs. Peers</a:t>
            </a:r>
          </a:p>
        </p:txBody>
      </p:sp>
      <p:graphicFrame>
        <p:nvGraphicFramePr>
          <p:cNvPr id="18" name="Table 17"/>
          <p:cNvGraphicFramePr>
            <a:graphicFrameLocks noGrp="1"/>
          </p:cNvGraphicFramePr>
          <p:nvPr/>
        </p:nvGraphicFramePr>
        <p:xfrm>
          <a:off x="292608" y="3337560"/>
          <a:ext cx="7059167" cy="585216"/>
        </p:xfrm>
        <a:graphic>
          <a:graphicData uri="http://schemas.openxmlformats.org/drawingml/2006/table">
            <a:tbl>
              <a:tblPr firstRow="1" bandRow="1">
                <a:tableStyleId>{5C22544A-7EE6-4342-B048-85BDC9FD1C3A}</a:tableStyleId>
              </a:tblPr>
              <a:tblGrid>
                <a:gridCol w="1976567"/>
                <a:gridCol w="1270650"/>
                <a:gridCol w="1270650"/>
                <a:gridCol w="1270650"/>
                <a:gridCol w="1270650"/>
              </a:tblGrid>
              <a:tr h="292608">
                <a:tc>
                  <a:txBody>
                    <a:bodyPr lIns="27432" tIns="36576" bIns="18288"/>
                    <a:lstStyle/>
                    <a:p>
                      <a:r>
                        <a:rPr sz="800" b="1">
                          <a:solidFill>
                            <a:srgbClr val="FFFFFF"/>
                          </a:solidFill>
                          <a:latin typeface="Calibri"/>
                        </a:rPr>
                        <a:t>Company</a:t>
                      </a:r>
                    </a:p>
                  </a:txBody>
                  <a:tcPr>
                    <a:solidFill>
                      <a:srgbClr val="1F4690"/>
                    </a:solidFill>
                  </a:tcPr>
                </a:tc>
                <a:tc>
                  <a:txBody>
                    <a:bodyPr lIns="27432" tIns="36576" bIns="18288"/>
                    <a:lstStyle/>
                    <a:p>
                      <a:r>
                        <a:rPr sz="800" b="1">
                          <a:solidFill>
                            <a:srgbClr val="FFFFFF"/>
                          </a:solidFill>
                          <a:latin typeface="Calibri"/>
                        </a:rPr>
                        <a:t>P/E (TTM)</a:t>
                      </a:r>
                    </a:p>
                  </a:txBody>
                  <a:tcPr>
                    <a:solidFill>
                      <a:srgbClr val="1F4690"/>
                    </a:solidFill>
                  </a:tcPr>
                </a:tc>
                <a:tc>
                  <a:txBody>
                    <a:bodyPr lIns="27432" tIns="36576" bIns="18288"/>
                    <a:lstStyle/>
                    <a:p>
                      <a:r>
                        <a:rPr sz="800" b="1">
                          <a:solidFill>
                            <a:srgbClr val="FFFFFF"/>
                          </a:solidFill>
                          <a:latin typeface="Calibri"/>
                        </a:rPr>
                        <a:t>P/B</a:t>
                      </a:r>
                    </a:p>
                  </a:txBody>
                  <a:tcPr>
                    <a:solidFill>
                      <a:srgbClr val="1F4690"/>
                    </a:solidFill>
                  </a:tcPr>
                </a:tc>
                <a:tc>
                  <a:txBody>
                    <a:bodyPr lIns="27432" tIns="36576" bIns="18288"/>
                    <a:lstStyle/>
                    <a:p>
                      <a:r>
                        <a:rPr sz="800" b="1">
                          <a:solidFill>
                            <a:srgbClr val="FFFFFF"/>
                          </a:solidFill>
                          <a:latin typeface="Calibri"/>
                        </a:rPr>
                        <a:t>AUM Growth</a:t>
                      </a:r>
                    </a:p>
                  </a:txBody>
                  <a:tcPr>
                    <a:solidFill>
                      <a:srgbClr val="1F4690"/>
                    </a:solidFill>
                  </a:tcPr>
                </a:tc>
                <a:tc>
                  <a:txBody>
                    <a:bodyPr lIns="27432" tIns="36576" bIns="18288"/>
                    <a:lstStyle/>
                    <a:p>
                      <a:r>
                        <a:rPr sz="800" b="1">
                          <a:solidFill>
                            <a:srgbClr val="FFFFFF"/>
                          </a:solidFill>
                          <a:latin typeface="Calibri"/>
                        </a:rPr>
                        <a:t>Comment</a:t>
                      </a:r>
                    </a:p>
                  </a:txBody>
                  <a:tcPr>
                    <a:solidFill>
                      <a:srgbClr val="1F4690"/>
                    </a:solidFill>
                  </a:tcPr>
                </a:tc>
              </a:tr>
              <a:tr h="292608">
                <a:tc>
                  <a:txBody>
                    <a:bodyPr lIns="27432" tIns="18288" bIns="18288"/>
                    <a:lstStyle/>
                    <a:p>
                      <a:r>
                        <a:rPr sz="800" b="1">
                          <a:solidFill>
                            <a:srgbClr val="1F4690"/>
                          </a:solidFill>
                          <a:latin typeface="Calibri"/>
                        </a:rPr>
                        <a:t>Motilal Oswal Financial Services Ltd</a:t>
                      </a:r>
                    </a:p>
                  </a:txBody>
                  <a:tcPr>
                    <a:solidFill>
                      <a:srgbClr val="FFF7E0"/>
                    </a:solidFill>
                  </a:tcPr>
                </a:tc>
                <a:tc>
                  <a:txBody>
                    <a:bodyPr lIns="27432" tIns="18288" bIns="18288"/>
                    <a:lstStyle/>
                    <a:p>
                      <a:r>
                        <a:rPr sz="800" b="1">
                          <a:solidFill>
                            <a:srgbClr val="1F4690"/>
                          </a:solidFill>
                          <a:latin typeface="Calibri"/>
                        </a:rPr>
                        <a:t>24.2x</a:t>
                      </a:r>
                    </a:p>
                  </a:txBody>
                  <a:tcPr>
                    <a:solidFill>
                      <a:srgbClr val="FFF7E0"/>
                    </a:solidFill>
                  </a:tcPr>
                </a:tc>
                <a:tc>
                  <a:txBody>
                    <a:bodyPr lIns="27432" tIns="18288" bIns="18288"/>
                    <a:lstStyle/>
                    <a:p>
                      <a:r>
                        <a:rPr sz="800" b="1">
                          <a:solidFill>
                            <a:srgbClr val="1F4690"/>
                          </a:solidFill>
                          <a:latin typeface="Calibri"/>
                        </a:rPr>
                        <a:t>3.8x</a:t>
                      </a:r>
                    </a:p>
                  </a:txBody>
                  <a:tcPr>
                    <a:solidFill>
                      <a:srgbClr val="FFF7E0"/>
                    </a:solidFill>
                  </a:tcPr>
                </a:tc>
                <a:tc>
                  <a:txBody>
                    <a:bodyPr lIns="27432" tIns="18288" bIns="18288"/>
                    <a:lstStyle/>
                    <a:p>
                      <a:r>
                        <a:rPr sz="800" b="1">
                          <a:solidFill>
                            <a:srgbClr val="1F4690"/>
                          </a:solidFill>
                          <a:latin typeface="Calibri"/>
                        </a:rPr>
                        <a:t>+46% YoY</a:t>
                      </a:r>
                    </a:p>
                  </a:txBody>
                  <a:tcPr>
                    <a:solidFill>
                      <a:srgbClr val="FFF7E0"/>
                    </a:solidFill>
                  </a:tcPr>
                </a:tc>
                <a:tc>
                  <a:txBody>
                    <a:bodyPr lIns="27432" tIns="18288" bIns="18288"/>
                    <a:lstStyle/>
                    <a:p>
                      <a:r>
                        <a:rPr sz="800" b="1">
                          <a:solidFill>
                            <a:srgbClr val="1F4690"/>
                          </a:solidFill>
                          <a:latin typeface="Calibri"/>
                        </a:rPr>
                        <a:t>ARR re-rating pending</a:t>
                      </a:r>
                    </a:p>
                  </a:txBody>
                  <a:tcPr>
                    <a:solidFill>
                      <a:srgbClr val="FFF7E0"/>
                    </a:solidFill>
                  </a:tcPr>
                </a:tc>
              </a:tr>
            </a:tbl>
          </a:graphicData>
        </a:graphic>
      </p:graphicFrame>
      <p:sp>
        <p:nvSpPr>
          <p:cNvPr id="19" name="TextBox 18"/>
          <p:cNvSpPr txBox="1"/>
          <p:nvPr/>
        </p:nvSpPr>
        <p:spPr>
          <a:xfrm>
            <a:off x="292608" y="4059936"/>
            <a:ext cx="7059168" cy="182880"/>
          </a:xfrm>
          <a:prstGeom prst="rect">
            <a:avLst/>
          </a:prstGeom>
          <a:noFill/>
        </p:spPr>
        <p:txBody>
          <a:bodyPr wrap="square" lIns="36576" rIns="36576" tIns="9144" bIns="9144">
            <a:spAutoFit/>
          </a:bodyPr>
          <a:lstStyle/>
          <a:p>
            <a:r>
              <a:rPr sz="1000" b="1">
                <a:solidFill>
                  <a:srgbClr val="1F4690"/>
                </a:solidFill>
                <a:latin typeface="Calibri"/>
              </a:rPr>
              <a:t>Valuation Scenario Summary</a:t>
            </a:r>
          </a:p>
        </p:txBody>
      </p:sp>
      <p:graphicFrame>
        <p:nvGraphicFramePr>
          <p:cNvPr id="20" name="Table 19"/>
          <p:cNvGraphicFramePr>
            <a:graphicFrameLocks noGrp="1"/>
          </p:cNvGraphicFramePr>
          <p:nvPr/>
        </p:nvGraphicFramePr>
        <p:xfrm>
          <a:off x="292608" y="4261104"/>
          <a:ext cx="7059167" cy="1463040"/>
        </p:xfrm>
        <a:graphic>
          <a:graphicData uri="http://schemas.openxmlformats.org/drawingml/2006/table">
            <a:tbl>
              <a:tblPr firstRow="1" bandRow="1">
                <a:tableStyleId>{5C22544A-7EE6-4342-B048-85BDC9FD1C3A}</a:tableStyleId>
              </a:tblPr>
              <a:tblGrid>
                <a:gridCol w="1976567"/>
                <a:gridCol w="1270650"/>
                <a:gridCol w="1270650"/>
                <a:gridCol w="1270650"/>
                <a:gridCol w="1270650"/>
              </a:tblGrid>
              <a:tr h="292608">
                <a:tc>
                  <a:txBody>
                    <a:bodyPr lIns="27432" tIns="36576" bIns="18288"/>
                    <a:lstStyle/>
                    <a:p>
                      <a:r>
                        <a:rPr sz="800" b="1">
                          <a:solidFill>
                            <a:srgbClr val="FFFFFF"/>
                          </a:solidFill>
                          <a:latin typeface="Calibri"/>
                        </a:rPr>
                        <a:t>Scenario</a:t>
                      </a:r>
                    </a:p>
                  </a:txBody>
                  <a:tcPr>
                    <a:solidFill>
                      <a:srgbClr val="1F4690"/>
                    </a:solidFill>
                  </a:tcPr>
                </a:tc>
                <a:tc>
                  <a:txBody>
                    <a:bodyPr lIns="27432" tIns="36576" bIns="18288"/>
                    <a:lstStyle/>
                    <a:p>
                      <a:r>
                        <a:rPr sz="800" b="1">
                          <a:solidFill>
                            <a:srgbClr val="FFFFFF"/>
                          </a:solidFill>
                          <a:latin typeface="Calibri"/>
                        </a:rPr>
                        <a:t>Probability</a:t>
                      </a:r>
                    </a:p>
                  </a:txBody>
                  <a:tcPr>
                    <a:solidFill>
                      <a:srgbClr val="1F4690"/>
                    </a:solidFill>
                  </a:tcPr>
                </a:tc>
                <a:tc>
                  <a:txBody>
                    <a:bodyPr lIns="27432" tIns="36576" bIns="18288"/>
                    <a:lstStyle/>
                    <a:p>
                      <a:r>
                        <a:rPr sz="800" b="1">
                          <a:solidFill>
                            <a:srgbClr val="FFFFFF"/>
                          </a:solidFill>
                          <a:latin typeface="Calibri"/>
                        </a:rPr>
                        <a:t>Target Price</a:t>
                      </a:r>
                    </a:p>
                  </a:txBody>
                  <a:tcPr>
                    <a:solidFill>
                      <a:srgbClr val="1F4690"/>
                    </a:solidFill>
                  </a:tcPr>
                </a:tc>
                <a:tc>
                  <a:txBody>
                    <a:bodyPr lIns="27432" tIns="36576" bIns="18288"/>
                    <a:lstStyle/>
                    <a:p>
                      <a:r>
                        <a:rPr sz="800" b="1">
                          <a:solidFill>
                            <a:srgbClr val="FFFFFF"/>
                          </a:solidFill>
                          <a:latin typeface="Calibri"/>
                        </a:rPr>
                        <a:t>Return vs. CMP</a:t>
                      </a:r>
                    </a:p>
                  </a:txBody>
                  <a:tcPr>
                    <a:solidFill>
                      <a:srgbClr val="1F4690"/>
                    </a:solidFill>
                  </a:tcPr>
                </a:tc>
                <a:tc>
                  <a:txBody>
                    <a:bodyPr lIns="27432" tIns="36576" bIns="18288"/>
                    <a:lstStyle/>
                    <a:p>
                      <a:r>
                        <a:rPr sz="800" b="1">
                          <a:solidFill>
                            <a:srgbClr val="FFFFFF"/>
                          </a:solidFill>
                          <a:latin typeface="Calibri"/>
                        </a:rPr>
                        <a:t>Key Assumption</a:t>
                      </a:r>
                    </a:p>
                  </a:txBody>
                  <a:tcPr>
                    <a:solidFill>
                      <a:srgbClr val="1F4690"/>
                    </a:solidFill>
                  </a:tcPr>
                </a:tc>
              </a:tr>
              <a:tr h="292608">
                <a:tc>
                  <a:txBody>
                    <a:bodyPr lIns="27432" tIns="18288" bIns="18288"/>
                    <a:lstStyle/>
                    <a:p>
                      <a:r>
                        <a:rPr sz="800" b="0">
                          <a:solidFill>
                            <a:srgbClr val="111111"/>
                          </a:solidFill>
                          <a:latin typeface="Calibri"/>
                        </a:rPr>
                        <a:t>Bull Case</a:t>
                      </a:r>
                    </a:p>
                  </a:txBody>
                  <a:tcPr>
                    <a:solidFill>
                      <a:srgbClr val="FFFFFF"/>
                    </a:solidFill>
                  </a:tcPr>
                </a:tc>
                <a:tc>
                  <a:txBody>
                    <a:bodyPr lIns="27432" tIns="18288" bIns="18288"/>
                    <a:lstStyle/>
                    <a:p>
                      <a:r>
                        <a:rPr sz="800" b="0">
                          <a:solidFill>
                            <a:srgbClr val="111111"/>
                          </a:solidFill>
                          <a:latin typeface="Calibri"/>
                        </a:rPr>
                        <a:t>30%</a:t>
                      </a:r>
                    </a:p>
                  </a:txBody>
                  <a:tcPr>
                    <a:solidFill>
                      <a:srgbClr val="FFFFFF"/>
                    </a:solidFill>
                  </a:tcPr>
                </a:tc>
                <a:tc>
                  <a:txBody>
                    <a:bodyPr lIns="27432" tIns="18288" bIns="18288"/>
                    <a:lstStyle/>
                    <a:p>
                      <a:r>
                        <a:rPr sz="800" b="0">
                          <a:solidFill>
                            <a:srgbClr val="111111"/>
                          </a:solidFill>
                          <a:latin typeface="Calibri"/>
                        </a:rPr>
                        <a:t>₹1,400</a:t>
                      </a:r>
                    </a:p>
                  </a:txBody>
                  <a:tcPr>
                    <a:solidFill>
                      <a:srgbClr val="FFFFFF"/>
                    </a:solidFill>
                  </a:tcPr>
                </a:tc>
                <a:tc>
                  <a:txBody>
                    <a:bodyPr lIns="27432" tIns="18288" bIns="18288"/>
                    <a:lstStyle/>
                    <a:p>
                      <a:r>
                        <a:rPr sz="800" b="0">
                          <a:solidFill>
                            <a:srgbClr val="111111"/>
                          </a:solidFill>
                          <a:latin typeface="Calibri"/>
                        </a:rPr>
                        <a:t>+70.1%</a:t>
                      </a:r>
                    </a:p>
                  </a:txBody>
                  <a:tcPr>
                    <a:solidFill>
                      <a:srgbClr val="FFFFFF"/>
                    </a:solidFill>
                  </a:tcPr>
                </a:tc>
                <a:tc>
                  <a:txBody>
                    <a:bodyPr lIns="27432" tIns="18288" bIns="18288"/>
                    <a:lstStyle/>
                    <a:p>
                      <a:r>
                        <a:rPr sz="800" b="0">
                          <a:solidFill>
                            <a:srgbClr val="111111"/>
                          </a:solidFill>
                          <a:latin typeface="Calibri"/>
                        </a:rPr>
                        <a:t>ARR &gt; 70%, AMC AUM +40% YoY, regulatory clarity.</a:t>
                      </a:r>
                    </a:p>
                  </a:txBody>
                  <a:tcPr>
                    <a:solidFill>
                      <a:srgbClr val="FFFFFF"/>
                    </a:solidFill>
                  </a:tcPr>
                </a:tc>
              </a:tr>
              <a:tr h="292608">
                <a:tc>
                  <a:txBody>
                    <a:bodyPr lIns="27432" tIns="18288" bIns="18288"/>
                    <a:lstStyle/>
                    <a:p>
                      <a:r>
                        <a:rPr sz="800" b="1">
                          <a:solidFill>
                            <a:srgbClr val="1F4690"/>
                          </a:solidFill>
                          <a:latin typeface="Calibri"/>
                        </a:rPr>
                        <a:t>Base Case</a:t>
                      </a:r>
                    </a:p>
                  </a:txBody>
                  <a:tcPr>
                    <a:solidFill>
                      <a:srgbClr val="FFF7E0"/>
                    </a:solidFill>
                  </a:tcPr>
                </a:tc>
                <a:tc>
                  <a:txBody>
                    <a:bodyPr lIns="27432" tIns="18288" bIns="18288"/>
                    <a:lstStyle/>
                    <a:p>
                      <a:r>
                        <a:rPr sz="800" b="1">
                          <a:solidFill>
                            <a:srgbClr val="1F4690"/>
                          </a:solidFill>
                          <a:latin typeface="Calibri"/>
                        </a:rPr>
                        <a:t>50%</a:t>
                      </a:r>
                    </a:p>
                  </a:txBody>
                  <a:tcPr>
                    <a:solidFill>
                      <a:srgbClr val="FFF7E0"/>
                    </a:solidFill>
                  </a:tcPr>
                </a:tc>
                <a:tc>
                  <a:txBody>
                    <a:bodyPr lIns="27432" tIns="18288" bIns="18288"/>
                    <a:lstStyle/>
                    <a:p>
                      <a:r>
                        <a:rPr sz="800" b="1">
                          <a:solidFill>
                            <a:srgbClr val="1F4690"/>
                          </a:solidFill>
                          <a:latin typeface="Calibri"/>
                        </a:rPr>
                        <a:t>₹1,127</a:t>
                      </a:r>
                    </a:p>
                  </a:txBody>
                  <a:tcPr>
                    <a:solidFill>
                      <a:srgbClr val="FFF7E0"/>
                    </a:solidFill>
                  </a:tcPr>
                </a:tc>
                <a:tc>
                  <a:txBody>
                    <a:bodyPr lIns="27432" tIns="18288" bIns="18288"/>
                    <a:lstStyle/>
                    <a:p>
                      <a:r>
                        <a:rPr sz="800" b="1">
                          <a:solidFill>
                            <a:srgbClr val="1F4690"/>
                          </a:solidFill>
                          <a:latin typeface="Calibri"/>
                        </a:rPr>
                        <a:t>+37.0%</a:t>
                      </a:r>
                    </a:p>
                  </a:txBody>
                  <a:tcPr>
                    <a:solidFill>
                      <a:srgbClr val="FFF7E0"/>
                    </a:solidFill>
                  </a:tcPr>
                </a:tc>
                <a:tc>
                  <a:txBody>
                    <a:bodyPr lIns="27432" tIns="18288" bIns="18288"/>
                    <a:lstStyle/>
                    <a:p>
                      <a:r>
                        <a:rPr sz="800" b="1">
                          <a:solidFill>
                            <a:srgbClr val="1F4690"/>
                          </a:solidFill>
                          <a:latin typeface="Calibri"/>
                        </a:rPr>
                        <a:t>ARR steady at 65%, AUM compounding, stable regulation.</a:t>
                      </a:r>
                    </a:p>
                  </a:txBody>
                  <a:tcPr>
                    <a:solidFill>
                      <a:srgbClr val="FFF7E0"/>
                    </a:solidFill>
                  </a:tcPr>
                </a:tc>
              </a:tr>
              <a:tr h="292608">
                <a:tc>
                  <a:txBody>
                    <a:bodyPr lIns="27432" tIns="18288" bIns="18288"/>
                    <a:lstStyle/>
                    <a:p>
                      <a:r>
                        <a:rPr sz="800" b="0">
                          <a:solidFill>
                            <a:srgbClr val="111111"/>
                          </a:solidFill>
                          <a:latin typeface="Calibri"/>
                        </a:rPr>
                        <a:t>Bear Case</a:t>
                      </a:r>
                    </a:p>
                  </a:txBody>
                  <a:tcPr>
                    <a:solidFill>
                      <a:srgbClr val="FFFFFF"/>
                    </a:solidFill>
                  </a:tcPr>
                </a:tc>
                <a:tc>
                  <a:txBody>
                    <a:bodyPr lIns="27432" tIns="18288" bIns="18288"/>
                    <a:lstStyle/>
                    <a:p>
                      <a:r>
                        <a:rPr sz="800" b="0">
                          <a:solidFill>
                            <a:srgbClr val="111111"/>
                          </a:solidFill>
                          <a:latin typeface="Calibri"/>
                        </a:rPr>
                        <a:t>20%</a:t>
                      </a:r>
                    </a:p>
                  </a:txBody>
                  <a:tcPr>
                    <a:solidFill>
                      <a:srgbClr val="FFFFFF"/>
                    </a:solidFill>
                  </a:tcPr>
                </a:tc>
                <a:tc>
                  <a:txBody>
                    <a:bodyPr lIns="27432" tIns="18288" bIns="18288"/>
                    <a:lstStyle/>
                    <a:p>
                      <a:r>
                        <a:rPr sz="800" b="0">
                          <a:solidFill>
                            <a:srgbClr val="111111"/>
                          </a:solidFill>
                          <a:latin typeface="Calibri"/>
                        </a:rPr>
                        <a:t>₹630</a:t>
                      </a:r>
                    </a:p>
                  </a:txBody>
                  <a:tcPr>
                    <a:solidFill>
                      <a:srgbClr val="FFFFFF"/>
                    </a:solidFill>
                  </a:tcPr>
                </a:tc>
                <a:tc>
                  <a:txBody>
                    <a:bodyPr lIns="27432" tIns="18288" bIns="18288"/>
                    <a:lstStyle/>
                    <a:p>
                      <a:r>
                        <a:rPr sz="800" b="0">
                          <a:solidFill>
                            <a:srgbClr val="111111"/>
                          </a:solidFill>
                          <a:latin typeface="Calibri"/>
                        </a:rPr>
                        <a:t>-23.4%</a:t>
                      </a:r>
                    </a:p>
                  </a:txBody>
                  <a:tcPr>
                    <a:solidFill>
                      <a:srgbClr val="FFFFFF"/>
                    </a:solidFill>
                  </a:tcPr>
                </a:tc>
                <a:tc>
                  <a:txBody>
                    <a:bodyPr lIns="27432" tIns="18288" bIns="18288"/>
                    <a:lstStyle/>
                    <a:p>
                      <a:r>
                        <a:rPr sz="800" b="0">
                          <a:solidFill>
                            <a:srgbClr val="111111"/>
                          </a:solidFill>
                          <a:latin typeface="Calibri"/>
                        </a:rPr>
                        <a:t>Sustained F&amp;O headwinds, fintech share loss.</a:t>
                      </a:r>
                    </a:p>
                  </a:txBody>
                  <a:tcPr>
                    <a:solidFill>
                      <a:srgbClr val="FFFFFF"/>
                    </a:solidFill>
                  </a:tcPr>
                </a:tc>
              </a:tr>
              <a:tr h="292608">
                <a:tc>
                  <a:txBody>
                    <a:bodyPr lIns="27432" tIns="18288" bIns="18288"/>
                    <a:lstStyle/>
                    <a:p>
                      <a:r>
                        <a:rPr sz="800" b="0">
                          <a:solidFill>
                            <a:srgbClr val="111111"/>
                          </a:solidFill>
                          <a:latin typeface="Calibri"/>
                        </a:rPr>
                        <a:t>Prob. Weighted Avg.</a:t>
                      </a:r>
                    </a:p>
                  </a:txBody>
                  <a:tcPr>
                    <a:solidFill>
                      <a:srgbClr val="F5F7FA"/>
                    </a:solidFill>
                  </a:tcPr>
                </a:tc>
                <a:tc>
                  <a:txBody>
                    <a:bodyPr lIns="27432" tIns="18288" bIns="18288"/>
                    <a:lstStyle/>
                    <a:p>
                      <a:r>
                        <a:rPr sz="800" b="0">
                          <a:solidFill>
                            <a:srgbClr val="111111"/>
                          </a:solidFill>
                          <a:latin typeface="Calibri"/>
                        </a:rPr>
                        <a:t>100%</a:t>
                      </a:r>
                    </a:p>
                  </a:txBody>
                  <a:tcPr>
                    <a:solidFill>
                      <a:srgbClr val="F5F7FA"/>
                    </a:solidFill>
                  </a:tcPr>
                </a:tc>
                <a:tc>
                  <a:txBody>
                    <a:bodyPr lIns="27432" tIns="18288" bIns="18288"/>
                    <a:lstStyle/>
                    <a:p>
                      <a:r>
                        <a:rPr sz="800" b="0">
                          <a:solidFill>
                            <a:srgbClr val="111111"/>
                          </a:solidFill>
                          <a:latin typeface="Calibri"/>
                        </a:rPr>
                        <a:t>₹1,109</a:t>
                      </a:r>
                    </a:p>
                  </a:txBody>
                  <a:tcPr>
                    <a:solidFill>
                      <a:srgbClr val="F5F7FA"/>
                    </a:solidFill>
                  </a:tcPr>
                </a:tc>
                <a:tc>
                  <a:txBody>
                    <a:bodyPr lIns="27432" tIns="18288" bIns="18288"/>
                    <a:lstStyle/>
                    <a:p>
                      <a:r>
                        <a:rPr sz="800" b="0">
                          <a:solidFill>
                            <a:srgbClr val="111111"/>
                          </a:solidFill>
                          <a:latin typeface="Calibri"/>
                        </a:rPr>
                        <a:t>+34.8%</a:t>
                      </a:r>
                    </a:p>
                  </a:txBody>
                  <a:tcPr>
                    <a:solidFill>
                      <a:srgbClr val="F5F7FA"/>
                    </a:solidFill>
                  </a:tcPr>
                </a:tc>
                <a:tc>
                  <a:txBody>
                    <a:bodyPr lIns="27432" tIns="18288" bIns="18288"/>
                    <a:lstStyle/>
                    <a:p>
                      <a:r>
                        <a:rPr sz="800" b="0">
                          <a:solidFill>
                            <a:srgbClr val="111111"/>
                          </a:solidFill>
                          <a:latin typeface="Calibri"/>
                        </a:rPr>
                        <a:t>Blended scenario</a:t>
                      </a:r>
                    </a:p>
                  </a:txBody>
                  <a:tcPr>
                    <a:solidFill>
                      <a:srgbClr val="F5F7FA"/>
                    </a:solidFill>
                  </a:tcPr>
                </a:tc>
              </a:tr>
            </a:tbl>
          </a:graphicData>
        </a:graphic>
      </p:graphicFrame>
      <p:sp>
        <p:nvSpPr>
          <p:cNvPr id="21" name="TextBox 20"/>
          <p:cNvSpPr txBox="1"/>
          <p:nvPr/>
        </p:nvSpPr>
        <p:spPr>
          <a:xfrm>
            <a:off x="7516368" y="1078992"/>
            <a:ext cx="4315968" cy="182880"/>
          </a:xfrm>
          <a:prstGeom prst="rect">
            <a:avLst/>
          </a:prstGeom>
          <a:noFill/>
        </p:spPr>
        <p:txBody>
          <a:bodyPr wrap="square" lIns="36576" rIns="36576" tIns="9144" bIns="9144">
            <a:spAutoFit/>
          </a:bodyPr>
          <a:lstStyle/>
          <a:p>
            <a:r>
              <a:rPr sz="1000" b="1">
                <a:solidFill>
                  <a:srgbClr val="1F4690"/>
                </a:solidFill>
                <a:latin typeface="Calibri"/>
              </a:rPr>
              <a:t>Scenario Targets</a:t>
            </a:r>
          </a:p>
        </p:txBody>
      </p:sp>
      <p:sp>
        <p:nvSpPr>
          <p:cNvPr id="22" name="Rounded Rectangle 21"/>
          <p:cNvSpPr/>
          <p:nvPr/>
        </p:nvSpPr>
        <p:spPr>
          <a:xfrm>
            <a:off x="7516368" y="1335024"/>
            <a:ext cx="1383791" cy="178308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16368" y="1335024"/>
            <a:ext cx="1383791" cy="2194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71232" y="1362456"/>
            <a:ext cx="1274063" cy="164592"/>
          </a:xfrm>
          <a:prstGeom prst="rect">
            <a:avLst/>
          </a:prstGeom>
          <a:noFill/>
        </p:spPr>
        <p:txBody>
          <a:bodyPr wrap="square" lIns="36576" rIns="36576" tIns="9144" bIns="9144">
            <a:spAutoFit/>
          </a:bodyPr>
          <a:lstStyle/>
          <a:p>
            <a:pPr algn="ctr"/>
            <a:r>
              <a:rPr sz="800" b="1">
                <a:solidFill>
                  <a:srgbClr val="FFFFFF"/>
                </a:solidFill>
                <a:latin typeface="Calibri"/>
              </a:rPr>
              <a:t>BEAR CASE</a:t>
            </a:r>
          </a:p>
        </p:txBody>
      </p:sp>
      <p:sp>
        <p:nvSpPr>
          <p:cNvPr id="25" name="TextBox 24"/>
          <p:cNvSpPr txBox="1"/>
          <p:nvPr/>
        </p:nvSpPr>
        <p:spPr>
          <a:xfrm>
            <a:off x="7571232" y="1572768"/>
            <a:ext cx="1274063" cy="292608"/>
          </a:xfrm>
          <a:prstGeom prst="rect">
            <a:avLst/>
          </a:prstGeom>
          <a:noFill/>
        </p:spPr>
        <p:txBody>
          <a:bodyPr wrap="square" lIns="36576" rIns="36576" tIns="9144" bIns="9144">
            <a:spAutoFit/>
          </a:bodyPr>
          <a:lstStyle/>
          <a:p>
            <a:pPr algn="ctr"/>
            <a:r>
              <a:rPr sz="1800" b="1">
                <a:solidFill>
                  <a:srgbClr val="B91C1C"/>
                </a:solidFill>
                <a:latin typeface="Calibri"/>
              </a:rPr>
              <a:t>₹630</a:t>
            </a:r>
          </a:p>
        </p:txBody>
      </p:sp>
      <p:sp>
        <p:nvSpPr>
          <p:cNvPr id="26" name="TextBox 25"/>
          <p:cNvSpPr txBox="1"/>
          <p:nvPr/>
        </p:nvSpPr>
        <p:spPr>
          <a:xfrm>
            <a:off x="7571232" y="1874519"/>
            <a:ext cx="1274063" cy="182880"/>
          </a:xfrm>
          <a:prstGeom prst="rect">
            <a:avLst/>
          </a:prstGeom>
          <a:noFill/>
        </p:spPr>
        <p:txBody>
          <a:bodyPr wrap="square" lIns="36576" rIns="36576" tIns="9144" bIns="9144">
            <a:spAutoFit/>
          </a:bodyPr>
          <a:lstStyle/>
          <a:p>
            <a:pPr algn="ctr"/>
            <a:r>
              <a:rPr sz="900" b="1">
                <a:solidFill>
                  <a:srgbClr val="B91C1C"/>
                </a:solidFill>
                <a:latin typeface="Calibri"/>
              </a:rPr>
              <a:t>-23.4% vs CMP</a:t>
            </a:r>
          </a:p>
        </p:txBody>
      </p:sp>
      <p:sp>
        <p:nvSpPr>
          <p:cNvPr id="27" name="TextBox 26"/>
          <p:cNvSpPr txBox="1"/>
          <p:nvPr/>
        </p:nvSpPr>
        <p:spPr>
          <a:xfrm>
            <a:off x="7571232" y="2103120"/>
            <a:ext cx="1274063" cy="960119"/>
          </a:xfrm>
          <a:prstGeom prst="rect">
            <a:avLst/>
          </a:prstGeom>
          <a:noFill/>
        </p:spPr>
        <p:txBody>
          <a:bodyPr wrap="square" lIns="36576" rIns="36576" tIns="9144" bIns="9144">
            <a:spAutoFit/>
          </a:bodyPr>
          <a:lstStyle/>
          <a:p>
            <a:r>
              <a:rPr sz="800" b="0">
                <a:solidFill>
                  <a:srgbClr val="111111"/>
                </a:solidFill>
                <a:latin typeface="Calibri"/>
              </a:rPr>
              <a:t>Sustained F&amp;O headwinds, fintech share loss.</a:t>
            </a:r>
          </a:p>
        </p:txBody>
      </p:sp>
      <p:sp>
        <p:nvSpPr>
          <p:cNvPr id="28" name="Rounded Rectangle 27"/>
          <p:cNvSpPr/>
          <p:nvPr/>
        </p:nvSpPr>
        <p:spPr>
          <a:xfrm>
            <a:off x="8973312" y="1335024"/>
            <a:ext cx="1383791" cy="178308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73312" y="1335024"/>
            <a:ext cx="1383791" cy="2194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28176" y="1362456"/>
            <a:ext cx="1274063" cy="164592"/>
          </a:xfrm>
          <a:prstGeom prst="rect">
            <a:avLst/>
          </a:prstGeom>
          <a:noFill/>
        </p:spPr>
        <p:txBody>
          <a:bodyPr wrap="square" lIns="36576" rIns="36576" tIns="9144" bIns="9144">
            <a:spAutoFit/>
          </a:bodyPr>
          <a:lstStyle/>
          <a:p>
            <a:pPr algn="ctr"/>
            <a:r>
              <a:rPr sz="800" b="1">
                <a:solidFill>
                  <a:srgbClr val="FFFFFF"/>
                </a:solidFill>
                <a:latin typeface="Calibri"/>
              </a:rPr>
              <a:t>BASE CASE</a:t>
            </a:r>
          </a:p>
        </p:txBody>
      </p:sp>
      <p:sp>
        <p:nvSpPr>
          <p:cNvPr id="31" name="TextBox 30"/>
          <p:cNvSpPr txBox="1"/>
          <p:nvPr/>
        </p:nvSpPr>
        <p:spPr>
          <a:xfrm>
            <a:off x="9028176" y="1572768"/>
            <a:ext cx="1274063" cy="292608"/>
          </a:xfrm>
          <a:prstGeom prst="rect">
            <a:avLst/>
          </a:prstGeom>
          <a:noFill/>
        </p:spPr>
        <p:txBody>
          <a:bodyPr wrap="square" lIns="36576" rIns="36576" tIns="9144" bIns="9144">
            <a:spAutoFit/>
          </a:bodyPr>
          <a:lstStyle/>
          <a:p>
            <a:pPr algn="ctr"/>
            <a:r>
              <a:rPr sz="1800" b="1">
                <a:solidFill>
                  <a:srgbClr val="8A5C00"/>
                </a:solidFill>
                <a:latin typeface="Calibri"/>
              </a:rPr>
              <a:t>₹1,127</a:t>
            </a:r>
          </a:p>
        </p:txBody>
      </p:sp>
      <p:sp>
        <p:nvSpPr>
          <p:cNvPr id="32" name="TextBox 31"/>
          <p:cNvSpPr txBox="1"/>
          <p:nvPr/>
        </p:nvSpPr>
        <p:spPr>
          <a:xfrm>
            <a:off x="9028176" y="1874519"/>
            <a:ext cx="1274063" cy="182880"/>
          </a:xfrm>
          <a:prstGeom prst="rect">
            <a:avLst/>
          </a:prstGeom>
          <a:noFill/>
        </p:spPr>
        <p:txBody>
          <a:bodyPr wrap="square" lIns="36576" rIns="36576" tIns="9144" bIns="9144">
            <a:spAutoFit/>
          </a:bodyPr>
          <a:lstStyle/>
          <a:p>
            <a:pPr algn="ctr"/>
            <a:r>
              <a:rPr sz="900" b="1">
                <a:solidFill>
                  <a:srgbClr val="8A5C00"/>
                </a:solidFill>
                <a:latin typeface="Calibri"/>
              </a:rPr>
              <a:t>+37.0% vs CMP</a:t>
            </a:r>
          </a:p>
        </p:txBody>
      </p:sp>
      <p:sp>
        <p:nvSpPr>
          <p:cNvPr id="33" name="TextBox 32"/>
          <p:cNvSpPr txBox="1"/>
          <p:nvPr/>
        </p:nvSpPr>
        <p:spPr>
          <a:xfrm>
            <a:off x="9028176" y="2103120"/>
            <a:ext cx="1274063" cy="960119"/>
          </a:xfrm>
          <a:prstGeom prst="rect">
            <a:avLst/>
          </a:prstGeom>
          <a:noFill/>
        </p:spPr>
        <p:txBody>
          <a:bodyPr wrap="square" lIns="36576" rIns="36576" tIns="9144" bIns="9144">
            <a:spAutoFit/>
          </a:bodyPr>
          <a:lstStyle/>
          <a:p>
            <a:r>
              <a:rPr sz="800" b="0">
                <a:solidFill>
                  <a:srgbClr val="111111"/>
                </a:solidFill>
                <a:latin typeface="Calibri"/>
              </a:rPr>
              <a:t>ARR steady at 65%, AUM compounding, stable regulation.</a:t>
            </a:r>
          </a:p>
        </p:txBody>
      </p:sp>
      <p:sp>
        <p:nvSpPr>
          <p:cNvPr id="34" name="Rounded Rectangle 33"/>
          <p:cNvSpPr/>
          <p:nvPr/>
        </p:nvSpPr>
        <p:spPr>
          <a:xfrm>
            <a:off x="10430256" y="1335024"/>
            <a:ext cx="1383791" cy="1783080"/>
          </a:xfrm>
          <a:prstGeom prst="roundRect">
            <a:avLst/>
          </a:prstGeom>
          <a:solidFill>
            <a:srgbClr val="FFFFFF"/>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430256" y="1335024"/>
            <a:ext cx="1383791" cy="2194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485120" y="1362456"/>
            <a:ext cx="1274063" cy="164592"/>
          </a:xfrm>
          <a:prstGeom prst="rect">
            <a:avLst/>
          </a:prstGeom>
          <a:noFill/>
        </p:spPr>
        <p:txBody>
          <a:bodyPr wrap="square" lIns="36576" rIns="36576" tIns="9144" bIns="9144">
            <a:spAutoFit/>
          </a:bodyPr>
          <a:lstStyle/>
          <a:p>
            <a:pPr algn="ctr"/>
            <a:r>
              <a:rPr sz="800" b="1">
                <a:solidFill>
                  <a:srgbClr val="FFFFFF"/>
                </a:solidFill>
                <a:latin typeface="Calibri"/>
              </a:rPr>
              <a:t>BULL CASE</a:t>
            </a:r>
          </a:p>
        </p:txBody>
      </p:sp>
      <p:sp>
        <p:nvSpPr>
          <p:cNvPr id="37" name="TextBox 36"/>
          <p:cNvSpPr txBox="1"/>
          <p:nvPr/>
        </p:nvSpPr>
        <p:spPr>
          <a:xfrm>
            <a:off x="10485120" y="1572768"/>
            <a:ext cx="1274063" cy="292608"/>
          </a:xfrm>
          <a:prstGeom prst="rect">
            <a:avLst/>
          </a:prstGeom>
          <a:noFill/>
        </p:spPr>
        <p:txBody>
          <a:bodyPr wrap="square" lIns="36576" rIns="36576" tIns="9144" bIns="9144">
            <a:spAutoFit/>
          </a:bodyPr>
          <a:lstStyle/>
          <a:p>
            <a:pPr algn="ctr"/>
            <a:r>
              <a:rPr sz="1800" b="1">
                <a:solidFill>
                  <a:srgbClr val="1A7A4A"/>
                </a:solidFill>
                <a:latin typeface="Calibri"/>
              </a:rPr>
              <a:t>₹1,400</a:t>
            </a:r>
          </a:p>
        </p:txBody>
      </p:sp>
      <p:sp>
        <p:nvSpPr>
          <p:cNvPr id="38" name="TextBox 37"/>
          <p:cNvSpPr txBox="1"/>
          <p:nvPr/>
        </p:nvSpPr>
        <p:spPr>
          <a:xfrm>
            <a:off x="10485120" y="1874519"/>
            <a:ext cx="1274063" cy="182880"/>
          </a:xfrm>
          <a:prstGeom prst="rect">
            <a:avLst/>
          </a:prstGeom>
          <a:noFill/>
        </p:spPr>
        <p:txBody>
          <a:bodyPr wrap="square" lIns="36576" rIns="36576" tIns="9144" bIns="9144">
            <a:spAutoFit/>
          </a:bodyPr>
          <a:lstStyle/>
          <a:p>
            <a:pPr algn="ctr"/>
            <a:r>
              <a:rPr sz="900" b="1">
                <a:solidFill>
                  <a:srgbClr val="1A7A4A"/>
                </a:solidFill>
                <a:latin typeface="Calibri"/>
              </a:rPr>
              <a:t>+70.1% vs CMP</a:t>
            </a:r>
          </a:p>
        </p:txBody>
      </p:sp>
      <p:sp>
        <p:nvSpPr>
          <p:cNvPr id="39" name="TextBox 38"/>
          <p:cNvSpPr txBox="1"/>
          <p:nvPr/>
        </p:nvSpPr>
        <p:spPr>
          <a:xfrm>
            <a:off x="10485120" y="2103120"/>
            <a:ext cx="1274063" cy="960119"/>
          </a:xfrm>
          <a:prstGeom prst="rect">
            <a:avLst/>
          </a:prstGeom>
          <a:noFill/>
        </p:spPr>
        <p:txBody>
          <a:bodyPr wrap="square" lIns="36576" rIns="36576" tIns="9144" bIns="9144">
            <a:spAutoFit/>
          </a:bodyPr>
          <a:lstStyle/>
          <a:p>
            <a:r>
              <a:rPr sz="800" b="0">
                <a:solidFill>
                  <a:srgbClr val="111111"/>
                </a:solidFill>
                <a:latin typeface="Calibri"/>
              </a:rPr>
              <a:t>ARR &gt; 70%, AMC AUM +40% YoY, regulatory clarity.</a:t>
            </a:r>
          </a:p>
        </p:txBody>
      </p:sp>
      <p:sp>
        <p:nvSpPr>
          <p:cNvPr id="40" name="Rounded Rectangle 39"/>
          <p:cNvSpPr/>
          <p:nvPr/>
        </p:nvSpPr>
        <p:spPr>
          <a:xfrm>
            <a:off x="7516368" y="3209544"/>
            <a:ext cx="4315968" cy="1463040"/>
          </a:xfrm>
          <a:prstGeom prst="roundRect">
            <a:avLst/>
          </a:prstGeom>
          <a:solidFill>
            <a:srgbClr val="F9FAFB"/>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16368" y="3246120"/>
            <a:ext cx="32004" cy="138988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7808" y="3264408"/>
            <a:ext cx="4169663" cy="164592"/>
          </a:xfrm>
          <a:prstGeom prst="rect">
            <a:avLst/>
          </a:prstGeom>
          <a:noFill/>
        </p:spPr>
        <p:txBody>
          <a:bodyPr wrap="square" lIns="36576" rIns="36576" tIns="9144" bIns="9144">
            <a:spAutoFit/>
          </a:bodyPr>
          <a:lstStyle/>
          <a:p>
            <a:r>
              <a:rPr sz="900" b="1">
                <a:solidFill>
                  <a:srgbClr val="1F4690"/>
                </a:solidFill>
                <a:latin typeface="Calibri"/>
              </a:rPr>
              <a:t>Valuation Conviction: Why 37% Upside Is Conservative</a:t>
            </a:r>
          </a:p>
        </p:txBody>
      </p:sp>
      <p:sp>
        <p:nvSpPr>
          <p:cNvPr id="43" name="TextBox 42"/>
          <p:cNvSpPr txBox="1"/>
          <p:nvPr/>
        </p:nvSpPr>
        <p:spPr>
          <a:xfrm>
            <a:off x="7607808" y="3447288"/>
            <a:ext cx="4169663" cy="1170432"/>
          </a:xfrm>
          <a:prstGeom prst="rect">
            <a:avLst/>
          </a:prstGeom>
          <a:noFill/>
        </p:spPr>
        <p:txBody>
          <a:bodyPr wrap="square" lIns="36576" rIns="36576" tIns="9144" bIns="9144">
            <a:spAutoFit/>
          </a:bodyPr>
          <a:lstStyle/>
          <a:p>
            <a:r>
              <a:rPr sz="800" b="0">
                <a:solidFill>
                  <a:srgbClr val="111111"/>
                </a:solidFill>
                <a:latin typeface="Calibri"/>
              </a:rPr>
              <a:t>At a P/E of 24.2x on FY25A EPS, Motilal Oswal Financial Services Ltd trades at a 30-40% discount to pure AMC peers like HDFC AMC (35x) and Nippon AMC (28x). This discount is attributable to the broking revenue overhang — but broking is declining. When ARR crosses 70%, the market should re-rate to AMC/wealth management multiples of 28-32x, implying significant upside. Our ₹1,127 base case is conse…</a:t>
            </a:r>
          </a:p>
        </p:txBody>
      </p:sp>
      <p:sp>
        <p:nvSpPr>
          <p:cNvPr id="44" name="Rounded Rectangle 43"/>
          <p:cNvSpPr/>
          <p:nvPr/>
        </p:nvSpPr>
        <p:spPr>
          <a:xfrm>
            <a:off x="7516368" y="4764024"/>
            <a:ext cx="4315968" cy="1371600"/>
          </a:xfrm>
          <a:prstGeom prst="roundRect">
            <a:avLst/>
          </a:prstGeom>
          <a:solidFill>
            <a:srgbClr val="F9FAFB"/>
          </a:solidFill>
          <a:ln w="8890">
            <a:solidFill>
              <a:srgbClr val="D0D5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516368" y="4800600"/>
            <a:ext cx="32004" cy="129844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07808" y="4818888"/>
            <a:ext cx="4169663" cy="164592"/>
          </a:xfrm>
          <a:prstGeom prst="rect">
            <a:avLst/>
          </a:prstGeom>
          <a:noFill/>
        </p:spPr>
        <p:txBody>
          <a:bodyPr wrap="square" lIns="36576" rIns="36576" tIns="9144" bIns="9144">
            <a:spAutoFit/>
          </a:bodyPr>
          <a:lstStyle/>
          <a:p>
            <a:r>
              <a:rPr sz="900" b="1">
                <a:solidFill>
                  <a:srgbClr val="1F4690"/>
                </a:solidFill>
                <a:latin typeface="Calibri"/>
              </a:rPr>
              <a:t>Entry Strategy: INR 800-850 Is Optimal Range</a:t>
            </a:r>
          </a:p>
        </p:txBody>
      </p:sp>
      <p:sp>
        <p:nvSpPr>
          <p:cNvPr id="47" name="TextBox 46"/>
          <p:cNvSpPr txBox="1"/>
          <p:nvPr/>
        </p:nvSpPr>
        <p:spPr>
          <a:xfrm>
            <a:off x="7607808" y="5001768"/>
            <a:ext cx="4169663" cy="1078992"/>
          </a:xfrm>
          <a:prstGeom prst="rect">
            <a:avLst/>
          </a:prstGeom>
          <a:noFill/>
        </p:spPr>
        <p:txBody>
          <a:bodyPr wrap="square" lIns="36576" rIns="36576" tIns="9144" bIns="9144">
            <a:spAutoFit/>
          </a:bodyPr>
          <a:lstStyle/>
          <a:p>
            <a:r>
              <a:rPr sz="800" b="0">
                <a:solidFill>
                  <a:srgbClr val="111111"/>
                </a:solidFill>
                <a:latin typeface="Calibri"/>
              </a:rPr>
              <a:t>The INR 800-850 entry range (current CMP ₹823) represents a 15-20% discount to analyst consensus target. 15-20% discount to analyst consensus target — margin of safety. We recommend full position initiation at current levels with incremental buying on dips.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SAARTHI Framework</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16 of 20</a:t>
            </a:r>
          </a:p>
        </p:txBody>
      </p:sp>
      <p:sp>
        <p:nvSpPr>
          <p:cNvPr id="13" name="Rounded Rectangle 12"/>
          <p:cNvSpPr/>
          <p:nvPr/>
        </p:nvSpPr>
        <p:spPr>
          <a:xfrm>
            <a:off x="292608" y="1170432"/>
            <a:ext cx="11612880" cy="475488"/>
          </a:xfrm>
          <a:prstGeom prst="roundRect">
            <a:avLst/>
          </a:prstGeom>
          <a:solidFill>
            <a:srgbClr val="FFF0CC"/>
          </a:solidFill>
          <a:ln w="8890">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280160"/>
            <a:ext cx="1463040" cy="182880"/>
          </a:xfrm>
          <a:prstGeom prst="rect">
            <a:avLst/>
          </a:prstGeom>
          <a:noFill/>
        </p:spPr>
        <p:txBody>
          <a:bodyPr wrap="square" lIns="27432" rIns="27432" tIns="4572" bIns="4572">
            <a:spAutoFit/>
          </a:bodyPr>
          <a:lstStyle/>
          <a:p>
            <a:r>
              <a:rPr sz="1100" b="1">
                <a:solidFill>
                  <a:srgbClr val="1F4690"/>
                </a:solidFill>
                <a:latin typeface="Calibri"/>
              </a:rPr>
              <a:t>SAARTHI Total Score:</a:t>
            </a:r>
          </a:p>
        </p:txBody>
      </p:sp>
      <p:sp>
        <p:nvSpPr>
          <p:cNvPr id="15" name="TextBox 14"/>
          <p:cNvSpPr txBox="1"/>
          <p:nvPr/>
        </p:nvSpPr>
        <p:spPr>
          <a:xfrm>
            <a:off x="1938528" y="1243584"/>
            <a:ext cx="1097280" cy="256032"/>
          </a:xfrm>
          <a:prstGeom prst="rect">
            <a:avLst/>
          </a:prstGeom>
          <a:noFill/>
        </p:spPr>
        <p:txBody>
          <a:bodyPr wrap="square" lIns="27432" rIns="27432" tIns="4572" bIns="4572">
            <a:spAutoFit/>
          </a:bodyPr>
          <a:lstStyle/>
          <a:p>
            <a:r>
              <a:rPr sz="1600" b="1">
                <a:solidFill>
                  <a:srgbClr val="1F4690"/>
                </a:solidFill>
                <a:latin typeface="Calibri"/>
              </a:rPr>
              <a:t>72 / 100</a:t>
            </a:r>
          </a:p>
        </p:txBody>
      </p:sp>
      <p:sp>
        <p:nvSpPr>
          <p:cNvPr id="16" name="Rounded Rectangle 15"/>
          <p:cNvSpPr/>
          <p:nvPr/>
        </p:nvSpPr>
        <p:spPr>
          <a:xfrm>
            <a:off x="3172968" y="1280160"/>
            <a:ext cx="1645920" cy="237744"/>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18688" y="1316736"/>
            <a:ext cx="1554480" cy="128016"/>
          </a:xfrm>
          <a:prstGeom prst="rect">
            <a:avLst/>
          </a:prstGeom>
          <a:noFill/>
        </p:spPr>
        <p:txBody>
          <a:bodyPr wrap="square" lIns="27432" rIns="27432" tIns="4572" bIns="4572">
            <a:spAutoFit/>
          </a:bodyPr>
          <a:lstStyle/>
          <a:p>
            <a:pPr algn="ctr"/>
            <a:r>
              <a:rPr sz="800" b="1">
                <a:solidFill>
                  <a:srgbClr val="1F4690"/>
                </a:solidFill>
                <a:latin typeface="Calibri"/>
              </a:rPr>
              <a:t>BUY (70-84 RANGE)</a:t>
            </a:r>
          </a:p>
        </p:txBody>
      </p:sp>
      <p:sp>
        <p:nvSpPr>
          <p:cNvPr id="18" name="TextBox 17"/>
          <p:cNvSpPr txBox="1"/>
          <p:nvPr/>
        </p:nvSpPr>
        <p:spPr>
          <a:xfrm>
            <a:off x="4956048" y="1307592"/>
            <a:ext cx="3566160" cy="146304"/>
          </a:xfrm>
          <a:prstGeom prst="rect">
            <a:avLst/>
          </a:prstGeom>
          <a:noFill/>
        </p:spPr>
        <p:txBody>
          <a:bodyPr wrap="square" lIns="27432" rIns="27432" tIns="4572" bIns="4572">
            <a:spAutoFit/>
          </a:bodyPr>
          <a:lstStyle/>
          <a:p>
            <a:r>
              <a:rPr sz="800" b="0">
                <a:solidFill>
                  <a:srgbClr val="111111"/>
                </a:solidFill>
                <a:latin typeface="Calibri"/>
              </a:rPr>
              <a:t>Strongest: Addressable Market &amp; Adjacency (9/10)</a:t>
            </a:r>
          </a:p>
        </p:txBody>
      </p:sp>
      <p:sp>
        <p:nvSpPr>
          <p:cNvPr id="19" name="TextBox 18"/>
          <p:cNvSpPr txBox="1"/>
          <p:nvPr/>
        </p:nvSpPr>
        <p:spPr>
          <a:xfrm>
            <a:off x="8385048" y="1307592"/>
            <a:ext cx="3794760" cy="146304"/>
          </a:xfrm>
          <a:prstGeom prst="rect">
            <a:avLst/>
          </a:prstGeom>
          <a:noFill/>
        </p:spPr>
        <p:txBody>
          <a:bodyPr wrap="square" lIns="27432" rIns="27432" tIns="4572" bIns="4572">
            <a:spAutoFit/>
          </a:bodyPr>
          <a:lstStyle/>
          <a:p>
            <a:r>
              <a:rPr sz="800" b="0">
                <a:solidFill>
                  <a:srgbClr val="111111"/>
                </a:solidFill>
                <a:latin typeface="Calibri"/>
              </a:rPr>
              <a:t>Weakest: Asymmetric Pricing Power (10/15)</a:t>
            </a:r>
          </a:p>
        </p:txBody>
      </p:sp>
      <p:sp>
        <p:nvSpPr>
          <p:cNvPr id="20" name="TextBox 19"/>
          <p:cNvSpPr txBox="1"/>
          <p:nvPr/>
        </p:nvSpPr>
        <p:spPr>
          <a:xfrm>
            <a:off x="310896" y="1828800"/>
            <a:ext cx="4937759" cy="164592"/>
          </a:xfrm>
          <a:prstGeom prst="rect">
            <a:avLst/>
          </a:prstGeom>
          <a:noFill/>
        </p:spPr>
        <p:txBody>
          <a:bodyPr wrap="square" lIns="27432" rIns="27432" tIns="4572" bIns="4572">
            <a:spAutoFit/>
          </a:bodyPr>
          <a:lstStyle/>
          <a:p>
            <a:r>
              <a:rPr sz="800" b="1">
                <a:solidFill>
                  <a:srgbClr val="1F4690"/>
                </a:solidFill>
                <a:latin typeface="Calibri"/>
              </a:rPr>
              <a:t>S - Scalability of Core Engine</a:t>
            </a:r>
          </a:p>
        </p:txBody>
      </p:sp>
      <p:sp>
        <p:nvSpPr>
          <p:cNvPr id="21" name="TextBox 20"/>
          <p:cNvSpPr txBox="1"/>
          <p:nvPr/>
        </p:nvSpPr>
        <p:spPr>
          <a:xfrm>
            <a:off x="5266944" y="1828800"/>
            <a:ext cx="621792" cy="164592"/>
          </a:xfrm>
          <a:prstGeom prst="rect">
            <a:avLst/>
          </a:prstGeom>
          <a:noFill/>
        </p:spPr>
        <p:txBody>
          <a:bodyPr wrap="square" lIns="27432" rIns="27432" tIns="4572" bIns="4572">
            <a:spAutoFit/>
          </a:bodyPr>
          <a:lstStyle/>
          <a:p>
            <a:pPr algn="r"/>
            <a:r>
              <a:rPr sz="1000" b="1">
                <a:solidFill>
                  <a:srgbClr val="1F4690"/>
                </a:solidFill>
                <a:latin typeface="Calibri"/>
              </a:rPr>
              <a:t>12 / 15</a:t>
            </a:r>
          </a:p>
        </p:txBody>
      </p:sp>
      <p:sp>
        <p:nvSpPr>
          <p:cNvPr id="22" name="Rectangle 21"/>
          <p:cNvSpPr/>
          <p:nvPr/>
        </p:nvSpPr>
        <p:spPr>
          <a:xfrm>
            <a:off x="310896" y="2029968"/>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0896" y="2029968"/>
            <a:ext cx="4462272"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0896" y="2121408"/>
            <a:ext cx="5577840" cy="475488"/>
          </a:xfrm>
          <a:prstGeom prst="rect">
            <a:avLst/>
          </a:prstGeom>
          <a:noFill/>
        </p:spPr>
        <p:txBody>
          <a:bodyPr wrap="square" lIns="27432" rIns="27432" tIns="4572" bIns="4572">
            <a:spAutoFit/>
          </a:bodyPr>
          <a:lstStyle/>
          <a:p>
            <a:r>
              <a:rPr sz="750" b="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 AMC AUM +33% YoY to INR 1.89L Cr with INR 11,610 Cr net flows.</a:t>
            </a:r>
          </a:p>
        </p:txBody>
      </p:sp>
      <p:sp>
        <p:nvSpPr>
          <p:cNvPr id="25" name="TextBox 24"/>
          <p:cNvSpPr txBox="1"/>
          <p:nvPr/>
        </p:nvSpPr>
        <p:spPr>
          <a:xfrm>
            <a:off x="310896" y="2688336"/>
            <a:ext cx="4937759" cy="164592"/>
          </a:xfrm>
          <a:prstGeom prst="rect">
            <a:avLst/>
          </a:prstGeom>
          <a:noFill/>
        </p:spPr>
        <p:txBody>
          <a:bodyPr wrap="square" lIns="27432" rIns="27432" tIns="4572" bIns="4572">
            <a:spAutoFit/>
          </a:bodyPr>
          <a:lstStyle/>
          <a:p>
            <a:r>
              <a:rPr sz="800" b="1">
                <a:solidFill>
                  <a:srgbClr val="1F4690"/>
                </a:solidFill>
                <a:latin typeface="Calibri"/>
              </a:rPr>
              <a:t>A1 - Addressable Market &amp; Adjacency (Strongest)</a:t>
            </a:r>
          </a:p>
        </p:txBody>
      </p:sp>
      <p:sp>
        <p:nvSpPr>
          <p:cNvPr id="26" name="TextBox 25"/>
          <p:cNvSpPr txBox="1"/>
          <p:nvPr/>
        </p:nvSpPr>
        <p:spPr>
          <a:xfrm>
            <a:off x="5266944" y="2688336"/>
            <a:ext cx="621792" cy="164592"/>
          </a:xfrm>
          <a:prstGeom prst="rect">
            <a:avLst/>
          </a:prstGeom>
          <a:noFill/>
        </p:spPr>
        <p:txBody>
          <a:bodyPr wrap="square" lIns="27432" rIns="27432" tIns="4572" bIns="4572">
            <a:spAutoFit/>
          </a:bodyPr>
          <a:lstStyle/>
          <a:p>
            <a:pPr algn="r"/>
            <a:r>
              <a:rPr sz="1000" b="1">
                <a:solidFill>
                  <a:srgbClr val="1F4690"/>
                </a:solidFill>
                <a:latin typeface="Calibri"/>
              </a:rPr>
              <a:t>9 / 10</a:t>
            </a:r>
          </a:p>
        </p:txBody>
      </p:sp>
      <p:sp>
        <p:nvSpPr>
          <p:cNvPr id="27" name="Rectangle 26"/>
          <p:cNvSpPr/>
          <p:nvPr/>
        </p:nvSpPr>
        <p:spPr>
          <a:xfrm>
            <a:off x="310896" y="2889504"/>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10896" y="2889504"/>
            <a:ext cx="5020056"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0896" y="2980944"/>
            <a:ext cx="5577840" cy="475488"/>
          </a:xfrm>
          <a:prstGeom prst="rect">
            <a:avLst/>
          </a:prstGeom>
          <a:noFill/>
        </p:spPr>
        <p:txBody>
          <a:bodyPr wrap="square" lIns="27432" rIns="27432" tIns="4572" bIns="4572">
            <a:spAutoFit/>
          </a:bodyPr>
          <a:lstStyle/>
          <a:p>
            <a:r>
              <a:rPr sz="750" b="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 India private credit hit USD 9.0 Bn in H1 2025 (+53% YoY).</a:t>
            </a:r>
          </a:p>
        </p:txBody>
      </p:sp>
      <p:sp>
        <p:nvSpPr>
          <p:cNvPr id="30" name="TextBox 29"/>
          <p:cNvSpPr txBox="1"/>
          <p:nvPr/>
        </p:nvSpPr>
        <p:spPr>
          <a:xfrm>
            <a:off x="310896" y="3547872"/>
            <a:ext cx="4937759" cy="164592"/>
          </a:xfrm>
          <a:prstGeom prst="rect">
            <a:avLst/>
          </a:prstGeom>
          <a:noFill/>
        </p:spPr>
        <p:txBody>
          <a:bodyPr wrap="square" lIns="27432" rIns="27432" tIns="4572" bIns="4572">
            <a:spAutoFit/>
          </a:bodyPr>
          <a:lstStyle/>
          <a:p>
            <a:r>
              <a:rPr sz="800" b="1">
                <a:solidFill>
                  <a:srgbClr val="1F4690"/>
                </a:solidFill>
                <a:latin typeface="Calibri"/>
              </a:rPr>
              <a:t>A2 - Asymmetric Pricing Power (Weakest)</a:t>
            </a:r>
          </a:p>
        </p:txBody>
      </p:sp>
      <p:sp>
        <p:nvSpPr>
          <p:cNvPr id="31" name="TextBox 30"/>
          <p:cNvSpPr txBox="1"/>
          <p:nvPr/>
        </p:nvSpPr>
        <p:spPr>
          <a:xfrm>
            <a:off x="5266944" y="3547872"/>
            <a:ext cx="621792" cy="164592"/>
          </a:xfrm>
          <a:prstGeom prst="rect">
            <a:avLst/>
          </a:prstGeom>
          <a:noFill/>
        </p:spPr>
        <p:txBody>
          <a:bodyPr wrap="square" lIns="27432" rIns="27432" tIns="4572" bIns="4572">
            <a:spAutoFit/>
          </a:bodyPr>
          <a:lstStyle/>
          <a:p>
            <a:pPr algn="r"/>
            <a:r>
              <a:rPr sz="1000" b="1">
                <a:solidFill>
                  <a:srgbClr val="1F4690"/>
                </a:solidFill>
                <a:latin typeface="Calibri"/>
              </a:rPr>
              <a:t>10 / 15</a:t>
            </a:r>
          </a:p>
        </p:txBody>
      </p:sp>
      <p:sp>
        <p:nvSpPr>
          <p:cNvPr id="32" name="Rectangle 31"/>
          <p:cNvSpPr/>
          <p:nvPr/>
        </p:nvSpPr>
        <p:spPr>
          <a:xfrm>
            <a:off x="310896" y="3749039"/>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10896" y="3749039"/>
            <a:ext cx="3718560" cy="5029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0896" y="3840480"/>
            <a:ext cx="5577840" cy="475488"/>
          </a:xfrm>
          <a:prstGeom prst="rect">
            <a:avLst/>
          </a:prstGeom>
          <a:noFill/>
        </p:spPr>
        <p:txBody>
          <a:bodyPr wrap="square" lIns="27432" rIns="27432" tIns="4572" bIns="4572">
            <a:spAutoFit/>
          </a:bodyPr>
          <a:lstStyle/>
          <a:p>
            <a:r>
              <a:rPr sz="750" b="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 Diversified mix offset 24% brokerage decline, validating partial pricing-power hedge.</a:t>
            </a:r>
          </a:p>
        </p:txBody>
      </p:sp>
      <p:sp>
        <p:nvSpPr>
          <p:cNvPr id="35" name="TextBox 34"/>
          <p:cNvSpPr txBox="1"/>
          <p:nvPr/>
        </p:nvSpPr>
        <p:spPr>
          <a:xfrm>
            <a:off x="310896" y="4407408"/>
            <a:ext cx="4937759" cy="164592"/>
          </a:xfrm>
          <a:prstGeom prst="rect">
            <a:avLst/>
          </a:prstGeom>
          <a:noFill/>
        </p:spPr>
        <p:txBody>
          <a:bodyPr wrap="square" lIns="27432" rIns="27432" tIns="4572" bIns="4572">
            <a:spAutoFit/>
          </a:bodyPr>
          <a:lstStyle/>
          <a:p>
            <a:r>
              <a:rPr sz="800" b="1">
                <a:solidFill>
                  <a:srgbClr val="1F4690"/>
                </a:solidFill>
                <a:latin typeface="Calibri"/>
              </a:rPr>
              <a:t>R - Reinvestment Quality</a:t>
            </a:r>
          </a:p>
        </p:txBody>
      </p:sp>
      <p:sp>
        <p:nvSpPr>
          <p:cNvPr id="36" name="TextBox 35"/>
          <p:cNvSpPr txBox="1"/>
          <p:nvPr/>
        </p:nvSpPr>
        <p:spPr>
          <a:xfrm>
            <a:off x="5266944" y="4407408"/>
            <a:ext cx="621792" cy="164592"/>
          </a:xfrm>
          <a:prstGeom prst="rect">
            <a:avLst/>
          </a:prstGeom>
          <a:noFill/>
        </p:spPr>
        <p:txBody>
          <a:bodyPr wrap="square" lIns="27432" rIns="27432" tIns="4572" bIns="4572">
            <a:spAutoFit/>
          </a:bodyPr>
          <a:lstStyle/>
          <a:p>
            <a:pPr algn="r"/>
            <a:r>
              <a:rPr sz="1000" b="1">
                <a:solidFill>
                  <a:srgbClr val="1F4690"/>
                </a:solidFill>
                <a:latin typeface="Calibri"/>
              </a:rPr>
              <a:t>13 / 15</a:t>
            </a:r>
          </a:p>
        </p:txBody>
      </p:sp>
      <p:sp>
        <p:nvSpPr>
          <p:cNvPr id="37" name="Rectangle 36"/>
          <p:cNvSpPr/>
          <p:nvPr/>
        </p:nvSpPr>
        <p:spPr>
          <a:xfrm>
            <a:off x="310896" y="4608576"/>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10896" y="4608576"/>
            <a:ext cx="4834128"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0896" y="4700016"/>
            <a:ext cx="5577840" cy="475488"/>
          </a:xfrm>
          <a:prstGeom prst="rect">
            <a:avLst/>
          </a:prstGeom>
          <a:noFill/>
        </p:spPr>
        <p:txBody>
          <a:bodyPr wrap="square" lIns="27432" rIns="27432" tIns="4572" bIns="4572">
            <a:spAutoFit/>
          </a:bodyPr>
          <a:lstStyle/>
          <a:p>
            <a:r>
              <a:rPr sz="750" b="0">
                <a:solidFill>
                  <a:srgbClr val="111111"/>
                </a:solidFill>
                <a:latin typeface="Calibri"/>
              </a:rPr>
              <a:t>MCap INR 49,079 Cr (+24.8% YoY); P/E 24.2; P/B 3.82. Strong RoCE; disciplined allocation into high-return fee businesses. Reinvestment in tech, talent, distribution, research generates sustainable advantage. PWM AUM +31% YoY to INR 1.96L Cr; family count +41%; PAT +14% (9M).</a:t>
            </a:r>
          </a:p>
        </p:txBody>
      </p:sp>
      <p:sp>
        <p:nvSpPr>
          <p:cNvPr id="40" name="TextBox 39"/>
          <p:cNvSpPr txBox="1"/>
          <p:nvPr/>
        </p:nvSpPr>
        <p:spPr>
          <a:xfrm>
            <a:off x="6181344" y="1828800"/>
            <a:ext cx="4937759" cy="164592"/>
          </a:xfrm>
          <a:prstGeom prst="rect">
            <a:avLst/>
          </a:prstGeom>
          <a:noFill/>
        </p:spPr>
        <p:txBody>
          <a:bodyPr wrap="square" lIns="27432" rIns="27432" tIns="4572" bIns="4572">
            <a:spAutoFit/>
          </a:bodyPr>
          <a:lstStyle/>
          <a:p>
            <a:r>
              <a:rPr sz="800" b="1">
                <a:solidFill>
                  <a:srgbClr val="1F4690"/>
                </a:solidFill>
                <a:latin typeface="Calibri"/>
              </a:rPr>
              <a:t>T - Track Record Through Adversity</a:t>
            </a:r>
          </a:p>
        </p:txBody>
      </p:sp>
      <p:sp>
        <p:nvSpPr>
          <p:cNvPr id="41" name="TextBox 40"/>
          <p:cNvSpPr txBox="1"/>
          <p:nvPr/>
        </p:nvSpPr>
        <p:spPr>
          <a:xfrm>
            <a:off x="11137392" y="1828800"/>
            <a:ext cx="621792" cy="164592"/>
          </a:xfrm>
          <a:prstGeom prst="rect">
            <a:avLst/>
          </a:prstGeom>
          <a:noFill/>
        </p:spPr>
        <p:txBody>
          <a:bodyPr wrap="square" lIns="27432" rIns="27432" tIns="4572" bIns="4572">
            <a:spAutoFit/>
          </a:bodyPr>
          <a:lstStyle/>
          <a:p>
            <a:pPr algn="r"/>
            <a:r>
              <a:rPr sz="1000" b="1">
                <a:solidFill>
                  <a:srgbClr val="1F4690"/>
                </a:solidFill>
                <a:latin typeface="Calibri"/>
              </a:rPr>
              <a:t>8 / 10</a:t>
            </a:r>
          </a:p>
        </p:txBody>
      </p:sp>
      <p:sp>
        <p:nvSpPr>
          <p:cNvPr id="42" name="Rectangle 41"/>
          <p:cNvSpPr/>
          <p:nvPr/>
        </p:nvSpPr>
        <p:spPr>
          <a:xfrm>
            <a:off x="6181344" y="2029968"/>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81344" y="2029968"/>
            <a:ext cx="4462272"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81344" y="2121408"/>
            <a:ext cx="5577840" cy="475488"/>
          </a:xfrm>
          <a:prstGeom prst="rect">
            <a:avLst/>
          </a:prstGeom>
          <a:noFill/>
        </p:spPr>
        <p:txBody>
          <a:bodyPr wrap="square" lIns="27432" rIns="27432" tIns="4572" bIns="4572">
            <a:spAutoFit/>
          </a:bodyPr>
          <a:lstStyle/>
          <a:p>
            <a:r>
              <a:rPr sz="750" b="0">
                <a:solidFill>
                  <a:srgbClr val="111111"/>
                </a:solidFill>
                <a:latin typeface="Calibri"/>
              </a:rPr>
              <a:t>Q2FY25 PAT INR 1,242 Cr (+123% YoY), 46% revenue growth, 48% RoE — recovery and execution. Q2FY26 PAT -67.6% YoY, revenue -34.9% YoY shows residual cyclicality from F&amp;O regulation. Continuity across cycles maintained. Despite repeated SEBI interventions, AUM and ARR base continue to compound — institutional resilience.</a:t>
            </a:r>
          </a:p>
        </p:txBody>
      </p:sp>
      <p:sp>
        <p:nvSpPr>
          <p:cNvPr id="45" name="TextBox 44"/>
          <p:cNvSpPr txBox="1"/>
          <p:nvPr/>
        </p:nvSpPr>
        <p:spPr>
          <a:xfrm>
            <a:off x="6181344" y="2688336"/>
            <a:ext cx="4937759" cy="164592"/>
          </a:xfrm>
          <a:prstGeom prst="rect">
            <a:avLst/>
          </a:prstGeom>
          <a:noFill/>
        </p:spPr>
        <p:txBody>
          <a:bodyPr wrap="square" lIns="27432" rIns="27432" tIns="4572" bIns="4572">
            <a:spAutoFit/>
          </a:bodyPr>
          <a:lstStyle/>
          <a:p>
            <a:r>
              <a:rPr sz="800" b="1">
                <a:solidFill>
                  <a:srgbClr val="1F4690"/>
                </a:solidFill>
                <a:latin typeface="Calibri"/>
              </a:rPr>
              <a:t>H - Human Capital &amp; Institutional DNA</a:t>
            </a:r>
          </a:p>
        </p:txBody>
      </p:sp>
      <p:sp>
        <p:nvSpPr>
          <p:cNvPr id="46" name="TextBox 45"/>
          <p:cNvSpPr txBox="1"/>
          <p:nvPr/>
        </p:nvSpPr>
        <p:spPr>
          <a:xfrm>
            <a:off x="11137392" y="2688336"/>
            <a:ext cx="621792" cy="164592"/>
          </a:xfrm>
          <a:prstGeom prst="rect">
            <a:avLst/>
          </a:prstGeom>
          <a:noFill/>
        </p:spPr>
        <p:txBody>
          <a:bodyPr wrap="square" lIns="27432" rIns="27432" tIns="4572" bIns="4572">
            <a:spAutoFit/>
          </a:bodyPr>
          <a:lstStyle/>
          <a:p>
            <a:pPr algn="r"/>
            <a:r>
              <a:rPr sz="1000" b="1">
                <a:solidFill>
                  <a:srgbClr val="1F4690"/>
                </a:solidFill>
                <a:latin typeface="Calibri"/>
              </a:rPr>
              <a:t>9 / 10</a:t>
            </a:r>
          </a:p>
        </p:txBody>
      </p:sp>
      <p:sp>
        <p:nvSpPr>
          <p:cNvPr id="47" name="Rectangle 46"/>
          <p:cNvSpPr/>
          <p:nvPr/>
        </p:nvSpPr>
        <p:spPr>
          <a:xfrm>
            <a:off x="6181344" y="2889504"/>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81344" y="2889504"/>
            <a:ext cx="5020056" cy="502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81344" y="2980944"/>
            <a:ext cx="5577840" cy="475488"/>
          </a:xfrm>
          <a:prstGeom prst="rect">
            <a:avLst/>
          </a:prstGeom>
          <a:noFill/>
        </p:spPr>
        <p:txBody>
          <a:bodyPr wrap="square" lIns="27432" rIns="27432" tIns="4572" bIns="4572">
            <a:spAutoFit/>
          </a:bodyPr>
          <a:lstStyle/>
          <a:p>
            <a:r>
              <a:rPr sz="750" b="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 Rashtriya Samman Patra recipient (top tax-payer FY95–FY99) signals early ethical commercial success.</a:t>
            </a:r>
          </a:p>
        </p:txBody>
      </p:sp>
      <p:sp>
        <p:nvSpPr>
          <p:cNvPr id="50" name="TextBox 49"/>
          <p:cNvSpPr txBox="1"/>
          <p:nvPr/>
        </p:nvSpPr>
        <p:spPr>
          <a:xfrm>
            <a:off x="6181344" y="3547872"/>
            <a:ext cx="4937759" cy="164592"/>
          </a:xfrm>
          <a:prstGeom prst="rect">
            <a:avLst/>
          </a:prstGeom>
          <a:noFill/>
        </p:spPr>
        <p:txBody>
          <a:bodyPr wrap="square" lIns="27432" rIns="27432" tIns="4572" bIns="4572">
            <a:spAutoFit/>
          </a:bodyPr>
          <a:lstStyle/>
          <a:p>
            <a:r>
              <a:rPr sz="800" b="1">
                <a:solidFill>
                  <a:srgbClr val="1F4690"/>
                </a:solidFill>
                <a:latin typeface="Calibri"/>
              </a:rPr>
              <a:t>I - Inflection Point Identification</a:t>
            </a:r>
          </a:p>
        </p:txBody>
      </p:sp>
      <p:sp>
        <p:nvSpPr>
          <p:cNvPr id="51" name="TextBox 50"/>
          <p:cNvSpPr txBox="1"/>
          <p:nvPr/>
        </p:nvSpPr>
        <p:spPr>
          <a:xfrm>
            <a:off x="11137392" y="3547872"/>
            <a:ext cx="621792" cy="164592"/>
          </a:xfrm>
          <a:prstGeom prst="rect">
            <a:avLst/>
          </a:prstGeom>
          <a:noFill/>
        </p:spPr>
        <p:txBody>
          <a:bodyPr wrap="square" lIns="27432" rIns="27432" tIns="4572" bIns="4572">
            <a:spAutoFit/>
          </a:bodyPr>
          <a:lstStyle/>
          <a:p>
            <a:pPr algn="r"/>
            <a:r>
              <a:rPr sz="1000" b="1">
                <a:solidFill>
                  <a:srgbClr val="1F4690"/>
                </a:solidFill>
                <a:latin typeface="Calibri"/>
              </a:rPr>
              <a:t>11 / 15</a:t>
            </a:r>
          </a:p>
        </p:txBody>
      </p:sp>
      <p:sp>
        <p:nvSpPr>
          <p:cNvPr id="52" name="Rectangle 51"/>
          <p:cNvSpPr/>
          <p:nvPr/>
        </p:nvSpPr>
        <p:spPr>
          <a:xfrm>
            <a:off x="6181344" y="3749039"/>
            <a:ext cx="5577840" cy="50292"/>
          </a:xfrm>
          <a:prstGeom prst="rect">
            <a:avLst/>
          </a:prstGeom>
          <a:solidFill>
            <a:srgbClr val="DDE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181344" y="3749039"/>
            <a:ext cx="4090415" cy="5029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181344" y="3840480"/>
            <a:ext cx="5577840" cy="475488"/>
          </a:xfrm>
          <a:prstGeom prst="rect">
            <a:avLst/>
          </a:prstGeom>
          <a:noFill/>
        </p:spPr>
        <p:txBody>
          <a:bodyPr wrap="square" lIns="27432" rIns="27432" tIns="4572" bIns="4572">
            <a:spAutoFit/>
          </a:bodyPr>
          <a:lstStyle/>
          <a:p>
            <a:r>
              <a:rPr sz="750" b="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 ARR at 65% of net revenues (up from 61%); management guiding higher — measurable inflection.</a:t>
            </a:r>
          </a:p>
        </p:txBody>
      </p:sp>
      <p:sp>
        <p:nvSpPr>
          <p:cNvPr id="55" name="Rounded Rectangle 54"/>
          <p:cNvSpPr/>
          <p:nvPr/>
        </p:nvSpPr>
        <p:spPr>
          <a:xfrm>
            <a:off x="6181344" y="4462272"/>
            <a:ext cx="5577840" cy="1280160"/>
          </a:xfrm>
          <a:prstGeom prst="roundRect">
            <a:avLst/>
          </a:prstGeom>
          <a:solidFill>
            <a:srgbClr val="F4F7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72783" y="4535424"/>
            <a:ext cx="5394959" cy="182880"/>
          </a:xfrm>
          <a:prstGeom prst="rect">
            <a:avLst/>
          </a:prstGeom>
          <a:noFill/>
        </p:spPr>
        <p:txBody>
          <a:bodyPr wrap="square" lIns="27432" rIns="27432" tIns="4572" bIns="4572">
            <a:spAutoFit/>
          </a:bodyPr>
          <a:lstStyle/>
          <a:p>
            <a:r>
              <a:rPr sz="900" b="1">
                <a:solidFill>
                  <a:srgbClr val="1F4690"/>
                </a:solidFill>
                <a:latin typeface="Calibri"/>
              </a:rPr>
              <a:t>SAARTHI Conviction Statement</a:t>
            </a:r>
          </a:p>
        </p:txBody>
      </p:sp>
      <p:sp>
        <p:nvSpPr>
          <p:cNvPr id="57" name="TextBox 56"/>
          <p:cNvSpPr txBox="1"/>
          <p:nvPr/>
        </p:nvSpPr>
        <p:spPr>
          <a:xfrm>
            <a:off x="6272783" y="4754880"/>
            <a:ext cx="5394959" cy="914399"/>
          </a:xfrm>
          <a:prstGeom prst="rect">
            <a:avLst/>
          </a:prstGeom>
          <a:noFill/>
        </p:spPr>
        <p:txBody>
          <a:bodyPr wrap="square" lIns="27432" rIns="27432" tIns="4572" bIns="4572">
            <a:spAutoFit/>
          </a:bodyPr>
          <a:lstStyle/>
          <a:p>
            <a:r>
              <a:rPr sz="800" b="0">
                <a:solidFill>
                  <a:srgbClr val="111111"/>
                </a:solidFill>
                <a:latin typeface="Calibri"/>
              </a:rPr>
              <a:t>Motilal Oswal Financial Services Ltd sits in the BUY (70-84 range) zone. The highest-scoring dimensions are strongest: addressable market &amp; adjacency (9/10), reflecting disciplined execution and institutional strength. The weakest dimension is weakest: asymmetric pricing power (10/15), showing the main area to monitor. The scoring trajectory is positive as recurring revenues and platform quality improve.</a:t>
            </a:r>
          </a:p>
        </p:txBody>
      </p:sp>
      <p:graphicFrame>
        <p:nvGraphicFramePr>
          <p:cNvPr id="58" name="Table 57"/>
          <p:cNvGraphicFramePr>
            <a:graphicFrameLocks noGrp="1"/>
          </p:cNvGraphicFramePr>
          <p:nvPr/>
        </p:nvGraphicFramePr>
        <p:xfrm>
          <a:off x="12115800" y="6537960"/>
          <a:ext cx="36576" cy="36576"/>
        </p:xfrm>
        <a:graphic>
          <a:graphicData uri="http://schemas.openxmlformats.org/drawingml/2006/table">
            <a:tbl>
              <a:tblPr firstRow="1" bandRow="1">
                <a:tableStyleId>{5C22544A-7EE6-4342-B048-85BDC9FD1C3A}</a:tableStyleId>
              </a:tblPr>
              <a:tblGrid>
                <a:gridCol w="36576"/>
              </a:tblGrid>
              <a:tr h="36576">
                <a:tc>
                  <a:txBody>
                    <a:bodyPr/>
                    <a:lstStyle/>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Scenario Analysis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17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17</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a:t>
            </a:r>
          </a:p>
        </p:txBody>
      </p:sp>
      <p:sp>
        <p:nvSpPr>
          <p:cNvPr id="15" name="Rectangle 14"/>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1234440"/>
            <a:ext cx="3822191" cy="3474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 y="1280160"/>
            <a:ext cx="3675887" cy="256032"/>
          </a:xfrm>
          <a:prstGeom prst="rect">
            <a:avLst/>
          </a:prstGeom>
          <a:noFill/>
        </p:spPr>
        <p:txBody>
          <a:bodyPr wrap="square" lIns="45720" rIns="45720" tIns="18288" bIns="18288">
            <a:spAutoFit/>
          </a:bodyPr>
          <a:lstStyle/>
          <a:p>
            <a:r>
              <a:rPr sz="850" b="1">
                <a:solidFill>
                  <a:srgbClr val="B91C1C"/>
                </a:solidFill>
                <a:latin typeface="Calibri"/>
              </a:rPr>
              <a:t>BEAR CASE - ₹630 (-23.4% vs CMP)</a:t>
            </a:r>
          </a:p>
        </p:txBody>
      </p:sp>
      <p:sp>
        <p:nvSpPr>
          <p:cNvPr id="18" name="Rectangle 17"/>
          <p:cNvSpPr/>
          <p:nvPr/>
        </p:nvSpPr>
        <p:spPr>
          <a:xfrm>
            <a:off x="457200"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1645920"/>
            <a:ext cx="32004" cy="749808"/>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1682496"/>
            <a:ext cx="3675887" cy="182880"/>
          </a:xfrm>
          <a:prstGeom prst="rect">
            <a:avLst/>
          </a:prstGeom>
          <a:noFill/>
        </p:spPr>
        <p:txBody>
          <a:bodyPr wrap="square" lIns="45720" rIns="45720" tIns="18288" bIns="18288">
            <a:spAutoFit/>
          </a:bodyPr>
          <a:lstStyle/>
          <a:p>
            <a:r>
              <a:rPr sz="900" b="1">
                <a:solidFill>
                  <a:srgbClr val="1F4690"/>
                </a:solidFill>
                <a:latin typeface="Calibri"/>
              </a:rPr>
              <a:t>Macro Assumptions</a:t>
            </a:r>
          </a:p>
        </p:txBody>
      </p:sp>
      <p:sp>
        <p:nvSpPr>
          <p:cNvPr id="21" name="TextBox 20"/>
          <p:cNvSpPr txBox="1"/>
          <p:nvPr/>
        </p:nvSpPr>
        <p:spPr>
          <a:xfrm>
            <a:off x="530352" y="1883664"/>
            <a:ext cx="3675887" cy="475488"/>
          </a:xfrm>
          <a:prstGeom prst="rect">
            <a:avLst/>
          </a:prstGeom>
          <a:noFill/>
        </p:spPr>
        <p:txBody>
          <a:bodyPr wrap="square" lIns="45720" rIns="45720" tIns="18288" bIns="18288">
            <a:spAutoFit/>
          </a:bodyPr>
          <a:lstStyle/>
          <a:p>
            <a:r>
              <a:rPr sz="800" b="0">
                <a:solidFill>
                  <a:srgbClr val="111111"/>
                </a:solidFill>
                <a:latin typeface="Calibri"/>
              </a:rPr>
              <a:t>Equity markets remain subdued. Revenue CAGR slows to 6.0%; EBITDA margin compresses to 45.0% as regulation and lower risk appetite pressure activity.</a:t>
            </a:r>
          </a:p>
        </p:txBody>
      </p:sp>
      <p:sp>
        <p:nvSpPr>
          <p:cNvPr id="22" name="Rectangle 21"/>
          <p:cNvSpPr/>
          <p:nvPr/>
        </p:nvSpPr>
        <p:spPr>
          <a:xfrm>
            <a:off x="457200"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2505456"/>
            <a:ext cx="32004" cy="1133856"/>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2542032"/>
            <a:ext cx="3675887" cy="182880"/>
          </a:xfrm>
          <a:prstGeom prst="rect">
            <a:avLst/>
          </a:prstGeom>
          <a:noFill/>
        </p:spPr>
        <p:txBody>
          <a:bodyPr wrap="square" lIns="45720" rIns="45720" tIns="18288" bIns="18288">
            <a:spAutoFit/>
          </a:bodyPr>
          <a:lstStyle/>
          <a:p>
            <a:r>
              <a:rPr sz="900" b="1">
                <a:solidFill>
                  <a:srgbClr val="1F4690"/>
                </a:solidFill>
                <a:latin typeface="Calibri"/>
              </a:rPr>
              <a:t>Business Assumptions</a:t>
            </a:r>
          </a:p>
        </p:txBody>
      </p:sp>
      <p:sp>
        <p:nvSpPr>
          <p:cNvPr id="25" name="TextBox 24"/>
          <p:cNvSpPr txBox="1"/>
          <p:nvPr/>
        </p:nvSpPr>
        <p:spPr>
          <a:xfrm>
            <a:off x="530352" y="2743200"/>
            <a:ext cx="3675887" cy="859536"/>
          </a:xfrm>
          <a:prstGeom prst="rect">
            <a:avLst/>
          </a:prstGeom>
          <a:noFill/>
        </p:spPr>
        <p:txBody>
          <a:bodyPr wrap="square" lIns="45720" rIns="45720" tIns="18288" bIns="18288">
            <a:spAutoFit/>
          </a:bodyPr>
          <a:lstStyle/>
          <a:p>
            <a:r>
              <a:rPr sz="800" b="0">
                <a:solidFill>
                  <a:srgbClr val="111111"/>
                </a:solidFill>
                <a:latin typeface="Calibri"/>
              </a:rPr>
              <a:t>Broking headwinds and fee pressure reduce operating momentum. Sustained F&amp;O headwinds, fintech share loss.</a:t>
            </a:r>
          </a:p>
        </p:txBody>
      </p:sp>
      <p:sp>
        <p:nvSpPr>
          <p:cNvPr id="26" name="Rectangle 25"/>
          <p:cNvSpPr/>
          <p:nvPr/>
        </p:nvSpPr>
        <p:spPr>
          <a:xfrm>
            <a:off x="457200"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3749039"/>
            <a:ext cx="32004" cy="80467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 y="3785615"/>
            <a:ext cx="3675887" cy="182880"/>
          </a:xfrm>
          <a:prstGeom prst="rect">
            <a:avLst/>
          </a:prstGeom>
          <a:noFill/>
        </p:spPr>
        <p:txBody>
          <a:bodyPr wrap="square" lIns="45720" rIns="45720" tIns="18288" bIns="18288">
            <a:spAutoFit/>
          </a:bodyPr>
          <a:lstStyle/>
          <a:p>
            <a:r>
              <a:rPr sz="900" b="1">
                <a:solidFill>
                  <a:srgbClr val="1F4690"/>
                </a:solidFill>
                <a:latin typeface="Calibri"/>
              </a:rPr>
              <a:t>Valuation Assumptions</a:t>
            </a:r>
          </a:p>
        </p:txBody>
      </p:sp>
      <p:sp>
        <p:nvSpPr>
          <p:cNvPr id="29" name="TextBox 28"/>
          <p:cNvSpPr txBox="1"/>
          <p:nvPr/>
        </p:nvSpPr>
        <p:spPr>
          <a:xfrm>
            <a:off x="530352" y="3986783"/>
            <a:ext cx="3675887" cy="530352"/>
          </a:xfrm>
          <a:prstGeom prst="rect">
            <a:avLst/>
          </a:prstGeom>
          <a:noFill/>
        </p:spPr>
        <p:txBody>
          <a:bodyPr wrap="square" lIns="45720" rIns="45720" tIns="18288" bIns="18288">
            <a:spAutoFit/>
          </a:bodyPr>
          <a:lstStyle/>
          <a:p>
            <a:r>
              <a:rPr sz="800" b="0">
                <a:solidFill>
                  <a:srgbClr val="111111"/>
                </a:solidFill>
                <a:latin typeface="Calibri"/>
              </a:rPr>
              <a:t>18x P/E on depressed FY27E EPS of INR 35; sustained regulatory headwinds. Target price ₹630, probability 20.0%, vs CMP -23.4%.</a:t>
            </a:r>
          </a:p>
        </p:txBody>
      </p:sp>
      <p:graphicFrame>
        <p:nvGraphicFramePr>
          <p:cNvPr id="30" name="Table 29"/>
          <p:cNvGraphicFramePr>
            <a:graphicFrameLocks noGrp="1"/>
          </p:cNvGraphicFramePr>
          <p:nvPr/>
        </p:nvGraphicFramePr>
        <p:xfrm>
          <a:off x="457200"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Bear Value</a:t>
                      </a:r>
                    </a:p>
                  </a:txBody>
                  <a:tcPr marL="27432" marR="27432" marT="9144" marB="9144">
                    <a:solidFill>
                      <a:srgbClr val="1F4690"/>
                    </a:solidFill>
                  </a:tcPr>
                </a:tc>
              </a:tr>
              <a:tr h="16306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6.0%</a:t>
                      </a:r>
                    </a:p>
                  </a:txBody>
                  <a:tcPr marL="27432" marR="27432" marT="9144" marB="9144">
                    <a:solidFill>
                      <a:srgbClr val="F4F6F9"/>
                    </a:solidFill>
                  </a:tcPr>
                </a:tc>
              </a:tr>
              <a:tr h="16306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45.0%</a:t>
                      </a:r>
                    </a:p>
                  </a:txBody>
                  <a:tcPr marL="27432" marR="27432" marT="9144" marB="9144">
                    <a:solidFill>
                      <a:srgbClr val="FFFFFF"/>
                    </a:solidFill>
                  </a:tcPr>
                </a:tc>
              </a:tr>
              <a:tr h="16306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B91C1C"/>
                          </a:solidFill>
                          <a:latin typeface="Calibri"/>
                        </a:rPr>
                        <a:t>₹630</a:t>
                      </a:r>
                    </a:p>
                  </a:txBody>
                  <a:tcPr marL="27432" marR="27432" marT="9144" marB="9144">
                    <a:solidFill>
                      <a:srgbClr val="F4F6F9"/>
                    </a:solidFill>
                  </a:tcPr>
                </a:tc>
              </a:tr>
              <a:tr h="16306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20.0%</a:t>
                      </a:r>
                    </a:p>
                  </a:txBody>
                  <a:tcPr marL="27432" marR="27432" marT="9144" marB="9144">
                    <a:solidFill>
                      <a:srgbClr val="FFFFFF"/>
                    </a:solidFill>
                  </a:tcPr>
                </a:tc>
              </a:tr>
              <a:tr h="16306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a:solidFill>
                            <a:srgbClr val="B91C1C"/>
                          </a:solidFill>
                          <a:latin typeface="Calibri"/>
                        </a:rPr>
                        <a:t>-23.4%</a:t>
                      </a:r>
                    </a:p>
                  </a:txBody>
                  <a:tcPr marL="27432" marR="27432" marT="9144" marB="9144">
                    <a:solidFill>
                      <a:srgbClr val="F4F6F9"/>
                    </a:solidFill>
                  </a:tcPr>
                </a:tc>
              </a:tr>
            </a:tbl>
          </a:graphicData>
        </a:graphic>
      </p:graphicFrame>
      <p:sp>
        <p:nvSpPr>
          <p:cNvPr id="31" name="Rectangle 30"/>
          <p:cNvSpPr/>
          <p:nvPr/>
        </p:nvSpPr>
        <p:spPr>
          <a:xfrm>
            <a:off x="4425696" y="1234440"/>
            <a:ext cx="3822191" cy="347472"/>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98848" y="1280160"/>
            <a:ext cx="3675887" cy="256032"/>
          </a:xfrm>
          <a:prstGeom prst="rect">
            <a:avLst/>
          </a:prstGeom>
          <a:noFill/>
        </p:spPr>
        <p:txBody>
          <a:bodyPr wrap="square" lIns="45720" rIns="45720" tIns="18288" bIns="18288">
            <a:spAutoFit/>
          </a:bodyPr>
          <a:lstStyle/>
          <a:p>
            <a:r>
              <a:rPr sz="850" b="1">
                <a:solidFill>
                  <a:srgbClr val="FFA500"/>
                </a:solidFill>
                <a:latin typeface="Calibri"/>
              </a:rPr>
              <a:t>BASE CASE - ₹1,127 (+37.0% vs CMP) - PRIMARY RECOMMENDATION</a:t>
            </a:r>
          </a:p>
        </p:txBody>
      </p:sp>
      <p:sp>
        <p:nvSpPr>
          <p:cNvPr id="33" name="Rectangle 32"/>
          <p:cNvSpPr/>
          <p:nvPr/>
        </p:nvSpPr>
        <p:spPr>
          <a:xfrm>
            <a:off x="4425696"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425696" y="1645920"/>
            <a:ext cx="32004" cy="74980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98848" y="1682496"/>
            <a:ext cx="3675887" cy="182880"/>
          </a:xfrm>
          <a:prstGeom prst="rect">
            <a:avLst/>
          </a:prstGeom>
          <a:noFill/>
        </p:spPr>
        <p:txBody>
          <a:bodyPr wrap="square" lIns="45720" rIns="45720" tIns="18288" bIns="18288">
            <a:spAutoFit/>
          </a:bodyPr>
          <a:lstStyle/>
          <a:p>
            <a:r>
              <a:rPr sz="900" b="1">
                <a:solidFill>
                  <a:srgbClr val="1F4690"/>
                </a:solidFill>
                <a:latin typeface="Calibri"/>
              </a:rPr>
              <a:t>Macro Assumptions</a:t>
            </a:r>
          </a:p>
        </p:txBody>
      </p:sp>
      <p:sp>
        <p:nvSpPr>
          <p:cNvPr id="36" name="TextBox 35"/>
          <p:cNvSpPr txBox="1"/>
          <p:nvPr/>
        </p:nvSpPr>
        <p:spPr>
          <a:xfrm>
            <a:off x="4498848" y="1883664"/>
            <a:ext cx="3675887" cy="475488"/>
          </a:xfrm>
          <a:prstGeom prst="rect">
            <a:avLst/>
          </a:prstGeom>
          <a:noFill/>
        </p:spPr>
        <p:txBody>
          <a:bodyPr wrap="square" lIns="45720" rIns="45720" tIns="18288" bIns="18288">
            <a:spAutoFit/>
          </a:bodyPr>
          <a:lstStyle/>
          <a:p>
            <a:r>
              <a:rPr sz="800" b="0">
                <a:solidFill>
                  <a:srgbClr val="111111"/>
                </a:solidFill>
                <a:latin typeface="Calibri"/>
              </a:rPr>
              <a:t>Markets normalize and savings flows remain constructive. Revenue compounds at 16.0%; EBITDA margin holds near 51.0% on steady AUM growth.</a:t>
            </a:r>
          </a:p>
        </p:txBody>
      </p:sp>
      <p:sp>
        <p:nvSpPr>
          <p:cNvPr id="37" name="Rectangle 36"/>
          <p:cNvSpPr/>
          <p:nvPr/>
        </p:nvSpPr>
        <p:spPr>
          <a:xfrm>
            <a:off x="4425696"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425696" y="2505456"/>
            <a:ext cx="32004" cy="113385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98848" y="2542032"/>
            <a:ext cx="3675887" cy="182880"/>
          </a:xfrm>
          <a:prstGeom prst="rect">
            <a:avLst/>
          </a:prstGeom>
          <a:noFill/>
        </p:spPr>
        <p:txBody>
          <a:bodyPr wrap="square" lIns="45720" rIns="45720" tIns="18288" bIns="18288">
            <a:spAutoFit/>
          </a:bodyPr>
          <a:lstStyle/>
          <a:p>
            <a:r>
              <a:rPr sz="900" b="1">
                <a:solidFill>
                  <a:srgbClr val="1F4690"/>
                </a:solidFill>
                <a:latin typeface="Calibri"/>
              </a:rPr>
              <a:t>Business Assumptions</a:t>
            </a:r>
          </a:p>
        </p:txBody>
      </p:sp>
      <p:sp>
        <p:nvSpPr>
          <p:cNvPr id="40" name="TextBox 39"/>
          <p:cNvSpPr txBox="1"/>
          <p:nvPr/>
        </p:nvSpPr>
        <p:spPr>
          <a:xfrm>
            <a:off x="4498848" y="2743200"/>
            <a:ext cx="3675887" cy="859536"/>
          </a:xfrm>
          <a:prstGeom prst="rect">
            <a:avLst/>
          </a:prstGeom>
          <a:noFill/>
        </p:spPr>
        <p:txBody>
          <a:bodyPr wrap="square" lIns="45720" rIns="45720" tIns="18288" bIns="18288">
            <a:spAutoFit/>
          </a:bodyPr>
          <a:lstStyle/>
          <a:p>
            <a:r>
              <a:rPr sz="800" b="0">
                <a:solidFill>
                  <a:srgbClr val="111111"/>
                </a:solidFill>
                <a:latin typeface="Calibri"/>
              </a:rPr>
              <a:t>ARR stability and diversified financial services earnings support the base case. ARR steady at 65%, AUM compounding, stable regulation.</a:t>
            </a:r>
          </a:p>
        </p:txBody>
      </p:sp>
      <p:sp>
        <p:nvSpPr>
          <p:cNvPr id="41" name="Rectangle 40"/>
          <p:cNvSpPr/>
          <p:nvPr/>
        </p:nvSpPr>
        <p:spPr>
          <a:xfrm>
            <a:off x="4425696"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425696" y="3749039"/>
            <a:ext cx="32004" cy="8046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98848" y="3785615"/>
            <a:ext cx="3675887" cy="182880"/>
          </a:xfrm>
          <a:prstGeom prst="rect">
            <a:avLst/>
          </a:prstGeom>
          <a:noFill/>
        </p:spPr>
        <p:txBody>
          <a:bodyPr wrap="square" lIns="45720" rIns="45720" tIns="18288" bIns="18288">
            <a:spAutoFit/>
          </a:bodyPr>
          <a:lstStyle/>
          <a:p>
            <a:r>
              <a:rPr sz="900" b="1">
                <a:solidFill>
                  <a:srgbClr val="1F4690"/>
                </a:solidFill>
                <a:latin typeface="Calibri"/>
              </a:rPr>
              <a:t>Valuation Assumptions</a:t>
            </a:r>
          </a:p>
        </p:txBody>
      </p:sp>
      <p:sp>
        <p:nvSpPr>
          <p:cNvPr id="44" name="TextBox 43"/>
          <p:cNvSpPr txBox="1"/>
          <p:nvPr/>
        </p:nvSpPr>
        <p:spPr>
          <a:xfrm>
            <a:off x="4498848" y="3986783"/>
            <a:ext cx="3675887" cy="530352"/>
          </a:xfrm>
          <a:prstGeom prst="rect">
            <a:avLst/>
          </a:prstGeom>
          <a:noFill/>
        </p:spPr>
        <p:txBody>
          <a:bodyPr wrap="square" lIns="45720" rIns="45720" tIns="18288" bIns="18288">
            <a:spAutoFit/>
          </a:bodyPr>
          <a:lstStyle/>
          <a:p>
            <a:r>
              <a:rPr sz="800" b="0">
                <a:solidFill>
                  <a:srgbClr val="111111"/>
                </a:solidFill>
                <a:latin typeface="Calibri"/>
              </a:rPr>
              <a:t>24x P/E on FY27E EPS of INR 47; ARR stable at 65%, steady AUM. Target price ₹1,127, probability 50.0%, vs CMP +37.0%.</a:t>
            </a:r>
          </a:p>
        </p:txBody>
      </p:sp>
      <p:graphicFrame>
        <p:nvGraphicFramePr>
          <p:cNvPr id="45" name="Table 44"/>
          <p:cNvGraphicFramePr>
            <a:graphicFrameLocks noGrp="1"/>
          </p:cNvGraphicFramePr>
          <p:nvPr/>
        </p:nvGraphicFramePr>
        <p:xfrm>
          <a:off x="4425696"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Base Value</a:t>
                      </a:r>
                    </a:p>
                  </a:txBody>
                  <a:tcPr marL="27432" marR="27432" marT="9144" marB="9144">
                    <a:solidFill>
                      <a:srgbClr val="1F4690"/>
                    </a:solidFill>
                  </a:tcPr>
                </a:tc>
              </a:tr>
              <a:tr h="16306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16.0%</a:t>
                      </a:r>
                    </a:p>
                  </a:txBody>
                  <a:tcPr marL="27432" marR="27432" marT="9144" marB="9144">
                    <a:solidFill>
                      <a:srgbClr val="F4F6F9"/>
                    </a:solidFill>
                  </a:tcPr>
                </a:tc>
              </a:tr>
              <a:tr h="16306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51.0%</a:t>
                      </a:r>
                    </a:p>
                  </a:txBody>
                  <a:tcPr marL="27432" marR="27432" marT="9144" marB="9144">
                    <a:solidFill>
                      <a:srgbClr val="FFFFFF"/>
                    </a:solidFill>
                  </a:tcPr>
                </a:tc>
              </a:tr>
              <a:tr h="16306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FFA500"/>
                          </a:solidFill>
                          <a:latin typeface="Calibri"/>
                        </a:rPr>
                        <a:t>₹1,127</a:t>
                      </a:r>
                    </a:p>
                  </a:txBody>
                  <a:tcPr marL="27432" marR="27432" marT="9144" marB="9144">
                    <a:solidFill>
                      <a:srgbClr val="F4F6F9"/>
                    </a:solidFill>
                  </a:tcPr>
                </a:tc>
              </a:tr>
              <a:tr h="16306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50.0%</a:t>
                      </a:r>
                    </a:p>
                  </a:txBody>
                  <a:tcPr marL="27432" marR="27432" marT="9144" marB="9144">
                    <a:solidFill>
                      <a:srgbClr val="FFFFFF"/>
                    </a:solidFill>
                  </a:tcPr>
                </a:tc>
              </a:tr>
              <a:tr h="16306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a:solidFill>
                            <a:srgbClr val="FFA500"/>
                          </a:solidFill>
                          <a:latin typeface="Calibri"/>
                        </a:rPr>
                        <a:t>+37.0%</a:t>
                      </a:r>
                    </a:p>
                  </a:txBody>
                  <a:tcPr marL="27432" marR="27432" marT="9144" marB="9144">
                    <a:solidFill>
                      <a:srgbClr val="F4F6F9"/>
                    </a:solidFill>
                  </a:tcPr>
                </a:tc>
              </a:tr>
            </a:tbl>
          </a:graphicData>
        </a:graphic>
      </p:graphicFrame>
      <p:sp>
        <p:nvSpPr>
          <p:cNvPr id="46" name="Rectangle 45"/>
          <p:cNvSpPr/>
          <p:nvPr/>
        </p:nvSpPr>
        <p:spPr>
          <a:xfrm>
            <a:off x="8394192" y="1234440"/>
            <a:ext cx="3822191" cy="3474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67344" y="1280160"/>
            <a:ext cx="3675887" cy="256032"/>
          </a:xfrm>
          <a:prstGeom prst="rect">
            <a:avLst/>
          </a:prstGeom>
          <a:noFill/>
        </p:spPr>
        <p:txBody>
          <a:bodyPr wrap="square" lIns="45720" rIns="45720" tIns="18288" bIns="18288">
            <a:spAutoFit/>
          </a:bodyPr>
          <a:lstStyle/>
          <a:p>
            <a:r>
              <a:rPr sz="850" b="1">
                <a:solidFill>
                  <a:srgbClr val="FFFFFF"/>
                </a:solidFill>
                <a:latin typeface="Calibri"/>
              </a:rPr>
              <a:t>BULL CASE - ₹1,400 (+70.1% vs CMP)</a:t>
            </a:r>
          </a:p>
        </p:txBody>
      </p:sp>
      <p:sp>
        <p:nvSpPr>
          <p:cNvPr id="48" name="Rectangle 47"/>
          <p:cNvSpPr/>
          <p:nvPr/>
        </p:nvSpPr>
        <p:spPr>
          <a:xfrm>
            <a:off x="8394192" y="1645920"/>
            <a:ext cx="3822191" cy="749808"/>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394192" y="1645920"/>
            <a:ext cx="32004" cy="74980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67344" y="1682496"/>
            <a:ext cx="3675887" cy="182880"/>
          </a:xfrm>
          <a:prstGeom prst="rect">
            <a:avLst/>
          </a:prstGeom>
          <a:noFill/>
        </p:spPr>
        <p:txBody>
          <a:bodyPr wrap="square" lIns="45720" rIns="45720" tIns="18288" bIns="18288">
            <a:spAutoFit/>
          </a:bodyPr>
          <a:lstStyle/>
          <a:p>
            <a:r>
              <a:rPr sz="900" b="1">
                <a:solidFill>
                  <a:srgbClr val="1F4690"/>
                </a:solidFill>
                <a:latin typeface="Calibri"/>
              </a:rPr>
              <a:t>Macro Assumptions</a:t>
            </a:r>
          </a:p>
        </p:txBody>
      </p:sp>
      <p:sp>
        <p:nvSpPr>
          <p:cNvPr id="51" name="TextBox 50"/>
          <p:cNvSpPr txBox="1"/>
          <p:nvPr/>
        </p:nvSpPr>
        <p:spPr>
          <a:xfrm>
            <a:off x="8467344" y="1883664"/>
            <a:ext cx="3675887" cy="475488"/>
          </a:xfrm>
          <a:prstGeom prst="rect">
            <a:avLst/>
          </a:prstGeom>
          <a:noFill/>
        </p:spPr>
        <p:txBody>
          <a:bodyPr wrap="square" lIns="45720" rIns="45720" tIns="18288" bIns="18288">
            <a:spAutoFit/>
          </a:bodyPr>
          <a:lstStyle/>
          <a:p>
            <a:r>
              <a:rPr sz="800" b="0">
                <a:solidFill>
                  <a:srgbClr val="111111"/>
                </a:solidFill>
                <a:latin typeface="Calibri"/>
              </a:rPr>
              <a:t>Market participation strengthens and structural savings flows accelerate. Revenue compounds at 27.5%; EBITDA margin expands to 55.0% with operating leverage.</a:t>
            </a:r>
          </a:p>
        </p:txBody>
      </p:sp>
      <p:sp>
        <p:nvSpPr>
          <p:cNvPr id="52" name="Rectangle 51"/>
          <p:cNvSpPr/>
          <p:nvPr/>
        </p:nvSpPr>
        <p:spPr>
          <a:xfrm>
            <a:off x="8394192" y="2505456"/>
            <a:ext cx="3822191" cy="1133856"/>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394192" y="2505456"/>
            <a:ext cx="32004" cy="1133856"/>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67344" y="2542032"/>
            <a:ext cx="3675887" cy="182880"/>
          </a:xfrm>
          <a:prstGeom prst="rect">
            <a:avLst/>
          </a:prstGeom>
          <a:noFill/>
        </p:spPr>
        <p:txBody>
          <a:bodyPr wrap="square" lIns="45720" rIns="45720" tIns="18288" bIns="18288">
            <a:spAutoFit/>
          </a:bodyPr>
          <a:lstStyle/>
          <a:p>
            <a:r>
              <a:rPr sz="900" b="1">
                <a:solidFill>
                  <a:srgbClr val="1F4690"/>
                </a:solidFill>
                <a:latin typeface="Calibri"/>
              </a:rPr>
              <a:t>Business Assumptions</a:t>
            </a:r>
          </a:p>
        </p:txBody>
      </p:sp>
      <p:sp>
        <p:nvSpPr>
          <p:cNvPr id="55" name="TextBox 54"/>
          <p:cNvSpPr txBox="1"/>
          <p:nvPr/>
        </p:nvSpPr>
        <p:spPr>
          <a:xfrm>
            <a:off x="8467344" y="2743200"/>
            <a:ext cx="3675887" cy="859536"/>
          </a:xfrm>
          <a:prstGeom prst="rect">
            <a:avLst/>
          </a:prstGeom>
          <a:noFill/>
        </p:spPr>
        <p:txBody>
          <a:bodyPr wrap="square" lIns="45720" rIns="45720" tIns="18288" bIns="18288">
            <a:spAutoFit/>
          </a:bodyPr>
          <a:lstStyle/>
          <a:p>
            <a:r>
              <a:rPr sz="800" b="0">
                <a:solidFill>
                  <a:srgbClr val="111111"/>
                </a:solidFill>
                <a:latin typeface="Calibri"/>
              </a:rPr>
              <a:t>ARR mix, AMC scale, and wealth management momentum trigger re-rating. ARR &gt; 70%, AMC AUM +40% YoY, regulatory clarity.</a:t>
            </a:r>
          </a:p>
        </p:txBody>
      </p:sp>
      <p:sp>
        <p:nvSpPr>
          <p:cNvPr id="56" name="Rectangle 55"/>
          <p:cNvSpPr/>
          <p:nvPr/>
        </p:nvSpPr>
        <p:spPr>
          <a:xfrm>
            <a:off x="8394192" y="3749039"/>
            <a:ext cx="3822191" cy="804672"/>
          </a:xfrm>
          <a:prstGeom prst="rect">
            <a:avLst/>
          </a:prstGeom>
          <a:solidFill>
            <a:srgbClr val="F7F9FC"/>
          </a:solidFill>
          <a:ln w="1016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394192" y="3749039"/>
            <a:ext cx="32004" cy="8046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67344" y="3785615"/>
            <a:ext cx="3675887" cy="182880"/>
          </a:xfrm>
          <a:prstGeom prst="rect">
            <a:avLst/>
          </a:prstGeom>
          <a:noFill/>
        </p:spPr>
        <p:txBody>
          <a:bodyPr wrap="square" lIns="45720" rIns="45720" tIns="18288" bIns="18288">
            <a:spAutoFit/>
          </a:bodyPr>
          <a:lstStyle/>
          <a:p>
            <a:r>
              <a:rPr sz="900" b="1">
                <a:solidFill>
                  <a:srgbClr val="1F4690"/>
                </a:solidFill>
                <a:latin typeface="Calibri"/>
              </a:rPr>
              <a:t>Valuation Assumptions</a:t>
            </a:r>
          </a:p>
        </p:txBody>
      </p:sp>
      <p:sp>
        <p:nvSpPr>
          <p:cNvPr id="59" name="TextBox 58"/>
          <p:cNvSpPr txBox="1"/>
          <p:nvPr/>
        </p:nvSpPr>
        <p:spPr>
          <a:xfrm>
            <a:off x="8467344" y="3986783"/>
            <a:ext cx="3675887" cy="530352"/>
          </a:xfrm>
          <a:prstGeom prst="rect">
            <a:avLst/>
          </a:prstGeom>
          <a:noFill/>
        </p:spPr>
        <p:txBody>
          <a:bodyPr wrap="square" lIns="45720" rIns="45720" tIns="18288" bIns="18288">
            <a:spAutoFit/>
          </a:bodyPr>
          <a:lstStyle/>
          <a:p>
            <a:r>
              <a:rPr sz="800" b="0">
                <a:solidFill>
                  <a:srgbClr val="111111"/>
                </a:solidFill>
                <a:latin typeface="Calibri"/>
              </a:rPr>
              <a:t>28x P/E on FY27E EPS of INR 50; ARR &gt; 70%, AMC +40% YoY. Target price ₹1,400, probability 30.0%, vs CMP +70.1%.</a:t>
            </a:r>
          </a:p>
        </p:txBody>
      </p:sp>
      <p:graphicFrame>
        <p:nvGraphicFramePr>
          <p:cNvPr id="60" name="Table 59"/>
          <p:cNvGraphicFramePr>
            <a:graphicFrameLocks noGrp="1"/>
          </p:cNvGraphicFramePr>
          <p:nvPr/>
        </p:nvGraphicFramePr>
        <p:xfrm>
          <a:off x="8394192" y="4663440"/>
          <a:ext cx="3822191" cy="978408"/>
        </p:xfrm>
        <a:graphic>
          <a:graphicData uri="http://schemas.openxmlformats.org/drawingml/2006/table">
            <a:tbl>
              <a:tblPr firstRow="1" bandRow="1">
                <a:tableStyleId>{5C22544A-7EE6-4342-B048-85BDC9FD1C3A}</a:tableStyleId>
              </a:tblPr>
              <a:tblGrid>
                <a:gridCol w="2140427"/>
                <a:gridCol w="1681764"/>
              </a:tblGrid>
              <a:tr h="163068">
                <a:tc>
                  <a:txBody>
                    <a:bodyPr/>
                    <a:lstStyle/>
                    <a:p>
                      <a:r>
                        <a:rPr sz="800" b="1">
                          <a:solidFill>
                            <a:srgbClr val="FFFFFF"/>
                          </a:solidFill>
                          <a:latin typeface="Calibri"/>
                        </a:rPr>
                        <a:t>Metric</a:t>
                      </a:r>
                    </a:p>
                  </a:txBody>
                  <a:tcPr marL="27432" marR="27432" marT="9144" marB="9144">
                    <a:solidFill>
                      <a:srgbClr val="1F4690"/>
                    </a:solidFill>
                  </a:tcPr>
                </a:tc>
                <a:tc>
                  <a:txBody>
                    <a:bodyPr/>
                    <a:lstStyle/>
                    <a:p>
                      <a:pPr algn="r"/>
                      <a:r>
                        <a:rPr sz="800" b="1">
                          <a:solidFill>
                            <a:srgbClr val="FFFFFF"/>
                          </a:solidFill>
                          <a:latin typeface="Calibri"/>
                        </a:rPr>
                        <a:t>Bull Value</a:t>
                      </a:r>
                    </a:p>
                  </a:txBody>
                  <a:tcPr marL="27432" marR="27432" marT="9144" marB="9144">
                    <a:solidFill>
                      <a:srgbClr val="1F4690"/>
                    </a:solidFill>
                  </a:tcPr>
                </a:tc>
              </a:tr>
              <a:tr h="163068">
                <a:tc>
                  <a:txBody>
                    <a:bodyPr/>
                    <a:lstStyle/>
                    <a:p>
                      <a:r>
                        <a:rPr sz="800" b="1">
                          <a:solidFill>
                            <a:srgbClr val="111111"/>
                          </a:solidFill>
                          <a:latin typeface="Calibri"/>
                        </a:rPr>
                        <a:t>Revenue CAGR</a:t>
                      </a:r>
                    </a:p>
                  </a:txBody>
                  <a:tcPr marL="27432" marR="27432" marT="9144" marB="9144">
                    <a:solidFill>
                      <a:srgbClr val="F4F6F9"/>
                    </a:solidFill>
                  </a:tcPr>
                </a:tc>
                <a:tc>
                  <a:txBody>
                    <a:bodyPr/>
                    <a:lstStyle/>
                    <a:p>
                      <a:pPr algn="r"/>
                      <a:r>
                        <a:rPr sz="800" b="0">
                          <a:solidFill>
                            <a:srgbClr val="111111"/>
                          </a:solidFill>
                          <a:latin typeface="Calibri"/>
                        </a:rPr>
                        <a:t>27.5%</a:t>
                      </a:r>
                    </a:p>
                  </a:txBody>
                  <a:tcPr marL="27432" marR="27432" marT="9144" marB="9144">
                    <a:solidFill>
                      <a:srgbClr val="F4F6F9"/>
                    </a:solidFill>
                  </a:tcPr>
                </a:tc>
              </a:tr>
              <a:tr h="163068">
                <a:tc>
                  <a:txBody>
                    <a:bodyPr/>
                    <a:lstStyle/>
                    <a:p>
                      <a:r>
                        <a:rPr sz="800" b="1">
                          <a:solidFill>
                            <a:srgbClr val="111111"/>
                          </a:solidFill>
                          <a:latin typeface="Calibri"/>
                        </a:rPr>
                        <a:t>EBITDA Margin</a:t>
                      </a:r>
                    </a:p>
                  </a:txBody>
                  <a:tcPr marL="27432" marR="27432" marT="9144" marB="9144">
                    <a:solidFill>
                      <a:srgbClr val="FFFFFF"/>
                    </a:solidFill>
                  </a:tcPr>
                </a:tc>
                <a:tc>
                  <a:txBody>
                    <a:bodyPr/>
                    <a:lstStyle/>
                    <a:p>
                      <a:pPr algn="r"/>
                      <a:r>
                        <a:rPr sz="800" b="0">
                          <a:solidFill>
                            <a:srgbClr val="111111"/>
                          </a:solidFill>
                          <a:latin typeface="Calibri"/>
                        </a:rPr>
                        <a:t>55.0%</a:t>
                      </a:r>
                    </a:p>
                  </a:txBody>
                  <a:tcPr marL="27432" marR="27432" marT="9144" marB="9144">
                    <a:solidFill>
                      <a:srgbClr val="FFFFFF"/>
                    </a:solidFill>
                  </a:tcPr>
                </a:tc>
              </a:tr>
              <a:tr h="163068">
                <a:tc>
                  <a:txBody>
                    <a:bodyPr/>
                    <a:lstStyle/>
                    <a:p>
                      <a:r>
                        <a:rPr sz="800" b="1">
                          <a:solidFill>
                            <a:srgbClr val="111111"/>
                          </a:solidFill>
                          <a:latin typeface="Calibri"/>
                        </a:rPr>
                        <a:t>Target Price</a:t>
                      </a:r>
                    </a:p>
                  </a:txBody>
                  <a:tcPr marL="27432" marR="27432" marT="9144" marB="9144">
                    <a:solidFill>
                      <a:srgbClr val="F4F6F9"/>
                    </a:solidFill>
                  </a:tcPr>
                </a:tc>
                <a:tc>
                  <a:txBody>
                    <a:bodyPr/>
                    <a:lstStyle/>
                    <a:p>
                      <a:pPr algn="r"/>
                      <a:r>
                        <a:rPr sz="800" b="1">
                          <a:solidFill>
                            <a:srgbClr val="1A7A4A"/>
                          </a:solidFill>
                          <a:latin typeface="Calibri"/>
                        </a:rPr>
                        <a:t>₹1,400</a:t>
                      </a:r>
                    </a:p>
                  </a:txBody>
                  <a:tcPr marL="27432" marR="27432" marT="9144" marB="9144">
                    <a:solidFill>
                      <a:srgbClr val="F4F6F9"/>
                    </a:solidFill>
                  </a:tcPr>
                </a:tc>
              </a:tr>
              <a:tr h="163068">
                <a:tc>
                  <a:txBody>
                    <a:bodyPr/>
                    <a:lstStyle/>
                    <a:p>
                      <a:r>
                        <a:rPr sz="800" b="1">
                          <a:solidFill>
                            <a:srgbClr val="111111"/>
                          </a:solidFill>
                          <a:latin typeface="Calibri"/>
                        </a:rPr>
                        <a:t>Probability</a:t>
                      </a:r>
                    </a:p>
                  </a:txBody>
                  <a:tcPr marL="27432" marR="27432" marT="9144" marB="9144">
                    <a:solidFill>
                      <a:srgbClr val="FFFFFF"/>
                    </a:solidFill>
                  </a:tcPr>
                </a:tc>
                <a:tc>
                  <a:txBody>
                    <a:bodyPr/>
                    <a:lstStyle/>
                    <a:p>
                      <a:pPr algn="r"/>
                      <a:r>
                        <a:rPr sz="800" b="0">
                          <a:solidFill>
                            <a:srgbClr val="111111"/>
                          </a:solidFill>
                          <a:latin typeface="Calibri"/>
                        </a:rPr>
                        <a:t>30.0%</a:t>
                      </a:r>
                    </a:p>
                  </a:txBody>
                  <a:tcPr marL="27432" marR="27432" marT="9144" marB="9144">
                    <a:solidFill>
                      <a:srgbClr val="FFFFFF"/>
                    </a:solidFill>
                  </a:tcPr>
                </a:tc>
              </a:tr>
              <a:tr h="163068">
                <a:tc>
                  <a:txBody>
                    <a:bodyPr/>
                    <a:lstStyle/>
                    <a:p>
                      <a:r>
                        <a:rPr sz="800" b="1">
                          <a:solidFill>
                            <a:srgbClr val="111111"/>
                          </a:solidFill>
                          <a:latin typeface="Calibri"/>
                        </a:rPr>
                        <a:t>vs CMP</a:t>
                      </a:r>
                    </a:p>
                  </a:txBody>
                  <a:tcPr marL="27432" marR="27432" marT="9144" marB="9144">
                    <a:solidFill>
                      <a:srgbClr val="F4F6F9"/>
                    </a:solidFill>
                  </a:tcPr>
                </a:tc>
                <a:tc>
                  <a:txBody>
                    <a:bodyPr/>
                    <a:lstStyle/>
                    <a:p>
                      <a:pPr algn="r"/>
                      <a:r>
                        <a:rPr sz="800" b="1">
                          <a:solidFill>
                            <a:srgbClr val="1A7A4A"/>
                          </a:solidFill>
                          <a:latin typeface="Calibri"/>
                        </a:rPr>
                        <a:t>+70.1%</a:t>
                      </a:r>
                    </a:p>
                  </a:txBody>
                  <a:tcPr marL="27432" marR="27432" marT="9144" marB="9144">
                    <a:solidFill>
                      <a:srgbClr val="F4F6F9"/>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Key Risks &amp; Thesis Invalidation Triggers</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18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18</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 &amp; Thesis Invalidation Triggers</a:t>
            </a:r>
          </a:p>
        </p:txBody>
      </p:sp>
      <p:sp>
        <p:nvSpPr>
          <p:cNvPr id="15" name="Rectangle 14"/>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SEBI regulatory headwinds on F&amp;O trading norms compressing cyclical broking revenues</a:t>
            </a:r>
          </a:p>
          <a:p>
            <a:pPr>
              <a:spcAft>
                <a:spcPts val="400"/>
              </a:spcAft>
            </a:pPr>
            <a:r>
              <a:rPr sz="1200" b="0">
                <a:solidFill>
                  <a:srgbClr val="111111"/>
                </a:solidFill>
                <a:latin typeface="Calibri"/>
              </a:rPr>
              <a:t>•  Q2FY26 profit declined the relevant figure YoY and revenue the relevant figure YoY due to regulatory changes — residual cyclicality</a:t>
            </a:r>
          </a:p>
          <a:p>
            <a:pPr>
              <a:spcAft>
                <a:spcPts val="400"/>
              </a:spcAft>
            </a:pPr>
            <a:r>
              <a:rPr sz="1200" b="0">
                <a:solidFill>
                  <a:srgbClr val="111111"/>
                </a:solidFill>
                <a:latin typeface="Calibri"/>
              </a:rPr>
              <a:t>•  Competitive intensity from discount brokers and fintech platforms compressing yields</a:t>
            </a:r>
          </a:p>
          <a:p>
            <a:pPr>
              <a:spcAft>
                <a:spcPts val="400"/>
              </a:spcAft>
            </a:pPr>
            <a:r>
              <a:rPr sz="1200" b="0">
                <a:solidFill>
                  <a:srgbClr val="111111"/>
                </a:solidFill>
                <a:latin typeface="Calibri"/>
              </a:rPr>
              <a:t>•  Forensic / governance: recurring SEBI matters require monitoring (Monitor Closely category)</a:t>
            </a:r>
          </a:p>
          <a:p>
            <a:pPr>
              <a:spcAft>
                <a:spcPts val="400"/>
              </a:spcAft>
            </a:pPr>
            <a:r>
              <a:rPr sz="1200" b="0">
                <a:solidFill>
                  <a:srgbClr val="111111"/>
                </a:solidFill>
                <a:latin typeface="Calibri"/>
              </a:rPr>
              <a:t>•  Mark-to-market volatility on the proprietary book</a:t>
            </a:r>
          </a:p>
          <a:p>
            <a:pPr>
              <a:spcAft>
                <a:spcPts val="400"/>
              </a:spcAft>
            </a:pPr>
            <a:r>
              <a:rPr sz="12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Entry, Review, Exit Strategy</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19 of 20</a:t>
            </a:r>
          </a:p>
        </p:txBody>
      </p:sp>
      <p:sp>
        <p:nvSpPr>
          <p:cNvPr id="13" name="Rounded Rectangle 12"/>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19</a:t>
            </a:r>
          </a:p>
        </p:txBody>
      </p:sp>
      <p:sp>
        <p:nvSpPr>
          <p:cNvPr id="14" name="TextBox 13"/>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Entry, Review, Exit Strategy</a:t>
            </a:r>
          </a:p>
        </p:txBody>
      </p:sp>
      <p:sp>
        <p:nvSpPr>
          <p:cNvPr id="15" name="Rectangle 14"/>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92608" y="1216152"/>
            <a:ext cx="6446520" cy="822960"/>
          </a:xfrm>
          <a:prstGeom prst="roundRect">
            <a:avLst/>
          </a:prstGeom>
          <a:solidFill>
            <a:srgbClr val="FFF0C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2608" y="1216152"/>
            <a:ext cx="32004" cy="8229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4048" y="1289304"/>
            <a:ext cx="6263640" cy="164592"/>
          </a:xfrm>
          <a:prstGeom prst="rect">
            <a:avLst/>
          </a:prstGeom>
          <a:noFill/>
        </p:spPr>
        <p:txBody>
          <a:bodyPr wrap="square" lIns="36576" rIns="36576" tIns="9144" bIns="9144">
            <a:spAutoFit/>
          </a:bodyPr>
          <a:lstStyle/>
          <a:p>
            <a:r>
              <a:rPr sz="900" b="1">
                <a:solidFill>
                  <a:srgbClr val="1F4690"/>
                </a:solidFill>
                <a:latin typeface="Calibri"/>
              </a:rPr>
              <a:t>Conviction Statement</a:t>
            </a:r>
          </a:p>
        </p:txBody>
      </p:sp>
      <p:sp>
        <p:nvSpPr>
          <p:cNvPr id="19" name="TextBox 18"/>
          <p:cNvSpPr txBox="1"/>
          <p:nvPr/>
        </p:nvSpPr>
        <p:spPr>
          <a:xfrm>
            <a:off x="384048" y="1508760"/>
            <a:ext cx="6263640" cy="457199"/>
          </a:xfrm>
          <a:prstGeom prst="rect">
            <a:avLst/>
          </a:prstGeom>
          <a:noFill/>
        </p:spPr>
        <p:txBody>
          <a:bodyPr wrap="square" lIns="36576" rIns="36576" tIns="9144" bIns="9144">
            <a:spAutoFit/>
          </a:bodyPr>
          <a:lstStyle/>
          <a:p>
            <a:r>
              <a:rPr sz="800" b="0">
                <a:solidFill>
                  <a:srgbClr val="111111"/>
                </a:solidFill>
                <a:latin typeface="Calibri"/>
              </a:rPr>
              <a:t>Conviction Statement: We initiate coverage on Motilal Oswal Financial Services Ltd with a BUY rating and target price of ₹1,127, representing +37% upside from current levels. At CMP ₹823, investors are buying a research-driven financial services platform with ARR quality, AUM scale, and a clear re-rating pathway.</a:t>
            </a:r>
          </a:p>
        </p:txBody>
      </p:sp>
      <p:sp>
        <p:nvSpPr>
          <p:cNvPr id="20" name="TextBox 19"/>
          <p:cNvSpPr txBox="1"/>
          <p:nvPr/>
        </p:nvSpPr>
        <p:spPr>
          <a:xfrm>
            <a:off x="292608" y="2176272"/>
            <a:ext cx="6446520" cy="182880"/>
          </a:xfrm>
          <a:prstGeom prst="rect">
            <a:avLst/>
          </a:prstGeom>
          <a:noFill/>
        </p:spPr>
        <p:txBody>
          <a:bodyPr wrap="square" lIns="36576" rIns="36576" tIns="9144" bIns="9144">
            <a:spAutoFit/>
          </a:bodyPr>
          <a:lstStyle/>
          <a:p>
            <a:r>
              <a:rPr sz="900" b="1">
                <a:solidFill>
                  <a:srgbClr val="1F4690"/>
                </a:solidFill>
                <a:latin typeface="Calibri"/>
              </a:rPr>
              <a:t>ENTRY STRATEGY - WHEN TO BUY</a:t>
            </a:r>
          </a:p>
        </p:txBody>
      </p:sp>
      <p:sp>
        <p:nvSpPr>
          <p:cNvPr id="21" name="Rounded Rectangle 20"/>
          <p:cNvSpPr/>
          <p:nvPr/>
        </p:nvSpPr>
        <p:spPr>
          <a:xfrm>
            <a:off x="292608" y="2404872"/>
            <a:ext cx="6446520" cy="82296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92608" y="2404872"/>
            <a:ext cx="32004" cy="8229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2478024"/>
            <a:ext cx="6263640" cy="164592"/>
          </a:xfrm>
          <a:prstGeom prst="rect">
            <a:avLst/>
          </a:prstGeom>
          <a:noFill/>
        </p:spPr>
        <p:txBody>
          <a:bodyPr wrap="square" lIns="36576" rIns="36576" tIns="9144" bIns="9144">
            <a:spAutoFit/>
          </a:bodyPr>
          <a:lstStyle/>
          <a:p>
            <a:r>
              <a:rPr sz="900" b="1">
                <a:solidFill>
                  <a:srgbClr val="1F4690"/>
                </a:solidFill>
                <a:latin typeface="Calibri"/>
              </a:rPr>
              <a:t>Immediate Entry Zone</a:t>
            </a:r>
          </a:p>
        </p:txBody>
      </p:sp>
      <p:sp>
        <p:nvSpPr>
          <p:cNvPr id="24" name="TextBox 23"/>
          <p:cNvSpPr txBox="1"/>
          <p:nvPr/>
        </p:nvSpPr>
        <p:spPr>
          <a:xfrm>
            <a:off x="384048" y="2697479"/>
            <a:ext cx="6263640" cy="457200"/>
          </a:xfrm>
          <a:prstGeom prst="rect">
            <a:avLst/>
          </a:prstGeom>
          <a:noFill/>
        </p:spPr>
        <p:txBody>
          <a:bodyPr wrap="square" lIns="36576" rIns="36576" tIns="9144" bIns="9144">
            <a:spAutoFit/>
          </a:bodyPr>
          <a:lstStyle/>
          <a:p>
            <a:r>
              <a:rPr sz="800" b="0">
                <a:solidFill>
                  <a:srgbClr val="111111"/>
                </a:solidFill>
                <a:latin typeface="Calibri"/>
              </a:rPr>
              <a:t>Current entry range is ₹800-850 - optimal accumulation zone. 15-20% discount to analyst consensus target — margin of safety. Use staggered buying to reduce market-timing risk while the valuation discount remains available.</a:t>
            </a:r>
          </a:p>
        </p:txBody>
      </p:sp>
      <p:sp>
        <p:nvSpPr>
          <p:cNvPr id="25" name="Rounded Rectangle 24"/>
          <p:cNvSpPr/>
          <p:nvPr/>
        </p:nvSpPr>
        <p:spPr>
          <a:xfrm>
            <a:off x="292608" y="3319272"/>
            <a:ext cx="6446520" cy="77724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2608" y="3319272"/>
            <a:ext cx="32004" cy="7772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048" y="3392424"/>
            <a:ext cx="6263640" cy="164592"/>
          </a:xfrm>
          <a:prstGeom prst="rect">
            <a:avLst/>
          </a:prstGeom>
          <a:noFill/>
        </p:spPr>
        <p:txBody>
          <a:bodyPr wrap="square" lIns="36576" rIns="36576" tIns="9144" bIns="9144">
            <a:spAutoFit/>
          </a:bodyPr>
          <a:lstStyle/>
          <a:p>
            <a:r>
              <a:rPr sz="900" b="1">
                <a:solidFill>
                  <a:srgbClr val="1F4690"/>
                </a:solidFill>
                <a:latin typeface="Calibri"/>
              </a:rPr>
              <a:t>Add-On Zone</a:t>
            </a:r>
          </a:p>
        </p:txBody>
      </p:sp>
      <p:sp>
        <p:nvSpPr>
          <p:cNvPr id="28" name="TextBox 27"/>
          <p:cNvSpPr txBox="1"/>
          <p:nvPr/>
        </p:nvSpPr>
        <p:spPr>
          <a:xfrm>
            <a:off x="384048" y="3611879"/>
            <a:ext cx="6263640" cy="411480"/>
          </a:xfrm>
          <a:prstGeom prst="rect">
            <a:avLst/>
          </a:prstGeom>
          <a:noFill/>
        </p:spPr>
        <p:txBody>
          <a:bodyPr wrap="square" lIns="36576" rIns="36576" tIns="9144" bIns="9144">
            <a:spAutoFit/>
          </a:bodyPr>
          <a:lstStyle/>
          <a:p>
            <a:r>
              <a:rPr sz="800" b="0">
                <a:solidFill>
                  <a:srgbClr val="111111"/>
                </a:solidFill>
                <a:latin typeface="Calibri"/>
              </a:rPr>
              <a:t>Add on weakness if price corrects toward the downside support area. Stop-loss at ₹750 (-8% from CMP) on technical break with high volume Treat volatility as opportunity only if the core ARR and AUM thesis remains intact.</a:t>
            </a:r>
          </a:p>
        </p:txBody>
      </p:sp>
      <p:sp>
        <p:nvSpPr>
          <p:cNvPr id="29" name="Rounded Rectangle 28"/>
          <p:cNvSpPr/>
          <p:nvPr/>
        </p:nvSpPr>
        <p:spPr>
          <a:xfrm>
            <a:off x="292608" y="4187952"/>
            <a:ext cx="6446520" cy="82296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92608" y="4187952"/>
            <a:ext cx="32004" cy="82296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4048" y="4261104"/>
            <a:ext cx="6263640" cy="164592"/>
          </a:xfrm>
          <a:prstGeom prst="rect">
            <a:avLst/>
          </a:prstGeom>
          <a:noFill/>
        </p:spPr>
        <p:txBody>
          <a:bodyPr wrap="square" lIns="36576" rIns="36576" tIns="9144" bIns="9144">
            <a:spAutoFit/>
          </a:bodyPr>
          <a:lstStyle/>
          <a:p>
            <a:r>
              <a:rPr sz="900" b="1">
                <a:solidFill>
                  <a:srgbClr val="1F4690"/>
                </a:solidFill>
                <a:latin typeface="Calibri"/>
              </a:rPr>
              <a:t>Review Points - Thesis Confirmation Milestones</a:t>
            </a:r>
          </a:p>
        </p:txBody>
      </p:sp>
      <p:sp>
        <p:nvSpPr>
          <p:cNvPr id="32" name="TextBox 31"/>
          <p:cNvSpPr txBox="1"/>
          <p:nvPr/>
        </p:nvSpPr>
        <p:spPr>
          <a:xfrm>
            <a:off x="384048" y="4480560"/>
            <a:ext cx="6263640" cy="457199"/>
          </a:xfrm>
          <a:prstGeom prst="rect">
            <a:avLst/>
          </a:prstGeom>
          <a:noFill/>
        </p:spPr>
        <p:txBody>
          <a:bodyPr wrap="square" lIns="36576" rIns="36576" tIns="9144" bIns="9144">
            <a:spAutoFit/>
          </a:bodyPr>
          <a:lstStyle/>
          <a:p>
            <a:r>
              <a:rPr sz="800" b="0">
                <a:solidFill>
                  <a:srgbClr val="111111"/>
                </a:solidFill>
                <a:latin typeface="Calibri"/>
              </a:rPr>
              <a:t>Every quarter: ARR contribution above 60% of net revenues; AMC AUM growth above 25% YoY with net flows &gt; ₹10,000 Cr; PWM AUM growth above 25% YoY with family count expansion; Cost-to-income ratio declining.</a:t>
            </a:r>
          </a:p>
        </p:txBody>
      </p:sp>
      <p:sp>
        <p:nvSpPr>
          <p:cNvPr id="33" name="TextBox 32"/>
          <p:cNvSpPr txBox="1"/>
          <p:nvPr/>
        </p:nvSpPr>
        <p:spPr>
          <a:xfrm>
            <a:off x="292608" y="5148072"/>
            <a:ext cx="6446520" cy="182880"/>
          </a:xfrm>
          <a:prstGeom prst="rect">
            <a:avLst/>
          </a:prstGeom>
          <a:noFill/>
        </p:spPr>
        <p:txBody>
          <a:bodyPr wrap="square" lIns="36576" rIns="36576" tIns="9144" bIns="9144">
            <a:spAutoFit/>
          </a:bodyPr>
          <a:lstStyle/>
          <a:p>
            <a:r>
              <a:rPr sz="900" b="1">
                <a:solidFill>
                  <a:srgbClr val="1F4690"/>
                </a:solidFill>
                <a:latin typeface="Calibri"/>
              </a:rPr>
              <a:t>THESIS INVALIDATION TRIGGERS - WHEN TO EXIT</a:t>
            </a:r>
          </a:p>
        </p:txBody>
      </p:sp>
      <p:sp>
        <p:nvSpPr>
          <p:cNvPr id="34" name="Rectangle 33"/>
          <p:cNvSpPr/>
          <p:nvPr/>
        </p:nvSpPr>
        <p:spPr>
          <a:xfrm>
            <a:off x="292608" y="5422392"/>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9184" y="5449824"/>
            <a:ext cx="292608" cy="128016"/>
          </a:xfrm>
          <a:prstGeom prst="rect">
            <a:avLst/>
          </a:prstGeom>
          <a:noFill/>
        </p:spPr>
        <p:txBody>
          <a:bodyPr wrap="square" lIns="36576" rIns="36576" tIns="9144" bIns="9144">
            <a:spAutoFit/>
          </a:bodyPr>
          <a:lstStyle/>
          <a:p>
            <a:pPr algn="ctr"/>
            <a:r>
              <a:rPr sz="600" b="1">
                <a:solidFill>
                  <a:srgbClr val="B91C1C"/>
                </a:solidFill>
                <a:latin typeface="Calibri"/>
              </a:rPr>
              <a:t>EXIT</a:t>
            </a:r>
          </a:p>
        </p:txBody>
      </p:sp>
      <p:sp>
        <p:nvSpPr>
          <p:cNvPr id="36" name="TextBox 35"/>
          <p:cNvSpPr txBox="1"/>
          <p:nvPr/>
        </p:nvSpPr>
        <p:spPr>
          <a:xfrm>
            <a:off x="731520" y="5376672"/>
            <a:ext cx="6007608" cy="274320"/>
          </a:xfrm>
          <a:prstGeom prst="rect">
            <a:avLst/>
          </a:prstGeom>
          <a:noFill/>
        </p:spPr>
        <p:txBody>
          <a:bodyPr wrap="square" lIns="36576" rIns="36576" tIns="9144" bIns="9144">
            <a:spAutoFit/>
          </a:bodyPr>
          <a:lstStyle/>
          <a:p>
            <a:r>
              <a:rPr sz="800" b="0">
                <a:solidFill>
                  <a:srgbClr val="111111"/>
                </a:solidFill>
                <a:latin typeface="Calibri"/>
              </a:rPr>
              <a:t>ARR contribution drops below 55% for two consecutive quarters</a:t>
            </a:r>
          </a:p>
        </p:txBody>
      </p:sp>
      <p:sp>
        <p:nvSpPr>
          <p:cNvPr id="37" name="Rectangle 36"/>
          <p:cNvSpPr/>
          <p:nvPr/>
        </p:nvSpPr>
        <p:spPr>
          <a:xfrm>
            <a:off x="292608" y="5788152"/>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9184" y="5815584"/>
            <a:ext cx="292608" cy="128016"/>
          </a:xfrm>
          <a:prstGeom prst="rect">
            <a:avLst/>
          </a:prstGeom>
          <a:noFill/>
        </p:spPr>
        <p:txBody>
          <a:bodyPr wrap="square" lIns="36576" rIns="36576" tIns="9144" bIns="9144">
            <a:spAutoFit/>
          </a:bodyPr>
          <a:lstStyle/>
          <a:p>
            <a:pPr algn="ctr"/>
            <a:r>
              <a:rPr sz="600" b="1">
                <a:solidFill>
                  <a:srgbClr val="B91C1C"/>
                </a:solidFill>
                <a:latin typeface="Calibri"/>
              </a:rPr>
              <a:t>EXIT</a:t>
            </a:r>
          </a:p>
        </p:txBody>
      </p:sp>
      <p:sp>
        <p:nvSpPr>
          <p:cNvPr id="39" name="TextBox 38"/>
          <p:cNvSpPr txBox="1"/>
          <p:nvPr/>
        </p:nvSpPr>
        <p:spPr>
          <a:xfrm>
            <a:off x="731520" y="5742432"/>
            <a:ext cx="6007608" cy="274320"/>
          </a:xfrm>
          <a:prstGeom prst="rect">
            <a:avLst/>
          </a:prstGeom>
          <a:noFill/>
        </p:spPr>
        <p:txBody>
          <a:bodyPr wrap="square" lIns="36576" rIns="36576" tIns="9144" bIns="9144">
            <a:spAutoFit/>
          </a:bodyPr>
          <a:lstStyle/>
          <a:p>
            <a:r>
              <a:rPr sz="800" b="0">
                <a:solidFill>
                  <a:srgbClr val="111111"/>
                </a:solidFill>
                <a:latin typeface="Calibri"/>
              </a:rPr>
              <a:t>Major SEBI enforcement action with direct business impact</a:t>
            </a:r>
          </a:p>
        </p:txBody>
      </p:sp>
      <p:sp>
        <p:nvSpPr>
          <p:cNvPr id="40" name="Rectangle 39"/>
          <p:cNvSpPr/>
          <p:nvPr/>
        </p:nvSpPr>
        <p:spPr>
          <a:xfrm>
            <a:off x="292608" y="6153912"/>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9184" y="6181344"/>
            <a:ext cx="292608" cy="128016"/>
          </a:xfrm>
          <a:prstGeom prst="rect">
            <a:avLst/>
          </a:prstGeom>
          <a:noFill/>
        </p:spPr>
        <p:txBody>
          <a:bodyPr wrap="square" lIns="36576" rIns="36576" tIns="9144" bIns="9144">
            <a:spAutoFit/>
          </a:bodyPr>
          <a:lstStyle/>
          <a:p>
            <a:pPr algn="ctr"/>
            <a:r>
              <a:rPr sz="600" b="1">
                <a:solidFill>
                  <a:srgbClr val="B91C1C"/>
                </a:solidFill>
                <a:latin typeface="Calibri"/>
              </a:rPr>
              <a:t>EXIT</a:t>
            </a:r>
          </a:p>
        </p:txBody>
      </p:sp>
      <p:sp>
        <p:nvSpPr>
          <p:cNvPr id="42" name="TextBox 41"/>
          <p:cNvSpPr txBox="1"/>
          <p:nvPr/>
        </p:nvSpPr>
        <p:spPr>
          <a:xfrm>
            <a:off x="731520" y="6108192"/>
            <a:ext cx="6007608" cy="274320"/>
          </a:xfrm>
          <a:prstGeom prst="rect">
            <a:avLst/>
          </a:prstGeom>
          <a:noFill/>
        </p:spPr>
        <p:txBody>
          <a:bodyPr wrap="square" lIns="36576" rIns="36576" tIns="9144" bIns="9144">
            <a:spAutoFit/>
          </a:bodyPr>
          <a:lstStyle/>
          <a:p>
            <a:r>
              <a:rPr sz="800" b="0">
                <a:solidFill>
                  <a:srgbClr val="111111"/>
                </a:solidFill>
                <a:latin typeface="Calibri"/>
              </a:rPr>
              <a:t>AMC AUM declining for two consecutive quarters</a:t>
            </a:r>
          </a:p>
        </p:txBody>
      </p:sp>
      <p:sp>
        <p:nvSpPr>
          <p:cNvPr id="43" name="Rectangle 42"/>
          <p:cNvSpPr/>
          <p:nvPr/>
        </p:nvSpPr>
        <p:spPr>
          <a:xfrm>
            <a:off x="292608" y="6519672"/>
            <a:ext cx="365760" cy="182880"/>
          </a:xfrm>
          <a:prstGeom prst="rect">
            <a:avLst/>
          </a:prstGeom>
          <a:solidFill>
            <a:srgbClr val="FFE1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9184" y="6547104"/>
            <a:ext cx="292608" cy="128016"/>
          </a:xfrm>
          <a:prstGeom prst="rect">
            <a:avLst/>
          </a:prstGeom>
          <a:noFill/>
        </p:spPr>
        <p:txBody>
          <a:bodyPr wrap="square" lIns="36576" rIns="36576" tIns="9144" bIns="9144">
            <a:spAutoFit/>
          </a:bodyPr>
          <a:lstStyle/>
          <a:p>
            <a:pPr algn="ctr"/>
            <a:r>
              <a:rPr sz="600" b="1">
                <a:solidFill>
                  <a:srgbClr val="B91C1C"/>
                </a:solidFill>
                <a:latin typeface="Calibri"/>
              </a:rPr>
              <a:t>EXIT</a:t>
            </a:r>
          </a:p>
        </p:txBody>
      </p:sp>
      <p:sp>
        <p:nvSpPr>
          <p:cNvPr id="45" name="TextBox 44"/>
          <p:cNvSpPr txBox="1"/>
          <p:nvPr/>
        </p:nvSpPr>
        <p:spPr>
          <a:xfrm>
            <a:off x="731520" y="6473952"/>
            <a:ext cx="6007608" cy="274320"/>
          </a:xfrm>
          <a:prstGeom prst="rect">
            <a:avLst/>
          </a:prstGeom>
          <a:noFill/>
        </p:spPr>
        <p:txBody>
          <a:bodyPr wrap="square" lIns="36576" rIns="36576" tIns="9144" bIns="9144">
            <a:spAutoFit/>
          </a:bodyPr>
          <a:lstStyle/>
          <a:p>
            <a:r>
              <a:rPr sz="800" b="0">
                <a:solidFill>
                  <a:srgbClr val="111111"/>
                </a:solidFill>
                <a:latin typeface="Calibri"/>
              </a:rPr>
              <a:t>Management guidance signaling structural headwinds beyond FY26</a:t>
            </a:r>
          </a:p>
        </p:txBody>
      </p:sp>
      <p:sp>
        <p:nvSpPr>
          <p:cNvPr id="46" name="TextBox 45"/>
          <p:cNvSpPr txBox="1"/>
          <p:nvPr/>
        </p:nvSpPr>
        <p:spPr>
          <a:xfrm>
            <a:off x="6949440" y="1042416"/>
            <a:ext cx="4791456" cy="182880"/>
          </a:xfrm>
          <a:prstGeom prst="rect">
            <a:avLst/>
          </a:prstGeom>
          <a:noFill/>
        </p:spPr>
        <p:txBody>
          <a:bodyPr wrap="square" lIns="36576" rIns="36576" tIns="9144" bIns="9144">
            <a:spAutoFit/>
          </a:bodyPr>
          <a:lstStyle/>
          <a:p>
            <a:r>
              <a:rPr sz="900" b="1">
                <a:solidFill>
                  <a:srgbClr val="1F4690"/>
                </a:solidFill>
                <a:latin typeface="Calibri"/>
              </a:rPr>
              <a:t>INVESTMENT SUMMARY SCORECARD</a:t>
            </a:r>
          </a:p>
        </p:txBody>
      </p:sp>
      <p:graphicFrame>
        <p:nvGraphicFramePr>
          <p:cNvPr id="47" name="Table 46"/>
          <p:cNvGraphicFramePr>
            <a:graphicFrameLocks noGrp="1"/>
          </p:cNvGraphicFramePr>
          <p:nvPr/>
        </p:nvGraphicFramePr>
        <p:xfrm>
          <a:off x="6949440" y="1261872"/>
          <a:ext cx="4791454" cy="1645920"/>
        </p:xfrm>
        <a:graphic>
          <a:graphicData uri="http://schemas.openxmlformats.org/drawingml/2006/table">
            <a:tbl>
              <a:tblPr firstRow="1" bandRow="1">
                <a:tableStyleId>{5C22544A-7EE6-4342-B048-85BDC9FD1C3A}</a:tableStyleId>
              </a:tblPr>
              <a:tblGrid>
                <a:gridCol w="2108240"/>
                <a:gridCol w="1677009"/>
                <a:gridCol w="1006205"/>
              </a:tblGrid>
              <a:tr h="164592">
                <a:tc>
                  <a:txBody>
                    <a:bodyPr/>
                    <a:lstStyle/>
                    <a:p>
                      <a:pPr algn="l"/>
                      <a:r>
                        <a:rPr sz="800" b="1">
                          <a:solidFill>
                            <a:srgbClr val="FFFFFF"/>
                          </a:solidFill>
                          <a:latin typeface="Calibri"/>
                        </a:rPr>
                        <a:t>Parameter</a:t>
                      </a:r>
                    </a:p>
                  </a:txBody>
                  <a:tcPr marL="22860" marR="22860" marT="5486" marB="5486">
                    <a:solidFill>
                      <a:srgbClr val="1F4690"/>
                    </a:solidFill>
                  </a:tcPr>
                </a:tc>
                <a:tc>
                  <a:txBody>
                    <a:bodyPr/>
                    <a:lstStyle/>
                    <a:p>
                      <a:pPr algn="r"/>
                      <a:r>
                        <a:rPr sz="800" b="1">
                          <a:solidFill>
                            <a:srgbClr val="FFFFFF"/>
                          </a:solidFill>
                          <a:latin typeface="Calibri"/>
                        </a:rPr>
                        <a:t>Assessment</a:t>
                      </a:r>
                    </a:p>
                  </a:txBody>
                  <a:tcPr marL="22860" marR="22860" marT="5486" marB="5486">
                    <a:solidFill>
                      <a:srgbClr val="1F4690"/>
                    </a:solidFill>
                  </a:tcPr>
                </a:tc>
                <a:tc>
                  <a:txBody>
                    <a:bodyPr/>
                    <a:lstStyle/>
                    <a:p>
                      <a:pPr algn="r"/>
                      <a:r>
                        <a:rPr sz="800" b="1">
                          <a:solidFill>
                            <a:srgbClr val="FFFFFF"/>
                          </a:solidFill>
                          <a:latin typeface="Calibri"/>
                        </a:rPr>
                        <a:t>Score</a:t>
                      </a:r>
                    </a:p>
                  </a:txBody>
                  <a:tcPr marL="22860" marR="22860" marT="5486" marB="5486">
                    <a:solidFill>
                      <a:srgbClr val="1F4690"/>
                    </a:solidFill>
                  </a:tcPr>
                </a:tc>
              </a:tr>
              <a:tr h="164592">
                <a:tc>
                  <a:txBody>
                    <a:bodyPr/>
                    <a:lstStyle/>
                    <a:p>
                      <a:pPr algn="l"/>
                      <a:r>
                        <a:rPr sz="800" b="0">
                          <a:solidFill>
                            <a:srgbClr val="111111"/>
                          </a:solidFill>
                          <a:latin typeface="Calibri"/>
                        </a:rPr>
                        <a:t>SAARTHI Framework</a:t>
                      </a:r>
                    </a:p>
                  </a:txBody>
                  <a:tcPr marL="22860" marR="22860" marT="5486" marB="5486">
                    <a:solidFill>
                      <a:srgbClr val="F4F6F9"/>
                    </a:solidFill>
                  </a:tcPr>
                </a:tc>
                <a:tc>
                  <a:txBody>
                    <a:bodyPr/>
                    <a:lstStyle/>
                    <a:p>
                      <a:pPr algn="r"/>
                      <a:r>
                        <a:rPr sz="800" b="1">
                          <a:solidFill>
                            <a:srgbClr val="1A7A4A"/>
                          </a:solidFill>
                          <a:latin typeface="Calibri"/>
                        </a:rPr>
                        <a:t>BUY Zone</a:t>
                      </a:r>
                    </a:p>
                  </a:txBody>
                  <a:tcPr marL="22860" marR="22860" marT="5486" marB="5486">
                    <a:solidFill>
                      <a:srgbClr val="F4F6F9"/>
                    </a:solidFill>
                  </a:tcPr>
                </a:tc>
                <a:tc>
                  <a:txBody>
                    <a:bodyPr/>
                    <a:lstStyle/>
                    <a:p>
                      <a:pPr algn="r"/>
                      <a:r>
                        <a:rPr sz="800" b="1">
                          <a:solidFill>
                            <a:srgbClr val="1F4690"/>
                          </a:solidFill>
                          <a:latin typeface="Calibri"/>
                        </a:rPr>
                        <a:t>72/100</a:t>
                      </a:r>
                    </a:p>
                  </a:txBody>
                  <a:tcPr marL="22860" marR="22860" marT="5486" marB="5486">
                    <a:solidFill>
                      <a:srgbClr val="F4F6F9"/>
                    </a:solidFill>
                  </a:tcPr>
                </a:tc>
              </a:tr>
              <a:tr h="164592">
                <a:tc>
                  <a:txBody>
                    <a:bodyPr/>
                    <a:lstStyle/>
                    <a:p>
                      <a:pPr algn="l"/>
                      <a:r>
                        <a:rPr sz="800" b="0">
                          <a:solidFill>
                            <a:srgbClr val="111111"/>
                          </a:solidFill>
                          <a:latin typeface="Calibri"/>
                        </a:rPr>
                        <a:t>Valuation Attractiveness</a:t>
                      </a:r>
                    </a:p>
                  </a:txBody>
                  <a:tcPr marL="22860" marR="22860" marT="5486" marB="5486">
                    <a:solidFill>
                      <a:srgbClr val="FFFFFF"/>
                    </a:solidFill>
                  </a:tcPr>
                </a:tc>
                <a:tc>
                  <a:txBody>
                    <a:bodyPr/>
                    <a:lstStyle/>
                    <a:p>
                      <a:pPr algn="r"/>
                      <a:r>
                        <a:rPr sz="800" b="1">
                          <a:solidFill>
                            <a:srgbClr val="111111"/>
                          </a:solidFill>
                          <a:latin typeface="Calibri"/>
                        </a:rPr>
                        <a:t>+37% undervalued</a:t>
                      </a:r>
                    </a:p>
                  </a:txBody>
                  <a:tcPr marL="22860" marR="22860" marT="5486" marB="5486">
                    <a:solidFill>
                      <a:srgbClr val="FFFFFF"/>
                    </a:solidFill>
                  </a:tcPr>
                </a:tc>
                <a:tc>
                  <a:txBody>
                    <a:bodyPr/>
                    <a:lstStyle/>
                    <a:p>
                      <a:pPr algn="r"/>
                      <a:r>
                        <a:rPr sz="800" b="1">
                          <a:solidFill>
                            <a:srgbClr val="1F4690"/>
                          </a:solidFill>
                          <a:latin typeface="Calibri"/>
                        </a:rPr>
                        <a:t>Upside 37%</a:t>
                      </a:r>
                    </a:p>
                  </a:txBody>
                  <a:tcPr marL="22860" marR="22860" marT="5486" marB="5486">
                    <a:solidFill>
                      <a:srgbClr val="FFFFFF"/>
                    </a:solidFill>
                  </a:tcPr>
                </a:tc>
              </a:tr>
              <a:tr h="164592">
                <a:tc>
                  <a:txBody>
                    <a:bodyPr/>
                    <a:lstStyle/>
                    <a:p>
                      <a:pPr algn="l"/>
                      <a:r>
                        <a:rPr sz="800" b="0">
                          <a:solidFill>
                            <a:srgbClr val="111111"/>
                          </a:solidFill>
                          <a:latin typeface="Calibri"/>
                        </a:rPr>
                        <a:t>Revenue Quality</a:t>
                      </a:r>
                    </a:p>
                  </a:txBody>
                  <a:tcPr marL="22860" marR="22860" marT="5486" marB="5486">
                    <a:solidFill>
                      <a:srgbClr val="F4F6F9"/>
                    </a:solidFill>
                  </a:tcPr>
                </a:tc>
                <a:tc>
                  <a:txBody>
                    <a:bodyPr/>
                    <a:lstStyle/>
                    <a:p>
                      <a:pPr algn="r"/>
                      <a:r>
                        <a:rPr sz="800" b="1">
                          <a:solidFill>
                            <a:srgbClr val="111111"/>
                          </a:solidFill>
                          <a:latin typeface="Calibri"/>
                        </a:rPr>
                        <a:t>65% ARR recurring</a:t>
                      </a:r>
                    </a:p>
                  </a:txBody>
                  <a:tcPr marL="22860" marR="22860" marT="5486" marB="5486">
                    <a:solidFill>
                      <a:srgbClr val="F4F6F9"/>
                    </a:solidFill>
                  </a:tcPr>
                </a:tc>
                <a:tc>
                  <a:txBody>
                    <a:bodyPr/>
                    <a:lstStyle/>
                    <a:p>
                      <a:pPr algn="r"/>
                      <a:r>
                        <a:rPr sz="800" b="1">
                          <a:solidFill>
                            <a:srgbClr val="1F4690"/>
                          </a:solidFill>
                          <a:latin typeface="Calibri"/>
                        </a:rPr>
                        <a:t>High quality</a:t>
                      </a:r>
                    </a:p>
                  </a:txBody>
                  <a:tcPr marL="22860" marR="22860" marT="5486" marB="5486">
                    <a:solidFill>
                      <a:srgbClr val="F4F6F9"/>
                    </a:solidFill>
                  </a:tcPr>
                </a:tc>
              </a:tr>
              <a:tr h="164592">
                <a:tc>
                  <a:txBody>
                    <a:bodyPr/>
                    <a:lstStyle/>
                    <a:p>
                      <a:pPr algn="l"/>
                      <a:r>
                        <a:rPr sz="800" b="0">
                          <a:solidFill>
                            <a:srgbClr val="111111"/>
                          </a:solidFill>
                          <a:latin typeface="Calibri"/>
                        </a:rPr>
                        <a:t>AUM Growth Visibility</a:t>
                      </a:r>
                    </a:p>
                  </a:txBody>
                  <a:tcPr marL="22860" marR="22860" marT="5486" marB="5486">
                    <a:solidFill>
                      <a:srgbClr val="FFFFFF"/>
                    </a:solidFill>
                  </a:tcPr>
                </a:tc>
                <a:tc>
                  <a:txBody>
                    <a:bodyPr/>
                    <a:lstStyle/>
                    <a:p>
                      <a:pPr algn="r"/>
                      <a:r>
                        <a:rPr sz="800" b="1">
                          <a:solidFill>
                            <a:srgbClr val="111111"/>
                          </a:solidFill>
                          <a:latin typeface="Calibri"/>
                        </a:rPr>
                        <a:t>High</a:t>
                      </a:r>
                    </a:p>
                  </a:txBody>
                  <a:tcPr marL="22860" marR="22860" marT="5486" marB="5486">
                    <a:solidFill>
                      <a:srgbClr val="FFFFFF"/>
                    </a:solidFill>
                  </a:tcPr>
                </a:tc>
                <a:tc>
                  <a:txBody>
                    <a:bodyPr/>
                    <a:lstStyle/>
                    <a:p>
                      <a:pPr algn="r"/>
                      <a:r>
                        <a:rPr sz="800" b="1">
                          <a:solidFill>
                            <a:srgbClr val="1F4690"/>
                          </a:solidFill>
                          <a:latin typeface="Calibri"/>
                        </a:rPr>
                        <a:t>46% YoY</a:t>
                      </a:r>
                    </a:p>
                  </a:txBody>
                  <a:tcPr marL="22860" marR="22860" marT="5486" marB="5486">
                    <a:solidFill>
                      <a:srgbClr val="FFFFFF"/>
                    </a:solidFill>
                  </a:tcPr>
                </a:tc>
              </a:tr>
              <a:tr h="164592">
                <a:tc>
                  <a:txBody>
                    <a:bodyPr/>
                    <a:lstStyle/>
                    <a:p>
                      <a:pPr algn="l"/>
                      <a:r>
                        <a:rPr sz="800" b="0">
                          <a:solidFill>
                            <a:srgbClr val="111111"/>
                          </a:solidFill>
                          <a:latin typeface="Calibri"/>
                        </a:rPr>
                        <a:t>Management Track Record</a:t>
                      </a:r>
                    </a:p>
                  </a:txBody>
                  <a:tcPr marL="22860" marR="22860" marT="5486" marB="5486">
                    <a:solidFill>
                      <a:srgbClr val="F4F6F9"/>
                    </a:solidFill>
                  </a:tcPr>
                </a:tc>
                <a:tc>
                  <a:txBody>
                    <a:bodyPr/>
                    <a:lstStyle/>
                    <a:p>
                      <a:pPr algn="r"/>
                      <a:r>
                        <a:rPr sz="800" b="1">
                          <a:solidFill>
                            <a:srgbClr val="111111"/>
                          </a:solidFill>
                          <a:latin typeface="Calibri"/>
                        </a:rPr>
                        <a:t>Founder-led</a:t>
                      </a:r>
                    </a:p>
                  </a:txBody>
                  <a:tcPr marL="22860" marR="22860" marT="5486" marB="5486">
                    <a:solidFill>
                      <a:srgbClr val="F4F6F9"/>
                    </a:solidFill>
                  </a:tcPr>
                </a:tc>
                <a:tc>
                  <a:txBody>
                    <a:bodyPr/>
                    <a:lstStyle/>
                    <a:p>
                      <a:pPr algn="r"/>
                      <a:r>
                        <a:rPr sz="800" b="1">
                          <a:solidFill>
                            <a:srgbClr val="1F4690"/>
                          </a:solidFill>
                          <a:latin typeface="Calibri"/>
                        </a:rPr>
                        <a:t>9/10</a:t>
                      </a:r>
                    </a:p>
                  </a:txBody>
                  <a:tcPr marL="22860" marR="22860" marT="5486" marB="5486">
                    <a:solidFill>
                      <a:srgbClr val="F4F6F9"/>
                    </a:solidFill>
                  </a:tcPr>
                </a:tc>
              </a:tr>
              <a:tr h="164592">
                <a:tc>
                  <a:txBody>
                    <a:bodyPr/>
                    <a:lstStyle/>
                    <a:p>
                      <a:pPr algn="l"/>
                      <a:r>
                        <a:rPr sz="800" b="0">
                          <a:solidFill>
                            <a:srgbClr val="111111"/>
                          </a:solidFill>
                          <a:latin typeface="Calibri"/>
                        </a:rPr>
                        <a:t>Governance Risk</a:t>
                      </a:r>
                    </a:p>
                  </a:txBody>
                  <a:tcPr marL="22860" marR="22860" marT="5486" marB="5486">
                    <a:solidFill>
                      <a:srgbClr val="FFFFFF"/>
                    </a:solidFill>
                  </a:tcPr>
                </a:tc>
                <a:tc>
                  <a:txBody>
                    <a:bodyPr/>
                    <a:lstStyle/>
                    <a:p>
                      <a:pPr algn="r"/>
                      <a:r>
                        <a:rPr sz="800" b="1">
                          <a:solidFill>
                            <a:srgbClr val="111111"/>
                          </a:solidFill>
                          <a:latin typeface="Calibri"/>
                        </a:rPr>
                        <a:t>Monitor closely</a:t>
                      </a:r>
                    </a:p>
                  </a:txBody>
                  <a:tcPr marL="22860" marR="22860" marT="5486" marB="5486">
                    <a:solidFill>
                      <a:srgbClr val="FFFFFF"/>
                    </a:solidFill>
                  </a:tcPr>
                </a:tc>
                <a:tc>
                  <a:txBody>
                    <a:bodyPr/>
                    <a:lstStyle/>
                    <a:p>
                      <a:pPr algn="r"/>
                      <a:r>
                        <a:rPr sz="800" b="1">
                          <a:solidFill>
                            <a:srgbClr val="1F4690"/>
                          </a:solidFill>
                          <a:latin typeface="Calibri"/>
                        </a:rPr>
                        <a:t>6/10</a:t>
                      </a:r>
                    </a:p>
                  </a:txBody>
                  <a:tcPr marL="22860" marR="22860" marT="5486" marB="5486">
                    <a:solidFill>
                      <a:srgbClr val="FFFFFF"/>
                    </a:solidFill>
                  </a:tcPr>
                </a:tc>
              </a:tr>
              <a:tr h="164592">
                <a:tc>
                  <a:txBody>
                    <a:bodyPr/>
                    <a:lstStyle/>
                    <a:p>
                      <a:pPr algn="l"/>
                      <a:r>
                        <a:rPr sz="800" b="0">
                          <a:solidFill>
                            <a:srgbClr val="111111"/>
                          </a:solidFill>
                          <a:latin typeface="Calibri"/>
                        </a:rPr>
                        <a:t>Earnings Growth</a:t>
                      </a:r>
                    </a:p>
                  </a:txBody>
                  <a:tcPr marL="22860" marR="22860" marT="5486" marB="5486">
                    <a:solidFill>
                      <a:srgbClr val="F4F6F9"/>
                    </a:solidFill>
                  </a:tcPr>
                </a:tc>
                <a:tc>
                  <a:txBody>
                    <a:bodyPr/>
                    <a:lstStyle/>
                    <a:p>
                      <a:pPr algn="r"/>
                      <a:r>
                        <a:rPr sz="800" b="1">
                          <a:solidFill>
                            <a:srgbClr val="1A7A4A"/>
                          </a:solidFill>
                          <a:latin typeface="Calibri"/>
                        </a:rPr>
                        <a:t>Strong</a:t>
                      </a:r>
                    </a:p>
                  </a:txBody>
                  <a:tcPr marL="22860" marR="22860" marT="5486" marB="5486">
                    <a:solidFill>
                      <a:srgbClr val="F4F6F9"/>
                    </a:solidFill>
                  </a:tcPr>
                </a:tc>
                <a:tc>
                  <a:txBody>
                    <a:bodyPr/>
                    <a:lstStyle/>
                    <a:p>
                      <a:pPr algn="r"/>
                      <a:r>
                        <a:rPr sz="800" b="1">
                          <a:solidFill>
                            <a:srgbClr val="1F4690"/>
                          </a:solidFill>
                          <a:latin typeface="Calibri"/>
                        </a:rPr>
                        <a:t>27% CAGR</a:t>
                      </a:r>
                    </a:p>
                  </a:txBody>
                  <a:tcPr marL="22860" marR="22860" marT="5486" marB="5486">
                    <a:solidFill>
                      <a:srgbClr val="F4F6F9"/>
                    </a:solidFill>
                  </a:tcPr>
                </a:tc>
              </a:tr>
              <a:tr h="164592">
                <a:tc>
                  <a:txBody>
                    <a:bodyPr/>
                    <a:lstStyle/>
                    <a:p>
                      <a:pPr algn="l"/>
                      <a:r>
                        <a:rPr sz="800" b="0">
                          <a:solidFill>
                            <a:srgbClr val="111111"/>
                          </a:solidFill>
                          <a:latin typeface="Calibri"/>
                        </a:rPr>
                        <a:t>Credit Rating</a:t>
                      </a:r>
                    </a:p>
                  </a:txBody>
                  <a:tcPr marL="22860" marR="22860" marT="5486" marB="5486">
                    <a:solidFill>
                      <a:srgbClr val="FFFFFF"/>
                    </a:solidFill>
                  </a:tcPr>
                </a:tc>
                <a:tc>
                  <a:txBody>
                    <a:bodyPr/>
                    <a:lstStyle/>
                    <a:p>
                      <a:pPr algn="r"/>
                      <a:r>
                        <a:rPr sz="800" b="1">
                          <a:solidFill>
                            <a:srgbClr val="1A7A4A"/>
                          </a:solidFill>
                          <a:latin typeface="Calibri"/>
                        </a:rPr>
                        <a:t>AA+</a:t>
                      </a:r>
                    </a:p>
                  </a:txBody>
                  <a:tcPr marL="22860" marR="22860" marT="5486" marB="5486">
                    <a:solidFill>
                      <a:srgbClr val="FFFFFF"/>
                    </a:solidFill>
                  </a:tcPr>
                </a:tc>
                <a:tc>
                  <a:txBody>
                    <a:bodyPr/>
                    <a:lstStyle/>
                    <a:p>
                      <a:pPr algn="r"/>
                      <a:r>
                        <a:rPr sz="800" b="1">
                          <a:solidFill>
                            <a:srgbClr val="1F4690"/>
                          </a:solidFill>
                          <a:latin typeface="Calibri"/>
                        </a:rPr>
                        <a:t>AA+ Stable</a:t>
                      </a:r>
                    </a:p>
                  </a:txBody>
                  <a:tcPr marL="22860" marR="22860" marT="5486" marB="5486">
                    <a:solidFill>
                      <a:srgbClr val="FFFFFF"/>
                    </a:solidFill>
                  </a:tcPr>
                </a:tc>
              </a:tr>
              <a:tr h="164592">
                <a:tc>
                  <a:txBody>
                    <a:bodyPr/>
                    <a:lstStyle/>
                    <a:p>
                      <a:pPr algn="l"/>
                      <a:r>
                        <a:rPr sz="800" b="0">
                          <a:solidFill>
                            <a:srgbClr val="111111"/>
                          </a:solidFill>
                          <a:latin typeface="Calibri"/>
                        </a:rPr>
                        <a:t>Overall Recommendation</a:t>
                      </a:r>
                    </a:p>
                  </a:txBody>
                  <a:tcPr marL="22860" marR="22860" marT="5486" marB="5486">
                    <a:solidFill>
                      <a:srgbClr val="F4F6F9"/>
                    </a:solidFill>
                  </a:tcPr>
                </a:tc>
                <a:tc>
                  <a:txBody>
                    <a:bodyPr/>
                    <a:lstStyle/>
                    <a:p>
                      <a:pPr algn="r"/>
                      <a:r>
                        <a:rPr sz="800" b="1">
                          <a:solidFill>
                            <a:srgbClr val="1A7A4A"/>
                          </a:solidFill>
                          <a:latin typeface="Calibri"/>
                        </a:rPr>
                        <a:t>BUY - High Conviction</a:t>
                      </a:r>
                    </a:p>
                  </a:txBody>
                  <a:tcPr marL="22860" marR="22860" marT="5486" marB="5486">
                    <a:solidFill>
                      <a:srgbClr val="F4F6F9"/>
                    </a:solidFill>
                  </a:tcPr>
                </a:tc>
                <a:tc>
                  <a:txBody>
                    <a:bodyPr/>
                    <a:lstStyle/>
                    <a:p>
                      <a:pPr algn="r"/>
                      <a:r>
                        <a:rPr sz="800" b="1">
                          <a:solidFill>
                            <a:srgbClr val="1F4690"/>
                          </a:solidFill>
                          <a:latin typeface="Calibri"/>
                        </a:rPr>
                        <a:t>TP: ₹1,127</a:t>
                      </a:r>
                    </a:p>
                  </a:txBody>
                  <a:tcPr marL="22860" marR="22860" marT="5486" marB="5486">
                    <a:solidFill>
                      <a:srgbClr val="F4F6F9"/>
                    </a:solidFill>
                  </a:tcPr>
                </a:tc>
              </a:tr>
            </a:tbl>
          </a:graphicData>
        </a:graphic>
      </p:graphicFrame>
      <p:sp>
        <p:nvSpPr>
          <p:cNvPr id="48" name="Rounded Rectangle 47"/>
          <p:cNvSpPr/>
          <p:nvPr/>
        </p:nvSpPr>
        <p:spPr>
          <a:xfrm>
            <a:off x="6949440" y="3044952"/>
            <a:ext cx="4791456" cy="11887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949440" y="3044952"/>
            <a:ext cx="32004" cy="118872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040879" y="3118104"/>
            <a:ext cx="4608576" cy="164592"/>
          </a:xfrm>
          <a:prstGeom prst="rect">
            <a:avLst/>
          </a:prstGeom>
          <a:noFill/>
        </p:spPr>
        <p:txBody>
          <a:bodyPr wrap="square" lIns="36576" rIns="36576" tIns="9144" bIns="9144">
            <a:spAutoFit/>
          </a:bodyPr>
          <a:lstStyle/>
          <a:p>
            <a:r>
              <a:rPr sz="900" b="1">
                <a:solidFill>
                  <a:srgbClr val="1F4690"/>
                </a:solidFill>
                <a:latin typeface="Calibri"/>
              </a:rPr>
              <a:t>Position Summary</a:t>
            </a:r>
          </a:p>
        </p:txBody>
      </p:sp>
      <p:sp>
        <p:nvSpPr>
          <p:cNvPr id="51" name="TextBox 50"/>
          <p:cNvSpPr txBox="1"/>
          <p:nvPr/>
        </p:nvSpPr>
        <p:spPr>
          <a:xfrm>
            <a:off x="7040879" y="3337560"/>
            <a:ext cx="4608576" cy="822960"/>
          </a:xfrm>
          <a:prstGeom prst="rect">
            <a:avLst/>
          </a:prstGeom>
          <a:noFill/>
        </p:spPr>
        <p:txBody>
          <a:bodyPr wrap="square" lIns="36576" rIns="36576" tIns="9144" bIns="9144">
            <a:spAutoFit/>
          </a:bodyPr>
          <a:lstStyle/>
          <a:p>
            <a:r>
              <a:rPr sz="800" b="0">
                <a:solidFill>
                  <a:srgbClr val="111111"/>
                </a:solidFill>
                <a:latin typeface="Calibri"/>
              </a:rPr>
              <a:t>Rating: BUY | Entry range: ₹800-850. Base target price: ₹1,127. Probability-weighted target: ₹1,109. Stop-loss: Stop-loss at ₹750 (-8% from CMP) on technical break with high volume. Position sizing: 3-5% of portfolio (institutional).</a:t>
            </a:r>
          </a:p>
        </p:txBody>
      </p:sp>
      <p:sp>
        <p:nvSpPr>
          <p:cNvPr id="52" name="Rounded Rectangle 51"/>
          <p:cNvSpPr/>
          <p:nvPr/>
        </p:nvSpPr>
        <p:spPr>
          <a:xfrm>
            <a:off x="6949440" y="4370832"/>
            <a:ext cx="4791456" cy="11887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949440" y="4370832"/>
            <a:ext cx="32004" cy="118872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040879" y="4434840"/>
            <a:ext cx="4608576" cy="182880"/>
          </a:xfrm>
          <a:prstGeom prst="rect">
            <a:avLst/>
          </a:prstGeom>
          <a:noFill/>
        </p:spPr>
        <p:txBody>
          <a:bodyPr wrap="square" lIns="36576" rIns="36576" tIns="9144" bIns="9144">
            <a:spAutoFit/>
          </a:bodyPr>
          <a:lstStyle/>
          <a:p>
            <a:r>
              <a:rPr sz="900" b="1">
                <a:solidFill>
                  <a:srgbClr val="1F4690"/>
                </a:solidFill>
                <a:latin typeface="Calibri"/>
              </a:rPr>
              <a:t>Exit Strategy - Scaling Out on Gains</a:t>
            </a:r>
          </a:p>
        </p:txBody>
      </p:sp>
      <p:sp>
        <p:nvSpPr>
          <p:cNvPr id="55" name="TextBox 54"/>
          <p:cNvSpPr txBox="1"/>
          <p:nvPr/>
        </p:nvSpPr>
        <p:spPr>
          <a:xfrm>
            <a:off x="7059168" y="4690872"/>
            <a:ext cx="4572000" cy="347472"/>
          </a:xfrm>
          <a:prstGeom prst="rect">
            <a:avLst/>
          </a:prstGeom>
          <a:noFill/>
        </p:spPr>
        <p:txBody>
          <a:bodyPr wrap="square" lIns="36576" rIns="36576" tIns="9144" bIns="9144">
            <a:spAutoFit/>
          </a:bodyPr>
          <a:lstStyle/>
          <a:p>
            <a:r>
              <a:rPr sz="800" b="0">
                <a:solidFill>
                  <a:srgbClr val="111111"/>
                </a:solidFill>
                <a:latin typeface="Calibri"/>
              </a:rPr>
              <a:t>Sell 1: Sell 50% at ₹1,100-1,150 (30-40% gains)</a:t>
            </a:r>
          </a:p>
        </p:txBody>
      </p:sp>
      <p:sp>
        <p:nvSpPr>
          <p:cNvPr id="56" name="TextBox 55"/>
          <p:cNvSpPr txBox="1"/>
          <p:nvPr/>
        </p:nvSpPr>
        <p:spPr>
          <a:xfrm>
            <a:off x="7059168" y="5074920"/>
            <a:ext cx="4572000" cy="347472"/>
          </a:xfrm>
          <a:prstGeom prst="rect">
            <a:avLst/>
          </a:prstGeom>
          <a:noFill/>
        </p:spPr>
        <p:txBody>
          <a:bodyPr wrap="square" lIns="36576" rIns="36576" tIns="9144" bIns="9144">
            <a:spAutoFit/>
          </a:bodyPr>
          <a:lstStyle/>
          <a:p>
            <a:r>
              <a:rPr sz="800" b="0">
                <a:solidFill>
                  <a:srgbClr val="111111"/>
                </a:solidFill>
                <a:latin typeface="Calibri"/>
              </a:rPr>
              <a:t>Sell 2: Sell remaining at ₹1,200+ if multiples expand beyond 25x P/E</a:t>
            </a:r>
          </a:p>
        </p:txBody>
      </p:sp>
      <p:sp>
        <p:nvSpPr>
          <p:cNvPr id="57" name="Rounded Rectangle 56"/>
          <p:cNvSpPr/>
          <p:nvPr/>
        </p:nvSpPr>
        <p:spPr>
          <a:xfrm>
            <a:off x="6949440" y="5696712"/>
            <a:ext cx="4791456" cy="731520"/>
          </a:xfrm>
          <a:prstGeom prst="roundRect">
            <a:avLst/>
          </a:prstGeom>
          <a:solidFill>
            <a:srgbClr val="F7F9FC"/>
          </a:solidFill>
          <a:ln w="8890">
            <a:solidFill>
              <a:srgbClr val="C8D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949440" y="5696712"/>
            <a:ext cx="32004" cy="731520"/>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040879" y="5769864"/>
            <a:ext cx="4608576" cy="164592"/>
          </a:xfrm>
          <a:prstGeom prst="rect">
            <a:avLst/>
          </a:prstGeom>
          <a:noFill/>
        </p:spPr>
        <p:txBody>
          <a:bodyPr wrap="square" lIns="36576" rIns="36576" tIns="9144" bIns="9144">
            <a:spAutoFit/>
          </a:bodyPr>
          <a:lstStyle/>
          <a:p>
            <a:r>
              <a:rPr sz="900" b="1">
                <a:solidFill>
                  <a:srgbClr val="1F4690"/>
                </a:solidFill>
                <a:latin typeface="Calibri"/>
              </a:rPr>
              <a:t>Disclaimer</a:t>
            </a:r>
          </a:p>
        </p:txBody>
      </p:sp>
      <p:sp>
        <p:nvSpPr>
          <p:cNvPr id="60" name="TextBox 59"/>
          <p:cNvSpPr txBox="1"/>
          <p:nvPr/>
        </p:nvSpPr>
        <p:spPr>
          <a:xfrm>
            <a:off x="7040879" y="5989320"/>
            <a:ext cx="4608576" cy="365759"/>
          </a:xfrm>
          <a:prstGeom prst="rect">
            <a:avLst/>
          </a:prstGeom>
          <a:noFill/>
        </p:spPr>
        <p:txBody>
          <a:bodyPr wrap="square" lIns="36576" rIns="36576" tIns="9144" bIns="9144">
            <a:spAutoFit/>
          </a:bodyPr>
          <a:lstStyle/>
          <a:p>
            <a:r>
              <a:rPr sz="650" b="0">
                <a:solidFill>
                  <a:srgbClr val="111111"/>
                </a:solidFill>
                <a:latin typeface="Calibri"/>
              </a:rPr>
              <a:t>This research report has been prepared for informational purposes only and does not constitute an offer or solicitation. Investment decisions should be made with independent judgment.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10896" y="0"/>
            <a:ext cx="1489244"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4967935" cy="411480"/>
          </a:xfrm>
          <a:prstGeom prst="rect">
            <a:avLst/>
          </a:prstGeom>
          <a:noFill/>
        </p:spPr>
        <p:txBody>
          <a:bodyPr wrap="square" lIns="45720" rIns="45720" tIns="18288" bIns="18288">
            <a:spAutoFit/>
          </a:bodyPr>
          <a:lstStyle/>
          <a:p>
            <a:pPr algn="l"/>
            <a:r>
              <a:rPr sz="1000" b="1">
                <a:solidFill>
                  <a:srgbClr val="FFFFFF"/>
                </a:solidFill>
                <a:latin typeface="Calibri"/>
              </a:rPr>
              <a:t>Motilal Oswal Financial Services Ltd — Disclaimer</a:t>
            </a:r>
          </a:p>
        </p:txBody>
      </p:sp>
      <p:sp>
        <p:nvSpPr>
          <p:cNvPr id="6" name="TextBox 5"/>
          <p:cNvSpPr txBox="1"/>
          <p:nvPr/>
        </p:nvSpPr>
        <p:spPr>
          <a:xfrm>
            <a:off x="6522415" y="0"/>
            <a:ext cx="4572000" cy="411480"/>
          </a:xfrm>
          <a:prstGeom prst="rect">
            <a:avLst/>
          </a:prstGeom>
          <a:noFill/>
        </p:spPr>
        <p:txBody>
          <a:bodyPr wrap="square" lIns="45720" rIns="45720" tIns="18288" bIns="18288">
            <a:spAutoFit/>
          </a:bodyPr>
          <a:lstStyle/>
          <a:p>
            <a:pPr algn="r"/>
            <a:r>
              <a:rPr sz="800" b="0">
                <a:solidFill>
                  <a:srgbClr val="FFFFFF"/>
                </a:solidFill>
                <a:latin typeface="Calibri"/>
              </a:rPr>
              <a:t>CMP ₹822.90  |  TP ₹1,127  |  UPSIDE +37%  |  MKT CAP ₹49,079 Cr</a:t>
            </a:r>
          </a:p>
        </p:txBody>
      </p:sp>
      <p:sp>
        <p:nvSpPr>
          <p:cNvPr id="7" name="Rounded Rectangle 6"/>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8" name="Rectangle 7"/>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37960"/>
            <a:ext cx="3657508" cy="320040"/>
          </a:xfrm>
          <a:prstGeom prst="rect">
            <a:avLst/>
          </a:prstGeom>
          <a:noFill/>
        </p:spPr>
        <p:txBody>
          <a:bodyPr wrap="square" lIns="45720" rIns="45720" tIns="18288" bIns="18288">
            <a:spAutoFit/>
          </a:bodyPr>
          <a:lstStyle/>
          <a:p>
            <a:pPr algn="l"/>
            <a:r>
              <a:rPr sz="900" b="0">
                <a:solidFill>
                  <a:srgbClr val="FFFFFF"/>
                </a:solidFill>
                <a:latin typeface="Calibri"/>
              </a:rPr>
              <a:t>SEBI Registration No.: INH000069807</a:t>
            </a:r>
          </a:p>
        </p:txBody>
      </p:sp>
      <p:sp>
        <p:nvSpPr>
          <p:cNvPr id="11" name="TextBox 10"/>
          <p:cNvSpPr txBox="1"/>
          <p:nvPr/>
        </p:nvSpPr>
        <p:spPr>
          <a:xfrm>
            <a:off x="3657508" y="6537960"/>
            <a:ext cx="4876678" cy="320040"/>
          </a:xfrm>
          <a:prstGeom prst="rect">
            <a:avLst/>
          </a:prstGeom>
          <a:noFill/>
        </p:spPr>
        <p:txBody>
          <a:bodyPr wrap="square" lIns="45720" rIns="45720" tIns="18288" bIns="18288">
            <a:spAutoFit/>
          </a:bodyPr>
          <a:lstStyle/>
          <a:p>
            <a:pPr algn="ctr"/>
            <a:r>
              <a:rPr sz="900" b="1">
                <a:solidFill>
                  <a:srgbClr val="FFA500"/>
                </a:solidFill>
                <a:latin typeface="Calibri"/>
              </a:rPr>
              <a:t>Motilal Oswal Financial Services Ltd — Equity Research</a:t>
            </a:r>
          </a:p>
        </p:txBody>
      </p:sp>
      <p:sp>
        <p:nvSpPr>
          <p:cNvPr id="12" name="TextBox 11"/>
          <p:cNvSpPr txBox="1"/>
          <p:nvPr/>
        </p:nvSpPr>
        <p:spPr>
          <a:xfrm>
            <a:off x="9905695" y="6537960"/>
            <a:ext cx="1828800" cy="320040"/>
          </a:xfrm>
          <a:prstGeom prst="rect">
            <a:avLst/>
          </a:prstGeom>
          <a:noFill/>
        </p:spPr>
        <p:txBody>
          <a:bodyPr wrap="square" lIns="45720" rIns="45720" tIns="18288" bIns="18288">
            <a:spAutoFit/>
          </a:bodyPr>
          <a:lstStyle/>
          <a:p>
            <a:pPr algn="r"/>
            <a:r>
              <a:rPr sz="900" b="0">
                <a:solidFill>
                  <a:srgbClr val="FFFFFF"/>
                </a:solidFill>
                <a:latin typeface="Calibri"/>
              </a:rPr>
              <a:t>28/04/2026  |  Page 20 of 20</a:t>
            </a:r>
          </a:p>
        </p:txBody>
      </p:sp>
      <p:sp>
        <p:nvSpPr>
          <p:cNvPr id="13" name="TextBox 12"/>
          <p:cNvSpPr txBox="1"/>
          <p:nvPr/>
        </p:nvSpPr>
        <p:spPr>
          <a:xfrm>
            <a:off x="457200" y="1371600"/>
            <a:ext cx="11274552" cy="5029200"/>
          </a:xfrm>
          <a:prstGeom prst="rect">
            <a:avLst/>
          </a:prstGeom>
          <a:noFill/>
        </p:spPr>
        <p:txBody>
          <a:bodyPr wrap="square" lIns="73152" rIns="73152" tIns="91440" bIns="91440">
            <a:spAutoFit/>
          </a:bodyPr>
          <a:lstStyle/>
          <a:p>
            <a:pPr>
              <a:lnSpc>
                <a:spcPct val="135000"/>
              </a:lnSpc>
              <a:spcBef>
                <a:spcPts val="0"/>
              </a:spcBef>
              <a:spcAft>
                <a:spcPts val="600"/>
              </a:spcAft>
            </a:pPr>
            <a:r>
              <a:rPr sz="1600" b="0">
                <a:solidFill>
                  <a:srgbClr val="111111"/>
                </a:solidFill>
                <a:latin typeface="Calibri"/>
              </a:rPr>
              <a:t>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a:t>
            </a:r>
          </a:p>
          <a:p>
            <a:pPr>
              <a:lnSpc>
                <a:spcPct val="135000"/>
              </a:lnSpc>
              <a:spcBef>
                <a:spcPts val="1400"/>
              </a:spcBef>
              <a:spcAft>
                <a:spcPts val="600"/>
              </a:spcAft>
            </a:pPr>
            <a:r>
              <a:rPr sz="1600" b="0">
                <a:solidFill>
                  <a:srgbClr val="111111"/>
                </a:solidFill>
                <a:latin typeface="Calibri"/>
              </a:rPr>
              <a:t>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a:t>
            </a:r>
          </a:p>
          <a:p>
            <a:pPr>
              <a:lnSpc>
                <a:spcPct val="135000"/>
              </a:lnSpc>
              <a:spcBef>
                <a:spcPts val="1400"/>
              </a:spcBef>
              <a:spcAft>
                <a:spcPts val="600"/>
              </a:spcAft>
            </a:pPr>
            <a:r>
              <a:rPr sz="1600" b="0">
                <a:solidFill>
                  <a:srgbClr val="111111"/>
                </a:solidFill>
                <a:latin typeface="Calibri"/>
              </a:rPr>
              <a:t>Tikona Capital, its affiliates, directors, employees, or research analysts may, from time to time, hold positions in the securities mentioned, or in instruments related to such securities, and may transact in them in a manner inconsistent with the views expressed herein.</a:t>
            </a:r>
          </a:p>
          <a:p>
            <a:pPr>
              <a:lnSpc>
                <a:spcPct val="135000"/>
              </a:lnSpc>
              <a:spcBef>
                <a:spcPts val="1400"/>
              </a:spcBef>
              <a:spcAft>
                <a:spcPts val="600"/>
              </a:spcAft>
            </a:pPr>
            <a:r>
              <a:rPr sz="1600" b="0">
                <a:solidFill>
                  <a:srgbClr val="111111"/>
                </a:solidFill>
                <a:latin typeface="Calibri"/>
              </a:rPr>
              <a:t>This document is the intellectual property of Tikona Capital. No part of it may be reproduced, distributed, or transmitted without prior written consent. Unauthorized use is prohibited.</a:t>
            </a:r>
          </a:p>
          <a:p>
            <a:pPr>
              <a:lnSpc>
                <a:spcPct val="135000"/>
              </a:lnSpc>
              <a:spcBef>
                <a:spcPts val="1400"/>
              </a:spcBef>
              <a:spcAft>
                <a:spcPts val="600"/>
              </a:spcAft>
            </a:pPr>
            <a:r>
              <a:rPr sz="1600" b="0">
                <a:solidFill>
                  <a:srgbClr val="111111"/>
                </a:solidFill>
                <a:latin typeface="Calibri"/>
              </a:rPr>
              <a:t>For grievances, contact: research@tikonacapital.in.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