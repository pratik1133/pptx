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606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180015" y="0"/>
            <a:ext cx="2011680" cy="2606040"/>
          </a:xfrm>
          <a:prstGeom prst="rect">
            <a:avLst/>
          </a:prstGeom>
          <a:solidFill>
            <a:srgbClr val="FFA500">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82880"/>
            <a:ext cx="237744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228600"/>
            <a:ext cx="1570584" cy="384048"/>
          </a:xfrm>
          <a:prstGeom prst="rect">
            <a:avLst/>
          </a:prstGeom>
        </p:spPr>
      </p:pic>
      <p:sp>
        <p:nvSpPr>
          <p:cNvPr id="6" name="TextBox 5"/>
          <p:cNvSpPr txBox="1"/>
          <p:nvPr/>
        </p:nvSpPr>
        <p:spPr>
          <a:xfrm>
            <a:off x="1188720" y="201168"/>
            <a:ext cx="2743200" cy="256032"/>
          </a:xfrm>
          <a:prstGeom prst="rect">
            <a:avLst/>
          </a:prstGeom>
          <a:noFill/>
        </p:spPr>
        <p:txBody>
          <a:bodyPr wrap="square" lIns="45720" rIns="45720" tIns="18288" bIns="18288">
            <a:spAutoFit/>
          </a:bodyPr>
          <a:lstStyle/>
          <a:p>
            <a:pPr algn="l"/>
            <a:r>
              <a:rPr sz="1400" b="1">
                <a:solidFill>
                  <a:srgbClr val="FFFFFF"/>
                </a:solidFill>
                <a:latin typeface="Calibri"/>
              </a:rPr>
              <a:t>Tikona Capital</a:t>
            </a:r>
          </a:p>
        </p:txBody>
      </p:sp>
      <p:sp>
        <p:nvSpPr>
          <p:cNvPr id="7" name="TextBox 6"/>
          <p:cNvSpPr txBox="1"/>
          <p:nvPr/>
        </p:nvSpPr>
        <p:spPr>
          <a:xfrm>
            <a:off x="1188720" y="457200"/>
            <a:ext cx="2743200" cy="164592"/>
          </a:xfrm>
          <a:prstGeom prst="rect">
            <a:avLst/>
          </a:prstGeom>
          <a:noFill/>
        </p:spPr>
        <p:txBody>
          <a:bodyPr wrap="square" lIns="45720" rIns="45720" tIns="18288" bIns="18288">
            <a:spAutoFit/>
          </a:bodyPr>
          <a:lstStyle/>
          <a:p>
            <a:pPr algn="l"/>
            <a:r>
              <a:rPr sz="700" b="0">
                <a:solidFill>
                  <a:srgbClr val="8899BB"/>
                </a:solidFill>
                <a:latin typeface="Calibri"/>
              </a:rPr>
              <a:t>INSTITUTIONAL EQUITY RESEARCH</a:t>
            </a:r>
          </a:p>
        </p:txBody>
      </p:sp>
      <p:sp>
        <p:nvSpPr>
          <p:cNvPr id="8" name="TextBox 7"/>
          <p:cNvSpPr txBox="1"/>
          <p:nvPr/>
        </p:nvSpPr>
        <p:spPr>
          <a:xfrm>
            <a:off x="457200" y="777240"/>
            <a:ext cx="6705432" cy="457200"/>
          </a:xfrm>
          <a:prstGeom prst="rect">
            <a:avLst/>
          </a:prstGeom>
          <a:noFill/>
        </p:spPr>
        <p:txBody>
          <a:bodyPr wrap="square" lIns="45720" rIns="45720" tIns="18288" bIns="18288">
            <a:spAutoFit/>
          </a:bodyPr>
          <a:lstStyle/>
          <a:p>
            <a:pPr algn="l"/>
            <a:r>
              <a:rPr sz="2600" b="1">
                <a:solidFill>
                  <a:srgbClr val="FFFFFF"/>
                </a:solidFill>
                <a:latin typeface="Calibri"/>
              </a:rPr>
              <a:t>Motilal Oswal Financial Services Ltd</a:t>
            </a:r>
          </a:p>
        </p:txBody>
      </p:sp>
      <p:sp>
        <p:nvSpPr>
          <p:cNvPr id="9" name="Rounded Rectangle 8"/>
          <p:cNvSpPr/>
          <p:nvPr/>
        </p:nvSpPr>
        <p:spPr>
          <a:xfrm>
            <a:off x="5724144" y="868680"/>
            <a:ext cx="777240" cy="2743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0" name="TextBox 9"/>
          <p:cNvSpPr txBox="1"/>
          <p:nvPr/>
        </p:nvSpPr>
        <p:spPr>
          <a:xfrm>
            <a:off x="457200" y="1234440"/>
            <a:ext cx="11277295" cy="164592"/>
          </a:xfrm>
          <a:prstGeom prst="rect">
            <a:avLst/>
          </a:prstGeom>
          <a:noFill/>
        </p:spPr>
        <p:txBody>
          <a:bodyPr wrap="square" lIns="45720" rIns="45720" tIns="18288" bIns="18288">
            <a:spAutoFit/>
          </a:bodyPr>
          <a:lstStyle/>
          <a:p>
            <a:pPr algn="l"/>
            <a:r>
              <a:rPr sz="800" b="0">
                <a:solidFill>
                  <a:srgbClr val="E0E8F0"/>
                </a:solidFill>
                <a:latin typeface="Calibri"/>
              </a:rPr>
              <a:t>NSE: MOFSL  |  Financial Services</a:t>
            </a:r>
          </a:p>
        </p:txBody>
      </p:sp>
      <p:sp>
        <p:nvSpPr>
          <p:cNvPr id="11" name="Rectangle 10"/>
          <p:cNvSpPr/>
          <p:nvPr/>
        </p:nvSpPr>
        <p:spPr>
          <a:xfrm>
            <a:off x="457200" y="1490472"/>
            <a:ext cx="11277295" cy="10972"/>
          </a:xfrm>
          <a:prstGeom prst="rect">
            <a:avLst/>
          </a:prstGeom>
          <a:solidFill>
            <a:srgbClr val="4A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508760"/>
            <a:ext cx="2682163" cy="118872"/>
          </a:xfrm>
          <a:prstGeom prst="rect">
            <a:avLst/>
          </a:prstGeom>
          <a:noFill/>
        </p:spPr>
        <p:txBody>
          <a:bodyPr wrap="square" lIns="45720" rIns="45720" tIns="18288" bIns="18288">
            <a:spAutoFit/>
          </a:bodyPr>
          <a:lstStyle/>
          <a:p>
            <a:pPr algn="l"/>
            <a:r>
              <a:rPr sz="600" b="0">
                <a:solidFill>
                  <a:srgbClr val="E0E8F0"/>
                </a:solidFill>
                <a:latin typeface="Calibri"/>
              </a:rPr>
              <a:t>CMP</a:t>
            </a:r>
          </a:p>
        </p:txBody>
      </p:sp>
      <p:sp>
        <p:nvSpPr>
          <p:cNvPr id="13" name="TextBox 12"/>
          <p:cNvSpPr txBox="1"/>
          <p:nvPr/>
        </p:nvSpPr>
        <p:spPr>
          <a:xfrm>
            <a:off x="457200" y="1627631"/>
            <a:ext cx="2682163" cy="256032"/>
          </a:xfrm>
          <a:prstGeom prst="rect">
            <a:avLst/>
          </a:prstGeom>
          <a:noFill/>
        </p:spPr>
        <p:txBody>
          <a:bodyPr wrap="square" lIns="45720" rIns="45720" tIns="18288" bIns="18288">
            <a:spAutoFit/>
          </a:bodyPr>
          <a:lstStyle/>
          <a:p>
            <a:pPr algn="l"/>
            <a:r>
              <a:rPr sz="1500" b="1">
                <a:solidFill>
                  <a:srgbClr val="FFA500"/>
                </a:solidFill>
                <a:latin typeface="Calibri"/>
              </a:rPr>
              <a:t>₹822.90</a:t>
            </a:r>
          </a:p>
        </p:txBody>
      </p:sp>
      <p:sp>
        <p:nvSpPr>
          <p:cNvPr id="14" name="TextBox 13"/>
          <p:cNvSpPr txBox="1"/>
          <p:nvPr/>
        </p:nvSpPr>
        <p:spPr>
          <a:xfrm>
            <a:off x="457200" y="1883664"/>
            <a:ext cx="2682163" cy="109728"/>
          </a:xfrm>
          <a:prstGeom prst="rect">
            <a:avLst/>
          </a:prstGeom>
          <a:noFill/>
        </p:spPr>
        <p:txBody>
          <a:bodyPr wrap="square" lIns="45720" rIns="45720" tIns="18288" bIns="18288">
            <a:spAutoFit/>
          </a:bodyPr>
          <a:lstStyle/>
          <a:p>
            <a:pPr algn="l"/>
            <a:r>
              <a:rPr sz="600" b="0">
                <a:solidFill>
                  <a:srgbClr val="E0E8F0"/>
                </a:solidFill>
                <a:latin typeface="Calibri"/>
              </a:rPr>
              <a:t>As of 28/04/2026</a:t>
            </a:r>
          </a:p>
        </p:txBody>
      </p:sp>
      <p:sp>
        <p:nvSpPr>
          <p:cNvPr id="15" name="Rectangle 14"/>
          <p:cNvSpPr/>
          <p:nvPr/>
        </p:nvSpPr>
        <p:spPr>
          <a:xfrm>
            <a:off x="3185083"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76523" y="1508760"/>
            <a:ext cx="2682163" cy="118872"/>
          </a:xfrm>
          <a:prstGeom prst="rect">
            <a:avLst/>
          </a:prstGeom>
          <a:noFill/>
        </p:spPr>
        <p:txBody>
          <a:bodyPr wrap="square" lIns="45720" rIns="45720" tIns="18288" bIns="18288">
            <a:spAutoFit/>
          </a:bodyPr>
          <a:lstStyle/>
          <a:p>
            <a:pPr algn="l"/>
            <a:r>
              <a:rPr sz="600" b="0">
                <a:solidFill>
                  <a:srgbClr val="E0E8F0"/>
                </a:solidFill>
                <a:latin typeface="Calibri"/>
              </a:rPr>
              <a:t>TARGET PRICE</a:t>
            </a:r>
          </a:p>
        </p:txBody>
      </p:sp>
      <p:sp>
        <p:nvSpPr>
          <p:cNvPr id="17" name="TextBox 16"/>
          <p:cNvSpPr txBox="1"/>
          <p:nvPr/>
        </p:nvSpPr>
        <p:spPr>
          <a:xfrm>
            <a:off x="3276523"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₹1,127</a:t>
            </a:r>
          </a:p>
        </p:txBody>
      </p:sp>
      <p:sp>
        <p:nvSpPr>
          <p:cNvPr id="18" name="Rectangle 17"/>
          <p:cNvSpPr/>
          <p:nvPr/>
        </p:nvSpPr>
        <p:spPr>
          <a:xfrm>
            <a:off x="6004407"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5847" y="1508760"/>
            <a:ext cx="2682163" cy="118872"/>
          </a:xfrm>
          <a:prstGeom prst="rect">
            <a:avLst/>
          </a:prstGeom>
          <a:noFill/>
        </p:spPr>
        <p:txBody>
          <a:bodyPr wrap="square" lIns="45720" rIns="45720" tIns="18288" bIns="18288">
            <a:spAutoFit/>
          </a:bodyPr>
          <a:lstStyle/>
          <a:p>
            <a:pPr algn="l"/>
            <a:r>
              <a:rPr sz="600" b="0">
                <a:solidFill>
                  <a:srgbClr val="E0E8F0"/>
                </a:solidFill>
                <a:latin typeface="Calibri"/>
              </a:rPr>
              <a:t>MARKET CAP</a:t>
            </a:r>
          </a:p>
        </p:txBody>
      </p:sp>
      <p:sp>
        <p:nvSpPr>
          <p:cNvPr id="20" name="TextBox 19"/>
          <p:cNvSpPr txBox="1"/>
          <p:nvPr/>
        </p:nvSpPr>
        <p:spPr>
          <a:xfrm>
            <a:off x="6095847"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₹49,079 Cr</a:t>
            </a:r>
          </a:p>
        </p:txBody>
      </p:sp>
      <p:sp>
        <p:nvSpPr>
          <p:cNvPr id="21" name="Rectangle 20"/>
          <p:cNvSpPr/>
          <p:nvPr/>
        </p:nvSpPr>
        <p:spPr>
          <a:xfrm>
            <a:off x="8823731"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5171" y="1508760"/>
            <a:ext cx="2682163" cy="118872"/>
          </a:xfrm>
          <a:prstGeom prst="rect">
            <a:avLst/>
          </a:prstGeom>
          <a:noFill/>
        </p:spPr>
        <p:txBody>
          <a:bodyPr wrap="square" lIns="45720" rIns="45720" tIns="18288" bIns="18288">
            <a:spAutoFit/>
          </a:bodyPr>
          <a:lstStyle/>
          <a:p>
            <a:pPr algn="l"/>
            <a:r>
              <a:rPr sz="600" b="0">
                <a:solidFill>
                  <a:srgbClr val="E0E8F0"/>
                </a:solidFill>
                <a:latin typeface="Calibri"/>
              </a:rPr>
              <a:t>UPSIDE</a:t>
            </a:r>
          </a:p>
        </p:txBody>
      </p:sp>
      <p:sp>
        <p:nvSpPr>
          <p:cNvPr id="23" name="TextBox 22"/>
          <p:cNvSpPr txBox="1"/>
          <p:nvPr/>
        </p:nvSpPr>
        <p:spPr>
          <a:xfrm>
            <a:off x="8915171"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+37%</a:t>
            </a:r>
          </a:p>
        </p:txBody>
      </p:sp>
      <p:sp>
        <p:nvSpPr>
          <p:cNvPr id="24" name="TextBox 23"/>
          <p:cNvSpPr txBox="1"/>
          <p:nvPr/>
        </p:nvSpPr>
        <p:spPr>
          <a:xfrm>
            <a:off x="8991295" y="2404872"/>
            <a:ext cx="2743200" cy="164592"/>
          </a:xfrm>
          <a:prstGeom prst="rect">
            <a:avLst/>
          </a:prstGeom>
          <a:noFill/>
        </p:spPr>
        <p:txBody>
          <a:bodyPr wrap="square" lIns="45720" rIns="45720" tIns="18288" bIns="18288">
            <a:spAutoFit/>
          </a:bodyPr>
          <a:lstStyle/>
          <a:p>
            <a:pPr algn="r"/>
            <a:r>
              <a:rPr sz="700" b="0">
                <a:solidFill>
                  <a:srgbClr val="E0E8F0"/>
                </a:solidFill>
                <a:latin typeface="Calibri"/>
              </a:rPr>
              <a:t>Report: 28/04/2026</a:t>
            </a:r>
          </a:p>
        </p:txBody>
      </p:sp>
      <p:sp>
        <p:nvSpPr>
          <p:cNvPr id="25" name="Rectangle 24"/>
          <p:cNvSpPr/>
          <p:nvPr/>
        </p:nvSpPr>
        <p:spPr>
          <a:xfrm>
            <a:off x="0" y="2606040"/>
            <a:ext cx="12191695"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2624328"/>
            <a:ext cx="11277295" cy="310896"/>
          </a:xfrm>
          <a:prstGeom prst="rect">
            <a:avLst/>
          </a:prstGeom>
          <a:noFill/>
        </p:spPr>
        <p:txBody>
          <a:bodyPr wrap="square" lIns="45720" rIns="45720" tIns="18288" bIns="18288">
            <a:spAutoFit/>
          </a:bodyPr>
          <a:lstStyle/>
          <a:p>
            <a:pPr algn="l"/>
            <a:r>
              <a:rPr sz="1100" b="1">
                <a:solidFill>
                  <a:srgbClr val="1F4690"/>
                </a:solidFill>
                <a:latin typeface="Calibri"/>
              </a:rPr>
              <a:t>"BUY with SAARTHI Score of 72/100"</a:t>
            </a:r>
          </a:p>
        </p:txBody>
      </p:sp>
      <p:sp>
        <p:nvSpPr>
          <p:cNvPr id="27" name="Rectangle 26"/>
          <p:cNvSpPr/>
          <p:nvPr/>
        </p:nvSpPr>
        <p:spPr>
          <a:xfrm>
            <a:off x="457200" y="3063240"/>
            <a:ext cx="36576" cy="137160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3108960"/>
            <a:ext cx="5410047" cy="164592"/>
          </a:xfrm>
          <a:prstGeom prst="rect">
            <a:avLst/>
          </a:prstGeom>
          <a:noFill/>
        </p:spPr>
        <p:txBody>
          <a:bodyPr wrap="square" lIns="45720" rIns="45720" tIns="18288" bIns="18288">
            <a:spAutoFit/>
          </a:bodyPr>
          <a:lstStyle/>
          <a:p>
            <a:pPr algn="l"/>
            <a:r>
              <a:rPr sz="1000" b="1">
                <a:solidFill>
                  <a:srgbClr val="1F4690"/>
                </a:solidFill>
                <a:latin typeface="Calibri"/>
              </a:rPr>
              <a:t>Investment Thesis</a:t>
            </a:r>
          </a:p>
        </p:txBody>
      </p:sp>
      <p:sp>
        <p:nvSpPr>
          <p:cNvPr id="29" name="TextBox 28"/>
          <p:cNvSpPr txBox="1"/>
          <p:nvPr/>
        </p:nvSpPr>
        <p:spPr>
          <a:xfrm>
            <a:off x="594360" y="3291840"/>
            <a:ext cx="5410047" cy="1051560"/>
          </a:xfrm>
          <a:prstGeom prst="rect">
            <a:avLst/>
          </a:prstGeom>
          <a:noFill/>
        </p:spPr>
        <p:txBody>
          <a:bodyPr wrap="square" lIns="45720" rIns="45720" tIns="18288" bIns="18288">
            <a:spAutoFit/>
          </a:bodyPr>
          <a:lstStyle/>
          <a:p>
            <a:pPr algn="l"/>
            <a:r>
              <a:rPr sz="800" b="0">
                <a:solidFill>
                  <a:srgbClr val="333333"/>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a:t>
            </a:r>
          </a:p>
        </p:txBody>
      </p:sp>
      <p:sp>
        <p:nvSpPr>
          <p:cNvPr id="30" name="Rectangle 29"/>
          <p:cNvSpPr/>
          <p:nvPr/>
        </p:nvSpPr>
        <p:spPr>
          <a:xfrm>
            <a:off x="457200" y="4599431"/>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526279"/>
            <a:ext cx="2697406" cy="201168"/>
          </a:xfrm>
          <a:prstGeom prst="rect">
            <a:avLst/>
          </a:prstGeom>
          <a:noFill/>
        </p:spPr>
        <p:txBody>
          <a:bodyPr wrap="square" lIns="45720" rIns="45720" tIns="18288" bIns="18288">
            <a:spAutoFit/>
          </a:bodyPr>
          <a:lstStyle/>
          <a:p>
            <a:pPr algn="l"/>
            <a:r>
              <a:rPr sz="800" b="0">
                <a:solidFill>
                  <a:srgbClr val="333333"/>
                </a:solidFill>
                <a:latin typeface="Calibri"/>
              </a:rPr>
              <a:t>BUY with SAARTHI Score of 72/100. Motilal Oswal Financial Services represents a compelling investment opportunity driven</a:t>
            </a:r>
          </a:p>
        </p:txBody>
      </p:sp>
      <p:sp>
        <p:nvSpPr>
          <p:cNvPr id="32" name="Rectangle 31"/>
          <p:cNvSpPr/>
          <p:nvPr/>
        </p:nvSpPr>
        <p:spPr>
          <a:xfrm>
            <a:off x="457200" y="4892040"/>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4818888"/>
            <a:ext cx="2697406" cy="201168"/>
          </a:xfrm>
          <a:prstGeom prst="rect">
            <a:avLst/>
          </a:prstGeom>
          <a:noFill/>
        </p:spPr>
        <p:txBody>
          <a:bodyPr wrap="square" lIns="45720" rIns="45720" tIns="18288" bIns="18288">
            <a:spAutoFit/>
          </a:bodyPr>
          <a:lstStyle/>
          <a:p>
            <a:pPr algn="l"/>
            <a:r>
              <a:rPr sz="800" b="0">
                <a:solidFill>
                  <a:srgbClr val="333333"/>
                </a:solidFill>
                <a:latin typeface="Calibri"/>
              </a:rPr>
              <a:t>ARR contribution at the relevant figure of total net revenues, reducing cyclical broking volatility</a:t>
            </a:r>
          </a:p>
        </p:txBody>
      </p:sp>
      <p:sp>
        <p:nvSpPr>
          <p:cNvPr id="34" name="Rectangle 33"/>
          <p:cNvSpPr/>
          <p:nvPr/>
        </p:nvSpPr>
        <p:spPr>
          <a:xfrm>
            <a:off x="457200" y="5184647"/>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5111495"/>
            <a:ext cx="2697406" cy="201168"/>
          </a:xfrm>
          <a:prstGeom prst="rect">
            <a:avLst/>
          </a:prstGeom>
          <a:noFill/>
        </p:spPr>
        <p:txBody>
          <a:bodyPr wrap="square" lIns="45720" rIns="45720" tIns="18288" bIns="18288">
            <a:spAutoFit/>
          </a:bodyPr>
          <a:lstStyle/>
          <a:p>
            <a:pPr algn="l"/>
            <a:r>
              <a:rPr sz="800" b="0">
                <a:solidFill>
                  <a:srgbClr val="333333"/>
                </a:solidFill>
                <a:latin typeface="Calibri"/>
              </a:rPr>
              <a:t>Q2FY25 profits up the relevant figure YoY with the relevant figure revenue growth and the relevant figure ROE</a:t>
            </a:r>
          </a:p>
        </p:txBody>
      </p:sp>
      <p:sp>
        <p:nvSpPr>
          <p:cNvPr id="36" name="Rectangle 35"/>
          <p:cNvSpPr/>
          <p:nvPr/>
        </p:nvSpPr>
        <p:spPr>
          <a:xfrm>
            <a:off x="457200" y="5477255"/>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404103"/>
            <a:ext cx="2697406" cy="201168"/>
          </a:xfrm>
          <a:prstGeom prst="rect">
            <a:avLst/>
          </a:prstGeom>
          <a:noFill/>
        </p:spPr>
        <p:txBody>
          <a:bodyPr wrap="square" lIns="45720" rIns="45720" tIns="18288" bIns="18288">
            <a:spAutoFit/>
          </a:bodyPr>
          <a:lstStyle/>
          <a:p>
            <a:pPr algn="l"/>
            <a:r>
              <a:rPr sz="800" b="0">
                <a:solidFill>
                  <a:srgbClr val="333333"/>
                </a:solidFill>
                <a:latin typeface="Calibri"/>
              </a:rPr>
              <a:t>Total AUM at the relevant figure lakh crore (+the relevant figure YoY); the relevant figure of AUM outperforming benchma</a:t>
            </a:r>
          </a:p>
        </p:txBody>
      </p:sp>
      <p:sp>
        <p:nvSpPr>
          <p:cNvPr id="38" name="Rounded Rectangle 37"/>
          <p:cNvSpPr/>
          <p:nvPr/>
        </p:nvSpPr>
        <p:spPr>
          <a:xfrm>
            <a:off x="6461598" y="3063240"/>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RATING</a:t>
            </a:r>
          </a:p>
          <a:p>
            <a:pPr algn="ctr"/>
            <a:r>
              <a:rPr sz="1600" b="1">
                <a:solidFill>
                  <a:srgbClr val="FFA500"/>
                </a:solidFill>
                <a:latin typeface="Calibri"/>
              </a:rPr>
              <a:t>BUY</a:t>
            </a:r>
          </a:p>
        </p:txBody>
      </p:sp>
      <p:sp>
        <p:nvSpPr>
          <p:cNvPr id="39" name="Rounded Rectangle 38"/>
          <p:cNvSpPr/>
          <p:nvPr/>
        </p:nvSpPr>
        <p:spPr>
          <a:xfrm>
            <a:off x="8255806" y="3063240"/>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CMP</a:t>
            </a:r>
          </a:p>
          <a:p>
            <a:pPr algn="ctr"/>
            <a:r>
              <a:rPr sz="1600" b="1">
                <a:solidFill>
                  <a:srgbClr val="FFA500"/>
                </a:solidFill>
                <a:latin typeface="Calibri"/>
              </a:rPr>
              <a:t>₹822.9</a:t>
            </a:r>
          </a:p>
        </p:txBody>
      </p:sp>
      <p:sp>
        <p:nvSpPr>
          <p:cNvPr id="40" name="Rounded Rectangle 39"/>
          <p:cNvSpPr/>
          <p:nvPr/>
        </p:nvSpPr>
        <p:spPr>
          <a:xfrm>
            <a:off x="10050014" y="3063240"/>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TARGET PRICE</a:t>
            </a:r>
          </a:p>
          <a:p>
            <a:pPr algn="ctr"/>
            <a:r>
              <a:rPr sz="1600" b="1">
                <a:solidFill>
                  <a:srgbClr val="FFA500"/>
                </a:solidFill>
                <a:latin typeface="Calibri"/>
              </a:rPr>
              <a:t>₹1,127.0</a:t>
            </a:r>
          </a:p>
        </p:txBody>
      </p:sp>
      <p:sp>
        <p:nvSpPr>
          <p:cNvPr id="41" name="Rounded Rectangle 40"/>
          <p:cNvSpPr/>
          <p:nvPr/>
        </p:nvSpPr>
        <p:spPr>
          <a:xfrm>
            <a:off x="6461598" y="3831336"/>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UPSIDE</a:t>
            </a:r>
          </a:p>
          <a:p>
            <a:pPr algn="ctr"/>
            <a:r>
              <a:rPr sz="1600" b="1">
                <a:solidFill>
                  <a:srgbClr val="FFA500"/>
                </a:solidFill>
                <a:latin typeface="Calibri"/>
              </a:rPr>
              <a:t>37.0%</a:t>
            </a:r>
          </a:p>
        </p:txBody>
      </p:sp>
      <p:sp>
        <p:nvSpPr>
          <p:cNvPr id="42" name="Rounded Rectangle 41"/>
          <p:cNvSpPr/>
          <p:nvPr/>
        </p:nvSpPr>
        <p:spPr>
          <a:xfrm>
            <a:off x="8255806" y="3831336"/>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MARKET CAP</a:t>
            </a:r>
          </a:p>
          <a:p>
            <a:pPr algn="ctr"/>
            <a:r>
              <a:rPr sz="1600" b="1">
                <a:solidFill>
                  <a:srgbClr val="FFA500"/>
                </a:solidFill>
                <a:latin typeface="Calibri"/>
              </a:rPr>
              <a:t>₹49,079 Cr</a:t>
            </a:r>
          </a:p>
        </p:txBody>
      </p:sp>
      <p:sp>
        <p:nvSpPr>
          <p:cNvPr id="43" name="Rounded Rectangle 42"/>
          <p:cNvSpPr/>
          <p:nvPr/>
        </p:nvSpPr>
        <p:spPr>
          <a:xfrm>
            <a:off x="10050014" y="3831336"/>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EPS (FY25)</a:t>
            </a:r>
          </a:p>
          <a:p>
            <a:pPr algn="ctr"/>
            <a:r>
              <a:rPr sz="1600" b="1">
                <a:solidFill>
                  <a:srgbClr val="FFA500"/>
                </a:solidFill>
                <a:latin typeface="Calibri"/>
              </a:rPr>
              <a:t>₹822.9</a:t>
            </a:r>
          </a:p>
        </p:txBody>
      </p:sp>
      <p:sp>
        <p:nvSpPr>
          <p:cNvPr id="44" name="Rectangle 43"/>
          <p:cNvSpPr/>
          <p:nvPr/>
        </p:nvSpPr>
        <p:spPr>
          <a:xfrm>
            <a:off x="0" y="6565392"/>
            <a:ext cx="12191695" cy="29260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565392"/>
            <a:ext cx="3200400" cy="292608"/>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46" name="TextBox 45"/>
          <p:cNvSpPr txBox="1"/>
          <p:nvPr/>
        </p:nvSpPr>
        <p:spPr>
          <a:xfrm>
            <a:off x="3657508" y="6565392"/>
            <a:ext cx="4876678" cy="292608"/>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47" name="TextBox 46"/>
          <p:cNvSpPr txBox="1"/>
          <p:nvPr/>
        </p:nvSpPr>
        <p:spPr>
          <a:xfrm>
            <a:off x="9905695" y="6565392"/>
            <a:ext cx="1828800" cy="292608"/>
          </a:xfrm>
          <a:prstGeom prst="rect">
            <a:avLst/>
          </a:prstGeom>
          <a:noFill/>
        </p:spPr>
        <p:txBody>
          <a:bodyPr wrap="square" lIns="45720" rIns="45720" tIns="18288" bIns="18288">
            <a:spAutoFit/>
          </a:bodyPr>
          <a:lstStyle/>
          <a:p>
            <a:pPr algn="r"/>
            <a:r>
              <a:rPr sz="900" b="0">
                <a:solidFill>
                  <a:srgbClr val="FFFFFF"/>
                </a:solidFill>
                <a:latin typeface="Calibri"/>
              </a:rPr>
              <a:t>28/04/2026  |  Page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9" name="TextBox 18"/>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Investment Quality Score — 72/100</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5" name="Rectangle 14"/>
          <p:cNvSpPr/>
          <p:nvPr/>
        </p:nvSpPr>
        <p:spPr>
          <a:xfrm>
            <a:off x="457200" y="1234440"/>
            <a:ext cx="11277295" cy="5486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5488" y="1252728"/>
            <a:ext cx="11240719" cy="512063"/>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1234440"/>
            <a:ext cx="2286000" cy="548640"/>
          </a:xfrm>
          <a:prstGeom prst="rect">
            <a:avLst/>
          </a:prstGeom>
          <a:noFill/>
        </p:spPr>
        <p:txBody>
          <a:bodyPr wrap="square" lIns="45720" rIns="45720" tIns="18288" bIns="18288">
            <a:spAutoFit/>
          </a:bodyPr>
          <a:lstStyle/>
          <a:p>
            <a:pPr algn="l"/>
            <a:r>
              <a:rPr sz="1400" b="1">
                <a:solidFill>
                  <a:srgbClr val="1F4690"/>
                </a:solidFill>
                <a:latin typeface="Calibri"/>
              </a:rPr>
              <a:t>SAARTHI Total Score: </a:t>
            </a:r>
          </a:p>
        </p:txBody>
      </p:sp>
      <p:sp>
        <p:nvSpPr>
          <p:cNvPr id="18" name="Rectangle 17"/>
          <p:cNvSpPr/>
          <p:nvPr/>
        </p:nvSpPr>
        <p:spPr>
          <a:xfrm>
            <a:off x="3108960" y="1371600"/>
            <a:ext cx="164592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1371600"/>
            <a:ext cx="1645920" cy="274320"/>
          </a:xfrm>
          <a:prstGeom prst="rect">
            <a:avLst/>
          </a:prstGeom>
          <a:noFill/>
        </p:spPr>
        <p:txBody>
          <a:bodyPr wrap="square" lIns="45720" rIns="45720" tIns="18288" bIns="18288">
            <a:spAutoFit/>
          </a:bodyPr>
          <a:lstStyle/>
          <a:p>
            <a:pPr algn="ctr"/>
            <a:r>
              <a:rPr sz="1000" b="1">
                <a:solidFill>
                  <a:srgbClr val="FFFFFF"/>
                </a:solidFill>
                <a:latin typeface="Calibri"/>
              </a:rPr>
              <a:t>BUY RANGE</a:t>
            </a:r>
          </a:p>
        </p:txBody>
      </p:sp>
      <p:graphicFrame>
        <p:nvGraphicFramePr>
          <p:cNvPr id="20" name="Table 19"/>
          <p:cNvGraphicFramePr>
            <a:graphicFrameLocks noGrp="1"/>
          </p:cNvGraphicFramePr>
          <p:nvPr/>
        </p:nvGraphicFramePr>
        <p:xfrm>
          <a:off x="457200" y="2057400"/>
          <a:ext cx="11277295" cy="3154680"/>
        </p:xfrm>
        <a:graphic>
          <a:graphicData uri="http://schemas.openxmlformats.org/drawingml/2006/table">
            <a:tbl>
              <a:tblPr firstRow="1" bandRow="1">
                <a:tableStyleId>{5C22544A-7EE6-4342-B048-85BDC9FD1C3A}</a:tableStyleId>
              </a:tblPr>
              <a:tblGrid>
                <a:gridCol w="731520"/>
                <a:gridCol w="2743200"/>
                <a:gridCol w="914400"/>
                <a:gridCol w="6888175"/>
              </a:tblGrid>
              <a:tr h="394335">
                <a:tc>
                  <a:txBody>
                    <a:bodyPr/>
                    <a:lstStyle/>
                    <a:p>
                      <a:pPr algn="l">
                        <a:defRPr sz="900" b="1">
                          <a:solidFill>
                            <a:srgbClr val="FFFFFF"/>
                          </a:solidFill>
                          <a:latin typeface="Calibri"/>
                        </a:defRPr>
                      </a:pPr>
                      <a:r>
                        <a:t>Code</a:t>
                      </a:r>
                    </a:p>
                  </a:txBody>
                  <a:tcPr marL="36576" marR="36576" marT="18288" marB="18288">
                    <a:solidFill>
                      <a:srgbClr val="1F4690"/>
                    </a:solidFill>
                  </a:tcPr>
                </a:tc>
                <a:tc>
                  <a:txBody>
                    <a:bodyPr/>
                    <a:lstStyle/>
                    <a:p>
                      <a:pPr algn="l">
                        <a:defRPr sz="900" b="1">
                          <a:solidFill>
                            <a:srgbClr val="FFFFFF"/>
                          </a:solidFill>
                          <a:latin typeface="Calibri"/>
                        </a:defRPr>
                      </a:pPr>
                      <a:r>
                        <a:t>Dimension</a:t>
                      </a:r>
                    </a:p>
                  </a:txBody>
                  <a:tcPr marL="36576" marR="36576" marT="18288" marB="18288">
                    <a:solidFill>
                      <a:srgbClr val="1F4690"/>
                    </a:solidFill>
                  </a:tcPr>
                </a:tc>
                <a:tc>
                  <a:txBody>
                    <a:bodyPr/>
                    <a:lstStyle/>
                    <a:p>
                      <a:pPr algn="r">
                        <a:defRPr sz="900" b="1">
                          <a:solidFill>
                            <a:srgbClr val="FFFFFF"/>
                          </a:solidFill>
                          <a:latin typeface="Calibri"/>
                        </a:defRPr>
                      </a:pPr>
                      <a:r>
                        <a:t>Score</a:t>
                      </a:r>
                    </a:p>
                  </a:txBody>
                  <a:tcPr marL="36576" marR="36576" marT="18288" marB="18288">
                    <a:solidFill>
                      <a:srgbClr val="1F4690"/>
                    </a:solidFill>
                  </a:tcPr>
                </a:tc>
                <a:tc>
                  <a:txBody>
                    <a:bodyPr/>
                    <a:lstStyle/>
                    <a:p>
                      <a:pPr algn="l">
                        <a:defRPr sz="900" b="1">
                          <a:solidFill>
                            <a:srgbClr val="FFFFFF"/>
                          </a:solidFill>
                          <a:latin typeface="Calibri"/>
                        </a:defRPr>
                      </a:pPr>
                      <a:r>
                        <a:t>Evidence</a:t>
                      </a:r>
                    </a:p>
                  </a:txBody>
                  <a:tcPr marL="36576" marR="36576" marT="18288" marB="18288">
                    <a:solidFill>
                      <a:srgbClr val="1F4690"/>
                    </a:solidFill>
                  </a:tcPr>
                </a:tc>
              </a:tr>
              <a:tr h="394335">
                <a:tc>
                  <a:txBody>
                    <a:bodyPr/>
                    <a:lstStyle/>
                    <a:p>
                      <a:pPr algn="l">
                        <a:defRPr sz="900" b="1">
                          <a:solidFill>
                            <a:srgbClr val="111111"/>
                          </a:solidFill>
                          <a:latin typeface="Calibri"/>
                        </a:defRPr>
                      </a:pPr>
                      <a:r>
                        <a:t>S</a:t>
                      </a:r>
                    </a:p>
                  </a:txBody>
                  <a:tcPr marL="36576" marR="36576" marT="18288" marB="18288">
                    <a:solidFill>
                      <a:srgbClr val="F4F6F9"/>
                    </a:solidFill>
                  </a:tcPr>
                </a:tc>
                <a:tc>
                  <a:txBody>
                    <a:bodyPr/>
                    <a:lstStyle/>
                    <a:p>
                      <a:pPr algn="l">
                        <a:defRPr sz="900" b="1">
                          <a:solidFill>
                            <a:srgbClr val="111111"/>
                          </a:solidFill>
                          <a:latin typeface="Calibri"/>
                        </a:defRPr>
                      </a:pPr>
                      <a:r>
                        <a:t>Scalability of Core Engine</a:t>
                      </a:r>
                    </a:p>
                  </a:txBody>
                  <a:tcPr marL="36576" marR="36576" marT="18288" marB="18288">
                    <a:solidFill>
                      <a:srgbClr val="F4F6F9"/>
                    </a:solidFill>
                  </a:tcPr>
                </a:tc>
                <a:tc>
                  <a:txBody>
                    <a:bodyPr/>
                    <a:lstStyle/>
                    <a:p>
                      <a:pPr algn="r">
                        <a:defRPr sz="900" b="1">
                          <a:solidFill>
                            <a:srgbClr val="1A7A4A"/>
                          </a:solidFill>
                          <a:latin typeface="Calibri"/>
                        </a:defRPr>
                      </a:pPr>
                      <a:r>
                        <a:t>12/15</a:t>
                      </a:r>
                    </a:p>
                  </a:txBody>
                  <a:tcPr marL="36576" marR="36576" marT="18288" marB="18288">
                    <a:solidFill>
                      <a:srgbClr val="F4F6F9"/>
                    </a:solidFill>
                  </a:tcPr>
                </a:tc>
                <a:tc>
                  <a:txBody>
                    <a:bodyPr/>
                    <a:lstStyle/>
                    <a:p>
                      <a:pPr algn="l">
                        <a:defRPr sz="800" b="0">
                          <a:solidFill>
                            <a:srgbClr val="111111"/>
                          </a:solidFill>
                          <a:latin typeface="Calibri"/>
                        </a:defRPr>
                      </a:pPr>
                      <a:r>
                        <a:t>AMC AUM +33% YoY to INR 1.89L Cr with INR 11,610 Cr net flows.</a:t>
                      </a:r>
                    </a:p>
                  </a:txBody>
                  <a:tcPr marL="36576" marR="36576" marT="18288" marB="18288">
                    <a:solidFill>
                      <a:srgbClr val="F4F6F9"/>
                    </a:solidFill>
                  </a:tcPr>
                </a:tc>
              </a:tr>
              <a:tr h="394335">
                <a:tc>
                  <a:txBody>
                    <a:bodyPr/>
                    <a:lstStyle/>
                    <a:p>
                      <a:pPr algn="l">
                        <a:defRPr sz="900" b="1">
                          <a:solidFill>
                            <a:srgbClr val="111111"/>
                          </a:solidFill>
                          <a:latin typeface="Calibri"/>
                        </a:defRPr>
                      </a:pPr>
                      <a:r>
                        <a:t>A1</a:t>
                      </a:r>
                    </a:p>
                  </a:txBody>
                  <a:tcPr marL="36576" marR="36576" marT="18288" marB="18288">
                    <a:solidFill>
                      <a:srgbClr val="FFFFFF"/>
                    </a:solidFill>
                  </a:tcPr>
                </a:tc>
                <a:tc>
                  <a:txBody>
                    <a:bodyPr/>
                    <a:lstStyle/>
                    <a:p>
                      <a:pPr algn="l">
                        <a:defRPr sz="900" b="1">
                          <a:solidFill>
                            <a:srgbClr val="111111"/>
                          </a:solidFill>
                          <a:latin typeface="Calibri"/>
                        </a:defRPr>
                      </a:pPr>
                      <a:r>
                        <a:t>Addressable Market &amp; Adjacency</a:t>
                      </a:r>
                    </a:p>
                  </a:txBody>
                  <a:tcPr marL="36576" marR="36576" marT="18288" marB="18288">
                    <a:solidFill>
                      <a:srgbClr val="FFFFFF"/>
                    </a:solidFill>
                  </a:tcPr>
                </a:tc>
                <a:tc>
                  <a:txBody>
                    <a:bodyPr/>
                    <a:lstStyle/>
                    <a:p>
                      <a:pPr algn="r">
                        <a:defRPr sz="900" b="1">
                          <a:solidFill>
                            <a:srgbClr val="1F4690"/>
                          </a:solidFill>
                          <a:latin typeface="Calibri"/>
                        </a:defRPr>
                      </a:pPr>
                      <a:r>
                        <a:t>9/10</a:t>
                      </a:r>
                    </a:p>
                  </a:txBody>
                  <a:tcPr marL="36576" marR="36576" marT="18288" marB="18288">
                    <a:solidFill>
                      <a:srgbClr val="FFFFFF"/>
                    </a:solidFill>
                  </a:tcPr>
                </a:tc>
                <a:tc>
                  <a:txBody>
                    <a:bodyPr/>
                    <a:lstStyle/>
                    <a:p>
                      <a:pPr algn="l">
                        <a:defRPr sz="800" b="0">
                          <a:solidFill>
                            <a:srgbClr val="111111"/>
                          </a:solidFill>
                          <a:latin typeface="Calibri"/>
                        </a:defRPr>
                      </a:pPr>
                      <a:r>
                        <a:t>India private credit hit USD 9.0 Bn in H1 2025 (+53% YoY).</a:t>
                      </a:r>
                    </a:p>
                  </a:txBody>
                  <a:tcPr marL="36576" marR="36576" marT="18288" marB="18288">
                    <a:solidFill>
                      <a:srgbClr val="FFFFFF"/>
                    </a:solidFill>
                  </a:tcPr>
                </a:tc>
              </a:tr>
              <a:tr h="394335">
                <a:tc>
                  <a:txBody>
                    <a:bodyPr/>
                    <a:lstStyle/>
                    <a:p>
                      <a:pPr algn="l">
                        <a:defRPr sz="900" b="1">
                          <a:solidFill>
                            <a:srgbClr val="111111"/>
                          </a:solidFill>
                          <a:latin typeface="Calibri"/>
                        </a:defRPr>
                      </a:pPr>
                      <a:r>
                        <a:t>A2</a:t>
                      </a:r>
                    </a:p>
                  </a:txBody>
                  <a:tcPr marL="36576" marR="36576" marT="18288" marB="18288">
                    <a:solidFill>
                      <a:srgbClr val="F4F6F9"/>
                    </a:solidFill>
                  </a:tcPr>
                </a:tc>
                <a:tc>
                  <a:txBody>
                    <a:bodyPr/>
                    <a:lstStyle/>
                    <a:p>
                      <a:pPr algn="l">
                        <a:defRPr sz="900" b="1">
                          <a:solidFill>
                            <a:srgbClr val="111111"/>
                          </a:solidFill>
                          <a:latin typeface="Calibri"/>
                        </a:defRPr>
                      </a:pPr>
                      <a:r>
                        <a:t>Asymmetric Pricing Power</a:t>
                      </a:r>
                    </a:p>
                  </a:txBody>
                  <a:tcPr marL="36576" marR="36576" marT="18288" marB="18288">
                    <a:solidFill>
                      <a:srgbClr val="F4F6F9"/>
                    </a:solidFill>
                  </a:tcPr>
                </a:tc>
                <a:tc>
                  <a:txBody>
                    <a:bodyPr/>
                    <a:lstStyle/>
                    <a:p>
                      <a:pPr algn="r">
                        <a:defRPr sz="900" b="1">
                          <a:solidFill>
                            <a:srgbClr val="1F4690"/>
                          </a:solidFill>
                          <a:latin typeface="Calibri"/>
                        </a:defRPr>
                      </a:pPr>
                      <a:r>
                        <a:t>10/15</a:t>
                      </a:r>
                    </a:p>
                  </a:txBody>
                  <a:tcPr marL="36576" marR="36576" marT="18288" marB="18288">
                    <a:solidFill>
                      <a:srgbClr val="F4F6F9"/>
                    </a:solidFill>
                  </a:tcPr>
                </a:tc>
                <a:tc>
                  <a:txBody>
                    <a:bodyPr/>
                    <a:lstStyle/>
                    <a:p>
                      <a:pPr algn="l">
                        <a:defRPr sz="800" b="0">
                          <a:solidFill>
                            <a:srgbClr val="111111"/>
                          </a:solidFill>
                          <a:latin typeface="Calibri"/>
                        </a:defRPr>
                      </a:pPr>
                      <a:r>
                        <a:t>Diversified mix offset 24% brokerage decline, validating partial pricing-power hedge.</a:t>
                      </a:r>
                    </a:p>
                  </a:txBody>
                  <a:tcPr marL="36576" marR="36576" marT="18288" marB="18288">
                    <a:solidFill>
                      <a:srgbClr val="F4F6F9"/>
                    </a:solidFill>
                  </a:tcPr>
                </a:tc>
              </a:tr>
              <a:tr h="394335">
                <a:tc>
                  <a:txBody>
                    <a:bodyPr/>
                    <a:lstStyle/>
                    <a:p>
                      <a:pPr algn="l">
                        <a:defRPr sz="900" b="1">
                          <a:solidFill>
                            <a:srgbClr val="111111"/>
                          </a:solidFill>
                          <a:latin typeface="Calibri"/>
                        </a:defRPr>
                      </a:pPr>
                      <a:r>
                        <a:t>R</a:t>
                      </a:r>
                    </a:p>
                  </a:txBody>
                  <a:tcPr marL="36576" marR="36576" marT="18288" marB="18288">
                    <a:solidFill>
                      <a:srgbClr val="FFFFFF"/>
                    </a:solidFill>
                  </a:tcPr>
                </a:tc>
                <a:tc>
                  <a:txBody>
                    <a:bodyPr/>
                    <a:lstStyle/>
                    <a:p>
                      <a:pPr algn="l">
                        <a:defRPr sz="900" b="1">
                          <a:solidFill>
                            <a:srgbClr val="111111"/>
                          </a:solidFill>
                          <a:latin typeface="Calibri"/>
                        </a:defRPr>
                      </a:pPr>
                      <a:r>
                        <a:t>Reinvestment Quality</a:t>
                      </a:r>
                    </a:p>
                  </a:txBody>
                  <a:tcPr marL="36576" marR="36576" marT="18288" marB="18288">
                    <a:solidFill>
                      <a:srgbClr val="FFFFFF"/>
                    </a:solidFill>
                  </a:tcPr>
                </a:tc>
                <a:tc>
                  <a:txBody>
                    <a:bodyPr/>
                    <a:lstStyle/>
                    <a:p>
                      <a:pPr algn="r">
                        <a:defRPr sz="900" b="1">
                          <a:solidFill>
                            <a:srgbClr val="1A7A4A"/>
                          </a:solidFill>
                          <a:latin typeface="Calibri"/>
                        </a:defRPr>
                      </a:pPr>
                      <a:r>
                        <a:t>13/15</a:t>
                      </a:r>
                    </a:p>
                  </a:txBody>
                  <a:tcPr marL="36576" marR="36576" marT="18288" marB="18288">
                    <a:solidFill>
                      <a:srgbClr val="FFFFFF"/>
                    </a:solidFill>
                  </a:tcPr>
                </a:tc>
                <a:tc>
                  <a:txBody>
                    <a:bodyPr/>
                    <a:lstStyle/>
                    <a:p>
                      <a:pPr algn="l">
                        <a:defRPr sz="800" b="0">
                          <a:solidFill>
                            <a:srgbClr val="111111"/>
                          </a:solidFill>
                          <a:latin typeface="Calibri"/>
                        </a:defRPr>
                      </a:pPr>
                      <a:r>
                        <a:t>PWM AUM +31% YoY to INR 1.96L Cr; family count +41%; PAT +14% (9M).</a:t>
                      </a:r>
                    </a:p>
                  </a:txBody>
                  <a:tcPr marL="36576" marR="36576" marT="18288" marB="18288">
                    <a:solidFill>
                      <a:srgbClr val="FFFFFF"/>
                    </a:solidFill>
                  </a:tcPr>
                </a:tc>
              </a:tr>
              <a:tr h="394335">
                <a:tc>
                  <a:txBody>
                    <a:bodyPr/>
                    <a:lstStyle/>
                    <a:p>
                      <a:pPr algn="l">
                        <a:defRPr sz="900" b="1">
                          <a:solidFill>
                            <a:srgbClr val="111111"/>
                          </a:solidFill>
                          <a:latin typeface="Calibri"/>
                        </a:defRPr>
                      </a:pPr>
                      <a:r>
                        <a:t>T</a:t>
                      </a:r>
                    </a:p>
                  </a:txBody>
                  <a:tcPr marL="36576" marR="36576" marT="18288" marB="18288">
                    <a:solidFill>
                      <a:srgbClr val="F4F6F9"/>
                    </a:solidFill>
                  </a:tcPr>
                </a:tc>
                <a:tc>
                  <a:txBody>
                    <a:bodyPr/>
                    <a:lstStyle/>
                    <a:p>
                      <a:pPr algn="l">
                        <a:defRPr sz="900" b="1">
                          <a:solidFill>
                            <a:srgbClr val="111111"/>
                          </a:solidFill>
                          <a:latin typeface="Calibri"/>
                        </a:defRPr>
                      </a:pPr>
                      <a:r>
                        <a:t>Track Record Through Adversity</a:t>
                      </a:r>
                    </a:p>
                  </a:txBody>
                  <a:tcPr marL="36576" marR="36576" marT="18288" marB="18288">
                    <a:solidFill>
                      <a:srgbClr val="F4F6F9"/>
                    </a:solidFill>
                  </a:tcPr>
                </a:tc>
                <a:tc>
                  <a:txBody>
                    <a:bodyPr/>
                    <a:lstStyle/>
                    <a:p>
                      <a:pPr algn="r">
                        <a:defRPr sz="900" b="1">
                          <a:solidFill>
                            <a:srgbClr val="B91C1C"/>
                          </a:solidFill>
                          <a:latin typeface="Calibri"/>
                        </a:defRPr>
                      </a:pPr>
                      <a:r>
                        <a:t>8/10</a:t>
                      </a:r>
                    </a:p>
                  </a:txBody>
                  <a:tcPr marL="36576" marR="36576" marT="18288" marB="18288">
                    <a:solidFill>
                      <a:srgbClr val="F4F6F9"/>
                    </a:solidFill>
                  </a:tcPr>
                </a:tc>
                <a:tc>
                  <a:txBody>
                    <a:bodyPr/>
                    <a:lstStyle/>
                    <a:p>
                      <a:pPr algn="l">
                        <a:defRPr sz="800" b="0">
                          <a:solidFill>
                            <a:srgbClr val="111111"/>
                          </a:solidFill>
                          <a:latin typeface="Calibri"/>
                        </a:defRPr>
                      </a:pPr>
                      <a:r>
                        <a:t>Despite repeated SEBI interventions, AUM and ARR base continue to compound — institutional resilience.</a:t>
                      </a:r>
                    </a:p>
                  </a:txBody>
                  <a:tcPr marL="36576" marR="36576" marT="18288" marB="18288">
                    <a:solidFill>
                      <a:srgbClr val="F4F6F9"/>
                    </a:solidFill>
                  </a:tcPr>
                </a:tc>
              </a:tr>
              <a:tr h="394335">
                <a:tc>
                  <a:txBody>
                    <a:bodyPr/>
                    <a:lstStyle/>
                    <a:p>
                      <a:pPr algn="l">
                        <a:defRPr sz="900" b="1">
                          <a:solidFill>
                            <a:srgbClr val="111111"/>
                          </a:solidFill>
                          <a:latin typeface="Calibri"/>
                        </a:defRPr>
                      </a:pPr>
                      <a:r>
                        <a:t>H</a:t>
                      </a:r>
                    </a:p>
                  </a:txBody>
                  <a:tcPr marL="36576" marR="36576" marT="18288" marB="18288">
                    <a:solidFill>
                      <a:srgbClr val="FFFFFF"/>
                    </a:solidFill>
                  </a:tcPr>
                </a:tc>
                <a:tc>
                  <a:txBody>
                    <a:bodyPr/>
                    <a:lstStyle/>
                    <a:p>
                      <a:pPr algn="l">
                        <a:defRPr sz="900" b="1">
                          <a:solidFill>
                            <a:srgbClr val="111111"/>
                          </a:solidFill>
                          <a:latin typeface="Calibri"/>
                        </a:defRPr>
                      </a:pPr>
                      <a:r>
                        <a:t>Human Capital &amp; Institutional DNA</a:t>
                      </a:r>
                    </a:p>
                  </a:txBody>
                  <a:tcPr marL="36576" marR="36576" marT="18288" marB="18288">
                    <a:solidFill>
                      <a:srgbClr val="FFFFFF"/>
                    </a:solidFill>
                  </a:tcPr>
                </a:tc>
                <a:tc>
                  <a:txBody>
                    <a:bodyPr/>
                    <a:lstStyle/>
                    <a:p>
                      <a:pPr algn="r">
                        <a:defRPr sz="900" b="1">
                          <a:solidFill>
                            <a:srgbClr val="1F4690"/>
                          </a:solidFill>
                          <a:latin typeface="Calibri"/>
                        </a:defRPr>
                      </a:pPr>
                      <a:r>
                        <a:t>9/10</a:t>
                      </a:r>
                    </a:p>
                  </a:txBody>
                  <a:tcPr marL="36576" marR="36576" marT="18288" marB="18288">
                    <a:solidFill>
                      <a:srgbClr val="FFFFFF"/>
                    </a:solidFill>
                  </a:tcPr>
                </a:tc>
                <a:tc>
                  <a:txBody>
                    <a:bodyPr/>
                    <a:lstStyle/>
                    <a:p>
                      <a:pPr algn="l">
                        <a:defRPr sz="800" b="0">
                          <a:solidFill>
                            <a:srgbClr val="111111"/>
                          </a:solidFill>
                          <a:latin typeface="Calibri"/>
                        </a:defRPr>
                      </a:pPr>
                      <a:r>
                        <a:t>Rashtriya Samman Patra recipient (top tax-payer FY95–FY99) signals early ethical commercial success.</a:t>
                      </a:r>
                    </a:p>
                  </a:txBody>
                  <a:tcPr marL="36576" marR="36576" marT="18288" marB="18288">
                    <a:solidFill>
                      <a:srgbClr val="FFFFFF"/>
                    </a:solidFill>
                  </a:tcPr>
                </a:tc>
              </a:tr>
              <a:tr h="394335">
                <a:tc>
                  <a:txBody>
                    <a:bodyPr/>
                    <a:lstStyle/>
                    <a:p>
                      <a:pPr algn="l">
                        <a:defRPr sz="900" b="1">
                          <a:solidFill>
                            <a:srgbClr val="111111"/>
                          </a:solidFill>
                          <a:latin typeface="Calibri"/>
                        </a:defRPr>
                      </a:pPr>
                      <a:r>
                        <a:t>I</a:t>
                      </a:r>
                    </a:p>
                  </a:txBody>
                  <a:tcPr marL="36576" marR="36576" marT="18288" marB="18288">
                    <a:solidFill>
                      <a:srgbClr val="F4F6F9"/>
                    </a:solidFill>
                  </a:tcPr>
                </a:tc>
                <a:tc>
                  <a:txBody>
                    <a:bodyPr/>
                    <a:lstStyle/>
                    <a:p>
                      <a:pPr algn="l">
                        <a:defRPr sz="900" b="1">
                          <a:solidFill>
                            <a:srgbClr val="111111"/>
                          </a:solidFill>
                          <a:latin typeface="Calibri"/>
                        </a:defRPr>
                      </a:pPr>
                      <a:r>
                        <a:t>Inflection Point Identification</a:t>
                      </a:r>
                    </a:p>
                  </a:txBody>
                  <a:tcPr marL="36576" marR="36576" marT="18288" marB="18288">
                    <a:solidFill>
                      <a:srgbClr val="F4F6F9"/>
                    </a:solidFill>
                  </a:tcPr>
                </a:tc>
                <a:tc>
                  <a:txBody>
                    <a:bodyPr/>
                    <a:lstStyle/>
                    <a:p>
                      <a:pPr algn="r">
                        <a:defRPr sz="900" b="1">
                          <a:solidFill>
                            <a:srgbClr val="1F4690"/>
                          </a:solidFill>
                          <a:latin typeface="Calibri"/>
                        </a:defRPr>
                      </a:pPr>
                      <a:r>
                        <a:t>11/15</a:t>
                      </a:r>
                    </a:p>
                  </a:txBody>
                  <a:tcPr marL="36576" marR="36576" marT="18288" marB="18288">
                    <a:solidFill>
                      <a:srgbClr val="F4F6F9"/>
                    </a:solidFill>
                  </a:tcPr>
                </a:tc>
                <a:tc>
                  <a:txBody>
                    <a:bodyPr/>
                    <a:lstStyle/>
                    <a:p>
                      <a:pPr algn="l">
                        <a:defRPr sz="800" b="0">
                          <a:solidFill>
                            <a:srgbClr val="111111"/>
                          </a:solidFill>
                          <a:latin typeface="Calibri"/>
                        </a:defRPr>
                      </a:pPr>
                      <a:r>
                        <a:t>ARR at 65% of net revenues (up from 61%); management guiding higher — measurable inflection.</a:t>
                      </a:r>
                    </a:p>
                  </a:txBody>
                  <a:tcPr marL="36576" marR="36576" marT="18288" marB="18288">
                    <a:solidFill>
                      <a:srgbClr val="F4F6F9"/>
                    </a:solidFill>
                  </a:tcPr>
                </a:tc>
              </a:tr>
            </a:tbl>
          </a:graphicData>
        </a:graphic>
      </p:graphicFrame>
      <p:sp>
        <p:nvSpPr>
          <p:cNvPr id="21" name="Rectangle 20"/>
          <p:cNvSpPr/>
          <p:nvPr/>
        </p:nvSpPr>
        <p:spPr>
          <a:xfrm>
            <a:off x="457200" y="5440680"/>
            <a:ext cx="11277295" cy="91440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5488" y="5458968"/>
            <a:ext cx="11240719" cy="877824"/>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486400"/>
            <a:ext cx="11094415" cy="182880"/>
          </a:xfrm>
          <a:prstGeom prst="rect">
            <a:avLst/>
          </a:prstGeom>
          <a:noFill/>
        </p:spPr>
        <p:txBody>
          <a:bodyPr wrap="square" lIns="45720" rIns="45720" tIns="18288" bIns="18288">
            <a:spAutoFit/>
          </a:bodyPr>
          <a:lstStyle/>
          <a:p>
            <a:pPr algn="l"/>
            <a:r>
              <a:rPr sz="1000" b="1">
                <a:solidFill>
                  <a:srgbClr val="1F4690"/>
                </a:solidFill>
                <a:latin typeface="Calibri"/>
              </a:rPr>
              <a:t>SAARTHI Conviction Statement</a:t>
            </a:r>
          </a:p>
        </p:txBody>
      </p:sp>
      <p:sp>
        <p:nvSpPr>
          <p:cNvPr id="24" name="TextBox 23"/>
          <p:cNvSpPr txBox="1"/>
          <p:nvPr/>
        </p:nvSpPr>
        <p:spPr>
          <a:xfrm>
            <a:off x="548640" y="5669280"/>
            <a:ext cx="11094415" cy="640080"/>
          </a:xfrm>
          <a:prstGeom prst="rect">
            <a:avLst/>
          </a:prstGeom>
          <a:noFill/>
        </p:spPr>
        <p:txBody>
          <a:bodyPr wrap="square" lIns="45720" rIns="45720" tIns="18288" bIns="18288">
            <a:spAutoFit/>
          </a:bodyPr>
          <a:lstStyle/>
          <a:p>
            <a:pPr algn="l"/>
            <a:r>
              <a:rPr sz="800" b="0">
                <a:solidFill>
                  <a:srgbClr val="111111"/>
                </a:solidFill>
                <a:latin typeface="Calibri"/>
              </a:rPr>
              <a:t>Proprietary 7-dimension framework. Overall score 72/100 (BUY (70-84 range)).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Motilal Oswal Financial Services Ltd At A Glance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Motilal Oswal Financial Services Ltd At A Glance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9" name="Rounded Rectangle 18"/>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20" name="Rounded Rectangle 19"/>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1" name="Rounded Rectangle 20"/>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Highlights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Highlights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9" name="TextBox 18"/>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Revenue Trend</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Revenue Trend</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Revenue trajectory across the forecast period reflects mix shift and AUM scale-up.</a:t>
            </a:r>
          </a:p>
        </p:txBody>
      </p:sp>
      <p:pic>
        <p:nvPicPr>
          <p:cNvPr id="19" name="Picture 18"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Annual Financial Summary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Annual Financial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200">
                          <a:solidFill>
                            <a:srgbClr val="FFFFFF"/>
                          </a:solidFill>
                          <a:latin typeface="Calibri"/>
                        </a:rPr>
                        <a:t>Period</a:t>
                      </a:r>
                    </a:p>
                  </a:txBody>
                  <a:tcPr marL="36576" marR="36576" marT="18288" marB="18288">
                    <a:solidFill>
                      <a:srgbClr val="1F4690"/>
                    </a:solidFill>
                  </a:tcPr>
                </a:tc>
                <a:tc>
                  <a:txBody>
                    <a:bodyPr/>
                    <a:lstStyle/>
                    <a:p>
                      <a:pPr algn="r"/>
                      <a:r>
                        <a:rPr b="1" sz="1200">
                          <a:solidFill>
                            <a:srgbClr val="FFFFFF"/>
                          </a:solidFill>
                          <a:latin typeface="Calibri"/>
                        </a:rPr>
                        <a:t>Revenue</a:t>
                      </a:r>
                    </a:p>
                  </a:txBody>
                  <a:tcPr marL="36576" marR="36576" marT="18288" marB="18288">
                    <a:solidFill>
                      <a:srgbClr val="1F4690"/>
                    </a:solidFill>
                  </a:tcPr>
                </a:tc>
              </a:tr>
              <a:tr h="628650">
                <a:tc>
                  <a:txBody>
                    <a:bodyPr/>
                    <a:lstStyle/>
                    <a:p>
                      <a:r>
                        <a:rPr sz="1200" b="1">
                          <a:solidFill>
                            <a:srgbClr val="5A6573"/>
                          </a:solidFill>
                          <a:latin typeface="Calibri"/>
                        </a:rPr>
                        <a:t>FY22A</a:t>
                      </a:r>
                    </a:p>
                  </a:txBody>
                  <a:tcPr marL="36576" marR="36576" marT="18288" marB="18288">
                    <a:solidFill>
                      <a:srgbClr val="F4F6F9"/>
                    </a:solidFill>
                  </a:tcPr>
                </a:tc>
                <a:tc>
                  <a:txBody>
                    <a:bodyPr/>
                    <a:lstStyle/>
                    <a:p>
                      <a:pPr algn="r"/>
                      <a:r>
                        <a:rPr sz="1200">
                          <a:solidFill>
                            <a:srgbClr val="111111"/>
                          </a:solidFill>
                          <a:latin typeface="Calibri"/>
                        </a:rPr>
                        <a:t>₹4,298.0 Cr</a:t>
                      </a:r>
                    </a:p>
                  </a:txBody>
                  <a:tcPr marL="36576" marR="36576" marT="18288" marB="18288">
                    <a:solidFill>
                      <a:srgbClr val="F4F6F9"/>
                    </a:solidFill>
                  </a:tcPr>
                </a:tc>
              </a:tr>
              <a:tr h="628650">
                <a:tc>
                  <a:txBody>
                    <a:bodyPr/>
                    <a:lstStyle/>
                    <a:p>
                      <a:r>
                        <a:rPr sz="1200" b="1">
                          <a:solidFill>
                            <a:srgbClr val="5A6573"/>
                          </a:solidFill>
                          <a:latin typeface="Calibri"/>
                        </a:rPr>
                        <a:t>FY23A</a:t>
                      </a:r>
                    </a:p>
                  </a:txBody>
                  <a:tcPr marL="36576" marR="36576" marT="18288" marB="18288">
                    <a:solidFill>
                      <a:srgbClr val="FFFFFF"/>
                    </a:solidFill>
                  </a:tcPr>
                </a:tc>
                <a:tc>
                  <a:txBody>
                    <a:bodyPr/>
                    <a:lstStyle/>
                    <a:p>
                      <a:pPr algn="r"/>
                      <a:r>
                        <a:rPr sz="1200">
                          <a:solidFill>
                            <a:srgbClr val="111111"/>
                          </a:solidFill>
                          <a:latin typeface="Calibri"/>
                        </a:rPr>
                        <a:t>₹4,178.0 Cr</a:t>
                      </a:r>
                    </a:p>
                  </a:txBody>
                  <a:tcPr marL="36576" marR="36576" marT="18288" marB="18288">
                    <a:solidFill>
                      <a:srgbClr val="FFFFFF"/>
                    </a:solidFill>
                  </a:tcPr>
                </a:tc>
              </a:tr>
              <a:tr h="628650">
                <a:tc>
                  <a:txBody>
                    <a:bodyPr/>
                    <a:lstStyle/>
                    <a:p>
                      <a:r>
                        <a:rPr sz="1200" b="1">
                          <a:solidFill>
                            <a:srgbClr val="5A6573"/>
                          </a:solidFill>
                          <a:latin typeface="Calibri"/>
                        </a:rPr>
                        <a:t>FY24A</a:t>
                      </a:r>
                    </a:p>
                  </a:txBody>
                  <a:tcPr marL="36576" marR="36576" marT="18288" marB="18288">
                    <a:solidFill>
                      <a:srgbClr val="F4F6F9"/>
                    </a:solidFill>
                  </a:tcPr>
                </a:tc>
                <a:tc>
                  <a:txBody>
                    <a:bodyPr/>
                    <a:lstStyle/>
                    <a:p>
                      <a:pPr algn="r"/>
                      <a:r>
                        <a:rPr sz="1200">
                          <a:solidFill>
                            <a:srgbClr val="111111"/>
                          </a:solidFill>
                          <a:latin typeface="Calibri"/>
                        </a:rPr>
                        <a:t>₹7,106.0 Cr</a:t>
                      </a:r>
                    </a:p>
                  </a:txBody>
                  <a:tcPr marL="36576" marR="36576" marT="18288" marB="18288">
                    <a:solidFill>
                      <a:srgbClr val="F4F6F9"/>
                    </a:solidFill>
                  </a:tcPr>
                </a:tc>
              </a:tr>
              <a:tr h="628650">
                <a:tc>
                  <a:txBody>
                    <a:bodyPr/>
                    <a:lstStyle/>
                    <a:p>
                      <a:r>
                        <a:rPr sz="1200" b="1">
                          <a:solidFill>
                            <a:srgbClr val="5A6573"/>
                          </a:solidFill>
                          <a:latin typeface="Calibri"/>
                        </a:rPr>
                        <a:t>FY25A</a:t>
                      </a:r>
                    </a:p>
                  </a:txBody>
                  <a:tcPr marL="36576" marR="36576" marT="18288" marB="18288">
                    <a:solidFill>
                      <a:srgbClr val="FFFFFF"/>
                    </a:solidFill>
                  </a:tcPr>
                </a:tc>
                <a:tc>
                  <a:txBody>
                    <a:bodyPr/>
                    <a:lstStyle/>
                    <a:p>
                      <a:pPr algn="r"/>
                      <a:r>
                        <a:rPr sz="1200">
                          <a:solidFill>
                            <a:srgbClr val="111111"/>
                          </a:solidFill>
                          <a:latin typeface="Calibri"/>
                        </a:rPr>
                        <a:t>₹8,340.0 Cr</a:t>
                      </a:r>
                    </a:p>
                  </a:txBody>
                  <a:tcPr marL="36576" marR="36576" marT="18288" marB="18288">
                    <a:solidFill>
                      <a:srgbClr val="FFFFFF"/>
                    </a:solidFill>
                  </a:tcPr>
                </a:tc>
              </a:tr>
              <a:tr h="628650">
                <a:tc>
                  <a:txBody>
                    <a:bodyPr/>
                    <a:lstStyle/>
                    <a:p>
                      <a:r>
                        <a:rPr sz="1200" b="1">
                          <a:solidFill>
                            <a:srgbClr val="5A6573"/>
                          </a:solidFill>
                          <a:latin typeface="Calibri"/>
                        </a:rPr>
                        <a:t>FY26E</a:t>
                      </a:r>
                    </a:p>
                  </a:txBody>
                  <a:tcPr marL="36576" marR="36576" marT="18288" marB="18288">
                    <a:solidFill>
                      <a:srgbClr val="F4F6F9"/>
                    </a:solidFill>
                  </a:tcPr>
                </a:tc>
                <a:tc>
                  <a:txBody>
                    <a:bodyPr/>
                    <a:lstStyle/>
                    <a:p>
                      <a:pPr algn="r"/>
                      <a:r>
                        <a:rPr sz="1200">
                          <a:solidFill>
                            <a:srgbClr val="111111"/>
                          </a:solidFill>
                          <a:latin typeface="Calibri"/>
                        </a:rPr>
                        <a:t>₹10,402.0 Cr</a:t>
                      </a:r>
                    </a:p>
                  </a:txBody>
                  <a:tcPr marL="36576" marR="36576" marT="18288" marB="18288">
                    <a:solidFill>
                      <a:srgbClr val="F4F6F9"/>
                    </a:solidFill>
                  </a:tcPr>
                </a:tc>
              </a:tr>
              <a:tr h="628650">
                <a:tc>
                  <a:txBody>
                    <a:bodyPr/>
                    <a:lstStyle/>
                    <a:p>
                      <a:r>
                        <a:rPr sz="1200" b="1">
                          <a:solidFill>
                            <a:srgbClr val="5A6573"/>
                          </a:solidFill>
                          <a:latin typeface="Calibri"/>
                        </a:rPr>
                        <a:t>FY27E</a:t>
                      </a:r>
                    </a:p>
                  </a:txBody>
                  <a:tcPr marL="36576" marR="36576" marT="18288" marB="18288">
                    <a:solidFill>
                      <a:srgbClr val="FFFFFF"/>
                    </a:solidFill>
                  </a:tcPr>
                </a:tc>
                <a:tc>
                  <a:txBody>
                    <a:bodyPr/>
                    <a:lstStyle/>
                    <a:p>
                      <a:pPr algn="r"/>
                      <a:r>
                        <a:rPr sz="1200">
                          <a:solidFill>
                            <a:srgbClr val="111111"/>
                          </a:solidFill>
                          <a:latin typeface="Calibri"/>
                        </a:rPr>
                        <a:t>₹12,973.0 Cr</a:t>
                      </a:r>
                    </a:p>
                  </a:txBody>
                  <a:tcPr marL="36576" marR="36576" marT="18288" marB="18288">
                    <a:solidFill>
                      <a:srgbClr val="FFFFFF"/>
                    </a:solidFill>
                  </a:tcPr>
                </a:tc>
              </a:tr>
              <a:tr h="628650">
                <a:tc>
                  <a:txBody>
                    <a:bodyPr/>
                    <a:lstStyle/>
                    <a:p>
                      <a:r>
                        <a:rPr sz="1200" b="1">
                          <a:solidFill>
                            <a:srgbClr val="5A6573"/>
                          </a:solidFill>
                          <a:latin typeface="Calibri"/>
                        </a:rPr>
                        <a:t>FY28E</a:t>
                      </a:r>
                    </a:p>
                  </a:txBody>
                  <a:tcPr marL="36576" marR="36576" marT="18288" marB="18288">
                    <a:solidFill>
                      <a:srgbClr val="F4F6F9"/>
                    </a:solidFill>
                  </a:tcPr>
                </a:tc>
                <a:tc>
                  <a:txBody>
                    <a:bodyPr/>
                    <a:lstStyle/>
                    <a:p>
                      <a:pPr algn="r"/>
                      <a:r>
                        <a:rPr sz="1200">
                          <a:solidFill>
                            <a:srgbClr val="111111"/>
                          </a:solidFill>
                          <a:latin typeface="Calibri"/>
                        </a:rPr>
                        <a:t>₹16,181.0 Cr</a:t>
                      </a:r>
                    </a:p>
                  </a:txBody>
                  <a:tcPr marL="36576" marR="36576" marT="18288" marB="18288">
                    <a:solidFill>
                      <a:srgbClr val="F4F6F9"/>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Quarterly Performance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Quarterly Performance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200">
                          <a:solidFill>
                            <a:srgbClr val="FFFFFF"/>
                          </a:solidFill>
                          <a:latin typeface="Calibri"/>
                        </a:rPr>
                        <a:t>Quarter</a:t>
                      </a:r>
                    </a:p>
                  </a:txBody>
                  <a:tcPr marL="36576" marR="36576" marT="18288" marB="18288">
                    <a:solidFill>
                      <a:srgbClr val="1F4690"/>
                    </a:solidFill>
                  </a:tcPr>
                </a:tc>
                <a:tc>
                  <a:txBody>
                    <a:bodyPr/>
                    <a:lstStyle/>
                    <a:p>
                      <a:pPr algn="r"/>
                      <a:r>
                        <a:rPr b="1" sz="1200">
                          <a:solidFill>
                            <a:srgbClr val="FFFFFF"/>
                          </a:solidFill>
                          <a:latin typeface="Calibri"/>
                        </a:rPr>
                        <a:t>PAT</a:t>
                      </a:r>
                    </a:p>
                  </a:txBody>
                  <a:tcPr marL="36576" marR="36576" marT="18288" marB="18288">
                    <a:solidFill>
                      <a:srgbClr val="1F4690"/>
                    </a:solidFill>
                  </a:tcPr>
                </a:tc>
              </a:tr>
              <a:tr h="708660">
                <a:tc>
                  <a:txBody>
                    <a:bodyPr/>
                    <a:lstStyle/>
                    <a:p>
                      <a:r>
                        <a:rPr sz="1200" b="1">
                          <a:solidFill>
                            <a:srgbClr val="5A6573"/>
                          </a:solidFill>
                          <a:latin typeface="Calibri"/>
                        </a:rPr>
                        <a:t>Q2FY25</a:t>
                      </a:r>
                    </a:p>
                  </a:txBody>
                  <a:tcPr marL="36576" marR="36576" marT="18288" marB="18288">
                    <a:solidFill>
                      <a:srgbClr val="F4F6F9"/>
                    </a:solidFill>
                  </a:tcPr>
                </a:tc>
                <a:tc>
                  <a:txBody>
                    <a:bodyPr/>
                    <a:lstStyle/>
                    <a:p>
                      <a:pPr algn="r"/>
                      <a:r>
                        <a:rPr sz="1200">
                          <a:solidFill>
                            <a:srgbClr val="111111"/>
                          </a:solidFill>
                          <a:latin typeface="Calibri"/>
                        </a:rPr>
                        <a:t>₹1,242.0 Cr</a:t>
                      </a:r>
                    </a:p>
                  </a:txBody>
                  <a:tcPr marL="36576" marR="36576" marT="18288" marB="18288">
                    <a:solidFill>
                      <a:srgbClr val="F4F6F9"/>
                    </a:solidFill>
                  </a:tcPr>
                </a:tc>
              </a:tr>
              <a:tr h="708660">
                <a:tc>
                  <a:txBody>
                    <a:bodyPr/>
                    <a:lstStyle/>
                    <a:p>
                      <a:r>
                        <a:rPr sz="1200" b="1">
                          <a:solidFill>
                            <a:srgbClr val="5A6573"/>
                          </a:solidFill>
                          <a:latin typeface="Calibri"/>
                        </a:rPr>
                        <a:t>Q3FY25</a:t>
                      </a:r>
                    </a:p>
                  </a:txBody>
                  <a:tcPr marL="36576" marR="36576" marT="18288" marB="18288">
                    <a:solidFill>
                      <a:srgbClr val="FFFFFF"/>
                    </a:solidFill>
                  </a:tcPr>
                </a:tc>
                <a:tc>
                  <a:txBody>
                    <a:bodyPr/>
                    <a:lstStyle/>
                    <a:p>
                      <a:pPr algn="r"/>
                      <a:r>
                        <a:rPr sz="1200">
                          <a:solidFill>
                            <a:srgbClr val="111111"/>
                          </a:solidFill>
                          <a:latin typeface="Calibri"/>
                        </a:rPr>
                        <a:t>₹715.0 Cr</a:t>
                      </a:r>
                    </a:p>
                  </a:txBody>
                  <a:tcPr marL="36576" marR="36576" marT="18288" marB="18288">
                    <a:solidFill>
                      <a:srgbClr val="FFFFFF"/>
                    </a:solidFill>
                  </a:tcPr>
                </a:tc>
              </a:tr>
              <a:tr h="708660">
                <a:tc>
                  <a:txBody>
                    <a:bodyPr/>
                    <a:lstStyle/>
                    <a:p>
                      <a:r>
                        <a:rPr sz="1200" b="1">
                          <a:solidFill>
                            <a:srgbClr val="5A6573"/>
                          </a:solidFill>
                          <a:latin typeface="Calibri"/>
                        </a:rPr>
                        <a:t>Q4FY25</a:t>
                      </a:r>
                    </a:p>
                  </a:txBody>
                  <a:tcPr marL="36576" marR="36576" marT="18288" marB="18288">
                    <a:solidFill>
                      <a:srgbClr val="F4F6F9"/>
                    </a:solidFill>
                  </a:tcPr>
                </a:tc>
                <a:tc>
                  <a:txBody>
                    <a:bodyPr/>
                    <a:lstStyle/>
                    <a:p>
                      <a:pPr algn="r"/>
                      <a:r>
                        <a:rPr sz="1200">
                          <a:solidFill>
                            <a:srgbClr val="111111"/>
                          </a:solidFill>
                          <a:latin typeface="Calibri"/>
                        </a:rPr>
                        <a:t>₹545.0 Cr</a:t>
                      </a:r>
                    </a:p>
                  </a:txBody>
                  <a:tcPr marL="36576" marR="36576" marT="18288" marB="18288">
                    <a:solidFill>
                      <a:srgbClr val="F4F6F9"/>
                    </a:solidFill>
                  </a:tcPr>
                </a:tc>
              </a:tr>
              <a:tr h="708660">
                <a:tc>
                  <a:txBody>
                    <a:bodyPr/>
                    <a:lstStyle/>
                    <a:p>
                      <a:r>
                        <a:rPr sz="1200" b="1">
                          <a:solidFill>
                            <a:srgbClr val="5A6573"/>
                          </a:solidFill>
                          <a:latin typeface="Calibri"/>
                        </a:rPr>
                        <a:t>Q1FY26</a:t>
                      </a:r>
                    </a:p>
                  </a:txBody>
                  <a:tcPr marL="36576" marR="36576" marT="18288" marB="18288">
                    <a:solidFill>
                      <a:srgbClr val="FFFFFF"/>
                    </a:solidFill>
                  </a:tcPr>
                </a:tc>
                <a:tc>
                  <a:txBody>
                    <a:bodyPr/>
                    <a:lstStyle/>
                    <a:p>
                      <a:pPr algn="r"/>
                      <a:r>
                        <a:rPr sz="1200">
                          <a:solidFill>
                            <a:srgbClr val="111111"/>
                          </a:solidFill>
                          <a:latin typeface="Calibri"/>
                        </a:rPr>
                        <a:t>₹425.0 Cr</a:t>
                      </a:r>
                    </a:p>
                  </a:txBody>
                  <a:tcPr marL="36576" marR="36576" marT="18288" marB="18288">
                    <a:solidFill>
                      <a:srgbClr val="FFFFFF"/>
                    </a:solidFill>
                  </a:tcPr>
                </a:tc>
              </a:tr>
              <a:tr h="708660">
                <a:tc>
                  <a:txBody>
                    <a:bodyPr/>
                    <a:lstStyle/>
                    <a:p>
                      <a:r>
                        <a:rPr sz="1200" b="1">
                          <a:solidFill>
                            <a:srgbClr val="5A6573"/>
                          </a:solidFill>
                          <a:latin typeface="Calibri"/>
                        </a:rPr>
                        <a:t>Q2FY26</a:t>
                      </a:r>
                    </a:p>
                  </a:txBody>
                  <a:tcPr marL="36576" marR="36576" marT="18288" marB="18288">
                    <a:solidFill>
                      <a:srgbClr val="F4F6F9"/>
                    </a:solidFill>
                  </a:tcPr>
                </a:tc>
                <a:tc>
                  <a:txBody>
                    <a:bodyPr/>
                    <a:lstStyle/>
                    <a:p>
                      <a:pPr algn="r"/>
                      <a:r>
                        <a:rPr sz="1200">
                          <a:solidFill>
                            <a:srgbClr val="111111"/>
                          </a:solidFill>
                          <a:latin typeface="Calibri"/>
                        </a:rPr>
                        <a:t>₹401.0 Cr</a:t>
                      </a:r>
                    </a:p>
                  </a:txBody>
                  <a:tcPr marL="36576" marR="36576"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Segment Mix</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Segment Mix</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200">
                          <a:solidFill>
                            <a:srgbClr val="FFFFFF"/>
                          </a:solidFill>
                          <a:latin typeface="Calibri"/>
                        </a:rPr>
                        <a:t>Segment</a:t>
                      </a:r>
                    </a:p>
                  </a:txBody>
                  <a:tcPr marL="36576" marR="36576" marT="18288" marB="18288">
                    <a:solidFill>
                      <a:srgbClr val="1F4690"/>
                    </a:solidFill>
                  </a:tcPr>
                </a:tc>
                <a:tc>
                  <a:txBody>
                    <a:bodyPr/>
                    <a:lstStyle/>
                    <a:p>
                      <a:pPr algn="r"/>
                      <a:r>
                        <a:rPr b="1" sz="1200">
                          <a:solidFill>
                            <a:srgbClr val="FFFFFF"/>
                          </a:solidFill>
                          <a:latin typeface="Calibri"/>
                        </a:rPr>
                        <a:t>Scale Metric</a:t>
                      </a:r>
                    </a:p>
                  </a:txBody>
                  <a:tcPr marL="36576" marR="36576" marT="18288" marB="18288">
                    <a:solidFill>
                      <a:srgbClr val="1F4690"/>
                    </a:solidFill>
                  </a:tcPr>
                </a:tc>
                <a:tc>
                  <a:txBody>
                    <a:bodyPr/>
                    <a:lstStyle/>
                    <a:p>
                      <a:pPr algn="r"/>
                      <a:r>
                        <a:rPr b="1" sz="1200">
                          <a:solidFill>
                            <a:srgbClr val="FFFFFF"/>
                          </a:solidFill>
                          <a:latin typeface="Calibri"/>
                        </a:rPr>
                        <a:t>Latest</a:t>
                      </a:r>
                    </a:p>
                  </a:txBody>
                  <a:tcPr marL="36576" marR="36576" marT="18288" marB="18288">
                    <a:solidFill>
                      <a:srgbClr val="1F4690"/>
                    </a:solidFill>
                  </a:tcPr>
                </a:tc>
                <a:tc>
                  <a:txBody>
                    <a:bodyPr/>
                    <a:lstStyle/>
                    <a:p>
                      <a:pPr algn="r"/>
                      <a:r>
                        <a:rPr b="1" sz="1200">
                          <a:solidFill>
                            <a:srgbClr val="FFFFFF"/>
                          </a:solidFill>
                          <a:latin typeface="Calibri"/>
                        </a:rPr>
                        <a:t>Notes</a:t>
                      </a:r>
                    </a:p>
                  </a:txBody>
                  <a:tcPr marL="36576" marR="36576" marT="18288" marB="18288">
                    <a:solidFill>
                      <a:srgbClr val="1F4690"/>
                    </a:solidFill>
                  </a:tcPr>
                </a:tc>
              </a:tr>
              <a:tr h="838200">
                <a:tc>
                  <a:txBody>
                    <a:bodyPr/>
                    <a:lstStyle/>
                    <a:p>
                      <a:r>
                        <a:rPr sz="1200" b="1">
                          <a:solidFill>
                            <a:srgbClr val="5A6573"/>
                          </a:solidFill>
                          <a:latin typeface="Calibri"/>
                        </a:rPr>
                        <a:t>Capital Markets (Broking + IB)</a:t>
                      </a:r>
                    </a:p>
                  </a:txBody>
                  <a:tcPr marL="36576" marR="36576" marT="18288" marB="18288">
                    <a:solidFill>
                      <a:srgbClr val="F4F6F9"/>
                    </a:solidFill>
                  </a:tcPr>
                </a:tc>
                <a:tc>
                  <a:txBody>
                    <a:bodyPr/>
                    <a:lstStyle/>
                    <a:p>
                      <a:pPr algn="r"/>
                      <a:r>
                        <a:rPr sz="1200">
                          <a:solidFill>
                            <a:srgbClr val="111111"/>
                          </a:solidFill>
                          <a:latin typeface="Calibri"/>
                        </a:rPr>
                        <a:t>Brokerage Rev YoY</a:t>
                      </a:r>
                    </a:p>
                  </a:txBody>
                  <a:tcPr marL="36576" marR="36576" marT="18288" marB="18288">
                    <a:solidFill>
                      <a:srgbClr val="F4F6F9"/>
                    </a:solidFill>
                  </a:tcPr>
                </a:tc>
                <a:tc>
                  <a:txBody>
                    <a:bodyPr/>
                    <a:lstStyle/>
                    <a:p>
                      <a:pPr algn="r"/>
                      <a:r>
                        <a:rPr sz="1200" b="1">
                          <a:solidFill>
                            <a:srgbClr val="B91C1C"/>
                          </a:solidFill>
                          <a:latin typeface="Calibri"/>
                        </a:rPr>
                        <a:t>-24%</a:t>
                      </a:r>
                    </a:p>
                  </a:txBody>
                  <a:tcPr marL="36576" marR="36576" marT="18288" marB="18288">
                    <a:solidFill>
                      <a:srgbClr val="F4F6F9"/>
                    </a:solidFill>
                  </a:tcPr>
                </a:tc>
                <a:tc>
                  <a:txBody>
                    <a:bodyPr/>
                    <a:lstStyle/>
                    <a:p>
                      <a:pPr algn="r"/>
                      <a:r>
                        <a:rPr sz="1200">
                          <a:solidFill>
                            <a:srgbClr val="111111"/>
                          </a:solidFill>
                          <a:latin typeface="Calibri"/>
                        </a:rPr>
                        <a:t>Equity, derivatives, commodity, currency trading + institutional services and investment banking. Brokerage now contributes only 30% of total revenue, down from historical highs.</a:t>
                      </a:r>
                    </a:p>
                  </a:txBody>
                  <a:tcPr marL="36576" marR="36576" marT="18288" marB="18288">
                    <a:solidFill>
                      <a:srgbClr val="F4F6F9"/>
                    </a:solidFill>
                  </a:tcPr>
                </a:tc>
              </a:tr>
              <a:tr h="838200">
                <a:tc>
                  <a:txBody>
                    <a:bodyPr/>
                    <a:lstStyle/>
                    <a:p>
                      <a:r>
                        <a:rPr sz="1200" b="1">
                          <a:solidFill>
                            <a:srgbClr val="5A6573"/>
                          </a:solidFill>
                          <a:latin typeface="Calibri"/>
                        </a:rPr>
                        <a:t>Asset Management</a:t>
                      </a:r>
                    </a:p>
                  </a:txBody>
                  <a:tcPr marL="36576" marR="36576" marT="18288" marB="18288">
                    <a:solidFill>
                      <a:srgbClr val="FFFFFF"/>
                    </a:solidFill>
                  </a:tcPr>
                </a:tc>
                <a:tc>
                  <a:txBody>
                    <a:bodyPr/>
                    <a:lstStyle/>
                    <a:p>
                      <a:pPr algn="r"/>
                      <a:r>
                        <a:rPr sz="1200">
                          <a:solidFill>
                            <a:srgbClr val="111111"/>
                          </a:solidFill>
                          <a:latin typeface="Calibri"/>
                        </a:rPr>
                        <a:t>AMC AUM</a:t>
                      </a:r>
                    </a:p>
                  </a:txBody>
                  <a:tcPr marL="36576" marR="36576" marT="18288" marB="18288">
                    <a:solidFill>
                      <a:srgbClr val="FFFFFF"/>
                    </a:solidFill>
                  </a:tcPr>
                </a:tc>
                <a:tc>
                  <a:txBody>
                    <a:bodyPr/>
                    <a:lstStyle/>
                    <a:p>
                      <a:pPr algn="r"/>
                      <a:r>
                        <a:rPr sz="1200">
                          <a:solidFill>
                            <a:srgbClr val="111111"/>
                          </a:solidFill>
                          <a:latin typeface="Calibri"/>
                        </a:rPr>
                        <a:t>INR 1.89L Cr (+33% YoY)</a:t>
                      </a:r>
                    </a:p>
                  </a:txBody>
                  <a:tcPr marL="36576" marR="36576" marT="18288" marB="18288">
                    <a:solidFill>
                      <a:srgbClr val="FFFFFF"/>
                    </a:solidFill>
                  </a:tcPr>
                </a:tc>
                <a:tc>
                  <a:txBody>
                    <a:bodyPr/>
                    <a:lstStyle/>
                    <a:p>
                      <a:pPr algn="r"/>
                      <a:r>
                        <a:rPr sz="1200">
                          <a:solidFill>
                            <a:srgbClr val="111111"/>
                          </a:solidFill>
                          <a:latin typeface="Calibri"/>
                        </a:rPr>
                        <a:t>Mutual funds and PMS. 91% of AUM outperforming benchmarks over 3 years.</a:t>
                      </a:r>
                    </a:p>
                  </a:txBody>
                  <a:tcPr marL="36576" marR="36576" marT="18288" marB="18288">
                    <a:solidFill>
                      <a:srgbClr val="FFFFFF"/>
                    </a:solidFill>
                  </a:tcPr>
                </a:tc>
              </a:tr>
              <a:tr h="838200">
                <a:tc>
                  <a:txBody>
                    <a:bodyPr/>
                    <a:lstStyle/>
                    <a:p>
                      <a:r>
                        <a:rPr sz="1200" b="1">
                          <a:solidFill>
                            <a:srgbClr val="5A6573"/>
                          </a:solidFill>
                          <a:latin typeface="Calibri"/>
                        </a:rPr>
                        <a:t>Private Wealth Management</a:t>
                      </a:r>
                    </a:p>
                  </a:txBody>
                  <a:tcPr marL="36576" marR="36576" marT="18288" marB="18288">
                    <a:solidFill>
                      <a:srgbClr val="F4F6F9"/>
                    </a:solidFill>
                  </a:tcPr>
                </a:tc>
                <a:tc>
                  <a:txBody>
                    <a:bodyPr/>
                    <a:lstStyle/>
                    <a:p>
                      <a:pPr algn="r"/>
                      <a:r>
                        <a:rPr sz="1200">
                          <a:solidFill>
                            <a:srgbClr val="111111"/>
                          </a:solidFill>
                          <a:latin typeface="Calibri"/>
                        </a:rPr>
                        <a:t>PWM AUM</a:t>
                      </a:r>
                    </a:p>
                  </a:txBody>
                  <a:tcPr marL="36576" marR="36576" marT="18288" marB="18288">
                    <a:solidFill>
                      <a:srgbClr val="F4F6F9"/>
                    </a:solidFill>
                  </a:tcPr>
                </a:tc>
                <a:tc>
                  <a:txBody>
                    <a:bodyPr/>
                    <a:lstStyle/>
                    <a:p>
                      <a:pPr algn="r"/>
                      <a:r>
                        <a:rPr sz="1200">
                          <a:solidFill>
                            <a:srgbClr val="111111"/>
                          </a:solidFill>
                          <a:latin typeface="Calibri"/>
                        </a:rPr>
                        <a:t>INR 1.96L Cr (+31% YoY)</a:t>
                      </a:r>
                    </a:p>
                  </a:txBody>
                  <a:tcPr marL="36576" marR="36576" marT="18288" marB="18288">
                    <a:solidFill>
                      <a:srgbClr val="F4F6F9"/>
                    </a:solidFill>
                  </a:tcPr>
                </a:tc>
                <a:tc>
                  <a:txBody>
                    <a:bodyPr/>
                    <a:lstStyle/>
                    <a:p>
                      <a:pPr algn="r"/>
                      <a:r>
                        <a:rPr sz="1200">
                          <a:solidFill>
                            <a:srgbClr val="111111"/>
                          </a:solidFill>
                          <a:latin typeface="Calibri"/>
                        </a:rPr>
                        <a:t>HNI/UHNI advisory. Family count up 41% YoY.</a:t>
                      </a:r>
                    </a:p>
                  </a:txBody>
                  <a:tcPr marL="36576" marR="36576" marT="18288" marB="18288">
                    <a:solidFill>
                      <a:srgbClr val="F4F6F9"/>
                    </a:solidFill>
                  </a:tcPr>
                </a:tc>
              </a:tr>
              <a:tr h="838200">
                <a:tc>
                  <a:txBody>
                    <a:bodyPr/>
                    <a:lstStyle/>
                    <a:p>
                      <a:r>
                        <a:rPr sz="1200" b="1">
                          <a:solidFill>
                            <a:srgbClr val="5A6573"/>
                          </a:solidFill>
                          <a:latin typeface="Calibri"/>
                        </a:rPr>
                        <a:t>Housing Finance</a:t>
                      </a:r>
                    </a:p>
                  </a:txBody>
                  <a:tcPr marL="36576" marR="36576" marT="18288" marB="18288">
                    <a:solidFill>
                      <a:srgbClr val="FFFFFF"/>
                    </a:solidFill>
                  </a:tcPr>
                </a:tc>
                <a:tc>
                  <a:txBody>
                    <a:bodyPr/>
                    <a:lstStyle/>
                    <a:p>
                      <a:pPr algn="r"/>
                      <a:r>
                        <a:rPr sz="1200">
                          <a:solidFill>
                            <a:srgbClr val="111111"/>
                          </a:solidFill>
                          <a:latin typeface="Calibri"/>
                        </a:rPr>
                        <a:t>Loan Book</a:t>
                      </a:r>
                    </a:p>
                  </a:txBody>
                  <a:tcPr marL="36576" marR="36576" marT="18288" marB="18288">
                    <a:solidFill>
                      <a:srgbClr val="FFFFFF"/>
                    </a:solidFill>
                  </a:tcPr>
                </a:tc>
                <a:tc>
                  <a:txBody>
                    <a:bodyPr/>
                    <a:lstStyle/>
                    <a:p>
                      <a:pPr algn="r"/>
                      <a:r>
                        <a:rPr sz="1200">
                          <a:solidFill>
                            <a:srgbClr val="111111"/>
                          </a:solidFill>
                          <a:latin typeface="Calibri"/>
                        </a:rPr>
                        <a:t>INR 6,630 Cr (+25% YoY)</a:t>
                      </a:r>
                    </a:p>
                  </a:txBody>
                  <a:tcPr marL="36576" marR="36576" marT="18288" marB="18288">
                    <a:solidFill>
                      <a:srgbClr val="FFFFFF"/>
                    </a:solidFill>
                  </a:tcPr>
                </a:tc>
                <a:tc>
                  <a:txBody>
                    <a:bodyPr/>
                    <a:lstStyle/>
                    <a:p>
                      <a:pPr algn="r"/>
                      <a:r>
                        <a:rPr sz="1200">
                          <a:solidFill>
                            <a:srgbClr val="111111"/>
                          </a:solidFill>
                          <a:latin typeface="Calibri"/>
                        </a:rPr>
                        <a:t>Retail mortgage lending — affordable and mid-segment.</a:t>
                      </a:r>
                    </a:p>
                  </a:txBody>
                  <a:tcPr marL="36576" marR="36576" marT="18288" marB="18288">
                    <a:solidFill>
                      <a:srgbClr val="FFFFFF"/>
                    </a:solidFill>
                  </a:tcPr>
                </a:tc>
              </a:tr>
              <a:tr h="838200">
                <a:tc>
                  <a:txBody>
                    <a:bodyPr/>
                    <a:lstStyle/>
                    <a:p>
                      <a:r>
                        <a:rPr sz="1200" b="1">
                          <a:solidFill>
                            <a:srgbClr val="5A6573"/>
                          </a:solidFill>
                          <a:latin typeface="Calibri"/>
                        </a:rPr>
                        <a:t>Alternative Investments</a:t>
                      </a:r>
                    </a:p>
                  </a:txBody>
                  <a:tcPr marL="36576" marR="36576" marT="18288" marB="18288">
                    <a:solidFill>
                      <a:srgbClr val="F4F6F9"/>
                    </a:solidFill>
                  </a:tcPr>
                </a:tc>
                <a:tc>
                  <a:txBody>
                    <a:bodyPr/>
                    <a:lstStyle/>
                    <a:p>
                      <a:pPr algn="r"/>
                      <a:r>
                        <a:rPr sz="1200">
                          <a:solidFill>
                            <a:srgbClr val="111111"/>
                          </a:solidFill>
                          <a:latin typeface="Calibri"/>
                        </a:rPr>
                        <a:t>Carry Income</a:t>
                      </a:r>
                    </a:p>
                  </a:txBody>
                  <a:tcPr marL="36576" marR="36576" marT="18288" marB="18288">
                    <a:solidFill>
                      <a:srgbClr val="F4F6F9"/>
                    </a:solidFill>
                  </a:tcPr>
                </a:tc>
                <a:tc>
                  <a:txBody>
                    <a:bodyPr/>
                    <a:lstStyle/>
                    <a:p>
                      <a:pPr algn="r"/>
                      <a:r>
                        <a:rPr sz="1200">
                          <a:solidFill>
                            <a:srgbClr val="111111"/>
                          </a:solidFill>
                          <a:latin typeface="Calibri"/>
                        </a:rPr>
                        <a:t>INR 58 Cr recurring</a:t>
                      </a:r>
                    </a:p>
                  </a:txBody>
                  <a:tcPr marL="36576" marR="36576" marT="18288" marB="18288">
                    <a:solidFill>
                      <a:srgbClr val="F4F6F9"/>
                    </a:solidFill>
                  </a:tcPr>
                </a:tc>
                <a:tc>
                  <a:txBody>
                    <a:bodyPr/>
                    <a:lstStyle/>
                    <a:p>
                      <a:pPr algn="r"/>
                      <a:r>
                        <a:rPr sz="1200">
                          <a:solidFill>
                            <a:srgbClr val="111111"/>
                          </a:solidFill>
                          <a:latin typeface="Calibri"/>
                        </a:rPr>
                        <a:t>Private credit, real estate, alternatives.</a:t>
                      </a:r>
                    </a:p>
                  </a:txBody>
                  <a:tcPr marL="36576" marR="36576" marT="18288" marB="18288">
                    <a:solidFill>
                      <a:srgbClr val="F4F6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Ratios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Ratios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9" name="Table 18"/>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000">
                          <a:solidFill>
                            <a:srgbClr val="FFFFFF"/>
                          </a:solidFill>
                          <a:latin typeface="Calibri"/>
                        </a:rPr>
                        <a:t>Ratio</a:t>
                      </a:r>
                    </a:p>
                  </a:txBody>
                  <a:tcPr marL="36576" marR="36576" marT="18288" marB="18288">
                    <a:solidFill>
                      <a:srgbClr val="1F4690"/>
                    </a:solidFill>
                  </a:tcPr>
                </a:tc>
                <a:tc>
                  <a:txBody>
                    <a:bodyPr/>
                    <a:lstStyle/>
                    <a:p>
                      <a:pPr algn="r"/>
                      <a:r>
                        <a:rPr b="1" sz="1000">
                          <a:solidFill>
                            <a:srgbClr val="FFFFFF"/>
                          </a:solidFill>
                          <a:latin typeface="Calibri"/>
                        </a:rPr>
                        <a:t>FY22A</a:t>
                      </a:r>
                    </a:p>
                  </a:txBody>
                  <a:tcPr marL="36576" marR="36576" marT="18288" marB="18288">
                    <a:solidFill>
                      <a:srgbClr val="1F4690"/>
                    </a:solidFill>
                  </a:tcPr>
                </a:tc>
                <a:tc>
                  <a:txBody>
                    <a:bodyPr/>
                    <a:lstStyle/>
                    <a:p>
                      <a:pPr algn="r"/>
                      <a:r>
                        <a:rPr b="1" sz="1000">
                          <a:solidFill>
                            <a:srgbClr val="FFFFFF"/>
                          </a:solidFill>
                          <a:latin typeface="Calibri"/>
                        </a:rPr>
                        <a:t>FY23A</a:t>
                      </a:r>
                    </a:p>
                  </a:txBody>
                  <a:tcPr marL="36576" marR="36576" marT="18288" marB="18288">
                    <a:solidFill>
                      <a:srgbClr val="1F4690"/>
                    </a:solidFill>
                  </a:tcPr>
                </a:tc>
                <a:tc>
                  <a:txBody>
                    <a:bodyPr/>
                    <a:lstStyle/>
                    <a:p>
                      <a:pPr algn="r"/>
                      <a:r>
                        <a:rPr b="1" sz="1000">
                          <a:solidFill>
                            <a:srgbClr val="FFFFFF"/>
                          </a:solidFill>
                          <a:latin typeface="Calibri"/>
                        </a:rPr>
                        <a:t>FY24A</a:t>
                      </a:r>
                    </a:p>
                  </a:txBody>
                  <a:tcPr marL="36576" marR="36576" marT="18288" marB="18288">
                    <a:solidFill>
                      <a:srgbClr val="1F4690"/>
                    </a:solidFill>
                  </a:tcPr>
                </a:tc>
                <a:tc>
                  <a:txBody>
                    <a:bodyPr/>
                    <a:lstStyle/>
                    <a:p>
                      <a:pPr algn="r"/>
                      <a:r>
                        <a:rPr b="1" sz="1000">
                          <a:solidFill>
                            <a:srgbClr val="FFFFFF"/>
                          </a:solidFill>
                          <a:latin typeface="Calibri"/>
                        </a:rPr>
                        <a:t>FY25A</a:t>
                      </a:r>
                    </a:p>
                  </a:txBody>
                  <a:tcPr marL="36576" marR="36576" marT="18288" marB="18288">
                    <a:solidFill>
                      <a:srgbClr val="1F4690"/>
                    </a:solidFill>
                  </a:tcPr>
                </a:tc>
                <a:tc>
                  <a:txBody>
                    <a:bodyPr/>
                    <a:lstStyle/>
                    <a:p>
                      <a:pPr algn="r"/>
                      <a:r>
                        <a:rPr b="1" sz="1000">
                          <a:solidFill>
                            <a:srgbClr val="FFFFFF"/>
                          </a:solidFill>
                          <a:latin typeface="Calibri"/>
                        </a:rPr>
                        <a:t>FY26E</a:t>
                      </a:r>
                    </a:p>
                  </a:txBody>
                  <a:tcPr marL="36576" marR="36576" marT="18288" marB="18288">
                    <a:solidFill>
                      <a:srgbClr val="1F4690"/>
                    </a:solidFill>
                  </a:tcPr>
                </a:tc>
                <a:tc>
                  <a:txBody>
                    <a:bodyPr/>
                    <a:lstStyle/>
                    <a:p>
                      <a:pPr algn="r"/>
                      <a:r>
                        <a:rPr b="1" sz="1000">
                          <a:solidFill>
                            <a:srgbClr val="FFFFFF"/>
                          </a:solidFill>
                          <a:latin typeface="Calibri"/>
                        </a:rPr>
                        <a:t>FY27E</a:t>
                      </a:r>
                    </a:p>
                  </a:txBody>
                  <a:tcPr marL="36576" marR="36576" marT="18288" marB="18288">
                    <a:solidFill>
                      <a:srgbClr val="1F4690"/>
                    </a:solidFill>
                  </a:tcPr>
                </a:tc>
                <a:tc>
                  <a:txBody>
                    <a:bodyPr/>
                    <a:lstStyle/>
                    <a:p>
                      <a:pPr algn="r"/>
                      <a:r>
                        <a:rPr b="1" sz="1000">
                          <a:solidFill>
                            <a:srgbClr val="FFFFFF"/>
                          </a:solidFill>
                          <a:latin typeface="Calibri"/>
                        </a:rPr>
                        <a:t>FY28E</a:t>
                      </a:r>
                    </a:p>
                  </a:txBody>
                  <a:tcPr marL="36576" marR="36576" marT="18288" marB="18288">
                    <a:solidFill>
                      <a:srgbClr val="1F4690"/>
                    </a:solidFill>
                  </a:tcPr>
                </a:tc>
              </a:tr>
              <a:tr h="472440">
                <a:tc>
                  <a:txBody>
                    <a:bodyPr/>
                    <a:lstStyle/>
                    <a:p>
                      <a:r>
                        <a:rPr sz="1000" b="1">
                          <a:solidFill>
                            <a:srgbClr val="1F4690"/>
                          </a:solidFill>
                          <a:latin typeface="Calibri"/>
                        </a:rPr>
                        <a:t>EBITDA Margin</a:t>
                      </a:r>
                    </a:p>
                  </a:txBody>
                  <a:tcPr marL="36576" marR="36576" marT="18288" marB="18288">
                    <a:solidFill>
                      <a:srgbClr val="FFF3E0"/>
                    </a:solidFill>
                  </a:tcPr>
                </a:tc>
                <a:tc>
                  <a:txBody>
                    <a:bodyPr/>
                    <a:lstStyle/>
                    <a:p>
                      <a:pPr algn="r"/>
                      <a:r>
                        <a:rPr sz="1000" b="1">
                          <a:solidFill>
                            <a:srgbClr val="1F4690"/>
                          </a:solidFill>
                          <a:latin typeface="Calibri"/>
                        </a:rPr>
                        <a:t>49.3%</a:t>
                      </a:r>
                    </a:p>
                  </a:txBody>
                  <a:tcPr marL="36576" marR="36576" marT="18288" marB="18288">
                    <a:solidFill>
                      <a:srgbClr val="FFF3E0"/>
                    </a:solidFill>
                  </a:tcPr>
                </a:tc>
                <a:tc>
                  <a:txBody>
                    <a:bodyPr/>
                    <a:lstStyle/>
                    <a:p>
                      <a:pPr algn="r"/>
                      <a:r>
                        <a:rPr sz="1000" b="1">
                          <a:solidFill>
                            <a:srgbClr val="1F4690"/>
                          </a:solidFill>
                          <a:latin typeface="Calibri"/>
                        </a:rPr>
                        <a:t>44.9%</a:t>
                      </a:r>
                    </a:p>
                  </a:txBody>
                  <a:tcPr marL="36576" marR="36576" marT="18288" marB="18288">
                    <a:solidFill>
                      <a:srgbClr val="FFF3E0"/>
                    </a:solidFill>
                  </a:tcPr>
                </a:tc>
                <a:tc>
                  <a:txBody>
                    <a:bodyPr/>
                    <a:lstStyle/>
                    <a:p>
                      <a:pPr algn="r"/>
                      <a:r>
                        <a:rPr sz="1000" b="1">
                          <a:solidFill>
                            <a:srgbClr val="1F4690"/>
                          </a:solidFill>
                          <a:latin typeface="Calibri"/>
                        </a:rPr>
                        <a:t>57.4%</a:t>
                      </a:r>
                    </a:p>
                  </a:txBody>
                  <a:tcPr marL="36576" marR="36576" marT="18288" marB="18288">
                    <a:solidFill>
                      <a:srgbClr val="FFF3E0"/>
                    </a:solidFill>
                  </a:tcPr>
                </a:tc>
                <a:tc>
                  <a:txBody>
                    <a:bodyPr/>
                    <a:lstStyle/>
                    <a:p>
                      <a:pPr algn="r"/>
                      <a:r>
                        <a:rPr sz="1000" b="1">
                          <a:solidFill>
                            <a:srgbClr val="1F4690"/>
                          </a:solidFill>
                          <a:latin typeface="Calibri"/>
                        </a:rPr>
                        <a:t>54.5%</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r>
              <a:tr h="472440">
                <a:tc>
                  <a:txBody>
                    <a:bodyPr/>
                    <a:lstStyle/>
                    <a:p>
                      <a:r>
                        <a:rPr sz="1000" b="1">
                          <a:solidFill>
                            <a:srgbClr val="1F4690"/>
                          </a:solidFill>
                          <a:latin typeface="Calibri"/>
                        </a:rPr>
                        <a:t>PAT Margin</a:t>
                      </a:r>
                    </a:p>
                  </a:txBody>
                  <a:tcPr marL="36576" marR="36576" marT="18288" marB="18288">
                    <a:solidFill>
                      <a:srgbClr val="FFF3E0"/>
                    </a:solidFill>
                  </a:tcPr>
                </a:tc>
                <a:tc>
                  <a:txBody>
                    <a:bodyPr/>
                    <a:lstStyle/>
                    <a:p>
                      <a:pPr algn="r"/>
                      <a:r>
                        <a:rPr sz="1000" b="1">
                          <a:solidFill>
                            <a:srgbClr val="1F4690"/>
                          </a:solidFill>
                          <a:latin typeface="Calibri"/>
                        </a:rPr>
                        <a:t>30.5%</a:t>
                      </a:r>
                    </a:p>
                  </a:txBody>
                  <a:tcPr marL="36576" marR="36576" marT="18288" marB="18288">
                    <a:solidFill>
                      <a:srgbClr val="FFF3E0"/>
                    </a:solidFill>
                  </a:tcPr>
                </a:tc>
                <a:tc>
                  <a:txBody>
                    <a:bodyPr/>
                    <a:lstStyle/>
                    <a:p>
                      <a:pPr algn="r"/>
                      <a:r>
                        <a:rPr sz="1000" b="1">
                          <a:solidFill>
                            <a:srgbClr val="1F4690"/>
                          </a:solidFill>
                          <a:latin typeface="Calibri"/>
                        </a:rPr>
                        <a:t>22.3%</a:t>
                      </a:r>
                    </a:p>
                  </a:txBody>
                  <a:tcPr marL="36576" marR="36576" marT="18288" marB="18288">
                    <a:solidFill>
                      <a:srgbClr val="FFF3E0"/>
                    </a:solidFill>
                  </a:tcPr>
                </a:tc>
                <a:tc>
                  <a:txBody>
                    <a:bodyPr/>
                    <a:lstStyle/>
                    <a:p>
                      <a:pPr algn="r"/>
                      <a:r>
                        <a:rPr sz="1000" b="1">
                          <a:solidFill>
                            <a:srgbClr val="1F4690"/>
                          </a:solidFill>
                          <a:latin typeface="Calibri"/>
                        </a:rPr>
                        <a:t>34.4%</a:t>
                      </a:r>
                    </a:p>
                  </a:txBody>
                  <a:tcPr marL="36576" marR="36576" marT="18288" marB="18288">
                    <a:solidFill>
                      <a:srgbClr val="FFF3E0"/>
                    </a:solidFill>
                  </a:tcPr>
                </a:tc>
                <a:tc>
                  <a:txBody>
                    <a:bodyPr/>
                    <a:lstStyle/>
                    <a:p>
                      <a:pPr algn="r"/>
                      <a:r>
                        <a:rPr sz="1000" b="1">
                          <a:solidFill>
                            <a:srgbClr val="1F4690"/>
                          </a:solidFill>
                          <a:latin typeface="Calibri"/>
                        </a:rPr>
                        <a:t>30.0%</a:t>
                      </a:r>
                    </a:p>
                  </a:txBody>
                  <a:tcPr marL="36576" marR="36576" marT="18288" marB="18288">
                    <a:solidFill>
                      <a:srgbClr val="FFF3E0"/>
                    </a:solidFill>
                  </a:tcPr>
                </a:tc>
                <a:tc>
                  <a:txBody>
                    <a:bodyPr/>
                    <a:lstStyle/>
                    <a:p>
                      <a:pPr algn="r"/>
                      <a:r>
                        <a:rPr sz="1000" b="1">
                          <a:solidFill>
                            <a:srgbClr val="1F4690"/>
                          </a:solidFill>
                          <a:latin typeface="Calibri"/>
                        </a:rPr>
                        <a:t>29.5%</a:t>
                      </a:r>
                    </a:p>
                  </a:txBody>
                  <a:tcPr marL="36576" marR="36576" marT="18288" marB="18288">
                    <a:solidFill>
                      <a:srgbClr val="FFF3E0"/>
                    </a:solidFill>
                  </a:tcPr>
                </a:tc>
                <a:tc>
                  <a:txBody>
                    <a:bodyPr/>
                    <a:lstStyle/>
                    <a:p>
                      <a:pPr algn="r"/>
                      <a:r>
                        <a:rPr sz="1000" b="1">
                          <a:solidFill>
                            <a:srgbClr val="1F4690"/>
                          </a:solidFill>
                          <a:latin typeface="Calibri"/>
                        </a:rPr>
                        <a:t>30.7%</a:t>
                      </a:r>
                    </a:p>
                  </a:txBody>
                  <a:tcPr marL="36576" marR="36576" marT="18288" marB="18288">
                    <a:solidFill>
                      <a:srgbClr val="FFF3E0"/>
                    </a:solidFill>
                  </a:tcPr>
                </a:tc>
                <a:tc>
                  <a:txBody>
                    <a:bodyPr/>
                    <a:lstStyle/>
                    <a:p>
                      <a:pPr algn="r"/>
                      <a:r>
                        <a:rPr sz="1000" b="1">
                          <a:solidFill>
                            <a:srgbClr val="1F4690"/>
                          </a:solidFill>
                          <a:latin typeface="Calibri"/>
                        </a:rPr>
                        <a:t>31.7%</a:t>
                      </a:r>
                    </a:p>
                  </a:txBody>
                  <a:tcPr marL="36576" marR="36576" marT="18288" marB="18288">
                    <a:solidFill>
                      <a:srgbClr val="FFF3E0"/>
                    </a:solidFill>
                  </a:tcPr>
                </a:tc>
              </a:tr>
              <a:tr h="472440">
                <a:tc>
                  <a:txBody>
                    <a:bodyPr/>
                    <a:lstStyle/>
                    <a:p>
                      <a:r>
                        <a:rPr sz="1000" b="1">
                          <a:solidFill>
                            <a:srgbClr val="5A6573"/>
                          </a:solidFill>
                          <a:latin typeface="Calibri"/>
                        </a:rPr>
                        <a:t>RoE</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15.0%</a:t>
                      </a:r>
                    </a:p>
                  </a:txBody>
                  <a:tcPr marL="36576" marR="36576" marT="18288" marB="18288">
                    <a:solidFill>
                      <a:srgbClr val="F4F6F9"/>
                    </a:solidFill>
                  </a:tcPr>
                </a:tc>
                <a:tc>
                  <a:txBody>
                    <a:bodyPr/>
                    <a:lstStyle/>
                    <a:p>
                      <a:pPr algn="r"/>
                      <a:r>
                        <a:rPr sz="1000" b="1">
                          <a:solidFill>
                            <a:srgbClr val="1A7A4A"/>
                          </a:solidFill>
                          <a:latin typeface="Calibri"/>
                        </a:rPr>
                        <a:t>28.0%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22.0%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RoCE</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13.0%</a:t>
                      </a:r>
                    </a:p>
                  </a:txBody>
                  <a:tcPr marL="36576" marR="36576" marT="18288" marB="18288">
                    <a:solidFill>
                      <a:srgbClr val="FFFFFF"/>
                    </a:solidFill>
                  </a:tcPr>
                </a:tc>
                <a:tc>
                  <a:txBody>
                    <a:bodyPr/>
                    <a:lstStyle/>
                    <a:p>
                      <a:pPr algn="r"/>
                      <a:r>
                        <a:rPr sz="1000" b="1">
                          <a:solidFill>
                            <a:srgbClr val="1A7A4A"/>
                          </a:solidFill>
                          <a:latin typeface="Calibri"/>
                        </a:rPr>
                        <a:t>21.0%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r>
              <a:tr h="472440">
                <a:tc>
                  <a:txBody>
                    <a:bodyPr/>
                    <a:lstStyle/>
                    <a:p>
                      <a:r>
                        <a:rPr sz="1000" b="1">
                          <a:solidFill>
                            <a:srgbClr val="5A6573"/>
                          </a:solidFill>
                          <a:latin typeface="Calibri"/>
                        </a:rPr>
                        <a:t>RoIC</a:t>
                      </a:r>
                    </a:p>
                  </a:txBody>
                  <a:tcPr marL="36576" marR="36576" marT="18288" marB="18288">
                    <a:solidFill>
                      <a:srgbClr val="F4F6F9"/>
                    </a:solidFill>
                  </a:tcPr>
                </a:tc>
                <a:tc>
                  <a:txBody>
                    <a:bodyPr/>
                    <a:lstStyle/>
                    <a:p>
                      <a:pPr algn="r"/>
                      <a:r>
                        <a:rPr sz="1000" b="1">
                          <a:solidFill>
                            <a:srgbClr val="1A7A4A"/>
                          </a:solidFill>
                          <a:latin typeface="Calibri"/>
                        </a:rPr>
                        <a:t>92.0%</a:t>
                      </a:r>
                    </a:p>
                  </a:txBody>
                  <a:tcPr marL="36576" marR="36576" marT="18288" marB="18288">
                    <a:solidFill>
                      <a:srgbClr val="F4F6F9"/>
                    </a:solidFill>
                  </a:tcPr>
                </a:tc>
                <a:tc>
                  <a:txBody>
                    <a:bodyPr/>
                    <a:lstStyle/>
                    <a:p>
                      <a:pPr algn="r"/>
                      <a:r>
                        <a:rPr sz="1000" b="1">
                          <a:solidFill>
                            <a:srgbClr val="1A7A4A"/>
                          </a:solidFill>
                          <a:latin typeface="Calibri"/>
                        </a:rPr>
                        <a:t>78.0%</a:t>
                      </a:r>
                    </a:p>
                  </a:txBody>
                  <a:tcPr marL="36576" marR="36576" marT="18288" marB="18288">
                    <a:solidFill>
                      <a:srgbClr val="F4F6F9"/>
                    </a:solidFill>
                  </a:tcPr>
                </a:tc>
                <a:tc>
                  <a:txBody>
                    <a:bodyPr/>
                    <a:lstStyle/>
                    <a:p>
                      <a:pPr algn="r"/>
                      <a:r>
                        <a:rPr sz="1000" b="1">
                          <a:solidFill>
                            <a:srgbClr val="1A7A4A"/>
                          </a:solidFill>
                          <a:latin typeface="Calibri"/>
                        </a:rPr>
                        <a:t>119.0%</a:t>
                      </a:r>
                    </a:p>
                  </a:txBody>
                  <a:tcPr marL="36576" marR="36576" marT="18288" marB="18288">
                    <a:solidFill>
                      <a:srgbClr val="F4F6F9"/>
                    </a:solidFill>
                  </a:tcPr>
                </a:tc>
                <a:tc>
                  <a:txBody>
                    <a:bodyPr/>
                    <a:lstStyle/>
                    <a:p>
                      <a:pPr algn="r"/>
                      <a:r>
                        <a:rPr sz="1000" b="1">
                          <a:solidFill>
                            <a:srgbClr val="1A7A4A"/>
                          </a:solidFill>
                          <a:latin typeface="Calibri"/>
                        </a:rPr>
                        <a:t>87.0%</a:t>
                      </a:r>
                    </a:p>
                  </a:txBody>
                  <a:tcPr marL="36576" marR="36576" marT="18288" marB="18288">
                    <a:solidFill>
                      <a:srgbClr val="F4F6F9"/>
                    </a:solidFill>
                  </a:tcPr>
                </a:tc>
                <a:tc>
                  <a:txBody>
                    <a:bodyPr/>
                    <a:lstStyle/>
                    <a:p>
                      <a:pPr algn="r"/>
                      <a:r>
                        <a:rPr sz="1000" b="1">
                          <a:solidFill>
                            <a:srgbClr val="1A7A4A"/>
                          </a:solidFill>
                          <a:latin typeface="Calibri"/>
                        </a:rPr>
                        <a:t>35.0%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P/E</a:t>
                      </a:r>
                    </a:p>
                  </a:txBody>
                  <a:tcPr marL="36576" marR="36576" marT="18288" marB="18288">
                    <a:solidFill>
                      <a:srgbClr val="FFFFFF"/>
                    </a:solidFill>
                  </a:tcPr>
                </a:tc>
                <a:tc>
                  <a:txBody>
                    <a:bodyPr/>
                    <a:lstStyle/>
                    <a:p>
                      <a:pPr algn="r"/>
                      <a:r>
                        <a:rPr sz="1000">
                          <a:solidFill>
                            <a:srgbClr val="111111"/>
                          </a:solidFill>
                          <a:latin typeface="Calibri"/>
                        </a:rPr>
                        <a:t>37.5x</a:t>
                      </a:r>
                    </a:p>
                  </a:txBody>
                  <a:tcPr marL="36576" marR="36576" marT="18288" marB="18288">
                    <a:solidFill>
                      <a:srgbClr val="FFFFFF"/>
                    </a:solidFill>
                  </a:tcPr>
                </a:tc>
                <a:tc>
                  <a:txBody>
                    <a:bodyPr/>
                    <a:lstStyle/>
                    <a:p>
                      <a:pPr algn="r"/>
                      <a:r>
                        <a:rPr sz="1000">
                          <a:solidFill>
                            <a:srgbClr val="111111"/>
                          </a:solidFill>
                          <a:latin typeface="Calibri"/>
                        </a:rPr>
                        <a:t>52.3x</a:t>
                      </a:r>
                    </a:p>
                  </a:txBody>
                  <a:tcPr marL="36576" marR="36576" marT="18288" marB="18288">
                    <a:solidFill>
                      <a:srgbClr val="FFFFFF"/>
                    </a:solidFill>
                  </a:tcPr>
                </a:tc>
                <a:tc>
                  <a:txBody>
                    <a:bodyPr/>
                    <a:lstStyle/>
                    <a:p>
                      <a:pPr algn="r"/>
                      <a:r>
                        <a:rPr sz="1000">
                          <a:solidFill>
                            <a:srgbClr val="111111"/>
                          </a:solidFill>
                          <a:latin typeface="Calibri"/>
                        </a:rPr>
                        <a:t>20.1x</a:t>
                      </a:r>
                    </a:p>
                  </a:txBody>
                  <a:tcPr marL="36576" marR="36576" marT="18288" marB="18288">
                    <a:solidFill>
                      <a:srgbClr val="FFFFFF"/>
                    </a:solidFill>
                  </a:tcPr>
                </a:tc>
                <a:tc>
                  <a:txBody>
                    <a:bodyPr/>
                    <a:lstStyle/>
                    <a:p>
                      <a:pPr algn="r"/>
                      <a:r>
                        <a:rPr sz="1000">
                          <a:solidFill>
                            <a:srgbClr val="111111"/>
                          </a:solidFill>
                          <a:latin typeface="Calibri"/>
                        </a:rPr>
                        <a:t>19.7x</a:t>
                      </a:r>
                    </a:p>
                  </a:txBody>
                  <a:tcPr marL="36576" marR="36576" marT="18288" marB="18288">
                    <a:solidFill>
                      <a:srgbClr val="FFFFFF"/>
                    </a:solidFill>
                  </a:tcPr>
                </a:tc>
                <a:tc>
                  <a:txBody>
                    <a:bodyPr/>
                    <a:lstStyle/>
                    <a:p>
                      <a:pPr algn="r"/>
                      <a:r>
                        <a:rPr sz="1000">
                          <a:solidFill>
                            <a:srgbClr val="111111"/>
                          </a:solidFill>
                          <a:latin typeface="Calibri"/>
                        </a:rPr>
                        <a:t>16.1x</a:t>
                      </a:r>
                    </a:p>
                  </a:txBody>
                  <a:tcPr marL="36576" marR="36576" marT="18288" marB="18288">
                    <a:solidFill>
                      <a:srgbClr val="FFFFFF"/>
                    </a:solidFill>
                  </a:tcPr>
                </a:tc>
                <a:tc>
                  <a:txBody>
                    <a:bodyPr/>
                    <a:lstStyle/>
                    <a:p>
                      <a:pPr algn="r"/>
                      <a:r>
                        <a:rPr sz="1000">
                          <a:solidFill>
                            <a:srgbClr val="111111"/>
                          </a:solidFill>
                          <a:latin typeface="Calibri"/>
                        </a:rPr>
                        <a:t>12.4x</a:t>
                      </a:r>
                    </a:p>
                  </a:txBody>
                  <a:tcPr marL="36576" marR="36576" marT="18288" marB="18288">
                    <a:solidFill>
                      <a:srgbClr val="FFFFFF"/>
                    </a:solidFill>
                  </a:tcPr>
                </a:tc>
                <a:tc>
                  <a:txBody>
                    <a:bodyPr/>
                    <a:lstStyle/>
                    <a:p>
                      <a:pPr algn="r"/>
                      <a:r>
                        <a:rPr sz="1000">
                          <a:solidFill>
                            <a:srgbClr val="111111"/>
                          </a:solidFill>
                          <a:latin typeface="Calibri"/>
                        </a:rPr>
                        <a:t>9.6x</a:t>
                      </a:r>
                    </a:p>
                  </a:txBody>
                  <a:tcPr marL="36576" marR="36576" marT="18288" marB="18288">
                    <a:solidFill>
                      <a:srgbClr val="FFFFFF"/>
                    </a:solidFill>
                  </a:tcPr>
                </a:tc>
              </a:tr>
              <a:tr h="472440">
                <a:tc>
                  <a:txBody>
                    <a:bodyPr/>
                    <a:lstStyle/>
                    <a:p>
                      <a:r>
                        <a:rPr sz="1000" b="1">
                          <a:solidFill>
                            <a:srgbClr val="5A6573"/>
                          </a:solidFill>
                          <a:latin typeface="Calibri"/>
                        </a:rPr>
                        <a:t>P/B</a:t>
                      </a:r>
                    </a:p>
                  </a:txBody>
                  <a:tcPr marL="36576" marR="36576" marT="18288" marB="18288">
                    <a:solidFill>
                      <a:srgbClr val="F4F6F9"/>
                    </a:solidFill>
                  </a:tcPr>
                </a:tc>
                <a:tc>
                  <a:txBody>
                    <a:bodyPr/>
                    <a:lstStyle/>
                    <a:p>
                      <a:pPr algn="r"/>
                      <a:r>
                        <a:rPr sz="1000">
                          <a:solidFill>
                            <a:srgbClr val="111111"/>
                          </a:solidFill>
                          <a:latin typeface="Calibri"/>
                        </a:rPr>
                        <a:t>8.7x</a:t>
                      </a:r>
                    </a:p>
                  </a:txBody>
                  <a:tcPr marL="36576" marR="36576" marT="18288" marB="18288">
                    <a:solidFill>
                      <a:srgbClr val="F4F6F9"/>
                    </a:solidFill>
                  </a:tcPr>
                </a:tc>
                <a:tc>
                  <a:txBody>
                    <a:bodyPr/>
                    <a:lstStyle/>
                    <a:p>
                      <a:pPr algn="r"/>
                      <a:r>
                        <a:rPr sz="1000">
                          <a:solidFill>
                            <a:srgbClr val="111111"/>
                          </a:solidFill>
                          <a:latin typeface="Calibri"/>
                        </a:rPr>
                        <a:t>7.8x</a:t>
                      </a:r>
                    </a:p>
                  </a:txBody>
                  <a:tcPr marL="36576" marR="36576" marT="18288" marB="18288">
                    <a:solidFill>
                      <a:srgbClr val="F4F6F9"/>
                    </a:solidFill>
                  </a:tcPr>
                </a:tc>
                <a:tc>
                  <a:txBody>
                    <a:bodyPr/>
                    <a:lstStyle/>
                    <a:p>
                      <a:pPr algn="r"/>
                      <a:r>
                        <a:rPr sz="1000">
                          <a:solidFill>
                            <a:srgbClr val="111111"/>
                          </a:solidFill>
                          <a:latin typeface="Calibri"/>
                        </a:rPr>
                        <a:t>5.6x</a:t>
                      </a:r>
                    </a:p>
                  </a:txBody>
                  <a:tcPr marL="36576" marR="36576" marT="18288" marB="18288">
                    <a:solidFill>
                      <a:srgbClr val="F4F6F9"/>
                    </a:solidFill>
                  </a:tcPr>
                </a:tc>
                <a:tc>
                  <a:txBody>
                    <a:bodyPr/>
                    <a:lstStyle/>
                    <a:p>
                      <a:pPr algn="r"/>
                      <a:r>
                        <a:rPr sz="1000">
                          <a:solidFill>
                            <a:srgbClr val="111111"/>
                          </a:solidFill>
                          <a:latin typeface="Calibri"/>
                        </a:rPr>
                        <a:t>4.5x</a:t>
                      </a:r>
                    </a:p>
                  </a:txBody>
                  <a:tcPr marL="36576" marR="36576" marT="18288" marB="18288">
                    <a:solidFill>
                      <a:srgbClr val="F4F6F9"/>
                    </a:solidFill>
                  </a:tcPr>
                </a:tc>
                <a:tc>
                  <a:txBody>
                    <a:bodyPr/>
                    <a:lstStyle/>
                    <a:p>
                      <a:pPr algn="r"/>
                      <a:r>
                        <a:rPr sz="1000">
                          <a:solidFill>
                            <a:srgbClr val="111111"/>
                          </a:solidFill>
                          <a:latin typeface="Calibri"/>
                        </a:rPr>
                        <a:t>3.6x</a:t>
                      </a:r>
                    </a:p>
                  </a:txBody>
                  <a:tcPr marL="36576" marR="36576" marT="18288" marB="18288">
                    <a:solidFill>
                      <a:srgbClr val="F4F6F9"/>
                    </a:solidFill>
                  </a:tcPr>
                </a:tc>
                <a:tc>
                  <a:txBody>
                    <a:bodyPr/>
                    <a:lstStyle/>
                    <a:p>
                      <a:pPr algn="r"/>
                      <a:r>
                        <a:rPr sz="1000">
                          <a:solidFill>
                            <a:srgbClr val="111111"/>
                          </a:solidFill>
                          <a:latin typeface="Calibri"/>
                        </a:rPr>
                        <a:t>2.9x</a:t>
                      </a:r>
                    </a:p>
                  </a:txBody>
                  <a:tcPr marL="36576" marR="36576" marT="18288" marB="18288">
                    <a:solidFill>
                      <a:srgbClr val="F4F6F9"/>
                    </a:solidFill>
                  </a:tcPr>
                </a:tc>
                <a:tc>
                  <a:txBody>
                    <a:bodyPr/>
                    <a:lstStyle/>
                    <a:p>
                      <a:pPr algn="r"/>
                      <a:r>
                        <a:rPr sz="1000">
                          <a:solidFill>
                            <a:srgbClr val="111111"/>
                          </a:solidFill>
                          <a:latin typeface="Calibri"/>
                        </a:rPr>
                        <a:t>2.3x</a:t>
                      </a:r>
                    </a:p>
                  </a:txBody>
                  <a:tcPr marL="36576" marR="36576" marT="18288" marB="18288">
                    <a:solidFill>
                      <a:srgbClr val="F4F6F9"/>
                    </a:solidFill>
                  </a:tcPr>
                </a:tc>
              </a:tr>
              <a:tr h="472440">
                <a:tc>
                  <a:txBody>
                    <a:bodyPr/>
                    <a:lstStyle/>
                    <a:p>
                      <a:r>
                        <a:rPr sz="1000" b="1">
                          <a:solidFill>
                            <a:srgbClr val="1F4690"/>
                          </a:solidFill>
                          <a:latin typeface="Calibri"/>
                        </a:rPr>
                        <a:t>EV/EBITDA</a:t>
                      </a:r>
                    </a:p>
                  </a:txBody>
                  <a:tcPr marL="36576" marR="36576" marT="18288" marB="18288">
                    <a:solidFill>
                      <a:srgbClr val="FFF3E0"/>
                    </a:solidFill>
                  </a:tcPr>
                </a:tc>
                <a:tc>
                  <a:txBody>
                    <a:bodyPr/>
                    <a:lstStyle/>
                    <a:p>
                      <a:pPr algn="r"/>
                      <a:r>
                        <a:rPr sz="1000" b="1">
                          <a:solidFill>
                            <a:srgbClr val="1F4690"/>
                          </a:solidFill>
                          <a:latin typeface="Calibri"/>
                        </a:rPr>
                        <a:t>9.0x</a:t>
                      </a:r>
                    </a:p>
                  </a:txBody>
                  <a:tcPr marL="36576" marR="36576" marT="18288" marB="18288">
                    <a:solidFill>
                      <a:srgbClr val="FFF3E0"/>
                    </a:solidFill>
                  </a:tcPr>
                </a:tc>
                <a:tc>
                  <a:txBody>
                    <a:bodyPr/>
                    <a:lstStyle/>
                    <a:p>
                      <a:pPr algn="r"/>
                      <a:r>
                        <a:rPr sz="1000" b="1">
                          <a:solidFill>
                            <a:srgbClr val="1F4690"/>
                          </a:solidFill>
                          <a:latin typeface="Calibri"/>
                        </a:rPr>
                        <a:t>10.3x</a:t>
                      </a:r>
                    </a:p>
                  </a:txBody>
                  <a:tcPr marL="36576" marR="36576" marT="18288" marB="18288">
                    <a:solidFill>
                      <a:srgbClr val="FFF3E0"/>
                    </a:solidFill>
                  </a:tcPr>
                </a:tc>
                <a:tc>
                  <a:txBody>
                    <a:bodyPr/>
                    <a:lstStyle/>
                    <a:p>
                      <a:pPr algn="r"/>
                      <a:r>
                        <a:rPr sz="1000" b="1">
                          <a:solidFill>
                            <a:srgbClr val="1F4690"/>
                          </a:solidFill>
                          <a:latin typeface="Calibri"/>
                        </a:rPr>
                        <a:t>9.5x</a:t>
                      </a:r>
                    </a:p>
                  </a:txBody>
                  <a:tcPr marL="36576" marR="36576" marT="18288" marB="18288">
                    <a:solidFill>
                      <a:srgbClr val="FFF3E0"/>
                    </a:solidFill>
                  </a:tcPr>
                </a:tc>
                <a:tc>
                  <a:txBody>
                    <a:bodyPr/>
                    <a:lstStyle/>
                    <a:p>
                      <a:pPr algn="r"/>
                      <a:r>
                        <a:rPr sz="1000" b="1">
                          <a:solidFill>
                            <a:srgbClr val="1F4690"/>
                          </a:solidFill>
                          <a:latin typeface="Calibri"/>
                        </a:rPr>
                        <a:t>11.4x</a:t>
                      </a:r>
                    </a:p>
                  </a:txBody>
                  <a:tcPr marL="36576" marR="36576" marT="18288" marB="18288">
                    <a:solidFill>
                      <a:srgbClr val="FFF3E0"/>
                    </a:solidFill>
                  </a:tcPr>
                </a:tc>
                <a:tc>
                  <a:txBody>
                    <a:bodyPr/>
                    <a:lstStyle/>
                    <a:p>
                      <a:pPr algn="r"/>
                      <a:r>
                        <a:rPr sz="1000" b="1">
                          <a:solidFill>
                            <a:srgbClr val="1F4690"/>
                          </a:solidFill>
                          <a:latin typeface="Calibri"/>
                        </a:rPr>
                        <a:t>12.7x</a:t>
                      </a:r>
                    </a:p>
                  </a:txBody>
                  <a:tcPr marL="36576" marR="36576" marT="18288" marB="18288">
                    <a:solidFill>
                      <a:srgbClr val="FFF3E0"/>
                    </a:solidFill>
                  </a:tcPr>
                </a:tc>
                <a:tc>
                  <a:txBody>
                    <a:bodyPr/>
                    <a:lstStyle/>
                    <a:p>
                      <a:pPr algn="r"/>
                      <a:r>
                        <a:rPr sz="1000" b="1">
                          <a:solidFill>
                            <a:srgbClr val="1F4690"/>
                          </a:solidFill>
                          <a:latin typeface="Calibri"/>
                        </a:rPr>
                        <a:t>10.5x</a:t>
                      </a:r>
                    </a:p>
                  </a:txBody>
                  <a:tcPr marL="36576" marR="36576" marT="18288" marB="18288">
                    <a:solidFill>
                      <a:srgbClr val="FFF3E0"/>
                    </a:solidFill>
                  </a:tcPr>
                </a:tc>
                <a:tc>
                  <a:txBody>
                    <a:bodyPr/>
                    <a:lstStyle/>
                    <a:p>
                      <a:pPr algn="r"/>
                      <a:r>
                        <a:rPr sz="1000" b="1">
                          <a:solidFill>
                            <a:srgbClr val="1F4690"/>
                          </a:solidFill>
                          <a:latin typeface="Calibri"/>
                        </a:rPr>
                        <a:t>8.8x</a:t>
                      </a:r>
                    </a:p>
                  </a:txBody>
                  <a:tcPr marL="36576" marR="36576" marT="18288" marB="18288">
                    <a:solidFill>
                      <a:srgbClr val="FFF3E0"/>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 — Methods Summary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 — Methods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9" name="Table 18"/>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Target</a:t>
                      </a:r>
                    </a:p>
                  </a:txBody>
                  <a:tcPr marL="36576" marR="36576" marT="18288" marB="18288">
                    <a:solidFill>
                      <a:srgbClr val="1F4690"/>
                    </a:solidFill>
                  </a:tcPr>
                </a:tc>
                <a:tc>
                  <a:txBody>
                    <a:bodyPr/>
                    <a:lstStyle/>
                    <a:p>
                      <a:pPr algn="r"/>
                      <a:r>
                        <a:rPr b="1" sz="1200">
                          <a:solidFill>
                            <a:srgbClr val="FFFFFF"/>
                          </a:solidFill>
                          <a:latin typeface="Calibri"/>
                        </a:rPr>
                        <a:t>Weight</a:t>
                      </a:r>
                    </a:p>
                  </a:txBody>
                  <a:tcPr marL="36576" marR="36576" marT="18288" marB="18288">
                    <a:solidFill>
                      <a:srgbClr val="1F4690"/>
                    </a:solidFill>
                  </a:tcPr>
                </a:tc>
                <a:tc>
                  <a:txBody>
                    <a:bodyPr/>
                    <a:lstStyle/>
                    <a:p>
                      <a:pPr algn="r"/>
                      <a:r>
                        <a:rPr b="1" sz="1200">
                          <a:solidFill>
                            <a:srgbClr val="FFFFFF"/>
                          </a:solidFill>
                          <a:latin typeface="Calibri"/>
                        </a:rPr>
                        <a:t>Basis</a:t>
                      </a:r>
                    </a:p>
                  </a:txBody>
                  <a:tcPr marL="36576" marR="36576" marT="18288" marB="18288">
                    <a:solidFill>
                      <a:srgbClr val="1F4690"/>
                    </a:solidFill>
                  </a:tcPr>
                </a:tc>
              </a:tr>
              <a:tr h="777240">
                <a:tc>
                  <a:txBody>
                    <a:bodyPr/>
                    <a:lstStyle/>
                    <a:p>
                      <a:r>
                        <a:rPr sz="1200" b="1">
                          <a:solidFill>
                            <a:srgbClr val="5A6573"/>
                          </a:solidFill>
                          <a:latin typeface="Calibri"/>
                        </a:rPr>
                        <a:t>Bull Case</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b="1">
                          <a:solidFill>
                            <a:srgbClr val="1A7A4A"/>
                          </a:solidFill>
                          <a:latin typeface="Calibri"/>
                        </a:rPr>
                        <a:t>28x P/E on FY27E EPS of INR 50; ARR &gt; 70%, AMC +40% YoY.</a:t>
                      </a:r>
                    </a:p>
                  </a:txBody>
                  <a:tcPr marL="36576" marR="36576" marT="18288" marB="18288">
                    <a:solidFill>
                      <a:srgbClr val="F4F6F9"/>
                    </a:solidFill>
                  </a:tcPr>
                </a:tc>
              </a:tr>
              <a:tr h="777240">
                <a:tc>
                  <a:txBody>
                    <a:bodyPr/>
                    <a:lstStyle/>
                    <a:p>
                      <a:r>
                        <a:rPr sz="1200" b="1">
                          <a:solidFill>
                            <a:srgbClr val="5A6573"/>
                          </a:solidFill>
                          <a:latin typeface="Calibri"/>
                        </a:rPr>
                        <a:t>Base Case</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b="1">
                          <a:solidFill>
                            <a:srgbClr val="1A7A4A"/>
                          </a:solidFill>
                          <a:latin typeface="Calibri"/>
                        </a:rPr>
                        <a:t>24x P/E on FY27E EPS of INR 47; ARR stable at 65%, steady AUM.</a:t>
                      </a:r>
                    </a:p>
                  </a:txBody>
                  <a:tcPr marL="36576" marR="36576" marT="18288" marB="18288">
                    <a:solidFill>
                      <a:srgbClr val="FFFFFF"/>
                    </a:solidFill>
                  </a:tcPr>
                </a:tc>
              </a:tr>
              <a:tr h="777240">
                <a:tc>
                  <a:txBody>
                    <a:bodyPr/>
                    <a:lstStyle/>
                    <a:p>
                      <a:r>
                        <a:rPr sz="1200" b="1">
                          <a:solidFill>
                            <a:srgbClr val="5A6573"/>
                          </a:solidFill>
                          <a:latin typeface="Calibri"/>
                        </a:rPr>
                        <a:t>Bear Case</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18x P/E on depressed FY27E EPS of INR 35; sustained regulatory headwinds.</a:t>
                      </a:r>
                    </a:p>
                  </a:txBody>
                  <a:tcPr marL="36576" marR="36576"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49"/>
              </a:tblGrid>
              <a:tr h="125730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Rev CAGR</a:t>
                      </a:r>
                    </a:p>
                  </a:txBody>
                  <a:tcPr marL="36576" marR="36576" marT="18288" marB="18288">
                    <a:solidFill>
                      <a:srgbClr val="1F4690"/>
                    </a:solidFill>
                  </a:tcPr>
                </a:tc>
                <a:tc>
                  <a:txBody>
                    <a:bodyPr/>
                    <a:lstStyle/>
                    <a:p>
                      <a:pPr algn="r"/>
                      <a:r>
                        <a:rPr b="1" sz="1200">
                          <a:solidFill>
                            <a:srgbClr val="FFFFFF"/>
                          </a:solidFill>
                          <a:latin typeface="Calibri"/>
                        </a:rPr>
                        <a:t>EBITDA Mgn</a:t>
                      </a:r>
                    </a:p>
                  </a:txBody>
                  <a:tcPr marL="36576" marR="36576" marT="18288" marB="18288">
                    <a:solidFill>
                      <a:srgbClr val="1F4690"/>
                    </a:solidFill>
                  </a:tcPr>
                </a:tc>
                <a:tc>
                  <a:txBody>
                    <a:bodyPr/>
                    <a:lstStyle/>
                    <a:p>
                      <a:pPr algn="r"/>
                      <a:r>
                        <a:rPr b="1" sz="1200">
                          <a:solidFill>
                            <a:srgbClr val="FFFFFF"/>
                          </a:solidFill>
                          <a:latin typeface="Calibri"/>
                        </a:rPr>
                        <a:t>Target Price</a:t>
                      </a:r>
                    </a:p>
                  </a:txBody>
                  <a:tcPr marL="36576" marR="36576" marT="18288" marB="18288">
                    <a:solidFill>
                      <a:srgbClr val="1F4690"/>
                    </a:solidFill>
                  </a:tcPr>
                </a:tc>
                <a:tc>
                  <a:txBody>
                    <a:bodyPr/>
                    <a:lstStyle/>
                    <a:p>
                      <a:pPr algn="r"/>
                      <a:r>
                        <a:rPr b="1" sz="1200">
                          <a:solidFill>
                            <a:srgbClr val="FFFFFF"/>
                          </a:solidFill>
                          <a:latin typeface="Calibri"/>
                        </a:rPr>
                        <a:t>Probability</a:t>
                      </a:r>
                    </a:p>
                  </a:txBody>
                  <a:tcPr marL="36576" marR="36576" marT="18288" marB="18288">
                    <a:solidFill>
                      <a:srgbClr val="1F4690"/>
                    </a:solidFill>
                  </a:tcPr>
                </a:tc>
                <a:tc>
                  <a:txBody>
                    <a:bodyPr/>
                    <a:lstStyle/>
                    <a:p>
                      <a:pPr algn="r"/>
                      <a:r>
                        <a:rPr b="1" sz="1200">
                          <a:solidFill>
                            <a:srgbClr val="FFFFFF"/>
                          </a:solidFill>
                          <a:latin typeface="Calibri"/>
                        </a:rPr>
                        <a:t>Drivers</a:t>
                      </a:r>
                    </a:p>
                  </a:txBody>
                  <a:tcPr marL="36576" marR="36576" marT="18288" marB="18288">
                    <a:solidFill>
                      <a:srgbClr val="1F4690"/>
                    </a:solidFill>
                  </a:tcPr>
                </a:tc>
              </a:tr>
              <a:tr h="1257300">
                <a:tc>
                  <a:txBody>
                    <a:bodyPr/>
                    <a:lstStyle/>
                    <a:p>
                      <a:r>
                        <a:rPr sz="1200" b="1">
                          <a:solidFill>
                            <a:srgbClr val="5A6573"/>
                          </a:solidFill>
                          <a:latin typeface="Calibri"/>
                        </a:rPr>
                        <a:t>Bull</a:t>
                      </a:r>
                    </a:p>
                  </a:txBody>
                  <a:tcPr marL="36576" marR="36576" marT="18288" marB="18288">
                    <a:solidFill>
                      <a:srgbClr val="F4F6F9"/>
                    </a:solidFill>
                  </a:tcPr>
                </a:tc>
                <a:tc>
                  <a:txBody>
                    <a:bodyPr/>
                    <a:lstStyle/>
                    <a:p>
                      <a:pPr algn="r"/>
                      <a:r>
                        <a:rPr sz="1200" b="1">
                          <a:solidFill>
                            <a:srgbClr val="1A7A4A"/>
                          </a:solidFill>
                          <a:latin typeface="Calibri"/>
                        </a:rPr>
                        <a:t>27.5%</a:t>
                      </a:r>
                    </a:p>
                  </a:txBody>
                  <a:tcPr marL="36576" marR="36576" marT="18288" marB="18288">
                    <a:solidFill>
                      <a:srgbClr val="F4F6F9"/>
                    </a:solidFill>
                  </a:tcPr>
                </a:tc>
                <a:tc>
                  <a:txBody>
                    <a:bodyPr/>
                    <a:lstStyle/>
                    <a:p>
                      <a:pPr algn="r"/>
                      <a:r>
                        <a:rPr sz="1200" b="1">
                          <a:solidFill>
                            <a:srgbClr val="1A7A4A"/>
                          </a:solidFill>
                          <a:latin typeface="Calibri"/>
                        </a:rPr>
                        <a:t>55.0%</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a:solidFill>
                            <a:srgbClr val="111111"/>
                          </a:solidFill>
                          <a:latin typeface="Calibri"/>
                        </a:rPr>
                        <a:t>ARR &gt; 70%, AMC AUM +40% YoY, regulatory clarity.</a:t>
                      </a:r>
                    </a:p>
                  </a:txBody>
                  <a:tcPr marL="36576" marR="36576" marT="18288" marB="18288">
                    <a:solidFill>
                      <a:srgbClr val="F4F6F9"/>
                    </a:solidFill>
                  </a:tcPr>
                </a:tc>
              </a:tr>
              <a:tr h="1257300">
                <a:tc>
                  <a:txBody>
                    <a:bodyPr/>
                    <a:lstStyle/>
                    <a:p>
                      <a:r>
                        <a:rPr sz="1200" b="1">
                          <a:solidFill>
                            <a:srgbClr val="5A6573"/>
                          </a:solidFill>
                          <a:latin typeface="Calibri"/>
                        </a:rPr>
                        <a:t>Base</a:t>
                      </a:r>
                    </a:p>
                  </a:txBody>
                  <a:tcPr marL="36576" marR="36576" marT="18288" marB="18288">
                    <a:solidFill>
                      <a:srgbClr val="FFFFFF"/>
                    </a:solidFill>
                  </a:tcPr>
                </a:tc>
                <a:tc>
                  <a:txBody>
                    <a:bodyPr/>
                    <a:lstStyle/>
                    <a:p>
                      <a:pPr algn="r"/>
                      <a:r>
                        <a:rPr sz="1200" b="1">
                          <a:solidFill>
                            <a:srgbClr val="1A7A4A"/>
                          </a:solidFill>
                          <a:latin typeface="Calibri"/>
                        </a:rPr>
                        <a:t>16.0%</a:t>
                      </a:r>
                    </a:p>
                  </a:txBody>
                  <a:tcPr marL="36576" marR="36576" marT="18288" marB="18288">
                    <a:solidFill>
                      <a:srgbClr val="FFFFFF"/>
                    </a:solidFill>
                  </a:tcPr>
                </a:tc>
                <a:tc>
                  <a:txBody>
                    <a:bodyPr/>
                    <a:lstStyle/>
                    <a:p>
                      <a:pPr algn="r"/>
                      <a:r>
                        <a:rPr sz="1200" b="1">
                          <a:solidFill>
                            <a:srgbClr val="1A7A4A"/>
                          </a:solidFill>
                          <a:latin typeface="Calibri"/>
                        </a:rPr>
                        <a:t>51.0%</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a:solidFill>
                            <a:srgbClr val="111111"/>
                          </a:solidFill>
                          <a:latin typeface="Calibri"/>
                        </a:rPr>
                        <a:t>ARR steady at 65%, AUM compounding, stable regulation.</a:t>
                      </a:r>
                    </a:p>
                  </a:txBody>
                  <a:tcPr marL="36576" marR="36576" marT="18288" marB="18288">
                    <a:solidFill>
                      <a:srgbClr val="FFFFFF"/>
                    </a:solidFill>
                  </a:tcPr>
                </a:tc>
              </a:tr>
              <a:tr h="1257300">
                <a:tc>
                  <a:txBody>
                    <a:bodyPr/>
                    <a:lstStyle/>
                    <a:p>
                      <a:r>
                        <a:rPr sz="1200" b="1">
                          <a:solidFill>
                            <a:srgbClr val="5A6573"/>
                          </a:solidFill>
                          <a:latin typeface="Calibri"/>
                        </a:rPr>
                        <a:t>Bear</a:t>
                      </a:r>
                    </a:p>
                  </a:txBody>
                  <a:tcPr marL="36576" marR="36576" marT="18288" marB="18288">
                    <a:solidFill>
                      <a:srgbClr val="F4F6F9"/>
                    </a:solidFill>
                  </a:tcPr>
                </a:tc>
                <a:tc>
                  <a:txBody>
                    <a:bodyPr/>
                    <a:lstStyle/>
                    <a:p>
                      <a:pPr algn="r"/>
                      <a:r>
                        <a:rPr sz="1200" b="1">
                          <a:solidFill>
                            <a:srgbClr val="1A7A4A"/>
                          </a:solidFill>
                          <a:latin typeface="Calibri"/>
                        </a:rPr>
                        <a:t>6.0%</a:t>
                      </a:r>
                    </a:p>
                  </a:txBody>
                  <a:tcPr marL="36576" marR="36576" marT="18288" marB="18288">
                    <a:solidFill>
                      <a:srgbClr val="F4F6F9"/>
                    </a:solidFill>
                  </a:tcPr>
                </a:tc>
                <a:tc>
                  <a:txBody>
                    <a:bodyPr/>
                    <a:lstStyle/>
                    <a:p>
                      <a:pPr algn="r"/>
                      <a:r>
                        <a:rPr sz="1200" b="1">
                          <a:solidFill>
                            <a:srgbClr val="1A7A4A"/>
                          </a:solidFill>
                          <a:latin typeface="Calibri"/>
                        </a:rPr>
                        <a:t>45.0%</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Sustained F&amp;O headwinds, fintech share loss.</a:t>
                      </a:r>
                    </a:p>
                  </a:txBody>
                  <a:tcPr marL="36576" marR="36576"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Catalysts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Catalysts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Team</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Team</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200">
                          <a:solidFill>
                            <a:srgbClr val="FFFFFF"/>
                          </a:solidFill>
                          <a:latin typeface="Calibri"/>
                        </a:rPr>
                        <a:t>Name</a:t>
                      </a:r>
                    </a:p>
                  </a:txBody>
                  <a:tcPr marL="36576" marR="36576" marT="18288" marB="18288">
                    <a:solidFill>
                      <a:srgbClr val="1F4690"/>
                    </a:solidFill>
                  </a:tcPr>
                </a:tc>
                <a:tc>
                  <a:txBody>
                    <a:bodyPr/>
                    <a:lstStyle/>
                    <a:p>
                      <a:pPr algn="r"/>
                      <a:r>
                        <a:rPr b="1" sz="1200">
                          <a:solidFill>
                            <a:srgbClr val="FFFFFF"/>
                          </a:solidFill>
                          <a:latin typeface="Calibri"/>
                        </a:rPr>
                        <a:t>Role</a:t>
                      </a:r>
                    </a:p>
                  </a:txBody>
                  <a:tcPr marL="36576" marR="36576" marT="18288" marB="18288">
                    <a:solidFill>
                      <a:srgbClr val="1F4690"/>
                    </a:solidFill>
                  </a:tcPr>
                </a:tc>
                <a:tc>
                  <a:txBody>
                    <a:bodyPr/>
                    <a:lstStyle/>
                    <a:p>
                      <a:pPr algn="r"/>
                      <a:r>
                        <a:rPr b="1" sz="1200">
                          <a:solidFill>
                            <a:srgbClr val="FFFFFF"/>
                          </a:solidFill>
                          <a:latin typeface="Calibri"/>
                        </a:rPr>
                        <a:t>Background</a:t>
                      </a:r>
                    </a:p>
                  </a:txBody>
                  <a:tcPr marL="36576" marR="36576" marT="18288" marB="18288">
                    <a:solidFill>
                      <a:srgbClr val="1F4690"/>
                    </a:solidFill>
                  </a:tcPr>
                </a:tc>
              </a:tr>
              <a:tr h="850392">
                <a:tc>
                  <a:txBody>
                    <a:bodyPr/>
                    <a:lstStyle/>
                    <a:p>
                      <a:r>
                        <a:rPr sz="1200" b="1">
                          <a:solidFill>
                            <a:srgbClr val="5A6573"/>
                          </a:solidFill>
                          <a:latin typeface="Calibri"/>
                        </a:rPr>
                        <a:t>Raamdeo Agrawal</a:t>
                      </a:r>
                    </a:p>
                  </a:txBody>
                  <a:tcPr marL="36576" marR="36576" marT="18288" marB="18288">
                    <a:solidFill>
                      <a:srgbClr val="F4F6F9"/>
                    </a:solidFill>
                  </a:tcPr>
                </a:tc>
                <a:tc>
                  <a:txBody>
                    <a:bodyPr/>
                    <a:lstStyle/>
                    <a:p>
                      <a:pPr algn="r"/>
                      <a:r>
                        <a:rPr sz="1200">
                          <a:solidFill>
                            <a:srgbClr val="111111"/>
                          </a:solidFill>
                          <a:latin typeface="Calibri"/>
                        </a:rPr>
                        <a:t>Chairman, MOFSL &amp; Chairman, AMC</a:t>
                      </a:r>
                    </a:p>
                  </a:txBody>
                  <a:tcPr marL="36576" marR="36576" marT="18288" marB="18288">
                    <a:solidFill>
                      <a:srgbClr val="F4F6F9"/>
                    </a:solidFill>
                  </a:tcPr>
                </a:tc>
                <a:tc>
                  <a:txBody>
                    <a:bodyPr/>
                    <a:lstStyle/>
                    <a:p>
                      <a:pPr algn="r"/>
                      <a:r>
                        <a:rPr sz="12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36576" marR="36576" marT="18288" marB="18288">
                    <a:solidFill>
                      <a:srgbClr val="F4F6F9"/>
                    </a:solidFill>
                  </a:tcPr>
                </a:tc>
              </a:tr>
              <a:tr h="850392">
                <a:tc>
                  <a:txBody>
                    <a:bodyPr/>
                    <a:lstStyle/>
                    <a:p>
                      <a:r>
                        <a:rPr sz="1200" b="1">
                          <a:solidFill>
                            <a:srgbClr val="5A6573"/>
                          </a:solidFill>
                          <a:latin typeface="Calibri"/>
                        </a:rPr>
                        <a:t>Motilal Oswal</a:t>
                      </a:r>
                    </a:p>
                  </a:txBody>
                  <a:tcPr marL="36576" marR="36576" marT="18288" marB="18288">
                    <a:solidFill>
                      <a:srgbClr val="FFFFFF"/>
                    </a:solidFill>
                  </a:tcPr>
                </a:tc>
                <a:tc>
                  <a:txBody>
                    <a:bodyPr/>
                    <a:lstStyle/>
                    <a:p>
                      <a:pPr algn="r"/>
                      <a:r>
                        <a:rPr sz="1200">
                          <a:solidFill>
                            <a:srgbClr val="111111"/>
                          </a:solidFill>
                          <a:latin typeface="Calibri"/>
                        </a:rPr>
                        <a:t>Founder, Chairman &amp; MD</a:t>
                      </a:r>
                    </a:p>
                  </a:txBody>
                  <a:tcPr marL="36576" marR="36576" marT="18288" marB="18288">
                    <a:solidFill>
                      <a:srgbClr val="FFFFFF"/>
                    </a:solidFill>
                  </a:tcPr>
                </a:tc>
                <a:tc>
                  <a:txBody>
                    <a:bodyPr/>
                    <a:lstStyle/>
                    <a:p>
                      <a:pPr algn="r"/>
                      <a:r>
                        <a:rPr sz="12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36576" marR="36576" marT="18288" marB="18288">
                    <a:solidFill>
                      <a:srgbClr val="FFFFFF"/>
                    </a:solidFill>
                  </a:tcPr>
                </a:tc>
              </a:tr>
              <a:tr h="850392">
                <a:tc>
                  <a:txBody>
                    <a:bodyPr/>
                    <a:lstStyle/>
                    <a:p>
                      <a:r>
                        <a:rPr sz="1200" b="1">
                          <a:solidFill>
                            <a:srgbClr val="5A6573"/>
                          </a:solidFill>
                          <a:latin typeface="Calibri"/>
                        </a:rPr>
                        <a:t>Navin Agarwal</a:t>
                      </a:r>
                    </a:p>
                  </a:txBody>
                  <a:tcPr marL="36576" marR="36576" marT="18288" marB="18288">
                    <a:solidFill>
                      <a:srgbClr val="F4F6F9"/>
                    </a:solidFill>
                  </a:tcPr>
                </a:tc>
                <a:tc>
                  <a:txBody>
                    <a:bodyPr/>
                    <a:lstStyle/>
                    <a:p>
                      <a:pPr algn="r"/>
                      <a:r>
                        <a:rPr sz="1200">
                          <a:solidFill>
                            <a:srgbClr val="111111"/>
                          </a:solidFill>
                          <a:latin typeface="Calibri"/>
                        </a:rPr>
                        <a:t>Executive Board — Strategy &amp; Capital Allocation</a:t>
                      </a:r>
                    </a:p>
                  </a:txBody>
                  <a:tcPr marL="36576" marR="36576" marT="18288" marB="18288">
                    <a:solidFill>
                      <a:srgbClr val="F4F6F9"/>
                    </a:solidFill>
                  </a:tcPr>
                </a:tc>
                <a:tc>
                  <a:txBody>
                    <a:bodyPr/>
                    <a:lstStyle/>
                    <a:p>
                      <a:pPr algn="r"/>
                      <a:r>
                        <a:rPr sz="1200">
                          <a:solidFill>
                            <a:srgbClr val="111111"/>
                          </a:solidFill>
                          <a:latin typeface="Calibri"/>
                        </a:rPr>
                        <a:t>Joined 2000. Drives business strategy and capital allocation across the Group, building market-leading positions through disciplined deployment.</a:t>
                      </a:r>
                    </a:p>
                  </a:txBody>
                  <a:tcPr marL="36576" marR="36576" marT="18288" marB="18288">
                    <a:solidFill>
                      <a:srgbClr val="F4F6F9"/>
                    </a:solidFill>
                  </a:tcPr>
                </a:tc>
              </a:tr>
              <a:tr h="850392">
                <a:tc>
                  <a:txBody>
                    <a:bodyPr/>
                    <a:lstStyle/>
                    <a:p>
                      <a:r>
                        <a:rPr sz="1200" b="1">
                          <a:solidFill>
                            <a:srgbClr val="5A6573"/>
                          </a:solidFill>
                          <a:latin typeface="Calibri"/>
                        </a:rPr>
                        <a:t>Ajay Menon</a:t>
                      </a:r>
                    </a:p>
                  </a:txBody>
                  <a:tcPr marL="36576" marR="36576" marT="18288" marB="18288">
                    <a:solidFill>
                      <a:srgbClr val="FFFFFF"/>
                    </a:solidFill>
                  </a:tcPr>
                </a:tc>
                <a:tc>
                  <a:txBody>
                    <a:bodyPr/>
                    <a:lstStyle/>
                    <a:p>
                      <a:pPr algn="r"/>
                      <a:r>
                        <a:rPr sz="1200">
                          <a:solidFill>
                            <a:srgbClr val="111111"/>
                          </a:solidFill>
                          <a:latin typeface="Calibri"/>
                        </a:rPr>
                        <a:t>Executive — Operations, Compliance, Risk &amp; Technology</a:t>
                      </a:r>
                    </a:p>
                  </a:txBody>
                  <a:tcPr marL="36576" marR="36576" marT="18288" marB="18288">
                    <a:solidFill>
                      <a:srgbClr val="FFFFFF"/>
                    </a:solidFill>
                  </a:tcPr>
                </a:tc>
                <a:tc>
                  <a:txBody>
                    <a:bodyPr/>
                    <a:lstStyle/>
                    <a:p>
                      <a:pPr algn="r"/>
                      <a:r>
                        <a:rPr sz="1200">
                          <a:solidFill>
                            <a:srgbClr val="111111"/>
                          </a:solidFill>
                          <a:latin typeface="Calibri"/>
                        </a:rPr>
                        <a:t>Joined 1998. 27+ years in Indian capital markets. Cornerstone of operational excellence and technology initiatives across the Group.</a:t>
                      </a:r>
                    </a:p>
                  </a:txBody>
                  <a:tcPr marL="36576" marR="36576"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Forensic / Governance — Monitor Closely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Forensic / Governance — Monitor Closely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9" name="Table 18"/>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200">
                          <a:solidFill>
                            <a:srgbClr val="FFFFFF"/>
                          </a:solidFill>
                          <a:latin typeface="Calibri"/>
                        </a:rPr>
                        <a:t>Matter</a:t>
                      </a:r>
                    </a:p>
                  </a:txBody>
                  <a:tcPr marL="36576" marR="36576" marT="18288" marB="18288">
                    <a:solidFill>
                      <a:srgbClr val="1F4690"/>
                    </a:solidFill>
                  </a:tcPr>
                </a:tc>
                <a:tc>
                  <a:txBody>
                    <a:bodyPr/>
                    <a:lstStyle/>
                    <a:p>
                      <a:pPr algn="r"/>
                      <a:r>
                        <a:rPr b="1" sz="1200">
                          <a:solidFill>
                            <a:srgbClr val="FFFFFF"/>
                          </a:solidFill>
                          <a:latin typeface="Calibri"/>
                        </a:rPr>
                        <a:t>Description</a:t>
                      </a:r>
                    </a:p>
                  </a:txBody>
                  <a:tcPr marL="36576" marR="36576" marT="18288" marB="18288">
                    <a:solidFill>
                      <a:srgbClr val="1F4690"/>
                    </a:solidFill>
                  </a:tcPr>
                </a:tc>
                <a:tc>
                  <a:txBody>
                    <a:bodyPr/>
                    <a:lstStyle/>
                    <a:p>
                      <a:pPr algn="r"/>
                      <a:r>
                        <a:rPr b="1" sz="1200">
                          <a:solidFill>
                            <a:srgbClr val="FFFFFF"/>
                          </a:solidFill>
                          <a:latin typeface="Calibri"/>
                        </a:rPr>
                        <a:t>Severity</a:t>
                      </a:r>
                    </a:p>
                  </a:txBody>
                  <a:tcPr marL="36576" marR="36576" marT="18288" marB="18288">
                    <a:solidFill>
                      <a:srgbClr val="1F4690"/>
                    </a:solidFill>
                  </a:tcPr>
                </a:tc>
              </a:tr>
              <a:tr h="678180">
                <a:tc>
                  <a:txBody>
                    <a:bodyPr/>
                    <a:lstStyle/>
                    <a:p>
                      <a:r>
                        <a:rPr sz="1200" b="1">
                          <a:solidFill>
                            <a:srgbClr val="5A6573"/>
                          </a:solidFill>
                          <a:latin typeface="Calibri"/>
                        </a:rPr>
                        <a:t>SEBI — Margin Reporting Violations</a:t>
                      </a:r>
                    </a:p>
                  </a:txBody>
                  <a:tcPr marL="36576" marR="36576" marT="18288" marB="18288">
                    <a:solidFill>
                      <a:srgbClr val="F4F6F9"/>
                    </a:solidFill>
                  </a:tcPr>
                </a:tc>
                <a:tc>
                  <a:txBody>
                    <a:bodyPr/>
                    <a:lstStyle/>
                    <a:p>
                      <a:pPr algn="r"/>
                      <a:r>
                        <a:rPr sz="1200">
                          <a:solidFill>
                            <a:srgbClr val="111111"/>
                          </a:solidFill>
                          <a:latin typeface="Calibri"/>
                        </a:rPr>
                        <a:t>INR 7 lakh penalty for margin reporting, collection violations, and other regulatory lapses found during inspection.</a:t>
                      </a:r>
                    </a:p>
                  </a:txBody>
                  <a:tcPr marL="36576" marR="36576" marT="18288" marB="18288">
                    <a:solidFill>
                      <a:srgbClr val="F4F6F9"/>
                    </a:solidFill>
                  </a:tcPr>
                </a:tc>
                <a:tc>
                  <a:txBody>
                    <a:bodyPr/>
                    <a:lstStyle/>
                    <a:p>
                      <a:pPr algn="r"/>
                      <a:r>
                        <a:rPr sz="1200">
                          <a:solidFill>
                            <a:srgbClr val="111111"/>
                          </a:solidFill>
                          <a:latin typeface="Calibri"/>
                        </a:rPr>
                        <a:t>Low</a:t>
                      </a:r>
                    </a:p>
                  </a:txBody>
                  <a:tcPr marL="36576" marR="36576" marT="18288" marB="18288">
                    <a:solidFill>
                      <a:srgbClr val="F4F6F9"/>
                    </a:solidFill>
                  </a:tcPr>
                </a:tc>
              </a:tr>
              <a:tr h="678180">
                <a:tc>
                  <a:txBody>
                    <a:bodyPr/>
                    <a:lstStyle/>
                    <a:p>
                      <a:r>
                        <a:rPr sz="1200" b="1">
                          <a:solidFill>
                            <a:srgbClr val="5A6573"/>
                          </a:solidFill>
                          <a:latin typeface="Calibri"/>
                        </a:rPr>
                        <a:t>SEBI — Client Fund Misutilization (2022)</a:t>
                      </a:r>
                    </a:p>
                  </a:txBody>
                  <a:tcPr marL="36576" marR="36576" marT="18288" marB="18288">
                    <a:solidFill>
                      <a:srgbClr val="FFFFFF"/>
                    </a:solidFill>
                  </a:tcPr>
                </a:tc>
                <a:tc>
                  <a:txBody>
                    <a:bodyPr/>
                    <a:lstStyle/>
                    <a:p>
                      <a:pPr algn="r"/>
                      <a:r>
                        <a:rPr sz="1200">
                          <a:solidFill>
                            <a:srgbClr val="111111"/>
                          </a:solidFill>
                          <a:latin typeface="Calibri"/>
                        </a:rPr>
                        <a:t>INR 25 lakh fine for misutilization of client funds and inaccurate margin reporting.</a:t>
                      </a:r>
                    </a:p>
                  </a:txBody>
                  <a:tcPr marL="36576" marR="36576" marT="18288" marB="18288">
                    <a:solidFill>
                      <a:srgbClr val="FFFFFF"/>
                    </a:solidFill>
                  </a:tcPr>
                </a:tc>
                <a:tc>
                  <a:txBody>
                    <a:bodyPr/>
                    <a:lstStyle/>
                    <a:p>
                      <a:pPr algn="r"/>
                      <a:r>
                        <a:rPr sz="1200">
                          <a:solidFill>
                            <a:srgbClr val="111111"/>
                          </a:solidFill>
                          <a:latin typeface="Calibri"/>
                        </a:rPr>
                        <a:t>Medium</a:t>
                      </a:r>
                    </a:p>
                  </a:txBody>
                  <a:tcPr marL="36576" marR="36576" marT="18288" marB="18288">
                    <a:solidFill>
                      <a:srgbClr val="FFFFFF"/>
                    </a:solidFill>
                  </a:tcPr>
                </a:tc>
              </a:tr>
              <a:tr h="678180">
                <a:tc>
                  <a:txBody>
                    <a:bodyPr/>
                    <a:lstStyle/>
                    <a:p>
                      <a:r>
                        <a:rPr sz="1200" b="1">
                          <a:solidFill>
                            <a:srgbClr val="5A6573"/>
                          </a:solidFill>
                          <a:latin typeface="Calibri"/>
                        </a:rPr>
                        <a:t>NSEL — Misselling Accusations</a:t>
                      </a:r>
                    </a:p>
                  </a:txBody>
                  <a:tcPr marL="36576" marR="36576" marT="18288" marB="18288">
                    <a:solidFill>
                      <a:srgbClr val="F4F6F9"/>
                    </a:solidFill>
                  </a:tcPr>
                </a:tc>
                <a:tc>
                  <a:txBody>
                    <a:bodyPr/>
                    <a:lstStyle/>
                    <a:p>
                      <a:pPr algn="r"/>
                      <a:r>
                        <a:rPr sz="1200">
                          <a:solidFill>
                            <a:srgbClr val="111111"/>
                          </a:solidFill>
                          <a:latin typeface="Calibri"/>
                        </a:rPr>
                        <a:t>Accused alongside other top brokers of misselling NSEL contracts, KYC manipulation, client code modification, and illegal transactions per SFIO/EOW findings.</a:t>
                      </a:r>
                    </a:p>
                  </a:txBody>
                  <a:tcPr marL="36576" marR="36576" marT="18288" marB="18288">
                    <a:solidFill>
                      <a:srgbClr val="F4F6F9"/>
                    </a:solidFill>
                  </a:tcPr>
                </a:tc>
                <a:tc>
                  <a:txBody>
                    <a:bodyPr/>
                    <a:lstStyle/>
                    <a:p>
                      <a:pPr algn="r"/>
                      <a:r>
                        <a:rPr sz="1200">
                          <a:solidFill>
                            <a:srgbClr val="111111"/>
                          </a:solidFill>
                          <a:latin typeface="Calibri"/>
                        </a:rPr>
                        <a:t>High (Historical)</a:t>
                      </a:r>
                    </a:p>
                  </a:txBody>
                  <a:tcPr marL="36576" marR="36576" marT="18288" marB="18288">
                    <a:solidFill>
                      <a:srgbClr val="F4F6F9"/>
                    </a:solidFill>
                  </a:tcPr>
                </a:tc>
              </a:tr>
              <a:tr h="678180">
                <a:tc>
                  <a:txBody>
                    <a:bodyPr/>
                    <a:lstStyle/>
                    <a:p>
                      <a:r>
                        <a:rPr sz="1200" b="1">
                          <a:solidFill>
                            <a:srgbClr val="5A6573"/>
                          </a:solidFill>
                          <a:latin typeface="Calibri"/>
                        </a:rPr>
                        <a:t>SEBI — Not Fit and Proper (Commodities)</a:t>
                      </a:r>
                    </a:p>
                  </a:txBody>
                  <a:tcPr marL="36576" marR="36576" marT="18288" marB="18288">
                    <a:solidFill>
                      <a:srgbClr val="FFFFFF"/>
                    </a:solidFill>
                  </a:tcPr>
                </a:tc>
                <a:tc>
                  <a:txBody>
                    <a:bodyPr/>
                    <a:lstStyle/>
                    <a:p>
                      <a:pPr algn="r"/>
                      <a:r>
                        <a:rPr sz="1200">
                          <a:solidFill>
                            <a:srgbClr val="111111"/>
                          </a:solidFill>
                          <a:latin typeface="Calibri"/>
                        </a:rPr>
                        <a:t>Declared 'not fit and proper' as commodity derivative broker in Feb 2019 based on SFIO/EOW recommendations.</a:t>
                      </a:r>
                    </a:p>
                  </a:txBody>
                  <a:tcPr marL="36576" marR="36576" marT="18288" marB="18288">
                    <a:solidFill>
                      <a:srgbClr val="FFFFFF"/>
                    </a:solidFill>
                  </a:tcPr>
                </a:tc>
                <a:tc>
                  <a:txBody>
                    <a:bodyPr/>
                    <a:lstStyle/>
                    <a:p>
                      <a:pPr algn="r"/>
                      <a:r>
                        <a:rPr sz="1200">
                          <a:solidFill>
                            <a:srgbClr val="111111"/>
                          </a:solidFill>
                          <a:latin typeface="Calibri"/>
                        </a:rPr>
                        <a:t>High (Historical)</a:t>
                      </a:r>
                    </a:p>
                  </a:txBody>
                  <a:tcPr marL="36576" marR="36576" marT="18288" marB="18288">
                    <a:solidFill>
                      <a:srgbClr val="FFFFFF"/>
                    </a:solidFill>
                  </a:tcPr>
                </a:tc>
              </a:tr>
              <a:tr h="678180">
                <a:tc>
                  <a:txBody>
                    <a:bodyPr/>
                    <a:lstStyle/>
                    <a:p>
                      <a:r>
                        <a:rPr sz="1200" b="1">
                          <a:solidFill>
                            <a:srgbClr val="5A6573"/>
                          </a:solidFill>
                          <a:latin typeface="Calibri"/>
                        </a:rPr>
                        <a:t>Unauthorized Terminal Operations</a:t>
                      </a:r>
                    </a:p>
                  </a:txBody>
                  <a:tcPr marL="36576" marR="36576" marT="18288" marB="18288">
                    <a:solidFill>
                      <a:srgbClr val="F4F6F9"/>
                    </a:solidFill>
                  </a:tcPr>
                </a:tc>
                <a:tc>
                  <a:txBody>
                    <a:bodyPr/>
                    <a:lstStyle/>
                    <a:p>
                      <a:pPr algn="r"/>
                      <a:r>
                        <a:rPr sz="1200">
                          <a:solidFill>
                            <a:srgbClr val="111111"/>
                          </a:solidFill>
                          <a:latin typeface="Calibri"/>
                        </a:rPr>
                        <a:t>13 NSE and 9 BSE terminals operating from undeclared locations including an unreported branch in Delhi.</a:t>
                      </a:r>
                    </a:p>
                  </a:txBody>
                  <a:tcPr marL="36576" marR="36576" marT="18288" marB="18288">
                    <a:solidFill>
                      <a:srgbClr val="F4F6F9"/>
                    </a:solidFill>
                  </a:tcPr>
                </a:tc>
                <a:tc>
                  <a:txBody>
                    <a:bodyPr/>
                    <a:lstStyle/>
                    <a:p>
                      <a:pPr algn="r"/>
                      <a:r>
                        <a:rPr sz="1200">
                          <a:solidFill>
                            <a:srgbClr val="111111"/>
                          </a:solidFill>
                          <a:latin typeface="Calibri"/>
                        </a:rPr>
                        <a:t>Medium</a:t>
                      </a:r>
                    </a:p>
                  </a:txBody>
                  <a:tcPr marL="36576" marR="36576" marT="18288" marB="18288">
                    <a:solidFill>
                      <a:srgbClr val="F4F6F9"/>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Trading Strategy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Trading Strategy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Entry: the relevant figure-850. 15-the relevant figure discount to analyst consensus target — margin of safety. Position size: 3-the relevant figure of portfolio (institutional). Review: Quarterly. Downside exit: Stop-loss at the relevant figure (-the relevant figure from CMP) on technical break with high volume. Upside exit: Sell the relevant figure at the relevant figure-1,150 (30-the relevant figure gains) / Sell remaining at the relevant figure+ if multiples expand beyond the relevant figure P/E.</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above the relevant figure of net revenues</a:t>
            </a:r>
          </a:p>
          <a:p>
            <a:pPr>
              <a:spcAft>
                <a:spcPts val="400"/>
              </a:spcAft>
            </a:pPr>
            <a:r>
              <a:rPr sz="1200" b="0">
                <a:solidFill>
                  <a:srgbClr val="111111"/>
                </a:solidFill>
                <a:latin typeface="Calibri"/>
              </a:rPr>
              <a:t>•  AMC AUM growth above the relevant figure YoY with net flows &gt; the relevant figure Cr</a:t>
            </a:r>
          </a:p>
          <a:p>
            <a:pPr>
              <a:spcAft>
                <a:spcPts val="400"/>
              </a:spcAft>
            </a:pPr>
            <a:r>
              <a:rPr sz="1200" b="0">
                <a:solidFill>
                  <a:srgbClr val="111111"/>
                </a:solidFill>
                <a:latin typeface="Calibri"/>
              </a:rPr>
              <a:t>•  PWM AUM growth above the relevant figure YoY with family count expansion</a:t>
            </a:r>
          </a:p>
          <a:p>
            <a:pPr>
              <a:spcAft>
                <a:spcPts val="400"/>
              </a:spcAft>
            </a:pPr>
            <a:r>
              <a:rPr sz="1200" b="0">
                <a:solidFill>
                  <a:srgbClr val="111111"/>
                </a:solidFill>
                <a:latin typeface="Calibri"/>
              </a:rPr>
              <a:t>•  Cost-to-income ratio declining</a:t>
            </a:r>
          </a:p>
          <a:p>
            <a:pPr>
              <a:spcAft>
                <a:spcPts val="400"/>
              </a:spcAft>
            </a:pPr>
            <a:r>
              <a:rPr sz="1200" b="0">
                <a:solidFill>
                  <a:srgbClr val="111111"/>
                </a:solidFill>
                <a:latin typeface="Calibri"/>
              </a:rPr>
              <a:t>•  SEBI compliance with no major enforcement actions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Analyst Certification &amp; Disclosures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Analyst Certification &amp; Disclosures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Analyst Certification I, the research analyst whose name appears on this report, certify that: 1. The views expressed in this report accurately reflect my personal views about the subject company and its securities. 2. No part of my compensation was, is, or will be directly or indirectly related to the specific recommendations or views expressed herein. 3. I have not received any compensation from the subject company in the past twelve months. 4. I, my relatives, or Tikona Capital do not have any actual or potential conflict of interest with the subject company at the time of publication of this report, except as may be disclosed below. ## Disclosures - Ownership in subject company: None unless otherwise disclosed. - Material conflicts of interest: None at the time of publication. - Investment banking or merchant banking relationship in the past twelve months: None. This certification is made in accordance with SEBI (Research Analysts) Regulations, 2014.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