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606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180015" y="0"/>
            <a:ext cx="2011680" cy="2606040"/>
          </a:xfrm>
          <a:prstGeom prst="rect">
            <a:avLst/>
          </a:prstGeom>
          <a:solidFill>
            <a:srgbClr val="FFA500">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82880"/>
            <a:ext cx="237744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228600"/>
            <a:ext cx="1570584" cy="384048"/>
          </a:xfrm>
          <a:prstGeom prst="rect">
            <a:avLst/>
          </a:prstGeom>
        </p:spPr>
      </p:pic>
      <p:sp>
        <p:nvSpPr>
          <p:cNvPr id="6" name="TextBox 5"/>
          <p:cNvSpPr txBox="1"/>
          <p:nvPr/>
        </p:nvSpPr>
        <p:spPr>
          <a:xfrm>
            <a:off x="1188720" y="201168"/>
            <a:ext cx="2743200" cy="256032"/>
          </a:xfrm>
          <a:prstGeom prst="rect">
            <a:avLst/>
          </a:prstGeom>
          <a:noFill/>
        </p:spPr>
        <p:txBody>
          <a:bodyPr wrap="square" lIns="45720" rIns="45720" tIns="18288" bIns="18288">
            <a:spAutoFit/>
          </a:bodyPr>
          <a:lstStyle/>
          <a:p>
            <a:pPr algn="l"/>
            <a:r>
              <a:rPr sz="1400" b="1">
                <a:solidFill>
                  <a:srgbClr val="FFFFFF"/>
                </a:solidFill>
                <a:latin typeface="Calibri"/>
              </a:rPr>
              <a:t>Tikona Capital</a:t>
            </a:r>
          </a:p>
        </p:txBody>
      </p:sp>
      <p:sp>
        <p:nvSpPr>
          <p:cNvPr id="7" name="TextBox 6"/>
          <p:cNvSpPr txBox="1"/>
          <p:nvPr/>
        </p:nvSpPr>
        <p:spPr>
          <a:xfrm>
            <a:off x="1188720" y="457200"/>
            <a:ext cx="2743200" cy="164592"/>
          </a:xfrm>
          <a:prstGeom prst="rect">
            <a:avLst/>
          </a:prstGeom>
          <a:noFill/>
        </p:spPr>
        <p:txBody>
          <a:bodyPr wrap="square" lIns="45720" rIns="45720" tIns="18288" bIns="18288">
            <a:spAutoFit/>
          </a:bodyPr>
          <a:lstStyle/>
          <a:p>
            <a:pPr algn="l"/>
            <a:r>
              <a:rPr sz="700" b="0">
                <a:solidFill>
                  <a:srgbClr val="8899BB"/>
                </a:solidFill>
                <a:latin typeface="Calibri"/>
              </a:rPr>
              <a:t>INSTITUTIONAL EQUITY RESEARCH</a:t>
            </a:r>
          </a:p>
        </p:txBody>
      </p:sp>
      <p:sp>
        <p:nvSpPr>
          <p:cNvPr id="8" name="Rounded Rectangle 7"/>
          <p:cNvSpPr/>
          <p:nvPr/>
        </p:nvSpPr>
        <p:spPr>
          <a:xfrm>
            <a:off x="8534095" y="228600"/>
            <a:ext cx="3017520" cy="228600"/>
          </a:xfrm>
          <a:prstGeom prst="roundRect">
            <a:avLst/>
          </a:prstGeom>
          <a:solidFill>
            <a:srgbClr val="FFFFFF">
              <a:lumMod val="15000"/>
              <a:lumOff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lIns="45720" tIns="9144"/>
          <a:lstStyle/>
          <a:p>
            <a:pPr algn="ctr"/>
            <a:r>
              <a:rPr sz="800" b="0">
                <a:solidFill>
                  <a:srgbClr val="FFFFFF"/>
                </a:solidFill>
                <a:latin typeface="Calibri"/>
              </a:rPr>
              <a:t>INITIATION</a:t>
            </a:r>
          </a:p>
        </p:txBody>
      </p:sp>
      <p:sp>
        <p:nvSpPr>
          <p:cNvPr id="9" name="TextBox 8"/>
          <p:cNvSpPr txBox="1"/>
          <p:nvPr/>
        </p:nvSpPr>
        <p:spPr>
          <a:xfrm>
            <a:off x="457200" y="777240"/>
            <a:ext cx="6705432" cy="457200"/>
          </a:xfrm>
          <a:prstGeom prst="rect">
            <a:avLst/>
          </a:prstGeom>
          <a:noFill/>
        </p:spPr>
        <p:txBody>
          <a:bodyPr wrap="square" lIns="45720" rIns="45720" tIns="18288" bIns="18288">
            <a:spAutoFit/>
          </a:bodyPr>
          <a:lstStyle/>
          <a:p>
            <a:pPr algn="l"/>
            <a:r>
              <a:rPr sz="2600" b="1">
                <a:solidFill>
                  <a:srgbClr val="FFFFFF"/>
                </a:solidFill>
                <a:latin typeface="Calibri"/>
              </a:rPr>
              <a:t>Motilal Oswal Financial Services Ltd</a:t>
            </a:r>
          </a:p>
        </p:txBody>
      </p:sp>
      <p:sp>
        <p:nvSpPr>
          <p:cNvPr id="10" name="Rounded Rectangle 9"/>
          <p:cNvSpPr/>
          <p:nvPr/>
        </p:nvSpPr>
        <p:spPr>
          <a:xfrm>
            <a:off x="5724144" y="868680"/>
            <a:ext cx="777240" cy="2743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TextBox 10"/>
          <p:cNvSpPr txBox="1"/>
          <p:nvPr/>
        </p:nvSpPr>
        <p:spPr>
          <a:xfrm>
            <a:off x="457200" y="1234440"/>
            <a:ext cx="11277295" cy="164592"/>
          </a:xfrm>
          <a:prstGeom prst="rect">
            <a:avLst/>
          </a:prstGeom>
          <a:noFill/>
        </p:spPr>
        <p:txBody>
          <a:bodyPr wrap="square" lIns="45720" rIns="45720" tIns="18288" bIns="18288">
            <a:spAutoFit/>
          </a:bodyPr>
          <a:lstStyle/>
          <a:p>
            <a:pPr algn="l"/>
            <a:r>
              <a:rPr sz="800" b="0">
                <a:solidFill>
                  <a:srgbClr val="8899AA"/>
                </a:solidFill>
                <a:latin typeface="Calibri"/>
              </a:rPr>
              <a:t>NSE: MOFSL  |  Financial Services</a:t>
            </a:r>
          </a:p>
        </p:txBody>
      </p:sp>
      <p:sp>
        <p:nvSpPr>
          <p:cNvPr id="12" name="Rectangle 11"/>
          <p:cNvSpPr/>
          <p:nvPr/>
        </p:nvSpPr>
        <p:spPr>
          <a:xfrm>
            <a:off x="457200" y="1490472"/>
            <a:ext cx="11277295" cy="10972"/>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508760"/>
            <a:ext cx="2682163" cy="118872"/>
          </a:xfrm>
          <a:prstGeom prst="rect">
            <a:avLst/>
          </a:prstGeom>
          <a:noFill/>
        </p:spPr>
        <p:txBody>
          <a:bodyPr wrap="square" lIns="45720" rIns="45720" tIns="18288" bIns="18288">
            <a:spAutoFit/>
          </a:bodyPr>
          <a:lstStyle/>
          <a:p>
            <a:pPr algn="l"/>
            <a:r>
              <a:rPr sz="600" b="0">
                <a:solidFill>
                  <a:srgbClr val="8899AA"/>
                </a:solidFill>
                <a:latin typeface="Calibri"/>
              </a:rPr>
              <a:t>CMP</a:t>
            </a:r>
          </a:p>
        </p:txBody>
      </p:sp>
      <p:sp>
        <p:nvSpPr>
          <p:cNvPr id="14" name="TextBox 13"/>
          <p:cNvSpPr txBox="1"/>
          <p:nvPr/>
        </p:nvSpPr>
        <p:spPr>
          <a:xfrm>
            <a:off x="457200" y="1627631"/>
            <a:ext cx="2682163" cy="256032"/>
          </a:xfrm>
          <a:prstGeom prst="rect">
            <a:avLst/>
          </a:prstGeom>
          <a:noFill/>
        </p:spPr>
        <p:txBody>
          <a:bodyPr wrap="square" lIns="45720" rIns="45720" tIns="18288" bIns="18288">
            <a:spAutoFit/>
          </a:bodyPr>
          <a:lstStyle/>
          <a:p>
            <a:pPr algn="l"/>
            <a:r>
              <a:rPr sz="1500" b="1">
                <a:solidFill>
                  <a:srgbClr val="FFA500"/>
                </a:solidFill>
                <a:latin typeface="Calibri"/>
              </a:rPr>
              <a:t>₹822.90</a:t>
            </a:r>
          </a:p>
        </p:txBody>
      </p:sp>
      <p:sp>
        <p:nvSpPr>
          <p:cNvPr id="15" name="TextBox 14"/>
          <p:cNvSpPr txBox="1"/>
          <p:nvPr/>
        </p:nvSpPr>
        <p:spPr>
          <a:xfrm>
            <a:off x="457200" y="1883664"/>
            <a:ext cx="2682163" cy="109728"/>
          </a:xfrm>
          <a:prstGeom prst="rect">
            <a:avLst/>
          </a:prstGeom>
          <a:noFill/>
        </p:spPr>
        <p:txBody>
          <a:bodyPr wrap="square" lIns="45720" rIns="45720" tIns="18288" bIns="18288">
            <a:spAutoFit/>
          </a:bodyPr>
          <a:lstStyle/>
          <a:p>
            <a:pPr algn="l"/>
            <a:r>
              <a:rPr sz="600" b="0">
                <a:solidFill>
                  <a:srgbClr val="7788AA"/>
                </a:solidFill>
                <a:latin typeface="Calibri"/>
              </a:rPr>
              <a:t>As of 28/04/2026</a:t>
            </a:r>
          </a:p>
        </p:txBody>
      </p:sp>
      <p:sp>
        <p:nvSpPr>
          <p:cNvPr id="16" name="Rectangle 15"/>
          <p:cNvSpPr/>
          <p:nvPr/>
        </p:nvSpPr>
        <p:spPr>
          <a:xfrm>
            <a:off x="3185083"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6523" y="1508760"/>
            <a:ext cx="2682163" cy="118872"/>
          </a:xfrm>
          <a:prstGeom prst="rect">
            <a:avLst/>
          </a:prstGeom>
          <a:noFill/>
        </p:spPr>
        <p:txBody>
          <a:bodyPr wrap="square" lIns="45720" rIns="45720" tIns="18288" bIns="18288">
            <a:spAutoFit/>
          </a:bodyPr>
          <a:lstStyle/>
          <a:p>
            <a:pPr algn="l"/>
            <a:r>
              <a:rPr sz="600" b="0">
                <a:solidFill>
                  <a:srgbClr val="8899AA"/>
                </a:solidFill>
                <a:latin typeface="Calibri"/>
              </a:rPr>
              <a:t>TARGET PRICE</a:t>
            </a:r>
          </a:p>
        </p:txBody>
      </p:sp>
      <p:sp>
        <p:nvSpPr>
          <p:cNvPr id="18" name="TextBox 17"/>
          <p:cNvSpPr txBox="1"/>
          <p:nvPr/>
        </p:nvSpPr>
        <p:spPr>
          <a:xfrm>
            <a:off x="3276523"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₹1,127</a:t>
            </a:r>
          </a:p>
        </p:txBody>
      </p:sp>
      <p:sp>
        <p:nvSpPr>
          <p:cNvPr id="19" name="Rectangle 18"/>
          <p:cNvSpPr/>
          <p:nvPr/>
        </p:nvSpPr>
        <p:spPr>
          <a:xfrm>
            <a:off x="6004407"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508760"/>
            <a:ext cx="2682163" cy="118872"/>
          </a:xfrm>
          <a:prstGeom prst="rect">
            <a:avLst/>
          </a:prstGeom>
          <a:noFill/>
        </p:spPr>
        <p:txBody>
          <a:bodyPr wrap="square" lIns="45720" rIns="45720" tIns="18288" bIns="18288">
            <a:spAutoFit/>
          </a:bodyPr>
          <a:lstStyle/>
          <a:p>
            <a:pPr algn="l"/>
            <a:r>
              <a:rPr sz="600" b="0">
                <a:solidFill>
                  <a:srgbClr val="8899AA"/>
                </a:solidFill>
                <a:latin typeface="Calibri"/>
              </a:rPr>
              <a:t>MARKET CAP</a:t>
            </a:r>
          </a:p>
        </p:txBody>
      </p:sp>
      <p:sp>
        <p:nvSpPr>
          <p:cNvPr id="21" name="TextBox 20"/>
          <p:cNvSpPr txBox="1"/>
          <p:nvPr/>
        </p:nvSpPr>
        <p:spPr>
          <a:xfrm>
            <a:off x="6095847"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₹49,079 Cr</a:t>
            </a:r>
          </a:p>
        </p:txBody>
      </p:sp>
      <p:sp>
        <p:nvSpPr>
          <p:cNvPr id="22" name="Rectangle 21"/>
          <p:cNvSpPr/>
          <p:nvPr/>
        </p:nvSpPr>
        <p:spPr>
          <a:xfrm>
            <a:off x="8823731"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171" y="1508760"/>
            <a:ext cx="2682163" cy="118872"/>
          </a:xfrm>
          <a:prstGeom prst="rect">
            <a:avLst/>
          </a:prstGeom>
          <a:noFill/>
        </p:spPr>
        <p:txBody>
          <a:bodyPr wrap="square" lIns="45720" rIns="45720" tIns="18288" bIns="18288">
            <a:spAutoFit/>
          </a:bodyPr>
          <a:lstStyle/>
          <a:p>
            <a:pPr algn="l"/>
            <a:r>
              <a:rPr sz="600" b="0">
                <a:solidFill>
                  <a:srgbClr val="8899AA"/>
                </a:solidFill>
                <a:latin typeface="Calibri"/>
              </a:rPr>
              <a:t>UPSIDE</a:t>
            </a:r>
          </a:p>
        </p:txBody>
      </p:sp>
      <p:sp>
        <p:nvSpPr>
          <p:cNvPr id="24" name="TextBox 23"/>
          <p:cNvSpPr txBox="1"/>
          <p:nvPr/>
        </p:nvSpPr>
        <p:spPr>
          <a:xfrm>
            <a:off x="8915171"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+37%</a:t>
            </a:r>
          </a:p>
        </p:txBody>
      </p:sp>
      <p:sp>
        <p:nvSpPr>
          <p:cNvPr id="25" name="TextBox 24"/>
          <p:cNvSpPr txBox="1"/>
          <p:nvPr/>
        </p:nvSpPr>
        <p:spPr>
          <a:xfrm>
            <a:off x="8991295" y="2404872"/>
            <a:ext cx="2743200" cy="164592"/>
          </a:xfrm>
          <a:prstGeom prst="rect">
            <a:avLst/>
          </a:prstGeom>
          <a:noFill/>
        </p:spPr>
        <p:txBody>
          <a:bodyPr wrap="square" lIns="45720" rIns="45720" tIns="18288" bIns="18288">
            <a:spAutoFit/>
          </a:bodyPr>
          <a:lstStyle/>
          <a:p>
            <a:pPr algn="r"/>
            <a:r>
              <a:rPr sz="700" b="0">
                <a:solidFill>
                  <a:srgbClr val="8899AA"/>
                </a:solidFill>
                <a:latin typeface="Calibri"/>
              </a:rPr>
              <a:t>Report: 28/04/2026</a:t>
            </a:r>
          </a:p>
        </p:txBody>
      </p:sp>
      <p:sp>
        <p:nvSpPr>
          <p:cNvPr id="26" name="Rectangle 25"/>
          <p:cNvSpPr/>
          <p:nvPr/>
        </p:nvSpPr>
        <p:spPr>
          <a:xfrm>
            <a:off x="0" y="2606040"/>
            <a:ext cx="12191695"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624328"/>
            <a:ext cx="11277295" cy="310896"/>
          </a:xfrm>
          <a:prstGeom prst="rect">
            <a:avLst/>
          </a:prstGeom>
          <a:noFill/>
        </p:spPr>
        <p:txBody>
          <a:bodyPr wrap="square" lIns="45720" rIns="45720" tIns="18288" bIns="18288">
            <a:spAutoFit/>
          </a:bodyPr>
          <a:lstStyle/>
          <a:p>
            <a:pPr algn="l"/>
            <a:r>
              <a:rPr sz="1100" b="1">
                <a:solidFill>
                  <a:srgbClr val="1F4690"/>
                </a:solidFill>
                <a:latin typeface="Calibri"/>
              </a:rPr>
              <a:t>"BUY with SAARTHI Score of 72/100"</a:t>
            </a:r>
          </a:p>
        </p:txBody>
      </p:sp>
      <p:sp>
        <p:nvSpPr>
          <p:cNvPr id="28" name="Rectangle 27"/>
          <p:cNvSpPr/>
          <p:nvPr/>
        </p:nvSpPr>
        <p:spPr>
          <a:xfrm>
            <a:off x="457200" y="3063240"/>
            <a:ext cx="36576" cy="13716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3776" y="3063240"/>
            <a:ext cx="5602071" cy="137160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108960"/>
            <a:ext cx="5410047" cy="164592"/>
          </a:xfrm>
          <a:prstGeom prst="rect">
            <a:avLst/>
          </a:prstGeom>
          <a:noFill/>
        </p:spPr>
        <p:txBody>
          <a:bodyPr wrap="square" lIns="45720" rIns="45720" tIns="18288" bIns="18288">
            <a:spAutoFit/>
          </a:bodyPr>
          <a:lstStyle/>
          <a:p>
            <a:pPr algn="l"/>
            <a:r>
              <a:rPr sz="1000" b="1">
                <a:solidFill>
                  <a:srgbClr val="1F4690"/>
                </a:solidFill>
                <a:latin typeface="Calibri"/>
              </a:rPr>
              <a:t>Investment Thesis</a:t>
            </a:r>
          </a:p>
        </p:txBody>
      </p:sp>
      <p:sp>
        <p:nvSpPr>
          <p:cNvPr id="31" name="TextBox 30"/>
          <p:cNvSpPr txBox="1"/>
          <p:nvPr/>
        </p:nvSpPr>
        <p:spPr>
          <a:xfrm>
            <a:off x="594360" y="3291840"/>
            <a:ext cx="5410047" cy="1051560"/>
          </a:xfrm>
          <a:prstGeom prst="rect">
            <a:avLst/>
          </a:prstGeom>
          <a:noFill/>
        </p:spPr>
        <p:txBody>
          <a:bodyPr wrap="squar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a:t>
            </a:r>
          </a:p>
        </p:txBody>
      </p:sp>
      <p:sp>
        <p:nvSpPr>
          <p:cNvPr id="32" name="Rectangle 31"/>
          <p:cNvSpPr/>
          <p:nvPr/>
        </p:nvSpPr>
        <p:spPr>
          <a:xfrm>
            <a:off x="457200" y="4526279"/>
            <a:ext cx="27432"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4632" y="4526279"/>
            <a:ext cx="2834566" cy="2377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544567"/>
            <a:ext cx="2697406" cy="201168"/>
          </a:xfrm>
          <a:prstGeom prst="rect">
            <a:avLst/>
          </a:prstGeom>
          <a:noFill/>
        </p:spPr>
        <p:txBody>
          <a:bodyPr wrap="square" lIns="45720" rIns="45720" tIns="18288" bIns="18288">
            <a:spAutoFit/>
          </a:bodyPr>
          <a:lstStyle/>
          <a:p>
            <a:pPr algn="l"/>
            <a:r>
              <a:rPr sz="700" b="0">
                <a:solidFill>
                  <a:srgbClr val="333333"/>
                </a:solidFill>
                <a:latin typeface="Calibri"/>
              </a:rPr>
              <a:t>BUY with SAARTHI Score of 72/100. Motilal Oswal Financial Services represents a compelling investment opportunity driven</a:t>
            </a:r>
          </a:p>
        </p:txBody>
      </p:sp>
      <p:sp>
        <p:nvSpPr>
          <p:cNvPr id="35" name="Rectangle 34"/>
          <p:cNvSpPr/>
          <p:nvPr/>
        </p:nvSpPr>
        <p:spPr>
          <a:xfrm>
            <a:off x="457200" y="4818888"/>
            <a:ext cx="27432"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84632" y="4818888"/>
            <a:ext cx="2834566" cy="2377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837175"/>
            <a:ext cx="2697406" cy="201168"/>
          </a:xfrm>
          <a:prstGeom prst="rect">
            <a:avLst/>
          </a:prstGeom>
          <a:noFill/>
        </p:spPr>
        <p:txBody>
          <a:bodyPr wrap="square" lIns="45720" rIns="45720" tIns="18288" bIns="18288">
            <a:spAutoFit/>
          </a:bodyPr>
          <a:lstStyle/>
          <a:p>
            <a:pPr algn="l"/>
            <a:r>
              <a:rPr sz="700" b="0">
                <a:solidFill>
                  <a:srgbClr val="333333"/>
                </a:solidFill>
                <a:latin typeface="Calibri"/>
              </a:rPr>
              <a:t>ARR contribution at the relevant figure of total net revenues, reducing cyclical broking volatility</a:t>
            </a:r>
          </a:p>
        </p:txBody>
      </p:sp>
      <p:sp>
        <p:nvSpPr>
          <p:cNvPr id="38" name="Rectangle 37"/>
          <p:cNvSpPr/>
          <p:nvPr/>
        </p:nvSpPr>
        <p:spPr>
          <a:xfrm>
            <a:off x="457200" y="5111495"/>
            <a:ext cx="27432"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84632" y="5111495"/>
            <a:ext cx="2834566" cy="2377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129783"/>
            <a:ext cx="2697406" cy="201168"/>
          </a:xfrm>
          <a:prstGeom prst="rect">
            <a:avLst/>
          </a:prstGeom>
          <a:noFill/>
        </p:spPr>
        <p:txBody>
          <a:bodyPr wrap="square" lIns="45720" rIns="45720" tIns="18288" bIns="18288">
            <a:spAutoFit/>
          </a:bodyPr>
          <a:lstStyle/>
          <a:p>
            <a:pPr algn="l"/>
            <a:r>
              <a:rPr sz="700" b="0">
                <a:solidFill>
                  <a:srgbClr val="333333"/>
                </a:solidFill>
                <a:latin typeface="Calibri"/>
              </a:rPr>
              <a:t>Q2FY25 profits up the relevant figure YoY with the relevant figure revenue growth and the relevant figure ROE</a:t>
            </a:r>
          </a:p>
        </p:txBody>
      </p:sp>
      <p:sp>
        <p:nvSpPr>
          <p:cNvPr id="41" name="Rectangle 40"/>
          <p:cNvSpPr/>
          <p:nvPr/>
        </p:nvSpPr>
        <p:spPr>
          <a:xfrm>
            <a:off x="457200" y="5404103"/>
            <a:ext cx="27432"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84632" y="5404103"/>
            <a:ext cx="2834566" cy="2377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422391"/>
            <a:ext cx="2697406" cy="201168"/>
          </a:xfrm>
          <a:prstGeom prst="rect">
            <a:avLst/>
          </a:prstGeom>
          <a:noFill/>
        </p:spPr>
        <p:txBody>
          <a:bodyPr wrap="square" lIns="45720" rIns="45720" tIns="18288" bIns="18288">
            <a:spAutoFit/>
          </a:bodyPr>
          <a:lstStyle/>
          <a:p>
            <a:pPr algn="l"/>
            <a:r>
              <a:rPr sz="700" b="0">
                <a:solidFill>
                  <a:srgbClr val="333333"/>
                </a:solidFill>
                <a:latin typeface="Calibri"/>
              </a:rPr>
              <a:t>Total AUM at the relevant figure lakh crore (+the relevant figure YoY); the relevant figure of AUM outperforming benchma</a:t>
            </a:r>
          </a:p>
        </p:txBody>
      </p:sp>
      <p:sp>
        <p:nvSpPr>
          <p:cNvPr id="44" name="Rounded Rectangle 43"/>
          <p:cNvSpPr/>
          <p:nvPr/>
        </p:nvSpPr>
        <p:spPr>
          <a:xfrm>
            <a:off x="6461598" y="3063240"/>
            <a:ext cx="1684480" cy="65836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A0B0C8"/>
                </a:solidFill>
                <a:latin typeface="Calibri"/>
              </a:rPr>
              <a:t>RATING</a:t>
            </a:r>
          </a:p>
          <a:p>
            <a:pPr algn="ctr"/>
            <a:r>
              <a:rPr sz="1600" b="1">
                <a:solidFill>
                  <a:srgbClr val="FFFFFF"/>
                </a:solidFill>
                <a:latin typeface="Calibri"/>
              </a:rPr>
              <a:t>BUY</a:t>
            </a:r>
          </a:p>
        </p:txBody>
      </p:sp>
      <p:sp>
        <p:nvSpPr>
          <p:cNvPr id="45" name="Rounded Rectangle 44"/>
          <p:cNvSpPr/>
          <p:nvPr/>
        </p:nvSpPr>
        <p:spPr>
          <a:xfrm>
            <a:off x="8255806" y="3063240"/>
            <a:ext cx="1684480" cy="65836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CMP</a:t>
            </a:r>
          </a:p>
          <a:p>
            <a:pPr algn="ctr"/>
            <a:r>
              <a:rPr sz="1600" b="1">
                <a:solidFill>
                  <a:srgbClr val="1F4690"/>
                </a:solidFill>
                <a:latin typeface="Calibri"/>
              </a:rPr>
              <a:t>₹822.9</a:t>
            </a:r>
          </a:p>
        </p:txBody>
      </p:sp>
      <p:sp>
        <p:nvSpPr>
          <p:cNvPr id="46" name="Rounded Rectangle 45"/>
          <p:cNvSpPr/>
          <p:nvPr/>
        </p:nvSpPr>
        <p:spPr>
          <a:xfrm>
            <a:off x="10050014" y="3063240"/>
            <a:ext cx="1684480" cy="658368"/>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A0B0C8"/>
                </a:solidFill>
                <a:latin typeface="Calibri"/>
              </a:rPr>
              <a:t>TARGET PRICE</a:t>
            </a:r>
          </a:p>
          <a:p>
            <a:pPr algn="ctr"/>
            <a:r>
              <a:rPr sz="1600" b="1">
                <a:solidFill>
                  <a:srgbClr val="FFFFFF"/>
                </a:solidFill>
                <a:latin typeface="Calibri"/>
              </a:rPr>
              <a:t>₹1,127.0</a:t>
            </a:r>
          </a:p>
        </p:txBody>
      </p:sp>
      <p:sp>
        <p:nvSpPr>
          <p:cNvPr id="47" name="Rounded Rectangle 46"/>
          <p:cNvSpPr/>
          <p:nvPr/>
        </p:nvSpPr>
        <p:spPr>
          <a:xfrm>
            <a:off x="6461598" y="3831336"/>
            <a:ext cx="1684480" cy="65836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A0B0C8"/>
                </a:solidFill>
                <a:latin typeface="Calibri"/>
              </a:rPr>
              <a:t>UPSIDE</a:t>
            </a:r>
          </a:p>
          <a:p>
            <a:pPr algn="ctr"/>
            <a:r>
              <a:rPr sz="1600" b="1">
                <a:solidFill>
                  <a:srgbClr val="FFFFFF"/>
                </a:solidFill>
                <a:latin typeface="Calibri"/>
              </a:rPr>
              <a:t>37.0%</a:t>
            </a:r>
          </a:p>
        </p:txBody>
      </p:sp>
      <p:sp>
        <p:nvSpPr>
          <p:cNvPr id="48" name="Rounded Rectangle 47"/>
          <p:cNvSpPr/>
          <p:nvPr/>
        </p:nvSpPr>
        <p:spPr>
          <a:xfrm>
            <a:off x="8255806" y="3831336"/>
            <a:ext cx="1684480" cy="65836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A0B0C8"/>
                </a:solidFill>
                <a:latin typeface="Calibri"/>
              </a:rPr>
              <a:t>MARKET CAP</a:t>
            </a:r>
          </a:p>
          <a:p>
            <a:pPr algn="ctr"/>
            <a:r>
              <a:rPr sz="1600" b="1">
                <a:solidFill>
                  <a:srgbClr val="FFFFFF"/>
                </a:solidFill>
                <a:latin typeface="Calibri"/>
              </a:rPr>
              <a:t>₹49,079 Cr</a:t>
            </a:r>
          </a:p>
        </p:txBody>
      </p:sp>
      <p:sp>
        <p:nvSpPr>
          <p:cNvPr id="49" name="Rounded Rectangle 48"/>
          <p:cNvSpPr/>
          <p:nvPr/>
        </p:nvSpPr>
        <p:spPr>
          <a:xfrm>
            <a:off x="10050014" y="3831336"/>
            <a:ext cx="1684480" cy="65836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EPS (FY25)</a:t>
            </a:r>
          </a:p>
          <a:p>
            <a:pPr algn="ctr"/>
            <a:r>
              <a:rPr sz="1600" b="1">
                <a:solidFill>
                  <a:srgbClr val="1F4690"/>
                </a:solidFill>
                <a:latin typeface="Calibri"/>
              </a:rPr>
              <a:t>₹822.9</a:t>
            </a:r>
          </a:p>
        </p:txBody>
      </p:sp>
      <p:sp>
        <p:nvSpPr>
          <p:cNvPr id="50" name="Rectangle 49"/>
          <p:cNvSpPr/>
          <p:nvPr/>
        </p:nvSpPr>
        <p:spPr>
          <a:xfrm>
            <a:off x="0" y="6565392"/>
            <a:ext cx="12191695" cy="29260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6565392"/>
            <a:ext cx="3200400" cy="292608"/>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52" name="TextBox 51"/>
          <p:cNvSpPr txBox="1"/>
          <p:nvPr/>
        </p:nvSpPr>
        <p:spPr>
          <a:xfrm>
            <a:off x="3657508" y="6565392"/>
            <a:ext cx="4876678" cy="292608"/>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53" name="TextBox 52"/>
          <p:cNvSpPr txBox="1"/>
          <p:nvPr/>
        </p:nvSpPr>
        <p:spPr>
          <a:xfrm>
            <a:off x="9905695" y="6565392"/>
            <a:ext cx="1828800" cy="292608"/>
          </a:xfrm>
          <a:prstGeom prst="rect">
            <a:avLst/>
          </a:prstGeom>
          <a:noFill/>
        </p:spPr>
        <p:txBody>
          <a:bodyPr wrap="square" lIns="45720" rIns="45720" tIns="18288" bIns="18288">
            <a:spAutoFit/>
          </a:bodyPr>
          <a:lstStyle/>
          <a:p>
            <a:pPr algn="r"/>
            <a:r>
              <a:rPr sz="900" b="0">
                <a:solidFill>
                  <a:srgbClr val="FFFFFF"/>
                </a:solidFill>
                <a:latin typeface="Calibri"/>
              </a:rPr>
              <a:t>28/04/2026  |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Investment Quality Score — 72/100</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SAARTHI Investment Quality Score — 72/100</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Proprietary 7-dimension framework. Overall score 72/100 (BUY (70-84 range)).</a:t>
            </a:r>
          </a:p>
        </p:txBody>
      </p:sp>
      <p:graphicFrame>
        <p:nvGraphicFramePr>
          <p:cNvPr id="19" name="Table 18"/>
          <p:cNvGraphicFramePr>
            <a:graphicFrameLocks noGrp="1"/>
          </p:cNvGraphicFramePr>
          <p:nvPr/>
        </p:nvGraphicFramePr>
        <p:xfrm>
          <a:off x="457200" y="3108960"/>
          <a:ext cx="11277292" cy="3337560"/>
        </p:xfrm>
        <a:graphic>
          <a:graphicData uri="http://schemas.openxmlformats.org/drawingml/2006/table">
            <a:tbl>
              <a:tblPr firstRow="1" bandRow="1">
                <a:tableStyleId>{5C22544A-7EE6-4342-B048-85BDC9FD1C3A}</a:tableStyleId>
              </a:tblPr>
              <a:tblGrid>
                <a:gridCol w="2819323"/>
                <a:gridCol w="2819323"/>
                <a:gridCol w="2819323"/>
                <a:gridCol w="2819323"/>
              </a:tblGrid>
              <a:tr h="417195">
                <a:tc>
                  <a:txBody>
                    <a:bodyPr/>
                    <a:lstStyle/>
                    <a:p>
                      <a:r>
                        <a:rPr b="1" sz="1200">
                          <a:solidFill>
                            <a:srgbClr val="FFFFFF"/>
                          </a:solidFill>
                          <a:latin typeface="Calibri"/>
                        </a:rPr>
                        <a:t>Code</a:t>
                      </a:r>
                    </a:p>
                  </a:txBody>
                  <a:tcPr marL="36576" marR="36576" marT="18288" marB="18288">
                    <a:solidFill>
                      <a:srgbClr val="1F4690"/>
                    </a:solidFill>
                  </a:tcPr>
                </a:tc>
                <a:tc>
                  <a:txBody>
                    <a:bodyPr/>
                    <a:lstStyle/>
                    <a:p>
                      <a:pPr algn="r"/>
                      <a:r>
                        <a:rPr b="1" sz="1200">
                          <a:solidFill>
                            <a:srgbClr val="FFFFFF"/>
                          </a:solidFill>
                          <a:latin typeface="Calibri"/>
                        </a:rPr>
                        <a:t>Dimension</a:t>
                      </a:r>
                    </a:p>
                  </a:txBody>
                  <a:tcPr marL="36576" marR="36576" marT="18288" marB="18288">
                    <a:solidFill>
                      <a:srgbClr val="1F4690"/>
                    </a:solidFill>
                  </a:tcPr>
                </a:tc>
                <a:tc>
                  <a:txBody>
                    <a:bodyPr/>
                    <a:lstStyle/>
                    <a:p>
                      <a:pPr algn="r"/>
                      <a:r>
                        <a:rPr b="1" sz="1200">
                          <a:solidFill>
                            <a:srgbClr val="FFFFFF"/>
                          </a:solidFill>
                          <a:latin typeface="Calibri"/>
                        </a:rPr>
                        <a:t>Score</a:t>
                      </a:r>
                    </a:p>
                  </a:txBody>
                  <a:tcPr marL="36576" marR="36576" marT="18288" marB="18288">
                    <a:solidFill>
                      <a:srgbClr val="1F4690"/>
                    </a:solidFill>
                  </a:tcPr>
                </a:tc>
                <a:tc>
                  <a:txBody>
                    <a:bodyPr/>
                    <a:lstStyle/>
                    <a:p>
                      <a:pPr algn="r"/>
                      <a:r>
                        <a:rPr b="1" sz="1200">
                          <a:solidFill>
                            <a:srgbClr val="FFFFFF"/>
                          </a:solidFill>
                          <a:latin typeface="Calibri"/>
                        </a:rPr>
                        <a:t>Key Evidence</a:t>
                      </a:r>
                    </a:p>
                  </a:txBody>
                  <a:tcPr marL="36576" marR="36576" marT="18288" marB="18288">
                    <a:solidFill>
                      <a:srgbClr val="1F4690"/>
                    </a:solidFill>
                  </a:tcPr>
                </a:tc>
              </a:tr>
              <a:tr h="417195">
                <a:tc>
                  <a:txBody>
                    <a:bodyPr/>
                    <a:lstStyle/>
                    <a:p>
                      <a:r>
                        <a:rPr sz="1200" b="1">
                          <a:solidFill>
                            <a:srgbClr val="5A6573"/>
                          </a:solidFill>
                          <a:latin typeface="Calibri"/>
                        </a:rPr>
                        <a:t>S</a:t>
                      </a:r>
                    </a:p>
                  </a:txBody>
                  <a:tcPr marL="36576" marR="36576" marT="18288" marB="18288">
                    <a:solidFill>
                      <a:srgbClr val="F4F6F9"/>
                    </a:solidFill>
                  </a:tcPr>
                </a:tc>
                <a:tc>
                  <a:txBody>
                    <a:bodyPr/>
                    <a:lstStyle/>
                    <a:p>
                      <a:pPr algn="r"/>
                      <a:r>
                        <a:rPr sz="1200">
                          <a:solidFill>
                            <a:srgbClr val="111111"/>
                          </a:solidFill>
                          <a:latin typeface="Calibri"/>
                        </a:rPr>
                        <a:t>Scalability of Core Engine</a:t>
                      </a:r>
                    </a:p>
                  </a:txBody>
                  <a:tcPr marL="36576" marR="36576" marT="18288" marB="18288">
                    <a:solidFill>
                      <a:srgbClr val="F4F6F9"/>
                    </a:solidFill>
                  </a:tcPr>
                </a:tc>
                <a:tc>
                  <a:txBody>
                    <a:bodyPr/>
                    <a:lstStyle/>
                    <a:p>
                      <a:pPr algn="r"/>
                      <a:r>
                        <a:rPr sz="1200">
                          <a:solidFill>
                            <a:srgbClr val="111111"/>
                          </a:solidFill>
                          <a:latin typeface="Calibri"/>
                        </a:rPr>
                        <a:t>12/15</a:t>
                      </a:r>
                    </a:p>
                  </a:txBody>
                  <a:tcPr marL="36576" marR="36576" marT="18288" marB="18288">
                    <a:solidFill>
                      <a:srgbClr val="F4F6F9"/>
                    </a:solidFill>
                  </a:tcPr>
                </a:tc>
                <a:tc>
                  <a:txBody>
                    <a:bodyPr/>
                    <a:lstStyle/>
                    <a:p>
                      <a:pPr algn="r"/>
                      <a:r>
                        <a:rPr sz="1200">
                          <a:solidFill>
                            <a:srgbClr val="111111"/>
                          </a:solidFill>
                          <a:latin typeface="Calibri"/>
                        </a:rPr>
                        <a:t>AMC AUM +33% YoY to INR 1.89L Cr with INR 11,610 Cr net flows.</a:t>
                      </a:r>
                    </a:p>
                  </a:txBody>
                  <a:tcPr marL="36576" marR="36576" marT="18288" marB="18288">
                    <a:solidFill>
                      <a:srgbClr val="F4F6F9"/>
                    </a:solidFill>
                  </a:tcPr>
                </a:tc>
              </a:tr>
              <a:tr h="417195">
                <a:tc>
                  <a:txBody>
                    <a:bodyPr/>
                    <a:lstStyle/>
                    <a:p>
                      <a:r>
                        <a:rPr sz="1200" b="1">
                          <a:solidFill>
                            <a:srgbClr val="5A6573"/>
                          </a:solidFill>
                          <a:latin typeface="Calibri"/>
                        </a:rPr>
                        <a:t>A1</a:t>
                      </a:r>
                    </a:p>
                  </a:txBody>
                  <a:tcPr marL="36576" marR="36576" marT="18288" marB="18288">
                    <a:solidFill>
                      <a:srgbClr val="FFFFFF"/>
                    </a:solidFill>
                  </a:tcPr>
                </a:tc>
                <a:tc>
                  <a:txBody>
                    <a:bodyPr/>
                    <a:lstStyle/>
                    <a:p>
                      <a:pPr algn="r"/>
                      <a:r>
                        <a:rPr sz="1200">
                          <a:solidFill>
                            <a:srgbClr val="111111"/>
                          </a:solidFill>
                          <a:latin typeface="Calibri"/>
                        </a:rPr>
                        <a:t>Addressable Market &amp; Adjacency</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a:solidFill>
                            <a:srgbClr val="111111"/>
                          </a:solidFill>
                          <a:latin typeface="Calibri"/>
                        </a:rPr>
                        <a:t>India private credit hit USD 9.0 Bn in H1 2025 (+53% YoY).</a:t>
                      </a:r>
                    </a:p>
                  </a:txBody>
                  <a:tcPr marL="36576" marR="36576" marT="18288" marB="18288">
                    <a:solidFill>
                      <a:srgbClr val="FFFFFF"/>
                    </a:solidFill>
                  </a:tcPr>
                </a:tc>
              </a:tr>
              <a:tr h="417195">
                <a:tc>
                  <a:txBody>
                    <a:bodyPr/>
                    <a:lstStyle/>
                    <a:p>
                      <a:r>
                        <a:rPr sz="1200" b="1">
                          <a:solidFill>
                            <a:srgbClr val="5A6573"/>
                          </a:solidFill>
                          <a:latin typeface="Calibri"/>
                        </a:rPr>
                        <a:t>A2</a:t>
                      </a:r>
                    </a:p>
                  </a:txBody>
                  <a:tcPr marL="36576" marR="36576" marT="18288" marB="18288">
                    <a:solidFill>
                      <a:srgbClr val="F4F6F9"/>
                    </a:solidFill>
                  </a:tcPr>
                </a:tc>
                <a:tc>
                  <a:txBody>
                    <a:bodyPr/>
                    <a:lstStyle/>
                    <a:p>
                      <a:pPr algn="r"/>
                      <a:r>
                        <a:rPr sz="1200">
                          <a:solidFill>
                            <a:srgbClr val="111111"/>
                          </a:solidFill>
                          <a:latin typeface="Calibri"/>
                        </a:rPr>
                        <a:t>Asymmetric Pricing Power</a:t>
                      </a:r>
                    </a:p>
                  </a:txBody>
                  <a:tcPr marL="36576" marR="36576" marT="18288" marB="18288">
                    <a:solidFill>
                      <a:srgbClr val="F4F6F9"/>
                    </a:solidFill>
                  </a:tcPr>
                </a:tc>
                <a:tc>
                  <a:txBody>
                    <a:bodyPr/>
                    <a:lstStyle/>
                    <a:p>
                      <a:pPr algn="r"/>
                      <a:r>
                        <a:rPr sz="1200">
                          <a:solidFill>
                            <a:srgbClr val="111111"/>
                          </a:solidFill>
                          <a:latin typeface="Calibri"/>
                        </a:rPr>
                        <a:t>10/15</a:t>
                      </a:r>
                    </a:p>
                  </a:txBody>
                  <a:tcPr marL="36576" marR="36576" marT="18288" marB="18288">
                    <a:solidFill>
                      <a:srgbClr val="F4F6F9"/>
                    </a:solidFill>
                  </a:tcPr>
                </a:tc>
                <a:tc>
                  <a:txBody>
                    <a:bodyPr/>
                    <a:lstStyle/>
                    <a:p>
                      <a:pPr algn="r"/>
                      <a:r>
                        <a:rPr sz="1200">
                          <a:solidFill>
                            <a:srgbClr val="111111"/>
                          </a:solidFill>
                          <a:latin typeface="Calibri"/>
                        </a:rPr>
                        <a:t>Diversified mix offset 24% brokerage decline, validating partial pricing-power hedge.</a:t>
                      </a:r>
                    </a:p>
                  </a:txBody>
                  <a:tcPr marL="36576" marR="36576" marT="18288" marB="18288">
                    <a:solidFill>
                      <a:srgbClr val="F4F6F9"/>
                    </a:solidFill>
                  </a:tcPr>
                </a:tc>
              </a:tr>
              <a:tr h="417195">
                <a:tc>
                  <a:txBody>
                    <a:bodyPr/>
                    <a:lstStyle/>
                    <a:p>
                      <a:r>
                        <a:rPr sz="1200" b="1">
                          <a:solidFill>
                            <a:srgbClr val="5A6573"/>
                          </a:solidFill>
                          <a:latin typeface="Calibri"/>
                        </a:rPr>
                        <a:t>R</a:t>
                      </a:r>
                    </a:p>
                  </a:txBody>
                  <a:tcPr marL="36576" marR="36576" marT="18288" marB="18288">
                    <a:solidFill>
                      <a:srgbClr val="FFFFFF"/>
                    </a:solidFill>
                  </a:tcPr>
                </a:tc>
                <a:tc>
                  <a:txBody>
                    <a:bodyPr/>
                    <a:lstStyle/>
                    <a:p>
                      <a:pPr algn="r"/>
                      <a:r>
                        <a:rPr sz="1200">
                          <a:solidFill>
                            <a:srgbClr val="111111"/>
                          </a:solidFill>
                          <a:latin typeface="Calibri"/>
                        </a:rPr>
                        <a:t>Reinvestment Quality</a:t>
                      </a:r>
                    </a:p>
                  </a:txBody>
                  <a:tcPr marL="36576" marR="36576" marT="18288" marB="18288">
                    <a:solidFill>
                      <a:srgbClr val="FFFFFF"/>
                    </a:solidFill>
                  </a:tcPr>
                </a:tc>
                <a:tc>
                  <a:txBody>
                    <a:bodyPr/>
                    <a:lstStyle/>
                    <a:p>
                      <a:pPr algn="r"/>
                      <a:r>
                        <a:rPr sz="1200">
                          <a:solidFill>
                            <a:srgbClr val="111111"/>
                          </a:solidFill>
                          <a:latin typeface="Calibri"/>
                        </a:rPr>
                        <a:t>13/15</a:t>
                      </a:r>
                    </a:p>
                  </a:txBody>
                  <a:tcPr marL="36576" marR="36576" marT="18288" marB="18288">
                    <a:solidFill>
                      <a:srgbClr val="FFFFFF"/>
                    </a:solidFill>
                  </a:tcPr>
                </a:tc>
                <a:tc>
                  <a:txBody>
                    <a:bodyPr/>
                    <a:lstStyle/>
                    <a:p>
                      <a:pPr algn="r"/>
                      <a:r>
                        <a:rPr sz="1200">
                          <a:solidFill>
                            <a:srgbClr val="111111"/>
                          </a:solidFill>
                          <a:latin typeface="Calibri"/>
                        </a:rPr>
                        <a:t>PWM AUM +31% YoY to INR 1.96L Cr; family count +41%; PAT +14% (9M).</a:t>
                      </a:r>
                    </a:p>
                  </a:txBody>
                  <a:tcPr marL="36576" marR="36576" marT="18288" marB="18288">
                    <a:solidFill>
                      <a:srgbClr val="FFFFFF"/>
                    </a:solidFill>
                  </a:tcPr>
                </a:tc>
              </a:tr>
              <a:tr h="417195">
                <a:tc>
                  <a:txBody>
                    <a:bodyPr/>
                    <a:lstStyle/>
                    <a:p>
                      <a:r>
                        <a:rPr sz="1200" b="1">
                          <a:solidFill>
                            <a:srgbClr val="5A6573"/>
                          </a:solidFill>
                          <a:latin typeface="Calibri"/>
                        </a:rPr>
                        <a:t>T</a:t>
                      </a:r>
                    </a:p>
                  </a:txBody>
                  <a:tcPr marL="36576" marR="36576" marT="18288" marB="18288">
                    <a:solidFill>
                      <a:srgbClr val="F4F6F9"/>
                    </a:solidFill>
                  </a:tcPr>
                </a:tc>
                <a:tc>
                  <a:txBody>
                    <a:bodyPr/>
                    <a:lstStyle/>
                    <a:p>
                      <a:pPr algn="r"/>
                      <a:r>
                        <a:rPr sz="1200">
                          <a:solidFill>
                            <a:srgbClr val="111111"/>
                          </a:solidFill>
                          <a:latin typeface="Calibri"/>
                        </a:rPr>
                        <a:t>Track Record Through Adversity</a:t>
                      </a:r>
                    </a:p>
                  </a:txBody>
                  <a:tcPr marL="36576" marR="36576" marT="18288" marB="18288">
                    <a:solidFill>
                      <a:srgbClr val="F4F6F9"/>
                    </a:solidFill>
                  </a:tcPr>
                </a:tc>
                <a:tc>
                  <a:txBody>
                    <a:bodyPr/>
                    <a:lstStyle/>
                    <a:p>
                      <a:pPr algn="r"/>
                      <a:r>
                        <a:rPr sz="1200">
                          <a:solidFill>
                            <a:srgbClr val="111111"/>
                          </a:solidFill>
                          <a:latin typeface="Calibri"/>
                        </a:rPr>
                        <a:t>8/10</a:t>
                      </a:r>
                    </a:p>
                  </a:txBody>
                  <a:tcPr marL="36576" marR="36576" marT="18288" marB="18288">
                    <a:solidFill>
                      <a:srgbClr val="F4F6F9"/>
                    </a:solidFill>
                  </a:tcPr>
                </a:tc>
                <a:tc>
                  <a:txBody>
                    <a:bodyPr/>
                    <a:lstStyle/>
                    <a:p>
                      <a:pPr algn="r"/>
                      <a:r>
                        <a:rPr sz="1200">
                          <a:solidFill>
                            <a:srgbClr val="111111"/>
                          </a:solidFill>
                          <a:latin typeface="Calibri"/>
                        </a:rPr>
                        <a:t>Despite repeated SEBI interventions, AUM and ARR base continue to compound — institutional resilience.</a:t>
                      </a:r>
                    </a:p>
                  </a:txBody>
                  <a:tcPr marL="36576" marR="36576" marT="18288" marB="18288">
                    <a:solidFill>
                      <a:srgbClr val="F4F6F9"/>
                    </a:solidFill>
                  </a:tcPr>
                </a:tc>
              </a:tr>
              <a:tr h="417195">
                <a:tc>
                  <a:txBody>
                    <a:bodyPr/>
                    <a:lstStyle/>
                    <a:p>
                      <a:r>
                        <a:rPr sz="1200" b="1">
                          <a:solidFill>
                            <a:srgbClr val="5A6573"/>
                          </a:solidFill>
                          <a:latin typeface="Calibri"/>
                        </a:rPr>
                        <a:t>H</a:t>
                      </a:r>
                    </a:p>
                  </a:txBody>
                  <a:tcPr marL="36576" marR="36576" marT="18288" marB="18288">
                    <a:solidFill>
                      <a:srgbClr val="FFFFFF"/>
                    </a:solidFill>
                  </a:tcPr>
                </a:tc>
                <a:tc>
                  <a:txBody>
                    <a:bodyPr/>
                    <a:lstStyle/>
                    <a:p>
                      <a:pPr algn="r"/>
                      <a:r>
                        <a:rPr sz="1200">
                          <a:solidFill>
                            <a:srgbClr val="111111"/>
                          </a:solidFill>
                          <a:latin typeface="Calibri"/>
                        </a:rPr>
                        <a:t>Human Capital &amp; Institutional DNA</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a:solidFill>
                            <a:srgbClr val="111111"/>
                          </a:solidFill>
                          <a:latin typeface="Calibri"/>
                        </a:rPr>
                        <a:t>Rashtriya Samman Patra recipient (top tax-payer FY95–FY99) signals early ethical commercial success.</a:t>
                      </a:r>
                    </a:p>
                  </a:txBody>
                  <a:tcPr marL="36576" marR="36576" marT="18288" marB="18288">
                    <a:solidFill>
                      <a:srgbClr val="FFFFFF"/>
                    </a:solidFill>
                  </a:tcPr>
                </a:tc>
              </a:tr>
              <a:tr h="417195">
                <a:tc>
                  <a:txBody>
                    <a:bodyPr/>
                    <a:lstStyle/>
                    <a:p>
                      <a:r>
                        <a:rPr sz="1200" b="1">
                          <a:solidFill>
                            <a:srgbClr val="5A6573"/>
                          </a:solidFill>
                          <a:latin typeface="Calibri"/>
                        </a:rPr>
                        <a:t>I</a:t>
                      </a:r>
                    </a:p>
                  </a:txBody>
                  <a:tcPr marL="36576" marR="36576" marT="18288" marB="18288">
                    <a:solidFill>
                      <a:srgbClr val="F4F6F9"/>
                    </a:solidFill>
                  </a:tcPr>
                </a:tc>
                <a:tc>
                  <a:txBody>
                    <a:bodyPr/>
                    <a:lstStyle/>
                    <a:p>
                      <a:pPr algn="r"/>
                      <a:r>
                        <a:rPr sz="1200">
                          <a:solidFill>
                            <a:srgbClr val="111111"/>
                          </a:solidFill>
                          <a:latin typeface="Calibri"/>
                        </a:rPr>
                        <a:t>Inflection Point Identification</a:t>
                      </a:r>
                    </a:p>
                  </a:txBody>
                  <a:tcPr marL="36576" marR="36576" marT="18288" marB="18288">
                    <a:solidFill>
                      <a:srgbClr val="F4F6F9"/>
                    </a:solidFill>
                  </a:tcPr>
                </a:tc>
                <a:tc>
                  <a:txBody>
                    <a:bodyPr/>
                    <a:lstStyle/>
                    <a:p>
                      <a:pPr algn="r"/>
                      <a:r>
                        <a:rPr sz="1200">
                          <a:solidFill>
                            <a:srgbClr val="111111"/>
                          </a:solidFill>
                          <a:latin typeface="Calibri"/>
                        </a:rPr>
                        <a:t>11/15</a:t>
                      </a:r>
                    </a:p>
                  </a:txBody>
                  <a:tcPr marL="36576" marR="36576" marT="18288" marB="18288">
                    <a:solidFill>
                      <a:srgbClr val="F4F6F9"/>
                    </a:solidFill>
                  </a:tcPr>
                </a:tc>
                <a:tc>
                  <a:txBody>
                    <a:bodyPr/>
                    <a:lstStyle/>
                    <a:p>
                      <a:pPr algn="r"/>
                      <a:r>
                        <a:rPr sz="1200">
                          <a:solidFill>
                            <a:srgbClr val="111111"/>
                          </a:solidFill>
                          <a:latin typeface="Calibri"/>
                        </a:rPr>
                        <a:t>ARR at 65% of net revenues (up from 61%); management guiding higher — measurable inflection.</a:t>
                      </a:r>
                    </a:p>
                  </a:txBody>
                  <a:tcPr marL="36576" marR="36576" marT="18288" marB="18288">
                    <a:solidFill>
                      <a:srgbClr val="F4F6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Motilal Oswal Financial Services Ltd At A Glance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Motilal Oswal Financial Services Ltd At A Glance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Highlights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Highlights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Revenue Trend</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Revenue Trend</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Annual Financial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Annual Financial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Quarterly Performance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Segment Mix</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Segment Mix</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Ratios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 — Methods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 — Methods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49"/>
              </a:tblGrid>
              <a:tr h="125730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Rev CAGR</a:t>
                      </a:r>
                    </a:p>
                  </a:txBody>
                  <a:tcPr marL="36576" marR="36576" marT="18288" marB="18288">
                    <a:solidFill>
                      <a:srgbClr val="1F4690"/>
                    </a:solidFill>
                  </a:tcPr>
                </a:tc>
                <a:tc>
                  <a:txBody>
                    <a:bodyPr/>
                    <a:lstStyle/>
                    <a:p>
                      <a:pPr algn="r"/>
                      <a:r>
                        <a:rPr b="1" sz="1200">
                          <a:solidFill>
                            <a:srgbClr val="FFFFFF"/>
                          </a:solidFill>
                          <a:latin typeface="Calibri"/>
                        </a:rPr>
                        <a:t>EBITDA Mgn</a:t>
                      </a:r>
                    </a:p>
                  </a:txBody>
                  <a:tcPr marL="36576" marR="36576" marT="18288" marB="18288">
                    <a:solidFill>
                      <a:srgbClr val="1F4690"/>
                    </a:solidFill>
                  </a:tcPr>
                </a:tc>
                <a:tc>
                  <a:txBody>
                    <a:bodyPr/>
                    <a:lstStyle/>
                    <a:p>
                      <a:pPr algn="r"/>
                      <a:r>
                        <a:rPr b="1" sz="1200">
                          <a:solidFill>
                            <a:srgbClr val="FFFFFF"/>
                          </a:solidFill>
                          <a:latin typeface="Calibri"/>
                        </a:rPr>
                        <a:t>Target Price</a:t>
                      </a:r>
                    </a:p>
                  </a:txBody>
                  <a:tcPr marL="36576" marR="36576" marT="18288" marB="18288">
                    <a:solidFill>
                      <a:srgbClr val="1F4690"/>
                    </a:solidFill>
                  </a:tcPr>
                </a:tc>
                <a:tc>
                  <a:txBody>
                    <a:bodyPr/>
                    <a:lstStyle/>
                    <a:p>
                      <a:pPr algn="r"/>
                      <a:r>
                        <a:rPr b="1" sz="1200">
                          <a:solidFill>
                            <a:srgbClr val="FFFFFF"/>
                          </a:solidFill>
                          <a:latin typeface="Calibri"/>
                        </a:rPr>
                        <a:t>Probability</a:t>
                      </a:r>
                    </a:p>
                  </a:txBody>
                  <a:tcPr marL="36576" marR="36576" marT="18288" marB="18288">
                    <a:solidFill>
                      <a:srgbClr val="1F4690"/>
                    </a:solidFill>
                  </a:tcPr>
                </a:tc>
                <a:tc>
                  <a:txBody>
                    <a:bodyPr/>
                    <a:lstStyle/>
                    <a:p>
                      <a:pPr algn="r"/>
                      <a:r>
                        <a:rPr b="1" sz="1200">
                          <a:solidFill>
                            <a:srgbClr val="FFFFFF"/>
                          </a:solidFill>
                          <a:latin typeface="Calibri"/>
                        </a:rPr>
                        <a:t>Drivers</a:t>
                      </a:r>
                    </a:p>
                  </a:txBody>
                  <a:tcPr marL="36576" marR="36576" marT="18288" marB="18288">
                    <a:solidFill>
                      <a:srgbClr val="1F4690"/>
                    </a:solidFill>
                  </a:tcPr>
                </a:tc>
              </a:tr>
              <a:tr h="1257300">
                <a:tc>
                  <a:txBody>
                    <a:bodyPr/>
                    <a:lstStyle/>
                    <a:p>
                      <a:r>
                        <a:rPr sz="1200" b="1">
                          <a:solidFill>
                            <a:srgbClr val="5A6573"/>
                          </a:solidFill>
                          <a:latin typeface="Calibri"/>
                        </a:rPr>
                        <a:t>Bull</a:t>
                      </a:r>
                    </a:p>
                  </a:txBody>
                  <a:tcPr marL="36576" marR="36576" marT="18288" marB="18288">
                    <a:solidFill>
                      <a:srgbClr val="F4F6F9"/>
                    </a:solidFill>
                  </a:tcPr>
                </a:tc>
                <a:tc>
                  <a:txBody>
                    <a:bodyPr/>
                    <a:lstStyle/>
                    <a:p>
                      <a:pPr algn="r"/>
                      <a:r>
                        <a:rPr sz="1200" b="1">
                          <a:solidFill>
                            <a:srgbClr val="1A7A4A"/>
                          </a:solidFill>
                          <a:latin typeface="Calibri"/>
                        </a:rPr>
                        <a:t>27.5%</a:t>
                      </a:r>
                    </a:p>
                  </a:txBody>
                  <a:tcPr marL="36576" marR="36576" marT="18288" marB="18288">
                    <a:solidFill>
                      <a:srgbClr val="F4F6F9"/>
                    </a:solidFill>
                  </a:tcPr>
                </a:tc>
                <a:tc>
                  <a:txBody>
                    <a:bodyPr/>
                    <a:lstStyle/>
                    <a:p>
                      <a:pPr algn="r"/>
                      <a:r>
                        <a:rPr sz="1200" b="1">
                          <a:solidFill>
                            <a:srgbClr val="1A7A4A"/>
                          </a:solidFill>
                          <a:latin typeface="Calibri"/>
                        </a:rPr>
                        <a:t>55.0%</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a:solidFill>
                            <a:srgbClr val="111111"/>
                          </a:solidFill>
                          <a:latin typeface="Calibri"/>
                        </a:rPr>
                        <a:t>ARR &gt; 70%, AMC AUM +40% YoY, regulatory clarity.</a:t>
                      </a:r>
                    </a:p>
                  </a:txBody>
                  <a:tcPr marL="36576" marR="36576" marT="18288" marB="18288">
                    <a:solidFill>
                      <a:srgbClr val="F4F6F9"/>
                    </a:solidFill>
                  </a:tcPr>
                </a:tc>
              </a:tr>
              <a:tr h="1257300">
                <a:tc>
                  <a:txBody>
                    <a:bodyPr/>
                    <a:lstStyle/>
                    <a:p>
                      <a:r>
                        <a:rPr sz="1200" b="1">
                          <a:solidFill>
                            <a:srgbClr val="5A6573"/>
                          </a:solidFill>
                          <a:latin typeface="Calibri"/>
                        </a:rPr>
                        <a:t>Base</a:t>
                      </a:r>
                    </a:p>
                  </a:txBody>
                  <a:tcPr marL="36576" marR="36576" marT="18288" marB="18288">
                    <a:solidFill>
                      <a:srgbClr val="FFFFFF"/>
                    </a:solidFill>
                  </a:tcPr>
                </a:tc>
                <a:tc>
                  <a:txBody>
                    <a:bodyPr/>
                    <a:lstStyle/>
                    <a:p>
                      <a:pPr algn="r"/>
                      <a:r>
                        <a:rPr sz="1200" b="1">
                          <a:solidFill>
                            <a:srgbClr val="1A7A4A"/>
                          </a:solidFill>
                          <a:latin typeface="Calibri"/>
                        </a:rPr>
                        <a:t>16.0%</a:t>
                      </a:r>
                    </a:p>
                  </a:txBody>
                  <a:tcPr marL="36576" marR="36576" marT="18288" marB="18288">
                    <a:solidFill>
                      <a:srgbClr val="FFFFFF"/>
                    </a:solidFill>
                  </a:tcPr>
                </a:tc>
                <a:tc>
                  <a:txBody>
                    <a:bodyPr/>
                    <a:lstStyle/>
                    <a:p>
                      <a:pPr algn="r"/>
                      <a:r>
                        <a:rPr sz="1200" b="1">
                          <a:solidFill>
                            <a:srgbClr val="1A7A4A"/>
                          </a:solidFill>
                          <a:latin typeface="Calibri"/>
                        </a:rPr>
                        <a:t>51.0%</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a:solidFill>
                            <a:srgbClr val="111111"/>
                          </a:solidFill>
                          <a:latin typeface="Calibri"/>
                        </a:rPr>
                        <a:t>ARR steady at 65%, AUM compounding, stable regulation.</a:t>
                      </a:r>
                    </a:p>
                  </a:txBody>
                  <a:tcPr marL="36576" marR="36576" marT="18288" marB="18288">
                    <a:solidFill>
                      <a:srgbClr val="FFFFFF"/>
                    </a:solidFill>
                  </a:tcPr>
                </a:tc>
              </a:tr>
              <a:tr h="1257300">
                <a:tc>
                  <a:txBody>
                    <a:bodyPr/>
                    <a:lstStyle/>
                    <a:p>
                      <a:r>
                        <a:rPr sz="1200" b="1">
                          <a:solidFill>
                            <a:srgbClr val="5A6573"/>
                          </a:solidFill>
                          <a:latin typeface="Calibri"/>
                        </a:rPr>
                        <a:t>Bear</a:t>
                      </a:r>
                    </a:p>
                  </a:txBody>
                  <a:tcPr marL="36576" marR="36576" marT="18288" marB="18288">
                    <a:solidFill>
                      <a:srgbClr val="F4F6F9"/>
                    </a:solidFill>
                  </a:tcPr>
                </a:tc>
                <a:tc>
                  <a:txBody>
                    <a:bodyPr/>
                    <a:lstStyle/>
                    <a:p>
                      <a:pPr algn="r"/>
                      <a:r>
                        <a:rPr sz="1200" b="1">
                          <a:solidFill>
                            <a:srgbClr val="1A7A4A"/>
                          </a:solidFill>
                          <a:latin typeface="Calibri"/>
                        </a:rPr>
                        <a:t>6.0%</a:t>
                      </a:r>
                    </a:p>
                  </a:txBody>
                  <a:tcPr marL="36576" marR="36576" marT="18288" marB="18288">
                    <a:solidFill>
                      <a:srgbClr val="F4F6F9"/>
                    </a:solidFill>
                  </a:tcPr>
                </a:tc>
                <a:tc>
                  <a:txBody>
                    <a:bodyPr/>
                    <a:lstStyle/>
                    <a:p>
                      <a:pPr algn="r"/>
                      <a:r>
                        <a:rPr sz="1200" b="1">
                          <a:solidFill>
                            <a:srgbClr val="1A7A4A"/>
                          </a:solidFill>
                          <a:latin typeface="Calibri"/>
                        </a:rPr>
                        <a:t>45.0%</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Sustained F&amp;O headwinds, fintech share loss.</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Catalysts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Catalysts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Team</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Team</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Forensic / Governance — Monitor Closely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Forensic / Governance — Monitor Closely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Trading Strategy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Trading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Analyst Certification &amp; Disclosures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Analyst Certification &amp; Disclosures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