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XYZ Finance Ltd Update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XYZ Finance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₹178.0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₹225.0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XYZ Finance is delivering consistent secured-loan growth while preserving balance-sheet discipline and improving profitability.</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XYZ Finance is delivering consistent secured-loan growth while preserving balance-sheet discipline and improving profitability.</a:t>
            </a:r>
          </a:p>
          <a:p>
            <a:pPr/>
            <a:r>
              <a:rPr sz="1100" b="0">
                <a:solidFill>
                  <a:srgbClr val="111111"/>
                </a:solidFill>
                <a:latin typeface="Calibri"/>
              </a:rPr>
              <a:t>- Branch productivity is improving across newer cohorts.</a:t>
            </a:r>
          </a:p>
          <a:p>
            <a:pPr/>
            <a:r>
              <a:rPr sz="1100" b="0">
                <a:solidFill>
                  <a:srgbClr val="111111"/>
                </a:solidFill>
                <a:latin typeface="Calibri"/>
              </a:rPr>
              <a:t>- The secured mix is supporting credit-cost stability.</a:t>
            </a:r>
          </a:p>
          <a:p>
            <a:pPr/>
            <a:r>
              <a:rPr sz="1100" b="0">
                <a:solidFill>
                  <a:srgbClr val="111111"/>
                </a:solidFill>
                <a:latin typeface="Calibri"/>
              </a:rPr>
              <a:t>- Funding access remains adequate for the next growth phase.</a:t>
            </a:r>
          </a:p>
          <a:p>
            <a:pPr/>
            <a:r>
              <a:rPr sz="1100" b="0">
                <a:solidFill>
                  <a:srgbClr val="111111"/>
                </a:solidFill>
                <a:latin typeface="Calibri"/>
              </a:rPr>
              <a:t>- Competitive intensity could pressure spreads.</a:t>
            </a:r>
          </a:p>
          <a:p>
            <a:pPr/>
            <a:r>
              <a:rPr sz="1100" b="0">
                <a:solidFill>
                  <a:srgbClr val="111111"/>
                </a:solidFill>
                <a:latin typeface="Calibri"/>
              </a:rPr>
              <a:t>- Asset-quality normalization may take longer than expected.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XYZ Finance Ltd At A Glance</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XYZ Finance Ltd is a diversified NBFC with a growing secured retail loan franchise and improving return ratios.</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₹178.0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TP ₹225.0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26.4%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trajectory across the forecast period reflects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5638647"/>
                <a:gridCol w="5638648"/>
              </a:tblGrid>
              <a:tr h="1005840">
                <a:tc>
                  <a:txBody>
                    <a:bodyPr/>
                    <a:lstStyle/>
                    <a:p>
                      <a:r>
                        <a:rPr b="1" sz="1100">
                          <a:solidFill>
                            <a:srgbClr val="FFFFFF"/>
                          </a:solidFill>
                          <a:latin typeface="Calibri"/>
                        </a:rPr>
                        <a:t>Period</a:t>
                      </a:r>
                    </a:p>
                  </a:txBody>
                  <a:tcPr>
                    <a:solidFill>
                      <a:srgbClr val="1F4690"/>
                    </a:solidFill>
                  </a:tcPr>
                </a:tc>
                <a:tc>
                  <a:txBody>
                    <a:bodyPr/>
                    <a:lstStyle/>
                    <a:p>
                      <a:r>
                        <a:rPr b="1" sz="1100">
                          <a:solidFill>
                            <a:srgbClr val="FFFFFF"/>
                          </a:solidFill>
                          <a:latin typeface="Calibri"/>
                        </a:rPr>
                        <a:t>Revenue</a:t>
                      </a:r>
                    </a:p>
                  </a:txBody>
                  <a:tcPr>
                    <a:solidFill>
                      <a:srgbClr val="1F4690"/>
                    </a:solidFill>
                  </a:tcPr>
                </a:tc>
              </a:tr>
              <a:tr h="1005840">
                <a:tc>
                  <a:txBody>
                    <a:bodyPr/>
                    <a:lstStyle/>
                    <a:p>
                      <a:r>
                        <a:rPr sz="1100">
                          <a:solidFill>
                            <a:srgbClr val="111111"/>
                          </a:solidFill>
                          <a:latin typeface="Calibri"/>
                        </a:rPr>
                        <a:t>FY24</a:t>
                      </a:r>
                    </a:p>
                  </a:txBody>
                  <a:tcPr/>
                </a:tc>
                <a:tc>
                  <a:txBody>
                    <a:bodyPr/>
                    <a:lstStyle/>
                    <a:p>
                      <a:r>
                        <a:rPr sz="1100">
                          <a:solidFill>
                            <a:srgbClr val="111111"/>
                          </a:solidFill>
                          <a:latin typeface="Calibri"/>
                        </a:rPr>
                        <a:t>₹31,200.0 Cr</a:t>
                      </a:r>
                    </a:p>
                  </a:txBody>
                  <a:tcPr/>
                </a:tc>
              </a:tr>
              <a:tr h="1005840">
                <a:tc>
                  <a:txBody>
                    <a:bodyPr/>
                    <a:lstStyle/>
                    <a:p>
                      <a:r>
                        <a:rPr sz="1100">
                          <a:solidFill>
                            <a:srgbClr val="111111"/>
                          </a:solidFill>
                          <a:latin typeface="Calibri"/>
                        </a:rPr>
                        <a:t>FY25</a:t>
                      </a:r>
                    </a:p>
                  </a:txBody>
                  <a:tcPr>
                    <a:solidFill>
                      <a:srgbClr val="FFFFFF"/>
                    </a:solidFill>
                  </a:tcPr>
                </a:tc>
                <a:tc>
                  <a:txBody>
                    <a:bodyPr/>
                    <a:lstStyle/>
                    <a:p>
                      <a:r>
                        <a:rPr sz="1100">
                          <a:solidFill>
                            <a:srgbClr val="111111"/>
                          </a:solidFill>
                          <a:latin typeface="Calibri"/>
                        </a:rPr>
                        <a:t>₹39,250.0 Cr</a:t>
                      </a:r>
                    </a:p>
                  </a:txBody>
                  <a:tcPr>
                    <a:solidFill>
                      <a:srgbClr val="FFFFFF"/>
                    </a:solidFill>
                  </a:tcPr>
                </a:tc>
              </a:tr>
              <a:tr h="1005840">
                <a:tc>
                  <a:txBody>
                    <a:bodyPr/>
                    <a:lstStyle/>
                    <a:p>
                      <a:r>
                        <a:rPr sz="1100">
                          <a:solidFill>
                            <a:srgbClr val="111111"/>
                          </a:solidFill>
                          <a:latin typeface="Calibri"/>
                        </a:rPr>
                        <a:t>FY26</a:t>
                      </a:r>
                    </a:p>
                  </a:txBody>
                  <a:tcPr/>
                </a:tc>
                <a:tc>
                  <a:txBody>
                    <a:bodyPr/>
                    <a:lstStyle/>
                    <a:p>
                      <a:r>
                        <a:rPr sz="1100">
                          <a:solidFill>
                            <a:srgbClr val="111111"/>
                          </a:solidFill>
                          <a:latin typeface="Calibri"/>
                        </a:rPr>
                        <a:t>₹48,500.0 Cr</a:t>
                      </a:r>
                    </a:p>
                  </a:txBody>
                  <a:tcPr/>
                </a:tc>
              </a:tr>
              <a:tr h="1005840">
                <a:tc>
                  <a:txBody>
                    <a:bodyPr/>
                    <a:lstStyle/>
                    <a:p>
                      <a:r>
                        <a:rPr sz="1100">
                          <a:solidFill>
                            <a:srgbClr val="111111"/>
                          </a:solidFill>
                          <a:latin typeface="Calibri"/>
                        </a:rPr>
                        <a:t>FY27</a:t>
                      </a:r>
                    </a:p>
                  </a:txBody>
                  <a:tcPr>
                    <a:solidFill>
                      <a:srgbClr val="FFFFFF"/>
                    </a:solidFill>
                  </a:tcPr>
                </a:tc>
                <a:tc>
                  <a:txBody>
                    <a:bodyPr/>
                    <a:lstStyle/>
                    <a:p>
                      <a:r>
                        <a:rPr sz="1100">
                          <a:solidFill>
                            <a:srgbClr val="111111"/>
                          </a:solidFill>
                          <a:latin typeface="Calibri"/>
                        </a:rPr>
                        <a:t>₹58,100.0 Cr</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Competitive intensity could pressure spreads.</a:t>
            </a:r>
          </a:p>
          <a:p>
            <a:pPr/>
            <a:r>
              <a:rPr sz="1100" b="0">
                <a:solidFill>
                  <a:srgbClr val="111111"/>
                </a:solidFill>
                <a:latin typeface="Calibri"/>
              </a:rPr>
              <a:t>- Asset-quality normalization may take longer than expected.</a:t>
            </a:r>
          </a:p>
          <a:p>
            <a:pPr/>
            <a:r>
              <a:rPr sz="1100" b="0">
                <a:solidFill>
                  <a:srgbClr val="111111"/>
                </a:solidFill>
                <a:latin typeface="Calibri"/>
              </a:rPr>
              <a:t>- Execution slippage in new geographies may slow disbursement momentum.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Analyst Certification &amp; Disclosures</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