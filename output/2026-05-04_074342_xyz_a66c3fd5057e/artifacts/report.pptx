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7719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71900"/>
            <a:ext cx="12191695"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347472"/>
            <a:ext cx="24688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411480"/>
            <a:ext cx="2056718" cy="502920"/>
          </a:xfrm>
          <a:prstGeom prst="rect">
            <a:avLst/>
          </a:prstGeom>
        </p:spPr>
      </p:pic>
      <p:sp>
        <p:nvSpPr>
          <p:cNvPr id="6" name="Rectangle 5"/>
          <p:cNvSpPr/>
          <p:nvPr/>
        </p:nvSpPr>
        <p:spPr>
          <a:xfrm>
            <a:off x="0" y="644652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77295" cy="41148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8" name="TextBox 7"/>
          <p:cNvSpPr txBox="1"/>
          <p:nvPr/>
        </p:nvSpPr>
        <p:spPr>
          <a:xfrm>
            <a:off x="548640" y="1371600"/>
            <a:ext cx="11094415" cy="1280160"/>
          </a:xfrm>
          <a:prstGeom prst="rect">
            <a:avLst/>
          </a:prstGeom>
          <a:noFill/>
        </p:spPr>
        <p:txBody>
          <a:bodyPr wrap="square">
            <a:spAutoFit/>
          </a:bodyPr>
          <a:lstStyle/>
          <a:p>
            <a:r>
              <a:rPr sz="4000" b="1">
                <a:solidFill>
                  <a:srgbClr val="FFFFFF"/>
                </a:solidFill>
                <a:latin typeface="Calibri"/>
              </a:rPr>
              <a:t>XYZ Finance Ltd — Equity Research Update</a:t>
            </a:r>
          </a:p>
        </p:txBody>
      </p:sp>
      <p:sp>
        <p:nvSpPr>
          <p:cNvPr id="9" name="TextBox 8"/>
          <p:cNvSpPr txBox="1"/>
          <p:nvPr/>
        </p:nvSpPr>
        <p:spPr>
          <a:xfrm>
            <a:off x="548640" y="2697480"/>
            <a:ext cx="11094415" cy="548640"/>
          </a:xfrm>
          <a:prstGeom prst="rect">
            <a:avLst/>
          </a:prstGeom>
          <a:noFill/>
        </p:spPr>
        <p:txBody>
          <a:bodyPr wrap="none">
            <a:spAutoFit/>
          </a:bodyPr>
          <a:lstStyle/>
          <a:p>
            <a:r>
              <a:rPr sz="1800" b="0">
                <a:solidFill>
                  <a:srgbClr val="FFE5B4"/>
                </a:solidFill>
                <a:latin typeface="Calibri"/>
              </a:rPr>
              <a:t>XYZ Finance Ltd | BUY</a:t>
            </a:r>
          </a:p>
        </p:txBody>
      </p:sp>
      <p:sp>
        <p:nvSpPr>
          <p:cNvPr id="10" name="Rounded Rectangle 9"/>
          <p:cNvSpPr/>
          <p:nvPr/>
        </p:nvSpPr>
        <p:spPr>
          <a:xfrm>
            <a:off x="9997135" y="548640"/>
            <a:ext cx="1645920" cy="5029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Rounded Rectangle 10"/>
          <p:cNvSpPr/>
          <p:nvPr/>
        </p:nvSpPr>
        <p:spPr>
          <a:xfrm>
            <a:off x="548640"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Rating</a:t>
            </a:r>
          </a:p>
          <a:p>
            <a:pPr algn="ctr"/>
            <a:r>
              <a:rPr sz="2000" b="1">
                <a:solidFill>
                  <a:srgbClr val="1F4690"/>
                </a:solidFill>
                <a:latin typeface="Calibri"/>
              </a:rPr>
              <a:t>BUY</a:t>
            </a:r>
          </a:p>
        </p:txBody>
      </p:sp>
      <p:sp>
        <p:nvSpPr>
          <p:cNvPr id="12" name="Rounded Rectangle 11"/>
          <p:cNvSpPr/>
          <p:nvPr/>
        </p:nvSpPr>
        <p:spPr>
          <a:xfrm>
            <a:off x="4338218"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CMP (INR)</a:t>
            </a:r>
          </a:p>
          <a:p>
            <a:pPr algn="ctr"/>
            <a:r>
              <a:rPr sz="2000" b="1">
                <a:solidFill>
                  <a:srgbClr val="1F4690"/>
                </a:solidFill>
                <a:latin typeface="Calibri"/>
              </a:rPr>
              <a:t>₹178.0</a:t>
            </a:r>
          </a:p>
        </p:txBody>
      </p:sp>
      <p:sp>
        <p:nvSpPr>
          <p:cNvPr id="13" name="Rounded Rectangle 12"/>
          <p:cNvSpPr/>
          <p:nvPr/>
        </p:nvSpPr>
        <p:spPr>
          <a:xfrm>
            <a:off x="8127796"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Target Price (INR)</a:t>
            </a:r>
          </a:p>
          <a:p>
            <a:pPr algn="ctr"/>
            <a:r>
              <a:rPr sz="2000" b="1">
                <a:solidFill>
                  <a:srgbClr val="1F4690"/>
                </a:solidFill>
                <a:latin typeface="Calibri"/>
              </a:rPr>
              <a:t>₹225.0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 of 16</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Company Snapshot</a:t>
            </a:r>
          </a:p>
        </p:txBody>
      </p:sp>
      <p:sp>
        <p:nvSpPr>
          <p:cNvPr id="11" name="TextBox 10"/>
          <p:cNvSpPr txBox="1"/>
          <p:nvPr/>
        </p:nvSpPr>
        <p:spPr>
          <a:xfrm>
            <a:off x="457200" y="1417320"/>
            <a:ext cx="5943600" cy="5029200"/>
          </a:xfrm>
          <a:prstGeom prst="rect">
            <a:avLst/>
          </a:prstGeom>
          <a:noFill/>
        </p:spPr>
        <p:txBody>
          <a:bodyPr wrap="square">
            <a:spAutoFit/>
          </a:bodyPr>
          <a:lstStyle/>
          <a:p>
            <a:r>
              <a:rPr sz="1100" b="0">
                <a:solidFill>
                  <a:srgbClr val="111111"/>
                </a:solidFill>
                <a:latin typeface="Calibri"/>
              </a:rPr>
              <a:t>XYZ Finance Ltd is a Non-Banking Financial Company listed on the NSE, operating a diversified lending book with a strategic pivot toward secured retail loans. The company earns net interest income primarily through retail and SME lending, supplemented by fee-based products. Its balance-sheet expansion is supported by stable funding access and a branch network that is steadily improving in productivity across newer cohorts. Return ratios have been on an improving trajectory, and management has prioritised credit-cost discipline over volume-led growth in recent periods, positioning the franchise for sustainable earnings compounding.</a:t>
            </a:r>
          </a:p>
        </p:txBody>
      </p:sp>
      <p:sp>
        <p:nvSpPr>
          <p:cNvPr id="12" name="TextBox 11"/>
          <p:cNvSpPr txBox="1"/>
          <p:nvPr/>
        </p:nvSpPr>
        <p:spPr>
          <a:xfrm>
            <a:off x="6675120" y="1417320"/>
            <a:ext cx="1640738" cy="5029200"/>
          </a:xfrm>
          <a:prstGeom prst="rect">
            <a:avLst/>
          </a:prstGeom>
          <a:noFill/>
        </p:spPr>
        <p:txBody>
          <a:bodyPr wrap="square">
            <a:spAutoFit/>
          </a:bodyPr>
          <a:lstStyle/>
          <a:p>
            <a:pPr algn="ctr"/>
            <a:r>
              <a:rPr sz="1400" b="1">
                <a:solidFill>
                  <a:srgbClr val="1F4690"/>
                </a:solidFill>
                <a:latin typeface="Calibri"/>
              </a:rPr>
              <a:t>CMP (INR) ₹178.0</a:t>
            </a:r>
          </a:p>
        </p:txBody>
      </p:sp>
      <p:sp>
        <p:nvSpPr>
          <p:cNvPr id="13" name="TextBox 12"/>
          <p:cNvSpPr txBox="1"/>
          <p:nvPr/>
        </p:nvSpPr>
        <p:spPr>
          <a:xfrm>
            <a:off x="8361578" y="1417320"/>
            <a:ext cx="1640738" cy="5029200"/>
          </a:xfrm>
          <a:prstGeom prst="rect">
            <a:avLst/>
          </a:prstGeom>
          <a:noFill/>
        </p:spPr>
        <p:txBody>
          <a:bodyPr wrap="square">
            <a:spAutoFit/>
          </a:bodyPr>
          <a:lstStyle/>
          <a:p>
            <a:pPr algn="ctr"/>
            <a:r>
              <a:rPr sz="1400" b="1">
                <a:solidFill>
                  <a:srgbClr val="1F4690"/>
                </a:solidFill>
                <a:latin typeface="Calibri"/>
              </a:rPr>
              <a:t>Target Price (INR) ₹225.0</a:t>
            </a:r>
          </a:p>
        </p:txBody>
      </p:sp>
      <p:sp>
        <p:nvSpPr>
          <p:cNvPr id="14" name="TextBox 13"/>
          <p:cNvSpPr txBox="1"/>
          <p:nvPr/>
        </p:nvSpPr>
        <p:spPr>
          <a:xfrm>
            <a:off x="10048036" y="1417320"/>
            <a:ext cx="1640738" cy="5029200"/>
          </a:xfrm>
          <a:prstGeom prst="rect">
            <a:avLst/>
          </a:prstGeom>
          <a:noFill/>
        </p:spPr>
        <p:txBody>
          <a:bodyPr wrap="square">
            <a:spAutoFit/>
          </a:bodyPr>
          <a:lstStyle/>
          <a:p>
            <a:pPr algn="ctr"/>
            <a:r>
              <a:rPr sz="1400" b="1">
                <a:solidFill>
                  <a:srgbClr val="1F4690"/>
                </a:solidFill>
                <a:latin typeface="Calibri"/>
              </a:rPr>
              <a:t>Upside (%) 26.4%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3 of 16</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Investment Thesis</a:t>
            </a:r>
          </a:p>
        </p:txBody>
      </p:sp>
      <p:sp>
        <p:nvSpPr>
          <p:cNvPr id="11" name="TextBox 10"/>
          <p:cNvSpPr txBox="1"/>
          <p:nvPr/>
        </p:nvSpPr>
        <p:spPr>
          <a:xfrm>
            <a:off x="457200" y="1417320"/>
            <a:ext cx="5120640" cy="5029200"/>
          </a:xfrm>
          <a:prstGeom prst="rect">
            <a:avLst/>
          </a:prstGeom>
          <a:noFill/>
        </p:spPr>
        <p:txBody>
          <a:bodyPr wrap="square">
            <a:spAutoFit/>
          </a:bodyPr>
          <a:lstStyle/>
          <a:p>
            <a:r>
              <a:rPr sz="1100" b="0">
                <a:solidFill>
                  <a:srgbClr val="111111"/>
                </a:solidFill>
                <a:latin typeface="Calibri"/>
              </a:rPr>
              <a:t>We maintain our BUY rating on XYZ Finance on the basis of a well-executed transition toward secured retail lending, which is structurally improving credit-cost visibility and NIM resilience. Branch-level productivity is trending upward across newer cohorts, validating the distribution investment made over prior years. Funding access remains adequate to sustain the next leg of AUM growth, and the return profile — measured by both ROA and ROE — is moving in the right direction. The market has yet to fully price the convergence of these three pillars, leaving a meaningful upside to our intrinsic value estimate based on FY27E earnings.</a:t>
            </a:r>
          </a:p>
        </p:txBody>
      </p:sp>
      <p:sp>
        <p:nvSpPr>
          <p:cNvPr id="12" name="TextBox 11"/>
          <p:cNvSpPr txBox="1"/>
          <p:nvPr/>
        </p:nvSpPr>
        <p:spPr>
          <a:xfrm>
            <a:off x="5852160" y="1417320"/>
            <a:ext cx="5882335" cy="5029200"/>
          </a:xfrm>
          <a:prstGeom prst="rect">
            <a:avLst/>
          </a:prstGeom>
          <a:noFill/>
        </p:spPr>
        <p:txBody>
          <a:bodyPr wrap="square">
            <a:spAutoFit/>
          </a:bodyPr>
          <a:lstStyle/>
          <a:p>
            <a:pPr/>
            <a:r>
              <a:rPr sz="1100" b="0">
                <a:solidFill>
                  <a:srgbClr val="111111"/>
                </a:solidFill>
                <a:latin typeface="Calibri"/>
              </a:rPr>
              <a:t>- Secured loan mix expansion lowers loss-given-default and stabilises credit costs through the business cycle, a structural quality u...</a:t>
            </a:r>
          </a:p>
          <a:p>
            <a:pPr/>
            <a:r>
              <a:rPr sz="1100" b="0">
                <a:solidFill>
                  <a:srgbClr val="111111"/>
                </a:solidFill>
                <a:latin typeface="Calibri"/>
              </a:rPr>
              <a:t>- Branch productivity gains in newer cohorts signal operating leverage potential as the fixed-cost network matures and yield-per-bran...</a:t>
            </a:r>
          </a:p>
          <a:p>
            <a:pPr/>
            <a:r>
              <a:rPr sz="1100" b="0">
                <a:solidFill>
                  <a:srgbClr val="111111"/>
                </a:solidFill>
                <a:latin typeface="Calibri"/>
              </a:rPr>
              <a:t>- Adequate funding access across bank lines and capital markets supports disbursement continuity without relying on episodic equity r...</a:t>
            </a:r>
          </a:p>
          <a:p>
            <a:pPr/>
            <a:r>
              <a:rPr sz="1100" b="0">
                <a:solidFill>
                  <a:srgbClr val="111111"/>
                </a:solidFill>
                <a:latin typeface="Calibri"/>
              </a:rPr>
              <a:t>- NIM trajectory in FY26 reflects both a favourable product mix and measured liability-side management in a competitive rate environm...</a:t>
            </a:r>
          </a:p>
          <a:p>
            <a:pPr/>
            <a:r>
              <a:rPr sz="1100" b="0">
                <a:solidFill>
                  <a:srgbClr val="111111"/>
                </a:solidFill>
                <a:latin typeface="Calibri"/>
              </a:rPr>
              <a:t>- ROE improvement demonstrates that asset quality and profitability are moving in tandem rather than trading off, the key preconditio...</a:t>
            </a:r>
          </a:p>
          <a:p>
            <a:pPr/>
            <a:r>
              <a:rPr sz="1100" b="0">
                <a:solidFill>
                  <a:srgbClr val="111111"/>
                </a:solidFill>
                <a:latin typeface="Calibri"/>
              </a:rPr>
              <a:t>- Current market pricing does not fully reflect the compounding quality of earnings, leaving a gap to our target price that is suppor...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4 of 16</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NBFC Sector — Structural Tailwinds Intact</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India's NBFC sector occupies a critical position in the formal credit ecosystem, serving borrower segments — including self-employed individuals, MSMEs, and rural households — that are underserved by scheduled commercial banks. Credit penetration in these segments remains structurally low relative to peer emerging markets, creating a long runway for well-managed NBFCs with strong underwriting discipline. The sector has undergone meaningful consolidation following tightened RBI regulations around liquidity coverage, asset-liability management, and scale-based supervision, which has improved the competitive position of larger, better-capitalised players. Regulatory expectations around governance and capital adequacy have risen, creating a durable moat for franchises that invested early in risk infrastructure. Digital underwriting and co-lending partnerships are accelerating reach without proportionate balance-sheet risk.</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India's household credit-to-GDP ratio remains well below the emerging-market average, implying a multi-decade formalisation...</a:t>
            </a:r>
          </a:p>
          <a:p>
            <a:pPr/>
            <a:r>
              <a:rPr sz="1100" b="0">
                <a:solidFill>
                  <a:srgbClr val="111111"/>
                </a:solidFill>
                <a:latin typeface="Calibri"/>
              </a:rPr>
              <a:t>- RBI scale-based regulation has raised compliance costs for smaller players, structurally favouring mid-to-large NBFCs with...</a:t>
            </a:r>
          </a:p>
          <a:p>
            <a:pPr/>
            <a:r>
              <a:rPr sz="1100" b="0">
                <a:solidFill>
                  <a:srgbClr val="111111"/>
                </a:solidFill>
                <a:latin typeface="Calibri"/>
              </a:rPr>
              <a:t>- Co-lending partnerships with banks allow NBFCs to originate at scale while recycling capital efficiently, improving asset-l...</a:t>
            </a:r>
          </a:p>
          <a:p>
            <a:pPr/>
            <a:r>
              <a:rPr sz="1100" b="0">
                <a:solidFill>
                  <a:srgbClr val="111111"/>
                </a:solidFill>
                <a:latin typeface="Calibri"/>
              </a:rPr>
              <a:t>- Digital KYC, account-aggregator-based cash-flow underwriting, and deep bureau integration have improved turnaround times an...</a:t>
            </a:r>
          </a:p>
          <a:p>
            <a:pPr/>
            <a:r>
              <a:rPr sz="1100" b="0">
                <a:solidFill>
                  <a:srgbClr val="111111"/>
                </a:solidFill>
                <a:latin typeface="Calibri"/>
              </a:rPr>
              <a:t>- Government-backed credit guarantee schemes and priority-sector targets continue to channel institutional funding toward NBF...</a:t>
            </a:r>
          </a:p>
          <a:p>
            <a:pPr/>
            <a:r>
              <a:rPr sz="1100" b="0">
                <a:solidFill>
                  <a:srgbClr val="111111"/>
                </a:solidFill>
                <a:latin typeface="Calibri"/>
              </a:rPr>
              <a:t>- Declining non-performing assets across the sector signal credit cycle maturation, supporting NIM expansion as provision req...</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5 of 16</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Highlights</a:t>
            </a:r>
          </a:p>
        </p:txBody>
      </p:sp>
      <p:sp>
        <p:nvSpPr>
          <p:cNvPr id="11" name="TextBox 10"/>
          <p:cNvSpPr txBox="1"/>
          <p:nvPr/>
        </p:nvSpPr>
        <p:spPr>
          <a:xfrm>
            <a:off x="457200" y="2103120"/>
            <a:ext cx="11277295" cy="4343400"/>
          </a:xfrm>
          <a:prstGeom prst="rect">
            <a:avLst/>
          </a:prstGeom>
          <a:noFill/>
        </p:spPr>
        <p:txBody>
          <a:bodyPr wrap="square">
            <a:spAutoFit/>
          </a:bodyPr>
          <a:lstStyle/>
          <a:p>
            <a:pPr/>
            <a:r>
              <a:rPr sz="1100" b="0">
                <a:solidFill>
                  <a:srgbClr val="111111"/>
                </a:solidFill>
                <a:latin typeface="Calibri"/>
              </a:rPr>
              <a:t>- Secured Mix Expansion: The portfolio's shift toward collateral-backed loans is structurally lowering credit-cost volatility and improving lender confidence in the underlying book quality.</a:t>
            </a:r>
          </a:p>
          <a:p>
            <a:pPr/>
            <a:r>
              <a:rPr sz="1100" b="0">
                <a:solidFill>
                  <a:srgbClr val="111111"/>
                </a:solidFill>
                <a:latin typeface="Calibri"/>
              </a:rPr>
              <a:t>- Branch Productivity Inflection: Newer branches are tracking materially better disbursement and collection efficiency, signalling the operating model is scaling as originally designed.</a:t>
            </a:r>
          </a:p>
          <a:p>
            <a:pPr/>
            <a:r>
              <a:rPr sz="1100" b="0">
                <a:solidFill>
                  <a:srgbClr val="111111"/>
                </a:solidFill>
                <a:latin typeface="Calibri"/>
              </a:rPr>
              <a:t>- NIM Resilience: Net interest margins in FY26 have held up despite a competitive funding environment, reflecting disciplined product pricing and a favourable asset mix toward secured categories.</a:t>
            </a:r>
          </a:p>
          <a:p>
            <a:pPr/>
            <a:r>
              <a:rPr sz="1100" b="0">
                <a:solidFill>
                  <a:srgbClr val="111111"/>
                </a:solidFill>
                <a:latin typeface="Calibri"/>
              </a:rPr>
              <a:t>- Return Ratio Improvement: ROE is on a visible upward path as PAT growth outpaces equity accretion, a key re-rating catalyst that the current market multiple does not yet fully reflect.</a:t>
            </a:r>
          </a:p>
          <a:p>
            <a:pPr/>
            <a:r>
              <a:rPr sz="1100" b="0">
                <a:solidFill>
                  <a:srgbClr val="111111"/>
                </a:solidFill>
                <a:latin typeface="Calibri"/>
              </a:rPr>
              <a:t>- Funding Adequacy: Diversified liability mix and existing bank sanctions ensure the company is not constrained in pursuing its next phase of AUM growth across geographies.</a:t>
            </a:r>
          </a:p>
          <a:p>
            <a:pPr/>
            <a:r>
              <a:rPr sz="1100" b="0">
                <a:solidFill>
                  <a:srgbClr val="111111"/>
                </a:solidFill>
                <a:latin typeface="Calibri"/>
              </a:rPr>
              <a:t>- Valuation Upside: Current market pricing does not fully reflect the compounding quality of earnings, leaving a meaningful gap to our target price on a twelve-month view.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6 of 16</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AUM Growth Trajectory</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AUM growth is the primary revenue engine for XYZ Finance, and the trajectory over FY24–FY27 reflects the compounding effect of branch additions, improving productivity per branch, and a deliberate mix shift toward higher-ticket secured products. Secured loans tend to have longer tenors and lower prepayment rates, which impart durability to the book once originated. The pace of growth has been calibrated against funding availability and capital adequacy, ensuring that balance-sheet quality is not sacrificed for volume. Our estimates model continued expansion in AUM through FY27, driven by geographic deepening in existing markets and cautious entry into adjacent product categories where credit infrastructure is already in place. The quality of AUM — measured by vintage performance and portfolio-at-risk ratios — remains the central monitoring variable for validating the thesis on an ongoing basis.</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7 of 16</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PAT Growth — Profitability Inflecting</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Profit after tax is the ultimate validation of the operating thesis, and XYZ Finance's PAT trajectory over FY24–FY27 reflects the convergence of three dynamics: a widening NIM as the secured-loan mix matures, declining provision costs as the book seasons and credit quality stabilises, and operating leverage as branch infrastructure built over prior years begins to generate disproportionate incremental revenue. PAT growth is not reliant on one-off income — it is driven by core net interest income supplemented by fee streams that grow in proportion to AUM. Our FY26 and FY27 estimates assume credit costs remain contained near current levels, consistent with the secured-product strategy and management's guidance on geographic exposure. A deviation in credit costs to the upside represents the primary downside sensitivity to our earnings estimates and warrants close quarterly monitoring.</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8 of 16</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Valuation — Earnings Quality Re-rating in Progress</a:t>
            </a:r>
          </a:p>
        </p:txBody>
      </p:sp>
      <p:sp>
        <p:nvSpPr>
          <p:cNvPr id="11" name="TextBox 10"/>
          <p:cNvSpPr txBox="1"/>
          <p:nvPr/>
        </p:nvSpPr>
        <p:spPr>
          <a:xfrm>
            <a:off x="457200" y="1417320"/>
            <a:ext cx="4572000" cy="1645920"/>
          </a:xfrm>
          <a:prstGeom prst="rect">
            <a:avLst/>
          </a:prstGeom>
          <a:noFill/>
        </p:spPr>
        <p:txBody>
          <a:bodyPr wrap="square">
            <a:spAutoFit/>
          </a:bodyPr>
          <a:lstStyle/>
          <a:p>
            <a:r>
              <a:rPr sz="1100" b="0">
                <a:solidFill>
                  <a:srgbClr val="111111"/>
                </a:solidFill>
                <a:latin typeface="Calibri"/>
              </a:rPr>
              <a:t>Our valuation of XYZ Finance is grounded in a forward earnings framework applied to FY27E estimates, where the improved return profile provides a stronger base for multiple assignment. For NBFCs of this profile — secured book, improving ROE, and adequate capital adequacy — the market typically re-rates toward higher P/Book and P/Earnings multiples as confiden...</a:t>
            </a:r>
          </a:p>
        </p:txBody>
      </p:sp>
      <p:sp>
        <p:nvSpPr>
          <p:cNvPr id="12" name="TextBox 11"/>
          <p:cNvSpPr txBox="1"/>
          <p:nvPr/>
        </p:nvSpPr>
        <p:spPr>
          <a:xfrm>
            <a:off x="5303520" y="1417320"/>
            <a:ext cx="1240475" cy="1645920"/>
          </a:xfrm>
          <a:prstGeom prst="rect">
            <a:avLst/>
          </a:prstGeom>
          <a:noFill/>
        </p:spPr>
        <p:txBody>
          <a:bodyPr wrap="square">
            <a:spAutoFit/>
          </a:bodyPr>
          <a:lstStyle/>
          <a:p>
            <a:pPr algn="ctr"/>
            <a:r>
              <a:rPr sz="1400" b="1">
                <a:solidFill>
                  <a:srgbClr val="1F4690"/>
                </a:solidFill>
                <a:latin typeface="Calibri"/>
              </a:rPr>
              <a:t>CMP (INR) ₹178.0</a:t>
            </a:r>
          </a:p>
        </p:txBody>
      </p:sp>
      <p:sp>
        <p:nvSpPr>
          <p:cNvPr id="13" name="TextBox 12"/>
          <p:cNvSpPr txBox="1"/>
          <p:nvPr/>
        </p:nvSpPr>
        <p:spPr>
          <a:xfrm>
            <a:off x="6589715" y="1417320"/>
            <a:ext cx="1240475" cy="1645920"/>
          </a:xfrm>
          <a:prstGeom prst="rect">
            <a:avLst/>
          </a:prstGeom>
          <a:noFill/>
        </p:spPr>
        <p:txBody>
          <a:bodyPr wrap="square">
            <a:spAutoFit/>
          </a:bodyPr>
          <a:lstStyle/>
          <a:p>
            <a:pPr algn="ctr"/>
            <a:r>
              <a:rPr sz="1400" b="1">
                <a:solidFill>
                  <a:srgbClr val="1F4690"/>
                </a:solidFill>
                <a:latin typeface="Calibri"/>
              </a:rPr>
              <a:t>Target Price (INR) ₹225.0</a:t>
            </a:r>
          </a:p>
        </p:txBody>
      </p:sp>
      <p:sp>
        <p:nvSpPr>
          <p:cNvPr id="14" name="TextBox 13"/>
          <p:cNvSpPr txBox="1"/>
          <p:nvPr/>
        </p:nvSpPr>
        <p:spPr>
          <a:xfrm>
            <a:off x="7875910" y="1417320"/>
            <a:ext cx="1240475" cy="1645920"/>
          </a:xfrm>
          <a:prstGeom prst="rect">
            <a:avLst/>
          </a:prstGeom>
          <a:noFill/>
        </p:spPr>
        <p:txBody>
          <a:bodyPr wrap="square">
            <a:spAutoFit/>
          </a:bodyPr>
          <a:lstStyle/>
          <a:p>
            <a:pPr algn="ctr"/>
            <a:r>
              <a:rPr sz="1400" b="1">
                <a:solidFill>
                  <a:srgbClr val="1F4690"/>
                </a:solidFill>
                <a:latin typeface="Calibri"/>
              </a:rPr>
              <a:t>Upside (%) 26.4%</a:t>
            </a:r>
          </a:p>
        </p:txBody>
      </p:sp>
      <p:sp>
        <p:nvSpPr>
          <p:cNvPr id="15" name="TextBox 14"/>
          <p:cNvSpPr txBox="1"/>
          <p:nvPr/>
        </p:nvSpPr>
        <p:spPr>
          <a:xfrm>
            <a:off x="9162105" y="1417320"/>
            <a:ext cx="1240475" cy="1645920"/>
          </a:xfrm>
          <a:prstGeom prst="rect">
            <a:avLst/>
          </a:prstGeom>
          <a:noFill/>
        </p:spPr>
        <p:txBody>
          <a:bodyPr wrap="square">
            <a:spAutoFit/>
          </a:bodyPr>
          <a:lstStyle/>
          <a:p>
            <a:pPr algn="ctr"/>
            <a:r>
              <a:rPr sz="1400" b="1">
                <a:solidFill>
                  <a:srgbClr val="1F4690"/>
                </a:solidFill>
                <a:latin typeface="Calibri"/>
              </a:rPr>
              <a:t>NIM FY26E (%) 7.8</a:t>
            </a:r>
          </a:p>
        </p:txBody>
      </p:sp>
      <p:sp>
        <p:nvSpPr>
          <p:cNvPr id="16" name="TextBox 15"/>
          <p:cNvSpPr txBox="1"/>
          <p:nvPr/>
        </p:nvSpPr>
        <p:spPr>
          <a:xfrm>
            <a:off x="10448300" y="1417320"/>
            <a:ext cx="1240475" cy="1645920"/>
          </a:xfrm>
          <a:prstGeom prst="rect">
            <a:avLst/>
          </a:prstGeom>
          <a:noFill/>
        </p:spPr>
        <p:txBody>
          <a:bodyPr wrap="square">
            <a:spAutoFit/>
          </a:bodyPr>
          <a:lstStyle/>
          <a:p>
            <a:pPr algn="ctr"/>
            <a:r>
              <a:rPr sz="1400" b="1">
                <a:solidFill>
                  <a:srgbClr val="1F4690"/>
                </a:solidFill>
                <a:latin typeface="Calibri"/>
              </a:rPr>
              <a:t>ROE FY26E (%) 16.9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9 of 16</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DCF Framework — Key Assumptions</a:t>
            </a:r>
          </a:p>
        </p:txBody>
      </p:sp>
      <p:sp>
        <p:nvSpPr>
          <p:cNvPr id="11" name="TextBox 10"/>
          <p:cNvSpPr txBox="1"/>
          <p:nvPr/>
        </p:nvSpPr>
        <p:spPr>
          <a:xfrm>
            <a:off x="457200" y="1417320"/>
            <a:ext cx="5029200" cy="5029200"/>
          </a:xfrm>
          <a:prstGeom prst="rect">
            <a:avLst/>
          </a:prstGeom>
          <a:noFill/>
        </p:spPr>
        <p:txBody>
          <a:bodyPr wrap="square">
            <a:spAutoFit/>
          </a:bodyPr>
          <a:lstStyle/>
          <a:p>
            <a:r>
              <a:rPr sz="1100" b="0">
                <a:solidFill>
                  <a:srgbClr val="111111"/>
                </a:solidFill>
                <a:latin typeface="Calibri"/>
              </a:rPr>
              <a:t>Our discounted cash flow framework for XYZ Finance is constructed around distributable earnings to equity holders, given the NBFC's capital-intensity and regulatory minimum capital requirements. The cost of equity reflects the risk-free rate, an equity risk premium consistent with India-focused financial services franchises, and a company-specific beta that accounts for the balance-sheet leverage inherent in lending businesses. Terminal growth is calibrated against long-run nominal GDP assumptions for India, adjusted downward to reflect the competitive intensity of the NBFC lending market. We stress-tested the output across a range of cost-of-equity and terminal-growth combinations to confirm that the base-case target is robust to reasonable parameter perturbations. The sensitivity analysis confirms that the margin of safety remains positive across a broad range of cost-of-equity assumptions, provided credit costs do not structurally deviate from management's guided trajectory over the medium term.</a:t>
            </a:r>
          </a:p>
        </p:txBody>
      </p:sp>
      <p:sp>
        <p:nvSpPr>
          <p:cNvPr id="12" name="TextBox 11"/>
          <p:cNvSpPr txBox="1"/>
          <p:nvPr/>
        </p:nvSpPr>
        <p:spPr>
          <a:xfrm>
            <a:off x="5760720" y="1417320"/>
            <a:ext cx="1945538" cy="1554480"/>
          </a:xfrm>
          <a:prstGeom prst="rect">
            <a:avLst/>
          </a:prstGeom>
          <a:noFill/>
        </p:spPr>
        <p:txBody>
          <a:bodyPr wrap="square">
            <a:spAutoFit/>
          </a:bodyPr>
          <a:lstStyle/>
          <a:p>
            <a:pPr algn="ctr"/>
            <a:r>
              <a:rPr sz="1400" b="1">
                <a:solidFill>
                  <a:srgbClr val="1F4690"/>
                </a:solidFill>
                <a:latin typeface="Calibri"/>
              </a:rPr>
              <a:t>PAT FY26E (INR Cr) 2,140.0</a:t>
            </a:r>
          </a:p>
        </p:txBody>
      </p:sp>
      <p:sp>
        <p:nvSpPr>
          <p:cNvPr id="13" name="TextBox 12"/>
          <p:cNvSpPr txBox="1"/>
          <p:nvPr/>
        </p:nvSpPr>
        <p:spPr>
          <a:xfrm>
            <a:off x="7751978" y="1417320"/>
            <a:ext cx="1945538" cy="1554480"/>
          </a:xfrm>
          <a:prstGeom prst="rect">
            <a:avLst/>
          </a:prstGeom>
          <a:noFill/>
        </p:spPr>
        <p:txBody>
          <a:bodyPr wrap="square">
            <a:spAutoFit/>
          </a:bodyPr>
          <a:lstStyle/>
          <a:p>
            <a:pPr algn="ctr"/>
            <a:r>
              <a:rPr sz="1400" b="1">
                <a:solidFill>
                  <a:srgbClr val="1F4690"/>
                </a:solidFill>
                <a:latin typeface="Calibri"/>
              </a:rPr>
              <a:t>ROE FY26E (%) 16.9</a:t>
            </a:r>
          </a:p>
        </p:txBody>
      </p:sp>
      <p:sp>
        <p:nvSpPr>
          <p:cNvPr id="14" name="TextBox 13"/>
          <p:cNvSpPr txBox="1"/>
          <p:nvPr/>
        </p:nvSpPr>
        <p:spPr>
          <a:xfrm>
            <a:off x="9743236" y="1417320"/>
            <a:ext cx="1945538" cy="1554480"/>
          </a:xfrm>
          <a:prstGeom prst="rect">
            <a:avLst/>
          </a:prstGeom>
          <a:noFill/>
        </p:spPr>
        <p:txBody>
          <a:bodyPr wrap="square">
            <a:spAutoFit/>
          </a:bodyPr>
          <a:lstStyle/>
          <a:p>
            <a:pPr algn="ctr"/>
            <a:r>
              <a:rPr sz="1400" b="1">
                <a:solidFill>
                  <a:srgbClr val="1F4690"/>
                </a:solidFill>
                <a:latin typeface="Calibri"/>
              </a:rPr>
              <a:t>Target Price (INR) ₹225.0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10 of 16</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Loan Book Composition — Secured vs. Unsecured</a:t>
            </a:r>
          </a:p>
        </p:txBody>
      </p:sp>
      <p:sp>
        <p:nvSpPr>
          <p:cNvPr id="11" name="TextBox 10"/>
          <p:cNvSpPr txBox="1"/>
          <p:nvPr/>
        </p:nvSpPr>
        <p:spPr>
          <a:xfrm>
            <a:off x="457200" y="1417320"/>
            <a:ext cx="4389120" cy="2194560"/>
          </a:xfrm>
          <a:prstGeom prst="rect">
            <a:avLst/>
          </a:prstGeom>
          <a:noFill/>
        </p:spPr>
        <p:txBody>
          <a:bodyPr wrap="square">
            <a:spAutoFit/>
          </a:bodyPr>
          <a:lstStyle/>
          <a:p>
            <a:r>
              <a:rPr sz="1100" b="0">
                <a:solidFill>
                  <a:srgbClr val="111111"/>
                </a:solidFill>
                <a:latin typeface="Calibri"/>
              </a:rPr>
              <a:t>The composition of XYZ Finance's loan book is the most direct expression of its strategic intent, and the trajectory of the secured-to-unsecured ratio is the primary monitoring variable for the investment thesis. Secured products — including mortgage-backed loans, loan against property, and vehicle finance — carry lower loss-given-default by definition, enabling the company to price competitively while maintaining acceptable risk-adjusted returns. The shift toward secured lending also broaden...</a:t>
            </a:r>
          </a:p>
        </p:txBody>
      </p:sp>
      <p:pic>
        <p:nvPicPr>
          <p:cNvPr id="12" name="Picture 11" descr="image.png"/>
          <p:cNvPicPr>
            <a:picLocks noChangeAspect="1"/>
          </p:cNvPicPr>
          <p:nvPr/>
        </p:nvPicPr>
        <p:blipFill>
          <a:blip r:embed="rId3"/>
          <a:stretch>
            <a:fillRect/>
          </a:stretch>
        </p:blipFill>
        <p:spPr>
          <a:xfrm>
            <a:off x="5120640" y="1417320"/>
            <a:ext cx="6613855" cy="21945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11 of 16</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Share Price Performance vs. Benchmark</a:t>
            </a:r>
          </a:p>
        </p:txBody>
      </p:sp>
      <p:pic>
        <p:nvPicPr>
          <p:cNvPr id="11" name="Picture 10" descr="image.png"/>
          <p:cNvPicPr>
            <a:picLocks noChangeAspect="1"/>
          </p:cNvPicPr>
          <p:nvPr/>
        </p:nvPicPr>
        <p:blipFill>
          <a:blip r:embed="rId3"/>
          <a:stretch>
            <a:fillRect/>
          </a:stretch>
        </p:blipFill>
        <p:spPr>
          <a:xfrm>
            <a:off x="457200" y="2194560"/>
            <a:ext cx="11277295" cy="42519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12 of 16</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Trading Strategy — Entry, Review, and Exit Framework</a:t>
            </a:r>
          </a:p>
        </p:txBody>
      </p:sp>
      <p:sp>
        <p:nvSpPr>
          <p:cNvPr id="11" name="TextBox 10"/>
          <p:cNvSpPr txBox="1"/>
          <p:nvPr/>
        </p:nvSpPr>
        <p:spPr>
          <a:xfrm>
            <a:off x="457200" y="2423160"/>
            <a:ext cx="5486400" cy="4023360"/>
          </a:xfrm>
          <a:prstGeom prst="rect">
            <a:avLst/>
          </a:prstGeom>
          <a:noFill/>
        </p:spPr>
        <p:txBody>
          <a:bodyPr wrap="square">
            <a:spAutoFit/>
          </a:bodyPr>
          <a:lstStyle/>
          <a:p>
            <a:r>
              <a:rPr sz="1100" b="0">
                <a:solidFill>
                  <a:srgbClr val="111111"/>
                </a:solidFill>
                <a:latin typeface="Calibri"/>
              </a:rPr>
              <a:t>We recommend building positions in XYZ Finance over the near term, with the current market price offering an asymmetric risk-reward relative to our base-case target. The stock has underperformed the Nifty Financial Services index over the past quarter, which we attribute to sector-wide de-rating concerns rather than company-specific deterioration — a distinction that creates a more attractive entry point for patient, thesis-driven investors. Position sizing should account for the inherent leverage in an NBFC balance sheet and the sensitivity of earnings to credit-cost assumptions. We would use any pullback toward the lower end of the valuation band as an opportunity to add, and would revisit the thesis if credit costs print materially above our estimates for two consecutive quarters without a management-guided path to normalisation.</a:t>
            </a:r>
          </a:p>
        </p:txBody>
      </p:sp>
      <p:sp>
        <p:nvSpPr>
          <p:cNvPr id="12" name="TextBox 11"/>
          <p:cNvSpPr txBox="1"/>
          <p:nvPr/>
        </p:nvSpPr>
        <p:spPr>
          <a:xfrm>
            <a:off x="6217920" y="2423160"/>
            <a:ext cx="5516575" cy="4023360"/>
          </a:xfrm>
          <a:prstGeom prst="rect">
            <a:avLst/>
          </a:prstGeom>
          <a:noFill/>
        </p:spPr>
        <p:txBody>
          <a:bodyPr wrap="square">
            <a:spAutoFit/>
          </a:bodyPr>
          <a:lstStyle/>
          <a:p>
            <a:pPr/>
            <a:r>
              <a:rPr sz="1100" b="0">
                <a:solidFill>
                  <a:srgbClr val="111111"/>
                </a:solidFill>
                <a:latin typeface="Calibri"/>
              </a:rPr>
              <a:t>- Entry Zone: Current levels offer a reasonable margin of safety relative to the base-case target, with risk-reward skewed po...</a:t>
            </a:r>
          </a:p>
          <a:p>
            <a:pPr/>
            <a:r>
              <a:rPr sz="1100" b="0">
                <a:solidFill>
                  <a:srgbClr val="111111"/>
                </a:solidFill>
                <a:latin typeface="Calibri"/>
              </a:rPr>
              <a:t>- Add on Weakness: Sector-wide rate or regulatory corrections — rather than company-specific credit events — should be treate...</a:t>
            </a:r>
          </a:p>
          <a:p>
            <a:pPr/>
            <a:r>
              <a:rPr sz="1100" b="0">
                <a:solidFill>
                  <a:srgbClr val="111111"/>
                </a:solidFill>
                <a:latin typeface="Calibri"/>
              </a:rPr>
              <a:t>- Review Trigger: Quarterly credit costs printing materially above estimates or a management revision to disbursement targets...</a:t>
            </a:r>
          </a:p>
          <a:p>
            <a:pPr/>
            <a:r>
              <a:rPr sz="1100" b="0">
                <a:solidFill>
                  <a:srgbClr val="111111"/>
                </a:solidFill>
                <a:latin typeface="Calibri"/>
              </a:rPr>
              <a:t>- Exit Signal: Sustained deterioration in the secured mix share, an unexpected rise in NPA ratios beyond our stressed scenari...</a:t>
            </a:r>
          </a:p>
          <a:p>
            <a:pPr/>
            <a:r>
              <a:rPr sz="1100" b="0">
                <a:solidFill>
                  <a:srgbClr val="111111"/>
                </a:solidFill>
                <a:latin typeface="Calibri"/>
              </a:rPr>
              <a:t>- Position Sizing: NBFC balance-sheet leverage means earnings are simultaneously sensitive to NIM compression and credit-cost...</a:t>
            </a:r>
          </a:p>
          <a:p>
            <a:pPr/>
            <a:r>
              <a:rPr sz="1100" b="0">
                <a:solidFill>
                  <a:srgbClr val="111111"/>
                </a:solidFill>
                <a:latin typeface="Calibri"/>
              </a:rPr>
              <a:t>- Time Horizon: Our target price is set on a twelve-month basis with FY27E as the reference earnings year; ROE milestone achi...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13 of 16</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Risks — Thesis Monitoring Points</a:t>
            </a:r>
          </a:p>
        </p:txBody>
      </p:sp>
      <p:sp>
        <p:nvSpPr>
          <p:cNvPr id="11" name="TextBox 10"/>
          <p:cNvSpPr txBox="1"/>
          <p:nvPr/>
        </p:nvSpPr>
        <p:spPr>
          <a:xfrm>
            <a:off x="457200" y="1417320"/>
            <a:ext cx="11277295" cy="5029200"/>
          </a:xfrm>
          <a:prstGeom prst="rect">
            <a:avLst/>
          </a:prstGeom>
          <a:noFill/>
        </p:spPr>
        <p:txBody>
          <a:bodyPr wrap="square">
            <a:spAutoFit/>
          </a:bodyPr>
          <a:lstStyle/>
          <a:p>
            <a:pPr/>
            <a:r>
              <a:rPr sz="1100" b="0">
                <a:solidFill>
                  <a:srgbClr val="111111"/>
                </a:solidFill>
                <a:latin typeface="Calibri"/>
              </a:rPr>
              <a:t>- Competitive pressure on spreads: Intensifying competition from banks and larger NBFCs in secured retail segments could compress NIM more than base-case assumptions allow, directly impairing PAT estimates.</a:t>
            </a:r>
          </a:p>
          <a:p>
            <a:pPr/>
            <a:r>
              <a:rPr sz="1100" b="0">
                <a:solidFill>
                  <a:srgbClr val="111111"/>
                </a:solidFill>
                <a:latin typeface="Calibri"/>
              </a:rPr>
              <a:t>- Slower asset-quality normalisation: If credit costs remain elevated for longer than anticipated — particularly in newer geographies or unsecured residual exposures — provisions could erode profitability and delay the ROE inflection.</a:t>
            </a:r>
          </a:p>
          <a:p>
            <a:pPr/>
            <a:r>
              <a:rPr sz="1100" b="0">
                <a:solidFill>
                  <a:srgbClr val="111111"/>
                </a:solidFill>
                <a:latin typeface="Calibri"/>
              </a:rPr>
              <a:t>- Execution risk in new geographies: Disbursement momentum in recently entered markets depends on local underwriting experience and collection infrastructure not yet fully tested through a full credit cycle.</a:t>
            </a:r>
          </a:p>
          <a:p>
            <a:pPr/>
            <a:r>
              <a:rPr sz="1100" b="0">
                <a:solidFill>
                  <a:srgbClr val="111111"/>
                </a:solidFill>
                <a:latin typeface="Calibri"/>
              </a:rPr>
              <a:t>- Regulatory tightening: Stricter RBI guidelines on NBFC capital adequacy, provisioning norms, or product restrictions could raise compliance costs or constrain balance-sheet growth, impacting AUM trajectory assumptions.</a:t>
            </a:r>
          </a:p>
          <a:p>
            <a:pPr/>
            <a:r>
              <a:rPr sz="1100" b="0">
                <a:solidFill>
                  <a:srgbClr val="111111"/>
                </a:solidFill>
                <a:latin typeface="Calibri"/>
              </a:rPr>
              <a:t>- Funding-cost volatility: An unexpected rise in market borrowing costs or tightening of bank credit lines to NBFCs could increase cost of funds, compressing the interest rate spread even if asset yields remain stable.</a:t>
            </a:r>
          </a:p>
          <a:p>
            <a:pPr/>
            <a:r>
              <a:rPr sz="1100" b="0">
                <a:solidFill>
                  <a:srgbClr val="111111"/>
                </a:solidFill>
                <a:latin typeface="Calibri"/>
              </a:rPr>
              <a:t>- Macro and liquidity risk: A broader economic slowdown could simultaneously suppress loan demand, increase delinquencies, and reduce the market's willingness to assign premium multiples to growth-stage NBFC franchises.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14 of 16</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What Is Working — Operating Momentum Indicators</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XYZ Finance's operating performance over recent quarters has provided incremental validation of the three thesis pillars articulated at the beginning of this report. Branch productivity data — particularly from cohorts opened in the past two to three years — shows a marked improvement in disbursement per branch and collection efficiency, indicating that the distribution model is maturing on schedule. The secured mix has continued to increase as a proportion of new disbursements, gradually flowing through to a more stable credit-cost profile and higher recovery rates on delinquent accounts. Funding access has remained robust, with the company successfully executing market borrowings and maintaining adequate undrawn bank lines, providing financial flexibility to accelerate disbursements when pipeline demand is strong. Collectively, these operating indicators suggest the business is tracking at or above the assumptions embedded in our base-case model for FY26 and FY27.</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Branch productivity improvement: Newer cohorts are generating higher disbursements and lower cost-to-income ratios as they...</a:t>
            </a:r>
          </a:p>
          <a:p>
            <a:pPr/>
            <a:r>
              <a:rPr sz="1100" b="0">
                <a:solidFill>
                  <a:srgbClr val="111111"/>
                </a:solidFill>
                <a:latin typeface="Calibri"/>
              </a:rPr>
              <a:t>- Secured mix driving credit-cost stability: The growing proportion of collateral-backed loans is reducing the severity of cr...</a:t>
            </a:r>
          </a:p>
          <a:p>
            <a:pPr/>
            <a:r>
              <a:rPr sz="1100" b="0">
                <a:solidFill>
                  <a:srgbClr val="111111"/>
                </a:solidFill>
                <a:latin typeface="Calibri"/>
              </a:rPr>
              <a:t>- Funding access adequate for next growth phase: Diversified liability mix across bank borrowings, NCDs, and capital market i...</a:t>
            </a:r>
          </a:p>
          <a:p>
            <a:pPr/>
            <a:r>
              <a:rPr sz="1100" b="0">
                <a:solidFill>
                  <a:srgbClr val="111111"/>
                </a:solidFill>
                <a:latin typeface="Calibri"/>
              </a:rPr>
              <a:t>- NIM holding despite competitive pressures: Disciplined pricing on new originations and an improving product mix have allowe...</a:t>
            </a:r>
          </a:p>
          <a:p>
            <a:pPr/>
            <a:r>
              <a:rPr sz="1100" b="0">
                <a:solidFill>
                  <a:srgbClr val="111111"/>
                </a:solidFill>
                <a:latin typeface="Calibri"/>
              </a:rPr>
              <a:t>- Return ratios on an improving path: Both ROA and ROE are trending upward on a trailing-twelve-month basis, providing fundam...</a:t>
            </a:r>
          </a:p>
          <a:p>
            <a:pPr/>
            <a:r>
              <a:rPr sz="1100" b="0">
                <a:solidFill>
                  <a:srgbClr val="111111"/>
                </a:solidFill>
                <a:latin typeface="Calibri"/>
              </a:rPr>
              <a:t>- Geographic penetration expanding methodically: Management's disciplined approach to entering new markets — prioritising cre...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15 of 16</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PAT Trajectory — FY24 to FY27E</a:t>
            </a:r>
          </a:p>
        </p:txBody>
      </p:sp>
      <p:pic>
        <p:nvPicPr>
          <p:cNvPr id="11" name="Picture 10" descr="image.png"/>
          <p:cNvPicPr>
            <a:picLocks noChangeAspect="1"/>
          </p:cNvPicPr>
          <p:nvPr/>
        </p:nvPicPr>
        <p:blipFill>
          <a:blip r:embed="rId3"/>
          <a:stretch>
            <a:fillRect/>
          </a:stretch>
        </p:blipFill>
        <p:spPr>
          <a:xfrm>
            <a:off x="457200" y="1417320"/>
            <a:ext cx="11277295" cy="50292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16 of 16</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Disclaimer</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This research report has been prepared by Tikona Capital, a SEBI-registered research analyst firm. The information contained herein is based on sources believed to be reliable, but Tikona Capital makes no representation as to its accuracy or completeness. This report is for informational purposes only and does not constitute an offer to buy or sell, or a solicitation of an offer to buy or sell, any securities. The analyst(s) responsible for this report certify that the views expressed herein accurately reflect their personal views about the subject company and its securities, and that no part of their compensation was, is, or will be directly or indirectly related to the specific recommendation(s) or view(s) expressed in this report. Past performance is not a reliable indicator of future results. Investments in securities are subject to market risks; please read all scheme-related documents carefully before investing. SEBI registration details, disclosures on analyst holdings, and conflict-of-interest declarations are available on the firm's website and in the full research report. This document is not directed at or intended for distribution to or use by any person or entity in any jurisdiction where such distribution, publication, or availability would be contrary to applicable law or regulation. Tikona Capital and its affiliates may from time to time hold positions in the securities mentioned herein. Recipients of this report are solely responsible for their investment decisions. The renderer may replace this text with approved regulatory boilerplate.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