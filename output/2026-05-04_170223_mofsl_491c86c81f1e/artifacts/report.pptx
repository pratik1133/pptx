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201168" y="109728"/>
            <a:ext cx="1346215" cy="329184"/>
          </a:xfrm>
          <a:prstGeom prst="rect">
            <a:avLst/>
          </a:prstGeom>
        </p:spPr>
      </p:pic>
      <p:sp>
        <p:nvSpPr>
          <p:cNvPr id="4" name="TextBox 3"/>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5" name="TextBox 4"/>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6" name="Rounded Rectangle 5"/>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8" name="TextBox 7"/>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9" name="Rectangle 8"/>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1" name="TextBox 10"/>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2" name="TextBox 11"/>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3" name="Rectangle 12"/>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5" name="TextBox 14"/>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6" name="TextBox 15"/>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7" name="Rectangle 16"/>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19" name="TextBox 18"/>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0" name="Rectangle 19"/>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2" name="TextBox 21"/>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3" name="TextBox 22"/>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4" name="Rectangle 23"/>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6" name="TextBox 25"/>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7" name="TextBox 26"/>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8" name="Rectangle 27"/>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0" name="TextBox 29"/>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1" name="TextBox 30"/>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2" name="Rectangle 31"/>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4" name="Rounded Rectangle 33"/>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7" name="TextBox 36"/>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8" name="Rounded Rectangle 37"/>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1" name="TextBox 40"/>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2" name="Rounded Rectangle 41"/>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5" name="TextBox 44"/>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6" name="Rounded Rectangle 45"/>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49" name="TextBox 48"/>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0" name="Rounded Rectangle 49"/>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3" name="TextBox 52"/>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4" name="Rounded Rectangle 53"/>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7" name="TextBox 56"/>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8" name="Rounded Rectangle 57"/>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1" name="TextBox 60"/>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2" name="TextBox 61"/>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3" name="Table 62"/>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4" name="TextBox 63"/>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5" name="Table 64"/>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6" name="Rounded Rectangle 65"/>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8" name="TextBox 67"/>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69" name="TextBox 68"/>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0" name="TextBox 69"/>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1" name="TextBox 70"/>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2" name="TextBox 71"/>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3" name="TextBox 72"/>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4" name="TextBox 73"/>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5" name="TextBox 74"/>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6" name="Rounded Rectangle 75"/>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8" name="TextBox 77"/>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79" name="TextBox 78"/>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0" name="TextBox 79"/>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1" name="TextBox 80"/>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2" name="TextBox 81"/>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3" name="TextBox 82"/>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4" name="Rounded Rectangle 83"/>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FFFFFF"/>
                </a:solidFill>
                <a:latin typeface="Calibri"/>
              </a:rPr>
              <a:t>KEY OPERATING STATS</a:t>
            </a:r>
          </a:p>
        </p:txBody>
      </p:sp>
      <p:sp>
        <p:nvSpPr>
          <p:cNvPr id="86" name="TextBox 85"/>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7" name="TextBox 86"/>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8" name="TextBox 87"/>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89" name="TextBox 88"/>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0" name="TextBox 89"/>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1" name="TextBox 90"/>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2" name="Rounded Rectangle 91"/>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FFFFFF"/>
                </a:solidFill>
                <a:latin typeface="Calibri"/>
              </a:rPr>
              <a:t>CREDIT RATING</a:t>
            </a:r>
          </a:p>
        </p:txBody>
      </p:sp>
      <p:sp>
        <p:nvSpPr>
          <p:cNvPr id="94" name="TextBox 93"/>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5" name="TextBox 94"/>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6" name="TextBox 95"/>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7" name="TextBox 96"/>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8" name="TextBox 97"/>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99" name="TextBox 98"/>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0" name="Rounded Rectangle 99"/>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2" name="TextBox 101"/>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3" name="TextBox 102"/>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4" name="Rectangle 103"/>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6" name="TextBox 105"/>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7" name="TextBox 106"/>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3"/>
          <a:stretch>
            <a:fillRect/>
          </a:stretch>
        </p:blipFill>
        <p:spPr>
          <a:xfrm>
            <a:off x="384048" y="1298448"/>
            <a:ext cx="3590543" cy="1828800"/>
          </a:xfrm>
          <a:prstGeom prst="rect">
            <a:avLst/>
          </a:prstGeom>
        </p:spPr>
      </p:pic>
      <p:sp>
        <p:nvSpPr>
          <p:cNvPr id="19" name="Rectangle 18"/>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4294632" y="1298448"/>
            <a:ext cx="3590543" cy="1828800"/>
          </a:xfrm>
          <a:prstGeom prst="rect">
            <a:avLst/>
          </a:prstGeom>
        </p:spPr>
      </p:pic>
      <p:sp>
        <p:nvSpPr>
          <p:cNvPr id="22" name="Rectangle 21"/>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5"/>
          <a:stretch>
            <a:fillRect/>
          </a:stretch>
        </p:blipFill>
        <p:spPr>
          <a:xfrm>
            <a:off x="8205215" y="1298448"/>
            <a:ext cx="3590543" cy="1828800"/>
          </a:xfrm>
          <a:prstGeom prst="rect">
            <a:avLst/>
          </a:prstGeom>
        </p:spPr>
      </p:pic>
      <p:sp>
        <p:nvSpPr>
          <p:cNvPr id="25" name="Rectangle 24"/>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6"/>
          <a:stretch>
            <a:fillRect/>
          </a:stretch>
        </p:blipFill>
        <p:spPr>
          <a:xfrm>
            <a:off x="384048" y="3438144"/>
            <a:ext cx="3590543" cy="1828800"/>
          </a:xfrm>
          <a:prstGeom prst="rect">
            <a:avLst/>
          </a:prstGeom>
        </p:spPr>
      </p:pic>
      <p:sp>
        <p:nvSpPr>
          <p:cNvPr id="28" name="Rectangle 27"/>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7"/>
          <a:stretch>
            <a:fillRect/>
          </a:stretch>
        </p:blipFill>
        <p:spPr>
          <a:xfrm>
            <a:off x="4294632" y="3438144"/>
            <a:ext cx="3590543" cy="1828800"/>
          </a:xfrm>
          <a:prstGeom prst="rect">
            <a:avLst/>
          </a:prstGeom>
        </p:spPr>
      </p:pic>
      <p:sp>
        <p:nvSpPr>
          <p:cNvPr id="31" name="Rectangle 30"/>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8"/>
          <a:stretch>
            <a:fillRect/>
          </a:stretch>
        </p:blipFill>
        <p:spPr>
          <a:xfrm>
            <a:off x="8205215" y="3438144"/>
            <a:ext cx="3590543" cy="1828800"/>
          </a:xfrm>
          <a:prstGeom prst="rect">
            <a:avLst/>
          </a:prstGeom>
        </p:spPr>
      </p:pic>
      <p:sp>
        <p:nvSpPr>
          <p:cNvPr id="34" name="Rectangle 33"/>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8" name="TextBox 17"/>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8" name="Rounded Rectangle 17"/>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9" name="Rounded Rectangle 18"/>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0" name="Rounded Rectangle 19"/>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8" name="TextBox 17"/>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8" name="TextBox 17"/>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8" name="Table 17"/>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7" name="Table 16"/>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8" name="Table 17"/>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8" name="Table 17"/>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8" name="Table 17"/>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400">
                          <a:solidFill>
                            <a:srgbClr val="FFFFFF"/>
                          </a:solidFill>
                          <a:latin typeface="Calibri"/>
                        </a:rPr>
                        <a:t>Case</a:t>
                      </a:r>
                    </a:p>
                  </a:txBody>
                  <a:tcPr marL="45720" marR="45720" marT="18288" marB="18288">
                    <a:solidFill>
                      <a:srgbClr val="1F4690"/>
                    </a:solidFill>
                  </a:tcPr>
                </a:tc>
                <a:tc>
                  <a:txBody>
                    <a:bodyPr/>
                    <a:lstStyle/>
                    <a:p>
                      <a:pPr algn="r"/>
                      <a:r>
                        <a:rPr b="1" sz="1400">
                          <a:solidFill>
                            <a:srgbClr val="FFFFFF"/>
                          </a:solidFill>
                          <a:latin typeface="Calibri"/>
                        </a:rPr>
                        <a:t>Target</a:t>
                      </a:r>
                    </a:p>
                  </a:txBody>
                  <a:tcPr marL="45720" marR="45720" marT="18288" marB="18288">
                    <a:solidFill>
                      <a:srgbClr val="1F4690"/>
                    </a:solidFill>
                  </a:tcPr>
                </a:tc>
                <a:tc>
                  <a:txBody>
                    <a:bodyPr/>
                    <a:lstStyle/>
                    <a:p>
                      <a:pPr algn="r"/>
                      <a:r>
                        <a:rPr b="1" sz="1400">
                          <a:solidFill>
                            <a:srgbClr val="FFFFFF"/>
                          </a:solidFill>
                          <a:latin typeface="Calibri"/>
                        </a:rPr>
                        <a:t>Weight</a:t>
                      </a:r>
                    </a:p>
                  </a:txBody>
                  <a:tcPr marL="45720" marR="45720" marT="18288" marB="18288">
                    <a:solidFill>
                      <a:srgbClr val="1F4690"/>
                    </a:solidFill>
                  </a:tcPr>
                </a:tc>
                <a:tc>
                  <a:txBody>
                    <a:bodyPr/>
                    <a:lstStyle/>
                    <a:p>
                      <a:pPr algn="r"/>
                      <a:r>
                        <a:rPr b="1" sz="1400">
                          <a:solidFill>
                            <a:srgbClr val="FFFFFF"/>
                          </a:solidFill>
                          <a:latin typeface="Calibri"/>
                        </a:rPr>
                        <a:t>Basis</a:t>
                      </a:r>
                    </a:p>
                  </a:txBody>
                  <a:tcPr marL="45720" marR="45720" marT="18288" marB="18288">
                    <a:solidFill>
                      <a:srgbClr val="1F4690"/>
                    </a:solidFill>
                  </a:tcPr>
                </a:tc>
              </a:tr>
              <a:tr h="777240">
                <a:tc>
                  <a:txBody>
                    <a:bodyPr/>
                    <a:lstStyle/>
                    <a:p>
                      <a:r>
                        <a:rPr sz="1400" b="1">
                          <a:solidFill>
                            <a:srgbClr val="5A6573"/>
                          </a:solidFill>
                          <a:latin typeface="Calibri"/>
                        </a:rPr>
                        <a:t>Bull Case</a:t>
                      </a:r>
                    </a:p>
                  </a:txBody>
                  <a:tcPr marL="45720" marR="45720" marT="18288" marB="18288">
                    <a:solidFill>
                      <a:srgbClr val="F4F6F9"/>
                    </a:solidFill>
                  </a:tcPr>
                </a:tc>
                <a:tc>
                  <a:txBody>
                    <a:bodyPr/>
                    <a:lstStyle/>
                    <a:p>
                      <a:pPr algn="r"/>
                      <a:r>
                        <a:rPr sz="1400">
                          <a:solidFill>
                            <a:srgbClr val="111111"/>
                          </a:solidFill>
                          <a:latin typeface="Calibri"/>
                        </a:rPr>
                        <a:t>1,400.0</a:t>
                      </a:r>
                    </a:p>
                  </a:txBody>
                  <a:tcPr marL="45720" marR="45720" marT="18288" marB="18288">
                    <a:solidFill>
                      <a:srgbClr val="F4F6F9"/>
                    </a:solidFill>
                  </a:tcPr>
                </a:tc>
                <a:tc>
                  <a:txBody>
                    <a:bodyPr/>
                    <a:lstStyle/>
                    <a:p>
                      <a:pPr algn="r"/>
                      <a:r>
                        <a:rPr sz="1400" b="1">
                          <a:solidFill>
                            <a:srgbClr val="1A7A4A"/>
                          </a:solidFill>
                          <a:latin typeface="Calibri"/>
                        </a:rPr>
                        <a:t>30.0%</a:t>
                      </a:r>
                    </a:p>
                  </a:txBody>
                  <a:tcPr marL="45720" marR="45720" marT="18288" marB="18288">
                    <a:solidFill>
                      <a:srgbClr val="F4F6F9"/>
                    </a:solidFill>
                  </a:tcPr>
                </a:tc>
                <a:tc>
                  <a:txBody>
                    <a:bodyPr/>
                    <a:lstStyle/>
                    <a:p>
                      <a:pPr algn="r"/>
                      <a:r>
                        <a:rPr sz="1400" b="1">
                          <a:solidFill>
                            <a:srgbClr val="1A7A4A"/>
                          </a:solidFill>
                          <a:latin typeface="Calibri"/>
                        </a:rPr>
                        <a:t>28x P/E on FY27E EPS of INR 50; ARR &gt; 70%, AMC +40% YoY.</a:t>
                      </a:r>
                    </a:p>
                  </a:txBody>
                  <a:tcPr marL="45720" marR="45720" marT="18288" marB="18288">
                    <a:solidFill>
                      <a:srgbClr val="F4F6F9"/>
                    </a:solidFill>
                  </a:tcPr>
                </a:tc>
              </a:tr>
              <a:tr h="777240">
                <a:tc>
                  <a:txBody>
                    <a:bodyPr/>
                    <a:lstStyle/>
                    <a:p>
                      <a:r>
                        <a:rPr sz="1400" b="1">
                          <a:solidFill>
                            <a:srgbClr val="5A6573"/>
                          </a:solidFill>
                          <a:latin typeface="Calibri"/>
                        </a:rPr>
                        <a:t>Base Case</a:t>
                      </a:r>
                    </a:p>
                  </a:txBody>
                  <a:tcPr marL="45720" marR="45720" marT="18288" marB="18288">
                    <a:solidFill>
                      <a:srgbClr val="FFFFFF"/>
                    </a:solidFill>
                  </a:tcPr>
                </a:tc>
                <a:tc>
                  <a:txBody>
                    <a:bodyPr/>
                    <a:lstStyle/>
                    <a:p>
                      <a:pPr algn="r"/>
                      <a:r>
                        <a:rPr sz="1400">
                          <a:solidFill>
                            <a:srgbClr val="111111"/>
                          </a:solidFill>
                          <a:latin typeface="Calibri"/>
                        </a:rPr>
                        <a:t>1,127.0</a:t>
                      </a:r>
                    </a:p>
                  </a:txBody>
                  <a:tcPr marL="45720" marR="45720" marT="18288" marB="18288">
                    <a:solidFill>
                      <a:srgbClr val="FFFFFF"/>
                    </a:solidFill>
                  </a:tcPr>
                </a:tc>
                <a:tc>
                  <a:txBody>
                    <a:bodyPr/>
                    <a:lstStyle/>
                    <a:p>
                      <a:pPr algn="r"/>
                      <a:r>
                        <a:rPr sz="1400" b="1">
                          <a:solidFill>
                            <a:srgbClr val="1A7A4A"/>
                          </a:solidFill>
                          <a:latin typeface="Calibri"/>
                        </a:rPr>
                        <a:t>50.0%</a:t>
                      </a:r>
                    </a:p>
                  </a:txBody>
                  <a:tcPr marL="45720" marR="45720" marT="18288" marB="18288">
                    <a:solidFill>
                      <a:srgbClr val="FFFFFF"/>
                    </a:solidFill>
                  </a:tcPr>
                </a:tc>
                <a:tc>
                  <a:txBody>
                    <a:bodyPr/>
                    <a:lstStyle/>
                    <a:p>
                      <a:pPr algn="r"/>
                      <a:r>
                        <a:rPr sz="1400" b="1">
                          <a:solidFill>
                            <a:srgbClr val="1A7A4A"/>
                          </a:solidFill>
                          <a:latin typeface="Calibri"/>
                        </a:rPr>
                        <a:t>24x P/E on FY27E EPS of INR 47; ARR stable at 65%, steady AUM.</a:t>
                      </a:r>
                    </a:p>
                  </a:txBody>
                  <a:tcPr marL="45720" marR="45720" marT="18288" marB="18288">
                    <a:solidFill>
                      <a:srgbClr val="FFFFFF"/>
                    </a:solidFill>
                  </a:tcPr>
                </a:tc>
              </a:tr>
              <a:tr h="777240">
                <a:tc>
                  <a:txBody>
                    <a:bodyPr/>
                    <a:lstStyle/>
                    <a:p>
                      <a:r>
                        <a:rPr sz="1400" b="1">
                          <a:solidFill>
                            <a:srgbClr val="5A6573"/>
                          </a:solidFill>
                          <a:latin typeface="Calibri"/>
                        </a:rPr>
                        <a:t>Bear Case</a:t>
                      </a:r>
                    </a:p>
                  </a:txBody>
                  <a:tcPr marL="45720" marR="45720" marT="18288" marB="18288">
                    <a:solidFill>
                      <a:srgbClr val="F4F6F9"/>
                    </a:solidFill>
                  </a:tcPr>
                </a:tc>
                <a:tc>
                  <a:txBody>
                    <a:bodyPr/>
                    <a:lstStyle/>
                    <a:p>
                      <a:pPr algn="r"/>
                      <a:r>
                        <a:rPr sz="1400">
                          <a:solidFill>
                            <a:srgbClr val="111111"/>
                          </a:solidFill>
                          <a:latin typeface="Calibri"/>
                        </a:rPr>
                        <a:t>630.0</a:t>
                      </a:r>
                    </a:p>
                  </a:txBody>
                  <a:tcPr marL="45720" marR="45720" marT="18288" marB="18288">
                    <a:solidFill>
                      <a:srgbClr val="F4F6F9"/>
                    </a:solidFill>
                  </a:tcPr>
                </a:tc>
                <a:tc>
                  <a:txBody>
                    <a:bodyPr/>
                    <a:lstStyle/>
                    <a:p>
                      <a:pPr algn="r"/>
                      <a:r>
                        <a:rPr sz="1400" b="1">
                          <a:solidFill>
                            <a:srgbClr val="1A7A4A"/>
                          </a:solidFill>
                          <a:latin typeface="Calibri"/>
                        </a:rPr>
                        <a:t>20.0%</a:t>
                      </a:r>
                    </a:p>
                  </a:txBody>
                  <a:tcPr marL="45720" marR="45720" marT="18288" marB="18288">
                    <a:solidFill>
                      <a:srgbClr val="F4F6F9"/>
                    </a:solidFill>
                  </a:tcPr>
                </a:tc>
                <a:tc>
                  <a:txBody>
                    <a:bodyPr/>
                    <a:lstStyle/>
                    <a:p>
                      <a:pPr algn="r"/>
                      <a:r>
                        <a:rPr sz="1400">
                          <a:solidFill>
                            <a:srgbClr val="111111"/>
                          </a:solidFill>
                          <a:latin typeface="Calibri"/>
                        </a:rPr>
                        <a:t>18x P/E on depressed FY27E EPS of INR 35; sustained regulatory headwinds.</a:t>
                      </a:r>
                    </a:p>
                  </a:txBody>
                  <a:tcPr marL="45720" marR="45720" marT="18288" marB="18288">
                    <a:solidFill>
                      <a:srgbClr val="F4F6F9"/>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4" name="Rounded Rectangle 13"/>
          <p:cNvSpPr/>
          <p:nvPr/>
        </p:nvSpPr>
        <p:spPr>
          <a:xfrm>
            <a:off x="292608" y="1170432"/>
            <a:ext cx="11612880" cy="402336"/>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271016"/>
            <a:ext cx="1261872" cy="155448"/>
          </a:xfrm>
          <a:prstGeom prst="rect">
            <a:avLst/>
          </a:prstGeom>
          <a:noFill/>
        </p:spPr>
        <p:txBody>
          <a:bodyPr wrap="square" lIns="27432" rIns="27432" tIns="4572" bIns="4572">
            <a:spAutoFit/>
          </a:bodyPr>
          <a:lstStyle/>
          <a:p>
            <a:r>
              <a:rPr sz="860" b="1">
                <a:solidFill>
                  <a:srgbClr val="1F4690"/>
                </a:solidFill>
                <a:latin typeface="Calibri"/>
              </a:rPr>
              <a:t>SAARTHI Total Score:</a:t>
            </a:r>
          </a:p>
        </p:txBody>
      </p:sp>
      <p:sp>
        <p:nvSpPr>
          <p:cNvPr id="16" name="TextBox 15"/>
          <p:cNvSpPr txBox="1"/>
          <p:nvPr/>
        </p:nvSpPr>
        <p:spPr>
          <a:xfrm>
            <a:off x="1709928" y="1234440"/>
            <a:ext cx="1005840" cy="210312"/>
          </a:xfrm>
          <a:prstGeom prst="rect">
            <a:avLst/>
          </a:prstGeom>
          <a:noFill/>
        </p:spPr>
        <p:txBody>
          <a:bodyPr wrap="square" lIns="27432" rIns="27432" tIns="4572" bIns="4572">
            <a:spAutoFit/>
          </a:bodyPr>
          <a:lstStyle/>
          <a:p>
            <a:r>
              <a:rPr sz="1300" b="1">
                <a:solidFill>
                  <a:srgbClr val="1F4690"/>
                </a:solidFill>
                <a:latin typeface="Calibri"/>
              </a:rPr>
              <a:t>72 / 100</a:t>
            </a:r>
          </a:p>
        </p:txBody>
      </p:sp>
      <p:sp>
        <p:nvSpPr>
          <p:cNvPr id="17" name="Rounded Rectangle 16"/>
          <p:cNvSpPr/>
          <p:nvPr/>
        </p:nvSpPr>
        <p:spPr>
          <a:xfrm>
            <a:off x="2834639" y="1280160"/>
            <a:ext cx="1444752" cy="18288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360" y="1312164"/>
            <a:ext cx="1353312" cy="73152"/>
          </a:xfrm>
          <a:prstGeom prst="rect">
            <a:avLst/>
          </a:prstGeom>
          <a:noFill/>
        </p:spPr>
        <p:txBody>
          <a:bodyPr wrap="square" lIns="27432" rIns="27432" tIns="4572" bIns="4572">
            <a:spAutoFit/>
          </a:bodyPr>
          <a:lstStyle/>
          <a:p>
            <a:pPr algn="ctr"/>
            <a:r>
              <a:rPr sz="580" b="1">
                <a:solidFill>
                  <a:srgbClr val="1F4690"/>
                </a:solidFill>
                <a:latin typeface="Calibri"/>
              </a:rPr>
              <a:t>BUY (70-84 RANGE)</a:t>
            </a:r>
          </a:p>
        </p:txBody>
      </p:sp>
      <p:sp>
        <p:nvSpPr>
          <p:cNvPr id="19" name="TextBox 18"/>
          <p:cNvSpPr txBox="1"/>
          <p:nvPr/>
        </p:nvSpPr>
        <p:spPr>
          <a:xfrm>
            <a:off x="4453128" y="1289304"/>
            <a:ext cx="3566160" cy="109728"/>
          </a:xfrm>
          <a:prstGeom prst="rect">
            <a:avLst/>
          </a:prstGeom>
          <a:noFill/>
        </p:spPr>
        <p:txBody>
          <a:bodyPr wrap="square" lIns="27432" rIns="27432" tIns="4572" bIns="4572">
            <a:spAutoFit/>
          </a:bodyPr>
          <a:lstStyle/>
          <a:p>
            <a:r>
              <a:rPr sz="560" b="0">
                <a:solidFill>
                  <a:srgbClr val="111111"/>
                </a:solidFill>
                <a:latin typeface="Calibri"/>
              </a:rPr>
              <a:t>Strongest: Addressable Market &amp; Adjacency (9/10)</a:t>
            </a:r>
          </a:p>
        </p:txBody>
      </p:sp>
      <p:sp>
        <p:nvSpPr>
          <p:cNvPr id="20" name="TextBox 19"/>
          <p:cNvSpPr txBox="1"/>
          <p:nvPr/>
        </p:nvSpPr>
        <p:spPr>
          <a:xfrm>
            <a:off x="7927848" y="1289304"/>
            <a:ext cx="3977639" cy="109728"/>
          </a:xfrm>
          <a:prstGeom prst="rect">
            <a:avLst/>
          </a:prstGeom>
          <a:noFill/>
        </p:spPr>
        <p:txBody>
          <a:bodyPr wrap="square" lIns="27432" rIns="27432" tIns="4572" bIns="4572">
            <a:spAutoFit/>
          </a:bodyPr>
          <a:lstStyle/>
          <a:p>
            <a:r>
              <a:rPr sz="560" b="0">
                <a:solidFill>
                  <a:srgbClr val="111111"/>
                </a:solidFill>
                <a:latin typeface="Calibri"/>
              </a:rPr>
              <a:t>Weakest: Asymmetric Pricing Power (10/15)</a:t>
            </a:r>
          </a:p>
        </p:txBody>
      </p:sp>
      <p:sp>
        <p:nvSpPr>
          <p:cNvPr id="21" name="TextBox 20"/>
          <p:cNvSpPr txBox="1"/>
          <p:nvPr/>
        </p:nvSpPr>
        <p:spPr>
          <a:xfrm>
            <a:off x="310896" y="1755648"/>
            <a:ext cx="5010912" cy="128016"/>
          </a:xfrm>
          <a:prstGeom prst="rect">
            <a:avLst/>
          </a:prstGeom>
          <a:noFill/>
        </p:spPr>
        <p:txBody>
          <a:bodyPr wrap="square" lIns="27432" rIns="27432" tIns="4572" bIns="4572">
            <a:spAutoFit/>
          </a:bodyPr>
          <a:lstStyle/>
          <a:p>
            <a:r>
              <a:rPr sz="590" b="1">
                <a:solidFill>
                  <a:srgbClr val="1F4690"/>
                </a:solidFill>
                <a:latin typeface="Calibri"/>
              </a:rPr>
              <a:t>S - Scalability of Core Engine</a:t>
            </a:r>
          </a:p>
        </p:txBody>
      </p:sp>
      <p:sp>
        <p:nvSpPr>
          <p:cNvPr id="22" name="TextBox 21"/>
          <p:cNvSpPr txBox="1"/>
          <p:nvPr/>
        </p:nvSpPr>
        <p:spPr>
          <a:xfrm>
            <a:off x="5358383"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12 / 15</a:t>
            </a:r>
          </a:p>
        </p:txBody>
      </p:sp>
      <p:sp>
        <p:nvSpPr>
          <p:cNvPr id="23" name="Rectangle 22"/>
          <p:cNvSpPr/>
          <p:nvPr/>
        </p:nvSpPr>
        <p:spPr>
          <a:xfrm>
            <a:off x="310896"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2011680"/>
            <a:ext cx="5577840" cy="420624"/>
          </a:xfrm>
          <a:prstGeom prst="rect">
            <a:avLst/>
          </a:prstGeom>
          <a:noFill/>
        </p:spPr>
        <p:txBody>
          <a:bodyPr wrap="square" lIns="27432" rIns="27432" tIns="4572" bIns="4572">
            <a:spAutoFit/>
          </a:bodyPr>
          <a:lstStyle/>
          <a:p>
            <a:r>
              <a:rPr sz="565"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6" name="Rectangle 25"/>
          <p:cNvSpPr/>
          <p:nvPr/>
        </p:nvSpPr>
        <p:spPr>
          <a:xfrm>
            <a:off x="310896"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2514600"/>
            <a:ext cx="5010912" cy="128016"/>
          </a:xfrm>
          <a:prstGeom prst="rect">
            <a:avLst/>
          </a:prstGeom>
          <a:noFill/>
        </p:spPr>
        <p:txBody>
          <a:bodyPr wrap="square" lIns="27432" rIns="27432" tIns="4572" bIns="4572">
            <a:spAutoFit/>
          </a:bodyPr>
          <a:lstStyle/>
          <a:p>
            <a:r>
              <a:rPr sz="590" b="1">
                <a:solidFill>
                  <a:srgbClr val="1F4690"/>
                </a:solidFill>
                <a:latin typeface="Calibri"/>
              </a:rPr>
              <a:t>A1 - Addressable Market &amp; Adjacency (Strongest)</a:t>
            </a:r>
          </a:p>
        </p:txBody>
      </p:sp>
      <p:sp>
        <p:nvSpPr>
          <p:cNvPr id="28" name="TextBox 27"/>
          <p:cNvSpPr txBox="1"/>
          <p:nvPr/>
        </p:nvSpPr>
        <p:spPr>
          <a:xfrm>
            <a:off x="5358383"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29" name="Rectangle 28"/>
          <p:cNvSpPr/>
          <p:nvPr/>
        </p:nvSpPr>
        <p:spPr>
          <a:xfrm>
            <a:off x="310896"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10896"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2770632"/>
            <a:ext cx="5577840" cy="420624"/>
          </a:xfrm>
          <a:prstGeom prst="rect">
            <a:avLst/>
          </a:prstGeom>
          <a:noFill/>
        </p:spPr>
        <p:txBody>
          <a:bodyPr wrap="square" lIns="27432" rIns="27432" tIns="4572" bIns="4572">
            <a:spAutoFit/>
          </a:bodyPr>
          <a:lstStyle/>
          <a:p>
            <a:r>
              <a:rPr sz="565"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2" name="Rectangle 31"/>
          <p:cNvSpPr/>
          <p:nvPr/>
        </p:nvSpPr>
        <p:spPr>
          <a:xfrm>
            <a:off x="310896"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0896" y="3273552"/>
            <a:ext cx="5010912" cy="128016"/>
          </a:xfrm>
          <a:prstGeom prst="rect">
            <a:avLst/>
          </a:prstGeom>
          <a:noFill/>
        </p:spPr>
        <p:txBody>
          <a:bodyPr wrap="square" lIns="27432" rIns="27432" tIns="4572" bIns="4572">
            <a:spAutoFit/>
          </a:bodyPr>
          <a:lstStyle/>
          <a:p>
            <a:r>
              <a:rPr sz="590" b="1">
                <a:solidFill>
                  <a:srgbClr val="1F4690"/>
                </a:solidFill>
                <a:latin typeface="Calibri"/>
              </a:rPr>
              <a:t>A2 - Asymmetric Pricing Power (Weakest)</a:t>
            </a:r>
          </a:p>
        </p:txBody>
      </p:sp>
      <p:sp>
        <p:nvSpPr>
          <p:cNvPr id="34" name="TextBox 33"/>
          <p:cNvSpPr txBox="1"/>
          <p:nvPr/>
        </p:nvSpPr>
        <p:spPr>
          <a:xfrm>
            <a:off x="5358383"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10 / 15</a:t>
            </a:r>
          </a:p>
        </p:txBody>
      </p:sp>
      <p:sp>
        <p:nvSpPr>
          <p:cNvPr id="35" name="Rectangle 34"/>
          <p:cNvSpPr/>
          <p:nvPr/>
        </p:nvSpPr>
        <p:spPr>
          <a:xfrm>
            <a:off x="310896"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 y="3438144"/>
            <a:ext cx="3718560"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3529584"/>
            <a:ext cx="5577840" cy="420624"/>
          </a:xfrm>
          <a:prstGeom prst="rect">
            <a:avLst/>
          </a:prstGeom>
          <a:noFill/>
        </p:spPr>
        <p:txBody>
          <a:bodyPr wrap="square" lIns="27432" rIns="27432" tIns="4572" bIns="4572">
            <a:spAutoFit/>
          </a:bodyPr>
          <a:lstStyle/>
          <a:p>
            <a:r>
              <a:rPr sz="565"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8" name="Rectangle 37"/>
          <p:cNvSpPr/>
          <p:nvPr/>
        </p:nvSpPr>
        <p:spPr>
          <a:xfrm>
            <a:off x="310896"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032504"/>
            <a:ext cx="5010912" cy="128016"/>
          </a:xfrm>
          <a:prstGeom prst="rect">
            <a:avLst/>
          </a:prstGeom>
          <a:noFill/>
        </p:spPr>
        <p:txBody>
          <a:bodyPr wrap="square" lIns="27432" rIns="27432" tIns="4572" bIns="4572">
            <a:spAutoFit/>
          </a:bodyPr>
          <a:lstStyle/>
          <a:p>
            <a:r>
              <a:rPr sz="590" b="1">
                <a:solidFill>
                  <a:srgbClr val="1F4690"/>
                </a:solidFill>
                <a:latin typeface="Calibri"/>
              </a:rPr>
              <a:t>R - Reinvestment Quality</a:t>
            </a:r>
          </a:p>
        </p:txBody>
      </p:sp>
      <p:sp>
        <p:nvSpPr>
          <p:cNvPr id="40" name="TextBox 39"/>
          <p:cNvSpPr txBox="1"/>
          <p:nvPr/>
        </p:nvSpPr>
        <p:spPr>
          <a:xfrm>
            <a:off x="5358383" y="4032504"/>
            <a:ext cx="530352" cy="128016"/>
          </a:xfrm>
          <a:prstGeom prst="rect">
            <a:avLst/>
          </a:prstGeom>
          <a:noFill/>
        </p:spPr>
        <p:txBody>
          <a:bodyPr wrap="square" lIns="27432" rIns="27432" tIns="4572" bIns="4572">
            <a:spAutoFit/>
          </a:bodyPr>
          <a:lstStyle/>
          <a:p>
            <a:pPr algn="r"/>
            <a:r>
              <a:rPr sz="720" b="1">
                <a:solidFill>
                  <a:srgbClr val="1F4690"/>
                </a:solidFill>
                <a:latin typeface="Calibri"/>
              </a:rPr>
              <a:t>13 / 15</a:t>
            </a:r>
          </a:p>
        </p:txBody>
      </p:sp>
      <p:sp>
        <p:nvSpPr>
          <p:cNvPr id="41" name="Rectangle 40"/>
          <p:cNvSpPr/>
          <p:nvPr/>
        </p:nvSpPr>
        <p:spPr>
          <a:xfrm>
            <a:off x="310896" y="4197096"/>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4197096"/>
            <a:ext cx="4834128"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0896" y="4288536"/>
            <a:ext cx="5577840" cy="420624"/>
          </a:xfrm>
          <a:prstGeom prst="rect">
            <a:avLst/>
          </a:prstGeom>
          <a:noFill/>
        </p:spPr>
        <p:txBody>
          <a:bodyPr wrap="square" lIns="27432" rIns="27432" tIns="4572" bIns="4572">
            <a:spAutoFit/>
          </a:bodyPr>
          <a:lstStyle/>
          <a:p>
            <a:r>
              <a:rPr sz="565"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4" name="Rectangle 43"/>
          <p:cNvSpPr/>
          <p:nvPr/>
        </p:nvSpPr>
        <p:spPr>
          <a:xfrm>
            <a:off x="310896" y="4727448"/>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81344" y="1755648"/>
            <a:ext cx="5010912" cy="128016"/>
          </a:xfrm>
          <a:prstGeom prst="rect">
            <a:avLst/>
          </a:prstGeom>
          <a:noFill/>
        </p:spPr>
        <p:txBody>
          <a:bodyPr wrap="square" lIns="27432" rIns="27432" tIns="4572" bIns="4572">
            <a:spAutoFit/>
          </a:bodyPr>
          <a:lstStyle/>
          <a:p>
            <a:r>
              <a:rPr sz="590" b="1">
                <a:solidFill>
                  <a:srgbClr val="1F4690"/>
                </a:solidFill>
                <a:latin typeface="Calibri"/>
              </a:rPr>
              <a:t>T - Track Record Through Adversity</a:t>
            </a:r>
          </a:p>
        </p:txBody>
      </p:sp>
      <p:sp>
        <p:nvSpPr>
          <p:cNvPr id="46" name="TextBox 45"/>
          <p:cNvSpPr txBox="1"/>
          <p:nvPr/>
        </p:nvSpPr>
        <p:spPr>
          <a:xfrm>
            <a:off x="11228832" y="1755648"/>
            <a:ext cx="530352" cy="128016"/>
          </a:xfrm>
          <a:prstGeom prst="rect">
            <a:avLst/>
          </a:prstGeom>
          <a:noFill/>
        </p:spPr>
        <p:txBody>
          <a:bodyPr wrap="square" lIns="27432" rIns="27432" tIns="4572" bIns="4572">
            <a:spAutoFit/>
          </a:bodyPr>
          <a:lstStyle/>
          <a:p>
            <a:pPr algn="r"/>
            <a:r>
              <a:rPr sz="720" b="1">
                <a:solidFill>
                  <a:srgbClr val="1F4690"/>
                </a:solidFill>
                <a:latin typeface="Calibri"/>
              </a:rPr>
              <a:t>8 / 10</a:t>
            </a:r>
          </a:p>
        </p:txBody>
      </p:sp>
      <p:sp>
        <p:nvSpPr>
          <p:cNvPr id="47" name="Rectangle 46"/>
          <p:cNvSpPr/>
          <p:nvPr/>
        </p:nvSpPr>
        <p:spPr>
          <a:xfrm>
            <a:off x="6181344" y="1920240"/>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1920240"/>
            <a:ext cx="4462272"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011680"/>
            <a:ext cx="5577840" cy="420624"/>
          </a:xfrm>
          <a:prstGeom prst="rect">
            <a:avLst/>
          </a:prstGeom>
          <a:noFill/>
        </p:spPr>
        <p:txBody>
          <a:bodyPr wrap="square" lIns="27432" rIns="27432" tIns="4572" bIns="4572">
            <a:spAutoFit/>
          </a:bodyPr>
          <a:lstStyle/>
          <a:p>
            <a:r>
              <a:rPr sz="565"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50" name="Rectangle 49"/>
          <p:cNvSpPr/>
          <p:nvPr/>
        </p:nvSpPr>
        <p:spPr>
          <a:xfrm>
            <a:off x="6181344" y="2450592"/>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81344" y="2514600"/>
            <a:ext cx="5010912" cy="128016"/>
          </a:xfrm>
          <a:prstGeom prst="rect">
            <a:avLst/>
          </a:prstGeom>
          <a:noFill/>
        </p:spPr>
        <p:txBody>
          <a:bodyPr wrap="square" lIns="27432" rIns="27432" tIns="4572" bIns="4572">
            <a:spAutoFit/>
          </a:bodyPr>
          <a:lstStyle/>
          <a:p>
            <a:r>
              <a:rPr sz="590" b="1">
                <a:solidFill>
                  <a:srgbClr val="1F4690"/>
                </a:solidFill>
                <a:latin typeface="Calibri"/>
              </a:rPr>
              <a:t>H - Human Capital &amp; Institutional DNA</a:t>
            </a:r>
          </a:p>
        </p:txBody>
      </p:sp>
      <p:sp>
        <p:nvSpPr>
          <p:cNvPr id="52" name="TextBox 51"/>
          <p:cNvSpPr txBox="1"/>
          <p:nvPr/>
        </p:nvSpPr>
        <p:spPr>
          <a:xfrm>
            <a:off x="11228832" y="2514600"/>
            <a:ext cx="530352" cy="128016"/>
          </a:xfrm>
          <a:prstGeom prst="rect">
            <a:avLst/>
          </a:prstGeom>
          <a:noFill/>
        </p:spPr>
        <p:txBody>
          <a:bodyPr wrap="square" lIns="27432" rIns="27432" tIns="4572" bIns="4572">
            <a:spAutoFit/>
          </a:bodyPr>
          <a:lstStyle/>
          <a:p>
            <a:pPr algn="r"/>
            <a:r>
              <a:rPr sz="720" b="1">
                <a:solidFill>
                  <a:srgbClr val="1F4690"/>
                </a:solidFill>
                <a:latin typeface="Calibri"/>
              </a:rPr>
              <a:t>9 / 10</a:t>
            </a:r>
          </a:p>
        </p:txBody>
      </p:sp>
      <p:sp>
        <p:nvSpPr>
          <p:cNvPr id="53" name="Rectangle 52"/>
          <p:cNvSpPr/>
          <p:nvPr/>
        </p:nvSpPr>
        <p:spPr>
          <a:xfrm>
            <a:off x="6181344" y="2679192"/>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81344" y="2679192"/>
            <a:ext cx="5020056" cy="411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81344" y="2770632"/>
            <a:ext cx="5577840" cy="420624"/>
          </a:xfrm>
          <a:prstGeom prst="rect">
            <a:avLst/>
          </a:prstGeom>
          <a:noFill/>
        </p:spPr>
        <p:txBody>
          <a:bodyPr wrap="square" lIns="27432" rIns="27432" tIns="4572" bIns="4572">
            <a:spAutoFit/>
          </a:bodyPr>
          <a:lstStyle/>
          <a:p>
            <a:r>
              <a:rPr sz="565"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6" name="Rectangle 55"/>
          <p:cNvSpPr/>
          <p:nvPr/>
        </p:nvSpPr>
        <p:spPr>
          <a:xfrm>
            <a:off x="6181344" y="3209544"/>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81344" y="3273552"/>
            <a:ext cx="5010912" cy="128016"/>
          </a:xfrm>
          <a:prstGeom prst="rect">
            <a:avLst/>
          </a:prstGeom>
          <a:noFill/>
        </p:spPr>
        <p:txBody>
          <a:bodyPr wrap="square" lIns="27432" rIns="27432" tIns="4572" bIns="4572">
            <a:spAutoFit/>
          </a:bodyPr>
          <a:lstStyle/>
          <a:p>
            <a:r>
              <a:rPr sz="590" b="1">
                <a:solidFill>
                  <a:srgbClr val="1F4690"/>
                </a:solidFill>
                <a:latin typeface="Calibri"/>
              </a:rPr>
              <a:t>I - Inflection Point Identification</a:t>
            </a:r>
          </a:p>
        </p:txBody>
      </p:sp>
      <p:sp>
        <p:nvSpPr>
          <p:cNvPr id="58" name="TextBox 57"/>
          <p:cNvSpPr txBox="1"/>
          <p:nvPr/>
        </p:nvSpPr>
        <p:spPr>
          <a:xfrm>
            <a:off x="11228832" y="3273552"/>
            <a:ext cx="530352" cy="128016"/>
          </a:xfrm>
          <a:prstGeom prst="rect">
            <a:avLst/>
          </a:prstGeom>
          <a:noFill/>
        </p:spPr>
        <p:txBody>
          <a:bodyPr wrap="square" lIns="27432" rIns="27432" tIns="4572" bIns="4572">
            <a:spAutoFit/>
          </a:bodyPr>
          <a:lstStyle/>
          <a:p>
            <a:pPr algn="r"/>
            <a:r>
              <a:rPr sz="720" b="1">
                <a:solidFill>
                  <a:srgbClr val="1F4690"/>
                </a:solidFill>
                <a:latin typeface="Calibri"/>
              </a:rPr>
              <a:t>11 / 15</a:t>
            </a:r>
          </a:p>
        </p:txBody>
      </p:sp>
      <p:sp>
        <p:nvSpPr>
          <p:cNvPr id="59" name="Rectangle 58"/>
          <p:cNvSpPr/>
          <p:nvPr/>
        </p:nvSpPr>
        <p:spPr>
          <a:xfrm>
            <a:off x="6181344" y="3438144"/>
            <a:ext cx="5577840" cy="41148"/>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81344" y="3438144"/>
            <a:ext cx="4090415" cy="4114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81344" y="3529584"/>
            <a:ext cx="5577840" cy="420624"/>
          </a:xfrm>
          <a:prstGeom prst="rect">
            <a:avLst/>
          </a:prstGeom>
          <a:noFill/>
        </p:spPr>
        <p:txBody>
          <a:bodyPr wrap="square" lIns="27432" rIns="27432" tIns="4572" bIns="4572">
            <a:spAutoFit/>
          </a:bodyPr>
          <a:lstStyle/>
          <a:p>
            <a:r>
              <a:rPr sz="565"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62" name="Rectangle 61"/>
          <p:cNvSpPr/>
          <p:nvPr/>
        </p:nvSpPr>
        <p:spPr>
          <a:xfrm>
            <a:off x="6181344" y="3968496"/>
            <a:ext cx="5577840" cy="7315"/>
          </a:xfrm>
          <a:prstGeom prst="rect">
            <a:avLst/>
          </a:prstGeom>
          <a:solidFill>
            <a:srgbClr val="C8D2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181344" y="4069080"/>
            <a:ext cx="5577840" cy="1207008"/>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81344" y="4069080"/>
            <a:ext cx="32004" cy="12070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2783" y="4142232"/>
            <a:ext cx="5394959" cy="137160"/>
          </a:xfrm>
          <a:prstGeom prst="rect">
            <a:avLst/>
          </a:prstGeom>
          <a:noFill/>
        </p:spPr>
        <p:txBody>
          <a:bodyPr wrap="square" lIns="27432" rIns="27432" tIns="4572" bIns="4572">
            <a:spAutoFit/>
          </a:bodyPr>
          <a:lstStyle/>
          <a:p>
            <a:r>
              <a:rPr sz="650" b="1">
                <a:solidFill>
                  <a:srgbClr val="1F4690"/>
                </a:solidFill>
                <a:latin typeface="Calibri"/>
              </a:rPr>
              <a:t>SAARTHI Conviction Statement</a:t>
            </a:r>
          </a:p>
        </p:txBody>
      </p:sp>
      <p:sp>
        <p:nvSpPr>
          <p:cNvPr id="66" name="TextBox 65"/>
          <p:cNvSpPr txBox="1"/>
          <p:nvPr/>
        </p:nvSpPr>
        <p:spPr>
          <a:xfrm>
            <a:off x="6272783" y="4343400"/>
            <a:ext cx="5394959" cy="859536"/>
          </a:xfrm>
          <a:prstGeom prst="rect">
            <a:avLst/>
          </a:prstGeom>
          <a:noFill/>
        </p:spPr>
        <p:txBody>
          <a:bodyPr wrap="square" lIns="27432" rIns="27432" tIns="4572" bIns="4572">
            <a:spAutoFit/>
          </a:bodyPr>
          <a:lstStyle/>
          <a:p>
            <a:r>
              <a:rPr sz="58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67" name="Table 66"/>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19" name="Rectangle 18"/>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2" name="TextBox 21"/>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3" name="Rectangle 22"/>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6" name="TextBox 25"/>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7" name="Rectangle 26"/>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0" name="TextBox 29"/>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1" name="Table 30"/>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2" name="Rectangle 31"/>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4" name="Rectangle 33"/>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7" name="TextBox 36"/>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8" name="Rectangle 37"/>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1" name="TextBox 40"/>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2" name="Rectangle 41"/>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5" name="TextBox 44"/>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6" name="Table 45"/>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7" name="Rectangle 46"/>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49" name="Rectangle 48"/>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2" name="TextBox 51"/>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3" name="Rectangle 52"/>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6" name="TextBox 55"/>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7" name="Rectangle 56"/>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0" name="TextBox 59"/>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1" name="Table 60"/>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92608" y="1216152"/>
            <a:ext cx="6446520" cy="694944"/>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2608" y="1216152"/>
            <a:ext cx="32004" cy="6949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1280160"/>
            <a:ext cx="6263640" cy="118872"/>
          </a:xfrm>
          <a:prstGeom prst="rect">
            <a:avLst/>
          </a:prstGeom>
          <a:noFill/>
        </p:spPr>
        <p:txBody>
          <a:bodyPr wrap="square" lIns="36576" rIns="36576" tIns="9144" bIns="9144">
            <a:spAutoFit/>
          </a:bodyPr>
          <a:lstStyle/>
          <a:p>
            <a:r>
              <a:rPr sz="610" b="1">
                <a:solidFill>
                  <a:srgbClr val="1F4690"/>
                </a:solidFill>
                <a:latin typeface="Calibri"/>
              </a:rPr>
              <a:t>Conviction Statement</a:t>
            </a:r>
          </a:p>
        </p:txBody>
      </p:sp>
      <p:sp>
        <p:nvSpPr>
          <p:cNvPr id="20" name="TextBox 19"/>
          <p:cNvSpPr txBox="1"/>
          <p:nvPr/>
        </p:nvSpPr>
        <p:spPr>
          <a:xfrm>
            <a:off x="384048" y="1463040"/>
            <a:ext cx="6263640" cy="374904"/>
          </a:xfrm>
          <a:prstGeom prst="rect">
            <a:avLst/>
          </a:prstGeom>
          <a:noFill/>
        </p:spPr>
        <p:txBody>
          <a:bodyPr wrap="square" lIns="36576" rIns="36576" tIns="9144" bIns="9144">
            <a:spAutoFit/>
          </a:bodyPr>
          <a:lstStyle/>
          <a:p>
            <a:r>
              <a:rPr sz="57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1" name="TextBox 20"/>
          <p:cNvSpPr txBox="1"/>
          <p:nvPr/>
        </p:nvSpPr>
        <p:spPr>
          <a:xfrm>
            <a:off x="292608" y="2020824"/>
            <a:ext cx="6446520" cy="109728"/>
          </a:xfrm>
          <a:prstGeom prst="rect">
            <a:avLst/>
          </a:prstGeom>
          <a:noFill/>
        </p:spPr>
        <p:txBody>
          <a:bodyPr wrap="square" lIns="36576" rIns="36576" tIns="9144" bIns="9144">
            <a:spAutoFit/>
          </a:bodyPr>
          <a:lstStyle/>
          <a:p>
            <a:r>
              <a:rPr sz="580" b="1">
                <a:solidFill>
                  <a:srgbClr val="1F4690"/>
                </a:solidFill>
                <a:latin typeface="Calibri"/>
              </a:rPr>
              <a:t>ENTRY STRATEGY - WHEN TO BUY</a:t>
            </a:r>
          </a:p>
        </p:txBody>
      </p:sp>
      <p:sp>
        <p:nvSpPr>
          <p:cNvPr id="22" name="Rectangle 21"/>
          <p:cNvSpPr/>
          <p:nvPr/>
        </p:nvSpPr>
        <p:spPr>
          <a:xfrm>
            <a:off x="292608" y="2176272"/>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92608" y="2249424"/>
            <a:ext cx="6446520" cy="676656"/>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2608" y="2249424"/>
            <a:ext cx="32004" cy="6766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2313432"/>
            <a:ext cx="6263640" cy="118872"/>
          </a:xfrm>
          <a:prstGeom prst="rect">
            <a:avLst/>
          </a:prstGeom>
          <a:noFill/>
        </p:spPr>
        <p:txBody>
          <a:bodyPr wrap="square" lIns="36576" rIns="36576" tIns="9144" bIns="9144">
            <a:spAutoFit/>
          </a:bodyPr>
          <a:lstStyle/>
          <a:p>
            <a:r>
              <a:rPr sz="610" b="1">
                <a:solidFill>
                  <a:srgbClr val="1F4690"/>
                </a:solidFill>
                <a:latin typeface="Calibri"/>
              </a:rPr>
              <a:t>Immediate Entry Zone</a:t>
            </a:r>
          </a:p>
        </p:txBody>
      </p:sp>
      <p:sp>
        <p:nvSpPr>
          <p:cNvPr id="26" name="TextBox 25"/>
          <p:cNvSpPr txBox="1"/>
          <p:nvPr/>
        </p:nvSpPr>
        <p:spPr>
          <a:xfrm>
            <a:off x="384048" y="2496312"/>
            <a:ext cx="6263640" cy="356615"/>
          </a:xfrm>
          <a:prstGeom prst="rect">
            <a:avLst/>
          </a:prstGeom>
          <a:noFill/>
        </p:spPr>
        <p:txBody>
          <a:bodyPr wrap="square" lIns="36576" rIns="36576" tIns="9144" bIns="9144">
            <a:spAutoFit/>
          </a:bodyPr>
          <a:lstStyle/>
          <a:p>
            <a:r>
              <a:rPr sz="555"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7" name="Rounded Rectangle 26"/>
          <p:cNvSpPr/>
          <p:nvPr/>
        </p:nvSpPr>
        <p:spPr>
          <a:xfrm>
            <a:off x="292608" y="3008376"/>
            <a:ext cx="6446520" cy="64008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008376"/>
            <a:ext cx="32004" cy="6400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072384"/>
            <a:ext cx="6263640" cy="118872"/>
          </a:xfrm>
          <a:prstGeom prst="rect">
            <a:avLst/>
          </a:prstGeom>
          <a:noFill/>
        </p:spPr>
        <p:txBody>
          <a:bodyPr wrap="square" lIns="36576" rIns="36576" tIns="9144" bIns="9144">
            <a:spAutoFit/>
          </a:bodyPr>
          <a:lstStyle/>
          <a:p>
            <a:r>
              <a:rPr sz="610" b="1">
                <a:solidFill>
                  <a:srgbClr val="1F4690"/>
                </a:solidFill>
                <a:latin typeface="Calibri"/>
              </a:rPr>
              <a:t>Add-On Zone</a:t>
            </a:r>
          </a:p>
        </p:txBody>
      </p:sp>
      <p:sp>
        <p:nvSpPr>
          <p:cNvPr id="30" name="TextBox 29"/>
          <p:cNvSpPr txBox="1"/>
          <p:nvPr/>
        </p:nvSpPr>
        <p:spPr>
          <a:xfrm>
            <a:off x="384048" y="3255264"/>
            <a:ext cx="6263640" cy="320039"/>
          </a:xfrm>
          <a:prstGeom prst="rect">
            <a:avLst/>
          </a:prstGeom>
          <a:noFill/>
        </p:spPr>
        <p:txBody>
          <a:bodyPr wrap="square" lIns="36576" rIns="36576" tIns="9144" bIns="9144">
            <a:spAutoFit/>
          </a:bodyPr>
          <a:lstStyle/>
          <a:p>
            <a:r>
              <a:rPr sz="555"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31" name="Rounded Rectangle 30"/>
          <p:cNvSpPr/>
          <p:nvPr/>
        </p:nvSpPr>
        <p:spPr>
          <a:xfrm>
            <a:off x="292608" y="3730752"/>
            <a:ext cx="6446520" cy="71323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 y="3730752"/>
            <a:ext cx="32004" cy="7132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 y="3794760"/>
            <a:ext cx="6263640" cy="118872"/>
          </a:xfrm>
          <a:prstGeom prst="rect">
            <a:avLst/>
          </a:prstGeom>
          <a:noFill/>
        </p:spPr>
        <p:txBody>
          <a:bodyPr wrap="square" lIns="36576" rIns="36576" tIns="9144" bIns="9144">
            <a:spAutoFit/>
          </a:bodyPr>
          <a:lstStyle/>
          <a:p>
            <a:r>
              <a:rPr sz="610" b="1">
                <a:solidFill>
                  <a:srgbClr val="1F4690"/>
                </a:solidFill>
                <a:latin typeface="Calibri"/>
              </a:rPr>
              <a:t>Review Points - Thesis Confirmation Milestones</a:t>
            </a:r>
          </a:p>
        </p:txBody>
      </p:sp>
      <p:sp>
        <p:nvSpPr>
          <p:cNvPr id="34" name="TextBox 33"/>
          <p:cNvSpPr txBox="1"/>
          <p:nvPr/>
        </p:nvSpPr>
        <p:spPr>
          <a:xfrm>
            <a:off x="384048" y="3977639"/>
            <a:ext cx="6263640" cy="393192"/>
          </a:xfrm>
          <a:prstGeom prst="rect">
            <a:avLst/>
          </a:prstGeom>
          <a:noFill/>
        </p:spPr>
        <p:txBody>
          <a:bodyPr wrap="square" lIns="36576" rIns="36576" tIns="9144" bIns="9144">
            <a:spAutoFit/>
          </a:bodyPr>
          <a:lstStyle/>
          <a:p>
            <a:r>
              <a:rPr sz="555"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5" name="TextBox 34"/>
          <p:cNvSpPr txBox="1"/>
          <p:nvPr/>
        </p:nvSpPr>
        <p:spPr>
          <a:xfrm>
            <a:off x="292608" y="4572000"/>
            <a:ext cx="6446520" cy="109728"/>
          </a:xfrm>
          <a:prstGeom prst="rect">
            <a:avLst/>
          </a:prstGeom>
          <a:noFill/>
        </p:spPr>
        <p:txBody>
          <a:bodyPr wrap="square" lIns="36576" rIns="36576" tIns="9144" bIns="9144">
            <a:spAutoFit/>
          </a:bodyPr>
          <a:lstStyle/>
          <a:p>
            <a:r>
              <a:rPr sz="580" b="1">
                <a:solidFill>
                  <a:srgbClr val="1F4690"/>
                </a:solidFill>
                <a:latin typeface="Calibri"/>
              </a:rPr>
              <a:t>THESIS INVALIDATION TRIGGERS - WHEN TO EXIT</a:t>
            </a:r>
          </a:p>
        </p:txBody>
      </p:sp>
      <p:sp>
        <p:nvSpPr>
          <p:cNvPr id="36" name="Rectangle 35"/>
          <p:cNvSpPr/>
          <p:nvPr/>
        </p:nvSpPr>
        <p:spPr>
          <a:xfrm>
            <a:off x="292608" y="4727448"/>
            <a:ext cx="6446520" cy="91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92608" y="4855464"/>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4887468"/>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39" name="TextBox 38"/>
          <p:cNvSpPr txBox="1"/>
          <p:nvPr/>
        </p:nvSpPr>
        <p:spPr>
          <a:xfrm>
            <a:off x="704088" y="4809744"/>
            <a:ext cx="6035040" cy="246888"/>
          </a:xfrm>
          <a:prstGeom prst="rect">
            <a:avLst/>
          </a:prstGeom>
          <a:noFill/>
        </p:spPr>
        <p:txBody>
          <a:bodyPr wrap="square" lIns="36576" rIns="36576" tIns="9144" bIns="9144">
            <a:spAutoFit/>
          </a:bodyPr>
          <a:lstStyle/>
          <a:p>
            <a:r>
              <a:rPr sz="525" b="0">
                <a:solidFill>
                  <a:srgbClr val="111111"/>
                </a:solidFill>
                <a:latin typeface="Calibri"/>
              </a:rPr>
              <a:t>ARR contribution drops below 55% for two consecutive quarters</a:t>
            </a:r>
          </a:p>
        </p:txBody>
      </p:sp>
      <p:sp>
        <p:nvSpPr>
          <p:cNvPr id="40" name="Rectangle 39"/>
          <p:cNvSpPr/>
          <p:nvPr/>
        </p:nvSpPr>
        <p:spPr>
          <a:xfrm>
            <a:off x="292608" y="517550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520750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2" name="TextBox 41"/>
          <p:cNvSpPr txBox="1"/>
          <p:nvPr/>
        </p:nvSpPr>
        <p:spPr>
          <a:xfrm>
            <a:off x="704088" y="5129783"/>
            <a:ext cx="6035040" cy="246888"/>
          </a:xfrm>
          <a:prstGeom prst="rect">
            <a:avLst/>
          </a:prstGeom>
          <a:noFill/>
        </p:spPr>
        <p:txBody>
          <a:bodyPr wrap="square" lIns="36576" rIns="36576" tIns="9144" bIns="9144">
            <a:spAutoFit/>
          </a:bodyPr>
          <a:lstStyle/>
          <a:p>
            <a:r>
              <a:rPr sz="525" b="0">
                <a:solidFill>
                  <a:srgbClr val="111111"/>
                </a:solidFill>
                <a:latin typeface="Calibri"/>
              </a:rPr>
              <a:t>Major SEBI enforcement action with direct business impact</a:t>
            </a:r>
          </a:p>
        </p:txBody>
      </p:sp>
      <p:sp>
        <p:nvSpPr>
          <p:cNvPr id="43" name="Rectangle 42"/>
          <p:cNvSpPr/>
          <p:nvPr/>
        </p:nvSpPr>
        <p:spPr>
          <a:xfrm>
            <a:off x="292608" y="549554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552754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5" name="TextBox 44"/>
          <p:cNvSpPr txBox="1"/>
          <p:nvPr/>
        </p:nvSpPr>
        <p:spPr>
          <a:xfrm>
            <a:off x="704088" y="5449823"/>
            <a:ext cx="6035040" cy="246888"/>
          </a:xfrm>
          <a:prstGeom prst="rect">
            <a:avLst/>
          </a:prstGeom>
          <a:noFill/>
        </p:spPr>
        <p:txBody>
          <a:bodyPr wrap="square" lIns="36576" rIns="36576" tIns="9144" bIns="9144">
            <a:spAutoFit/>
          </a:bodyPr>
          <a:lstStyle/>
          <a:p>
            <a:r>
              <a:rPr sz="525" b="0">
                <a:solidFill>
                  <a:srgbClr val="111111"/>
                </a:solidFill>
                <a:latin typeface="Calibri"/>
              </a:rPr>
              <a:t>AMC AUM declining for two consecutive quarters</a:t>
            </a:r>
          </a:p>
        </p:txBody>
      </p:sp>
      <p:sp>
        <p:nvSpPr>
          <p:cNvPr id="46" name="Rectangle 45"/>
          <p:cNvSpPr/>
          <p:nvPr/>
        </p:nvSpPr>
        <p:spPr>
          <a:xfrm>
            <a:off x="292608" y="5815583"/>
            <a:ext cx="329184" cy="146304"/>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9184" y="5847587"/>
            <a:ext cx="256032" cy="54864"/>
          </a:xfrm>
          <a:prstGeom prst="rect">
            <a:avLst/>
          </a:prstGeom>
          <a:noFill/>
        </p:spPr>
        <p:txBody>
          <a:bodyPr wrap="square" lIns="36576" rIns="36576" tIns="9144" bIns="9144">
            <a:spAutoFit/>
          </a:bodyPr>
          <a:lstStyle/>
          <a:p>
            <a:pPr algn="ctr"/>
            <a:r>
              <a:rPr sz="420" b="1">
                <a:solidFill>
                  <a:srgbClr val="B91C1C"/>
                </a:solidFill>
                <a:latin typeface="Calibri"/>
              </a:rPr>
              <a:t>EXIT</a:t>
            </a:r>
          </a:p>
        </p:txBody>
      </p:sp>
      <p:sp>
        <p:nvSpPr>
          <p:cNvPr id="48" name="TextBox 47"/>
          <p:cNvSpPr txBox="1"/>
          <p:nvPr/>
        </p:nvSpPr>
        <p:spPr>
          <a:xfrm>
            <a:off x="704088" y="5769863"/>
            <a:ext cx="6035040" cy="246888"/>
          </a:xfrm>
          <a:prstGeom prst="rect">
            <a:avLst/>
          </a:prstGeom>
          <a:noFill/>
        </p:spPr>
        <p:txBody>
          <a:bodyPr wrap="square" lIns="36576" rIns="36576" tIns="9144" bIns="9144">
            <a:spAutoFit/>
          </a:bodyPr>
          <a:lstStyle/>
          <a:p>
            <a:r>
              <a:rPr sz="525" b="0">
                <a:solidFill>
                  <a:srgbClr val="111111"/>
                </a:solidFill>
                <a:latin typeface="Calibri"/>
              </a:rPr>
              <a:t>Management guidance signaling structural headwinds beyond FY26</a:t>
            </a:r>
          </a:p>
        </p:txBody>
      </p:sp>
      <p:sp>
        <p:nvSpPr>
          <p:cNvPr id="49" name="TextBox 48"/>
          <p:cNvSpPr txBox="1"/>
          <p:nvPr/>
        </p:nvSpPr>
        <p:spPr>
          <a:xfrm>
            <a:off x="6949440" y="1097280"/>
            <a:ext cx="4791456" cy="109728"/>
          </a:xfrm>
          <a:prstGeom prst="rect">
            <a:avLst/>
          </a:prstGeom>
          <a:noFill/>
        </p:spPr>
        <p:txBody>
          <a:bodyPr wrap="square" lIns="36576" rIns="36576" tIns="9144" bIns="9144">
            <a:spAutoFit/>
          </a:bodyPr>
          <a:lstStyle/>
          <a:p>
            <a:r>
              <a:rPr sz="580" b="1">
                <a:solidFill>
                  <a:srgbClr val="1F4690"/>
                </a:solidFill>
                <a:latin typeface="Calibri"/>
              </a:rPr>
              <a:t>INVESTMENT SUMMARY SCORECARD</a:t>
            </a:r>
          </a:p>
        </p:txBody>
      </p:sp>
      <p:graphicFrame>
        <p:nvGraphicFramePr>
          <p:cNvPr id="50" name="Table 49"/>
          <p:cNvGraphicFramePr>
            <a:graphicFrameLocks noGrp="1"/>
          </p:cNvGraphicFramePr>
          <p:nvPr/>
        </p:nvGraphicFramePr>
        <p:xfrm>
          <a:off x="6949440" y="1261872"/>
          <a:ext cx="4791454" cy="1463040"/>
        </p:xfrm>
        <a:graphic>
          <a:graphicData uri="http://schemas.openxmlformats.org/drawingml/2006/table">
            <a:tbl>
              <a:tblPr firstRow="1" bandRow="1">
                <a:tableStyleId>{5C22544A-7EE6-4342-B048-85BDC9FD1C3A}</a:tableStyleId>
              </a:tblPr>
              <a:tblGrid>
                <a:gridCol w="2108240"/>
                <a:gridCol w="1677009"/>
                <a:gridCol w="1006205"/>
              </a:tblGrid>
              <a:tr h="146304">
                <a:tc>
                  <a:txBody>
                    <a:bodyPr/>
                    <a:lstStyle/>
                    <a:p>
                      <a:pPr algn="l"/>
                      <a:r>
                        <a:rPr sz="490" b="1">
                          <a:solidFill>
                            <a:srgbClr val="FFFFFF"/>
                          </a:solidFill>
                          <a:latin typeface="Calibri"/>
                        </a:rPr>
                        <a:t>Parameter</a:t>
                      </a:r>
                    </a:p>
                  </a:txBody>
                  <a:tcPr marL="22860" marR="22860" marT="5486" marB="5486">
                    <a:solidFill>
                      <a:srgbClr val="1F4690"/>
                    </a:solidFill>
                  </a:tcPr>
                </a:tc>
                <a:tc>
                  <a:txBody>
                    <a:bodyPr/>
                    <a:lstStyle/>
                    <a:p>
                      <a:pPr algn="r"/>
                      <a:r>
                        <a:rPr sz="490" b="1">
                          <a:solidFill>
                            <a:srgbClr val="FFFFFF"/>
                          </a:solidFill>
                          <a:latin typeface="Calibri"/>
                        </a:rPr>
                        <a:t>Assessment</a:t>
                      </a:r>
                    </a:p>
                  </a:txBody>
                  <a:tcPr marL="22860" marR="22860" marT="5486" marB="5486">
                    <a:solidFill>
                      <a:srgbClr val="1F4690"/>
                    </a:solidFill>
                  </a:tcPr>
                </a:tc>
                <a:tc>
                  <a:txBody>
                    <a:bodyPr/>
                    <a:lstStyle/>
                    <a:p>
                      <a:pPr algn="r"/>
                      <a:r>
                        <a:rPr sz="490" b="1">
                          <a:solidFill>
                            <a:srgbClr val="FFFFFF"/>
                          </a:solidFill>
                          <a:latin typeface="Calibri"/>
                        </a:rPr>
                        <a:t>Score</a:t>
                      </a:r>
                    </a:p>
                  </a:txBody>
                  <a:tcPr marL="22860" marR="22860" marT="5486" marB="5486">
                    <a:solidFill>
                      <a:srgbClr val="1F4690"/>
                    </a:solidFill>
                  </a:tcPr>
                </a:tc>
              </a:tr>
              <a:tr h="146304">
                <a:tc>
                  <a:txBody>
                    <a:bodyPr/>
                    <a:lstStyle/>
                    <a:p>
                      <a:pPr algn="l"/>
                      <a:r>
                        <a:rPr sz="465" b="0">
                          <a:solidFill>
                            <a:srgbClr val="111111"/>
                          </a:solidFill>
                          <a:latin typeface="Calibri"/>
                        </a:rPr>
                        <a:t>SAARTHI Framework</a:t>
                      </a:r>
                    </a:p>
                  </a:txBody>
                  <a:tcPr marL="22860" marR="22860" marT="5486" marB="5486">
                    <a:solidFill>
                      <a:srgbClr val="F4F6F9"/>
                    </a:solidFill>
                  </a:tcPr>
                </a:tc>
                <a:tc>
                  <a:txBody>
                    <a:bodyPr/>
                    <a:lstStyle/>
                    <a:p>
                      <a:pPr algn="r"/>
                      <a:r>
                        <a:rPr sz="465" b="1">
                          <a:solidFill>
                            <a:srgbClr val="1A7A4A"/>
                          </a:solidFill>
                          <a:latin typeface="Calibri"/>
                        </a:rPr>
                        <a:t>BUY Zone</a:t>
                      </a:r>
                    </a:p>
                  </a:txBody>
                  <a:tcPr marL="22860" marR="22860" marT="5486" marB="5486">
                    <a:solidFill>
                      <a:srgbClr val="F4F6F9"/>
                    </a:solidFill>
                  </a:tcPr>
                </a:tc>
                <a:tc>
                  <a:txBody>
                    <a:bodyPr/>
                    <a:lstStyle/>
                    <a:p>
                      <a:pPr algn="r"/>
                      <a:r>
                        <a:rPr sz="465" b="1">
                          <a:solidFill>
                            <a:srgbClr val="1F4690"/>
                          </a:solidFill>
                          <a:latin typeface="Calibri"/>
                        </a:rPr>
                        <a:t>72/100</a:t>
                      </a:r>
                    </a:p>
                  </a:txBody>
                  <a:tcPr marL="22860" marR="22860" marT="5486" marB="5486">
                    <a:solidFill>
                      <a:srgbClr val="F4F6F9"/>
                    </a:solidFill>
                  </a:tcPr>
                </a:tc>
              </a:tr>
              <a:tr h="146304">
                <a:tc>
                  <a:txBody>
                    <a:bodyPr/>
                    <a:lstStyle/>
                    <a:p>
                      <a:pPr algn="l"/>
                      <a:r>
                        <a:rPr sz="465" b="0">
                          <a:solidFill>
                            <a:srgbClr val="111111"/>
                          </a:solidFill>
                          <a:latin typeface="Calibri"/>
                        </a:rPr>
                        <a:t>Valuation Attractiveness</a:t>
                      </a:r>
                    </a:p>
                  </a:txBody>
                  <a:tcPr marL="22860" marR="22860" marT="5486" marB="5486">
                    <a:solidFill>
                      <a:srgbClr val="FFFFFF"/>
                    </a:solidFill>
                  </a:tcPr>
                </a:tc>
                <a:tc>
                  <a:txBody>
                    <a:bodyPr/>
                    <a:lstStyle/>
                    <a:p>
                      <a:pPr algn="r"/>
                      <a:r>
                        <a:rPr sz="465" b="1">
                          <a:solidFill>
                            <a:srgbClr val="111111"/>
                          </a:solidFill>
                          <a:latin typeface="Calibri"/>
                        </a:rPr>
                        <a:t>+37% undervalued</a:t>
                      </a:r>
                    </a:p>
                  </a:txBody>
                  <a:tcPr marL="22860" marR="22860" marT="5486" marB="5486">
                    <a:solidFill>
                      <a:srgbClr val="FFFFFF"/>
                    </a:solidFill>
                  </a:tcPr>
                </a:tc>
                <a:tc>
                  <a:txBody>
                    <a:bodyPr/>
                    <a:lstStyle/>
                    <a:p>
                      <a:pPr algn="r"/>
                      <a:r>
                        <a:rPr sz="465" b="1">
                          <a:solidFill>
                            <a:srgbClr val="1F4690"/>
                          </a:solidFill>
                          <a:latin typeface="Calibri"/>
                        </a:rPr>
                        <a:t>Upside 37%</a:t>
                      </a:r>
                    </a:p>
                  </a:txBody>
                  <a:tcPr marL="22860" marR="22860" marT="5486" marB="5486">
                    <a:solidFill>
                      <a:srgbClr val="FFFFFF"/>
                    </a:solidFill>
                  </a:tcPr>
                </a:tc>
              </a:tr>
              <a:tr h="146304">
                <a:tc>
                  <a:txBody>
                    <a:bodyPr/>
                    <a:lstStyle/>
                    <a:p>
                      <a:pPr algn="l"/>
                      <a:r>
                        <a:rPr sz="465" b="0">
                          <a:solidFill>
                            <a:srgbClr val="111111"/>
                          </a:solidFill>
                          <a:latin typeface="Calibri"/>
                        </a:rPr>
                        <a:t>Revenue Quality</a:t>
                      </a:r>
                    </a:p>
                  </a:txBody>
                  <a:tcPr marL="22860" marR="22860" marT="5486" marB="5486">
                    <a:solidFill>
                      <a:srgbClr val="F4F6F9"/>
                    </a:solidFill>
                  </a:tcPr>
                </a:tc>
                <a:tc>
                  <a:txBody>
                    <a:bodyPr/>
                    <a:lstStyle/>
                    <a:p>
                      <a:pPr algn="r"/>
                      <a:r>
                        <a:rPr sz="465" b="1">
                          <a:solidFill>
                            <a:srgbClr val="111111"/>
                          </a:solidFill>
                          <a:latin typeface="Calibri"/>
                        </a:rPr>
                        <a:t>65% ARR recurring</a:t>
                      </a:r>
                    </a:p>
                  </a:txBody>
                  <a:tcPr marL="22860" marR="22860" marT="5486" marB="5486">
                    <a:solidFill>
                      <a:srgbClr val="F4F6F9"/>
                    </a:solidFill>
                  </a:tcPr>
                </a:tc>
                <a:tc>
                  <a:txBody>
                    <a:bodyPr/>
                    <a:lstStyle/>
                    <a:p>
                      <a:pPr algn="r"/>
                      <a:r>
                        <a:rPr sz="465" b="1">
                          <a:solidFill>
                            <a:srgbClr val="1F4690"/>
                          </a:solidFill>
                          <a:latin typeface="Calibri"/>
                        </a:rPr>
                        <a:t>High quality</a:t>
                      </a:r>
                    </a:p>
                  </a:txBody>
                  <a:tcPr marL="22860" marR="22860" marT="5486" marB="5486">
                    <a:solidFill>
                      <a:srgbClr val="F4F6F9"/>
                    </a:solidFill>
                  </a:tcPr>
                </a:tc>
              </a:tr>
              <a:tr h="146304">
                <a:tc>
                  <a:txBody>
                    <a:bodyPr/>
                    <a:lstStyle/>
                    <a:p>
                      <a:pPr algn="l"/>
                      <a:r>
                        <a:rPr sz="465" b="0">
                          <a:solidFill>
                            <a:srgbClr val="111111"/>
                          </a:solidFill>
                          <a:latin typeface="Calibri"/>
                        </a:rPr>
                        <a:t>AUM Growth Visibility</a:t>
                      </a:r>
                    </a:p>
                  </a:txBody>
                  <a:tcPr marL="22860" marR="22860" marT="5486" marB="5486">
                    <a:solidFill>
                      <a:srgbClr val="FFFFFF"/>
                    </a:solidFill>
                  </a:tcPr>
                </a:tc>
                <a:tc>
                  <a:txBody>
                    <a:bodyPr/>
                    <a:lstStyle/>
                    <a:p>
                      <a:pPr algn="r"/>
                      <a:r>
                        <a:rPr sz="465" b="1">
                          <a:solidFill>
                            <a:srgbClr val="111111"/>
                          </a:solidFill>
                          <a:latin typeface="Calibri"/>
                        </a:rPr>
                        <a:t>High</a:t>
                      </a:r>
                    </a:p>
                  </a:txBody>
                  <a:tcPr marL="22860" marR="22860" marT="5486" marB="5486">
                    <a:solidFill>
                      <a:srgbClr val="FFFFFF"/>
                    </a:solidFill>
                  </a:tcPr>
                </a:tc>
                <a:tc>
                  <a:txBody>
                    <a:bodyPr/>
                    <a:lstStyle/>
                    <a:p>
                      <a:pPr algn="r"/>
                      <a:r>
                        <a:rPr sz="465" b="1">
                          <a:solidFill>
                            <a:srgbClr val="1F4690"/>
                          </a:solidFill>
                          <a:latin typeface="Calibri"/>
                        </a:rPr>
                        <a:t>46% YoY</a:t>
                      </a:r>
                    </a:p>
                  </a:txBody>
                  <a:tcPr marL="22860" marR="22860" marT="5486" marB="5486">
                    <a:solidFill>
                      <a:srgbClr val="FFFFFF"/>
                    </a:solidFill>
                  </a:tcPr>
                </a:tc>
              </a:tr>
              <a:tr h="146304">
                <a:tc>
                  <a:txBody>
                    <a:bodyPr/>
                    <a:lstStyle/>
                    <a:p>
                      <a:pPr algn="l"/>
                      <a:r>
                        <a:rPr sz="465" b="0">
                          <a:solidFill>
                            <a:srgbClr val="111111"/>
                          </a:solidFill>
                          <a:latin typeface="Calibri"/>
                        </a:rPr>
                        <a:t>Management Track Record</a:t>
                      </a:r>
                    </a:p>
                  </a:txBody>
                  <a:tcPr marL="22860" marR="22860" marT="5486" marB="5486">
                    <a:solidFill>
                      <a:srgbClr val="F4F6F9"/>
                    </a:solidFill>
                  </a:tcPr>
                </a:tc>
                <a:tc>
                  <a:txBody>
                    <a:bodyPr/>
                    <a:lstStyle/>
                    <a:p>
                      <a:pPr algn="r"/>
                      <a:r>
                        <a:rPr sz="465" b="1">
                          <a:solidFill>
                            <a:srgbClr val="111111"/>
                          </a:solidFill>
                          <a:latin typeface="Calibri"/>
                        </a:rPr>
                        <a:t>Founder-led</a:t>
                      </a:r>
                    </a:p>
                  </a:txBody>
                  <a:tcPr marL="22860" marR="22860" marT="5486" marB="5486">
                    <a:solidFill>
                      <a:srgbClr val="F4F6F9"/>
                    </a:solidFill>
                  </a:tcPr>
                </a:tc>
                <a:tc>
                  <a:txBody>
                    <a:bodyPr/>
                    <a:lstStyle/>
                    <a:p>
                      <a:pPr algn="r"/>
                      <a:r>
                        <a:rPr sz="465" b="1">
                          <a:solidFill>
                            <a:srgbClr val="1F4690"/>
                          </a:solidFill>
                          <a:latin typeface="Calibri"/>
                        </a:rPr>
                        <a:t>9/10</a:t>
                      </a:r>
                    </a:p>
                  </a:txBody>
                  <a:tcPr marL="22860" marR="22860" marT="5486" marB="5486">
                    <a:solidFill>
                      <a:srgbClr val="F4F6F9"/>
                    </a:solidFill>
                  </a:tcPr>
                </a:tc>
              </a:tr>
              <a:tr h="146304">
                <a:tc>
                  <a:txBody>
                    <a:bodyPr/>
                    <a:lstStyle/>
                    <a:p>
                      <a:pPr algn="l"/>
                      <a:r>
                        <a:rPr sz="465" b="0">
                          <a:solidFill>
                            <a:srgbClr val="111111"/>
                          </a:solidFill>
                          <a:latin typeface="Calibri"/>
                        </a:rPr>
                        <a:t>Governance Risk</a:t>
                      </a:r>
                    </a:p>
                  </a:txBody>
                  <a:tcPr marL="22860" marR="22860" marT="5486" marB="5486">
                    <a:solidFill>
                      <a:srgbClr val="FFFFFF"/>
                    </a:solidFill>
                  </a:tcPr>
                </a:tc>
                <a:tc>
                  <a:txBody>
                    <a:bodyPr/>
                    <a:lstStyle/>
                    <a:p>
                      <a:pPr algn="r"/>
                      <a:r>
                        <a:rPr sz="465" b="1">
                          <a:solidFill>
                            <a:srgbClr val="111111"/>
                          </a:solidFill>
                          <a:latin typeface="Calibri"/>
                        </a:rPr>
                        <a:t>Monitor closely</a:t>
                      </a:r>
                    </a:p>
                  </a:txBody>
                  <a:tcPr marL="22860" marR="22860" marT="5486" marB="5486">
                    <a:solidFill>
                      <a:srgbClr val="FFFFFF"/>
                    </a:solidFill>
                  </a:tcPr>
                </a:tc>
                <a:tc>
                  <a:txBody>
                    <a:bodyPr/>
                    <a:lstStyle/>
                    <a:p>
                      <a:pPr algn="r"/>
                      <a:r>
                        <a:rPr sz="465" b="1">
                          <a:solidFill>
                            <a:srgbClr val="1F4690"/>
                          </a:solidFill>
                          <a:latin typeface="Calibri"/>
                        </a:rPr>
                        <a:t>6/10</a:t>
                      </a:r>
                    </a:p>
                  </a:txBody>
                  <a:tcPr marL="22860" marR="22860" marT="5486" marB="5486">
                    <a:solidFill>
                      <a:srgbClr val="FFFFFF"/>
                    </a:solidFill>
                  </a:tcPr>
                </a:tc>
              </a:tr>
              <a:tr h="146304">
                <a:tc>
                  <a:txBody>
                    <a:bodyPr/>
                    <a:lstStyle/>
                    <a:p>
                      <a:pPr algn="l"/>
                      <a:r>
                        <a:rPr sz="465" b="0">
                          <a:solidFill>
                            <a:srgbClr val="111111"/>
                          </a:solidFill>
                          <a:latin typeface="Calibri"/>
                        </a:rPr>
                        <a:t>Earnings Growth</a:t>
                      </a:r>
                    </a:p>
                  </a:txBody>
                  <a:tcPr marL="22860" marR="22860" marT="5486" marB="5486">
                    <a:solidFill>
                      <a:srgbClr val="F4F6F9"/>
                    </a:solidFill>
                  </a:tcPr>
                </a:tc>
                <a:tc>
                  <a:txBody>
                    <a:bodyPr/>
                    <a:lstStyle/>
                    <a:p>
                      <a:pPr algn="r"/>
                      <a:r>
                        <a:rPr sz="465" b="1">
                          <a:solidFill>
                            <a:srgbClr val="1A7A4A"/>
                          </a:solidFill>
                          <a:latin typeface="Calibri"/>
                        </a:rPr>
                        <a:t>Strong</a:t>
                      </a:r>
                    </a:p>
                  </a:txBody>
                  <a:tcPr marL="22860" marR="22860" marT="5486" marB="5486">
                    <a:solidFill>
                      <a:srgbClr val="F4F6F9"/>
                    </a:solidFill>
                  </a:tcPr>
                </a:tc>
                <a:tc>
                  <a:txBody>
                    <a:bodyPr/>
                    <a:lstStyle/>
                    <a:p>
                      <a:pPr algn="r"/>
                      <a:r>
                        <a:rPr sz="465" b="1">
                          <a:solidFill>
                            <a:srgbClr val="1F4690"/>
                          </a:solidFill>
                          <a:latin typeface="Calibri"/>
                        </a:rPr>
                        <a:t>27% CAGR</a:t>
                      </a:r>
                    </a:p>
                  </a:txBody>
                  <a:tcPr marL="22860" marR="22860" marT="5486" marB="5486">
                    <a:solidFill>
                      <a:srgbClr val="F4F6F9"/>
                    </a:solidFill>
                  </a:tcPr>
                </a:tc>
              </a:tr>
              <a:tr h="146304">
                <a:tc>
                  <a:txBody>
                    <a:bodyPr/>
                    <a:lstStyle/>
                    <a:p>
                      <a:pPr algn="l"/>
                      <a:r>
                        <a:rPr sz="465" b="0">
                          <a:solidFill>
                            <a:srgbClr val="111111"/>
                          </a:solidFill>
                          <a:latin typeface="Calibri"/>
                        </a:rPr>
                        <a:t>Credit Rating</a:t>
                      </a:r>
                    </a:p>
                  </a:txBody>
                  <a:tcPr marL="22860" marR="22860" marT="5486" marB="5486">
                    <a:solidFill>
                      <a:srgbClr val="FFFFFF"/>
                    </a:solidFill>
                  </a:tcPr>
                </a:tc>
                <a:tc>
                  <a:txBody>
                    <a:bodyPr/>
                    <a:lstStyle/>
                    <a:p>
                      <a:pPr algn="r"/>
                      <a:r>
                        <a:rPr sz="465" b="1">
                          <a:solidFill>
                            <a:srgbClr val="1A7A4A"/>
                          </a:solidFill>
                          <a:latin typeface="Calibri"/>
                        </a:rPr>
                        <a:t>AA+</a:t>
                      </a:r>
                    </a:p>
                  </a:txBody>
                  <a:tcPr marL="22860" marR="22860" marT="5486" marB="5486">
                    <a:solidFill>
                      <a:srgbClr val="FFFFFF"/>
                    </a:solidFill>
                  </a:tcPr>
                </a:tc>
                <a:tc>
                  <a:txBody>
                    <a:bodyPr/>
                    <a:lstStyle/>
                    <a:p>
                      <a:pPr algn="r"/>
                      <a:r>
                        <a:rPr sz="465" b="1">
                          <a:solidFill>
                            <a:srgbClr val="1F4690"/>
                          </a:solidFill>
                          <a:latin typeface="Calibri"/>
                        </a:rPr>
                        <a:t>AA+ Stable</a:t>
                      </a:r>
                    </a:p>
                  </a:txBody>
                  <a:tcPr marL="22860" marR="22860" marT="5486" marB="5486">
                    <a:solidFill>
                      <a:srgbClr val="FFFFFF"/>
                    </a:solidFill>
                  </a:tcPr>
                </a:tc>
              </a:tr>
              <a:tr h="146304">
                <a:tc>
                  <a:txBody>
                    <a:bodyPr/>
                    <a:lstStyle/>
                    <a:p>
                      <a:pPr algn="l"/>
                      <a:r>
                        <a:rPr sz="465" b="0">
                          <a:solidFill>
                            <a:srgbClr val="111111"/>
                          </a:solidFill>
                          <a:latin typeface="Calibri"/>
                        </a:rPr>
                        <a:t>Overall Recommendation</a:t>
                      </a:r>
                    </a:p>
                  </a:txBody>
                  <a:tcPr marL="22860" marR="22860" marT="5486" marB="5486">
                    <a:solidFill>
                      <a:srgbClr val="F4F6F9"/>
                    </a:solidFill>
                  </a:tcPr>
                </a:tc>
                <a:tc>
                  <a:txBody>
                    <a:bodyPr/>
                    <a:lstStyle/>
                    <a:p>
                      <a:pPr algn="r"/>
                      <a:r>
                        <a:rPr sz="465" b="1">
                          <a:solidFill>
                            <a:srgbClr val="1A7A4A"/>
                          </a:solidFill>
                          <a:latin typeface="Calibri"/>
                        </a:rPr>
                        <a:t>BUY - High Conviction</a:t>
                      </a:r>
                    </a:p>
                  </a:txBody>
                  <a:tcPr marL="22860" marR="22860" marT="5486" marB="5486">
                    <a:solidFill>
                      <a:srgbClr val="F4F6F9"/>
                    </a:solidFill>
                  </a:tcPr>
                </a:tc>
                <a:tc>
                  <a:txBody>
                    <a:bodyPr/>
                    <a:lstStyle/>
                    <a:p>
                      <a:pPr algn="r"/>
                      <a:r>
                        <a:rPr sz="465" b="1">
                          <a:solidFill>
                            <a:srgbClr val="1F4690"/>
                          </a:solidFill>
                          <a:latin typeface="Calibri"/>
                        </a:rPr>
                        <a:t>TP: ₹1,127</a:t>
                      </a:r>
                    </a:p>
                  </a:txBody>
                  <a:tcPr marL="22860" marR="22860" marT="5486" marB="5486">
                    <a:solidFill>
                      <a:srgbClr val="F4F6F9"/>
                    </a:solidFill>
                  </a:tcPr>
                </a:tc>
              </a:tr>
            </a:tbl>
          </a:graphicData>
        </a:graphic>
      </p:graphicFrame>
      <p:sp>
        <p:nvSpPr>
          <p:cNvPr id="51" name="Rounded Rectangle 50"/>
          <p:cNvSpPr/>
          <p:nvPr/>
        </p:nvSpPr>
        <p:spPr>
          <a:xfrm>
            <a:off x="6949440" y="2935224"/>
            <a:ext cx="4791456" cy="9601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949440" y="2935224"/>
            <a:ext cx="32004" cy="9601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79" y="2999232"/>
            <a:ext cx="4608576" cy="118872"/>
          </a:xfrm>
          <a:prstGeom prst="rect">
            <a:avLst/>
          </a:prstGeom>
          <a:noFill/>
        </p:spPr>
        <p:txBody>
          <a:bodyPr wrap="square" lIns="36576" rIns="36576" tIns="9144" bIns="9144">
            <a:spAutoFit/>
          </a:bodyPr>
          <a:lstStyle/>
          <a:p>
            <a:r>
              <a:rPr sz="610" b="1">
                <a:solidFill>
                  <a:srgbClr val="1F4690"/>
                </a:solidFill>
                <a:latin typeface="Calibri"/>
              </a:rPr>
              <a:t>Position Summary</a:t>
            </a:r>
          </a:p>
        </p:txBody>
      </p:sp>
      <p:sp>
        <p:nvSpPr>
          <p:cNvPr id="54" name="TextBox 53"/>
          <p:cNvSpPr txBox="1"/>
          <p:nvPr/>
        </p:nvSpPr>
        <p:spPr>
          <a:xfrm>
            <a:off x="7040879" y="3182112"/>
            <a:ext cx="4608576" cy="640080"/>
          </a:xfrm>
          <a:prstGeom prst="rect">
            <a:avLst/>
          </a:prstGeom>
          <a:noFill/>
        </p:spPr>
        <p:txBody>
          <a:bodyPr wrap="square" lIns="36576" rIns="36576" tIns="9144" bIns="9144">
            <a:spAutoFit/>
          </a:bodyPr>
          <a:lstStyle/>
          <a:p>
            <a:r>
              <a:rPr sz="545"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5" name="Rounded Rectangle 54"/>
          <p:cNvSpPr/>
          <p:nvPr/>
        </p:nvSpPr>
        <p:spPr>
          <a:xfrm>
            <a:off x="6949440" y="4014216"/>
            <a:ext cx="4791456" cy="89611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949440" y="4014216"/>
            <a:ext cx="32004" cy="89611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40879" y="4078224"/>
            <a:ext cx="4608576" cy="118872"/>
          </a:xfrm>
          <a:prstGeom prst="rect">
            <a:avLst/>
          </a:prstGeom>
          <a:noFill/>
        </p:spPr>
        <p:txBody>
          <a:bodyPr wrap="square" lIns="36576" rIns="36576" tIns="9144" bIns="9144">
            <a:spAutoFit/>
          </a:bodyPr>
          <a:lstStyle/>
          <a:p>
            <a:r>
              <a:rPr sz="610" b="1">
                <a:solidFill>
                  <a:srgbClr val="1F4690"/>
                </a:solidFill>
                <a:latin typeface="Calibri"/>
              </a:rPr>
              <a:t>Exit Strategy - Scaling Out on Gains</a:t>
            </a:r>
          </a:p>
        </p:txBody>
      </p:sp>
      <p:sp>
        <p:nvSpPr>
          <p:cNvPr id="58" name="TextBox 57"/>
          <p:cNvSpPr txBox="1"/>
          <p:nvPr/>
        </p:nvSpPr>
        <p:spPr>
          <a:xfrm>
            <a:off x="7059168" y="4288536"/>
            <a:ext cx="4572000" cy="283464"/>
          </a:xfrm>
          <a:prstGeom prst="rect">
            <a:avLst/>
          </a:prstGeom>
          <a:noFill/>
        </p:spPr>
        <p:txBody>
          <a:bodyPr wrap="square" lIns="36576" rIns="36576" tIns="9144" bIns="9144">
            <a:spAutoFit/>
          </a:bodyPr>
          <a:lstStyle/>
          <a:p>
            <a:r>
              <a:rPr sz="525" b="0">
                <a:solidFill>
                  <a:srgbClr val="111111"/>
                </a:solidFill>
                <a:latin typeface="Calibri"/>
              </a:rPr>
              <a:t>Sell 1: Sell 50% at ₹1,100-1,150 (30-40% gains)</a:t>
            </a:r>
          </a:p>
        </p:txBody>
      </p:sp>
      <p:sp>
        <p:nvSpPr>
          <p:cNvPr id="59" name="TextBox 58"/>
          <p:cNvSpPr txBox="1"/>
          <p:nvPr/>
        </p:nvSpPr>
        <p:spPr>
          <a:xfrm>
            <a:off x="7059168" y="4608576"/>
            <a:ext cx="4572000" cy="283464"/>
          </a:xfrm>
          <a:prstGeom prst="rect">
            <a:avLst/>
          </a:prstGeom>
          <a:noFill/>
        </p:spPr>
        <p:txBody>
          <a:bodyPr wrap="square" lIns="36576" rIns="36576" tIns="9144" bIns="9144">
            <a:spAutoFit/>
          </a:bodyPr>
          <a:lstStyle/>
          <a:p>
            <a:r>
              <a:rPr sz="525" b="0">
                <a:solidFill>
                  <a:srgbClr val="111111"/>
                </a:solidFill>
                <a:latin typeface="Calibri"/>
              </a:rPr>
              <a:t>Sell 2: Sell remaining at ₹1,200+ if multiples expand beyond 25x P/E</a:t>
            </a:r>
          </a:p>
        </p:txBody>
      </p:sp>
      <p:sp>
        <p:nvSpPr>
          <p:cNvPr id="60" name="Rounded Rectangle 59"/>
          <p:cNvSpPr/>
          <p:nvPr/>
        </p:nvSpPr>
        <p:spPr>
          <a:xfrm>
            <a:off x="6949440" y="5020056"/>
            <a:ext cx="4791456" cy="566928"/>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949440" y="5020056"/>
            <a:ext cx="32004" cy="56692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40879" y="5084064"/>
            <a:ext cx="4608576" cy="118872"/>
          </a:xfrm>
          <a:prstGeom prst="rect">
            <a:avLst/>
          </a:prstGeom>
          <a:noFill/>
        </p:spPr>
        <p:txBody>
          <a:bodyPr wrap="square" lIns="36576" rIns="36576" tIns="9144" bIns="9144">
            <a:spAutoFit/>
          </a:bodyPr>
          <a:lstStyle/>
          <a:p>
            <a:r>
              <a:rPr sz="610" b="1">
                <a:solidFill>
                  <a:srgbClr val="1F4690"/>
                </a:solidFill>
                <a:latin typeface="Calibri"/>
              </a:rPr>
              <a:t>Disclaimer</a:t>
            </a:r>
          </a:p>
        </p:txBody>
      </p:sp>
      <p:sp>
        <p:nvSpPr>
          <p:cNvPr id="63" name="TextBox 62"/>
          <p:cNvSpPr txBox="1"/>
          <p:nvPr/>
        </p:nvSpPr>
        <p:spPr>
          <a:xfrm>
            <a:off x="7040879" y="5266944"/>
            <a:ext cx="4608576" cy="246888"/>
          </a:xfrm>
          <a:prstGeom prst="rect">
            <a:avLst/>
          </a:prstGeom>
          <a:noFill/>
        </p:spPr>
        <p:txBody>
          <a:bodyPr wrap="square" lIns="36576" rIns="36576" tIns="9144" bIns="9144">
            <a:spAutoFit/>
          </a:bodyPr>
          <a:lstStyle/>
          <a:p>
            <a:r>
              <a:rPr sz="475"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2" name="TextBox 11"/>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3" name="TextBox 12"/>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4" name="Rounded Rectangle 13"/>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5" name="TextBox 14"/>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6" name="Rectangle 15"/>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